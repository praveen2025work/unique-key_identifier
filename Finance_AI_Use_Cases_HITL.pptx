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4630400" cy="9753905"/>
  <p:notesSz cx="9753905"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this for the CIO and senior MD. The message: this is decision support with human accountability, not automation of decisions. The agent has no authority to post, sign off, certify, publish, change data or override 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Recreates the Accounting Control &amp; Analytics functional architecture. Amber badges show which agent use case covers each function. Most manual (blue) steps are covered; system processes are touched only where an agent investigates their output (controls) or raises an approved instruction (adjustments). GL to SL true up is noted for discussion under use case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use case 1 of 8 and the reference build. Status chips show where each stands; next-wave items build on existing platforms (Exception Hub, One Fin UX PoC, BO consolidation, Entitlement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addresses the "how much is AI deciding?" question directly. All eight use cases are Level 2: the agent recommends, a person decides each action. Level 3 is shown only to make clear it is not planned and would require Risk approval.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top to bottom. The Executed By column is always an existing service, and it only acts on the approved decision from the gate column.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never appears in the approve, post or audit rows. Figures come from existing engines. People own challenge, decision and improvement.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controls are shared platform features. The monthly metrics give the MD and CIO a direct view of how often people agree with, change or reject the agent.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Position this as augmenting controllers and analysts, not replacing them. SMEs own the skills and playbooks the agent follows, so the business keeps control of how the work is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Helix is the reference row. Every other use case follows the same six lanes, so each one reuses the platform and the control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architecture. Every other use case uses the same five lanes, numbered flow and control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the FO and Finance Flash v Formal boxes plus PLEX Analysis and Reclassification. Builds on the P&amp;L Controller plugin for Agent One and the P&amp;L bridge model. Output feeds Trader Sign Off (UC5).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checks stay deterministic in the Exception Hub and ledgers. The agent reasons over unresolved breaks and ageing. Adjustments go through the existing Adjustments function as approved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Covers the Analysis &amp; Review boxes except PLEX (UC2) and Exceptions &amp; Break Analysis (UC1, UC3). Commentary Generation becomes a draft-and-approve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Builds on the One Finance UX event-driven business outcome PoC for readiness. Pulls outputs of UC1 to UC4 into one sign-off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BO consolidation platform (Java + BO SDK + Python ML clustering) reduces the estate first, which makes agent validation coverage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Closes the loop shown on the functional view: Analytics Corrections and Data Correction Instructions flow back to Master / Reference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Uses the Central Enterprise Entitlement System (Spring Boot, Hibernate Envers, Oracle) as the source of truth. Campaign applications shown are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Helix technology and data flow slide, generalised across all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slideLayout" Target="../slideLayouts/slideLayout1.xml"/><Relationship Id="rId2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image" Target="../media/image-3-15.png"/><Relationship Id="rId16" Type="http://schemas.openxmlformats.org/officeDocument/2006/relationships/image" Target="../media/image-3-16.png"/><Relationship Id="rId17" Type="http://schemas.openxmlformats.org/officeDocument/2006/relationships/image" Target="../media/image-3-17.png"/><Relationship Id="rId18" Type="http://schemas.openxmlformats.org/officeDocument/2006/relationships/image" Target="../media/image-3-18.png"/><Relationship Id="rId19" Type="http://schemas.openxmlformats.org/officeDocument/2006/relationships/slideLayout" Target="../slideLayouts/slideLayout1.xml"/><Relationship Id="rId2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slideLayout" Target="../slideLayouts/slideLayout1.xml"/><Relationship Id="rId1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image" Target="../media/image-8-17.png"/><Relationship Id="rId18" Type="http://schemas.openxmlformats.org/officeDocument/2006/relationships/image" Target="../media/image-8-18.png"/><Relationship Id="rId19" Type="http://schemas.openxmlformats.org/officeDocument/2006/relationships/image" Target="../media/image-8-19.png"/><Relationship Id="rId20" Type="http://schemas.openxmlformats.org/officeDocument/2006/relationships/image" Target="../media/image-8-20.png"/><Relationship Id="rId21" Type="http://schemas.openxmlformats.org/officeDocument/2006/relationships/slideLayout" Target="../slideLayouts/slideLayout1.xml"/><Relationship Id="rId2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image" Target="../media/image-10-17.png"/><Relationship Id="rId18" Type="http://schemas.openxmlformats.org/officeDocument/2006/relationships/image" Target="../media/image-10-18.png"/><Relationship Id="rId19" Type="http://schemas.openxmlformats.org/officeDocument/2006/relationships/image" Target="../media/image-10-19.png"/><Relationship Id="rId20" Type="http://schemas.openxmlformats.org/officeDocument/2006/relationships/image" Target="../media/image-10-20.png"/><Relationship Id="rId21" Type="http://schemas.openxmlformats.org/officeDocument/2006/relationships/image" Target="../media/image-10-21.png"/><Relationship Id="rId22" Type="http://schemas.openxmlformats.org/officeDocument/2006/relationships/image" Target="../media/image-10-22.png"/><Relationship Id="rId23" Type="http://schemas.openxmlformats.org/officeDocument/2006/relationships/image" Target="../media/image-10-23.png"/><Relationship Id="rId24" Type="http://schemas.openxmlformats.org/officeDocument/2006/relationships/image" Target="../media/image-10-24.png"/><Relationship Id="rId25" Type="http://schemas.openxmlformats.org/officeDocument/2006/relationships/image" Target="../media/image-10-25.png"/><Relationship Id="rId26" Type="http://schemas.openxmlformats.org/officeDocument/2006/relationships/image" Target="../media/image-10-26.png"/><Relationship Id="rId27" Type="http://schemas.openxmlformats.org/officeDocument/2006/relationships/image" Target="../media/image-10-27.png"/><Relationship Id="rId28" Type="http://schemas.openxmlformats.org/officeDocument/2006/relationships/image" Target="../media/image-10-28.png"/><Relationship Id="rId29" Type="http://schemas.openxmlformats.org/officeDocument/2006/relationships/image" Target="../media/image-10-29.png"/><Relationship Id="rId30" Type="http://schemas.openxmlformats.org/officeDocument/2006/relationships/slideLayout" Target="../slideLayouts/slideLayout1.xml"/><Relationship Id="rId3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image" Target="../media/image-11-15.png"/><Relationship Id="rId16" Type="http://schemas.openxmlformats.org/officeDocument/2006/relationships/image" Target="../media/image-11-16.png"/><Relationship Id="rId17" Type="http://schemas.openxmlformats.org/officeDocument/2006/relationships/image" Target="../media/image-11-17.png"/><Relationship Id="rId18" Type="http://schemas.openxmlformats.org/officeDocument/2006/relationships/image" Target="../media/image-11-18.png"/><Relationship Id="rId19" Type="http://schemas.openxmlformats.org/officeDocument/2006/relationships/image" Target="../media/image-11-19.png"/><Relationship Id="rId20" Type="http://schemas.openxmlformats.org/officeDocument/2006/relationships/image" Target="../media/image-11-20.png"/><Relationship Id="rId21" Type="http://schemas.openxmlformats.org/officeDocument/2006/relationships/image" Target="../media/image-11-21.png"/><Relationship Id="rId22" Type="http://schemas.openxmlformats.org/officeDocument/2006/relationships/image" Target="../media/image-11-22.png"/><Relationship Id="rId23" Type="http://schemas.openxmlformats.org/officeDocument/2006/relationships/image" Target="../media/image-11-23.png"/><Relationship Id="rId24" Type="http://schemas.openxmlformats.org/officeDocument/2006/relationships/image" Target="../media/image-11-24.png"/><Relationship Id="rId25" Type="http://schemas.openxmlformats.org/officeDocument/2006/relationships/image" Target="../media/image-11-25.png"/><Relationship Id="rId26" Type="http://schemas.openxmlformats.org/officeDocument/2006/relationships/image" Target="../media/image-11-26.png"/><Relationship Id="rId27" Type="http://schemas.openxmlformats.org/officeDocument/2006/relationships/image" Target="../media/image-11-27.png"/><Relationship Id="rId28" Type="http://schemas.openxmlformats.org/officeDocument/2006/relationships/image" Target="../media/image-11-28.png"/><Relationship Id="rId29" Type="http://schemas.openxmlformats.org/officeDocument/2006/relationships/image" Target="../media/image-11-29.png"/><Relationship Id="rId30" Type="http://schemas.openxmlformats.org/officeDocument/2006/relationships/slideLayout" Target="../slideLayouts/slideLayout1.xml"/><Relationship Id="rId31"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image" Target="../media/image-12-14.png"/><Relationship Id="rId15" Type="http://schemas.openxmlformats.org/officeDocument/2006/relationships/image" Target="../media/image-12-15.png"/><Relationship Id="rId16" Type="http://schemas.openxmlformats.org/officeDocument/2006/relationships/image" Target="../media/image-12-16.png"/><Relationship Id="rId17" Type="http://schemas.openxmlformats.org/officeDocument/2006/relationships/image" Target="../media/image-12-17.png"/><Relationship Id="rId18" Type="http://schemas.openxmlformats.org/officeDocument/2006/relationships/image" Target="../media/image-12-18.png"/><Relationship Id="rId19" Type="http://schemas.openxmlformats.org/officeDocument/2006/relationships/image" Target="../media/image-12-19.png"/><Relationship Id="rId20" Type="http://schemas.openxmlformats.org/officeDocument/2006/relationships/image" Target="../media/image-12-20.png"/><Relationship Id="rId21" Type="http://schemas.openxmlformats.org/officeDocument/2006/relationships/image" Target="../media/image-12-21.png"/><Relationship Id="rId22" Type="http://schemas.openxmlformats.org/officeDocument/2006/relationships/image" Target="../media/image-12-22.png"/><Relationship Id="rId23" Type="http://schemas.openxmlformats.org/officeDocument/2006/relationships/image" Target="../media/image-12-23.png"/><Relationship Id="rId24" Type="http://schemas.openxmlformats.org/officeDocument/2006/relationships/image" Target="../media/image-12-24.png"/><Relationship Id="rId25" Type="http://schemas.openxmlformats.org/officeDocument/2006/relationships/image" Target="../media/image-12-25.png"/><Relationship Id="rId26" Type="http://schemas.openxmlformats.org/officeDocument/2006/relationships/image" Target="../media/image-12-26.png"/><Relationship Id="rId27" Type="http://schemas.openxmlformats.org/officeDocument/2006/relationships/image" Target="../media/image-12-27.png"/><Relationship Id="rId28" Type="http://schemas.openxmlformats.org/officeDocument/2006/relationships/image" Target="../media/image-12-28.png"/><Relationship Id="rId29" Type="http://schemas.openxmlformats.org/officeDocument/2006/relationships/image" Target="../media/image-12-29.png"/><Relationship Id="rId30" Type="http://schemas.openxmlformats.org/officeDocument/2006/relationships/slideLayout" Target="../slideLayouts/slideLayout1.xml"/><Relationship Id="rId31"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image" Target="../media/image-13-24.png"/><Relationship Id="rId25" Type="http://schemas.openxmlformats.org/officeDocument/2006/relationships/image" Target="../media/image-13-25.png"/><Relationship Id="rId26" Type="http://schemas.openxmlformats.org/officeDocument/2006/relationships/image" Target="../media/image-13-26.png"/><Relationship Id="rId27" Type="http://schemas.openxmlformats.org/officeDocument/2006/relationships/image" Target="../media/image-13-27.png"/><Relationship Id="rId28" Type="http://schemas.openxmlformats.org/officeDocument/2006/relationships/image" Target="../media/image-13-28.png"/><Relationship Id="rId29" Type="http://schemas.openxmlformats.org/officeDocument/2006/relationships/image" Target="../media/image-13-29.png"/><Relationship Id="rId30" Type="http://schemas.openxmlformats.org/officeDocument/2006/relationships/slideLayout" Target="../slideLayouts/slideLayout1.xml"/><Relationship Id="rId3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image" Target="../media/image-14-12.png"/><Relationship Id="rId13" Type="http://schemas.openxmlformats.org/officeDocument/2006/relationships/image" Target="../media/image-14-13.png"/><Relationship Id="rId14" Type="http://schemas.openxmlformats.org/officeDocument/2006/relationships/image" Target="../media/image-14-14.png"/><Relationship Id="rId15" Type="http://schemas.openxmlformats.org/officeDocument/2006/relationships/image" Target="../media/image-14-15.png"/><Relationship Id="rId16" Type="http://schemas.openxmlformats.org/officeDocument/2006/relationships/image" Target="../media/image-14-16.png"/><Relationship Id="rId17" Type="http://schemas.openxmlformats.org/officeDocument/2006/relationships/image" Target="../media/image-14-17.png"/><Relationship Id="rId18" Type="http://schemas.openxmlformats.org/officeDocument/2006/relationships/image" Target="../media/image-14-18.png"/><Relationship Id="rId19" Type="http://schemas.openxmlformats.org/officeDocument/2006/relationships/image" Target="../media/image-14-19.png"/><Relationship Id="rId20" Type="http://schemas.openxmlformats.org/officeDocument/2006/relationships/image" Target="../media/image-14-20.png"/><Relationship Id="rId21" Type="http://schemas.openxmlformats.org/officeDocument/2006/relationships/image" Target="../media/image-14-21.png"/><Relationship Id="rId22" Type="http://schemas.openxmlformats.org/officeDocument/2006/relationships/image" Target="../media/image-14-22.png"/><Relationship Id="rId23" Type="http://schemas.openxmlformats.org/officeDocument/2006/relationships/image" Target="../media/image-14-23.png"/><Relationship Id="rId24" Type="http://schemas.openxmlformats.org/officeDocument/2006/relationships/image" Target="../media/image-14-24.png"/><Relationship Id="rId25" Type="http://schemas.openxmlformats.org/officeDocument/2006/relationships/image" Target="../media/image-14-25.png"/><Relationship Id="rId26" Type="http://schemas.openxmlformats.org/officeDocument/2006/relationships/image" Target="../media/image-14-26.png"/><Relationship Id="rId27" Type="http://schemas.openxmlformats.org/officeDocument/2006/relationships/image" Target="../media/image-14-27.png"/><Relationship Id="rId28" Type="http://schemas.openxmlformats.org/officeDocument/2006/relationships/image" Target="../media/image-14-28.png"/><Relationship Id="rId29" Type="http://schemas.openxmlformats.org/officeDocument/2006/relationships/image" Target="../media/image-14-29.png"/><Relationship Id="rId30" Type="http://schemas.openxmlformats.org/officeDocument/2006/relationships/slideLayout" Target="../slideLayouts/slideLayout1.xml"/><Relationship Id="rId3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image" Target="../media/image-15-23.png"/><Relationship Id="rId24" Type="http://schemas.openxmlformats.org/officeDocument/2006/relationships/image" Target="../media/image-15-24.png"/><Relationship Id="rId25" Type="http://schemas.openxmlformats.org/officeDocument/2006/relationships/image" Target="../media/image-15-25.png"/><Relationship Id="rId26" Type="http://schemas.openxmlformats.org/officeDocument/2006/relationships/image" Target="../media/image-15-26.png"/><Relationship Id="rId27" Type="http://schemas.openxmlformats.org/officeDocument/2006/relationships/image" Target="../media/image-15-27.png"/><Relationship Id="rId28" Type="http://schemas.openxmlformats.org/officeDocument/2006/relationships/image" Target="../media/image-15-28.png"/><Relationship Id="rId29" Type="http://schemas.openxmlformats.org/officeDocument/2006/relationships/image" Target="../media/image-15-29.png"/><Relationship Id="rId30" Type="http://schemas.openxmlformats.org/officeDocument/2006/relationships/slideLayout" Target="../slideLayouts/slideLayout1.xml"/><Relationship Id="rId31"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image" Target="../media/image-16-22.png"/><Relationship Id="rId23" Type="http://schemas.openxmlformats.org/officeDocument/2006/relationships/image" Target="../media/image-16-23.png"/><Relationship Id="rId24" Type="http://schemas.openxmlformats.org/officeDocument/2006/relationships/image" Target="../media/image-16-24.png"/><Relationship Id="rId25" Type="http://schemas.openxmlformats.org/officeDocument/2006/relationships/image" Target="../media/image-16-25.png"/><Relationship Id="rId26" Type="http://schemas.openxmlformats.org/officeDocument/2006/relationships/image" Target="../media/image-16-26.png"/><Relationship Id="rId27" Type="http://schemas.openxmlformats.org/officeDocument/2006/relationships/image" Target="../media/image-16-27.png"/><Relationship Id="rId28" Type="http://schemas.openxmlformats.org/officeDocument/2006/relationships/image" Target="../media/image-16-28.png"/><Relationship Id="rId29" Type="http://schemas.openxmlformats.org/officeDocument/2006/relationships/image" Target="../media/image-16-29.png"/><Relationship Id="rId30" Type="http://schemas.openxmlformats.org/officeDocument/2006/relationships/slideLayout" Target="../slideLayouts/slideLayout1.xml"/><Relationship Id="rId31"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image" Target="../media/image-17-19.png"/><Relationship Id="rId20" Type="http://schemas.openxmlformats.org/officeDocument/2006/relationships/image" Target="../media/image-17-20.png"/><Relationship Id="rId21" Type="http://schemas.openxmlformats.org/officeDocument/2006/relationships/image" Target="../media/image-17-21.png"/><Relationship Id="rId22" Type="http://schemas.openxmlformats.org/officeDocument/2006/relationships/image" Target="../media/image-17-22.png"/><Relationship Id="rId23" Type="http://schemas.openxmlformats.org/officeDocument/2006/relationships/image" Target="../media/image-17-23.png"/><Relationship Id="rId24" Type="http://schemas.openxmlformats.org/officeDocument/2006/relationships/image" Target="../media/image-17-24.png"/><Relationship Id="rId25" Type="http://schemas.openxmlformats.org/officeDocument/2006/relationships/image" Target="../media/image-17-25.png"/><Relationship Id="rId26" Type="http://schemas.openxmlformats.org/officeDocument/2006/relationships/image" Target="../media/image-17-26.png"/><Relationship Id="rId27" Type="http://schemas.openxmlformats.org/officeDocument/2006/relationships/image" Target="../media/image-17-27.png"/><Relationship Id="rId28" Type="http://schemas.openxmlformats.org/officeDocument/2006/relationships/image" Target="../media/image-17-28.png"/><Relationship Id="rId29" Type="http://schemas.openxmlformats.org/officeDocument/2006/relationships/image" Target="../media/image-17-29.png"/><Relationship Id="rId30" Type="http://schemas.openxmlformats.org/officeDocument/2006/relationships/slideLayout" Target="../slideLayouts/slideLayout1.xml"/><Relationship Id="rId31"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image" Target="../media/image-18-7.png"/><Relationship Id="rId8" Type="http://schemas.openxmlformats.org/officeDocument/2006/relationships/image" Target="../media/image-18-8.png"/><Relationship Id="rId9" Type="http://schemas.openxmlformats.org/officeDocument/2006/relationships/image" Target="../media/image-18-9.png"/><Relationship Id="rId10" Type="http://schemas.openxmlformats.org/officeDocument/2006/relationships/image" Target="../media/image-18-10.png"/><Relationship Id="rId11" Type="http://schemas.openxmlformats.org/officeDocument/2006/relationships/slideLayout" Target="../slideLayouts/slideLayout1.xml"/><Relationship Id="rId1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Human-in-the-Loop by Design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AI prepares the work. Named people make every decision. Existing systems execute.</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502920" y="1234440"/>
            <a:ext cx="4160520" cy="4754880"/>
          </a:xfrm>
          <a:prstGeom prst="roundRect">
            <a:avLst>
              <a:gd name="adj" fmla="val 1319"/>
            </a:avLst>
          </a:prstGeom>
          <a:solidFill>
            <a:srgbClr val="F3F1FB"/>
          </a:solidFill>
          <a:ln w="12700">
            <a:solidFill>
              <a:srgbClr val="5B4FA8"/>
            </a:solidFill>
            <a:prstDash val="dash"/>
          </a:ln>
        </p:spPr>
      </p:sp>
      <p:sp>
        <p:nvSpPr>
          <p:cNvPr id="8" name="Text 6"/>
          <p:cNvSpPr txBox="1"/>
          <p:nvPr/>
        </p:nvSpPr>
        <p:spPr>
          <a:xfrm>
            <a:off x="640080" y="1325880"/>
            <a:ext cx="3886200" cy="201168"/>
          </a:xfrm>
          <a:prstGeom prst="rect">
            <a:avLst/>
          </a:prstGeom>
          <a:noFill/>
          <a:ln/>
        </p:spPr>
        <p:txBody>
          <a:bodyPr wrap="square" lIns="0" tIns="0" rIns="0" bIns="0" rtlCol="0" anchor="ctr"/>
          <a:lstStyle/>
          <a:p>
            <a:pPr indent="0" marL="0">
              <a:buNone/>
            </a:pPr>
            <a:r>
              <a:rPr lang="en-US" sz="950" b="1" spc="100" kern="0" dirty="0">
                <a:solidFill>
                  <a:srgbClr val="5B4FA8"/>
                </a:solidFill>
                <a:latin typeface="Calibri" pitchFamily="34" charset="0"/>
                <a:ea typeface="Calibri" pitchFamily="34" charset="-122"/>
                <a:cs typeface="Calibri" pitchFamily="34" charset="-120"/>
              </a:rPr>
              <a:t>AGENT PREPARES</a:t>
            </a:r>
            <a:endParaRPr lang="en-US" sz="950" dirty="0"/>
          </a:p>
        </p:txBody>
      </p:sp>
      <p:sp>
        <p:nvSpPr>
          <p:cNvPr id="9" name="Shape 7"/>
          <p:cNvSpPr/>
          <p:nvPr/>
        </p:nvSpPr>
        <p:spPr>
          <a:xfrm>
            <a:off x="5029200" y="1234440"/>
            <a:ext cx="4572000" cy="4754880"/>
          </a:xfrm>
          <a:prstGeom prst="roundRect">
            <a:avLst>
              <a:gd name="adj" fmla="val 1200"/>
            </a:avLst>
          </a:prstGeom>
          <a:solidFill>
            <a:srgbClr val="EEF4FB"/>
          </a:solidFill>
          <a:ln w="12700">
            <a:solidFill>
              <a:srgbClr val="1B4F93"/>
            </a:solidFill>
            <a:prstDash val="solid"/>
          </a:ln>
        </p:spPr>
      </p:sp>
      <p:sp>
        <p:nvSpPr>
          <p:cNvPr id="10" name="Text 8"/>
          <p:cNvSpPr txBox="1"/>
          <p:nvPr/>
        </p:nvSpPr>
        <p:spPr>
          <a:xfrm>
            <a:off x="5166360" y="1325880"/>
            <a:ext cx="4297680" cy="201168"/>
          </a:xfrm>
          <a:prstGeom prst="rect">
            <a:avLst/>
          </a:prstGeom>
          <a:noFill/>
          <a:ln/>
        </p:spPr>
        <p:txBody>
          <a:bodyPr wrap="square" lIns="0" tIns="0" rIns="0" bIns="0" rtlCol="0" anchor="ctr"/>
          <a:lstStyle/>
          <a:p>
            <a:pPr indent="0" marL="0">
              <a:buNone/>
            </a:pPr>
            <a:r>
              <a:rPr lang="en-US" sz="950" b="1" spc="100" kern="0" dirty="0">
                <a:solidFill>
                  <a:srgbClr val="1B4F93"/>
                </a:solidFill>
                <a:latin typeface="Calibri" pitchFamily="34" charset="0"/>
                <a:ea typeface="Calibri" pitchFamily="34" charset="-122"/>
                <a:cs typeface="Calibri" pitchFamily="34" charset="-120"/>
              </a:rPr>
              <a:t>PERSON DECIDES</a:t>
            </a:r>
            <a:endParaRPr lang="en-US" sz="950" dirty="0"/>
          </a:p>
        </p:txBody>
      </p:sp>
      <p:sp>
        <p:nvSpPr>
          <p:cNvPr id="11" name="Shape 9"/>
          <p:cNvSpPr/>
          <p:nvPr/>
        </p:nvSpPr>
        <p:spPr>
          <a:xfrm>
            <a:off x="9966960" y="1234440"/>
            <a:ext cx="4160520" cy="4754880"/>
          </a:xfrm>
          <a:prstGeom prst="roundRect">
            <a:avLst>
              <a:gd name="adj" fmla="val 1319"/>
            </a:avLst>
          </a:prstGeom>
          <a:solidFill>
            <a:srgbClr val="EDF7F2"/>
          </a:solidFill>
          <a:ln w="12700">
            <a:solidFill>
              <a:srgbClr val="1E8A5A"/>
            </a:solidFill>
            <a:prstDash val="dash"/>
          </a:ln>
        </p:spPr>
      </p:sp>
      <p:sp>
        <p:nvSpPr>
          <p:cNvPr id="12" name="Text 10"/>
          <p:cNvSpPr txBox="1"/>
          <p:nvPr/>
        </p:nvSpPr>
        <p:spPr>
          <a:xfrm>
            <a:off x="10104120" y="1325880"/>
            <a:ext cx="3886200"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EXISTING SYSTEMS EXECUTE</a:t>
            </a:r>
            <a:endParaRPr lang="en-US" sz="950" dirty="0"/>
          </a:p>
        </p:txBody>
      </p:sp>
      <p:sp>
        <p:nvSpPr>
          <p:cNvPr id="13" name="Shape 11"/>
          <p:cNvSpPr/>
          <p:nvPr/>
        </p:nvSpPr>
        <p:spPr>
          <a:xfrm>
            <a:off x="6583680" y="1097280"/>
            <a:ext cx="1463040" cy="310896"/>
          </a:xfrm>
          <a:prstGeom prst="roundRect">
            <a:avLst>
              <a:gd name="adj" fmla="val 50000"/>
            </a:avLst>
          </a:prstGeom>
          <a:solidFill>
            <a:srgbClr val="1B4F93"/>
          </a:solidFill>
          <a:ln w="12700">
            <a:solidFill>
              <a:srgbClr val="1B4F93"/>
            </a:solidFill>
            <a:prstDash val="solid"/>
          </a:ln>
        </p:spPr>
      </p:sp>
      <p:sp>
        <p:nvSpPr>
          <p:cNvPr id="14" name="Text 12"/>
          <p:cNvSpPr txBox="1"/>
          <p:nvPr/>
        </p:nvSpPr>
        <p:spPr>
          <a:xfrm>
            <a:off x="6583680" y="1097280"/>
            <a:ext cx="146304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DECISION GATE</a:t>
            </a:r>
            <a:endParaRPr lang="en-US" sz="1000" dirty="0"/>
          </a:p>
        </p:txBody>
      </p:sp>
      <p:sp>
        <p:nvSpPr>
          <p:cNvPr id="15" name="Shape 13"/>
          <p:cNvSpPr/>
          <p:nvPr/>
        </p:nvSpPr>
        <p:spPr>
          <a:xfrm>
            <a:off x="640080" y="1627632"/>
            <a:ext cx="3886200" cy="932688"/>
          </a:xfrm>
          <a:prstGeom prst="roundRect">
            <a:avLst>
              <a:gd name="adj" fmla="val 7843"/>
            </a:avLst>
          </a:prstGeom>
          <a:solidFill>
            <a:srgbClr val="FFFFFF"/>
          </a:solidFill>
          <a:ln w="9525">
            <a:solidFill>
              <a:srgbClr val="C8D8EC"/>
            </a:solidFill>
            <a:prstDash val="solid"/>
          </a:ln>
        </p:spPr>
      </p:sp>
      <p:sp>
        <p:nvSpPr>
          <p:cNvPr id="16" name="Shape 14"/>
          <p:cNvSpPr/>
          <p:nvPr/>
        </p:nvSpPr>
        <p:spPr>
          <a:xfrm>
            <a:off x="777240" y="1856232"/>
            <a:ext cx="475488" cy="475488"/>
          </a:xfrm>
          <a:prstGeom prst="roundRect">
            <a:avLst>
              <a:gd name="adj" fmla="val 19231"/>
            </a:avLst>
          </a:prstGeom>
          <a:solidFill>
            <a:srgbClr val="5B4FA8"/>
          </a:solidFill>
          <a:ln w="12700">
            <a:solidFill>
              <a:srgbClr val="5B4FA8"/>
            </a:solidFill>
            <a:prstDash val="solid"/>
          </a:ln>
        </p:spPr>
      </p:sp>
      <p:pic>
        <p:nvPicPr>
          <p:cNvPr id="17" name="Image 0" descr="preencoded.png">    </p:cNvPr>
          <p:cNvPicPr>
            <a:picLocks noChangeAspect="1"/>
          </p:cNvPicPr>
          <p:nvPr/>
        </p:nvPicPr>
        <p:blipFill>
          <a:blip r:embed="rId1"/>
          <a:stretch>
            <a:fillRect/>
          </a:stretch>
        </p:blipFill>
        <p:spPr>
          <a:xfrm>
            <a:off x="881847" y="1960839"/>
            <a:ext cx="266273" cy="266273"/>
          </a:xfrm>
          <a:prstGeom prst="rect">
            <a:avLst/>
          </a:prstGeom>
        </p:spPr>
      </p:pic>
      <p:sp>
        <p:nvSpPr>
          <p:cNvPr id="18" name="Text 15"/>
          <p:cNvSpPr txBox="1"/>
          <p:nvPr/>
        </p:nvSpPr>
        <p:spPr>
          <a:xfrm>
            <a:off x="1371600" y="1737360"/>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Gather evidence</a:t>
            </a:r>
            <a:endParaRPr lang="en-US" sz="1250" dirty="0"/>
          </a:p>
        </p:txBody>
      </p:sp>
      <p:sp>
        <p:nvSpPr>
          <p:cNvPr id="19" name="Text 16"/>
          <p:cNvSpPr txBox="1"/>
          <p:nvPr/>
        </p:nvSpPr>
        <p:spPr>
          <a:xfrm>
            <a:off x="1371600" y="1993392"/>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Fetches rec, ledger and P&amp;L data through entitled tools</a:t>
            </a:r>
            <a:endParaRPr lang="en-US" sz="1000" dirty="0"/>
          </a:p>
        </p:txBody>
      </p:sp>
      <p:sp>
        <p:nvSpPr>
          <p:cNvPr id="20" name="Shape 17"/>
          <p:cNvSpPr/>
          <p:nvPr/>
        </p:nvSpPr>
        <p:spPr>
          <a:xfrm>
            <a:off x="5193792" y="1627632"/>
            <a:ext cx="4242816" cy="932688"/>
          </a:xfrm>
          <a:prstGeom prst="roundRect">
            <a:avLst>
              <a:gd name="adj" fmla="val 7843"/>
            </a:avLst>
          </a:prstGeom>
          <a:solidFill>
            <a:srgbClr val="FFFFFF"/>
          </a:solidFill>
          <a:ln w="9525">
            <a:solidFill>
              <a:srgbClr val="C8D8EC"/>
            </a:solidFill>
            <a:prstDash val="solid"/>
          </a:ln>
        </p:spPr>
      </p:sp>
      <p:sp>
        <p:nvSpPr>
          <p:cNvPr id="21" name="Shape 18"/>
          <p:cNvSpPr/>
          <p:nvPr/>
        </p:nvSpPr>
        <p:spPr>
          <a:xfrm>
            <a:off x="5330952" y="1856232"/>
            <a:ext cx="475488" cy="475488"/>
          </a:xfrm>
          <a:prstGeom prst="roundRect">
            <a:avLst>
              <a:gd name="adj" fmla="val 19231"/>
            </a:avLst>
          </a:prstGeom>
          <a:solidFill>
            <a:srgbClr val="1B4F93"/>
          </a:solidFill>
          <a:ln w="12700">
            <a:solidFill>
              <a:srgbClr val="1B4F93"/>
            </a:solidFill>
            <a:prstDash val="solid"/>
          </a:ln>
        </p:spPr>
      </p:sp>
      <p:pic>
        <p:nvPicPr>
          <p:cNvPr id="22" name="Image 1" descr="preencoded.png">    </p:cNvPr>
          <p:cNvPicPr>
            <a:picLocks noChangeAspect="1"/>
          </p:cNvPicPr>
          <p:nvPr/>
        </p:nvPicPr>
        <p:blipFill>
          <a:blip r:embed="rId2"/>
          <a:stretch>
            <a:fillRect/>
          </a:stretch>
        </p:blipFill>
        <p:spPr>
          <a:xfrm>
            <a:off x="5435559" y="1960839"/>
            <a:ext cx="266273" cy="266273"/>
          </a:xfrm>
          <a:prstGeom prst="rect">
            <a:avLst/>
          </a:prstGeom>
        </p:spPr>
      </p:pic>
      <p:sp>
        <p:nvSpPr>
          <p:cNvPr id="23" name="Text 19"/>
          <p:cNvSpPr txBox="1"/>
          <p:nvPr/>
        </p:nvSpPr>
        <p:spPr>
          <a:xfrm>
            <a:off x="5925312" y="1737360"/>
            <a:ext cx="3419856"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Review</a:t>
            </a:r>
            <a:endParaRPr lang="en-US" sz="1250" dirty="0"/>
          </a:p>
        </p:txBody>
      </p:sp>
      <p:sp>
        <p:nvSpPr>
          <p:cNvPr id="24" name="Text 20"/>
          <p:cNvSpPr txBox="1"/>
          <p:nvPr/>
        </p:nvSpPr>
        <p:spPr>
          <a:xfrm>
            <a:off x="5925312" y="1993392"/>
            <a:ext cx="3419856"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Opens the prepared analysis at their normal desk time</a:t>
            </a:r>
            <a:endParaRPr lang="en-US" sz="1000" dirty="0"/>
          </a:p>
        </p:txBody>
      </p:sp>
      <p:sp>
        <p:nvSpPr>
          <p:cNvPr id="25" name="Shape 21"/>
          <p:cNvSpPr/>
          <p:nvPr/>
        </p:nvSpPr>
        <p:spPr>
          <a:xfrm>
            <a:off x="10104120" y="1627632"/>
            <a:ext cx="3886200" cy="932688"/>
          </a:xfrm>
          <a:prstGeom prst="roundRect">
            <a:avLst>
              <a:gd name="adj" fmla="val 7843"/>
            </a:avLst>
          </a:prstGeom>
          <a:solidFill>
            <a:srgbClr val="FFFFFF"/>
          </a:solidFill>
          <a:ln w="9525">
            <a:solidFill>
              <a:srgbClr val="C8D8EC"/>
            </a:solidFill>
            <a:prstDash val="solid"/>
          </a:ln>
        </p:spPr>
      </p:sp>
      <p:sp>
        <p:nvSpPr>
          <p:cNvPr id="26" name="Shape 22"/>
          <p:cNvSpPr/>
          <p:nvPr/>
        </p:nvSpPr>
        <p:spPr>
          <a:xfrm>
            <a:off x="10241280" y="1856232"/>
            <a:ext cx="475488" cy="475488"/>
          </a:xfrm>
          <a:prstGeom prst="roundRect">
            <a:avLst>
              <a:gd name="adj" fmla="val 19231"/>
            </a:avLst>
          </a:prstGeom>
          <a:solidFill>
            <a:srgbClr val="1E8A5A"/>
          </a:solidFill>
          <a:ln w="12700">
            <a:solidFill>
              <a:srgbClr val="1E8A5A"/>
            </a:solidFill>
            <a:prstDash val="solid"/>
          </a:ln>
        </p:spPr>
      </p:sp>
      <p:pic>
        <p:nvPicPr>
          <p:cNvPr id="27" name="Image 2" descr="preencoded.png">    </p:cNvPr>
          <p:cNvPicPr>
            <a:picLocks noChangeAspect="1"/>
          </p:cNvPicPr>
          <p:nvPr/>
        </p:nvPicPr>
        <p:blipFill>
          <a:blip r:embed="rId3"/>
          <a:stretch>
            <a:fillRect/>
          </a:stretch>
        </p:blipFill>
        <p:spPr>
          <a:xfrm>
            <a:off x="10345887" y="1960839"/>
            <a:ext cx="266273" cy="266273"/>
          </a:xfrm>
          <a:prstGeom prst="rect">
            <a:avLst/>
          </a:prstGeom>
        </p:spPr>
      </p:pic>
      <p:sp>
        <p:nvSpPr>
          <p:cNvPr id="28" name="Text 23"/>
          <p:cNvSpPr txBox="1"/>
          <p:nvPr/>
        </p:nvSpPr>
        <p:spPr>
          <a:xfrm>
            <a:off x="10835640" y="1737360"/>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Execute</a:t>
            </a:r>
            <a:endParaRPr lang="en-US" sz="1250" dirty="0"/>
          </a:p>
        </p:txBody>
      </p:sp>
      <p:sp>
        <p:nvSpPr>
          <p:cNvPr id="29" name="Text 24"/>
          <p:cNvSpPr txBox="1"/>
          <p:nvPr/>
        </p:nvSpPr>
        <p:spPr>
          <a:xfrm>
            <a:off x="10835640" y="1993392"/>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Existing services act only on approved instructions</a:t>
            </a:r>
            <a:endParaRPr lang="en-US" sz="1000" dirty="0"/>
          </a:p>
        </p:txBody>
      </p:sp>
      <p:sp>
        <p:nvSpPr>
          <p:cNvPr id="30" name="Shape 25"/>
          <p:cNvSpPr/>
          <p:nvPr/>
        </p:nvSpPr>
        <p:spPr>
          <a:xfrm>
            <a:off x="640080" y="2706624"/>
            <a:ext cx="3886200" cy="932688"/>
          </a:xfrm>
          <a:prstGeom prst="roundRect">
            <a:avLst>
              <a:gd name="adj" fmla="val 7843"/>
            </a:avLst>
          </a:prstGeom>
          <a:solidFill>
            <a:srgbClr val="FFFFFF"/>
          </a:solidFill>
          <a:ln w="9525">
            <a:solidFill>
              <a:srgbClr val="C8D8EC"/>
            </a:solidFill>
            <a:prstDash val="solid"/>
          </a:ln>
        </p:spPr>
      </p:sp>
      <p:sp>
        <p:nvSpPr>
          <p:cNvPr id="31" name="Shape 26"/>
          <p:cNvSpPr/>
          <p:nvPr/>
        </p:nvSpPr>
        <p:spPr>
          <a:xfrm>
            <a:off x="777240" y="2935224"/>
            <a:ext cx="475488" cy="475488"/>
          </a:xfrm>
          <a:prstGeom prst="roundRect">
            <a:avLst>
              <a:gd name="adj" fmla="val 19231"/>
            </a:avLst>
          </a:prstGeom>
          <a:solidFill>
            <a:srgbClr val="5B4FA8"/>
          </a:solidFill>
          <a:ln w="12700">
            <a:solidFill>
              <a:srgbClr val="5B4FA8"/>
            </a:solidFill>
            <a:prstDash val="solid"/>
          </a:ln>
        </p:spPr>
      </p:sp>
      <p:pic>
        <p:nvPicPr>
          <p:cNvPr id="32" name="Image 3" descr="preencoded.png">    </p:cNvPr>
          <p:cNvPicPr>
            <a:picLocks noChangeAspect="1"/>
          </p:cNvPicPr>
          <p:nvPr/>
        </p:nvPicPr>
        <p:blipFill>
          <a:blip r:embed="rId4"/>
          <a:stretch>
            <a:fillRect/>
          </a:stretch>
        </p:blipFill>
        <p:spPr>
          <a:xfrm>
            <a:off x="881847" y="3039831"/>
            <a:ext cx="266273" cy="266273"/>
          </a:xfrm>
          <a:prstGeom prst="rect">
            <a:avLst/>
          </a:prstGeom>
        </p:spPr>
      </p:pic>
      <p:sp>
        <p:nvSpPr>
          <p:cNvPr id="33" name="Text 27"/>
          <p:cNvSpPr txBox="1"/>
          <p:nvPr/>
        </p:nvSpPr>
        <p:spPr>
          <a:xfrm>
            <a:off x="1371600" y="2816352"/>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Compute with engines</a:t>
            </a:r>
            <a:endParaRPr lang="en-US" sz="1250" dirty="0"/>
          </a:p>
        </p:txBody>
      </p:sp>
      <p:sp>
        <p:nvSpPr>
          <p:cNvPr id="34" name="Text 28"/>
          <p:cNvSpPr txBox="1"/>
          <p:nvPr/>
        </p:nvSpPr>
        <p:spPr>
          <a:xfrm>
            <a:off x="1371600" y="3072384"/>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Figures come from deterministic code, never the LLM</a:t>
            </a:r>
            <a:endParaRPr lang="en-US" sz="1000" dirty="0"/>
          </a:p>
        </p:txBody>
      </p:sp>
      <p:sp>
        <p:nvSpPr>
          <p:cNvPr id="35" name="Shape 29"/>
          <p:cNvSpPr/>
          <p:nvPr/>
        </p:nvSpPr>
        <p:spPr>
          <a:xfrm>
            <a:off x="5193792" y="2706624"/>
            <a:ext cx="4242816" cy="932688"/>
          </a:xfrm>
          <a:prstGeom prst="roundRect">
            <a:avLst>
              <a:gd name="adj" fmla="val 7843"/>
            </a:avLst>
          </a:prstGeom>
          <a:solidFill>
            <a:srgbClr val="FFFFFF"/>
          </a:solidFill>
          <a:ln w="9525">
            <a:solidFill>
              <a:srgbClr val="C8D8EC"/>
            </a:solidFill>
            <a:prstDash val="solid"/>
          </a:ln>
        </p:spPr>
      </p:sp>
      <p:sp>
        <p:nvSpPr>
          <p:cNvPr id="36" name="Shape 30"/>
          <p:cNvSpPr/>
          <p:nvPr/>
        </p:nvSpPr>
        <p:spPr>
          <a:xfrm>
            <a:off x="5330952" y="2935224"/>
            <a:ext cx="475488" cy="475488"/>
          </a:xfrm>
          <a:prstGeom prst="roundRect">
            <a:avLst>
              <a:gd name="adj" fmla="val 19231"/>
            </a:avLst>
          </a:prstGeom>
          <a:solidFill>
            <a:srgbClr val="1B4F93"/>
          </a:solidFill>
          <a:ln w="12700">
            <a:solidFill>
              <a:srgbClr val="1B4F93"/>
            </a:solidFill>
            <a:prstDash val="solid"/>
          </a:ln>
        </p:spPr>
      </p:sp>
      <p:pic>
        <p:nvPicPr>
          <p:cNvPr id="37" name="Image 4" descr="preencoded.png">    </p:cNvPr>
          <p:cNvPicPr>
            <a:picLocks noChangeAspect="1"/>
          </p:cNvPicPr>
          <p:nvPr/>
        </p:nvPicPr>
        <p:blipFill>
          <a:blip r:embed="rId5"/>
          <a:stretch>
            <a:fillRect/>
          </a:stretch>
        </p:blipFill>
        <p:spPr>
          <a:xfrm>
            <a:off x="5435559" y="3039831"/>
            <a:ext cx="266273" cy="266273"/>
          </a:xfrm>
          <a:prstGeom prst="rect">
            <a:avLst/>
          </a:prstGeom>
        </p:spPr>
      </p:pic>
      <p:sp>
        <p:nvSpPr>
          <p:cNvPr id="38" name="Text 31"/>
          <p:cNvSpPr txBox="1"/>
          <p:nvPr/>
        </p:nvSpPr>
        <p:spPr>
          <a:xfrm>
            <a:off x="5925312" y="2816352"/>
            <a:ext cx="3419856"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Challenge</a:t>
            </a:r>
            <a:endParaRPr lang="en-US" sz="1250" dirty="0"/>
          </a:p>
        </p:txBody>
      </p:sp>
      <p:sp>
        <p:nvSpPr>
          <p:cNvPr id="39" name="Text 32"/>
          <p:cNvSpPr txBox="1"/>
          <p:nvPr/>
        </p:nvSpPr>
        <p:spPr>
          <a:xfrm>
            <a:off x="5925312" y="3072384"/>
            <a:ext cx="3419856"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Asks follow-up questions in the same session</a:t>
            </a:r>
            <a:endParaRPr lang="en-US" sz="1000" dirty="0"/>
          </a:p>
        </p:txBody>
      </p:sp>
      <p:sp>
        <p:nvSpPr>
          <p:cNvPr id="40" name="Shape 33"/>
          <p:cNvSpPr/>
          <p:nvPr/>
        </p:nvSpPr>
        <p:spPr>
          <a:xfrm>
            <a:off x="10104120" y="2706624"/>
            <a:ext cx="3886200" cy="932688"/>
          </a:xfrm>
          <a:prstGeom prst="roundRect">
            <a:avLst>
              <a:gd name="adj" fmla="val 7843"/>
            </a:avLst>
          </a:prstGeom>
          <a:solidFill>
            <a:srgbClr val="FFFFFF"/>
          </a:solidFill>
          <a:ln w="9525">
            <a:solidFill>
              <a:srgbClr val="C8D8EC"/>
            </a:solidFill>
            <a:prstDash val="solid"/>
          </a:ln>
        </p:spPr>
      </p:sp>
      <p:sp>
        <p:nvSpPr>
          <p:cNvPr id="41" name="Shape 34"/>
          <p:cNvSpPr/>
          <p:nvPr/>
        </p:nvSpPr>
        <p:spPr>
          <a:xfrm>
            <a:off x="10241280" y="2935224"/>
            <a:ext cx="475488" cy="475488"/>
          </a:xfrm>
          <a:prstGeom prst="roundRect">
            <a:avLst>
              <a:gd name="adj" fmla="val 19231"/>
            </a:avLst>
          </a:prstGeom>
          <a:solidFill>
            <a:srgbClr val="1E8A5A"/>
          </a:solidFill>
          <a:ln w="12700">
            <a:solidFill>
              <a:srgbClr val="1E8A5A"/>
            </a:solidFill>
            <a:prstDash val="solid"/>
          </a:ln>
        </p:spPr>
      </p:sp>
      <p:pic>
        <p:nvPicPr>
          <p:cNvPr id="42" name="Image 5" descr="preencoded.png">    </p:cNvPr>
          <p:cNvPicPr>
            <a:picLocks noChangeAspect="1"/>
          </p:cNvPicPr>
          <p:nvPr/>
        </p:nvPicPr>
        <p:blipFill>
          <a:blip r:embed="rId6"/>
          <a:stretch>
            <a:fillRect/>
          </a:stretch>
        </p:blipFill>
        <p:spPr>
          <a:xfrm>
            <a:off x="10345887" y="3039831"/>
            <a:ext cx="266273" cy="266273"/>
          </a:xfrm>
          <a:prstGeom prst="rect">
            <a:avLst/>
          </a:prstGeom>
        </p:spPr>
      </p:pic>
      <p:sp>
        <p:nvSpPr>
          <p:cNvPr id="43" name="Text 35"/>
          <p:cNvSpPr txBox="1"/>
          <p:nvPr/>
        </p:nvSpPr>
        <p:spPr>
          <a:xfrm>
            <a:off x="10835640" y="2816352"/>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Record</a:t>
            </a:r>
            <a:endParaRPr lang="en-US" sz="1250" dirty="0"/>
          </a:p>
        </p:txBody>
      </p:sp>
      <p:sp>
        <p:nvSpPr>
          <p:cNvPr id="44" name="Text 36"/>
          <p:cNvSpPr txBox="1"/>
          <p:nvPr/>
        </p:nvSpPr>
        <p:spPr>
          <a:xfrm>
            <a:off x="10835640" y="3072384"/>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Application audit logs every decision and actor</a:t>
            </a:r>
            <a:endParaRPr lang="en-US" sz="1000" dirty="0"/>
          </a:p>
        </p:txBody>
      </p:sp>
      <p:sp>
        <p:nvSpPr>
          <p:cNvPr id="45" name="Shape 37"/>
          <p:cNvSpPr/>
          <p:nvPr/>
        </p:nvSpPr>
        <p:spPr>
          <a:xfrm>
            <a:off x="640080" y="3785616"/>
            <a:ext cx="3886200" cy="932688"/>
          </a:xfrm>
          <a:prstGeom prst="roundRect">
            <a:avLst>
              <a:gd name="adj" fmla="val 7843"/>
            </a:avLst>
          </a:prstGeom>
          <a:solidFill>
            <a:srgbClr val="FFFFFF"/>
          </a:solidFill>
          <a:ln w="9525">
            <a:solidFill>
              <a:srgbClr val="C8D8EC"/>
            </a:solidFill>
            <a:prstDash val="solid"/>
          </a:ln>
        </p:spPr>
      </p:sp>
      <p:sp>
        <p:nvSpPr>
          <p:cNvPr id="46" name="Shape 38"/>
          <p:cNvSpPr/>
          <p:nvPr/>
        </p:nvSpPr>
        <p:spPr>
          <a:xfrm>
            <a:off x="777240" y="4014216"/>
            <a:ext cx="475488" cy="475488"/>
          </a:xfrm>
          <a:prstGeom prst="roundRect">
            <a:avLst>
              <a:gd name="adj" fmla="val 19231"/>
            </a:avLst>
          </a:prstGeom>
          <a:solidFill>
            <a:srgbClr val="5B4FA8"/>
          </a:solidFill>
          <a:ln w="12700">
            <a:solidFill>
              <a:srgbClr val="5B4FA8"/>
            </a:solidFill>
            <a:prstDash val="solid"/>
          </a:ln>
        </p:spPr>
      </p:sp>
      <p:pic>
        <p:nvPicPr>
          <p:cNvPr id="47" name="Image 6" descr="preencoded.png">    </p:cNvPr>
          <p:cNvPicPr>
            <a:picLocks noChangeAspect="1"/>
          </p:cNvPicPr>
          <p:nvPr/>
        </p:nvPicPr>
        <p:blipFill>
          <a:blip r:embed="rId7"/>
          <a:stretch>
            <a:fillRect/>
          </a:stretch>
        </p:blipFill>
        <p:spPr>
          <a:xfrm>
            <a:off x="881847" y="4118823"/>
            <a:ext cx="266273" cy="266273"/>
          </a:xfrm>
          <a:prstGeom prst="rect">
            <a:avLst/>
          </a:prstGeom>
        </p:spPr>
      </p:pic>
      <p:sp>
        <p:nvSpPr>
          <p:cNvPr id="48" name="Text 39"/>
          <p:cNvSpPr txBox="1"/>
          <p:nvPr/>
        </p:nvSpPr>
        <p:spPr>
          <a:xfrm>
            <a:off x="1371600" y="3895344"/>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Investigate &amp; explain</a:t>
            </a:r>
            <a:endParaRPr lang="en-US" sz="1250" dirty="0"/>
          </a:p>
        </p:txBody>
      </p:sp>
      <p:sp>
        <p:nvSpPr>
          <p:cNvPr id="49" name="Text 40"/>
          <p:cNvSpPr txBox="1"/>
          <p:nvPr/>
        </p:nvSpPr>
        <p:spPr>
          <a:xfrm>
            <a:off x="1371600" y="4151376"/>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Classifies, finds root cause, cites every source</a:t>
            </a:r>
            <a:endParaRPr lang="en-US" sz="1000" dirty="0"/>
          </a:p>
        </p:txBody>
      </p:sp>
      <p:sp>
        <p:nvSpPr>
          <p:cNvPr id="50" name="Shape 41"/>
          <p:cNvSpPr/>
          <p:nvPr/>
        </p:nvSpPr>
        <p:spPr>
          <a:xfrm>
            <a:off x="5193792" y="3785616"/>
            <a:ext cx="4242816" cy="932688"/>
          </a:xfrm>
          <a:prstGeom prst="roundRect">
            <a:avLst>
              <a:gd name="adj" fmla="val 7843"/>
            </a:avLst>
          </a:prstGeom>
          <a:solidFill>
            <a:srgbClr val="FFFFFF"/>
          </a:solidFill>
          <a:ln w="9525">
            <a:solidFill>
              <a:srgbClr val="C8D8EC"/>
            </a:solidFill>
            <a:prstDash val="solid"/>
          </a:ln>
        </p:spPr>
      </p:sp>
      <p:sp>
        <p:nvSpPr>
          <p:cNvPr id="51" name="Shape 42"/>
          <p:cNvSpPr/>
          <p:nvPr/>
        </p:nvSpPr>
        <p:spPr>
          <a:xfrm>
            <a:off x="5330952" y="4014216"/>
            <a:ext cx="475488" cy="475488"/>
          </a:xfrm>
          <a:prstGeom prst="roundRect">
            <a:avLst>
              <a:gd name="adj" fmla="val 19231"/>
            </a:avLst>
          </a:prstGeom>
          <a:solidFill>
            <a:srgbClr val="1B4F93"/>
          </a:solidFill>
          <a:ln w="12700">
            <a:solidFill>
              <a:srgbClr val="1B4F93"/>
            </a:solidFill>
            <a:prstDash val="solid"/>
          </a:ln>
        </p:spPr>
      </p:sp>
      <p:pic>
        <p:nvPicPr>
          <p:cNvPr id="52" name="Image 7" descr="preencoded.png">    </p:cNvPr>
          <p:cNvPicPr>
            <a:picLocks noChangeAspect="1"/>
          </p:cNvPicPr>
          <p:nvPr/>
        </p:nvPicPr>
        <p:blipFill>
          <a:blip r:embed="rId8"/>
          <a:stretch>
            <a:fillRect/>
          </a:stretch>
        </p:blipFill>
        <p:spPr>
          <a:xfrm>
            <a:off x="5435559" y="4118823"/>
            <a:ext cx="266273" cy="266273"/>
          </a:xfrm>
          <a:prstGeom prst="rect">
            <a:avLst/>
          </a:prstGeom>
        </p:spPr>
      </p:pic>
      <p:sp>
        <p:nvSpPr>
          <p:cNvPr id="53" name="Text 43"/>
          <p:cNvSpPr txBox="1"/>
          <p:nvPr/>
        </p:nvSpPr>
        <p:spPr>
          <a:xfrm>
            <a:off x="5925312" y="3895344"/>
            <a:ext cx="3419856"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Decide</a:t>
            </a:r>
            <a:endParaRPr lang="en-US" sz="1250" dirty="0"/>
          </a:p>
        </p:txBody>
      </p:sp>
      <p:sp>
        <p:nvSpPr>
          <p:cNvPr id="54" name="Text 44"/>
          <p:cNvSpPr txBox="1"/>
          <p:nvPr/>
        </p:nvSpPr>
        <p:spPr>
          <a:xfrm>
            <a:off x="5925312" y="4151376"/>
            <a:ext cx="3419856"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Approves, edits or rejects, with a reason captured</a:t>
            </a:r>
            <a:endParaRPr lang="en-US" sz="1000" dirty="0"/>
          </a:p>
        </p:txBody>
      </p:sp>
      <p:sp>
        <p:nvSpPr>
          <p:cNvPr id="55" name="Shape 45"/>
          <p:cNvSpPr/>
          <p:nvPr/>
        </p:nvSpPr>
        <p:spPr>
          <a:xfrm>
            <a:off x="10104120" y="3785616"/>
            <a:ext cx="3886200" cy="932688"/>
          </a:xfrm>
          <a:prstGeom prst="roundRect">
            <a:avLst>
              <a:gd name="adj" fmla="val 7843"/>
            </a:avLst>
          </a:prstGeom>
          <a:solidFill>
            <a:srgbClr val="FFFFFF"/>
          </a:solidFill>
          <a:ln w="9525">
            <a:solidFill>
              <a:srgbClr val="C8D8EC"/>
            </a:solidFill>
            <a:prstDash val="solid"/>
          </a:ln>
        </p:spPr>
      </p:sp>
      <p:sp>
        <p:nvSpPr>
          <p:cNvPr id="56" name="Shape 46"/>
          <p:cNvSpPr/>
          <p:nvPr/>
        </p:nvSpPr>
        <p:spPr>
          <a:xfrm>
            <a:off x="10241280" y="4014216"/>
            <a:ext cx="475488" cy="475488"/>
          </a:xfrm>
          <a:prstGeom prst="roundRect">
            <a:avLst>
              <a:gd name="adj" fmla="val 19231"/>
            </a:avLst>
          </a:prstGeom>
          <a:solidFill>
            <a:srgbClr val="1E8A5A"/>
          </a:solidFill>
          <a:ln w="12700">
            <a:solidFill>
              <a:srgbClr val="1E8A5A"/>
            </a:solidFill>
            <a:prstDash val="solid"/>
          </a:ln>
        </p:spPr>
      </p:sp>
      <p:pic>
        <p:nvPicPr>
          <p:cNvPr id="57" name="Image 8" descr="preencoded.png">    </p:cNvPr>
          <p:cNvPicPr>
            <a:picLocks noChangeAspect="1"/>
          </p:cNvPicPr>
          <p:nvPr/>
        </p:nvPicPr>
        <p:blipFill>
          <a:blip r:embed="rId9"/>
          <a:stretch>
            <a:fillRect/>
          </a:stretch>
        </p:blipFill>
        <p:spPr>
          <a:xfrm>
            <a:off x="10345887" y="4118823"/>
            <a:ext cx="266273" cy="266273"/>
          </a:xfrm>
          <a:prstGeom prst="rect">
            <a:avLst/>
          </a:prstGeom>
        </p:spPr>
      </p:pic>
      <p:sp>
        <p:nvSpPr>
          <p:cNvPr id="58" name="Text 47"/>
          <p:cNvSpPr txBox="1"/>
          <p:nvPr/>
        </p:nvSpPr>
        <p:spPr>
          <a:xfrm>
            <a:off x="10835640" y="3895344"/>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Trace</a:t>
            </a:r>
            <a:endParaRPr lang="en-US" sz="1250" dirty="0"/>
          </a:p>
        </p:txBody>
      </p:sp>
      <p:sp>
        <p:nvSpPr>
          <p:cNvPr id="59" name="Text 48"/>
          <p:cNvSpPr txBox="1"/>
          <p:nvPr/>
        </p:nvSpPr>
        <p:spPr>
          <a:xfrm>
            <a:off x="10835640" y="4151376"/>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Phoenix traces prompts, sources and reasoning</a:t>
            </a:r>
            <a:endParaRPr lang="en-US" sz="1000" dirty="0"/>
          </a:p>
        </p:txBody>
      </p:sp>
      <p:sp>
        <p:nvSpPr>
          <p:cNvPr id="60" name="Shape 49"/>
          <p:cNvSpPr/>
          <p:nvPr/>
        </p:nvSpPr>
        <p:spPr>
          <a:xfrm>
            <a:off x="640080" y="4864608"/>
            <a:ext cx="3886200" cy="932688"/>
          </a:xfrm>
          <a:prstGeom prst="roundRect">
            <a:avLst>
              <a:gd name="adj" fmla="val 7843"/>
            </a:avLst>
          </a:prstGeom>
          <a:solidFill>
            <a:srgbClr val="FFFFFF"/>
          </a:solidFill>
          <a:ln w="9525">
            <a:solidFill>
              <a:srgbClr val="C8D8EC"/>
            </a:solidFill>
            <a:prstDash val="solid"/>
          </a:ln>
        </p:spPr>
      </p:sp>
      <p:sp>
        <p:nvSpPr>
          <p:cNvPr id="61" name="Shape 50"/>
          <p:cNvSpPr/>
          <p:nvPr/>
        </p:nvSpPr>
        <p:spPr>
          <a:xfrm>
            <a:off x="777240" y="5093208"/>
            <a:ext cx="475488" cy="475488"/>
          </a:xfrm>
          <a:prstGeom prst="roundRect">
            <a:avLst>
              <a:gd name="adj" fmla="val 19231"/>
            </a:avLst>
          </a:prstGeom>
          <a:solidFill>
            <a:srgbClr val="5B4FA8"/>
          </a:solidFill>
          <a:ln w="12700">
            <a:solidFill>
              <a:srgbClr val="5B4FA8"/>
            </a:solidFill>
            <a:prstDash val="solid"/>
          </a:ln>
        </p:spPr>
      </p:sp>
      <p:pic>
        <p:nvPicPr>
          <p:cNvPr id="62" name="Image 9" descr="preencoded.png">    </p:cNvPr>
          <p:cNvPicPr>
            <a:picLocks noChangeAspect="1"/>
          </p:cNvPicPr>
          <p:nvPr/>
        </p:nvPicPr>
        <p:blipFill>
          <a:blip r:embed="rId10"/>
          <a:stretch>
            <a:fillRect/>
          </a:stretch>
        </p:blipFill>
        <p:spPr>
          <a:xfrm>
            <a:off x="881847" y="5197815"/>
            <a:ext cx="266273" cy="266273"/>
          </a:xfrm>
          <a:prstGeom prst="rect">
            <a:avLst/>
          </a:prstGeom>
        </p:spPr>
      </p:pic>
      <p:sp>
        <p:nvSpPr>
          <p:cNvPr id="63" name="Text 51"/>
          <p:cNvSpPr txBox="1"/>
          <p:nvPr/>
        </p:nvSpPr>
        <p:spPr>
          <a:xfrm>
            <a:off x="1371600" y="4974336"/>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Recommend</a:t>
            </a:r>
            <a:endParaRPr lang="en-US" sz="1250" dirty="0"/>
          </a:p>
        </p:txBody>
      </p:sp>
      <p:sp>
        <p:nvSpPr>
          <p:cNvPr id="64" name="Text 52"/>
          <p:cNvSpPr txBox="1"/>
          <p:nvPr/>
        </p:nvSpPr>
        <p:spPr>
          <a:xfrm>
            <a:off x="1371600" y="5230368"/>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Proposes an action with confidence and evidence</a:t>
            </a:r>
            <a:endParaRPr lang="en-US" sz="1000" dirty="0"/>
          </a:p>
        </p:txBody>
      </p:sp>
      <p:sp>
        <p:nvSpPr>
          <p:cNvPr id="65" name="Shape 53"/>
          <p:cNvSpPr/>
          <p:nvPr/>
        </p:nvSpPr>
        <p:spPr>
          <a:xfrm>
            <a:off x="5193792" y="4864608"/>
            <a:ext cx="4242816" cy="932688"/>
          </a:xfrm>
          <a:prstGeom prst="roundRect">
            <a:avLst>
              <a:gd name="adj" fmla="val 7843"/>
            </a:avLst>
          </a:prstGeom>
          <a:solidFill>
            <a:srgbClr val="FFFFFF"/>
          </a:solidFill>
          <a:ln w="9525">
            <a:solidFill>
              <a:srgbClr val="C8D8EC"/>
            </a:solidFill>
            <a:prstDash val="solid"/>
          </a:ln>
        </p:spPr>
      </p:sp>
      <p:sp>
        <p:nvSpPr>
          <p:cNvPr id="66" name="Shape 54"/>
          <p:cNvSpPr/>
          <p:nvPr/>
        </p:nvSpPr>
        <p:spPr>
          <a:xfrm>
            <a:off x="5330952" y="5093208"/>
            <a:ext cx="475488" cy="475488"/>
          </a:xfrm>
          <a:prstGeom prst="roundRect">
            <a:avLst>
              <a:gd name="adj" fmla="val 19231"/>
            </a:avLst>
          </a:prstGeom>
          <a:solidFill>
            <a:srgbClr val="1B4F93"/>
          </a:solidFill>
          <a:ln w="12700">
            <a:solidFill>
              <a:srgbClr val="1B4F93"/>
            </a:solidFill>
            <a:prstDash val="solid"/>
          </a:ln>
        </p:spPr>
      </p:sp>
      <p:pic>
        <p:nvPicPr>
          <p:cNvPr id="67" name="Image 10" descr="preencoded.png">    </p:cNvPr>
          <p:cNvPicPr>
            <a:picLocks noChangeAspect="1"/>
          </p:cNvPicPr>
          <p:nvPr/>
        </p:nvPicPr>
        <p:blipFill>
          <a:blip r:embed="rId11"/>
          <a:stretch>
            <a:fillRect/>
          </a:stretch>
        </p:blipFill>
        <p:spPr>
          <a:xfrm>
            <a:off x="5435559" y="5197815"/>
            <a:ext cx="266273" cy="266273"/>
          </a:xfrm>
          <a:prstGeom prst="rect">
            <a:avLst/>
          </a:prstGeom>
        </p:spPr>
      </p:pic>
      <p:sp>
        <p:nvSpPr>
          <p:cNvPr id="68" name="Text 55"/>
          <p:cNvSpPr txBox="1"/>
          <p:nvPr/>
        </p:nvSpPr>
        <p:spPr>
          <a:xfrm>
            <a:off x="5925312" y="4974336"/>
            <a:ext cx="3419856"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Own</a:t>
            </a:r>
            <a:endParaRPr lang="en-US" sz="1250" dirty="0"/>
          </a:p>
        </p:txBody>
      </p:sp>
      <p:sp>
        <p:nvSpPr>
          <p:cNvPr id="69" name="Text 56"/>
          <p:cNvSpPr txBox="1"/>
          <p:nvPr/>
        </p:nvSpPr>
        <p:spPr>
          <a:xfrm>
            <a:off x="5925312" y="5230368"/>
            <a:ext cx="3419856"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Accountability stays with the named owner, as today</a:t>
            </a:r>
            <a:endParaRPr lang="en-US" sz="1000" dirty="0"/>
          </a:p>
        </p:txBody>
      </p:sp>
      <p:sp>
        <p:nvSpPr>
          <p:cNvPr id="70" name="Shape 57"/>
          <p:cNvSpPr/>
          <p:nvPr/>
        </p:nvSpPr>
        <p:spPr>
          <a:xfrm>
            <a:off x="10104120" y="4864608"/>
            <a:ext cx="3886200" cy="932688"/>
          </a:xfrm>
          <a:prstGeom prst="roundRect">
            <a:avLst>
              <a:gd name="adj" fmla="val 7843"/>
            </a:avLst>
          </a:prstGeom>
          <a:solidFill>
            <a:srgbClr val="FFFFFF"/>
          </a:solidFill>
          <a:ln w="9525">
            <a:solidFill>
              <a:srgbClr val="C8D8EC"/>
            </a:solidFill>
            <a:prstDash val="solid"/>
          </a:ln>
        </p:spPr>
      </p:sp>
      <p:sp>
        <p:nvSpPr>
          <p:cNvPr id="71" name="Shape 58"/>
          <p:cNvSpPr/>
          <p:nvPr/>
        </p:nvSpPr>
        <p:spPr>
          <a:xfrm>
            <a:off x="10241280" y="5093208"/>
            <a:ext cx="475488" cy="475488"/>
          </a:xfrm>
          <a:prstGeom prst="roundRect">
            <a:avLst>
              <a:gd name="adj" fmla="val 19231"/>
            </a:avLst>
          </a:prstGeom>
          <a:solidFill>
            <a:srgbClr val="1E8A5A"/>
          </a:solidFill>
          <a:ln w="12700">
            <a:solidFill>
              <a:srgbClr val="1E8A5A"/>
            </a:solidFill>
            <a:prstDash val="solid"/>
          </a:ln>
        </p:spPr>
      </p:sp>
      <p:pic>
        <p:nvPicPr>
          <p:cNvPr id="72" name="Image 11" descr="preencoded.png">    </p:cNvPr>
          <p:cNvPicPr>
            <a:picLocks noChangeAspect="1"/>
          </p:cNvPicPr>
          <p:nvPr/>
        </p:nvPicPr>
        <p:blipFill>
          <a:blip r:embed="rId12"/>
          <a:stretch>
            <a:fillRect/>
          </a:stretch>
        </p:blipFill>
        <p:spPr>
          <a:xfrm>
            <a:off x="10345887" y="5197815"/>
            <a:ext cx="266273" cy="266273"/>
          </a:xfrm>
          <a:prstGeom prst="rect">
            <a:avLst/>
          </a:prstGeom>
        </p:spPr>
      </p:pic>
      <p:sp>
        <p:nvSpPr>
          <p:cNvPr id="73" name="Text 59"/>
          <p:cNvSpPr txBox="1"/>
          <p:nvPr/>
        </p:nvSpPr>
        <p:spPr>
          <a:xfrm>
            <a:off x="10835640" y="4974336"/>
            <a:ext cx="306324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Learn</a:t>
            </a:r>
            <a:endParaRPr lang="en-US" sz="1250" dirty="0"/>
          </a:p>
        </p:txBody>
      </p:sp>
      <p:sp>
        <p:nvSpPr>
          <p:cNvPr id="74" name="Text 60"/>
          <p:cNvSpPr txBox="1"/>
          <p:nvPr/>
        </p:nvSpPr>
        <p:spPr>
          <a:xfrm>
            <a:off x="10835640" y="5230368"/>
            <a:ext cx="3063240" cy="521208"/>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Edits and rejections become new eval cases</a:t>
            </a:r>
            <a:endParaRPr lang="en-US" sz="1000" dirty="0"/>
          </a:p>
        </p:txBody>
      </p:sp>
      <p:sp>
        <p:nvSpPr>
          <p:cNvPr id="75" name="Shape 61"/>
          <p:cNvSpPr/>
          <p:nvPr/>
        </p:nvSpPr>
        <p:spPr>
          <a:xfrm>
            <a:off x="4572000" y="3611880"/>
            <a:ext cx="566928" cy="0"/>
          </a:xfrm>
          <a:prstGeom prst="line">
            <a:avLst/>
          </a:prstGeom>
          <a:noFill/>
          <a:ln w="19050">
            <a:solidFill>
              <a:srgbClr val="5B4FA8"/>
            </a:solidFill>
            <a:prstDash val="solid"/>
            <a:tailEnd type="triangle"/>
          </a:ln>
        </p:spPr>
      </p:sp>
      <p:sp>
        <p:nvSpPr>
          <p:cNvPr id="76" name="Shape 62"/>
          <p:cNvSpPr/>
          <p:nvPr/>
        </p:nvSpPr>
        <p:spPr>
          <a:xfrm>
            <a:off x="4736592" y="3273552"/>
            <a:ext cx="219456" cy="219456"/>
          </a:xfrm>
          <a:prstGeom prst="ellipse">
            <a:avLst/>
          </a:prstGeom>
          <a:solidFill>
            <a:srgbClr val="5B4FA8"/>
          </a:solidFill>
          <a:ln w="12700">
            <a:solidFill>
              <a:srgbClr val="5B4FA8"/>
            </a:solidFill>
            <a:prstDash val="solid"/>
          </a:ln>
        </p:spPr>
      </p:sp>
      <p:sp>
        <p:nvSpPr>
          <p:cNvPr id="77" name="Text 63"/>
          <p:cNvSpPr txBox="1"/>
          <p:nvPr/>
        </p:nvSpPr>
        <p:spPr>
          <a:xfrm>
            <a:off x="4736592" y="327355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8" name="Shape 64"/>
          <p:cNvSpPr/>
          <p:nvPr/>
        </p:nvSpPr>
        <p:spPr>
          <a:xfrm>
            <a:off x="9491472" y="3611880"/>
            <a:ext cx="566928" cy="0"/>
          </a:xfrm>
          <a:prstGeom prst="line">
            <a:avLst/>
          </a:prstGeom>
          <a:noFill/>
          <a:ln w="19050">
            <a:solidFill>
              <a:srgbClr val="1B4F93"/>
            </a:solidFill>
            <a:prstDash val="solid"/>
            <a:tailEnd type="triangle"/>
          </a:ln>
        </p:spPr>
      </p:sp>
      <p:sp>
        <p:nvSpPr>
          <p:cNvPr id="79" name="Shape 65"/>
          <p:cNvSpPr/>
          <p:nvPr/>
        </p:nvSpPr>
        <p:spPr>
          <a:xfrm>
            <a:off x="9665208" y="3273552"/>
            <a:ext cx="219456" cy="219456"/>
          </a:xfrm>
          <a:prstGeom prst="ellipse">
            <a:avLst/>
          </a:prstGeom>
          <a:solidFill>
            <a:srgbClr val="1B4F93"/>
          </a:solidFill>
          <a:ln w="12700">
            <a:solidFill>
              <a:srgbClr val="1B4F93"/>
            </a:solidFill>
            <a:prstDash val="solid"/>
          </a:ln>
        </p:spPr>
      </p:sp>
      <p:sp>
        <p:nvSpPr>
          <p:cNvPr id="80" name="Text 66"/>
          <p:cNvSpPr txBox="1"/>
          <p:nvPr/>
        </p:nvSpPr>
        <p:spPr>
          <a:xfrm>
            <a:off x="9665208" y="3273552"/>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81" name="Shape 67"/>
          <p:cNvSpPr/>
          <p:nvPr/>
        </p:nvSpPr>
        <p:spPr>
          <a:xfrm>
            <a:off x="502920" y="6217920"/>
            <a:ext cx="13624560" cy="1417320"/>
          </a:xfrm>
          <a:prstGeom prst="roundRect">
            <a:avLst>
              <a:gd name="adj" fmla="val 3871"/>
            </a:avLst>
          </a:prstGeom>
          <a:solidFill>
            <a:srgbClr val="FBEFEE"/>
          </a:solidFill>
          <a:ln w="12700">
            <a:solidFill>
              <a:srgbClr val="C0392B"/>
            </a:solidFill>
            <a:prstDash val="dash"/>
          </a:ln>
        </p:spPr>
      </p:sp>
      <p:sp>
        <p:nvSpPr>
          <p:cNvPr id="82" name="Text 68"/>
          <p:cNvSpPr txBox="1"/>
          <p:nvPr/>
        </p:nvSpPr>
        <p:spPr>
          <a:xfrm>
            <a:off x="640080" y="6309360"/>
            <a:ext cx="13350240" cy="201168"/>
          </a:xfrm>
          <a:prstGeom prst="rect">
            <a:avLst/>
          </a:prstGeom>
          <a:noFill/>
          <a:ln/>
        </p:spPr>
        <p:txBody>
          <a:bodyPr wrap="square" lIns="0" tIns="0" rIns="0" bIns="0" rtlCol="0" anchor="ctr"/>
          <a:lstStyle/>
          <a:p>
            <a:pPr indent="0" marL="0">
              <a:buNone/>
            </a:pPr>
            <a:r>
              <a:rPr lang="en-US" sz="950" b="1" spc="100" kern="0" dirty="0">
                <a:solidFill>
                  <a:srgbClr val="C0392B"/>
                </a:solidFill>
                <a:latin typeface="Calibri" pitchFamily="34" charset="0"/>
                <a:ea typeface="Calibri" pitchFamily="34" charset="-122"/>
                <a:cs typeface="Calibri" pitchFamily="34" charset="-120"/>
              </a:rPr>
              <a:t>GUARDRAILS: THE AGENT NEVER</a:t>
            </a:r>
            <a:endParaRPr lang="en-US" sz="950" dirty="0"/>
          </a:p>
        </p:txBody>
      </p:sp>
      <p:sp>
        <p:nvSpPr>
          <p:cNvPr id="83" name="Shape 69"/>
          <p:cNvSpPr/>
          <p:nvPr/>
        </p:nvSpPr>
        <p:spPr>
          <a:xfrm>
            <a:off x="640080" y="6629400"/>
            <a:ext cx="2103120" cy="822960"/>
          </a:xfrm>
          <a:prstGeom prst="roundRect">
            <a:avLst>
              <a:gd name="adj" fmla="val 8889"/>
            </a:avLst>
          </a:prstGeom>
          <a:solidFill>
            <a:srgbClr val="FFFFFF"/>
          </a:solidFill>
          <a:ln w="9525">
            <a:solidFill>
              <a:srgbClr val="C8D8EC"/>
            </a:solidFill>
            <a:prstDash val="solid"/>
          </a:ln>
        </p:spPr>
      </p:sp>
      <p:sp>
        <p:nvSpPr>
          <p:cNvPr id="84" name="Shape 70"/>
          <p:cNvSpPr/>
          <p:nvPr/>
        </p:nvSpPr>
        <p:spPr>
          <a:xfrm>
            <a:off x="749808" y="6803136"/>
            <a:ext cx="457200" cy="457200"/>
          </a:xfrm>
          <a:prstGeom prst="roundRect">
            <a:avLst>
              <a:gd name="adj" fmla="val 20000"/>
            </a:avLst>
          </a:prstGeom>
          <a:solidFill>
            <a:srgbClr val="C0392B"/>
          </a:solidFill>
          <a:ln w="12700">
            <a:solidFill>
              <a:srgbClr val="C0392B"/>
            </a:solidFill>
            <a:prstDash val="solid"/>
          </a:ln>
        </p:spPr>
      </p:sp>
      <p:pic>
        <p:nvPicPr>
          <p:cNvPr id="85" name="Image 12" descr="preencoded.png">    </p:cNvPr>
          <p:cNvPicPr>
            <a:picLocks noChangeAspect="1"/>
          </p:cNvPicPr>
          <p:nvPr/>
        </p:nvPicPr>
        <p:blipFill>
          <a:blip r:embed="rId13"/>
          <a:stretch>
            <a:fillRect/>
          </a:stretch>
        </p:blipFill>
        <p:spPr>
          <a:xfrm>
            <a:off x="850392" y="6903720"/>
            <a:ext cx="256032" cy="256032"/>
          </a:xfrm>
          <a:prstGeom prst="rect">
            <a:avLst/>
          </a:prstGeom>
        </p:spPr>
      </p:pic>
      <p:sp>
        <p:nvSpPr>
          <p:cNvPr id="86" name="Text 71"/>
          <p:cNvSpPr txBox="1"/>
          <p:nvPr/>
        </p:nvSpPr>
        <p:spPr>
          <a:xfrm>
            <a:off x="129844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Posts to a ledger</a:t>
            </a:r>
            <a:endParaRPr lang="en-US" sz="1100" dirty="0"/>
          </a:p>
        </p:txBody>
      </p:sp>
      <p:sp>
        <p:nvSpPr>
          <p:cNvPr id="87" name="Shape 72"/>
          <p:cNvSpPr/>
          <p:nvPr/>
        </p:nvSpPr>
        <p:spPr>
          <a:xfrm>
            <a:off x="2880360" y="6629400"/>
            <a:ext cx="2103120" cy="822960"/>
          </a:xfrm>
          <a:prstGeom prst="roundRect">
            <a:avLst>
              <a:gd name="adj" fmla="val 8889"/>
            </a:avLst>
          </a:prstGeom>
          <a:solidFill>
            <a:srgbClr val="FFFFFF"/>
          </a:solidFill>
          <a:ln w="9525">
            <a:solidFill>
              <a:srgbClr val="C8D8EC"/>
            </a:solidFill>
            <a:prstDash val="solid"/>
          </a:ln>
        </p:spPr>
      </p:sp>
      <p:sp>
        <p:nvSpPr>
          <p:cNvPr id="88" name="Shape 73"/>
          <p:cNvSpPr/>
          <p:nvPr/>
        </p:nvSpPr>
        <p:spPr>
          <a:xfrm>
            <a:off x="2990088" y="6803136"/>
            <a:ext cx="457200" cy="457200"/>
          </a:xfrm>
          <a:prstGeom prst="roundRect">
            <a:avLst>
              <a:gd name="adj" fmla="val 20000"/>
            </a:avLst>
          </a:prstGeom>
          <a:solidFill>
            <a:srgbClr val="C0392B"/>
          </a:solidFill>
          <a:ln w="12700">
            <a:solidFill>
              <a:srgbClr val="C0392B"/>
            </a:solidFill>
            <a:prstDash val="solid"/>
          </a:ln>
        </p:spPr>
      </p:sp>
      <p:pic>
        <p:nvPicPr>
          <p:cNvPr id="89" name="Image 13" descr="preencoded.png">    </p:cNvPr>
          <p:cNvPicPr>
            <a:picLocks noChangeAspect="1"/>
          </p:cNvPicPr>
          <p:nvPr/>
        </p:nvPicPr>
        <p:blipFill>
          <a:blip r:embed="rId14"/>
          <a:stretch>
            <a:fillRect/>
          </a:stretch>
        </p:blipFill>
        <p:spPr>
          <a:xfrm>
            <a:off x="3090672" y="6903720"/>
            <a:ext cx="256032" cy="256032"/>
          </a:xfrm>
          <a:prstGeom prst="rect">
            <a:avLst/>
          </a:prstGeom>
        </p:spPr>
      </p:pic>
      <p:sp>
        <p:nvSpPr>
          <p:cNvPr id="90" name="Text 74"/>
          <p:cNvSpPr txBox="1"/>
          <p:nvPr/>
        </p:nvSpPr>
        <p:spPr>
          <a:xfrm>
            <a:off x="353872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Signs off or attests</a:t>
            </a:r>
            <a:endParaRPr lang="en-US" sz="1100" dirty="0"/>
          </a:p>
        </p:txBody>
      </p:sp>
      <p:sp>
        <p:nvSpPr>
          <p:cNvPr id="91" name="Shape 75"/>
          <p:cNvSpPr/>
          <p:nvPr/>
        </p:nvSpPr>
        <p:spPr>
          <a:xfrm>
            <a:off x="5120640" y="6629400"/>
            <a:ext cx="2103120" cy="822960"/>
          </a:xfrm>
          <a:prstGeom prst="roundRect">
            <a:avLst>
              <a:gd name="adj" fmla="val 8889"/>
            </a:avLst>
          </a:prstGeom>
          <a:solidFill>
            <a:srgbClr val="FFFFFF"/>
          </a:solidFill>
          <a:ln w="9525">
            <a:solidFill>
              <a:srgbClr val="C8D8EC"/>
            </a:solidFill>
            <a:prstDash val="solid"/>
          </a:ln>
        </p:spPr>
      </p:sp>
      <p:sp>
        <p:nvSpPr>
          <p:cNvPr id="92" name="Shape 76"/>
          <p:cNvSpPr/>
          <p:nvPr/>
        </p:nvSpPr>
        <p:spPr>
          <a:xfrm>
            <a:off x="5230368" y="6803136"/>
            <a:ext cx="457200" cy="457200"/>
          </a:xfrm>
          <a:prstGeom prst="roundRect">
            <a:avLst>
              <a:gd name="adj" fmla="val 20000"/>
            </a:avLst>
          </a:prstGeom>
          <a:solidFill>
            <a:srgbClr val="C0392B"/>
          </a:solidFill>
          <a:ln w="12700">
            <a:solidFill>
              <a:srgbClr val="C0392B"/>
            </a:solidFill>
            <a:prstDash val="solid"/>
          </a:ln>
        </p:spPr>
      </p:sp>
      <p:pic>
        <p:nvPicPr>
          <p:cNvPr id="93" name="Image 14" descr="preencoded.png">    </p:cNvPr>
          <p:cNvPicPr>
            <a:picLocks noChangeAspect="1"/>
          </p:cNvPicPr>
          <p:nvPr/>
        </p:nvPicPr>
        <p:blipFill>
          <a:blip r:embed="rId15"/>
          <a:stretch>
            <a:fillRect/>
          </a:stretch>
        </p:blipFill>
        <p:spPr>
          <a:xfrm>
            <a:off x="5330952" y="6903720"/>
            <a:ext cx="256032" cy="256032"/>
          </a:xfrm>
          <a:prstGeom prst="rect">
            <a:avLst/>
          </a:prstGeom>
        </p:spPr>
      </p:pic>
      <p:sp>
        <p:nvSpPr>
          <p:cNvPr id="94" name="Text 77"/>
          <p:cNvSpPr txBox="1"/>
          <p:nvPr/>
        </p:nvSpPr>
        <p:spPr>
          <a:xfrm>
            <a:off x="577900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Certifies or revokes access</a:t>
            </a:r>
            <a:endParaRPr lang="en-US" sz="1100" dirty="0"/>
          </a:p>
        </p:txBody>
      </p:sp>
      <p:sp>
        <p:nvSpPr>
          <p:cNvPr id="95" name="Shape 78"/>
          <p:cNvSpPr/>
          <p:nvPr/>
        </p:nvSpPr>
        <p:spPr>
          <a:xfrm>
            <a:off x="7360920" y="6629400"/>
            <a:ext cx="2103120" cy="822960"/>
          </a:xfrm>
          <a:prstGeom prst="roundRect">
            <a:avLst>
              <a:gd name="adj" fmla="val 8889"/>
            </a:avLst>
          </a:prstGeom>
          <a:solidFill>
            <a:srgbClr val="FFFFFF"/>
          </a:solidFill>
          <a:ln w="9525">
            <a:solidFill>
              <a:srgbClr val="C8D8EC"/>
            </a:solidFill>
            <a:prstDash val="solid"/>
          </a:ln>
        </p:spPr>
      </p:sp>
      <p:sp>
        <p:nvSpPr>
          <p:cNvPr id="96" name="Shape 79"/>
          <p:cNvSpPr/>
          <p:nvPr/>
        </p:nvSpPr>
        <p:spPr>
          <a:xfrm>
            <a:off x="7470648" y="6803136"/>
            <a:ext cx="457200" cy="457200"/>
          </a:xfrm>
          <a:prstGeom prst="roundRect">
            <a:avLst>
              <a:gd name="adj" fmla="val 20000"/>
            </a:avLst>
          </a:prstGeom>
          <a:solidFill>
            <a:srgbClr val="C0392B"/>
          </a:solidFill>
          <a:ln w="12700">
            <a:solidFill>
              <a:srgbClr val="C0392B"/>
            </a:solidFill>
            <a:prstDash val="solid"/>
          </a:ln>
        </p:spPr>
      </p:sp>
      <p:pic>
        <p:nvPicPr>
          <p:cNvPr id="97" name="Image 15" descr="preencoded.png">    </p:cNvPr>
          <p:cNvPicPr>
            <a:picLocks noChangeAspect="1"/>
          </p:cNvPicPr>
          <p:nvPr/>
        </p:nvPicPr>
        <p:blipFill>
          <a:blip r:embed="rId16"/>
          <a:stretch>
            <a:fillRect/>
          </a:stretch>
        </p:blipFill>
        <p:spPr>
          <a:xfrm>
            <a:off x="7571232" y="6903720"/>
            <a:ext cx="256032" cy="256032"/>
          </a:xfrm>
          <a:prstGeom prst="rect">
            <a:avLst/>
          </a:prstGeom>
        </p:spPr>
      </p:pic>
      <p:sp>
        <p:nvSpPr>
          <p:cNvPr id="98" name="Text 80"/>
          <p:cNvSpPr txBox="1"/>
          <p:nvPr/>
        </p:nvSpPr>
        <p:spPr>
          <a:xfrm>
            <a:off x="801928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Publishes a report</a:t>
            </a:r>
            <a:endParaRPr lang="en-US" sz="1100" dirty="0"/>
          </a:p>
        </p:txBody>
      </p:sp>
      <p:sp>
        <p:nvSpPr>
          <p:cNvPr id="99" name="Shape 81"/>
          <p:cNvSpPr/>
          <p:nvPr/>
        </p:nvSpPr>
        <p:spPr>
          <a:xfrm>
            <a:off x="9601200" y="6629400"/>
            <a:ext cx="2103120" cy="822960"/>
          </a:xfrm>
          <a:prstGeom prst="roundRect">
            <a:avLst>
              <a:gd name="adj" fmla="val 8889"/>
            </a:avLst>
          </a:prstGeom>
          <a:solidFill>
            <a:srgbClr val="FFFFFF"/>
          </a:solidFill>
          <a:ln w="9525">
            <a:solidFill>
              <a:srgbClr val="C8D8EC"/>
            </a:solidFill>
            <a:prstDash val="solid"/>
          </a:ln>
        </p:spPr>
      </p:sp>
      <p:sp>
        <p:nvSpPr>
          <p:cNvPr id="100" name="Shape 82"/>
          <p:cNvSpPr/>
          <p:nvPr/>
        </p:nvSpPr>
        <p:spPr>
          <a:xfrm>
            <a:off x="9710928" y="6803136"/>
            <a:ext cx="457200" cy="457200"/>
          </a:xfrm>
          <a:prstGeom prst="roundRect">
            <a:avLst>
              <a:gd name="adj" fmla="val 20000"/>
            </a:avLst>
          </a:prstGeom>
          <a:solidFill>
            <a:srgbClr val="C0392B"/>
          </a:solidFill>
          <a:ln w="12700">
            <a:solidFill>
              <a:srgbClr val="C0392B"/>
            </a:solidFill>
            <a:prstDash val="solid"/>
          </a:ln>
        </p:spPr>
      </p:sp>
      <p:pic>
        <p:nvPicPr>
          <p:cNvPr id="101" name="Image 16" descr="preencoded.png">    </p:cNvPr>
          <p:cNvPicPr>
            <a:picLocks noChangeAspect="1"/>
          </p:cNvPicPr>
          <p:nvPr/>
        </p:nvPicPr>
        <p:blipFill>
          <a:blip r:embed="rId17"/>
          <a:stretch>
            <a:fillRect/>
          </a:stretch>
        </p:blipFill>
        <p:spPr>
          <a:xfrm>
            <a:off x="9811512" y="6903720"/>
            <a:ext cx="256032" cy="256032"/>
          </a:xfrm>
          <a:prstGeom prst="rect">
            <a:avLst/>
          </a:prstGeom>
        </p:spPr>
      </p:pic>
      <p:sp>
        <p:nvSpPr>
          <p:cNvPr id="102" name="Text 83"/>
          <p:cNvSpPr txBox="1"/>
          <p:nvPr/>
        </p:nvSpPr>
        <p:spPr>
          <a:xfrm>
            <a:off x="1025956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Changes reference data</a:t>
            </a:r>
            <a:endParaRPr lang="en-US" sz="1100" dirty="0"/>
          </a:p>
        </p:txBody>
      </p:sp>
      <p:sp>
        <p:nvSpPr>
          <p:cNvPr id="103" name="Shape 84"/>
          <p:cNvSpPr/>
          <p:nvPr/>
        </p:nvSpPr>
        <p:spPr>
          <a:xfrm>
            <a:off x="11841480" y="6629400"/>
            <a:ext cx="2103120" cy="822960"/>
          </a:xfrm>
          <a:prstGeom prst="roundRect">
            <a:avLst>
              <a:gd name="adj" fmla="val 8889"/>
            </a:avLst>
          </a:prstGeom>
          <a:solidFill>
            <a:srgbClr val="FFFFFF"/>
          </a:solidFill>
          <a:ln w="9525">
            <a:solidFill>
              <a:srgbClr val="C8D8EC"/>
            </a:solidFill>
            <a:prstDash val="solid"/>
          </a:ln>
        </p:spPr>
      </p:sp>
      <p:sp>
        <p:nvSpPr>
          <p:cNvPr id="104" name="Shape 85"/>
          <p:cNvSpPr/>
          <p:nvPr/>
        </p:nvSpPr>
        <p:spPr>
          <a:xfrm>
            <a:off x="11951208" y="6803136"/>
            <a:ext cx="457200" cy="457200"/>
          </a:xfrm>
          <a:prstGeom prst="roundRect">
            <a:avLst>
              <a:gd name="adj" fmla="val 20000"/>
            </a:avLst>
          </a:prstGeom>
          <a:solidFill>
            <a:srgbClr val="C0392B"/>
          </a:solidFill>
          <a:ln w="12700">
            <a:solidFill>
              <a:srgbClr val="C0392B"/>
            </a:solidFill>
            <a:prstDash val="solid"/>
          </a:ln>
        </p:spPr>
      </p:sp>
      <p:pic>
        <p:nvPicPr>
          <p:cNvPr id="105" name="Image 17" descr="preencoded.png">    </p:cNvPr>
          <p:cNvPicPr>
            <a:picLocks noChangeAspect="1"/>
          </p:cNvPicPr>
          <p:nvPr/>
        </p:nvPicPr>
        <p:blipFill>
          <a:blip r:embed="rId18"/>
          <a:stretch>
            <a:fillRect/>
          </a:stretch>
        </p:blipFill>
        <p:spPr>
          <a:xfrm>
            <a:off x="12051792" y="6903720"/>
            <a:ext cx="256032" cy="256032"/>
          </a:xfrm>
          <a:prstGeom prst="rect">
            <a:avLst/>
          </a:prstGeom>
        </p:spPr>
      </p:pic>
      <p:sp>
        <p:nvSpPr>
          <p:cNvPr id="106" name="Text 86"/>
          <p:cNvSpPr txBox="1"/>
          <p:nvPr/>
        </p:nvSpPr>
        <p:spPr>
          <a:xfrm>
            <a:off x="12499848" y="6629400"/>
            <a:ext cx="1371600" cy="8229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Overrides a control</a:t>
            </a:r>
            <a:endParaRPr lang="en-US" sz="1100" dirty="0"/>
          </a:p>
        </p:txBody>
      </p:sp>
      <p:sp>
        <p:nvSpPr>
          <p:cNvPr id="107" name="Text 87"/>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08" name="Shape 88"/>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09" name="Shape 89"/>
          <p:cNvSpPr/>
          <p:nvPr/>
        </p:nvSpPr>
        <p:spPr>
          <a:xfrm>
            <a:off x="667512" y="8321040"/>
            <a:ext cx="512064" cy="512064"/>
          </a:xfrm>
          <a:prstGeom prst="ellipse">
            <a:avLst/>
          </a:prstGeom>
          <a:solidFill>
            <a:srgbClr val="1E8A5A"/>
          </a:solidFill>
          <a:ln w="12700">
            <a:solidFill>
              <a:srgbClr val="1E8A5A"/>
            </a:solidFill>
            <a:prstDash val="solid"/>
          </a:ln>
        </p:spPr>
      </p:sp>
      <p:pic>
        <p:nvPicPr>
          <p:cNvPr id="110" name="Image 18" descr="preencoded.png">    </p:cNvPr>
          <p:cNvPicPr>
            <a:picLocks noChangeAspect="1"/>
          </p:cNvPicPr>
          <p:nvPr/>
        </p:nvPicPr>
        <p:blipFill>
          <a:blip r:embed="rId19"/>
          <a:stretch>
            <a:fillRect/>
          </a:stretch>
        </p:blipFill>
        <p:spPr>
          <a:xfrm>
            <a:off x="800649" y="8454177"/>
            <a:ext cx="245791" cy="245791"/>
          </a:xfrm>
          <a:prstGeom prst="rect">
            <a:avLst/>
          </a:prstGeom>
        </p:spPr>
      </p:pic>
      <p:sp>
        <p:nvSpPr>
          <p:cNvPr id="111" name="Text 90"/>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Accountability unchanged</a:t>
            </a:r>
            <a:endParaRPr lang="en-US" sz="1200" dirty="0"/>
          </a:p>
        </p:txBody>
      </p:sp>
      <p:sp>
        <p:nvSpPr>
          <p:cNvPr id="112" name="Text 91"/>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Same owners, same sign-off authority, same controls as today</a:t>
            </a:r>
            <a:endParaRPr lang="en-US" sz="950" dirty="0"/>
          </a:p>
        </p:txBody>
      </p:sp>
      <p:sp>
        <p:nvSpPr>
          <p:cNvPr id="113" name="Shape 92"/>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14" name="Shape 93"/>
          <p:cNvSpPr/>
          <p:nvPr/>
        </p:nvSpPr>
        <p:spPr>
          <a:xfrm>
            <a:off x="4105656" y="8321040"/>
            <a:ext cx="512064" cy="512064"/>
          </a:xfrm>
          <a:prstGeom prst="ellipse">
            <a:avLst/>
          </a:prstGeom>
          <a:solidFill>
            <a:srgbClr val="2A6EBB"/>
          </a:solidFill>
          <a:ln w="12700">
            <a:solidFill>
              <a:srgbClr val="2A6EBB"/>
            </a:solidFill>
            <a:prstDash val="solid"/>
          </a:ln>
        </p:spPr>
      </p:sp>
      <p:pic>
        <p:nvPicPr>
          <p:cNvPr id="115" name="Image 19" descr="preencoded.png">    </p:cNvPr>
          <p:cNvPicPr>
            <a:picLocks noChangeAspect="1"/>
          </p:cNvPicPr>
          <p:nvPr/>
        </p:nvPicPr>
        <p:blipFill>
          <a:blip r:embed="rId20"/>
          <a:stretch>
            <a:fillRect/>
          </a:stretch>
        </p:blipFill>
        <p:spPr>
          <a:xfrm>
            <a:off x="4238793" y="8454177"/>
            <a:ext cx="245791" cy="245791"/>
          </a:xfrm>
          <a:prstGeom prst="rect">
            <a:avLst/>
          </a:prstGeom>
        </p:spPr>
      </p:pic>
      <p:sp>
        <p:nvSpPr>
          <p:cNvPr id="116" name="Text 94"/>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Better-prepared decisions</a:t>
            </a:r>
            <a:endParaRPr lang="en-US" sz="1200" dirty="0"/>
          </a:p>
        </p:txBody>
      </p:sp>
      <p:sp>
        <p:nvSpPr>
          <p:cNvPr id="117" name="Text 95"/>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People start from evidence, not from a blank spreadsheet</a:t>
            </a:r>
            <a:endParaRPr lang="en-US" sz="950" dirty="0"/>
          </a:p>
        </p:txBody>
      </p:sp>
      <p:sp>
        <p:nvSpPr>
          <p:cNvPr id="118" name="Shape 96"/>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19" name="Shape 97"/>
          <p:cNvSpPr/>
          <p:nvPr/>
        </p:nvSpPr>
        <p:spPr>
          <a:xfrm>
            <a:off x="7543800" y="8321040"/>
            <a:ext cx="512064" cy="512064"/>
          </a:xfrm>
          <a:prstGeom prst="ellipse">
            <a:avLst/>
          </a:prstGeom>
          <a:solidFill>
            <a:srgbClr val="5B4FA8"/>
          </a:solidFill>
          <a:ln w="12700">
            <a:solidFill>
              <a:srgbClr val="5B4FA8"/>
            </a:solidFill>
            <a:prstDash val="solid"/>
          </a:ln>
        </p:spPr>
      </p:sp>
      <p:pic>
        <p:nvPicPr>
          <p:cNvPr id="120" name="Image 20" descr="preencoded.png">    </p:cNvPr>
          <p:cNvPicPr>
            <a:picLocks noChangeAspect="1"/>
          </p:cNvPicPr>
          <p:nvPr/>
        </p:nvPicPr>
        <p:blipFill>
          <a:blip r:embed="rId21"/>
          <a:stretch>
            <a:fillRect/>
          </a:stretch>
        </p:blipFill>
        <p:spPr>
          <a:xfrm>
            <a:off x="7676937" y="8454177"/>
            <a:ext cx="245791" cy="245791"/>
          </a:xfrm>
          <a:prstGeom prst="rect">
            <a:avLst/>
          </a:prstGeom>
        </p:spPr>
      </p:pic>
      <p:sp>
        <p:nvSpPr>
          <p:cNvPr id="121" name="Text 98"/>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Full traceability</a:t>
            </a:r>
            <a:endParaRPr lang="en-US" sz="1200" dirty="0"/>
          </a:p>
        </p:txBody>
      </p:sp>
      <p:sp>
        <p:nvSpPr>
          <p:cNvPr id="122" name="Text 99"/>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recommendation and decision recorded end to end</a:t>
            </a:r>
            <a:endParaRPr lang="en-US" sz="950" dirty="0"/>
          </a:p>
        </p:txBody>
      </p:sp>
      <p:sp>
        <p:nvSpPr>
          <p:cNvPr id="123" name="Shape 100"/>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24" name="Shape 101"/>
          <p:cNvSpPr/>
          <p:nvPr/>
        </p:nvSpPr>
        <p:spPr>
          <a:xfrm>
            <a:off x="10981944" y="8321040"/>
            <a:ext cx="512064" cy="512064"/>
          </a:xfrm>
          <a:prstGeom prst="ellipse">
            <a:avLst/>
          </a:prstGeom>
          <a:solidFill>
            <a:srgbClr val="1F4E8C"/>
          </a:solidFill>
          <a:ln w="12700">
            <a:solidFill>
              <a:srgbClr val="1F4E8C"/>
            </a:solidFill>
            <a:prstDash val="solid"/>
          </a:ln>
        </p:spPr>
      </p:sp>
      <p:pic>
        <p:nvPicPr>
          <p:cNvPr id="125" name="Image 21" descr="preencoded.png">    </p:cNvPr>
          <p:cNvPicPr>
            <a:picLocks noChangeAspect="1"/>
          </p:cNvPicPr>
          <p:nvPr/>
        </p:nvPicPr>
        <p:blipFill>
          <a:blip r:embed="rId22"/>
          <a:stretch>
            <a:fillRect/>
          </a:stretch>
        </p:blipFill>
        <p:spPr>
          <a:xfrm>
            <a:off x="11115081" y="8454177"/>
            <a:ext cx="245791" cy="245791"/>
          </a:xfrm>
          <a:prstGeom prst="rect">
            <a:avLst/>
          </a:prstGeom>
        </p:spPr>
      </p:pic>
      <p:sp>
        <p:nvSpPr>
          <p:cNvPr id="126" name="Text 102"/>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Manual fallback</a:t>
            </a:r>
            <a:endParaRPr lang="en-US" sz="1200" dirty="0"/>
          </a:p>
        </p:txBody>
      </p:sp>
      <p:sp>
        <p:nvSpPr>
          <p:cNvPr id="127" name="Text 103"/>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Switch an agent off and the process runs as it does today</a:t>
            </a:r>
            <a:endParaRPr lang="en-US" sz="950" dirty="0"/>
          </a:p>
        </p:txBody>
      </p:sp>
      <p:sp>
        <p:nvSpPr>
          <p:cNvPr id="128" name="Shape 104"/>
          <p:cNvSpPr/>
          <p:nvPr/>
        </p:nvSpPr>
        <p:spPr>
          <a:xfrm>
            <a:off x="0" y="9272016"/>
            <a:ext cx="14630400" cy="484632"/>
          </a:xfrm>
          <a:prstGeom prst="rect">
            <a:avLst/>
          </a:prstGeom>
          <a:solidFill>
            <a:srgbClr val="0B2E5E"/>
          </a:solidFill>
          <a:ln w="12700">
            <a:solidFill>
              <a:srgbClr val="0B2E5E"/>
            </a:solidFill>
            <a:prstDash val="solid"/>
          </a:ln>
        </p:spPr>
      </p:sp>
      <p:sp>
        <p:nvSpPr>
          <p:cNvPr id="129" name="Text 105"/>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prepare. People decide. Systems execute.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Functional Architecture: Where AI Agents Fit</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Accounting Control &amp; Analytics, agent use cases mapped to the functions they serve</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Functional View</a:t>
            </a:r>
            <a:endParaRPr lang="en-US" sz="2200" dirty="0"/>
          </a:p>
        </p:txBody>
      </p:sp>
      <p:sp>
        <p:nvSpPr>
          <p:cNvPr id="7" name="Shape 5"/>
          <p:cNvSpPr/>
          <p:nvPr/>
        </p:nvSpPr>
        <p:spPr>
          <a:xfrm>
            <a:off x="502920" y="1188720"/>
            <a:ext cx="3977640" cy="1828800"/>
          </a:xfrm>
          <a:prstGeom prst="roundRect">
            <a:avLst>
              <a:gd name="adj" fmla="val 2500"/>
            </a:avLst>
          </a:prstGeom>
          <a:solidFill>
            <a:srgbClr val="EEF4FB"/>
          </a:solidFill>
          <a:ln w="12700">
            <a:solidFill>
              <a:srgbClr val="2A6EBB"/>
            </a:solidFill>
            <a:prstDash val="dash"/>
          </a:ln>
        </p:spPr>
      </p:sp>
      <p:sp>
        <p:nvSpPr>
          <p:cNvPr id="8" name="Text 6"/>
          <p:cNvSpPr txBox="1"/>
          <p:nvPr/>
        </p:nvSpPr>
        <p:spPr>
          <a:xfrm>
            <a:off x="612648" y="1252728"/>
            <a:ext cx="37581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FO / RISK / COST / FINANCE FUNCTIONS</a:t>
            </a:r>
            <a:endParaRPr lang="en-US" sz="900" dirty="0"/>
          </a:p>
        </p:txBody>
      </p:sp>
      <p:sp>
        <p:nvSpPr>
          <p:cNvPr id="9" name="Shape 7"/>
          <p:cNvSpPr/>
          <p:nvPr/>
        </p:nvSpPr>
        <p:spPr>
          <a:xfrm>
            <a:off x="640080" y="1508760"/>
            <a:ext cx="1783080" cy="548640"/>
          </a:xfrm>
          <a:prstGeom prst="roundRect">
            <a:avLst>
              <a:gd name="adj" fmla="val 8333"/>
            </a:avLst>
          </a:prstGeom>
          <a:solidFill>
            <a:srgbClr val="FFFFFF"/>
          </a:solidFill>
          <a:ln w="9525">
            <a:solidFill>
              <a:srgbClr val="C8D8EC"/>
            </a:solidFill>
            <a:prstDash val="solid"/>
          </a:ln>
        </p:spPr>
      </p:sp>
      <p:sp>
        <p:nvSpPr>
          <p:cNvPr id="10" name="Text 8"/>
          <p:cNvSpPr txBox="1"/>
          <p:nvPr/>
        </p:nvSpPr>
        <p:spPr>
          <a:xfrm>
            <a:off x="694944" y="150876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Trades / Transactions &amp; Events Generation</a:t>
            </a:r>
            <a:endParaRPr lang="en-US" sz="950" dirty="0"/>
          </a:p>
        </p:txBody>
      </p:sp>
      <p:sp>
        <p:nvSpPr>
          <p:cNvPr id="11" name="Shape 9"/>
          <p:cNvSpPr/>
          <p:nvPr/>
        </p:nvSpPr>
        <p:spPr>
          <a:xfrm>
            <a:off x="640080" y="2286000"/>
            <a:ext cx="1783080" cy="548640"/>
          </a:xfrm>
          <a:prstGeom prst="roundRect">
            <a:avLst>
              <a:gd name="adj" fmla="val 8333"/>
            </a:avLst>
          </a:prstGeom>
          <a:solidFill>
            <a:srgbClr val="FFFFFF"/>
          </a:solidFill>
          <a:ln w="9525">
            <a:solidFill>
              <a:srgbClr val="C8D8EC"/>
            </a:solidFill>
            <a:prstDash val="solid"/>
          </a:ln>
        </p:spPr>
      </p:sp>
      <p:sp>
        <p:nvSpPr>
          <p:cNvPr id="12" name="Text 10"/>
          <p:cNvSpPr txBox="1"/>
          <p:nvPr/>
        </p:nvSpPr>
        <p:spPr>
          <a:xfrm>
            <a:off x="694944" y="2286000"/>
            <a:ext cx="1673352" cy="54864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Trader Flash P&amp;L Generation</a:t>
            </a:r>
            <a:endParaRPr lang="en-US" sz="950" dirty="0"/>
          </a:p>
        </p:txBody>
      </p:sp>
      <p:sp>
        <p:nvSpPr>
          <p:cNvPr id="13" name="Shape 11"/>
          <p:cNvSpPr/>
          <p:nvPr/>
        </p:nvSpPr>
        <p:spPr>
          <a:xfrm>
            <a:off x="2560320" y="1737360"/>
            <a:ext cx="1783080" cy="868680"/>
          </a:xfrm>
          <a:prstGeom prst="roundRect">
            <a:avLst>
              <a:gd name="adj" fmla="val 5263"/>
            </a:avLst>
          </a:prstGeom>
          <a:solidFill>
            <a:srgbClr val="1F56C3"/>
          </a:solidFill>
          <a:ln w="12700">
            <a:solidFill>
              <a:srgbClr val="1F56C3"/>
            </a:solidFill>
            <a:prstDash val="solid"/>
          </a:ln>
        </p:spPr>
      </p:sp>
      <p:sp>
        <p:nvSpPr>
          <p:cNvPr id="14" name="Text 12"/>
          <p:cNvSpPr txBox="1"/>
          <p:nvPr/>
        </p:nvSpPr>
        <p:spPr>
          <a:xfrm>
            <a:off x="2615184" y="1737360"/>
            <a:ext cx="167335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FO P&amp;L Explains: Flash v Formal Analysis, PLEX</a:t>
            </a:r>
            <a:endParaRPr lang="en-US" sz="950" dirty="0"/>
          </a:p>
        </p:txBody>
      </p:sp>
      <p:sp>
        <p:nvSpPr>
          <p:cNvPr id="15" name="Shape 13"/>
          <p:cNvSpPr/>
          <p:nvPr/>
        </p:nvSpPr>
        <p:spPr>
          <a:xfrm>
            <a:off x="4160520" y="1645920"/>
            <a:ext cx="274320" cy="274320"/>
          </a:xfrm>
          <a:prstGeom prst="ellipse">
            <a:avLst/>
          </a:prstGeom>
          <a:solidFill>
            <a:srgbClr val="F2A900"/>
          </a:solidFill>
          <a:ln w="12700">
            <a:solidFill>
              <a:srgbClr val="FFFFFF"/>
            </a:solidFill>
            <a:prstDash val="solid"/>
          </a:ln>
        </p:spPr>
      </p:sp>
      <p:sp>
        <p:nvSpPr>
          <p:cNvPr id="16" name="Text 14"/>
          <p:cNvSpPr txBox="1"/>
          <p:nvPr/>
        </p:nvSpPr>
        <p:spPr>
          <a:xfrm>
            <a:off x="4160520" y="16459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7" name="Shape 15"/>
          <p:cNvSpPr/>
          <p:nvPr/>
        </p:nvSpPr>
        <p:spPr>
          <a:xfrm>
            <a:off x="4663440" y="1188720"/>
            <a:ext cx="5989320" cy="1828800"/>
          </a:xfrm>
          <a:prstGeom prst="roundRect">
            <a:avLst>
              <a:gd name="adj" fmla="val 2500"/>
            </a:avLst>
          </a:prstGeom>
          <a:solidFill>
            <a:srgbClr val="EEF4FB"/>
          </a:solidFill>
          <a:ln w="12700">
            <a:solidFill>
              <a:srgbClr val="2A6EBB"/>
            </a:solidFill>
            <a:prstDash val="dash"/>
          </a:ln>
        </p:spPr>
      </p:sp>
      <p:sp>
        <p:nvSpPr>
          <p:cNvPr id="18" name="Text 16"/>
          <p:cNvSpPr txBox="1"/>
          <p:nvPr/>
        </p:nvSpPr>
        <p:spPr>
          <a:xfrm>
            <a:off x="4773168" y="1252728"/>
            <a:ext cx="576986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GROUP ACCOUNTING</a:t>
            </a:r>
            <a:endParaRPr lang="en-US" sz="900" dirty="0"/>
          </a:p>
        </p:txBody>
      </p:sp>
      <p:sp>
        <p:nvSpPr>
          <p:cNvPr id="19" name="Shape 17"/>
          <p:cNvSpPr/>
          <p:nvPr/>
        </p:nvSpPr>
        <p:spPr>
          <a:xfrm>
            <a:off x="4800600" y="1508760"/>
            <a:ext cx="1828800" cy="548640"/>
          </a:xfrm>
          <a:prstGeom prst="roundRect">
            <a:avLst>
              <a:gd name="adj" fmla="val 8333"/>
            </a:avLst>
          </a:prstGeom>
          <a:solidFill>
            <a:srgbClr val="1E4D5C"/>
          </a:solidFill>
          <a:ln w="12700">
            <a:solidFill>
              <a:srgbClr val="1E4D5C"/>
            </a:solidFill>
            <a:prstDash val="solid"/>
          </a:ln>
        </p:spPr>
      </p:sp>
      <p:sp>
        <p:nvSpPr>
          <p:cNvPr id="20" name="Text 18"/>
          <p:cNvSpPr txBox="1"/>
          <p:nvPr/>
        </p:nvSpPr>
        <p:spPr>
          <a:xfrm>
            <a:off x="485546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 Ledger Accounting</a:t>
            </a:r>
            <a:endParaRPr lang="en-US" sz="950" dirty="0"/>
          </a:p>
        </p:txBody>
      </p:sp>
      <p:sp>
        <p:nvSpPr>
          <p:cNvPr id="21" name="Shape 19"/>
          <p:cNvSpPr/>
          <p:nvPr/>
        </p:nvSpPr>
        <p:spPr>
          <a:xfrm>
            <a:off x="6720840" y="1508760"/>
            <a:ext cx="1828800" cy="548640"/>
          </a:xfrm>
          <a:prstGeom prst="roundRect">
            <a:avLst>
              <a:gd name="adj" fmla="val 8333"/>
            </a:avLst>
          </a:prstGeom>
          <a:solidFill>
            <a:srgbClr val="1E4D5C"/>
          </a:solidFill>
          <a:ln w="12700">
            <a:solidFill>
              <a:srgbClr val="1E4D5C"/>
            </a:solidFill>
            <a:prstDash val="solid"/>
          </a:ln>
        </p:spPr>
      </p:sp>
      <p:sp>
        <p:nvSpPr>
          <p:cNvPr id="22" name="Text 20"/>
          <p:cNvSpPr txBox="1"/>
          <p:nvPr/>
        </p:nvSpPr>
        <p:spPr>
          <a:xfrm>
            <a:off x="6775704" y="1508760"/>
            <a:ext cx="17190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General Ledger Accounting</a:t>
            </a:r>
            <a:endParaRPr lang="en-US" sz="950" dirty="0"/>
          </a:p>
        </p:txBody>
      </p:sp>
      <p:sp>
        <p:nvSpPr>
          <p:cNvPr id="23" name="Shape 21"/>
          <p:cNvSpPr/>
          <p:nvPr/>
        </p:nvSpPr>
        <p:spPr>
          <a:xfrm>
            <a:off x="8641080" y="1508760"/>
            <a:ext cx="1874520" cy="548640"/>
          </a:xfrm>
          <a:prstGeom prst="roundRect">
            <a:avLst>
              <a:gd name="adj" fmla="val 8333"/>
            </a:avLst>
          </a:prstGeom>
          <a:solidFill>
            <a:srgbClr val="1E4D5C"/>
          </a:solidFill>
          <a:ln w="12700">
            <a:solidFill>
              <a:srgbClr val="1E4D5C"/>
            </a:solidFill>
            <a:prstDash val="solid"/>
          </a:ln>
        </p:spPr>
      </p:sp>
      <p:sp>
        <p:nvSpPr>
          <p:cNvPr id="24" name="Text 22"/>
          <p:cNvSpPr txBox="1"/>
          <p:nvPr/>
        </p:nvSpPr>
        <p:spPr>
          <a:xfrm>
            <a:off x="8695944" y="1508760"/>
            <a:ext cx="17647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Consolidation Accounting</a:t>
            </a:r>
            <a:endParaRPr lang="en-US" sz="950" dirty="0"/>
          </a:p>
        </p:txBody>
      </p:sp>
      <p:sp>
        <p:nvSpPr>
          <p:cNvPr id="25" name="Shape 23"/>
          <p:cNvSpPr/>
          <p:nvPr/>
        </p:nvSpPr>
        <p:spPr>
          <a:xfrm>
            <a:off x="4800600" y="2286000"/>
            <a:ext cx="5715000" cy="548640"/>
          </a:xfrm>
          <a:prstGeom prst="roundRect">
            <a:avLst>
              <a:gd name="adj" fmla="val 8333"/>
            </a:avLst>
          </a:prstGeom>
          <a:solidFill>
            <a:srgbClr val="1E4D5C"/>
          </a:solidFill>
          <a:ln w="12700">
            <a:solidFill>
              <a:srgbClr val="1E4D5C"/>
            </a:solidFill>
            <a:prstDash val="solid"/>
          </a:ln>
        </p:spPr>
      </p:sp>
      <p:sp>
        <p:nvSpPr>
          <p:cNvPr id="26" name="Text 24"/>
          <p:cNvSpPr txBox="1"/>
          <p:nvPr/>
        </p:nvSpPr>
        <p:spPr>
          <a:xfrm>
            <a:off x="4855464" y="2286000"/>
            <a:ext cx="5605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Enterprise Trial Balance Generation</a:t>
            </a:r>
            <a:endParaRPr lang="en-US" sz="950" dirty="0"/>
          </a:p>
        </p:txBody>
      </p:sp>
      <p:sp>
        <p:nvSpPr>
          <p:cNvPr id="27" name="Shape 25"/>
          <p:cNvSpPr/>
          <p:nvPr/>
        </p:nvSpPr>
        <p:spPr>
          <a:xfrm>
            <a:off x="10835640" y="1188720"/>
            <a:ext cx="3291840" cy="1828800"/>
          </a:xfrm>
          <a:prstGeom prst="roundRect">
            <a:avLst>
              <a:gd name="adj" fmla="val 2500"/>
            </a:avLst>
          </a:prstGeom>
          <a:solidFill>
            <a:srgbClr val="EEF4FB"/>
          </a:solidFill>
          <a:ln w="12700">
            <a:solidFill>
              <a:srgbClr val="2A6EBB"/>
            </a:solidFill>
            <a:prstDash val="dash"/>
          </a:ln>
        </p:spPr>
      </p:sp>
      <p:sp>
        <p:nvSpPr>
          <p:cNvPr id="28" name="Text 26"/>
          <p:cNvSpPr txBox="1"/>
          <p:nvPr/>
        </p:nvSpPr>
        <p:spPr>
          <a:xfrm>
            <a:off x="10945368" y="1252728"/>
            <a:ext cx="307238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MASTER / REFERENCE DATA</a:t>
            </a:r>
            <a:endParaRPr lang="en-US" sz="900" dirty="0"/>
          </a:p>
        </p:txBody>
      </p:sp>
      <p:sp>
        <p:nvSpPr>
          <p:cNvPr id="29" name="Shape 27"/>
          <p:cNvSpPr/>
          <p:nvPr/>
        </p:nvSpPr>
        <p:spPr>
          <a:xfrm>
            <a:off x="10972800" y="1737360"/>
            <a:ext cx="3017520" cy="868680"/>
          </a:xfrm>
          <a:prstGeom prst="roundRect">
            <a:avLst>
              <a:gd name="adj" fmla="val 5263"/>
            </a:avLst>
          </a:prstGeom>
          <a:solidFill>
            <a:srgbClr val="1F56C3"/>
          </a:solidFill>
          <a:ln w="12700">
            <a:solidFill>
              <a:srgbClr val="1F56C3"/>
            </a:solidFill>
            <a:prstDash val="solid"/>
          </a:ln>
        </p:spPr>
      </p:sp>
      <p:sp>
        <p:nvSpPr>
          <p:cNvPr id="30" name="Text 28"/>
          <p:cNvSpPr txBox="1"/>
          <p:nvPr/>
        </p:nvSpPr>
        <p:spPr>
          <a:xfrm>
            <a:off x="11027664" y="1737360"/>
            <a:ext cx="2907792" cy="86868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Master / Reference Data Corrections</a:t>
            </a:r>
            <a:endParaRPr lang="en-US" sz="950" dirty="0"/>
          </a:p>
        </p:txBody>
      </p:sp>
      <p:sp>
        <p:nvSpPr>
          <p:cNvPr id="31" name="Shape 29"/>
          <p:cNvSpPr/>
          <p:nvPr/>
        </p:nvSpPr>
        <p:spPr>
          <a:xfrm>
            <a:off x="13807440" y="1645920"/>
            <a:ext cx="274320" cy="274320"/>
          </a:xfrm>
          <a:prstGeom prst="ellipse">
            <a:avLst/>
          </a:prstGeom>
          <a:solidFill>
            <a:srgbClr val="F2A900"/>
          </a:solidFill>
          <a:ln w="12700">
            <a:solidFill>
              <a:srgbClr val="FFFFFF"/>
            </a:solidFill>
            <a:prstDash val="solid"/>
          </a:ln>
        </p:spPr>
      </p:sp>
      <p:sp>
        <p:nvSpPr>
          <p:cNvPr id="32" name="Text 30"/>
          <p:cNvSpPr txBox="1"/>
          <p:nvPr/>
        </p:nvSpPr>
        <p:spPr>
          <a:xfrm>
            <a:off x="13807440" y="16459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33" name="Shape 31"/>
          <p:cNvSpPr/>
          <p:nvPr/>
        </p:nvSpPr>
        <p:spPr>
          <a:xfrm>
            <a:off x="502920" y="3200400"/>
            <a:ext cx="1828800" cy="4754880"/>
          </a:xfrm>
          <a:prstGeom prst="roundRect">
            <a:avLst>
              <a:gd name="adj" fmla="val 2500"/>
            </a:avLst>
          </a:prstGeom>
          <a:solidFill>
            <a:srgbClr val="EEF4FB"/>
          </a:solidFill>
          <a:ln w="12700">
            <a:solidFill>
              <a:srgbClr val="2A6EBB"/>
            </a:solidFill>
            <a:prstDash val="dash"/>
          </a:ln>
        </p:spPr>
      </p:sp>
      <p:sp>
        <p:nvSpPr>
          <p:cNvPr id="34" name="Text 32"/>
          <p:cNvSpPr txBox="1"/>
          <p:nvPr/>
        </p:nvSpPr>
        <p:spPr>
          <a:xfrm>
            <a:off x="612648" y="3264408"/>
            <a:ext cx="1609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ENTITLEMENTS &amp; WORKFLOW</a:t>
            </a:r>
            <a:endParaRPr lang="en-US" sz="900" dirty="0"/>
          </a:p>
        </p:txBody>
      </p:sp>
      <p:sp>
        <p:nvSpPr>
          <p:cNvPr id="35" name="Shape 33"/>
          <p:cNvSpPr/>
          <p:nvPr/>
        </p:nvSpPr>
        <p:spPr>
          <a:xfrm>
            <a:off x="640080" y="3657600"/>
            <a:ext cx="1554480" cy="1097280"/>
          </a:xfrm>
          <a:prstGeom prst="roundRect">
            <a:avLst>
              <a:gd name="adj" fmla="val 4167"/>
            </a:avLst>
          </a:prstGeom>
          <a:solidFill>
            <a:srgbClr val="FFFFFF"/>
          </a:solidFill>
          <a:ln w="9525">
            <a:solidFill>
              <a:srgbClr val="C8D8EC"/>
            </a:solidFill>
            <a:prstDash val="solid"/>
          </a:ln>
        </p:spPr>
      </p:sp>
      <p:sp>
        <p:nvSpPr>
          <p:cNvPr id="36" name="Text 34"/>
          <p:cNvSpPr txBox="1"/>
          <p:nvPr/>
        </p:nvSpPr>
        <p:spPr>
          <a:xfrm>
            <a:off x="694944" y="365760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Entitlements Definition</a:t>
            </a:r>
            <a:endParaRPr lang="en-US" sz="950" dirty="0"/>
          </a:p>
        </p:txBody>
      </p:sp>
      <p:sp>
        <p:nvSpPr>
          <p:cNvPr id="37" name="Shape 35"/>
          <p:cNvSpPr/>
          <p:nvPr/>
        </p:nvSpPr>
        <p:spPr>
          <a:xfrm>
            <a:off x="2011680" y="3566160"/>
            <a:ext cx="274320" cy="274320"/>
          </a:xfrm>
          <a:prstGeom prst="ellipse">
            <a:avLst/>
          </a:prstGeom>
          <a:solidFill>
            <a:srgbClr val="F2A900"/>
          </a:solidFill>
          <a:ln w="12700">
            <a:solidFill>
              <a:srgbClr val="FFFFFF"/>
            </a:solidFill>
            <a:prstDash val="solid"/>
          </a:ln>
        </p:spPr>
      </p:sp>
      <p:sp>
        <p:nvSpPr>
          <p:cNvPr id="38" name="Text 36"/>
          <p:cNvSpPr txBox="1"/>
          <p:nvPr/>
        </p:nvSpPr>
        <p:spPr>
          <a:xfrm>
            <a:off x="2011680" y="356616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39" name="Shape 37"/>
          <p:cNvSpPr/>
          <p:nvPr/>
        </p:nvSpPr>
        <p:spPr>
          <a:xfrm>
            <a:off x="640080" y="5577840"/>
            <a:ext cx="1554480" cy="1097280"/>
          </a:xfrm>
          <a:prstGeom prst="roundRect">
            <a:avLst>
              <a:gd name="adj" fmla="val 4167"/>
            </a:avLst>
          </a:prstGeom>
          <a:solidFill>
            <a:srgbClr val="FFFFFF"/>
          </a:solidFill>
          <a:ln w="9525">
            <a:solidFill>
              <a:srgbClr val="C8D8EC"/>
            </a:solidFill>
            <a:prstDash val="solid"/>
          </a:ln>
        </p:spPr>
      </p:sp>
      <p:sp>
        <p:nvSpPr>
          <p:cNvPr id="40" name="Text 38"/>
          <p:cNvSpPr txBox="1"/>
          <p:nvPr/>
        </p:nvSpPr>
        <p:spPr>
          <a:xfrm>
            <a:off x="694944" y="5577840"/>
            <a:ext cx="1444752" cy="1097280"/>
          </a:xfrm>
          <a:prstGeom prst="rect">
            <a:avLst/>
          </a:prstGeom>
          <a:noFill/>
          <a:ln/>
        </p:spPr>
        <p:txBody>
          <a:bodyPr wrap="square" lIns="0" tIns="0" rIns="0" bIns="0" rtlCol="0" anchor="ctr"/>
          <a:lstStyle/>
          <a:p>
            <a:pPr algn="ctr" indent="0" marL="0">
              <a:buNone/>
            </a:pPr>
            <a:r>
              <a:rPr lang="en-US" sz="950" b="1" dirty="0">
                <a:solidFill>
                  <a:srgbClr val="1F2D3D"/>
                </a:solidFill>
                <a:latin typeface="Calibri" pitchFamily="34" charset="0"/>
                <a:ea typeface="Calibri" pitchFamily="34" charset="-122"/>
                <a:cs typeface="Calibri" pitchFamily="34" charset="-120"/>
              </a:rPr>
              <a:t>Workflow Definition</a:t>
            </a:r>
            <a:endParaRPr lang="en-US" sz="950" dirty="0"/>
          </a:p>
        </p:txBody>
      </p:sp>
      <p:sp>
        <p:nvSpPr>
          <p:cNvPr id="41" name="Shape 39"/>
          <p:cNvSpPr/>
          <p:nvPr/>
        </p:nvSpPr>
        <p:spPr>
          <a:xfrm>
            <a:off x="2011680" y="5486400"/>
            <a:ext cx="274320" cy="274320"/>
          </a:xfrm>
          <a:prstGeom prst="ellipse">
            <a:avLst/>
          </a:prstGeom>
          <a:solidFill>
            <a:srgbClr val="F2A900"/>
          </a:solidFill>
          <a:ln w="12700">
            <a:solidFill>
              <a:srgbClr val="FFFFFF"/>
            </a:solidFill>
            <a:prstDash val="solid"/>
          </a:ln>
        </p:spPr>
      </p:sp>
      <p:sp>
        <p:nvSpPr>
          <p:cNvPr id="42" name="Text 40"/>
          <p:cNvSpPr txBox="1"/>
          <p:nvPr/>
        </p:nvSpPr>
        <p:spPr>
          <a:xfrm>
            <a:off x="2011680" y="54864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43" name="Shape 41"/>
          <p:cNvSpPr/>
          <p:nvPr/>
        </p:nvSpPr>
        <p:spPr>
          <a:xfrm>
            <a:off x="2514600" y="3200400"/>
            <a:ext cx="6400800" cy="1691640"/>
          </a:xfrm>
          <a:prstGeom prst="roundRect">
            <a:avLst>
              <a:gd name="adj" fmla="val 2703"/>
            </a:avLst>
          </a:prstGeom>
          <a:solidFill>
            <a:srgbClr val="EEF4FB"/>
          </a:solidFill>
          <a:ln w="12700">
            <a:solidFill>
              <a:srgbClr val="2A6EBB"/>
            </a:solidFill>
            <a:prstDash val="dash"/>
          </a:ln>
        </p:spPr>
      </p:sp>
      <p:sp>
        <p:nvSpPr>
          <p:cNvPr id="44" name="Text 42"/>
          <p:cNvSpPr txBox="1"/>
          <p:nvPr/>
        </p:nvSpPr>
        <p:spPr>
          <a:xfrm>
            <a:off x="2624328" y="326440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RECONCILIATIONS &amp; CONTROLS</a:t>
            </a:r>
            <a:endParaRPr lang="en-US" sz="900" dirty="0"/>
          </a:p>
        </p:txBody>
      </p:sp>
      <p:sp>
        <p:nvSpPr>
          <p:cNvPr id="45" name="Shape 43"/>
          <p:cNvSpPr/>
          <p:nvPr/>
        </p:nvSpPr>
        <p:spPr>
          <a:xfrm>
            <a:off x="2651760" y="3520440"/>
            <a:ext cx="1920240" cy="1234440"/>
          </a:xfrm>
          <a:prstGeom prst="roundRect">
            <a:avLst>
              <a:gd name="adj" fmla="val 3704"/>
            </a:avLst>
          </a:prstGeom>
          <a:solidFill>
            <a:srgbClr val="1F56C3"/>
          </a:solidFill>
          <a:ln w="12700">
            <a:solidFill>
              <a:srgbClr val="1F56C3"/>
            </a:solidFill>
            <a:prstDash val="solid"/>
          </a:ln>
        </p:spPr>
      </p:sp>
      <p:sp>
        <p:nvSpPr>
          <p:cNvPr id="46" name="Text 44"/>
          <p:cNvSpPr txBox="1"/>
          <p:nvPr/>
        </p:nvSpPr>
        <p:spPr>
          <a:xfrm>
            <a:off x="2706624" y="3520440"/>
            <a:ext cx="1810512" cy="12344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Finance Flash v Formal P&amp;L Analysis</a:t>
            </a:r>
            <a:endParaRPr lang="en-US" sz="950" dirty="0"/>
          </a:p>
        </p:txBody>
      </p:sp>
      <p:sp>
        <p:nvSpPr>
          <p:cNvPr id="47" name="Shape 45"/>
          <p:cNvSpPr/>
          <p:nvPr/>
        </p:nvSpPr>
        <p:spPr>
          <a:xfrm>
            <a:off x="4389120" y="3429000"/>
            <a:ext cx="274320" cy="274320"/>
          </a:xfrm>
          <a:prstGeom prst="ellipse">
            <a:avLst/>
          </a:prstGeom>
          <a:solidFill>
            <a:srgbClr val="F2A900"/>
          </a:solidFill>
          <a:ln w="12700">
            <a:solidFill>
              <a:srgbClr val="FFFFFF"/>
            </a:solidFill>
            <a:prstDash val="solid"/>
          </a:ln>
        </p:spPr>
      </p:sp>
      <p:sp>
        <p:nvSpPr>
          <p:cNvPr id="48" name="Text 46"/>
          <p:cNvSpPr txBox="1"/>
          <p:nvPr/>
        </p:nvSpPr>
        <p:spPr>
          <a:xfrm>
            <a:off x="438912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49" name="Shape 47"/>
          <p:cNvSpPr/>
          <p:nvPr/>
        </p:nvSpPr>
        <p:spPr>
          <a:xfrm>
            <a:off x="4709160" y="3520440"/>
            <a:ext cx="2011680" cy="548640"/>
          </a:xfrm>
          <a:prstGeom prst="roundRect">
            <a:avLst>
              <a:gd name="adj" fmla="val 8333"/>
            </a:avLst>
          </a:prstGeom>
          <a:solidFill>
            <a:srgbClr val="1E4D5C"/>
          </a:solidFill>
          <a:ln w="12700">
            <a:solidFill>
              <a:srgbClr val="1E4D5C"/>
            </a:solidFill>
            <a:prstDash val="solid"/>
          </a:ln>
        </p:spPr>
      </p:sp>
      <p:sp>
        <p:nvSpPr>
          <p:cNvPr id="50" name="Text 48"/>
          <p:cNvSpPr txBox="1"/>
          <p:nvPr/>
        </p:nvSpPr>
        <p:spPr>
          <a:xfrm>
            <a:off x="4764024" y="35204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Source to Ledger Controls</a:t>
            </a:r>
            <a:endParaRPr lang="en-US" sz="950" dirty="0"/>
          </a:p>
        </p:txBody>
      </p:sp>
      <p:sp>
        <p:nvSpPr>
          <p:cNvPr id="51" name="Shape 49"/>
          <p:cNvSpPr/>
          <p:nvPr/>
        </p:nvSpPr>
        <p:spPr>
          <a:xfrm>
            <a:off x="6537960" y="3429000"/>
            <a:ext cx="274320" cy="274320"/>
          </a:xfrm>
          <a:prstGeom prst="ellipse">
            <a:avLst/>
          </a:prstGeom>
          <a:solidFill>
            <a:srgbClr val="F2A900"/>
          </a:solidFill>
          <a:ln w="12700">
            <a:solidFill>
              <a:srgbClr val="FFFFFF"/>
            </a:solidFill>
            <a:prstDash val="solid"/>
          </a:ln>
        </p:spPr>
      </p:sp>
      <p:sp>
        <p:nvSpPr>
          <p:cNvPr id="52" name="Text 50"/>
          <p:cNvSpPr txBox="1"/>
          <p:nvPr/>
        </p:nvSpPr>
        <p:spPr>
          <a:xfrm>
            <a:off x="653796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53" name="Shape 51"/>
          <p:cNvSpPr/>
          <p:nvPr/>
        </p:nvSpPr>
        <p:spPr>
          <a:xfrm>
            <a:off x="6812280" y="3520440"/>
            <a:ext cx="1965960" cy="548640"/>
          </a:xfrm>
          <a:prstGeom prst="roundRect">
            <a:avLst>
              <a:gd name="adj" fmla="val 8333"/>
            </a:avLst>
          </a:prstGeom>
          <a:solidFill>
            <a:srgbClr val="1E4D5C"/>
          </a:solidFill>
          <a:ln w="12700">
            <a:solidFill>
              <a:srgbClr val="1E4D5C"/>
            </a:solidFill>
            <a:prstDash val="solid"/>
          </a:ln>
        </p:spPr>
      </p:sp>
      <p:sp>
        <p:nvSpPr>
          <p:cNvPr id="54" name="Text 52"/>
          <p:cNvSpPr txBox="1"/>
          <p:nvPr/>
        </p:nvSpPr>
        <p:spPr>
          <a:xfrm>
            <a:off x="6867144" y="35204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Inter Ledger Controls (S/L v G/L v C/L)</a:t>
            </a:r>
            <a:endParaRPr lang="en-US" sz="950" dirty="0"/>
          </a:p>
        </p:txBody>
      </p:sp>
      <p:sp>
        <p:nvSpPr>
          <p:cNvPr id="55" name="Shape 53"/>
          <p:cNvSpPr/>
          <p:nvPr/>
        </p:nvSpPr>
        <p:spPr>
          <a:xfrm>
            <a:off x="8595360" y="3429000"/>
            <a:ext cx="274320" cy="274320"/>
          </a:xfrm>
          <a:prstGeom prst="ellipse">
            <a:avLst/>
          </a:prstGeom>
          <a:solidFill>
            <a:srgbClr val="F2A900"/>
          </a:solidFill>
          <a:ln w="12700">
            <a:solidFill>
              <a:srgbClr val="FFFFFF"/>
            </a:solidFill>
            <a:prstDash val="solid"/>
          </a:ln>
        </p:spPr>
      </p:sp>
      <p:sp>
        <p:nvSpPr>
          <p:cNvPr id="56" name="Text 54"/>
          <p:cNvSpPr txBox="1"/>
          <p:nvPr/>
        </p:nvSpPr>
        <p:spPr>
          <a:xfrm>
            <a:off x="859536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57" name="Shape 55"/>
          <p:cNvSpPr/>
          <p:nvPr/>
        </p:nvSpPr>
        <p:spPr>
          <a:xfrm>
            <a:off x="4709160" y="4206240"/>
            <a:ext cx="2011680" cy="548640"/>
          </a:xfrm>
          <a:prstGeom prst="roundRect">
            <a:avLst>
              <a:gd name="adj" fmla="val 8333"/>
            </a:avLst>
          </a:prstGeom>
          <a:solidFill>
            <a:srgbClr val="1E4D5C"/>
          </a:solidFill>
          <a:ln w="12700">
            <a:solidFill>
              <a:srgbClr val="1E4D5C"/>
            </a:solidFill>
            <a:prstDash val="solid"/>
          </a:ln>
        </p:spPr>
      </p:sp>
      <p:sp>
        <p:nvSpPr>
          <p:cNvPr id="58" name="Text 56"/>
          <p:cNvSpPr txBox="1"/>
          <p:nvPr/>
        </p:nvSpPr>
        <p:spPr>
          <a:xfrm>
            <a:off x="4764024" y="4206240"/>
            <a:ext cx="190195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Operational Recs (Nostro etc.)</a:t>
            </a:r>
            <a:endParaRPr lang="en-US" sz="950" dirty="0"/>
          </a:p>
        </p:txBody>
      </p:sp>
      <p:sp>
        <p:nvSpPr>
          <p:cNvPr id="59" name="Shape 57"/>
          <p:cNvSpPr/>
          <p:nvPr/>
        </p:nvSpPr>
        <p:spPr>
          <a:xfrm>
            <a:off x="6537960" y="4114800"/>
            <a:ext cx="274320" cy="274320"/>
          </a:xfrm>
          <a:prstGeom prst="ellipse">
            <a:avLst/>
          </a:prstGeom>
          <a:solidFill>
            <a:srgbClr val="F2A900"/>
          </a:solidFill>
          <a:ln w="12700">
            <a:solidFill>
              <a:srgbClr val="FFFFFF"/>
            </a:solidFill>
            <a:prstDash val="solid"/>
          </a:ln>
        </p:spPr>
      </p:sp>
      <p:sp>
        <p:nvSpPr>
          <p:cNvPr id="60" name="Text 58"/>
          <p:cNvSpPr txBox="1"/>
          <p:nvPr/>
        </p:nvSpPr>
        <p:spPr>
          <a:xfrm>
            <a:off x="6537960" y="41148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61" name="Shape 59"/>
          <p:cNvSpPr/>
          <p:nvPr/>
        </p:nvSpPr>
        <p:spPr>
          <a:xfrm>
            <a:off x="6812280" y="4206240"/>
            <a:ext cx="1965960" cy="548640"/>
          </a:xfrm>
          <a:prstGeom prst="roundRect">
            <a:avLst>
              <a:gd name="adj" fmla="val 8333"/>
            </a:avLst>
          </a:prstGeom>
          <a:solidFill>
            <a:srgbClr val="1E4D5C"/>
          </a:solidFill>
          <a:ln w="12700">
            <a:solidFill>
              <a:srgbClr val="1E4D5C"/>
            </a:solidFill>
            <a:prstDash val="solid"/>
          </a:ln>
        </p:spPr>
      </p:sp>
      <p:sp>
        <p:nvSpPr>
          <p:cNvPr id="62" name="Text 60"/>
          <p:cNvSpPr txBox="1"/>
          <p:nvPr/>
        </p:nvSpPr>
        <p:spPr>
          <a:xfrm>
            <a:off x="6867144" y="4206240"/>
            <a:ext cx="185623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 Lifecycle (Ageing)</a:t>
            </a:r>
            <a:endParaRPr lang="en-US" sz="950" dirty="0"/>
          </a:p>
        </p:txBody>
      </p:sp>
      <p:sp>
        <p:nvSpPr>
          <p:cNvPr id="63" name="Shape 61"/>
          <p:cNvSpPr/>
          <p:nvPr/>
        </p:nvSpPr>
        <p:spPr>
          <a:xfrm>
            <a:off x="8595360" y="4114800"/>
            <a:ext cx="274320" cy="274320"/>
          </a:xfrm>
          <a:prstGeom prst="ellipse">
            <a:avLst/>
          </a:prstGeom>
          <a:solidFill>
            <a:srgbClr val="F2A900"/>
          </a:solidFill>
          <a:ln w="12700">
            <a:solidFill>
              <a:srgbClr val="FFFFFF"/>
            </a:solidFill>
            <a:prstDash val="solid"/>
          </a:ln>
        </p:spPr>
      </p:sp>
      <p:sp>
        <p:nvSpPr>
          <p:cNvPr id="64" name="Text 62"/>
          <p:cNvSpPr txBox="1"/>
          <p:nvPr/>
        </p:nvSpPr>
        <p:spPr>
          <a:xfrm>
            <a:off x="8595360" y="41148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65" name="Shape 63"/>
          <p:cNvSpPr/>
          <p:nvPr/>
        </p:nvSpPr>
        <p:spPr>
          <a:xfrm>
            <a:off x="9098280" y="3200400"/>
            <a:ext cx="5029200" cy="1691640"/>
          </a:xfrm>
          <a:prstGeom prst="roundRect">
            <a:avLst>
              <a:gd name="adj" fmla="val 2703"/>
            </a:avLst>
          </a:prstGeom>
          <a:solidFill>
            <a:srgbClr val="EEF4FB"/>
          </a:solidFill>
          <a:ln w="12700">
            <a:solidFill>
              <a:srgbClr val="2A6EBB"/>
            </a:solidFill>
            <a:prstDash val="dash"/>
          </a:ln>
        </p:spPr>
      </p:sp>
      <p:sp>
        <p:nvSpPr>
          <p:cNvPr id="66" name="Text 64"/>
          <p:cNvSpPr txBox="1"/>
          <p:nvPr/>
        </p:nvSpPr>
        <p:spPr>
          <a:xfrm>
            <a:off x="9208008" y="326440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ADJUSTMENTS</a:t>
            </a:r>
            <a:endParaRPr lang="en-US" sz="900" dirty="0"/>
          </a:p>
        </p:txBody>
      </p:sp>
      <p:sp>
        <p:nvSpPr>
          <p:cNvPr id="67" name="Shape 65"/>
          <p:cNvSpPr/>
          <p:nvPr/>
        </p:nvSpPr>
        <p:spPr>
          <a:xfrm>
            <a:off x="9235440" y="3520440"/>
            <a:ext cx="2331720" cy="548640"/>
          </a:xfrm>
          <a:prstGeom prst="roundRect">
            <a:avLst>
              <a:gd name="adj" fmla="val 8333"/>
            </a:avLst>
          </a:prstGeom>
          <a:solidFill>
            <a:srgbClr val="1E4D5C"/>
          </a:solidFill>
          <a:ln w="12700">
            <a:solidFill>
              <a:srgbClr val="1E4D5C"/>
            </a:solidFill>
            <a:prstDash val="solid"/>
          </a:ln>
        </p:spPr>
      </p:sp>
      <p:sp>
        <p:nvSpPr>
          <p:cNvPr id="68" name="Text 66"/>
          <p:cNvSpPr txBox="1"/>
          <p:nvPr/>
        </p:nvSpPr>
        <p:spPr>
          <a:xfrm>
            <a:off x="9290304" y="35204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Accounting Adjustments</a:t>
            </a:r>
            <a:endParaRPr lang="en-US" sz="950" dirty="0"/>
          </a:p>
        </p:txBody>
      </p:sp>
      <p:sp>
        <p:nvSpPr>
          <p:cNvPr id="69" name="Shape 67"/>
          <p:cNvSpPr/>
          <p:nvPr/>
        </p:nvSpPr>
        <p:spPr>
          <a:xfrm>
            <a:off x="11384280" y="3429000"/>
            <a:ext cx="274320" cy="274320"/>
          </a:xfrm>
          <a:prstGeom prst="ellipse">
            <a:avLst/>
          </a:prstGeom>
          <a:solidFill>
            <a:srgbClr val="F2A900"/>
          </a:solidFill>
          <a:ln w="12700">
            <a:solidFill>
              <a:srgbClr val="FFFFFF"/>
            </a:solidFill>
            <a:prstDash val="solid"/>
          </a:ln>
        </p:spPr>
      </p:sp>
      <p:sp>
        <p:nvSpPr>
          <p:cNvPr id="70" name="Text 68"/>
          <p:cNvSpPr txBox="1"/>
          <p:nvPr/>
        </p:nvSpPr>
        <p:spPr>
          <a:xfrm>
            <a:off x="11384280" y="34290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71" name="Shape 69"/>
          <p:cNvSpPr/>
          <p:nvPr/>
        </p:nvSpPr>
        <p:spPr>
          <a:xfrm>
            <a:off x="11704320" y="3520440"/>
            <a:ext cx="2286000" cy="548640"/>
          </a:xfrm>
          <a:prstGeom prst="roundRect">
            <a:avLst>
              <a:gd name="adj" fmla="val 8333"/>
            </a:avLst>
          </a:prstGeom>
          <a:solidFill>
            <a:srgbClr val="1E4D5C"/>
          </a:solidFill>
          <a:ln w="12700">
            <a:solidFill>
              <a:srgbClr val="1E4D5C"/>
            </a:solidFill>
            <a:prstDash val="solid"/>
          </a:ln>
        </p:spPr>
      </p:sp>
      <p:sp>
        <p:nvSpPr>
          <p:cNvPr id="72" name="Text 70"/>
          <p:cNvSpPr txBox="1"/>
          <p:nvPr/>
        </p:nvSpPr>
        <p:spPr>
          <a:xfrm>
            <a:off x="11759184" y="352044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Restatement Adjustments</a:t>
            </a:r>
            <a:endParaRPr lang="en-US" sz="950" dirty="0"/>
          </a:p>
        </p:txBody>
      </p:sp>
      <p:sp>
        <p:nvSpPr>
          <p:cNvPr id="73" name="Shape 71"/>
          <p:cNvSpPr/>
          <p:nvPr/>
        </p:nvSpPr>
        <p:spPr>
          <a:xfrm>
            <a:off x="9235440" y="4206240"/>
            <a:ext cx="2331720" cy="548640"/>
          </a:xfrm>
          <a:prstGeom prst="roundRect">
            <a:avLst>
              <a:gd name="adj" fmla="val 8333"/>
            </a:avLst>
          </a:prstGeom>
          <a:solidFill>
            <a:srgbClr val="1E4D5C"/>
          </a:solidFill>
          <a:ln w="12700">
            <a:solidFill>
              <a:srgbClr val="1E4D5C"/>
            </a:solidFill>
            <a:prstDash val="solid"/>
          </a:ln>
        </p:spPr>
      </p:sp>
      <p:sp>
        <p:nvSpPr>
          <p:cNvPr id="74" name="Text 72"/>
          <p:cNvSpPr txBox="1"/>
          <p:nvPr/>
        </p:nvSpPr>
        <p:spPr>
          <a:xfrm>
            <a:off x="9290304" y="420624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Elimination Adjustments</a:t>
            </a:r>
            <a:endParaRPr lang="en-US" sz="950" dirty="0"/>
          </a:p>
        </p:txBody>
      </p:sp>
      <p:sp>
        <p:nvSpPr>
          <p:cNvPr id="75" name="Shape 73"/>
          <p:cNvSpPr/>
          <p:nvPr/>
        </p:nvSpPr>
        <p:spPr>
          <a:xfrm>
            <a:off x="2514600" y="5074920"/>
            <a:ext cx="11612880" cy="1691640"/>
          </a:xfrm>
          <a:prstGeom prst="roundRect">
            <a:avLst>
              <a:gd name="adj" fmla="val 2703"/>
            </a:avLst>
          </a:prstGeom>
          <a:solidFill>
            <a:srgbClr val="EEF4FB"/>
          </a:solidFill>
          <a:ln w="12700">
            <a:solidFill>
              <a:srgbClr val="2A6EBB"/>
            </a:solidFill>
            <a:prstDash val="dash"/>
          </a:ln>
        </p:spPr>
      </p:sp>
      <p:sp>
        <p:nvSpPr>
          <p:cNvPr id="76" name="Text 74"/>
          <p:cNvSpPr txBox="1"/>
          <p:nvPr/>
        </p:nvSpPr>
        <p:spPr>
          <a:xfrm>
            <a:off x="2624328" y="5138928"/>
            <a:ext cx="1139342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ANALYSIS &amp; REVIEW</a:t>
            </a:r>
            <a:endParaRPr lang="en-US" sz="900" dirty="0"/>
          </a:p>
        </p:txBody>
      </p:sp>
      <p:sp>
        <p:nvSpPr>
          <p:cNvPr id="77" name="Shape 75"/>
          <p:cNvSpPr/>
          <p:nvPr/>
        </p:nvSpPr>
        <p:spPr>
          <a:xfrm>
            <a:off x="2651760" y="5394960"/>
            <a:ext cx="2148840" cy="548640"/>
          </a:xfrm>
          <a:prstGeom prst="roundRect">
            <a:avLst>
              <a:gd name="adj" fmla="val 8333"/>
            </a:avLst>
          </a:prstGeom>
          <a:solidFill>
            <a:srgbClr val="1F56C3"/>
          </a:solidFill>
          <a:ln w="12700">
            <a:solidFill>
              <a:srgbClr val="1F56C3"/>
            </a:solidFill>
            <a:prstDash val="solid"/>
          </a:ln>
        </p:spPr>
      </p:sp>
      <p:sp>
        <p:nvSpPr>
          <p:cNvPr id="78" name="Text 76"/>
          <p:cNvSpPr txBox="1"/>
          <p:nvPr/>
        </p:nvSpPr>
        <p:spPr>
          <a:xfrm>
            <a:off x="2706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Analysis (Hypo v Clean)</a:t>
            </a:r>
            <a:endParaRPr lang="en-US" sz="950" dirty="0"/>
          </a:p>
        </p:txBody>
      </p:sp>
      <p:sp>
        <p:nvSpPr>
          <p:cNvPr id="79" name="Shape 77"/>
          <p:cNvSpPr/>
          <p:nvPr/>
        </p:nvSpPr>
        <p:spPr>
          <a:xfrm>
            <a:off x="4617720" y="5303520"/>
            <a:ext cx="274320" cy="274320"/>
          </a:xfrm>
          <a:prstGeom prst="ellipse">
            <a:avLst/>
          </a:prstGeom>
          <a:solidFill>
            <a:srgbClr val="F2A900"/>
          </a:solidFill>
          <a:ln w="12700">
            <a:solidFill>
              <a:srgbClr val="FFFFFF"/>
            </a:solidFill>
            <a:prstDash val="solid"/>
          </a:ln>
        </p:spPr>
      </p:sp>
      <p:sp>
        <p:nvSpPr>
          <p:cNvPr id="80" name="Text 78"/>
          <p:cNvSpPr txBox="1"/>
          <p:nvPr/>
        </p:nvSpPr>
        <p:spPr>
          <a:xfrm>
            <a:off x="4617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81" name="Shape 79"/>
          <p:cNvSpPr/>
          <p:nvPr/>
        </p:nvSpPr>
        <p:spPr>
          <a:xfrm>
            <a:off x="4937760" y="5394960"/>
            <a:ext cx="2148840" cy="548640"/>
          </a:xfrm>
          <a:prstGeom prst="roundRect">
            <a:avLst>
              <a:gd name="adj" fmla="val 8333"/>
            </a:avLst>
          </a:prstGeom>
          <a:solidFill>
            <a:srgbClr val="1F56C3"/>
          </a:solidFill>
          <a:ln w="12700">
            <a:solidFill>
              <a:srgbClr val="1F56C3"/>
            </a:solidFill>
            <a:prstDash val="solid"/>
          </a:ln>
        </p:spPr>
      </p:sp>
      <p:sp>
        <p:nvSpPr>
          <p:cNvPr id="82" name="Text 80"/>
          <p:cNvSpPr txBox="1"/>
          <p:nvPr/>
        </p:nvSpPr>
        <p:spPr>
          <a:xfrm>
            <a:off x="4992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Exceptions &amp; Break Analysis</a:t>
            </a:r>
            <a:endParaRPr lang="en-US" sz="950" dirty="0"/>
          </a:p>
        </p:txBody>
      </p:sp>
      <p:sp>
        <p:nvSpPr>
          <p:cNvPr id="83" name="Shape 81"/>
          <p:cNvSpPr/>
          <p:nvPr/>
        </p:nvSpPr>
        <p:spPr>
          <a:xfrm>
            <a:off x="6903720" y="5303520"/>
            <a:ext cx="274320" cy="274320"/>
          </a:xfrm>
          <a:prstGeom prst="ellipse">
            <a:avLst/>
          </a:prstGeom>
          <a:solidFill>
            <a:srgbClr val="F2A900"/>
          </a:solidFill>
          <a:ln w="12700">
            <a:solidFill>
              <a:srgbClr val="FFFFFF"/>
            </a:solidFill>
            <a:prstDash val="solid"/>
          </a:ln>
        </p:spPr>
      </p:sp>
      <p:sp>
        <p:nvSpPr>
          <p:cNvPr id="84" name="Text 82"/>
          <p:cNvSpPr txBox="1"/>
          <p:nvPr/>
        </p:nvSpPr>
        <p:spPr>
          <a:xfrm>
            <a:off x="6903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85" name="Shape 83"/>
          <p:cNvSpPr/>
          <p:nvPr/>
        </p:nvSpPr>
        <p:spPr>
          <a:xfrm>
            <a:off x="7223760" y="5394960"/>
            <a:ext cx="2148840" cy="548640"/>
          </a:xfrm>
          <a:prstGeom prst="roundRect">
            <a:avLst>
              <a:gd name="adj" fmla="val 8333"/>
            </a:avLst>
          </a:prstGeom>
          <a:solidFill>
            <a:srgbClr val="1F56C3"/>
          </a:solidFill>
          <a:ln w="12700">
            <a:solidFill>
              <a:srgbClr val="1F56C3"/>
            </a:solidFill>
            <a:prstDash val="solid"/>
          </a:ln>
        </p:spPr>
      </p:sp>
      <p:sp>
        <p:nvSpPr>
          <p:cNvPr id="86" name="Text 84"/>
          <p:cNvSpPr txBox="1"/>
          <p:nvPr/>
        </p:nvSpPr>
        <p:spPr>
          <a:xfrm>
            <a:off x="7278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Movements Analysis (MOT, Trend)</a:t>
            </a:r>
            <a:endParaRPr lang="en-US" sz="950" dirty="0"/>
          </a:p>
        </p:txBody>
      </p:sp>
      <p:sp>
        <p:nvSpPr>
          <p:cNvPr id="87" name="Shape 85"/>
          <p:cNvSpPr/>
          <p:nvPr/>
        </p:nvSpPr>
        <p:spPr>
          <a:xfrm>
            <a:off x="9189720" y="5303520"/>
            <a:ext cx="274320" cy="274320"/>
          </a:xfrm>
          <a:prstGeom prst="ellipse">
            <a:avLst/>
          </a:prstGeom>
          <a:solidFill>
            <a:srgbClr val="F2A900"/>
          </a:solidFill>
          <a:ln w="12700">
            <a:solidFill>
              <a:srgbClr val="FFFFFF"/>
            </a:solidFill>
            <a:prstDash val="solid"/>
          </a:ln>
        </p:spPr>
      </p:sp>
      <p:sp>
        <p:nvSpPr>
          <p:cNvPr id="88" name="Text 86"/>
          <p:cNvSpPr txBox="1"/>
          <p:nvPr/>
        </p:nvSpPr>
        <p:spPr>
          <a:xfrm>
            <a:off x="9189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89" name="Shape 87"/>
          <p:cNvSpPr/>
          <p:nvPr/>
        </p:nvSpPr>
        <p:spPr>
          <a:xfrm>
            <a:off x="9509760" y="5394960"/>
            <a:ext cx="2148840" cy="548640"/>
          </a:xfrm>
          <a:prstGeom prst="roundRect">
            <a:avLst>
              <a:gd name="adj" fmla="val 8333"/>
            </a:avLst>
          </a:prstGeom>
          <a:solidFill>
            <a:srgbClr val="1F56C3"/>
          </a:solidFill>
          <a:ln w="12700">
            <a:solidFill>
              <a:srgbClr val="1F56C3"/>
            </a:solidFill>
            <a:prstDash val="solid"/>
          </a:ln>
        </p:spPr>
      </p:sp>
      <p:sp>
        <p:nvSpPr>
          <p:cNvPr id="90" name="Text 88"/>
          <p:cNvSpPr txBox="1"/>
          <p:nvPr/>
        </p:nvSpPr>
        <p:spPr>
          <a:xfrm>
            <a:off x="9564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Cost Analysis</a:t>
            </a:r>
            <a:endParaRPr lang="en-US" sz="950" dirty="0"/>
          </a:p>
        </p:txBody>
      </p:sp>
      <p:sp>
        <p:nvSpPr>
          <p:cNvPr id="91" name="Shape 89"/>
          <p:cNvSpPr/>
          <p:nvPr/>
        </p:nvSpPr>
        <p:spPr>
          <a:xfrm>
            <a:off x="11475720" y="5303520"/>
            <a:ext cx="274320" cy="274320"/>
          </a:xfrm>
          <a:prstGeom prst="ellipse">
            <a:avLst/>
          </a:prstGeom>
          <a:solidFill>
            <a:srgbClr val="F2A900"/>
          </a:solidFill>
          <a:ln w="12700">
            <a:solidFill>
              <a:srgbClr val="FFFFFF"/>
            </a:solidFill>
            <a:prstDash val="solid"/>
          </a:ln>
        </p:spPr>
      </p:sp>
      <p:sp>
        <p:nvSpPr>
          <p:cNvPr id="92" name="Text 90"/>
          <p:cNvSpPr txBox="1"/>
          <p:nvPr/>
        </p:nvSpPr>
        <p:spPr>
          <a:xfrm>
            <a:off x="11475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93" name="Shape 91"/>
          <p:cNvSpPr/>
          <p:nvPr/>
        </p:nvSpPr>
        <p:spPr>
          <a:xfrm>
            <a:off x="11795760" y="5394960"/>
            <a:ext cx="2148840" cy="548640"/>
          </a:xfrm>
          <a:prstGeom prst="roundRect">
            <a:avLst>
              <a:gd name="adj" fmla="val 8333"/>
            </a:avLst>
          </a:prstGeom>
          <a:solidFill>
            <a:srgbClr val="1F56C3"/>
          </a:solidFill>
          <a:ln w="12700">
            <a:solidFill>
              <a:srgbClr val="1F56C3"/>
            </a:solidFill>
            <a:prstDash val="solid"/>
          </a:ln>
        </p:spPr>
      </p:sp>
      <p:sp>
        <p:nvSpPr>
          <p:cNvPr id="94" name="Text 92"/>
          <p:cNvSpPr txBox="1"/>
          <p:nvPr/>
        </p:nvSpPr>
        <p:spPr>
          <a:xfrm>
            <a:off x="11850624" y="53949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Variance Analysis</a:t>
            </a:r>
            <a:endParaRPr lang="en-US" sz="950" dirty="0"/>
          </a:p>
        </p:txBody>
      </p:sp>
      <p:sp>
        <p:nvSpPr>
          <p:cNvPr id="95" name="Shape 93"/>
          <p:cNvSpPr/>
          <p:nvPr/>
        </p:nvSpPr>
        <p:spPr>
          <a:xfrm>
            <a:off x="13761720" y="5303520"/>
            <a:ext cx="274320" cy="274320"/>
          </a:xfrm>
          <a:prstGeom prst="ellipse">
            <a:avLst/>
          </a:prstGeom>
          <a:solidFill>
            <a:srgbClr val="F2A900"/>
          </a:solidFill>
          <a:ln w="12700">
            <a:solidFill>
              <a:srgbClr val="FFFFFF"/>
            </a:solidFill>
            <a:prstDash val="solid"/>
          </a:ln>
        </p:spPr>
      </p:sp>
      <p:sp>
        <p:nvSpPr>
          <p:cNvPr id="96" name="Text 94"/>
          <p:cNvSpPr txBox="1"/>
          <p:nvPr/>
        </p:nvSpPr>
        <p:spPr>
          <a:xfrm>
            <a:off x="13761720" y="53035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97" name="Shape 95"/>
          <p:cNvSpPr/>
          <p:nvPr/>
        </p:nvSpPr>
        <p:spPr>
          <a:xfrm>
            <a:off x="2651760" y="6080760"/>
            <a:ext cx="2148840" cy="548640"/>
          </a:xfrm>
          <a:prstGeom prst="roundRect">
            <a:avLst>
              <a:gd name="adj" fmla="val 8333"/>
            </a:avLst>
          </a:prstGeom>
          <a:solidFill>
            <a:srgbClr val="1F56C3"/>
          </a:solidFill>
          <a:ln w="12700">
            <a:solidFill>
              <a:srgbClr val="1F56C3"/>
            </a:solidFill>
            <a:prstDash val="solid"/>
          </a:ln>
        </p:spPr>
      </p:sp>
      <p:sp>
        <p:nvSpPr>
          <p:cNvPr id="98" name="Text 96"/>
          <p:cNvSpPr txBox="1"/>
          <p:nvPr/>
        </p:nvSpPr>
        <p:spPr>
          <a:xfrm>
            <a:off x="2706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PLEX Reclassification</a:t>
            </a:r>
            <a:endParaRPr lang="en-US" sz="950" dirty="0"/>
          </a:p>
        </p:txBody>
      </p:sp>
      <p:sp>
        <p:nvSpPr>
          <p:cNvPr id="99" name="Shape 97"/>
          <p:cNvSpPr/>
          <p:nvPr/>
        </p:nvSpPr>
        <p:spPr>
          <a:xfrm>
            <a:off x="4617720" y="5989320"/>
            <a:ext cx="274320" cy="274320"/>
          </a:xfrm>
          <a:prstGeom prst="ellipse">
            <a:avLst/>
          </a:prstGeom>
          <a:solidFill>
            <a:srgbClr val="F2A900"/>
          </a:solidFill>
          <a:ln w="12700">
            <a:solidFill>
              <a:srgbClr val="FFFFFF"/>
            </a:solidFill>
            <a:prstDash val="solid"/>
          </a:ln>
        </p:spPr>
      </p:sp>
      <p:sp>
        <p:nvSpPr>
          <p:cNvPr id="100" name="Text 98"/>
          <p:cNvSpPr txBox="1"/>
          <p:nvPr/>
        </p:nvSpPr>
        <p:spPr>
          <a:xfrm>
            <a:off x="4617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01" name="Shape 99"/>
          <p:cNvSpPr/>
          <p:nvPr/>
        </p:nvSpPr>
        <p:spPr>
          <a:xfrm>
            <a:off x="4937760" y="6080760"/>
            <a:ext cx="2148840" cy="548640"/>
          </a:xfrm>
          <a:prstGeom prst="roundRect">
            <a:avLst>
              <a:gd name="adj" fmla="val 8333"/>
            </a:avLst>
          </a:prstGeom>
          <a:solidFill>
            <a:srgbClr val="1F56C3"/>
          </a:solidFill>
          <a:ln w="12700">
            <a:solidFill>
              <a:srgbClr val="1F56C3"/>
            </a:solidFill>
            <a:prstDash val="solid"/>
          </a:ln>
        </p:spPr>
      </p:sp>
      <p:sp>
        <p:nvSpPr>
          <p:cNvPr id="102" name="Text 100"/>
          <p:cNvSpPr txBox="1"/>
          <p:nvPr/>
        </p:nvSpPr>
        <p:spPr>
          <a:xfrm>
            <a:off x="4992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Average Balance Sheet Analysis</a:t>
            </a:r>
            <a:endParaRPr lang="en-US" sz="950" dirty="0"/>
          </a:p>
        </p:txBody>
      </p:sp>
      <p:sp>
        <p:nvSpPr>
          <p:cNvPr id="103" name="Shape 101"/>
          <p:cNvSpPr/>
          <p:nvPr/>
        </p:nvSpPr>
        <p:spPr>
          <a:xfrm>
            <a:off x="6903720" y="5989320"/>
            <a:ext cx="274320" cy="274320"/>
          </a:xfrm>
          <a:prstGeom prst="ellipse">
            <a:avLst/>
          </a:prstGeom>
          <a:solidFill>
            <a:srgbClr val="F2A900"/>
          </a:solidFill>
          <a:ln w="12700">
            <a:solidFill>
              <a:srgbClr val="FFFFFF"/>
            </a:solidFill>
            <a:prstDash val="solid"/>
          </a:ln>
        </p:spPr>
      </p:sp>
      <p:sp>
        <p:nvSpPr>
          <p:cNvPr id="104" name="Text 102"/>
          <p:cNvSpPr txBox="1"/>
          <p:nvPr/>
        </p:nvSpPr>
        <p:spPr>
          <a:xfrm>
            <a:off x="6903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05" name="Shape 103"/>
          <p:cNvSpPr/>
          <p:nvPr/>
        </p:nvSpPr>
        <p:spPr>
          <a:xfrm>
            <a:off x="7223760" y="6080760"/>
            <a:ext cx="2148840" cy="548640"/>
          </a:xfrm>
          <a:prstGeom prst="roundRect">
            <a:avLst>
              <a:gd name="adj" fmla="val 8333"/>
            </a:avLst>
          </a:prstGeom>
          <a:solidFill>
            <a:srgbClr val="1F56C3"/>
          </a:solidFill>
          <a:ln w="12700">
            <a:solidFill>
              <a:srgbClr val="1F56C3"/>
            </a:solidFill>
            <a:prstDash val="solid"/>
          </a:ln>
        </p:spPr>
      </p:sp>
      <p:sp>
        <p:nvSpPr>
          <p:cNvPr id="106" name="Text 104"/>
          <p:cNvSpPr txBox="1"/>
          <p:nvPr/>
        </p:nvSpPr>
        <p:spPr>
          <a:xfrm>
            <a:off x="7278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Presentation Currency View</a:t>
            </a:r>
            <a:endParaRPr lang="en-US" sz="950" dirty="0"/>
          </a:p>
        </p:txBody>
      </p:sp>
      <p:sp>
        <p:nvSpPr>
          <p:cNvPr id="107" name="Shape 105"/>
          <p:cNvSpPr/>
          <p:nvPr/>
        </p:nvSpPr>
        <p:spPr>
          <a:xfrm>
            <a:off x="9189720" y="5989320"/>
            <a:ext cx="274320" cy="274320"/>
          </a:xfrm>
          <a:prstGeom prst="ellipse">
            <a:avLst/>
          </a:prstGeom>
          <a:solidFill>
            <a:srgbClr val="F2A900"/>
          </a:solidFill>
          <a:ln w="12700">
            <a:solidFill>
              <a:srgbClr val="FFFFFF"/>
            </a:solidFill>
            <a:prstDash val="solid"/>
          </a:ln>
        </p:spPr>
      </p:sp>
      <p:sp>
        <p:nvSpPr>
          <p:cNvPr id="108" name="Text 106"/>
          <p:cNvSpPr txBox="1"/>
          <p:nvPr/>
        </p:nvSpPr>
        <p:spPr>
          <a:xfrm>
            <a:off x="9189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09" name="Shape 107"/>
          <p:cNvSpPr/>
          <p:nvPr/>
        </p:nvSpPr>
        <p:spPr>
          <a:xfrm>
            <a:off x="9509760" y="6080760"/>
            <a:ext cx="2148840" cy="548640"/>
          </a:xfrm>
          <a:prstGeom prst="roundRect">
            <a:avLst>
              <a:gd name="adj" fmla="val 8333"/>
            </a:avLst>
          </a:prstGeom>
          <a:solidFill>
            <a:srgbClr val="1F56C3"/>
          </a:solidFill>
          <a:ln w="12700">
            <a:solidFill>
              <a:srgbClr val="1F56C3"/>
            </a:solidFill>
            <a:prstDash val="solid"/>
          </a:ln>
        </p:spPr>
      </p:sp>
      <p:sp>
        <p:nvSpPr>
          <p:cNvPr id="110" name="Text 108"/>
          <p:cNvSpPr txBox="1"/>
          <p:nvPr/>
        </p:nvSpPr>
        <p:spPr>
          <a:xfrm>
            <a:off x="9564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Impairments Analysis</a:t>
            </a:r>
            <a:endParaRPr lang="en-US" sz="950" dirty="0"/>
          </a:p>
        </p:txBody>
      </p:sp>
      <p:sp>
        <p:nvSpPr>
          <p:cNvPr id="111" name="Shape 109"/>
          <p:cNvSpPr/>
          <p:nvPr/>
        </p:nvSpPr>
        <p:spPr>
          <a:xfrm>
            <a:off x="11475720" y="5989320"/>
            <a:ext cx="274320" cy="274320"/>
          </a:xfrm>
          <a:prstGeom prst="ellipse">
            <a:avLst/>
          </a:prstGeom>
          <a:solidFill>
            <a:srgbClr val="F2A900"/>
          </a:solidFill>
          <a:ln w="12700">
            <a:solidFill>
              <a:srgbClr val="FFFFFF"/>
            </a:solidFill>
            <a:prstDash val="solid"/>
          </a:ln>
        </p:spPr>
      </p:sp>
      <p:sp>
        <p:nvSpPr>
          <p:cNvPr id="112" name="Text 110"/>
          <p:cNvSpPr txBox="1"/>
          <p:nvPr/>
        </p:nvSpPr>
        <p:spPr>
          <a:xfrm>
            <a:off x="11475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13" name="Shape 111"/>
          <p:cNvSpPr/>
          <p:nvPr/>
        </p:nvSpPr>
        <p:spPr>
          <a:xfrm>
            <a:off x="11795760" y="6080760"/>
            <a:ext cx="2148840" cy="548640"/>
          </a:xfrm>
          <a:prstGeom prst="roundRect">
            <a:avLst>
              <a:gd name="adj" fmla="val 8333"/>
            </a:avLst>
          </a:prstGeom>
          <a:solidFill>
            <a:srgbClr val="1F56C3"/>
          </a:solidFill>
          <a:ln w="12700">
            <a:solidFill>
              <a:srgbClr val="1F56C3"/>
            </a:solidFill>
            <a:prstDash val="solid"/>
          </a:ln>
        </p:spPr>
      </p:sp>
      <p:sp>
        <p:nvSpPr>
          <p:cNvPr id="114" name="Text 112"/>
          <p:cNvSpPr txBox="1"/>
          <p:nvPr/>
        </p:nvSpPr>
        <p:spPr>
          <a:xfrm>
            <a:off x="11850624" y="6080760"/>
            <a:ext cx="20391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Commentary Generation</a:t>
            </a:r>
            <a:endParaRPr lang="en-US" sz="950" dirty="0"/>
          </a:p>
        </p:txBody>
      </p:sp>
      <p:sp>
        <p:nvSpPr>
          <p:cNvPr id="115" name="Shape 113"/>
          <p:cNvSpPr/>
          <p:nvPr/>
        </p:nvSpPr>
        <p:spPr>
          <a:xfrm>
            <a:off x="13761720" y="5989320"/>
            <a:ext cx="274320" cy="274320"/>
          </a:xfrm>
          <a:prstGeom prst="ellipse">
            <a:avLst/>
          </a:prstGeom>
          <a:solidFill>
            <a:srgbClr val="F2A900"/>
          </a:solidFill>
          <a:ln w="12700">
            <a:solidFill>
              <a:srgbClr val="FFFFFF"/>
            </a:solidFill>
            <a:prstDash val="solid"/>
          </a:ln>
        </p:spPr>
      </p:sp>
      <p:sp>
        <p:nvSpPr>
          <p:cNvPr id="116" name="Text 114"/>
          <p:cNvSpPr txBox="1"/>
          <p:nvPr/>
        </p:nvSpPr>
        <p:spPr>
          <a:xfrm>
            <a:off x="13761720" y="598932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17" name="Shape 115"/>
          <p:cNvSpPr/>
          <p:nvPr/>
        </p:nvSpPr>
        <p:spPr>
          <a:xfrm>
            <a:off x="2514600" y="6949440"/>
            <a:ext cx="6400800" cy="1005840"/>
          </a:xfrm>
          <a:prstGeom prst="roundRect">
            <a:avLst>
              <a:gd name="adj" fmla="val 4545"/>
            </a:avLst>
          </a:prstGeom>
          <a:solidFill>
            <a:srgbClr val="EEF4FB"/>
          </a:solidFill>
          <a:ln w="12700">
            <a:solidFill>
              <a:srgbClr val="2A6EBB"/>
            </a:solidFill>
            <a:prstDash val="dash"/>
          </a:ln>
        </p:spPr>
      </p:sp>
      <p:sp>
        <p:nvSpPr>
          <p:cNvPr id="118" name="Text 116"/>
          <p:cNvSpPr txBox="1"/>
          <p:nvPr/>
        </p:nvSpPr>
        <p:spPr>
          <a:xfrm>
            <a:off x="2624328" y="7013448"/>
            <a:ext cx="61813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FINANCIAL CLOSE</a:t>
            </a:r>
            <a:endParaRPr lang="en-US" sz="900" dirty="0"/>
          </a:p>
        </p:txBody>
      </p:sp>
      <p:sp>
        <p:nvSpPr>
          <p:cNvPr id="119" name="Shape 117"/>
          <p:cNvSpPr/>
          <p:nvPr/>
        </p:nvSpPr>
        <p:spPr>
          <a:xfrm>
            <a:off x="2651760" y="7269480"/>
            <a:ext cx="1463040" cy="548640"/>
          </a:xfrm>
          <a:prstGeom prst="roundRect">
            <a:avLst>
              <a:gd name="adj" fmla="val 8333"/>
            </a:avLst>
          </a:prstGeom>
          <a:solidFill>
            <a:srgbClr val="1F56C3"/>
          </a:solidFill>
          <a:ln w="12700">
            <a:solidFill>
              <a:srgbClr val="1F56C3"/>
            </a:solidFill>
            <a:prstDash val="solid"/>
          </a:ln>
        </p:spPr>
      </p:sp>
      <p:sp>
        <p:nvSpPr>
          <p:cNvPr id="120" name="Text 118"/>
          <p:cNvSpPr txBox="1"/>
          <p:nvPr/>
        </p:nvSpPr>
        <p:spPr>
          <a:xfrm>
            <a:off x="270662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Substantiation &amp; Attestation</a:t>
            </a:r>
            <a:endParaRPr lang="en-US" sz="950" dirty="0"/>
          </a:p>
        </p:txBody>
      </p:sp>
      <p:sp>
        <p:nvSpPr>
          <p:cNvPr id="121" name="Shape 119"/>
          <p:cNvSpPr/>
          <p:nvPr/>
        </p:nvSpPr>
        <p:spPr>
          <a:xfrm>
            <a:off x="3931920" y="7178040"/>
            <a:ext cx="274320" cy="274320"/>
          </a:xfrm>
          <a:prstGeom prst="ellipse">
            <a:avLst/>
          </a:prstGeom>
          <a:solidFill>
            <a:srgbClr val="F2A900"/>
          </a:solidFill>
          <a:ln w="12700">
            <a:solidFill>
              <a:srgbClr val="FFFFFF"/>
            </a:solidFill>
            <a:prstDash val="solid"/>
          </a:ln>
        </p:spPr>
      </p:sp>
      <p:sp>
        <p:nvSpPr>
          <p:cNvPr id="122" name="Text 120"/>
          <p:cNvSpPr txBox="1"/>
          <p:nvPr/>
        </p:nvSpPr>
        <p:spPr>
          <a:xfrm>
            <a:off x="393192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23" name="Shape 121"/>
          <p:cNvSpPr/>
          <p:nvPr/>
        </p:nvSpPr>
        <p:spPr>
          <a:xfrm>
            <a:off x="4206240" y="7269480"/>
            <a:ext cx="1463040" cy="548640"/>
          </a:xfrm>
          <a:prstGeom prst="roundRect">
            <a:avLst>
              <a:gd name="adj" fmla="val 8333"/>
            </a:avLst>
          </a:prstGeom>
          <a:solidFill>
            <a:srgbClr val="1F56C3"/>
          </a:solidFill>
          <a:ln w="12700">
            <a:solidFill>
              <a:srgbClr val="1F56C3"/>
            </a:solidFill>
            <a:prstDash val="solid"/>
          </a:ln>
        </p:spPr>
      </p:sp>
      <p:sp>
        <p:nvSpPr>
          <p:cNvPr id="124" name="Text 122"/>
          <p:cNvSpPr txBox="1"/>
          <p:nvPr/>
        </p:nvSpPr>
        <p:spPr>
          <a:xfrm>
            <a:off x="426110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Trader Sign Off</a:t>
            </a:r>
            <a:endParaRPr lang="en-US" sz="950" dirty="0"/>
          </a:p>
        </p:txBody>
      </p:sp>
      <p:sp>
        <p:nvSpPr>
          <p:cNvPr id="125" name="Shape 123"/>
          <p:cNvSpPr/>
          <p:nvPr/>
        </p:nvSpPr>
        <p:spPr>
          <a:xfrm>
            <a:off x="5486400" y="7178040"/>
            <a:ext cx="274320" cy="274320"/>
          </a:xfrm>
          <a:prstGeom prst="ellipse">
            <a:avLst/>
          </a:prstGeom>
          <a:solidFill>
            <a:srgbClr val="F2A900"/>
          </a:solidFill>
          <a:ln w="12700">
            <a:solidFill>
              <a:srgbClr val="FFFFFF"/>
            </a:solidFill>
            <a:prstDash val="solid"/>
          </a:ln>
        </p:spPr>
      </p:sp>
      <p:sp>
        <p:nvSpPr>
          <p:cNvPr id="126" name="Text 124"/>
          <p:cNvSpPr txBox="1"/>
          <p:nvPr/>
        </p:nvSpPr>
        <p:spPr>
          <a:xfrm>
            <a:off x="548640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27" name="Shape 125"/>
          <p:cNvSpPr/>
          <p:nvPr/>
        </p:nvSpPr>
        <p:spPr>
          <a:xfrm>
            <a:off x="5760720" y="7269480"/>
            <a:ext cx="1463040" cy="548640"/>
          </a:xfrm>
          <a:prstGeom prst="roundRect">
            <a:avLst>
              <a:gd name="adj" fmla="val 8333"/>
            </a:avLst>
          </a:prstGeom>
          <a:solidFill>
            <a:srgbClr val="1F56C3"/>
          </a:solidFill>
          <a:ln w="12700">
            <a:solidFill>
              <a:srgbClr val="1F56C3"/>
            </a:solidFill>
            <a:prstDash val="solid"/>
          </a:ln>
        </p:spPr>
      </p:sp>
      <p:sp>
        <p:nvSpPr>
          <p:cNvPr id="128" name="Text 126"/>
          <p:cNvSpPr txBox="1"/>
          <p:nvPr/>
        </p:nvSpPr>
        <p:spPr>
          <a:xfrm>
            <a:off x="581558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Daily TB Sign Off</a:t>
            </a:r>
            <a:endParaRPr lang="en-US" sz="950" dirty="0"/>
          </a:p>
        </p:txBody>
      </p:sp>
      <p:sp>
        <p:nvSpPr>
          <p:cNvPr id="129" name="Shape 127"/>
          <p:cNvSpPr/>
          <p:nvPr/>
        </p:nvSpPr>
        <p:spPr>
          <a:xfrm>
            <a:off x="7040880" y="7178040"/>
            <a:ext cx="274320" cy="274320"/>
          </a:xfrm>
          <a:prstGeom prst="ellipse">
            <a:avLst/>
          </a:prstGeom>
          <a:solidFill>
            <a:srgbClr val="F2A900"/>
          </a:solidFill>
          <a:ln w="12700">
            <a:solidFill>
              <a:srgbClr val="FFFFFF"/>
            </a:solidFill>
            <a:prstDash val="solid"/>
          </a:ln>
        </p:spPr>
      </p:sp>
      <p:sp>
        <p:nvSpPr>
          <p:cNvPr id="130" name="Text 128"/>
          <p:cNvSpPr txBox="1"/>
          <p:nvPr/>
        </p:nvSpPr>
        <p:spPr>
          <a:xfrm>
            <a:off x="704088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31" name="Shape 129"/>
          <p:cNvSpPr/>
          <p:nvPr/>
        </p:nvSpPr>
        <p:spPr>
          <a:xfrm>
            <a:off x="7315200" y="7269480"/>
            <a:ext cx="1463040" cy="548640"/>
          </a:xfrm>
          <a:prstGeom prst="roundRect">
            <a:avLst>
              <a:gd name="adj" fmla="val 8333"/>
            </a:avLst>
          </a:prstGeom>
          <a:solidFill>
            <a:srgbClr val="1F56C3"/>
          </a:solidFill>
          <a:ln w="12700">
            <a:solidFill>
              <a:srgbClr val="1F56C3"/>
            </a:solidFill>
            <a:prstDash val="solid"/>
          </a:ln>
        </p:spPr>
      </p:sp>
      <p:sp>
        <p:nvSpPr>
          <p:cNvPr id="132" name="Text 130"/>
          <p:cNvSpPr txBox="1"/>
          <p:nvPr/>
        </p:nvSpPr>
        <p:spPr>
          <a:xfrm>
            <a:off x="7370064" y="7269480"/>
            <a:ext cx="135331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Legal Entity &amp; Group Sign Off</a:t>
            </a:r>
            <a:endParaRPr lang="en-US" sz="950" dirty="0"/>
          </a:p>
        </p:txBody>
      </p:sp>
      <p:sp>
        <p:nvSpPr>
          <p:cNvPr id="133" name="Shape 131"/>
          <p:cNvSpPr/>
          <p:nvPr/>
        </p:nvSpPr>
        <p:spPr>
          <a:xfrm>
            <a:off x="8595360" y="7178040"/>
            <a:ext cx="274320" cy="274320"/>
          </a:xfrm>
          <a:prstGeom prst="ellipse">
            <a:avLst/>
          </a:prstGeom>
          <a:solidFill>
            <a:srgbClr val="F2A900"/>
          </a:solidFill>
          <a:ln w="12700">
            <a:solidFill>
              <a:srgbClr val="FFFFFF"/>
            </a:solidFill>
            <a:prstDash val="solid"/>
          </a:ln>
        </p:spPr>
      </p:sp>
      <p:sp>
        <p:nvSpPr>
          <p:cNvPr id="134" name="Text 132"/>
          <p:cNvSpPr txBox="1"/>
          <p:nvPr/>
        </p:nvSpPr>
        <p:spPr>
          <a:xfrm>
            <a:off x="859536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35" name="Shape 133"/>
          <p:cNvSpPr/>
          <p:nvPr/>
        </p:nvSpPr>
        <p:spPr>
          <a:xfrm>
            <a:off x="9098280" y="6949440"/>
            <a:ext cx="5029200" cy="1005840"/>
          </a:xfrm>
          <a:prstGeom prst="roundRect">
            <a:avLst>
              <a:gd name="adj" fmla="val 4545"/>
            </a:avLst>
          </a:prstGeom>
          <a:solidFill>
            <a:srgbClr val="EEF4FB"/>
          </a:solidFill>
          <a:ln w="12700">
            <a:solidFill>
              <a:srgbClr val="2A6EBB"/>
            </a:solidFill>
            <a:prstDash val="dash"/>
          </a:ln>
        </p:spPr>
      </p:sp>
      <p:sp>
        <p:nvSpPr>
          <p:cNvPr id="136" name="Text 134"/>
          <p:cNvSpPr txBox="1"/>
          <p:nvPr/>
        </p:nvSpPr>
        <p:spPr>
          <a:xfrm>
            <a:off x="9208008" y="7013448"/>
            <a:ext cx="4809744" cy="182880"/>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INTERNAL REPORTING</a:t>
            </a:r>
            <a:endParaRPr lang="en-US" sz="900" dirty="0"/>
          </a:p>
        </p:txBody>
      </p:sp>
      <p:sp>
        <p:nvSpPr>
          <p:cNvPr id="137" name="Shape 135"/>
          <p:cNvSpPr/>
          <p:nvPr/>
        </p:nvSpPr>
        <p:spPr>
          <a:xfrm>
            <a:off x="9235440" y="7269480"/>
            <a:ext cx="2331720" cy="548640"/>
          </a:xfrm>
          <a:prstGeom prst="roundRect">
            <a:avLst>
              <a:gd name="adj" fmla="val 8333"/>
            </a:avLst>
          </a:prstGeom>
          <a:solidFill>
            <a:srgbClr val="1F56C3"/>
          </a:solidFill>
          <a:ln w="12700">
            <a:solidFill>
              <a:srgbClr val="1F56C3"/>
            </a:solidFill>
            <a:prstDash val="solid"/>
          </a:ln>
        </p:spPr>
      </p:sp>
      <p:sp>
        <p:nvSpPr>
          <p:cNvPr id="138" name="Text 136"/>
          <p:cNvSpPr txBox="1"/>
          <p:nvPr/>
        </p:nvSpPr>
        <p:spPr>
          <a:xfrm>
            <a:off x="9290304" y="7269480"/>
            <a:ext cx="222199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Generation &amp; Validation</a:t>
            </a:r>
            <a:endParaRPr lang="en-US" sz="950" dirty="0"/>
          </a:p>
        </p:txBody>
      </p:sp>
      <p:sp>
        <p:nvSpPr>
          <p:cNvPr id="139" name="Shape 137"/>
          <p:cNvSpPr/>
          <p:nvPr/>
        </p:nvSpPr>
        <p:spPr>
          <a:xfrm>
            <a:off x="11384280" y="7178040"/>
            <a:ext cx="274320" cy="274320"/>
          </a:xfrm>
          <a:prstGeom prst="ellipse">
            <a:avLst/>
          </a:prstGeom>
          <a:solidFill>
            <a:srgbClr val="F2A900"/>
          </a:solidFill>
          <a:ln w="12700">
            <a:solidFill>
              <a:srgbClr val="FFFFFF"/>
            </a:solidFill>
            <a:prstDash val="solid"/>
          </a:ln>
        </p:spPr>
      </p:sp>
      <p:sp>
        <p:nvSpPr>
          <p:cNvPr id="140" name="Text 138"/>
          <p:cNvSpPr txBox="1"/>
          <p:nvPr/>
        </p:nvSpPr>
        <p:spPr>
          <a:xfrm>
            <a:off x="11384280" y="717804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141" name="Shape 139"/>
          <p:cNvSpPr/>
          <p:nvPr/>
        </p:nvSpPr>
        <p:spPr>
          <a:xfrm>
            <a:off x="11704320" y="7269480"/>
            <a:ext cx="2286000" cy="548640"/>
          </a:xfrm>
          <a:prstGeom prst="roundRect">
            <a:avLst>
              <a:gd name="adj" fmla="val 8333"/>
            </a:avLst>
          </a:prstGeom>
          <a:solidFill>
            <a:srgbClr val="1E4D5C"/>
          </a:solidFill>
          <a:ln w="12700">
            <a:solidFill>
              <a:srgbClr val="1E4D5C"/>
            </a:solidFill>
            <a:prstDash val="solid"/>
          </a:ln>
        </p:spPr>
      </p:sp>
      <p:sp>
        <p:nvSpPr>
          <p:cNvPr id="142" name="Text 140"/>
          <p:cNvSpPr txBox="1"/>
          <p:nvPr/>
        </p:nvSpPr>
        <p:spPr>
          <a:xfrm>
            <a:off x="11759184" y="7269480"/>
            <a:ext cx="2176272" cy="54864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Report Publication</a:t>
            </a:r>
            <a:endParaRPr lang="en-US" sz="950" dirty="0"/>
          </a:p>
        </p:txBody>
      </p:sp>
      <p:sp>
        <p:nvSpPr>
          <p:cNvPr id="143" name="Shape 141"/>
          <p:cNvSpPr/>
          <p:nvPr/>
        </p:nvSpPr>
        <p:spPr>
          <a:xfrm>
            <a:off x="502920" y="8183880"/>
            <a:ext cx="411480" cy="219456"/>
          </a:xfrm>
          <a:prstGeom prst="roundRect">
            <a:avLst>
              <a:gd name="adj" fmla="val 16667"/>
            </a:avLst>
          </a:prstGeom>
          <a:solidFill>
            <a:srgbClr val="1F56C3"/>
          </a:solidFill>
          <a:ln w="12700">
            <a:solidFill>
              <a:srgbClr val="1F56C3"/>
            </a:solidFill>
            <a:prstDash val="solid"/>
          </a:ln>
        </p:spPr>
      </p:sp>
      <p:sp>
        <p:nvSpPr>
          <p:cNvPr id="144" name="Text 142"/>
          <p:cNvSpPr txBox="1"/>
          <p:nvPr/>
        </p:nvSpPr>
        <p:spPr>
          <a:xfrm>
            <a:off x="1005840" y="816559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Manual process</a:t>
            </a:r>
            <a:endParaRPr lang="en-US" sz="950" dirty="0"/>
          </a:p>
        </p:txBody>
      </p:sp>
      <p:sp>
        <p:nvSpPr>
          <p:cNvPr id="145" name="Shape 143"/>
          <p:cNvSpPr/>
          <p:nvPr/>
        </p:nvSpPr>
        <p:spPr>
          <a:xfrm>
            <a:off x="502920" y="8503920"/>
            <a:ext cx="411480" cy="219456"/>
          </a:xfrm>
          <a:prstGeom prst="roundRect">
            <a:avLst>
              <a:gd name="adj" fmla="val 16667"/>
            </a:avLst>
          </a:prstGeom>
          <a:solidFill>
            <a:srgbClr val="1E4D5C"/>
          </a:solidFill>
          <a:ln w="12700">
            <a:solidFill>
              <a:srgbClr val="1E4D5C"/>
            </a:solidFill>
            <a:prstDash val="solid"/>
          </a:ln>
        </p:spPr>
      </p:sp>
      <p:sp>
        <p:nvSpPr>
          <p:cNvPr id="146" name="Text 144"/>
          <p:cNvSpPr txBox="1"/>
          <p:nvPr/>
        </p:nvSpPr>
        <p:spPr>
          <a:xfrm>
            <a:off x="1005840" y="848563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System process / service</a:t>
            </a:r>
            <a:endParaRPr lang="en-US" sz="950" dirty="0"/>
          </a:p>
        </p:txBody>
      </p:sp>
      <p:sp>
        <p:nvSpPr>
          <p:cNvPr id="147" name="Shape 145"/>
          <p:cNvSpPr/>
          <p:nvPr/>
        </p:nvSpPr>
        <p:spPr>
          <a:xfrm>
            <a:off x="502920" y="8823960"/>
            <a:ext cx="411480" cy="219456"/>
          </a:xfrm>
          <a:prstGeom prst="roundRect">
            <a:avLst>
              <a:gd name="adj" fmla="val 16667"/>
            </a:avLst>
          </a:prstGeom>
          <a:solidFill>
            <a:srgbClr val="FFFFFF"/>
          </a:solidFill>
          <a:ln w="9525">
            <a:solidFill>
              <a:srgbClr val="C8D8EC"/>
            </a:solidFill>
            <a:prstDash val="solid"/>
          </a:ln>
        </p:spPr>
      </p:sp>
      <p:sp>
        <p:nvSpPr>
          <p:cNvPr id="148" name="Text 146"/>
          <p:cNvSpPr txBox="1"/>
          <p:nvPr/>
        </p:nvSpPr>
        <p:spPr>
          <a:xfrm>
            <a:off x="1005840" y="8805672"/>
            <a:ext cx="2194560" cy="25603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Definition / upstream</a:t>
            </a:r>
            <a:endParaRPr lang="en-US" sz="950" dirty="0"/>
          </a:p>
        </p:txBody>
      </p:sp>
      <p:sp>
        <p:nvSpPr>
          <p:cNvPr id="149" name="Shape 147"/>
          <p:cNvSpPr/>
          <p:nvPr/>
        </p:nvSpPr>
        <p:spPr>
          <a:xfrm>
            <a:off x="3291840" y="8202168"/>
            <a:ext cx="274320" cy="274320"/>
          </a:xfrm>
          <a:prstGeom prst="ellipse">
            <a:avLst/>
          </a:prstGeom>
          <a:solidFill>
            <a:srgbClr val="F2A900"/>
          </a:solidFill>
          <a:ln w="12700">
            <a:solidFill>
              <a:srgbClr val="F2A900"/>
            </a:solidFill>
            <a:prstDash val="solid"/>
          </a:ln>
        </p:spPr>
      </p:sp>
      <p:sp>
        <p:nvSpPr>
          <p:cNvPr id="150" name="Text 148"/>
          <p:cNvSpPr txBox="1"/>
          <p:nvPr/>
        </p:nvSpPr>
        <p:spPr>
          <a:xfrm>
            <a:off x="3291840"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151" name="Text 149"/>
          <p:cNvSpPr txBox="1"/>
          <p:nvPr/>
        </p:nvSpPr>
        <p:spPr>
          <a:xfrm>
            <a:off x="3639312" y="8202168"/>
            <a:ext cx="2331720" cy="274320"/>
          </a:xfrm>
          <a:prstGeom prst="rect">
            <a:avLst/>
          </a:prstGeom>
          <a:noFill/>
          <a:ln/>
        </p:spPr>
        <p:txBody>
          <a:bodyPr wrap="square" lIns="0" tIns="0" rIns="0" bIns="0" rtlCol="0" anchor="ctr"/>
          <a:lstStyle/>
          <a:p>
            <a:pPr indent="0" marL="0">
              <a:buNone/>
            </a:pPr>
            <a:r>
              <a:rPr lang="en-US" sz="1000" b="1" dirty="0">
                <a:solidFill>
                  <a:srgbClr val="1F2D3D"/>
                </a:solidFill>
                <a:latin typeface="Calibri" pitchFamily="34" charset="0"/>
                <a:ea typeface="Calibri" pitchFamily="34" charset="-122"/>
                <a:cs typeface="Calibri" pitchFamily="34" charset="-120"/>
              </a:rPr>
              <a:t>Helix: FOBO Reconciliation</a:t>
            </a:r>
            <a:endParaRPr lang="en-US" sz="1000" dirty="0"/>
          </a:p>
        </p:txBody>
      </p:sp>
      <p:sp>
        <p:nvSpPr>
          <p:cNvPr id="152" name="Shape 150"/>
          <p:cNvSpPr/>
          <p:nvPr/>
        </p:nvSpPr>
        <p:spPr>
          <a:xfrm>
            <a:off x="6007608" y="8202168"/>
            <a:ext cx="274320" cy="274320"/>
          </a:xfrm>
          <a:prstGeom prst="ellipse">
            <a:avLst/>
          </a:prstGeom>
          <a:solidFill>
            <a:srgbClr val="F2A900"/>
          </a:solidFill>
          <a:ln w="12700">
            <a:solidFill>
              <a:srgbClr val="F2A900"/>
            </a:solidFill>
            <a:prstDash val="solid"/>
          </a:ln>
        </p:spPr>
      </p:sp>
      <p:sp>
        <p:nvSpPr>
          <p:cNvPr id="153" name="Text 151"/>
          <p:cNvSpPr txBox="1"/>
          <p:nvPr/>
        </p:nvSpPr>
        <p:spPr>
          <a:xfrm>
            <a:off x="6007608"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154" name="Text 152"/>
          <p:cNvSpPr txBox="1"/>
          <p:nvPr/>
        </p:nvSpPr>
        <p:spPr>
          <a:xfrm>
            <a:off x="6355080"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Flash v Formal P&amp;L &amp; PLEX</a:t>
            </a:r>
            <a:endParaRPr lang="en-US" sz="1000" dirty="0"/>
          </a:p>
        </p:txBody>
      </p:sp>
      <p:sp>
        <p:nvSpPr>
          <p:cNvPr id="155" name="Shape 153"/>
          <p:cNvSpPr/>
          <p:nvPr/>
        </p:nvSpPr>
        <p:spPr>
          <a:xfrm>
            <a:off x="8723376" y="8202168"/>
            <a:ext cx="274320" cy="274320"/>
          </a:xfrm>
          <a:prstGeom prst="ellipse">
            <a:avLst/>
          </a:prstGeom>
          <a:solidFill>
            <a:srgbClr val="F2A900"/>
          </a:solidFill>
          <a:ln w="12700">
            <a:solidFill>
              <a:srgbClr val="F2A900"/>
            </a:solidFill>
            <a:prstDash val="solid"/>
          </a:ln>
        </p:spPr>
      </p:sp>
      <p:sp>
        <p:nvSpPr>
          <p:cNvPr id="156" name="Text 154"/>
          <p:cNvSpPr txBox="1"/>
          <p:nvPr/>
        </p:nvSpPr>
        <p:spPr>
          <a:xfrm>
            <a:off x="8723376"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157" name="Text 155"/>
          <p:cNvSpPr txBox="1"/>
          <p:nvPr/>
        </p:nvSpPr>
        <p:spPr>
          <a:xfrm>
            <a:off x="9070848"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Ledger Controls &amp; Exceptions</a:t>
            </a:r>
            <a:endParaRPr lang="en-US" sz="1000" dirty="0"/>
          </a:p>
        </p:txBody>
      </p:sp>
      <p:sp>
        <p:nvSpPr>
          <p:cNvPr id="158" name="Shape 156"/>
          <p:cNvSpPr/>
          <p:nvPr/>
        </p:nvSpPr>
        <p:spPr>
          <a:xfrm>
            <a:off x="11439144" y="8202168"/>
            <a:ext cx="274320" cy="274320"/>
          </a:xfrm>
          <a:prstGeom prst="ellipse">
            <a:avLst/>
          </a:prstGeom>
          <a:solidFill>
            <a:srgbClr val="F2A900"/>
          </a:solidFill>
          <a:ln w="12700">
            <a:solidFill>
              <a:srgbClr val="F2A900"/>
            </a:solidFill>
            <a:prstDash val="solid"/>
          </a:ln>
        </p:spPr>
      </p:sp>
      <p:sp>
        <p:nvSpPr>
          <p:cNvPr id="159" name="Text 157"/>
          <p:cNvSpPr txBox="1"/>
          <p:nvPr/>
        </p:nvSpPr>
        <p:spPr>
          <a:xfrm>
            <a:off x="11439144" y="820216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160" name="Text 158"/>
          <p:cNvSpPr txBox="1"/>
          <p:nvPr/>
        </p:nvSpPr>
        <p:spPr>
          <a:xfrm>
            <a:off x="11786616" y="820216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Analysis &amp; Commentary</a:t>
            </a:r>
            <a:endParaRPr lang="en-US" sz="1000" dirty="0"/>
          </a:p>
        </p:txBody>
      </p:sp>
      <p:sp>
        <p:nvSpPr>
          <p:cNvPr id="161" name="Shape 159"/>
          <p:cNvSpPr/>
          <p:nvPr/>
        </p:nvSpPr>
        <p:spPr>
          <a:xfrm>
            <a:off x="3291840" y="8613648"/>
            <a:ext cx="274320" cy="274320"/>
          </a:xfrm>
          <a:prstGeom prst="ellipse">
            <a:avLst/>
          </a:prstGeom>
          <a:solidFill>
            <a:srgbClr val="F2A900"/>
          </a:solidFill>
          <a:ln w="12700">
            <a:solidFill>
              <a:srgbClr val="F2A900"/>
            </a:solidFill>
            <a:prstDash val="solid"/>
          </a:ln>
        </p:spPr>
      </p:sp>
      <p:sp>
        <p:nvSpPr>
          <p:cNvPr id="162" name="Text 160"/>
          <p:cNvSpPr txBox="1"/>
          <p:nvPr/>
        </p:nvSpPr>
        <p:spPr>
          <a:xfrm>
            <a:off x="3291840"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163" name="Text 161"/>
          <p:cNvSpPr txBox="1"/>
          <p:nvPr/>
        </p:nvSpPr>
        <p:spPr>
          <a:xfrm>
            <a:off x="3639312"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Close Sign-off &amp; Attestation</a:t>
            </a:r>
            <a:endParaRPr lang="en-US" sz="1000" dirty="0"/>
          </a:p>
        </p:txBody>
      </p:sp>
      <p:sp>
        <p:nvSpPr>
          <p:cNvPr id="164" name="Shape 162"/>
          <p:cNvSpPr/>
          <p:nvPr/>
        </p:nvSpPr>
        <p:spPr>
          <a:xfrm>
            <a:off x="6007608" y="8613648"/>
            <a:ext cx="274320" cy="274320"/>
          </a:xfrm>
          <a:prstGeom prst="ellipse">
            <a:avLst/>
          </a:prstGeom>
          <a:solidFill>
            <a:srgbClr val="F2A900"/>
          </a:solidFill>
          <a:ln w="12700">
            <a:solidFill>
              <a:srgbClr val="F2A900"/>
            </a:solidFill>
            <a:prstDash val="solid"/>
          </a:ln>
        </p:spPr>
      </p:sp>
      <p:sp>
        <p:nvSpPr>
          <p:cNvPr id="165" name="Text 163"/>
          <p:cNvSpPr txBox="1"/>
          <p:nvPr/>
        </p:nvSpPr>
        <p:spPr>
          <a:xfrm>
            <a:off x="6007608"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166" name="Text 164"/>
          <p:cNvSpPr txBox="1"/>
          <p:nvPr/>
        </p:nvSpPr>
        <p:spPr>
          <a:xfrm>
            <a:off x="6355080"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Report Validation</a:t>
            </a:r>
            <a:endParaRPr lang="en-US" sz="1000" dirty="0"/>
          </a:p>
        </p:txBody>
      </p:sp>
      <p:sp>
        <p:nvSpPr>
          <p:cNvPr id="167" name="Shape 165"/>
          <p:cNvSpPr/>
          <p:nvPr/>
        </p:nvSpPr>
        <p:spPr>
          <a:xfrm>
            <a:off x="8723376" y="8613648"/>
            <a:ext cx="274320" cy="274320"/>
          </a:xfrm>
          <a:prstGeom prst="ellipse">
            <a:avLst/>
          </a:prstGeom>
          <a:solidFill>
            <a:srgbClr val="F2A900"/>
          </a:solidFill>
          <a:ln w="12700">
            <a:solidFill>
              <a:srgbClr val="F2A900"/>
            </a:solidFill>
            <a:prstDash val="solid"/>
          </a:ln>
        </p:spPr>
      </p:sp>
      <p:sp>
        <p:nvSpPr>
          <p:cNvPr id="168" name="Text 166"/>
          <p:cNvSpPr txBox="1"/>
          <p:nvPr/>
        </p:nvSpPr>
        <p:spPr>
          <a:xfrm>
            <a:off x="8723376"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169" name="Text 167"/>
          <p:cNvSpPr txBox="1"/>
          <p:nvPr/>
        </p:nvSpPr>
        <p:spPr>
          <a:xfrm>
            <a:off x="9070848"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Reference Data Corrections</a:t>
            </a:r>
            <a:endParaRPr lang="en-US" sz="1000" dirty="0"/>
          </a:p>
        </p:txBody>
      </p:sp>
      <p:sp>
        <p:nvSpPr>
          <p:cNvPr id="170" name="Shape 168"/>
          <p:cNvSpPr/>
          <p:nvPr/>
        </p:nvSpPr>
        <p:spPr>
          <a:xfrm>
            <a:off x="11439144" y="8613648"/>
            <a:ext cx="274320" cy="274320"/>
          </a:xfrm>
          <a:prstGeom prst="ellipse">
            <a:avLst/>
          </a:prstGeom>
          <a:solidFill>
            <a:srgbClr val="F2A900"/>
          </a:solidFill>
          <a:ln w="12700">
            <a:solidFill>
              <a:srgbClr val="F2A900"/>
            </a:solidFill>
            <a:prstDash val="solid"/>
          </a:ln>
        </p:spPr>
      </p:sp>
      <p:sp>
        <p:nvSpPr>
          <p:cNvPr id="171" name="Text 169"/>
          <p:cNvSpPr txBox="1"/>
          <p:nvPr/>
        </p:nvSpPr>
        <p:spPr>
          <a:xfrm>
            <a:off x="11439144" y="86136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172" name="Text 170"/>
          <p:cNvSpPr txBox="1"/>
          <p:nvPr/>
        </p:nvSpPr>
        <p:spPr>
          <a:xfrm>
            <a:off x="11786616" y="8613648"/>
            <a:ext cx="2331720" cy="274320"/>
          </a:xfrm>
          <a:prstGeom prst="rect">
            <a:avLst/>
          </a:prstGeom>
          <a:noFill/>
          <a:ln/>
        </p:spPr>
        <p:txBody>
          <a:bodyPr wrap="square" lIns="0" tIns="0" rIns="0" bIns="0" rtlCol="0" anchor="ctr"/>
          <a:lstStyle/>
          <a:p>
            <a:pPr indent="0" marL="0">
              <a:buNone/>
            </a:pPr>
            <a:r>
              <a:rPr lang="en-US" sz="1000" dirty="0">
                <a:solidFill>
                  <a:srgbClr val="1F2D3D"/>
                </a:solidFill>
                <a:latin typeface="Calibri" pitchFamily="34" charset="0"/>
                <a:ea typeface="Calibri" pitchFamily="34" charset="-122"/>
                <a:cs typeface="Calibri" pitchFamily="34" charset="-120"/>
              </a:rPr>
              <a:t>Access &amp; Workflow Review</a:t>
            </a:r>
            <a:endParaRPr lang="en-US" sz="1000" dirty="0"/>
          </a:p>
        </p:txBody>
      </p:sp>
      <p:sp>
        <p:nvSpPr>
          <p:cNvPr id="173" name="Shape 171"/>
          <p:cNvSpPr/>
          <p:nvPr/>
        </p:nvSpPr>
        <p:spPr>
          <a:xfrm>
            <a:off x="0" y="9272016"/>
            <a:ext cx="14630400" cy="484632"/>
          </a:xfrm>
          <a:prstGeom prst="rect">
            <a:avLst/>
          </a:prstGeom>
          <a:solidFill>
            <a:srgbClr val="0B2E5E"/>
          </a:solidFill>
          <a:ln w="12700">
            <a:solidFill>
              <a:srgbClr val="0B2E5E"/>
            </a:solidFill>
            <a:prstDash val="solid"/>
          </a:ln>
        </p:spPr>
      </p:sp>
      <p:sp>
        <p:nvSpPr>
          <p:cNvPr id="174" name="Text 172"/>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on the manual steps. Systems stay the system of record.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Agent Use Cases Across Accounting Control &amp; Analytics</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Eight use cases, one per functional area, on one shared agent platform</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Text 5"/>
          <p:cNvSpPr txBox="1"/>
          <p:nvPr/>
        </p:nvSpPr>
        <p:spPr>
          <a:xfrm>
            <a:off x="502920" y="1188720"/>
            <a:ext cx="54864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Use cases (numbered as on the functional view)</a:t>
            </a:r>
            <a:endParaRPr lang="en-US" sz="1100" dirty="0"/>
          </a:p>
        </p:txBody>
      </p:sp>
      <p:sp>
        <p:nvSpPr>
          <p:cNvPr id="8" name="Text 6"/>
          <p:cNvSpPr txBox="1"/>
          <p:nvPr/>
        </p:nvSpPr>
        <p:spPr>
          <a:xfrm>
            <a:off x="8686800" y="1188720"/>
            <a:ext cx="5440680" cy="274320"/>
          </a:xfrm>
          <a:prstGeom prst="rect">
            <a:avLst/>
          </a:prstGeom>
          <a:noFill/>
          <a:ln/>
        </p:spPr>
        <p:txBody>
          <a:bodyPr wrap="square" lIns="0" tIns="0" rIns="0" bIns="0" rtlCol="0" anchor="ctr"/>
          <a:lstStyle/>
          <a:p>
            <a:pPr algn="r" indent="0" marL="0">
              <a:buNone/>
            </a:pPr>
            <a:r>
              <a:rPr lang="en-US" sz="950" i="1" dirty="0">
                <a:solidFill>
                  <a:srgbClr val="4A5A6E"/>
                </a:solidFill>
                <a:latin typeface="Calibri" pitchFamily="34" charset="0"/>
                <a:ea typeface="Calibri" pitchFamily="34" charset="-122"/>
                <a:cs typeface="Calibri" pitchFamily="34" charset="-120"/>
              </a:rPr>
              <a:t>Every use case keeps a named owner as the decision maker</a:t>
            </a:r>
            <a:endParaRPr lang="en-US" sz="950" dirty="0"/>
          </a:p>
        </p:txBody>
      </p:sp>
      <p:sp>
        <p:nvSpPr>
          <p:cNvPr id="9" name="Shape 7"/>
          <p:cNvSpPr/>
          <p:nvPr/>
        </p:nvSpPr>
        <p:spPr>
          <a:xfrm>
            <a:off x="502920" y="1554480"/>
            <a:ext cx="3227832" cy="2011680"/>
          </a:xfrm>
          <a:prstGeom prst="roundRect">
            <a:avLst>
              <a:gd name="adj" fmla="val 3636"/>
            </a:avLst>
          </a:prstGeom>
          <a:solidFill>
            <a:srgbClr val="FFFFFF"/>
          </a:solidFill>
          <a:ln w="9525">
            <a:solidFill>
              <a:srgbClr val="C8D8EC"/>
            </a:solidFill>
            <a:prstDash val="solid"/>
          </a:ln>
        </p:spPr>
      </p:sp>
      <p:sp>
        <p:nvSpPr>
          <p:cNvPr id="10" name="Shape 8"/>
          <p:cNvSpPr/>
          <p:nvPr/>
        </p:nvSpPr>
        <p:spPr>
          <a:xfrm>
            <a:off x="667512" y="1719072"/>
            <a:ext cx="530352" cy="530352"/>
          </a:xfrm>
          <a:prstGeom prst="roundRect">
            <a:avLst>
              <a:gd name="adj" fmla="val 17241"/>
            </a:avLst>
          </a:prstGeom>
          <a:solidFill>
            <a:srgbClr val="1B4F93"/>
          </a:solidFill>
          <a:ln w="12700">
            <a:solidFill>
              <a:srgbClr val="1B4F93"/>
            </a:solidFill>
            <a:prstDash val="solid"/>
          </a:ln>
        </p:spPr>
      </p:sp>
      <p:pic>
        <p:nvPicPr>
          <p:cNvPr id="11" name="Image 0" descr="preencoded.png">    </p:cNvPr>
          <p:cNvPicPr>
            <a:picLocks noChangeAspect="1"/>
          </p:cNvPicPr>
          <p:nvPr/>
        </p:nvPicPr>
        <p:blipFill>
          <a:blip r:embed="rId1"/>
          <a:stretch>
            <a:fillRect/>
          </a:stretch>
        </p:blipFill>
        <p:spPr>
          <a:xfrm>
            <a:off x="784189" y="1835749"/>
            <a:ext cx="296997" cy="296997"/>
          </a:xfrm>
          <a:prstGeom prst="rect">
            <a:avLst/>
          </a:prstGeom>
        </p:spPr>
      </p:pic>
      <p:sp>
        <p:nvSpPr>
          <p:cNvPr id="12" name="Shape 9"/>
          <p:cNvSpPr/>
          <p:nvPr/>
        </p:nvSpPr>
        <p:spPr>
          <a:xfrm>
            <a:off x="1069848" y="1627632"/>
            <a:ext cx="274320" cy="274320"/>
          </a:xfrm>
          <a:prstGeom prst="ellipse">
            <a:avLst/>
          </a:prstGeom>
          <a:solidFill>
            <a:srgbClr val="F2A900"/>
          </a:solidFill>
          <a:ln w="12700">
            <a:solidFill>
              <a:srgbClr val="FFFFFF"/>
            </a:solidFill>
            <a:prstDash val="solid"/>
          </a:ln>
        </p:spPr>
      </p:sp>
      <p:sp>
        <p:nvSpPr>
          <p:cNvPr id="13" name="Text 10"/>
          <p:cNvSpPr txBox="1"/>
          <p:nvPr/>
        </p:nvSpPr>
        <p:spPr>
          <a:xfrm>
            <a:off x="1069848"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14" name="Shape 11"/>
          <p:cNvSpPr/>
          <p:nvPr/>
        </p:nvSpPr>
        <p:spPr>
          <a:xfrm>
            <a:off x="2628900" y="1719072"/>
            <a:ext cx="937260" cy="237744"/>
          </a:xfrm>
          <a:prstGeom prst="roundRect">
            <a:avLst>
              <a:gd name="adj" fmla="val 50000"/>
            </a:avLst>
          </a:prstGeom>
          <a:solidFill>
            <a:srgbClr val="2A6EBB"/>
          </a:solidFill>
          <a:ln w="12700">
            <a:solidFill>
              <a:srgbClr val="2A6EBB"/>
            </a:solidFill>
            <a:prstDash val="solid"/>
          </a:ln>
        </p:spPr>
      </p:sp>
      <p:sp>
        <p:nvSpPr>
          <p:cNvPr id="15" name="Text 12"/>
          <p:cNvSpPr txBox="1"/>
          <p:nvPr/>
        </p:nvSpPr>
        <p:spPr>
          <a:xfrm>
            <a:off x="2628900" y="1719072"/>
            <a:ext cx="93726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 delivery</a:t>
            </a:r>
            <a:endParaRPr lang="en-US" sz="900" dirty="0"/>
          </a:p>
        </p:txBody>
      </p:sp>
      <p:sp>
        <p:nvSpPr>
          <p:cNvPr id="16" name="Text 13"/>
          <p:cNvSpPr txBox="1"/>
          <p:nvPr/>
        </p:nvSpPr>
        <p:spPr>
          <a:xfrm>
            <a:off x="667512"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Helix: FOBO Reconciliation</a:t>
            </a:r>
            <a:endParaRPr lang="en-US" sz="1300" dirty="0"/>
          </a:p>
        </p:txBody>
      </p:sp>
      <p:sp>
        <p:nvSpPr>
          <p:cNvPr id="17" name="Text 14"/>
          <p:cNvSpPr txBox="1"/>
          <p:nvPr/>
        </p:nvSpPr>
        <p:spPr>
          <a:xfrm>
            <a:off x="667512"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Investigates CATS vs MOTIF breaks per L4, ready before desk time</a:t>
            </a:r>
            <a:endParaRPr lang="en-US" sz="950" dirty="0"/>
          </a:p>
        </p:txBody>
      </p:sp>
      <p:sp>
        <p:nvSpPr>
          <p:cNvPr id="18" name="Text 15"/>
          <p:cNvSpPr txBox="1"/>
          <p:nvPr/>
        </p:nvSpPr>
        <p:spPr>
          <a:xfrm>
            <a:off x="667512"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Recs &amp; Controls | Analysis | Adjustments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Controller approves adjustments</a:t>
            </a:r>
            <a:endParaRPr lang="en-US" sz="900" dirty="0"/>
          </a:p>
        </p:txBody>
      </p:sp>
      <p:sp>
        <p:nvSpPr>
          <p:cNvPr id="19" name="Shape 16"/>
          <p:cNvSpPr/>
          <p:nvPr/>
        </p:nvSpPr>
        <p:spPr>
          <a:xfrm>
            <a:off x="3941064" y="1554480"/>
            <a:ext cx="3227832" cy="2011680"/>
          </a:xfrm>
          <a:prstGeom prst="roundRect">
            <a:avLst>
              <a:gd name="adj" fmla="val 3636"/>
            </a:avLst>
          </a:prstGeom>
          <a:solidFill>
            <a:srgbClr val="FFFFFF"/>
          </a:solidFill>
          <a:ln w="9525">
            <a:solidFill>
              <a:srgbClr val="C8D8EC"/>
            </a:solidFill>
            <a:prstDash val="solid"/>
          </a:ln>
        </p:spPr>
      </p:sp>
      <p:sp>
        <p:nvSpPr>
          <p:cNvPr id="20" name="Shape 17"/>
          <p:cNvSpPr/>
          <p:nvPr/>
        </p:nvSpPr>
        <p:spPr>
          <a:xfrm>
            <a:off x="4105656" y="1719072"/>
            <a:ext cx="530352" cy="530352"/>
          </a:xfrm>
          <a:prstGeom prst="roundRect">
            <a:avLst>
              <a:gd name="adj" fmla="val 17241"/>
            </a:avLst>
          </a:prstGeom>
          <a:solidFill>
            <a:srgbClr val="5B4FA8"/>
          </a:solidFill>
          <a:ln w="12700">
            <a:solidFill>
              <a:srgbClr val="5B4FA8"/>
            </a:solidFill>
            <a:prstDash val="solid"/>
          </a:ln>
        </p:spPr>
      </p:sp>
      <p:pic>
        <p:nvPicPr>
          <p:cNvPr id="21" name="Image 1" descr="preencoded.png">    </p:cNvPr>
          <p:cNvPicPr>
            <a:picLocks noChangeAspect="1"/>
          </p:cNvPicPr>
          <p:nvPr/>
        </p:nvPicPr>
        <p:blipFill>
          <a:blip r:embed="rId2"/>
          <a:stretch>
            <a:fillRect/>
          </a:stretch>
        </p:blipFill>
        <p:spPr>
          <a:xfrm>
            <a:off x="4222333" y="1835749"/>
            <a:ext cx="296997" cy="296997"/>
          </a:xfrm>
          <a:prstGeom prst="rect">
            <a:avLst/>
          </a:prstGeom>
        </p:spPr>
      </p:pic>
      <p:sp>
        <p:nvSpPr>
          <p:cNvPr id="22" name="Shape 18"/>
          <p:cNvSpPr/>
          <p:nvPr/>
        </p:nvSpPr>
        <p:spPr>
          <a:xfrm>
            <a:off x="4507992" y="1627632"/>
            <a:ext cx="274320" cy="274320"/>
          </a:xfrm>
          <a:prstGeom prst="ellipse">
            <a:avLst/>
          </a:prstGeom>
          <a:solidFill>
            <a:srgbClr val="F2A900"/>
          </a:solidFill>
          <a:ln w="12700">
            <a:solidFill>
              <a:srgbClr val="FFFFFF"/>
            </a:solidFill>
            <a:prstDash val="solid"/>
          </a:ln>
        </p:spPr>
      </p:sp>
      <p:sp>
        <p:nvSpPr>
          <p:cNvPr id="23" name="Text 19"/>
          <p:cNvSpPr txBox="1"/>
          <p:nvPr/>
        </p:nvSpPr>
        <p:spPr>
          <a:xfrm>
            <a:off x="4507992"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24" name="Shape 20"/>
          <p:cNvSpPr/>
          <p:nvPr/>
        </p:nvSpPr>
        <p:spPr>
          <a:xfrm>
            <a:off x="6272784" y="1719072"/>
            <a:ext cx="731520" cy="237744"/>
          </a:xfrm>
          <a:prstGeom prst="roundRect">
            <a:avLst>
              <a:gd name="adj" fmla="val 50000"/>
            </a:avLst>
          </a:prstGeom>
          <a:solidFill>
            <a:srgbClr val="1E8A5A"/>
          </a:solidFill>
          <a:ln w="12700">
            <a:solidFill>
              <a:srgbClr val="1E8A5A"/>
            </a:solidFill>
            <a:prstDash val="solid"/>
          </a:ln>
        </p:spPr>
      </p:sp>
      <p:sp>
        <p:nvSpPr>
          <p:cNvPr id="25" name="Text 21"/>
          <p:cNvSpPr txBox="1"/>
          <p:nvPr/>
        </p:nvSpPr>
        <p:spPr>
          <a:xfrm>
            <a:off x="6272784" y="1719072"/>
            <a:ext cx="73152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In build</a:t>
            </a:r>
            <a:endParaRPr lang="en-US" sz="900" dirty="0"/>
          </a:p>
        </p:txBody>
      </p:sp>
      <p:sp>
        <p:nvSpPr>
          <p:cNvPr id="26" name="Text 22"/>
          <p:cNvSpPr txBox="1"/>
          <p:nvPr/>
        </p:nvSpPr>
        <p:spPr>
          <a:xfrm>
            <a:off x="4105656"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Flash v Formal P&amp;L &amp; PLEX</a:t>
            </a:r>
            <a:endParaRPr lang="en-US" sz="1300" dirty="0"/>
          </a:p>
        </p:txBody>
      </p:sp>
      <p:sp>
        <p:nvSpPr>
          <p:cNvPr id="27" name="Text 23"/>
          <p:cNvSpPr txBox="1"/>
          <p:nvPr/>
        </p:nvSpPr>
        <p:spPr>
          <a:xfrm>
            <a:off x="4105656"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Explains flash v formal differences, PLEX Hypo v Clean, proposes reclass</a:t>
            </a:r>
            <a:endParaRPr lang="en-US" sz="950" dirty="0"/>
          </a:p>
        </p:txBody>
      </p:sp>
      <p:sp>
        <p:nvSpPr>
          <p:cNvPr id="28" name="Text 24"/>
          <p:cNvSpPr txBox="1"/>
          <p:nvPr/>
        </p:nvSpPr>
        <p:spPr>
          <a:xfrm>
            <a:off x="4105656"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FO / Finance P&amp;L | Analysis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Product Controller signs off</a:t>
            </a:r>
            <a:endParaRPr lang="en-US" sz="900" dirty="0"/>
          </a:p>
        </p:txBody>
      </p:sp>
      <p:sp>
        <p:nvSpPr>
          <p:cNvPr id="29" name="Shape 25"/>
          <p:cNvSpPr/>
          <p:nvPr/>
        </p:nvSpPr>
        <p:spPr>
          <a:xfrm>
            <a:off x="7379208" y="1554480"/>
            <a:ext cx="3227832" cy="2011680"/>
          </a:xfrm>
          <a:prstGeom prst="roundRect">
            <a:avLst>
              <a:gd name="adj" fmla="val 3636"/>
            </a:avLst>
          </a:prstGeom>
          <a:solidFill>
            <a:srgbClr val="FFFFFF"/>
          </a:solidFill>
          <a:ln w="9525">
            <a:solidFill>
              <a:srgbClr val="C8D8EC"/>
            </a:solidFill>
            <a:prstDash val="solid"/>
          </a:ln>
        </p:spPr>
      </p:sp>
      <p:sp>
        <p:nvSpPr>
          <p:cNvPr id="30" name="Shape 26"/>
          <p:cNvSpPr/>
          <p:nvPr/>
        </p:nvSpPr>
        <p:spPr>
          <a:xfrm>
            <a:off x="7543800" y="1719072"/>
            <a:ext cx="530352" cy="530352"/>
          </a:xfrm>
          <a:prstGeom prst="roundRect">
            <a:avLst>
              <a:gd name="adj" fmla="val 17241"/>
            </a:avLst>
          </a:prstGeom>
          <a:solidFill>
            <a:srgbClr val="2A6EBB"/>
          </a:solidFill>
          <a:ln w="12700">
            <a:solidFill>
              <a:srgbClr val="2A6EBB"/>
            </a:solidFill>
            <a:prstDash val="solid"/>
          </a:ln>
        </p:spPr>
      </p:sp>
      <p:pic>
        <p:nvPicPr>
          <p:cNvPr id="31" name="Image 2" descr="preencoded.png">    </p:cNvPr>
          <p:cNvPicPr>
            <a:picLocks noChangeAspect="1"/>
          </p:cNvPicPr>
          <p:nvPr/>
        </p:nvPicPr>
        <p:blipFill>
          <a:blip r:embed="rId3"/>
          <a:stretch>
            <a:fillRect/>
          </a:stretch>
        </p:blipFill>
        <p:spPr>
          <a:xfrm>
            <a:off x="7660477" y="1835749"/>
            <a:ext cx="296997" cy="296997"/>
          </a:xfrm>
          <a:prstGeom prst="rect">
            <a:avLst/>
          </a:prstGeom>
        </p:spPr>
      </p:pic>
      <p:sp>
        <p:nvSpPr>
          <p:cNvPr id="32" name="Shape 27"/>
          <p:cNvSpPr/>
          <p:nvPr/>
        </p:nvSpPr>
        <p:spPr>
          <a:xfrm>
            <a:off x="7946136" y="1627632"/>
            <a:ext cx="274320" cy="274320"/>
          </a:xfrm>
          <a:prstGeom prst="ellipse">
            <a:avLst/>
          </a:prstGeom>
          <a:solidFill>
            <a:srgbClr val="F2A900"/>
          </a:solidFill>
          <a:ln w="12700">
            <a:solidFill>
              <a:srgbClr val="FFFFFF"/>
            </a:solidFill>
            <a:prstDash val="solid"/>
          </a:ln>
        </p:spPr>
      </p:sp>
      <p:sp>
        <p:nvSpPr>
          <p:cNvPr id="33" name="Text 28"/>
          <p:cNvSpPr txBox="1"/>
          <p:nvPr/>
        </p:nvSpPr>
        <p:spPr>
          <a:xfrm>
            <a:off x="7946136"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34" name="Shape 29"/>
          <p:cNvSpPr/>
          <p:nvPr/>
        </p:nvSpPr>
        <p:spPr>
          <a:xfrm>
            <a:off x="9642348" y="1719072"/>
            <a:ext cx="800100" cy="237744"/>
          </a:xfrm>
          <a:prstGeom prst="roundRect">
            <a:avLst>
              <a:gd name="adj" fmla="val 50000"/>
            </a:avLst>
          </a:prstGeom>
          <a:solidFill>
            <a:srgbClr val="5B4FA8"/>
          </a:solidFill>
          <a:ln w="12700">
            <a:solidFill>
              <a:srgbClr val="5B4FA8"/>
            </a:solidFill>
            <a:prstDash val="solid"/>
          </a:ln>
        </p:spPr>
      </p:sp>
      <p:sp>
        <p:nvSpPr>
          <p:cNvPr id="35" name="Text 30"/>
          <p:cNvSpPr txBox="1"/>
          <p:nvPr/>
        </p:nvSpPr>
        <p:spPr>
          <a:xfrm>
            <a:off x="9642348" y="171907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36" name="Text 31"/>
          <p:cNvSpPr txBox="1"/>
          <p:nvPr/>
        </p:nvSpPr>
        <p:spPr>
          <a:xfrm>
            <a:off x="7543800"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Ledger Controls &amp; Exceptions</a:t>
            </a:r>
            <a:endParaRPr lang="en-US" sz="1300" dirty="0"/>
          </a:p>
        </p:txBody>
      </p:sp>
      <p:sp>
        <p:nvSpPr>
          <p:cNvPr id="37" name="Text 32"/>
          <p:cNvSpPr txBox="1"/>
          <p:nvPr/>
        </p:nvSpPr>
        <p:spPr>
          <a:xfrm>
            <a:off x="7543800"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Triage of inter-ledger, source-to-ledger and TB-BB breaks with ageing</a:t>
            </a:r>
            <a:endParaRPr lang="en-US" sz="950" dirty="0"/>
          </a:p>
        </p:txBody>
      </p:sp>
      <p:sp>
        <p:nvSpPr>
          <p:cNvPr id="38" name="Text 33"/>
          <p:cNvSpPr txBox="1"/>
          <p:nvPr/>
        </p:nvSpPr>
        <p:spPr>
          <a:xfrm>
            <a:off x="7543800"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Recs &amp; Controls</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Owner approves fix or closure</a:t>
            </a:r>
            <a:endParaRPr lang="en-US" sz="900" dirty="0"/>
          </a:p>
        </p:txBody>
      </p:sp>
      <p:sp>
        <p:nvSpPr>
          <p:cNvPr id="39" name="Shape 34"/>
          <p:cNvSpPr/>
          <p:nvPr/>
        </p:nvSpPr>
        <p:spPr>
          <a:xfrm>
            <a:off x="10817352" y="1554480"/>
            <a:ext cx="3227832" cy="2011680"/>
          </a:xfrm>
          <a:prstGeom prst="roundRect">
            <a:avLst>
              <a:gd name="adj" fmla="val 3636"/>
            </a:avLst>
          </a:prstGeom>
          <a:solidFill>
            <a:srgbClr val="FFFFFF"/>
          </a:solidFill>
          <a:ln w="9525">
            <a:solidFill>
              <a:srgbClr val="C8D8EC"/>
            </a:solidFill>
            <a:prstDash val="solid"/>
          </a:ln>
        </p:spPr>
      </p:sp>
      <p:sp>
        <p:nvSpPr>
          <p:cNvPr id="40" name="Shape 35"/>
          <p:cNvSpPr/>
          <p:nvPr/>
        </p:nvSpPr>
        <p:spPr>
          <a:xfrm>
            <a:off x="10981944" y="1719072"/>
            <a:ext cx="530352" cy="530352"/>
          </a:xfrm>
          <a:prstGeom prst="roundRect">
            <a:avLst>
              <a:gd name="adj" fmla="val 17241"/>
            </a:avLst>
          </a:prstGeom>
          <a:solidFill>
            <a:srgbClr val="1E8A5A"/>
          </a:solidFill>
          <a:ln w="12700">
            <a:solidFill>
              <a:srgbClr val="1E8A5A"/>
            </a:solidFill>
            <a:prstDash val="solid"/>
          </a:ln>
        </p:spPr>
      </p:sp>
      <p:pic>
        <p:nvPicPr>
          <p:cNvPr id="41" name="Image 3" descr="preencoded.png">    </p:cNvPr>
          <p:cNvPicPr>
            <a:picLocks noChangeAspect="1"/>
          </p:cNvPicPr>
          <p:nvPr/>
        </p:nvPicPr>
        <p:blipFill>
          <a:blip r:embed="rId4"/>
          <a:stretch>
            <a:fillRect/>
          </a:stretch>
        </p:blipFill>
        <p:spPr>
          <a:xfrm>
            <a:off x="11098621" y="1835749"/>
            <a:ext cx="296997" cy="296997"/>
          </a:xfrm>
          <a:prstGeom prst="rect">
            <a:avLst/>
          </a:prstGeom>
        </p:spPr>
      </p:pic>
      <p:sp>
        <p:nvSpPr>
          <p:cNvPr id="42" name="Shape 36"/>
          <p:cNvSpPr/>
          <p:nvPr/>
        </p:nvSpPr>
        <p:spPr>
          <a:xfrm>
            <a:off x="11384280" y="1627632"/>
            <a:ext cx="274320" cy="274320"/>
          </a:xfrm>
          <a:prstGeom prst="ellipse">
            <a:avLst/>
          </a:prstGeom>
          <a:solidFill>
            <a:srgbClr val="F2A900"/>
          </a:solidFill>
          <a:ln w="12700">
            <a:solidFill>
              <a:srgbClr val="FFFFFF"/>
            </a:solidFill>
            <a:prstDash val="solid"/>
          </a:ln>
        </p:spPr>
      </p:sp>
      <p:sp>
        <p:nvSpPr>
          <p:cNvPr id="43" name="Text 37"/>
          <p:cNvSpPr txBox="1"/>
          <p:nvPr/>
        </p:nvSpPr>
        <p:spPr>
          <a:xfrm>
            <a:off x="11384280" y="1627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44" name="Shape 38"/>
          <p:cNvSpPr/>
          <p:nvPr/>
        </p:nvSpPr>
        <p:spPr>
          <a:xfrm>
            <a:off x="13080492" y="1719072"/>
            <a:ext cx="800100" cy="237744"/>
          </a:xfrm>
          <a:prstGeom prst="roundRect">
            <a:avLst>
              <a:gd name="adj" fmla="val 50000"/>
            </a:avLst>
          </a:prstGeom>
          <a:solidFill>
            <a:srgbClr val="5B4FA8"/>
          </a:solidFill>
          <a:ln w="12700">
            <a:solidFill>
              <a:srgbClr val="5B4FA8"/>
            </a:solidFill>
            <a:prstDash val="solid"/>
          </a:ln>
        </p:spPr>
      </p:sp>
      <p:sp>
        <p:nvSpPr>
          <p:cNvPr id="45" name="Text 39"/>
          <p:cNvSpPr txBox="1"/>
          <p:nvPr/>
        </p:nvSpPr>
        <p:spPr>
          <a:xfrm>
            <a:off x="13080492" y="171907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46" name="Text 40"/>
          <p:cNvSpPr txBox="1"/>
          <p:nvPr/>
        </p:nvSpPr>
        <p:spPr>
          <a:xfrm>
            <a:off x="10981944" y="234086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Analysis &amp; Commentary</a:t>
            </a:r>
            <a:endParaRPr lang="en-US" sz="1300" dirty="0"/>
          </a:p>
        </p:txBody>
      </p:sp>
      <p:sp>
        <p:nvSpPr>
          <p:cNvPr id="47" name="Text 41"/>
          <p:cNvSpPr txBox="1"/>
          <p:nvPr/>
        </p:nvSpPr>
        <p:spPr>
          <a:xfrm>
            <a:off x="10981944" y="261518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Explains movements and variances, drafts commentary across packs</a:t>
            </a:r>
            <a:endParaRPr lang="en-US" sz="950" dirty="0"/>
          </a:p>
        </p:txBody>
      </p:sp>
      <p:sp>
        <p:nvSpPr>
          <p:cNvPr id="48" name="Text 42"/>
          <p:cNvSpPr txBox="1"/>
          <p:nvPr/>
        </p:nvSpPr>
        <p:spPr>
          <a:xfrm>
            <a:off x="10981944" y="305409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Analysis &amp; Review</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Controller approves commentary</a:t>
            </a:r>
            <a:endParaRPr lang="en-US" sz="900" dirty="0"/>
          </a:p>
        </p:txBody>
      </p:sp>
      <p:sp>
        <p:nvSpPr>
          <p:cNvPr id="49" name="Shape 43"/>
          <p:cNvSpPr/>
          <p:nvPr/>
        </p:nvSpPr>
        <p:spPr>
          <a:xfrm>
            <a:off x="502920" y="3703320"/>
            <a:ext cx="3227832" cy="2011680"/>
          </a:xfrm>
          <a:prstGeom prst="roundRect">
            <a:avLst>
              <a:gd name="adj" fmla="val 3636"/>
            </a:avLst>
          </a:prstGeom>
          <a:solidFill>
            <a:srgbClr val="FFFFFF"/>
          </a:solidFill>
          <a:ln w="9525">
            <a:solidFill>
              <a:srgbClr val="C8D8EC"/>
            </a:solidFill>
            <a:prstDash val="solid"/>
          </a:ln>
        </p:spPr>
      </p:sp>
      <p:sp>
        <p:nvSpPr>
          <p:cNvPr id="50" name="Shape 44"/>
          <p:cNvSpPr/>
          <p:nvPr/>
        </p:nvSpPr>
        <p:spPr>
          <a:xfrm>
            <a:off x="667512" y="3867912"/>
            <a:ext cx="530352" cy="530352"/>
          </a:xfrm>
          <a:prstGeom prst="roundRect">
            <a:avLst>
              <a:gd name="adj" fmla="val 17241"/>
            </a:avLst>
          </a:prstGeom>
          <a:solidFill>
            <a:srgbClr val="1F4E8C"/>
          </a:solidFill>
          <a:ln w="12700">
            <a:solidFill>
              <a:srgbClr val="1F4E8C"/>
            </a:solidFill>
            <a:prstDash val="solid"/>
          </a:ln>
        </p:spPr>
      </p:sp>
      <p:pic>
        <p:nvPicPr>
          <p:cNvPr id="51" name="Image 4" descr="preencoded.png">    </p:cNvPr>
          <p:cNvPicPr>
            <a:picLocks noChangeAspect="1"/>
          </p:cNvPicPr>
          <p:nvPr/>
        </p:nvPicPr>
        <p:blipFill>
          <a:blip r:embed="rId5"/>
          <a:stretch>
            <a:fillRect/>
          </a:stretch>
        </p:blipFill>
        <p:spPr>
          <a:xfrm>
            <a:off x="784189" y="3984589"/>
            <a:ext cx="296997" cy="296997"/>
          </a:xfrm>
          <a:prstGeom prst="rect">
            <a:avLst/>
          </a:prstGeom>
        </p:spPr>
      </p:pic>
      <p:sp>
        <p:nvSpPr>
          <p:cNvPr id="52" name="Shape 45"/>
          <p:cNvSpPr/>
          <p:nvPr/>
        </p:nvSpPr>
        <p:spPr>
          <a:xfrm>
            <a:off x="1069848" y="3776472"/>
            <a:ext cx="274320" cy="274320"/>
          </a:xfrm>
          <a:prstGeom prst="ellipse">
            <a:avLst/>
          </a:prstGeom>
          <a:solidFill>
            <a:srgbClr val="F2A900"/>
          </a:solidFill>
          <a:ln w="12700">
            <a:solidFill>
              <a:srgbClr val="FFFFFF"/>
            </a:solidFill>
            <a:prstDash val="solid"/>
          </a:ln>
        </p:spPr>
      </p:sp>
      <p:sp>
        <p:nvSpPr>
          <p:cNvPr id="53" name="Text 46"/>
          <p:cNvSpPr txBox="1"/>
          <p:nvPr/>
        </p:nvSpPr>
        <p:spPr>
          <a:xfrm>
            <a:off x="1069848"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54" name="Shape 47"/>
          <p:cNvSpPr/>
          <p:nvPr/>
        </p:nvSpPr>
        <p:spPr>
          <a:xfrm>
            <a:off x="2766060" y="3867912"/>
            <a:ext cx="800100" cy="237744"/>
          </a:xfrm>
          <a:prstGeom prst="roundRect">
            <a:avLst>
              <a:gd name="adj" fmla="val 50000"/>
            </a:avLst>
          </a:prstGeom>
          <a:solidFill>
            <a:srgbClr val="5B4FA8"/>
          </a:solidFill>
          <a:ln w="12700">
            <a:solidFill>
              <a:srgbClr val="5B4FA8"/>
            </a:solidFill>
            <a:prstDash val="solid"/>
          </a:ln>
        </p:spPr>
      </p:sp>
      <p:sp>
        <p:nvSpPr>
          <p:cNvPr id="55" name="Text 48"/>
          <p:cNvSpPr txBox="1"/>
          <p:nvPr/>
        </p:nvSpPr>
        <p:spPr>
          <a:xfrm>
            <a:off x="2766060"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56" name="Text 49"/>
          <p:cNvSpPr txBox="1"/>
          <p:nvPr/>
        </p:nvSpPr>
        <p:spPr>
          <a:xfrm>
            <a:off x="667512"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Close Sign-off &amp; Attestation</a:t>
            </a:r>
            <a:endParaRPr lang="en-US" sz="1300" dirty="0"/>
          </a:p>
        </p:txBody>
      </p:sp>
      <p:sp>
        <p:nvSpPr>
          <p:cNvPr id="57" name="Text 50"/>
          <p:cNvSpPr txBox="1"/>
          <p:nvPr/>
        </p:nvSpPr>
        <p:spPr>
          <a:xfrm>
            <a:off x="667512"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Builds sign-off packs: open items, evidence, risks per milestone</a:t>
            </a:r>
            <a:endParaRPr lang="en-US" sz="950" dirty="0"/>
          </a:p>
        </p:txBody>
      </p:sp>
      <p:sp>
        <p:nvSpPr>
          <p:cNvPr id="58" name="Text 51"/>
          <p:cNvSpPr txBox="1"/>
          <p:nvPr/>
        </p:nvSpPr>
        <p:spPr>
          <a:xfrm>
            <a:off x="667512"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Financial Close</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Signatory signs off</a:t>
            </a:r>
            <a:endParaRPr lang="en-US" sz="900" dirty="0"/>
          </a:p>
        </p:txBody>
      </p:sp>
      <p:sp>
        <p:nvSpPr>
          <p:cNvPr id="59" name="Shape 52"/>
          <p:cNvSpPr/>
          <p:nvPr/>
        </p:nvSpPr>
        <p:spPr>
          <a:xfrm>
            <a:off x="3941064" y="3703320"/>
            <a:ext cx="3227832" cy="2011680"/>
          </a:xfrm>
          <a:prstGeom prst="roundRect">
            <a:avLst>
              <a:gd name="adj" fmla="val 3636"/>
            </a:avLst>
          </a:prstGeom>
          <a:solidFill>
            <a:srgbClr val="FFFFFF"/>
          </a:solidFill>
          <a:ln w="9525">
            <a:solidFill>
              <a:srgbClr val="C8D8EC"/>
            </a:solidFill>
            <a:prstDash val="solid"/>
          </a:ln>
        </p:spPr>
      </p:sp>
      <p:sp>
        <p:nvSpPr>
          <p:cNvPr id="60" name="Shape 53"/>
          <p:cNvSpPr/>
          <p:nvPr/>
        </p:nvSpPr>
        <p:spPr>
          <a:xfrm>
            <a:off x="4105656" y="3867912"/>
            <a:ext cx="530352" cy="530352"/>
          </a:xfrm>
          <a:prstGeom prst="roundRect">
            <a:avLst>
              <a:gd name="adj" fmla="val 17241"/>
            </a:avLst>
          </a:prstGeom>
          <a:solidFill>
            <a:srgbClr val="1F6FB5"/>
          </a:solidFill>
          <a:ln w="12700">
            <a:solidFill>
              <a:srgbClr val="1F6FB5"/>
            </a:solidFill>
            <a:prstDash val="solid"/>
          </a:ln>
        </p:spPr>
      </p:sp>
      <p:pic>
        <p:nvPicPr>
          <p:cNvPr id="61" name="Image 5" descr="preencoded.png">    </p:cNvPr>
          <p:cNvPicPr>
            <a:picLocks noChangeAspect="1"/>
          </p:cNvPicPr>
          <p:nvPr/>
        </p:nvPicPr>
        <p:blipFill>
          <a:blip r:embed="rId6"/>
          <a:stretch>
            <a:fillRect/>
          </a:stretch>
        </p:blipFill>
        <p:spPr>
          <a:xfrm>
            <a:off x="4222333" y="3984589"/>
            <a:ext cx="296997" cy="296997"/>
          </a:xfrm>
          <a:prstGeom prst="rect">
            <a:avLst/>
          </a:prstGeom>
        </p:spPr>
      </p:pic>
      <p:sp>
        <p:nvSpPr>
          <p:cNvPr id="62" name="Shape 54"/>
          <p:cNvSpPr/>
          <p:nvPr/>
        </p:nvSpPr>
        <p:spPr>
          <a:xfrm>
            <a:off x="4507992" y="3776472"/>
            <a:ext cx="274320" cy="274320"/>
          </a:xfrm>
          <a:prstGeom prst="ellipse">
            <a:avLst/>
          </a:prstGeom>
          <a:solidFill>
            <a:srgbClr val="F2A900"/>
          </a:solidFill>
          <a:ln w="12700">
            <a:solidFill>
              <a:srgbClr val="FFFFFF"/>
            </a:solidFill>
            <a:prstDash val="solid"/>
          </a:ln>
        </p:spPr>
      </p:sp>
      <p:sp>
        <p:nvSpPr>
          <p:cNvPr id="63" name="Text 55"/>
          <p:cNvSpPr txBox="1"/>
          <p:nvPr/>
        </p:nvSpPr>
        <p:spPr>
          <a:xfrm>
            <a:off x="4507992"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64" name="Shape 56"/>
          <p:cNvSpPr/>
          <p:nvPr/>
        </p:nvSpPr>
        <p:spPr>
          <a:xfrm>
            <a:off x="6204204" y="3867912"/>
            <a:ext cx="800100" cy="237744"/>
          </a:xfrm>
          <a:prstGeom prst="roundRect">
            <a:avLst>
              <a:gd name="adj" fmla="val 50000"/>
            </a:avLst>
          </a:prstGeom>
          <a:solidFill>
            <a:srgbClr val="5B4FA8"/>
          </a:solidFill>
          <a:ln w="12700">
            <a:solidFill>
              <a:srgbClr val="5B4FA8"/>
            </a:solidFill>
            <a:prstDash val="solid"/>
          </a:ln>
        </p:spPr>
      </p:sp>
      <p:sp>
        <p:nvSpPr>
          <p:cNvPr id="65" name="Text 57"/>
          <p:cNvSpPr txBox="1"/>
          <p:nvPr/>
        </p:nvSpPr>
        <p:spPr>
          <a:xfrm>
            <a:off x="6204204"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66" name="Text 58"/>
          <p:cNvSpPr txBox="1"/>
          <p:nvPr/>
        </p:nvSpPr>
        <p:spPr>
          <a:xfrm>
            <a:off x="4105656"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Report Validation</a:t>
            </a:r>
            <a:endParaRPr lang="en-US" sz="1300" dirty="0"/>
          </a:p>
        </p:txBody>
      </p:sp>
      <p:sp>
        <p:nvSpPr>
          <p:cNvPr id="67" name="Text 59"/>
          <p:cNvSpPr txBox="1"/>
          <p:nvPr/>
        </p:nvSpPr>
        <p:spPr>
          <a:xfrm>
            <a:off x="4105656"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Checks reports against TB and prior runs before publication</a:t>
            </a:r>
            <a:endParaRPr lang="en-US" sz="950" dirty="0"/>
          </a:p>
        </p:txBody>
      </p:sp>
      <p:sp>
        <p:nvSpPr>
          <p:cNvPr id="68" name="Text 60"/>
          <p:cNvSpPr txBox="1"/>
          <p:nvPr/>
        </p:nvSpPr>
        <p:spPr>
          <a:xfrm>
            <a:off x="4105656"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Internal Reporting</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Report Owner releases</a:t>
            </a:r>
            <a:endParaRPr lang="en-US" sz="900" dirty="0"/>
          </a:p>
        </p:txBody>
      </p:sp>
      <p:sp>
        <p:nvSpPr>
          <p:cNvPr id="69" name="Shape 61"/>
          <p:cNvSpPr/>
          <p:nvPr/>
        </p:nvSpPr>
        <p:spPr>
          <a:xfrm>
            <a:off x="7379208" y="3703320"/>
            <a:ext cx="3227832" cy="2011680"/>
          </a:xfrm>
          <a:prstGeom prst="roundRect">
            <a:avLst>
              <a:gd name="adj" fmla="val 3636"/>
            </a:avLst>
          </a:prstGeom>
          <a:solidFill>
            <a:srgbClr val="FFFFFF"/>
          </a:solidFill>
          <a:ln w="9525">
            <a:solidFill>
              <a:srgbClr val="C8D8EC"/>
            </a:solidFill>
            <a:prstDash val="solid"/>
          </a:ln>
        </p:spPr>
      </p:sp>
      <p:sp>
        <p:nvSpPr>
          <p:cNvPr id="70" name="Shape 62"/>
          <p:cNvSpPr/>
          <p:nvPr/>
        </p:nvSpPr>
        <p:spPr>
          <a:xfrm>
            <a:off x="7543800" y="3867912"/>
            <a:ext cx="530352" cy="530352"/>
          </a:xfrm>
          <a:prstGeom prst="roundRect">
            <a:avLst>
              <a:gd name="adj" fmla="val 17241"/>
            </a:avLst>
          </a:prstGeom>
          <a:solidFill>
            <a:srgbClr val="1B4F93"/>
          </a:solidFill>
          <a:ln w="12700">
            <a:solidFill>
              <a:srgbClr val="1B4F93"/>
            </a:solidFill>
            <a:prstDash val="solid"/>
          </a:ln>
        </p:spPr>
      </p:sp>
      <p:pic>
        <p:nvPicPr>
          <p:cNvPr id="71" name="Image 6" descr="preencoded.png">    </p:cNvPr>
          <p:cNvPicPr>
            <a:picLocks noChangeAspect="1"/>
          </p:cNvPicPr>
          <p:nvPr/>
        </p:nvPicPr>
        <p:blipFill>
          <a:blip r:embed="rId7"/>
          <a:stretch>
            <a:fillRect/>
          </a:stretch>
        </p:blipFill>
        <p:spPr>
          <a:xfrm>
            <a:off x="7660477" y="3984589"/>
            <a:ext cx="296997" cy="296997"/>
          </a:xfrm>
          <a:prstGeom prst="rect">
            <a:avLst/>
          </a:prstGeom>
        </p:spPr>
      </p:pic>
      <p:sp>
        <p:nvSpPr>
          <p:cNvPr id="72" name="Shape 63"/>
          <p:cNvSpPr/>
          <p:nvPr/>
        </p:nvSpPr>
        <p:spPr>
          <a:xfrm>
            <a:off x="7946136" y="3776472"/>
            <a:ext cx="274320" cy="274320"/>
          </a:xfrm>
          <a:prstGeom prst="ellipse">
            <a:avLst/>
          </a:prstGeom>
          <a:solidFill>
            <a:srgbClr val="F2A900"/>
          </a:solidFill>
          <a:ln w="12700">
            <a:solidFill>
              <a:srgbClr val="FFFFFF"/>
            </a:solidFill>
            <a:prstDash val="solid"/>
          </a:ln>
        </p:spPr>
      </p:sp>
      <p:sp>
        <p:nvSpPr>
          <p:cNvPr id="73" name="Text 64"/>
          <p:cNvSpPr txBox="1"/>
          <p:nvPr/>
        </p:nvSpPr>
        <p:spPr>
          <a:xfrm>
            <a:off x="7946136"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74" name="Shape 65"/>
          <p:cNvSpPr/>
          <p:nvPr/>
        </p:nvSpPr>
        <p:spPr>
          <a:xfrm>
            <a:off x="9642348" y="3867912"/>
            <a:ext cx="800100" cy="237744"/>
          </a:xfrm>
          <a:prstGeom prst="roundRect">
            <a:avLst>
              <a:gd name="adj" fmla="val 50000"/>
            </a:avLst>
          </a:prstGeom>
          <a:solidFill>
            <a:srgbClr val="5B4FA8"/>
          </a:solidFill>
          <a:ln w="12700">
            <a:solidFill>
              <a:srgbClr val="5B4FA8"/>
            </a:solidFill>
            <a:prstDash val="solid"/>
          </a:ln>
        </p:spPr>
      </p:sp>
      <p:sp>
        <p:nvSpPr>
          <p:cNvPr id="75" name="Text 66"/>
          <p:cNvSpPr txBox="1"/>
          <p:nvPr/>
        </p:nvSpPr>
        <p:spPr>
          <a:xfrm>
            <a:off x="9642348"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76" name="Text 67"/>
          <p:cNvSpPr txBox="1"/>
          <p:nvPr/>
        </p:nvSpPr>
        <p:spPr>
          <a:xfrm>
            <a:off x="7543800"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Reference Data Corrections</a:t>
            </a:r>
            <a:endParaRPr lang="en-US" sz="1300" dirty="0"/>
          </a:p>
        </p:txBody>
      </p:sp>
      <p:sp>
        <p:nvSpPr>
          <p:cNvPr id="77" name="Text 68"/>
          <p:cNvSpPr txBox="1"/>
          <p:nvPr/>
        </p:nvSpPr>
        <p:spPr>
          <a:xfrm>
            <a:off x="7543800"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Traces breaks to data causes, drafts correction instructions</a:t>
            </a:r>
            <a:endParaRPr lang="en-US" sz="950" dirty="0"/>
          </a:p>
        </p:txBody>
      </p:sp>
      <p:sp>
        <p:nvSpPr>
          <p:cNvPr id="78" name="Text 69"/>
          <p:cNvSpPr txBox="1"/>
          <p:nvPr/>
        </p:nvSpPr>
        <p:spPr>
          <a:xfrm>
            <a:off x="7543800"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Master / Reference Data</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Data Owner approves correction</a:t>
            </a:r>
            <a:endParaRPr lang="en-US" sz="900" dirty="0"/>
          </a:p>
        </p:txBody>
      </p:sp>
      <p:sp>
        <p:nvSpPr>
          <p:cNvPr id="79" name="Shape 70"/>
          <p:cNvSpPr/>
          <p:nvPr/>
        </p:nvSpPr>
        <p:spPr>
          <a:xfrm>
            <a:off x="10817352" y="3703320"/>
            <a:ext cx="3227832" cy="2011680"/>
          </a:xfrm>
          <a:prstGeom prst="roundRect">
            <a:avLst>
              <a:gd name="adj" fmla="val 3636"/>
            </a:avLst>
          </a:prstGeom>
          <a:solidFill>
            <a:srgbClr val="FFFFFF"/>
          </a:solidFill>
          <a:ln w="9525">
            <a:solidFill>
              <a:srgbClr val="C8D8EC"/>
            </a:solidFill>
            <a:prstDash val="solid"/>
          </a:ln>
        </p:spPr>
      </p:sp>
      <p:sp>
        <p:nvSpPr>
          <p:cNvPr id="80" name="Shape 71"/>
          <p:cNvSpPr/>
          <p:nvPr/>
        </p:nvSpPr>
        <p:spPr>
          <a:xfrm>
            <a:off x="10981944" y="3867912"/>
            <a:ext cx="530352" cy="530352"/>
          </a:xfrm>
          <a:prstGeom prst="roundRect">
            <a:avLst>
              <a:gd name="adj" fmla="val 17241"/>
            </a:avLst>
          </a:prstGeom>
          <a:solidFill>
            <a:srgbClr val="1E8A5A"/>
          </a:solidFill>
          <a:ln w="12700">
            <a:solidFill>
              <a:srgbClr val="1E8A5A"/>
            </a:solidFill>
            <a:prstDash val="solid"/>
          </a:ln>
        </p:spPr>
      </p:sp>
      <p:pic>
        <p:nvPicPr>
          <p:cNvPr id="81" name="Image 7" descr="preencoded.png">    </p:cNvPr>
          <p:cNvPicPr>
            <a:picLocks noChangeAspect="1"/>
          </p:cNvPicPr>
          <p:nvPr/>
        </p:nvPicPr>
        <p:blipFill>
          <a:blip r:embed="rId8"/>
          <a:stretch>
            <a:fillRect/>
          </a:stretch>
        </p:blipFill>
        <p:spPr>
          <a:xfrm>
            <a:off x="11098621" y="3984589"/>
            <a:ext cx="296997" cy="296997"/>
          </a:xfrm>
          <a:prstGeom prst="rect">
            <a:avLst/>
          </a:prstGeom>
        </p:spPr>
      </p:pic>
      <p:sp>
        <p:nvSpPr>
          <p:cNvPr id="82" name="Shape 72"/>
          <p:cNvSpPr/>
          <p:nvPr/>
        </p:nvSpPr>
        <p:spPr>
          <a:xfrm>
            <a:off x="11384280" y="3776472"/>
            <a:ext cx="274320" cy="274320"/>
          </a:xfrm>
          <a:prstGeom prst="ellipse">
            <a:avLst/>
          </a:prstGeom>
          <a:solidFill>
            <a:srgbClr val="F2A900"/>
          </a:solidFill>
          <a:ln w="12700">
            <a:solidFill>
              <a:srgbClr val="FFFFFF"/>
            </a:solidFill>
            <a:prstDash val="solid"/>
          </a:ln>
        </p:spPr>
      </p:sp>
      <p:sp>
        <p:nvSpPr>
          <p:cNvPr id="83" name="Text 73"/>
          <p:cNvSpPr txBox="1"/>
          <p:nvPr/>
        </p:nvSpPr>
        <p:spPr>
          <a:xfrm>
            <a:off x="11384280" y="377647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84" name="Shape 74"/>
          <p:cNvSpPr/>
          <p:nvPr/>
        </p:nvSpPr>
        <p:spPr>
          <a:xfrm>
            <a:off x="13080492" y="3867912"/>
            <a:ext cx="800100" cy="237744"/>
          </a:xfrm>
          <a:prstGeom prst="roundRect">
            <a:avLst>
              <a:gd name="adj" fmla="val 50000"/>
            </a:avLst>
          </a:prstGeom>
          <a:solidFill>
            <a:srgbClr val="5B4FA8"/>
          </a:solidFill>
          <a:ln w="12700">
            <a:solidFill>
              <a:srgbClr val="5B4FA8"/>
            </a:solidFill>
            <a:prstDash val="solid"/>
          </a:ln>
        </p:spPr>
      </p:sp>
      <p:sp>
        <p:nvSpPr>
          <p:cNvPr id="85" name="Text 75"/>
          <p:cNvSpPr txBox="1"/>
          <p:nvPr/>
        </p:nvSpPr>
        <p:spPr>
          <a:xfrm>
            <a:off x="13080492" y="3867912"/>
            <a:ext cx="800100" cy="23774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Next wave</a:t>
            </a:r>
            <a:endParaRPr lang="en-US" sz="900" dirty="0"/>
          </a:p>
        </p:txBody>
      </p:sp>
      <p:sp>
        <p:nvSpPr>
          <p:cNvPr id="86" name="Text 76"/>
          <p:cNvSpPr txBox="1"/>
          <p:nvPr/>
        </p:nvSpPr>
        <p:spPr>
          <a:xfrm>
            <a:off x="10981944" y="4489704"/>
            <a:ext cx="292608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Access &amp; Workflow Review</a:t>
            </a:r>
            <a:endParaRPr lang="en-US" sz="1300" dirty="0"/>
          </a:p>
        </p:txBody>
      </p:sp>
      <p:sp>
        <p:nvSpPr>
          <p:cNvPr id="87" name="Text 77"/>
          <p:cNvSpPr txBox="1"/>
          <p:nvPr/>
        </p:nvSpPr>
        <p:spPr>
          <a:xfrm>
            <a:off x="10981944" y="4764024"/>
            <a:ext cx="2926080" cy="41148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Pre-reviews access, flags SoD conflicts and stale entitlements</a:t>
            </a:r>
            <a:endParaRPr lang="en-US" sz="950" dirty="0"/>
          </a:p>
        </p:txBody>
      </p:sp>
      <p:sp>
        <p:nvSpPr>
          <p:cNvPr id="88" name="Text 78"/>
          <p:cNvSpPr txBox="1"/>
          <p:nvPr/>
        </p:nvSpPr>
        <p:spPr>
          <a:xfrm>
            <a:off x="10981944" y="5202936"/>
            <a:ext cx="2926080" cy="411480"/>
          </a:xfrm>
          <a:prstGeom prst="rect">
            <a:avLst/>
          </a:prstGeom>
          <a:noFill/>
          <a:ln/>
        </p:spPr>
        <p:txBody>
          <a:bodyPr wrap="square" lIns="0" tIns="0" rIns="0" bIns="0" rtlCol="0" anchor="t"/>
          <a:lstStyle/>
          <a:p>
            <a:pPr indent="0" marL="0">
              <a:buNone/>
            </a:pPr>
            <a:r>
              <a:rPr lang="en-US" sz="900" b="1" dirty="0">
                <a:solidFill>
                  <a:srgbClr val="1F2D3D"/>
                </a:solidFill>
                <a:latin typeface="Calibri" pitchFamily="34" charset="0"/>
                <a:ea typeface="Calibri" pitchFamily="34" charset="-122"/>
                <a:cs typeface="Calibri" pitchFamily="34" charset="-120"/>
              </a:rPr>
              <a:t>Area: </a:t>
            </a:r>
            <a:pPr indent="0" marL="0">
              <a:buNone/>
            </a:pPr>
            <a:r>
              <a:rPr lang="en-US" sz="900" dirty="0">
                <a:solidFill>
                  <a:srgbClr val="4A5A6E"/>
                </a:solidFill>
                <a:latin typeface="Calibri" pitchFamily="34" charset="0"/>
                <a:ea typeface="Calibri" pitchFamily="34" charset="-122"/>
                <a:cs typeface="Calibri" pitchFamily="34" charset="-120"/>
              </a:rPr>
              <a:t>Entitlements &amp; Workflow</a:t>
            </a:r>
            <a:endParaRPr lang="en-US" sz="900" dirty="0"/>
          </a:p>
          <a:p>
            <a:pPr indent="0" marL="0">
              <a:buNone/>
            </a:pPr>
            <a:r>
              <a:rPr lang="en-US" sz="900" b="1" dirty="0">
                <a:solidFill>
                  <a:srgbClr val="1F2D3D"/>
                </a:solidFill>
                <a:latin typeface="Calibri" pitchFamily="34" charset="0"/>
                <a:ea typeface="Calibri" pitchFamily="34" charset="-122"/>
                <a:cs typeface="Calibri" pitchFamily="34" charset="-120"/>
              </a:rPr>
              <a:t>Decision: </a:t>
            </a:r>
            <a:pPr indent="0" marL="0">
              <a:buNone/>
            </a:pPr>
            <a:r>
              <a:rPr lang="en-US" sz="900" dirty="0">
                <a:solidFill>
                  <a:srgbClr val="4A5A6E"/>
                </a:solidFill>
                <a:latin typeface="Calibri" pitchFamily="34" charset="0"/>
                <a:ea typeface="Calibri" pitchFamily="34" charset="-122"/>
                <a:cs typeface="Calibri" pitchFamily="34" charset="-120"/>
              </a:rPr>
              <a:t>Approver certifies or revokes</a:t>
            </a:r>
            <a:endParaRPr lang="en-US" sz="900" dirty="0"/>
          </a:p>
        </p:txBody>
      </p:sp>
      <p:sp>
        <p:nvSpPr>
          <p:cNvPr id="89" name="Shape 79"/>
          <p:cNvSpPr/>
          <p:nvPr/>
        </p:nvSpPr>
        <p:spPr>
          <a:xfrm>
            <a:off x="502920" y="5897880"/>
            <a:ext cx="13624560" cy="1783080"/>
          </a:xfrm>
          <a:prstGeom prst="roundRect">
            <a:avLst>
              <a:gd name="adj" fmla="val 3077"/>
            </a:avLst>
          </a:prstGeom>
          <a:solidFill>
            <a:srgbClr val="F3F1FB"/>
          </a:solidFill>
          <a:ln w="12700">
            <a:solidFill>
              <a:srgbClr val="5B4FA8"/>
            </a:solidFill>
            <a:prstDash val="dash"/>
          </a:ln>
        </p:spPr>
      </p:sp>
      <p:sp>
        <p:nvSpPr>
          <p:cNvPr id="90" name="Text 80"/>
          <p:cNvSpPr txBox="1"/>
          <p:nvPr/>
        </p:nvSpPr>
        <p:spPr>
          <a:xfrm>
            <a:off x="640080" y="5971032"/>
            <a:ext cx="9144000" cy="201168"/>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SHARED AGENT PLATFORM (REUSED BY EVERY USE CASE)</a:t>
            </a:r>
            <a:endParaRPr lang="en-US" sz="900" dirty="0"/>
          </a:p>
        </p:txBody>
      </p:sp>
      <p:sp>
        <p:nvSpPr>
          <p:cNvPr id="91" name="Shape 81"/>
          <p:cNvSpPr/>
          <p:nvPr/>
        </p:nvSpPr>
        <p:spPr>
          <a:xfrm>
            <a:off x="640080" y="6309360"/>
            <a:ext cx="2103120" cy="1234440"/>
          </a:xfrm>
          <a:prstGeom prst="roundRect">
            <a:avLst>
              <a:gd name="adj" fmla="val 5926"/>
            </a:avLst>
          </a:prstGeom>
          <a:solidFill>
            <a:srgbClr val="FFFFFF"/>
          </a:solidFill>
          <a:ln w="9525">
            <a:solidFill>
              <a:srgbClr val="C8D8EC"/>
            </a:solidFill>
            <a:prstDash val="solid"/>
          </a:ln>
        </p:spPr>
      </p:sp>
      <p:sp>
        <p:nvSpPr>
          <p:cNvPr id="92" name="Shape 82"/>
          <p:cNvSpPr/>
          <p:nvPr/>
        </p:nvSpPr>
        <p:spPr>
          <a:xfrm>
            <a:off x="1426464" y="6400800"/>
            <a:ext cx="502920" cy="502920"/>
          </a:xfrm>
          <a:prstGeom prst="roundRect">
            <a:avLst>
              <a:gd name="adj" fmla="val 18182"/>
            </a:avLst>
          </a:prstGeom>
          <a:solidFill>
            <a:srgbClr val="2A6EBB"/>
          </a:solidFill>
          <a:ln w="12700">
            <a:solidFill>
              <a:srgbClr val="2A6EBB"/>
            </a:solidFill>
            <a:prstDash val="solid"/>
          </a:ln>
        </p:spPr>
      </p:sp>
      <p:pic>
        <p:nvPicPr>
          <p:cNvPr id="93" name="Image 8" descr="preencoded.png">    </p:cNvPr>
          <p:cNvPicPr>
            <a:picLocks noChangeAspect="1"/>
          </p:cNvPicPr>
          <p:nvPr/>
        </p:nvPicPr>
        <p:blipFill>
          <a:blip r:embed="rId9"/>
          <a:stretch>
            <a:fillRect/>
          </a:stretch>
        </p:blipFill>
        <p:spPr>
          <a:xfrm>
            <a:off x="1537106" y="6511442"/>
            <a:ext cx="281635" cy="281635"/>
          </a:xfrm>
          <a:prstGeom prst="rect">
            <a:avLst/>
          </a:prstGeom>
        </p:spPr>
      </p:pic>
      <p:sp>
        <p:nvSpPr>
          <p:cNvPr id="94" name="Text 83"/>
          <p:cNvSpPr txBox="1"/>
          <p:nvPr/>
        </p:nvSpPr>
        <p:spPr>
          <a:xfrm>
            <a:off x="685800"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One Fin UX</a:t>
            </a:r>
            <a:endParaRPr lang="en-US" sz="1150" dirty="0"/>
          </a:p>
        </p:txBody>
      </p:sp>
      <p:sp>
        <p:nvSpPr>
          <p:cNvPr id="95" name="Text 84"/>
          <p:cNvSpPr txBox="1"/>
          <p:nvPr/>
        </p:nvSpPr>
        <p:spPr>
          <a:xfrm>
            <a:off x="731520"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Events and readiness per workspace</a:t>
            </a:r>
            <a:endParaRPr lang="en-US" sz="900" dirty="0"/>
          </a:p>
        </p:txBody>
      </p:sp>
      <p:sp>
        <p:nvSpPr>
          <p:cNvPr id="96" name="Shape 85"/>
          <p:cNvSpPr/>
          <p:nvPr/>
        </p:nvSpPr>
        <p:spPr>
          <a:xfrm>
            <a:off x="2889504" y="6309360"/>
            <a:ext cx="2103120" cy="1234440"/>
          </a:xfrm>
          <a:prstGeom prst="roundRect">
            <a:avLst>
              <a:gd name="adj" fmla="val 5926"/>
            </a:avLst>
          </a:prstGeom>
          <a:solidFill>
            <a:srgbClr val="FFFFFF"/>
          </a:solidFill>
          <a:ln w="9525">
            <a:solidFill>
              <a:srgbClr val="C8D8EC"/>
            </a:solidFill>
            <a:prstDash val="solid"/>
          </a:ln>
        </p:spPr>
      </p:sp>
      <p:sp>
        <p:nvSpPr>
          <p:cNvPr id="97" name="Shape 86"/>
          <p:cNvSpPr/>
          <p:nvPr/>
        </p:nvSpPr>
        <p:spPr>
          <a:xfrm>
            <a:off x="3675888" y="6400800"/>
            <a:ext cx="502920" cy="502920"/>
          </a:xfrm>
          <a:prstGeom prst="roundRect">
            <a:avLst>
              <a:gd name="adj" fmla="val 18182"/>
            </a:avLst>
          </a:prstGeom>
          <a:solidFill>
            <a:srgbClr val="1E8A5A"/>
          </a:solidFill>
          <a:ln w="12700">
            <a:solidFill>
              <a:srgbClr val="1E8A5A"/>
            </a:solidFill>
            <a:prstDash val="solid"/>
          </a:ln>
        </p:spPr>
      </p:sp>
      <p:pic>
        <p:nvPicPr>
          <p:cNvPr id="98" name="Image 9" descr="preencoded.png">    </p:cNvPr>
          <p:cNvPicPr>
            <a:picLocks noChangeAspect="1"/>
          </p:cNvPicPr>
          <p:nvPr/>
        </p:nvPicPr>
        <p:blipFill>
          <a:blip r:embed="rId10"/>
          <a:stretch>
            <a:fillRect/>
          </a:stretch>
        </p:blipFill>
        <p:spPr>
          <a:xfrm>
            <a:off x="3786530" y="6511442"/>
            <a:ext cx="281635" cy="281635"/>
          </a:xfrm>
          <a:prstGeom prst="rect">
            <a:avLst/>
          </a:prstGeom>
        </p:spPr>
      </p:pic>
      <p:sp>
        <p:nvSpPr>
          <p:cNvPr id="99" name="Text 87"/>
          <p:cNvSpPr txBox="1"/>
          <p:nvPr/>
        </p:nvSpPr>
        <p:spPr>
          <a:xfrm>
            <a:off x="2935224"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Orchestration</a:t>
            </a:r>
            <a:endParaRPr lang="en-US" sz="1150" dirty="0"/>
          </a:p>
        </p:txBody>
      </p:sp>
      <p:sp>
        <p:nvSpPr>
          <p:cNvPr id="100" name="Text 88"/>
          <p:cNvSpPr txBox="1"/>
          <p:nvPr/>
        </p:nvSpPr>
        <p:spPr>
          <a:xfrm>
            <a:off x="2980944"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LangGraph workflows, HITL pauses</a:t>
            </a:r>
            <a:endParaRPr lang="en-US" sz="900" dirty="0"/>
          </a:p>
        </p:txBody>
      </p:sp>
      <p:sp>
        <p:nvSpPr>
          <p:cNvPr id="101" name="Shape 89"/>
          <p:cNvSpPr/>
          <p:nvPr/>
        </p:nvSpPr>
        <p:spPr>
          <a:xfrm>
            <a:off x="5138928" y="6309360"/>
            <a:ext cx="2103120" cy="1234440"/>
          </a:xfrm>
          <a:prstGeom prst="roundRect">
            <a:avLst>
              <a:gd name="adj" fmla="val 5926"/>
            </a:avLst>
          </a:prstGeom>
          <a:solidFill>
            <a:srgbClr val="FFFFFF"/>
          </a:solidFill>
          <a:ln w="9525">
            <a:solidFill>
              <a:srgbClr val="C8D8EC"/>
            </a:solidFill>
            <a:prstDash val="solid"/>
          </a:ln>
        </p:spPr>
      </p:sp>
      <p:sp>
        <p:nvSpPr>
          <p:cNvPr id="102" name="Shape 90"/>
          <p:cNvSpPr/>
          <p:nvPr/>
        </p:nvSpPr>
        <p:spPr>
          <a:xfrm>
            <a:off x="5925312" y="6400800"/>
            <a:ext cx="502920" cy="502920"/>
          </a:xfrm>
          <a:prstGeom prst="roundRect">
            <a:avLst>
              <a:gd name="adj" fmla="val 18182"/>
            </a:avLst>
          </a:prstGeom>
          <a:solidFill>
            <a:srgbClr val="5B4FA8"/>
          </a:solidFill>
          <a:ln w="12700">
            <a:solidFill>
              <a:srgbClr val="5B4FA8"/>
            </a:solidFill>
            <a:prstDash val="solid"/>
          </a:ln>
        </p:spPr>
      </p:sp>
      <p:pic>
        <p:nvPicPr>
          <p:cNvPr id="103" name="Image 10" descr="preencoded.png">    </p:cNvPr>
          <p:cNvPicPr>
            <a:picLocks noChangeAspect="1"/>
          </p:cNvPicPr>
          <p:nvPr/>
        </p:nvPicPr>
        <p:blipFill>
          <a:blip r:embed="rId11"/>
          <a:stretch>
            <a:fillRect/>
          </a:stretch>
        </p:blipFill>
        <p:spPr>
          <a:xfrm>
            <a:off x="6035954" y="6511442"/>
            <a:ext cx="281635" cy="281635"/>
          </a:xfrm>
          <a:prstGeom prst="rect">
            <a:avLst/>
          </a:prstGeom>
        </p:spPr>
      </p:pic>
      <p:sp>
        <p:nvSpPr>
          <p:cNvPr id="104" name="Text 91"/>
          <p:cNvSpPr txBox="1"/>
          <p:nvPr/>
        </p:nvSpPr>
        <p:spPr>
          <a:xfrm>
            <a:off x="5184648"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Agent One</a:t>
            </a:r>
            <a:endParaRPr lang="en-US" sz="1150" dirty="0"/>
          </a:p>
        </p:txBody>
      </p:sp>
      <p:sp>
        <p:nvSpPr>
          <p:cNvPr id="105" name="Text 92"/>
          <p:cNvSpPr txBox="1"/>
          <p:nvPr/>
        </p:nvSpPr>
        <p:spPr>
          <a:xfrm>
            <a:off x="5230368"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Skills, playbooks, sessions</a:t>
            </a:r>
            <a:endParaRPr lang="en-US" sz="900" dirty="0"/>
          </a:p>
        </p:txBody>
      </p:sp>
      <p:sp>
        <p:nvSpPr>
          <p:cNvPr id="106" name="Shape 93"/>
          <p:cNvSpPr/>
          <p:nvPr/>
        </p:nvSpPr>
        <p:spPr>
          <a:xfrm>
            <a:off x="7388352" y="6309360"/>
            <a:ext cx="2103120" cy="1234440"/>
          </a:xfrm>
          <a:prstGeom prst="roundRect">
            <a:avLst>
              <a:gd name="adj" fmla="val 5926"/>
            </a:avLst>
          </a:prstGeom>
          <a:solidFill>
            <a:srgbClr val="FFFFFF"/>
          </a:solidFill>
          <a:ln w="9525">
            <a:solidFill>
              <a:srgbClr val="C8D8EC"/>
            </a:solidFill>
            <a:prstDash val="solid"/>
          </a:ln>
        </p:spPr>
      </p:sp>
      <p:sp>
        <p:nvSpPr>
          <p:cNvPr id="107" name="Shape 94"/>
          <p:cNvSpPr/>
          <p:nvPr/>
        </p:nvSpPr>
        <p:spPr>
          <a:xfrm>
            <a:off x="8174736" y="6400800"/>
            <a:ext cx="502920" cy="502920"/>
          </a:xfrm>
          <a:prstGeom prst="roundRect">
            <a:avLst>
              <a:gd name="adj" fmla="val 18182"/>
            </a:avLst>
          </a:prstGeom>
          <a:solidFill>
            <a:srgbClr val="C0392B"/>
          </a:solidFill>
          <a:ln w="12700">
            <a:solidFill>
              <a:srgbClr val="C0392B"/>
            </a:solidFill>
            <a:prstDash val="solid"/>
          </a:ln>
        </p:spPr>
      </p:sp>
      <p:pic>
        <p:nvPicPr>
          <p:cNvPr id="108" name="Image 11" descr="preencoded.png">    </p:cNvPr>
          <p:cNvPicPr>
            <a:picLocks noChangeAspect="1"/>
          </p:cNvPicPr>
          <p:nvPr/>
        </p:nvPicPr>
        <p:blipFill>
          <a:blip r:embed="rId12"/>
          <a:stretch>
            <a:fillRect/>
          </a:stretch>
        </p:blipFill>
        <p:spPr>
          <a:xfrm>
            <a:off x="8285378" y="6511442"/>
            <a:ext cx="281635" cy="281635"/>
          </a:xfrm>
          <a:prstGeom prst="rect">
            <a:avLst/>
          </a:prstGeom>
        </p:spPr>
      </p:pic>
      <p:sp>
        <p:nvSpPr>
          <p:cNvPr id="109" name="Text 95"/>
          <p:cNvSpPr txBox="1"/>
          <p:nvPr/>
        </p:nvSpPr>
        <p:spPr>
          <a:xfrm>
            <a:off x="7434072"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MCP Tools</a:t>
            </a:r>
            <a:endParaRPr lang="en-US" sz="1150" dirty="0"/>
          </a:p>
        </p:txBody>
      </p:sp>
      <p:sp>
        <p:nvSpPr>
          <p:cNvPr id="110" name="Text 96"/>
          <p:cNvSpPr txBox="1"/>
          <p:nvPr/>
        </p:nvSpPr>
        <p:spPr>
          <a:xfrm>
            <a:off x="7479792"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Entitled data fetch and instructions</a:t>
            </a:r>
            <a:endParaRPr lang="en-US" sz="900" dirty="0"/>
          </a:p>
        </p:txBody>
      </p:sp>
      <p:sp>
        <p:nvSpPr>
          <p:cNvPr id="111" name="Shape 97"/>
          <p:cNvSpPr/>
          <p:nvPr/>
        </p:nvSpPr>
        <p:spPr>
          <a:xfrm>
            <a:off x="9637776" y="6309360"/>
            <a:ext cx="2103120" cy="1234440"/>
          </a:xfrm>
          <a:prstGeom prst="roundRect">
            <a:avLst>
              <a:gd name="adj" fmla="val 5926"/>
            </a:avLst>
          </a:prstGeom>
          <a:solidFill>
            <a:srgbClr val="FFFFFF"/>
          </a:solidFill>
          <a:ln w="9525">
            <a:solidFill>
              <a:srgbClr val="C8D8EC"/>
            </a:solidFill>
            <a:prstDash val="solid"/>
          </a:ln>
        </p:spPr>
      </p:sp>
      <p:sp>
        <p:nvSpPr>
          <p:cNvPr id="112" name="Shape 98"/>
          <p:cNvSpPr/>
          <p:nvPr/>
        </p:nvSpPr>
        <p:spPr>
          <a:xfrm>
            <a:off x="10424160" y="6400800"/>
            <a:ext cx="502920" cy="502920"/>
          </a:xfrm>
          <a:prstGeom prst="roundRect">
            <a:avLst>
              <a:gd name="adj" fmla="val 18182"/>
            </a:avLst>
          </a:prstGeom>
          <a:solidFill>
            <a:srgbClr val="1F4E8C"/>
          </a:solidFill>
          <a:ln w="12700">
            <a:solidFill>
              <a:srgbClr val="1F4E8C"/>
            </a:solidFill>
            <a:prstDash val="solid"/>
          </a:ln>
        </p:spPr>
      </p:sp>
      <p:pic>
        <p:nvPicPr>
          <p:cNvPr id="113" name="Image 12" descr="preencoded.png">    </p:cNvPr>
          <p:cNvPicPr>
            <a:picLocks noChangeAspect="1"/>
          </p:cNvPicPr>
          <p:nvPr/>
        </p:nvPicPr>
        <p:blipFill>
          <a:blip r:embed="rId13"/>
          <a:stretch>
            <a:fillRect/>
          </a:stretch>
        </p:blipFill>
        <p:spPr>
          <a:xfrm>
            <a:off x="10534802" y="6511442"/>
            <a:ext cx="281635" cy="281635"/>
          </a:xfrm>
          <a:prstGeom prst="rect">
            <a:avLst/>
          </a:prstGeom>
        </p:spPr>
      </p:pic>
      <p:sp>
        <p:nvSpPr>
          <p:cNvPr id="114" name="Text 99"/>
          <p:cNvSpPr txBox="1"/>
          <p:nvPr/>
        </p:nvSpPr>
        <p:spPr>
          <a:xfrm>
            <a:off x="9683496"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Knowledge Graph</a:t>
            </a:r>
            <a:endParaRPr lang="en-US" sz="1150" dirty="0"/>
          </a:p>
        </p:txBody>
      </p:sp>
      <p:sp>
        <p:nvSpPr>
          <p:cNvPr id="115" name="Text 100"/>
          <p:cNvSpPr txBox="1"/>
          <p:nvPr/>
        </p:nvSpPr>
        <p:spPr>
          <a:xfrm>
            <a:off x="9729216"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Books, ledgers, rules, history</a:t>
            </a:r>
            <a:endParaRPr lang="en-US" sz="900" dirty="0"/>
          </a:p>
        </p:txBody>
      </p:sp>
      <p:sp>
        <p:nvSpPr>
          <p:cNvPr id="116" name="Shape 101"/>
          <p:cNvSpPr/>
          <p:nvPr/>
        </p:nvSpPr>
        <p:spPr>
          <a:xfrm>
            <a:off x="11887200" y="6309360"/>
            <a:ext cx="2103120" cy="1234440"/>
          </a:xfrm>
          <a:prstGeom prst="roundRect">
            <a:avLst>
              <a:gd name="adj" fmla="val 5926"/>
            </a:avLst>
          </a:prstGeom>
          <a:solidFill>
            <a:srgbClr val="FFFFFF"/>
          </a:solidFill>
          <a:ln w="9525">
            <a:solidFill>
              <a:srgbClr val="C8D8EC"/>
            </a:solidFill>
            <a:prstDash val="solid"/>
          </a:ln>
        </p:spPr>
      </p:sp>
      <p:sp>
        <p:nvSpPr>
          <p:cNvPr id="117" name="Shape 102"/>
          <p:cNvSpPr/>
          <p:nvPr/>
        </p:nvSpPr>
        <p:spPr>
          <a:xfrm>
            <a:off x="12673584" y="6400800"/>
            <a:ext cx="502920" cy="502920"/>
          </a:xfrm>
          <a:prstGeom prst="roundRect">
            <a:avLst>
              <a:gd name="adj" fmla="val 18182"/>
            </a:avLst>
          </a:prstGeom>
          <a:solidFill>
            <a:srgbClr val="0B2E5E"/>
          </a:solidFill>
          <a:ln w="12700">
            <a:solidFill>
              <a:srgbClr val="0B2E5E"/>
            </a:solidFill>
            <a:prstDash val="solid"/>
          </a:ln>
        </p:spPr>
      </p:sp>
      <p:pic>
        <p:nvPicPr>
          <p:cNvPr id="118" name="Image 13" descr="preencoded.png">    </p:cNvPr>
          <p:cNvPicPr>
            <a:picLocks noChangeAspect="1"/>
          </p:cNvPicPr>
          <p:nvPr/>
        </p:nvPicPr>
        <p:blipFill>
          <a:blip r:embed="rId14"/>
          <a:stretch>
            <a:fillRect/>
          </a:stretch>
        </p:blipFill>
        <p:spPr>
          <a:xfrm>
            <a:off x="12784226" y="6511442"/>
            <a:ext cx="281635" cy="281635"/>
          </a:xfrm>
          <a:prstGeom prst="rect">
            <a:avLst/>
          </a:prstGeom>
        </p:spPr>
      </p:pic>
      <p:sp>
        <p:nvSpPr>
          <p:cNvPr id="119" name="Text 103"/>
          <p:cNvSpPr txBox="1"/>
          <p:nvPr/>
        </p:nvSpPr>
        <p:spPr>
          <a:xfrm>
            <a:off x="11932920" y="6949440"/>
            <a:ext cx="2011680" cy="228600"/>
          </a:xfrm>
          <a:prstGeom prst="rect">
            <a:avLst/>
          </a:prstGeom>
          <a:noFill/>
          <a:ln/>
        </p:spPr>
        <p:txBody>
          <a:bodyPr wrap="square" lIns="0" tIns="0" rIns="0" bIns="0" rtlCol="0" anchor="ctr"/>
          <a:lstStyle/>
          <a:p>
            <a:pPr algn="ctr" indent="0" marL="0">
              <a:buNone/>
            </a:pPr>
            <a:r>
              <a:rPr lang="en-US" sz="1150" b="1" dirty="0">
                <a:solidFill>
                  <a:srgbClr val="1F2D3D"/>
                </a:solidFill>
                <a:latin typeface="Calibri" pitchFamily="34" charset="0"/>
                <a:ea typeface="Calibri" pitchFamily="34" charset="-122"/>
                <a:cs typeface="Calibri" pitchFamily="34" charset="-120"/>
              </a:rPr>
              <a:t>Phoenix Eyes</a:t>
            </a:r>
            <a:endParaRPr lang="en-US" sz="1150" dirty="0"/>
          </a:p>
        </p:txBody>
      </p:sp>
      <p:sp>
        <p:nvSpPr>
          <p:cNvPr id="120" name="Text 104"/>
          <p:cNvSpPr txBox="1"/>
          <p:nvPr/>
        </p:nvSpPr>
        <p:spPr>
          <a:xfrm>
            <a:off x="11978640" y="7187184"/>
            <a:ext cx="1920240" cy="292608"/>
          </a:xfrm>
          <a:prstGeom prst="rect">
            <a:avLst/>
          </a:prstGeom>
          <a:noFill/>
          <a:ln/>
        </p:spPr>
        <p:txBody>
          <a:bodyPr wrap="square" lIns="0" tIns="0" rIns="0" bIns="0" rtlCol="0" anchor="ctr"/>
          <a:lstStyle/>
          <a:p>
            <a:pPr algn="ctr" indent="0" marL="0">
              <a:buNone/>
            </a:pPr>
            <a:r>
              <a:rPr lang="en-US" sz="900" dirty="0">
                <a:solidFill>
                  <a:srgbClr val="4A5A6E"/>
                </a:solidFill>
                <a:latin typeface="Calibri" pitchFamily="34" charset="0"/>
                <a:ea typeface="Calibri" pitchFamily="34" charset="-122"/>
                <a:cs typeface="Calibri" pitchFamily="34" charset="-120"/>
              </a:rPr>
              <a:t>Traces, evals, LLM health</a:t>
            </a:r>
            <a:endParaRPr lang="en-US" sz="900" dirty="0"/>
          </a:p>
        </p:txBody>
      </p:sp>
      <p:sp>
        <p:nvSpPr>
          <p:cNvPr id="121" name="Text 105"/>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22" name="Shape 106"/>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23" name="Shape 107"/>
          <p:cNvSpPr/>
          <p:nvPr/>
        </p:nvSpPr>
        <p:spPr>
          <a:xfrm>
            <a:off x="667512" y="8321040"/>
            <a:ext cx="512064" cy="512064"/>
          </a:xfrm>
          <a:prstGeom prst="ellipse">
            <a:avLst/>
          </a:prstGeom>
          <a:solidFill>
            <a:srgbClr val="1E8A5A"/>
          </a:solidFill>
          <a:ln w="12700">
            <a:solidFill>
              <a:srgbClr val="1E8A5A"/>
            </a:solidFill>
            <a:prstDash val="solid"/>
          </a:ln>
        </p:spPr>
      </p:sp>
      <p:pic>
        <p:nvPicPr>
          <p:cNvPr id="124" name="Image 14" descr="preencoded.png">    </p:cNvPr>
          <p:cNvPicPr>
            <a:picLocks noChangeAspect="1"/>
          </p:cNvPicPr>
          <p:nvPr/>
        </p:nvPicPr>
        <p:blipFill>
          <a:blip r:embed="rId15"/>
          <a:stretch>
            <a:fillRect/>
          </a:stretch>
        </p:blipFill>
        <p:spPr>
          <a:xfrm>
            <a:off x="800649" y="8454177"/>
            <a:ext cx="245791" cy="245791"/>
          </a:xfrm>
          <a:prstGeom prst="rect">
            <a:avLst/>
          </a:prstGeom>
        </p:spPr>
      </p:pic>
      <p:sp>
        <p:nvSpPr>
          <p:cNvPr id="125" name="Text 108"/>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Work ready before the day starts</a:t>
            </a:r>
            <a:endParaRPr lang="en-US" sz="1200" dirty="0"/>
          </a:p>
        </p:txBody>
      </p:sp>
      <p:sp>
        <p:nvSpPr>
          <p:cNvPr id="126" name="Text 109"/>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Agents run when data is ready, not when people arrive</a:t>
            </a:r>
            <a:endParaRPr lang="en-US" sz="950" dirty="0"/>
          </a:p>
        </p:txBody>
      </p:sp>
      <p:sp>
        <p:nvSpPr>
          <p:cNvPr id="127" name="Shape 110"/>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28" name="Shape 111"/>
          <p:cNvSpPr/>
          <p:nvPr/>
        </p:nvSpPr>
        <p:spPr>
          <a:xfrm>
            <a:off x="4105656" y="8321040"/>
            <a:ext cx="512064" cy="512064"/>
          </a:xfrm>
          <a:prstGeom prst="ellipse">
            <a:avLst/>
          </a:prstGeom>
          <a:solidFill>
            <a:srgbClr val="2A6EBB"/>
          </a:solidFill>
          <a:ln w="12700">
            <a:solidFill>
              <a:srgbClr val="2A6EBB"/>
            </a:solidFill>
            <a:prstDash val="solid"/>
          </a:ln>
        </p:spPr>
      </p:sp>
      <p:pic>
        <p:nvPicPr>
          <p:cNvPr id="129" name="Image 15" descr="preencoded.png">    </p:cNvPr>
          <p:cNvPicPr>
            <a:picLocks noChangeAspect="1"/>
          </p:cNvPicPr>
          <p:nvPr/>
        </p:nvPicPr>
        <p:blipFill>
          <a:blip r:embed="rId16"/>
          <a:stretch>
            <a:fillRect/>
          </a:stretch>
        </p:blipFill>
        <p:spPr>
          <a:xfrm>
            <a:off x="4238793" y="8454177"/>
            <a:ext cx="245791" cy="245791"/>
          </a:xfrm>
          <a:prstGeom prst="rect">
            <a:avLst/>
          </a:prstGeom>
        </p:spPr>
      </p:pic>
      <p:sp>
        <p:nvSpPr>
          <p:cNvPr id="130" name="Text 112"/>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31" name="Text 113"/>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adjustment, sign-off or correction approved by a named owner</a:t>
            </a:r>
            <a:endParaRPr lang="en-US" sz="950" dirty="0"/>
          </a:p>
        </p:txBody>
      </p:sp>
      <p:sp>
        <p:nvSpPr>
          <p:cNvPr id="132" name="Shape 114"/>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33" name="Shape 115"/>
          <p:cNvSpPr/>
          <p:nvPr/>
        </p:nvSpPr>
        <p:spPr>
          <a:xfrm>
            <a:off x="7543800" y="8321040"/>
            <a:ext cx="512064" cy="512064"/>
          </a:xfrm>
          <a:prstGeom prst="ellipse">
            <a:avLst/>
          </a:prstGeom>
          <a:solidFill>
            <a:srgbClr val="5B4FA8"/>
          </a:solidFill>
          <a:ln w="12700">
            <a:solidFill>
              <a:srgbClr val="5B4FA8"/>
            </a:solidFill>
            <a:prstDash val="solid"/>
          </a:ln>
        </p:spPr>
      </p:sp>
      <p:pic>
        <p:nvPicPr>
          <p:cNvPr id="134" name="Image 16" descr="preencoded.png">    </p:cNvPr>
          <p:cNvPicPr>
            <a:picLocks noChangeAspect="1"/>
          </p:cNvPicPr>
          <p:nvPr/>
        </p:nvPicPr>
        <p:blipFill>
          <a:blip r:embed="rId17"/>
          <a:stretch>
            <a:fillRect/>
          </a:stretch>
        </p:blipFill>
        <p:spPr>
          <a:xfrm>
            <a:off x="7676937" y="8454177"/>
            <a:ext cx="245791" cy="245791"/>
          </a:xfrm>
          <a:prstGeom prst="rect">
            <a:avLst/>
          </a:prstGeom>
        </p:spPr>
      </p:pic>
      <p:sp>
        <p:nvSpPr>
          <p:cNvPr id="135" name="Text 116"/>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One control model</a:t>
            </a:r>
            <a:endParaRPr lang="en-US" sz="1200" dirty="0"/>
          </a:p>
        </p:txBody>
      </p:sp>
      <p:sp>
        <p:nvSpPr>
          <p:cNvPr id="136" name="Text 117"/>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Same audit, observability and eval gates for every use case</a:t>
            </a:r>
            <a:endParaRPr lang="en-US" sz="950" dirty="0"/>
          </a:p>
        </p:txBody>
      </p:sp>
      <p:sp>
        <p:nvSpPr>
          <p:cNvPr id="137" name="Shape 118"/>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38" name="Shape 119"/>
          <p:cNvSpPr/>
          <p:nvPr/>
        </p:nvSpPr>
        <p:spPr>
          <a:xfrm>
            <a:off x="10981944" y="8321040"/>
            <a:ext cx="512064" cy="512064"/>
          </a:xfrm>
          <a:prstGeom prst="ellipse">
            <a:avLst/>
          </a:prstGeom>
          <a:solidFill>
            <a:srgbClr val="1F4E8C"/>
          </a:solidFill>
          <a:ln w="12700">
            <a:solidFill>
              <a:srgbClr val="1F4E8C"/>
            </a:solidFill>
            <a:prstDash val="solid"/>
          </a:ln>
        </p:spPr>
      </p:sp>
      <p:pic>
        <p:nvPicPr>
          <p:cNvPr id="139" name="Image 17" descr="preencoded.png">    </p:cNvPr>
          <p:cNvPicPr>
            <a:picLocks noChangeAspect="1"/>
          </p:cNvPicPr>
          <p:nvPr/>
        </p:nvPicPr>
        <p:blipFill>
          <a:blip r:embed="rId18"/>
          <a:stretch>
            <a:fillRect/>
          </a:stretch>
        </p:blipFill>
        <p:spPr>
          <a:xfrm>
            <a:off x="11115081" y="8454177"/>
            <a:ext cx="245791" cy="245791"/>
          </a:xfrm>
          <a:prstGeom prst="rect">
            <a:avLst/>
          </a:prstGeom>
        </p:spPr>
      </p:pic>
      <p:sp>
        <p:nvSpPr>
          <p:cNvPr id="140" name="Text 120"/>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configuration</a:t>
            </a:r>
            <a:endParaRPr lang="en-US" sz="1200" dirty="0"/>
          </a:p>
        </p:txBody>
      </p:sp>
      <p:sp>
        <p:nvSpPr>
          <p:cNvPr id="141" name="Text 121"/>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New areas add skills and tools, not new platforms</a:t>
            </a:r>
            <a:endParaRPr lang="en-US" sz="950" dirty="0"/>
          </a:p>
        </p:txBody>
      </p:sp>
      <p:sp>
        <p:nvSpPr>
          <p:cNvPr id="142" name="Shape 122"/>
          <p:cNvSpPr/>
          <p:nvPr/>
        </p:nvSpPr>
        <p:spPr>
          <a:xfrm>
            <a:off x="0" y="9272016"/>
            <a:ext cx="14630400" cy="484632"/>
          </a:xfrm>
          <a:prstGeom prst="rect">
            <a:avLst/>
          </a:prstGeom>
          <a:solidFill>
            <a:srgbClr val="0B2E5E"/>
          </a:solidFill>
          <a:ln w="12700">
            <a:solidFill>
              <a:srgbClr val="0B2E5E"/>
            </a:solidFill>
            <a:prstDash val="solid"/>
          </a:ln>
        </p:spPr>
      </p:sp>
      <p:sp>
        <p:nvSpPr>
          <p:cNvPr id="143" name="Text 123"/>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One platform. Every function. Human in control.</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Levels of AI Autonomy: Where We Operate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Every use case sits at Level 1 or 2. Nothing moves up without governance approval.</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3108960" y="1188720"/>
            <a:ext cx="5577840" cy="5806440"/>
          </a:xfrm>
          <a:prstGeom prst="roundRect">
            <a:avLst>
              <a:gd name="adj" fmla="val 984"/>
            </a:avLst>
          </a:prstGeom>
          <a:solidFill>
            <a:srgbClr val="E3ECF7"/>
          </a:solidFill>
          <a:ln w="19050">
            <a:solidFill>
              <a:srgbClr val="1B4F93"/>
            </a:solidFill>
            <a:prstDash val="dash"/>
          </a:ln>
        </p:spPr>
      </p:sp>
      <p:sp>
        <p:nvSpPr>
          <p:cNvPr id="8" name="Shape 6"/>
          <p:cNvSpPr/>
          <p:nvPr/>
        </p:nvSpPr>
        <p:spPr>
          <a:xfrm>
            <a:off x="4800600" y="1325880"/>
            <a:ext cx="2194560" cy="292608"/>
          </a:xfrm>
          <a:prstGeom prst="roundRect">
            <a:avLst>
              <a:gd name="adj" fmla="val 50000"/>
            </a:avLst>
          </a:prstGeom>
          <a:solidFill>
            <a:srgbClr val="1B4F93"/>
          </a:solidFill>
          <a:ln w="12700">
            <a:solidFill>
              <a:srgbClr val="1B4F93"/>
            </a:solidFill>
            <a:prstDash val="solid"/>
          </a:ln>
        </p:spPr>
      </p:sp>
      <p:sp>
        <p:nvSpPr>
          <p:cNvPr id="9" name="Text 7"/>
          <p:cNvSpPr txBox="1"/>
          <p:nvPr/>
        </p:nvSpPr>
        <p:spPr>
          <a:xfrm>
            <a:off x="4800600" y="1325880"/>
            <a:ext cx="2194560" cy="292608"/>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OUR OPERATING ZONE</a:t>
            </a:r>
            <a:endParaRPr lang="en-US" sz="1000" dirty="0"/>
          </a:p>
        </p:txBody>
      </p:sp>
      <p:sp>
        <p:nvSpPr>
          <p:cNvPr id="10" name="Shape 8"/>
          <p:cNvSpPr/>
          <p:nvPr/>
        </p:nvSpPr>
        <p:spPr>
          <a:xfrm>
            <a:off x="502920" y="3108960"/>
            <a:ext cx="2514600" cy="3749040"/>
          </a:xfrm>
          <a:prstGeom prst="roundRect">
            <a:avLst>
              <a:gd name="adj" fmla="val 2909"/>
            </a:avLst>
          </a:prstGeom>
          <a:solidFill>
            <a:srgbClr val="FFFFFF"/>
          </a:solidFill>
          <a:ln w="9525">
            <a:solidFill>
              <a:srgbClr val="C8D8EC"/>
            </a:solidFill>
            <a:prstDash val="solid"/>
          </a:ln>
        </p:spPr>
      </p:sp>
      <p:sp>
        <p:nvSpPr>
          <p:cNvPr id="11" name="Shape 9"/>
          <p:cNvSpPr/>
          <p:nvPr/>
        </p:nvSpPr>
        <p:spPr>
          <a:xfrm>
            <a:off x="685800" y="3291840"/>
            <a:ext cx="685800" cy="457200"/>
          </a:xfrm>
          <a:prstGeom prst="roundRect">
            <a:avLst>
              <a:gd name="adj" fmla="val 16000"/>
            </a:avLst>
          </a:prstGeom>
          <a:solidFill>
            <a:srgbClr val="5A6B82"/>
          </a:solidFill>
          <a:ln w="12700">
            <a:solidFill>
              <a:srgbClr val="5A6B82"/>
            </a:solidFill>
            <a:prstDash val="solid"/>
          </a:ln>
        </p:spPr>
      </p:sp>
      <p:sp>
        <p:nvSpPr>
          <p:cNvPr id="12" name="Text 10"/>
          <p:cNvSpPr txBox="1"/>
          <p:nvPr/>
        </p:nvSpPr>
        <p:spPr>
          <a:xfrm>
            <a:off x="685800" y="3291840"/>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L0</a:t>
            </a:r>
            <a:endParaRPr lang="en-US" sz="1800" dirty="0"/>
          </a:p>
        </p:txBody>
      </p:sp>
      <p:sp>
        <p:nvSpPr>
          <p:cNvPr id="13" name="Text 11"/>
          <p:cNvSpPr txBox="1"/>
          <p:nvPr/>
        </p:nvSpPr>
        <p:spPr>
          <a:xfrm>
            <a:off x="685800" y="3886200"/>
            <a:ext cx="2194560" cy="548640"/>
          </a:xfrm>
          <a:prstGeom prst="rect">
            <a:avLst/>
          </a:prstGeom>
          <a:noFill/>
          <a:ln/>
        </p:spPr>
        <p:txBody>
          <a:bodyPr wrap="square" lIns="0" tIns="0" rIns="0" bIns="0" rtlCol="0" anchor="t"/>
          <a:lstStyle/>
          <a:p>
            <a:pPr indent="0" marL="0">
              <a:buNone/>
            </a:pPr>
            <a:r>
              <a:rPr lang="en-US" sz="1500" b="1" dirty="0">
                <a:solidFill>
                  <a:srgbClr val="1F2D3D"/>
                </a:solidFill>
                <a:latin typeface="Calibri" pitchFamily="34" charset="0"/>
                <a:ea typeface="Calibri" pitchFamily="34" charset="-122"/>
                <a:cs typeface="Calibri" pitchFamily="34" charset="-120"/>
              </a:rPr>
              <a:t>Manual</a:t>
            </a:r>
            <a:endParaRPr lang="en-US" sz="1500" dirty="0"/>
          </a:p>
        </p:txBody>
      </p:sp>
      <p:sp>
        <p:nvSpPr>
          <p:cNvPr id="14" name="Text 12"/>
          <p:cNvSpPr txBox="1"/>
          <p:nvPr/>
        </p:nvSpPr>
        <p:spPr>
          <a:xfrm>
            <a:off x="685800" y="4526280"/>
            <a:ext cx="2194560" cy="868680"/>
          </a:xfrm>
          <a:prstGeom prst="rect">
            <a:avLst/>
          </a:prstGeom>
          <a:noFill/>
          <a:ln/>
        </p:spPr>
        <p:txBody>
          <a:bodyPr wrap="square" lIns="0" tIns="0" rIns="0" bIns="0" rtlCol="0" anchor="t"/>
          <a:lstStyle/>
          <a:p>
            <a:pPr indent="0" marL="0">
              <a:buNone/>
            </a:pPr>
            <a:r>
              <a:rPr lang="en-US" sz="1100" b="1" dirty="0">
                <a:solidFill>
                  <a:srgbClr val="5B4FA8"/>
                </a:solidFill>
                <a:latin typeface="Calibri" pitchFamily="34" charset="0"/>
                <a:ea typeface="Calibri" pitchFamily="34" charset="-122"/>
                <a:cs typeface="Calibri" pitchFamily="34" charset="-120"/>
              </a:rPr>
              <a:t>AI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Nothing</a:t>
            </a:r>
            <a:endParaRPr lang="en-US" sz="1100" dirty="0"/>
          </a:p>
        </p:txBody>
      </p:sp>
      <p:sp>
        <p:nvSpPr>
          <p:cNvPr id="15" name="Text 13"/>
          <p:cNvSpPr txBox="1"/>
          <p:nvPr/>
        </p:nvSpPr>
        <p:spPr>
          <a:xfrm>
            <a:off x="685800" y="5486400"/>
            <a:ext cx="2194560" cy="868680"/>
          </a:xfrm>
          <a:prstGeom prst="rect">
            <a:avLst/>
          </a:prstGeom>
          <a:noFill/>
          <a:ln/>
        </p:spPr>
        <p:txBody>
          <a:bodyPr wrap="square" lIns="0" tIns="0" rIns="0" bIns="0" rtlCol="0" anchor="t"/>
          <a:lstStyle/>
          <a:p>
            <a:pPr indent="0" marL="0">
              <a:buNone/>
            </a:pPr>
            <a:r>
              <a:rPr lang="en-US" sz="1100" b="1" dirty="0">
                <a:solidFill>
                  <a:srgbClr val="1B4F93"/>
                </a:solidFill>
                <a:latin typeface="Calibri" pitchFamily="34" charset="0"/>
                <a:ea typeface="Calibri" pitchFamily="34" charset="-122"/>
                <a:cs typeface="Calibri" pitchFamily="34" charset="-120"/>
              </a:rPr>
              <a:t>Person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Everything</a:t>
            </a:r>
            <a:endParaRPr lang="en-US" sz="1100" dirty="0"/>
          </a:p>
        </p:txBody>
      </p:sp>
      <p:sp>
        <p:nvSpPr>
          <p:cNvPr id="16" name="Shape 14"/>
          <p:cNvSpPr/>
          <p:nvPr/>
        </p:nvSpPr>
        <p:spPr>
          <a:xfrm>
            <a:off x="640080" y="6126480"/>
            <a:ext cx="2240280" cy="548640"/>
          </a:xfrm>
          <a:prstGeom prst="roundRect">
            <a:avLst>
              <a:gd name="adj" fmla="val 13333"/>
            </a:avLst>
          </a:prstGeom>
          <a:solidFill>
            <a:srgbClr val="DCE9F7"/>
          </a:solidFill>
          <a:ln w="12700">
            <a:solidFill>
              <a:srgbClr val="DCE9F7"/>
            </a:solidFill>
            <a:prstDash val="solid"/>
          </a:ln>
        </p:spPr>
      </p:sp>
      <p:sp>
        <p:nvSpPr>
          <p:cNvPr id="17" name="Text 15"/>
          <p:cNvSpPr txBox="1"/>
          <p:nvPr/>
        </p:nvSpPr>
        <p:spPr>
          <a:xfrm>
            <a:off x="685800" y="6126480"/>
            <a:ext cx="2148840" cy="548640"/>
          </a:xfrm>
          <a:prstGeom prst="rect">
            <a:avLst/>
          </a:prstGeom>
          <a:noFill/>
          <a:ln/>
        </p:spPr>
        <p:txBody>
          <a:bodyPr wrap="square" lIns="0" tIns="0" rIns="0" bIns="0" rtlCol="0" anchor="ctr"/>
          <a:lstStyle/>
          <a:p>
            <a:pPr algn="ctr" indent="0" marL="0">
              <a:buNone/>
            </a:pPr>
            <a:r>
              <a:rPr lang="en-US" sz="1050" b="1" dirty="0">
                <a:solidFill>
                  <a:srgbClr val="0B2E5E"/>
                </a:solidFill>
                <a:latin typeface="Calibri" pitchFamily="34" charset="0"/>
                <a:ea typeface="Calibri" pitchFamily="34" charset="-122"/>
                <a:cs typeface="Calibri" pitchFamily="34" charset="-120"/>
              </a:rPr>
              <a:t>Today's process and the fallback</a:t>
            </a:r>
            <a:endParaRPr lang="en-US" sz="1050" dirty="0"/>
          </a:p>
        </p:txBody>
      </p:sp>
      <p:sp>
        <p:nvSpPr>
          <p:cNvPr id="18" name="Shape 16"/>
          <p:cNvSpPr/>
          <p:nvPr/>
        </p:nvSpPr>
        <p:spPr>
          <a:xfrm>
            <a:off x="3246120" y="2834640"/>
            <a:ext cx="2514600" cy="4023360"/>
          </a:xfrm>
          <a:prstGeom prst="roundRect">
            <a:avLst>
              <a:gd name="adj" fmla="val 2909"/>
            </a:avLst>
          </a:prstGeom>
          <a:solidFill>
            <a:srgbClr val="FFFFFF"/>
          </a:solidFill>
          <a:ln w="9525">
            <a:solidFill>
              <a:srgbClr val="C8D8EC"/>
            </a:solidFill>
            <a:prstDash val="solid"/>
          </a:ln>
        </p:spPr>
      </p:sp>
      <p:sp>
        <p:nvSpPr>
          <p:cNvPr id="19" name="Shape 17"/>
          <p:cNvSpPr/>
          <p:nvPr/>
        </p:nvSpPr>
        <p:spPr>
          <a:xfrm>
            <a:off x="3429000" y="3017520"/>
            <a:ext cx="685800" cy="457200"/>
          </a:xfrm>
          <a:prstGeom prst="roundRect">
            <a:avLst>
              <a:gd name="adj" fmla="val 16000"/>
            </a:avLst>
          </a:prstGeom>
          <a:solidFill>
            <a:srgbClr val="2A6EBB"/>
          </a:solidFill>
          <a:ln w="12700">
            <a:solidFill>
              <a:srgbClr val="2A6EBB"/>
            </a:solidFill>
            <a:prstDash val="solid"/>
          </a:ln>
        </p:spPr>
      </p:sp>
      <p:sp>
        <p:nvSpPr>
          <p:cNvPr id="20" name="Text 18"/>
          <p:cNvSpPr txBox="1"/>
          <p:nvPr/>
        </p:nvSpPr>
        <p:spPr>
          <a:xfrm>
            <a:off x="3429000" y="3017520"/>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L1</a:t>
            </a:r>
            <a:endParaRPr lang="en-US" sz="1800" dirty="0"/>
          </a:p>
        </p:txBody>
      </p:sp>
      <p:sp>
        <p:nvSpPr>
          <p:cNvPr id="21" name="Text 19"/>
          <p:cNvSpPr txBox="1"/>
          <p:nvPr/>
        </p:nvSpPr>
        <p:spPr>
          <a:xfrm>
            <a:off x="3429000" y="3611880"/>
            <a:ext cx="2194560" cy="548640"/>
          </a:xfrm>
          <a:prstGeom prst="rect">
            <a:avLst/>
          </a:prstGeom>
          <a:noFill/>
          <a:ln/>
        </p:spPr>
        <p:txBody>
          <a:bodyPr wrap="square" lIns="0" tIns="0" rIns="0" bIns="0" rtlCol="0" anchor="t"/>
          <a:lstStyle/>
          <a:p>
            <a:pPr indent="0" marL="0">
              <a:buNone/>
            </a:pPr>
            <a:r>
              <a:rPr lang="en-US" sz="1500" b="1" dirty="0">
                <a:solidFill>
                  <a:srgbClr val="1F2D3D"/>
                </a:solidFill>
                <a:latin typeface="Calibri" pitchFamily="34" charset="0"/>
                <a:ea typeface="Calibri" pitchFamily="34" charset="-122"/>
                <a:cs typeface="Calibri" pitchFamily="34" charset="-120"/>
              </a:rPr>
              <a:t>AI Informs</a:t>
            </a:r>
            <a:endParaRPr lang="en-US" sz="1500" dirty="0"/>
          </a:p>
        </p:txBody>
      </p:sp>
      <p:sp>
        <p:nvSpPr>
          <p:cNvPr id="22" name="Text 20"/>
          <p:cNvSpPr txBox="1"/>
          <p:nvPr/>
        </p:nvSpPr>
        <p:spPr>
          <a:xfrm>
            <a:off x="3429000" y="4251960"/>
            <a:ext cx="2194560" cy="868680"/>
          </a:xfrm>
          <a:prstGeom prst="rect">
            <a:avLst/>
          </a:prstGeom>
          <a:noFill/>
          <a:ln/>
        </p:spPr>
        <p:txBody>
          <a:bodyPr wrap="square" lIns="0" tIns="0" rIns="0" bIns="0" rtlCol="0" anchor="t"/>
          <a:lstStyle/>
          <a:p>
            <a:pPr indent="0" marL="0">
              <a:buNone/>
            </a:pPr>
            <a:r>
              <a:rPr lang="en-US" sz="1100" b="1" dirty="0">
                <a:solidFill>
                  <a:srgbClr val="5B4FA8"/>
                </a:solidFill>
                <a:latin typeface="Calibri" pitchFamily="34" charset="0"/>
                <a:ea typeface="Calibri" pitchFamily="34" charset="-122"/>
                <a:cs typeface="Calibri" pitchFamily="34" charset="-120"/>
              </a:rPr>
              <a:t>AI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Answers questions, surfaces insight</a:t>
            </a:r>
            <a:endParaRPr lang="en-US" sz="1100" dirty="0"/>
          </a:p>
        </p:txBody>
      </p:sp>
      <p:sp>
        <p:nvSpPr>
          <p:cNvPr id="23" name="Text 21"/>
          <p:cNvSpPr txBox="1"/>
          <p:nvPr/>
        </p:nvSpPr>
        <p:spPr>
          <a:xfrm>
            <a:off x="3429000" y="5212080"/>
            <a:ext cx="2194560" cy="868680"/>
          </a:xfrm>
          <a:prstGeom prst="rect">
            <a:avLst/>
          </a:prstGeom>
          <a:noFill/>
          <a:ln/>
        </p:spPr>
        <p:txBody>
          <a:bodyPr wrap="square" lIns="0" tIns="0" rIns="0" bIns="0" rtlCol="0" anchor="t"/>
          <a:lstStyle/>
          <a:p>
            <a:pPr indent="0" marL="0">
              <a:buNone/>
            </a:pPr>
            <a:r>
              <a:rPr lang="en-US" sz="1100" b="1" dirty="0">
                <a:solidFill>
                  <a:srgbClr val="1B4F93"/>
                </a:solidFill>
                <a:latin typeface="Calibri" pitchFamily="34" charset="0"/>
                <a:ea typeface="Calibri" pitchFamily="34" charset="-122"/>
                <a:cs typeface="Calibri" pitchFamily="34" charset="-120"/>
              </a:rPr>
              <a:t>Person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Interprets and acts</a:t>
            </a:r>
            <a:endParaRPr lang="en-US" sz="1100" dirty="0"/>
          </a:p>
        </p:txBody>
      </p:sp>
      <p:sp>
        <p:nvSpPr>
          <p:cNvPr id="24" name="Shape 22"/>
          <p:cNvSpPr/>
          <p:nvPr/>
        </p:nvSpPr>
        <p:spPr>
          <a:xfrm>
            <a:off x="3383280" y="6126480"/>
            <a:ext cx="2240280" cy="548640"/>
          </a:xfrm>
          <a:prstGeom prst="roundRect">
            <a:avLst>
              <a:gd name="adj" fmla="val 13333"/>
            </a:avLst>
          </a:prstGeom>
          <a:solidFill>
            <a:srgbClr val="DCE9F7"/>
          </a:solidFill>
          <a:ln w="12700">
            <a:solidFill>
              <a:srgbClr val="DCE9F7"/>
            </a:solidFill>
            <a:prstDash val="solid"/>
          </a:ln>
        </p:spPr>
      </p:sp>
      <p:sp>
        <p:nvSpPr>
          <p:cNvPr id="25" name="Text 23"/>
          <p:cNvSpPr txBox="1"/>
          <p:nvPr/>
        </p:nvSpPr>
        <p:spPr>
          <a:xfrm>
            <a:off x="3429000" y="6126480"/>
            <a:ext cx="2148840" cy="548640"/>
          </a:xfrm>
          <a:prstGeom prst="rect">
            <a:avLst/>
          </a:prstGeom>
          <a:noFill/>
          <a:ln/>
        </p:spPr>
        <p:txBody>
          <a:bodyPr wrap="square" lIns="0" tIns="0" rIns="0" bIns="0" rtlCol="0" anchor="ctr"/>
          <a:lstStyle/>
          <a:p>
            <a:pPr algn="ctr" indent="0" marL="0">
              <a:buNone/>
            </a:pPr>
            <a:r>
              <a:rPr lang="en-US" sz="1050" b="1" dirty="0">
                <a:solidFill>
                  <a:srgbClr val="0B2E5E"/>
                </a:solidFill>
                <a:latin typeface="Calibri" pitchFamily="34" charset="0"/>
                <a:ea typeface="Calibri" pitchFamily="34" charset="-122"/>
                <a:cs typeface="Calibri" pitchFamily="34" charset="-120"/>
              </a:rPr>
              <a:t>Q&amp;A on every use case</a:t>
            </a:r>
            <a:endParaRPr lang="en-US" sz="1050" dirty="0"/>
          </a:p>
        </p:txBody>
      </p:sp>
      <p:sp>
        <p:nvSpPr>
          <p:cNvPr id="26" name="Shape 24"/>
          <p:cNvSpPr/>
          <p:nvPr/>
        </p:nvSpPr>
        <p:spPr>
          <a:xfrm>
            <a:off x="5989320" y="2560320"/>
            <a:ext cx="2514600" cy="4297680"/>
          </a:xfrm>
          <a:prstGeom prst="roundRect">
            <a:avLst>
              <a:gd name="adj" fmla="val 2909"/>
            </a:avLst>
          </a:prstGeom>
          <a:solidFill>
            <a:srgbClr val="FFFFFF"/>
          </a:solidFill>
          <a:ln w="9525">
            <a:solidFill>
              <a:srgbClr val="C8D8EC"/>
            </a:solidFill>
            <a:prstDash val="solid"/>
          </a:ln>
        </p:spPr>
      </p:sp>
      <p:sp>
        <p:nvSpPr>
          <p:cNvPr id="27" name="Shape 25"/>
          <p:cNvSpPr/>
          <p:nvPr/>
        </p:nvSpPr>
        <p:spPr>
          <a:xfrm>
            <a:off x="6172200" y="2743200"/>
            <a:ext cx="685800" cy="457200"/>
          </a:xfrm>
          <a:prstGeom prst="roundRect">
            <a:avLst>
              <a:gd name="adj" fmla="val 16000"/>
            </a:avLst>
          </a:prstGeom>
          <a:solidFill>
            <a:srgbClr val="1B4F93"/>
          </a:solidFill>
          <a:ln w="12700">
            <a:solidFill>
              <a:srgbClr val="1B4F93"/>
            </a:solidFill>
            <a:prstDash val="solid"/>
          </a:ln>
        </p:spPr>
      </p:sp>
      <p:sp>
        <p:nvSpPr>
          <p:cNvPr id="28" name="Text 26"/>
          <p:cNvSpPr txBox="1"/>
          <p:nvPr/>
        </p:nvSpPr>
        <p:spPr>
          <a:xfrm>
            <a:off x="6172200" y="2743200"/>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L2</a:t>
            </a:r>
            <a:endParaRPr lang="en-US" sz="1800" dirty="0"/>
          </a:p>
        </p:txBody>
      </p:sp>
      <p:sp>
        <p:nvSpPr>
          <p:cNvPr id="29" name="Text 27"/>
          <p:cNvSpPr txBox="1"/>
          <p:nvPr/>
        </p:nvSpPr>
        <p:spPr>
          <a:xfrm>
            <a:off x="6172200" y="3337560"/>
            <a:ext cx="2194560" cy="548640"/>
          </a:xfrm>
          <a:prstGeom prst="rect">
            <a:avLst/>
          </a:prstGeom>
          <a:noFill/>
          <a:ln/>
        </p:spPr>
        <p:txBody>
          <a:bodyPr wrap="square" lIns="0" tIns="0" rIns="0" bIns="0" rtlCol="0" anchor="t"/>
          <a:lstStyle/>
          <a:p>
            <a:pPr indent="0" marL="0">
              <a:buNone/>
            </a:pPr>
            <a:r>
              <a:rPr lang="en-US" sz="1500" b="1" dirty="0">
                <a:solidFill>
                  <a:srgbClr val="1F2D3D"/>
                </a:solidFill>
                <a:latin typeface="Calibri" pitchFamily="34" charset="0"/>
                <a:ea typeface="Calibri" pitchFamily="34" charset="-122"/>
                <a:cs typeface="Calibri" pitchFamily="34" charset="-120"/>
              </a:rPr>
              <a:t>AI Recommends</a:t>
            </a:r>
            <a:endParaRPr lang="en-US" sz="1500" dirty="0"/>
          </a:p>
        </p:txBody>
      </p:sp>
      <p:sp>
        <p:nvSpPr>
          <p:cNvPr id="30" name="Text 28"/>
          <p:cNvSpPr txBox="1"/>
          <p:nvPr/>
        </p:nvSpPr>
        <p:spPr>
          <a:xfrm>
            <a:off x="6172200" y="3977640"/>
            <a:ext cx="2194560" cy="868680"/>
          </a:xfrm>
          <a:prstGeom prst="rect">
            <a:avLst/>
          </a:prstGeom>
          <a:noFill/>
          <a:ln/>
        </p:spPr>
        <p:txBody>
          <a:bodyPr wrap="square" lIns="0" tIns="0" rIns="0" bIns="0" rtlCol="0" anchor="t"/>
          <a:lstStyle/>
          <a:p>
            <a:pPr indent="0" marL="0">
              <a:buNone/>
            </a:pPr>
            <a:r>
              <a:rPr lang="en-US" sz="1100" b="1" dirty="0">
                <a:solidFill>
                  <a:srgbClr val="5B4FA8"/>
                </a:solidFill>
                <a:latin typeface="Calibri" pitchFamily="34" charset="0"/>
                <a:ea typeface="Calibri" pitchFamily="34" charset="-122"/>
                <a:cs typeface="Calibri" pitchFamily="34" charset="-120"/>
              </a:rPr>
              <a:t>AI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Investigates, explains, proposes action</a:t>
            </a:r>
            <a:endParaRPr lang="en-US" sz="1100" dirty="0"/>
          </a:p>
        </p:txBody>
      </p:sp>
      <p:sp>
        <p:nvSpPr>
          <p:cNvPr id="31" name="Text 29"/>
          <p:cNvSpPr txBox="1"/>
          <p:nvPr/>
        </p:nvSpPr>
        <p:spPr>
          <a:xfrm>
            <a:off x="6172200" y="4937760"/>
            <a:ext cx="2194560" cy="868680"/>
          </a:xfrm>
          <a:prstGeom prst="rect">
            <a:avLst/>
          </a:prstGeom>
          <a:noFill/>
          <a:ln/>
        </p:spPr>
        <p:txBody>
          <a:bodyPr wrap="square" lIns="0" tIns="0" rIns="0" bIns="0" rtlCol="0" anchor="t"/>
          <a:lstStyle/>
          <a:p>
            <a:pPr indent="0" marL="0">
              <a:buNone/>
            </a:pPr>
            <a:r>
              <a:rPr lang="en-US" sz="1100" b="1" dirty="0">
                <a:solidFill>
                  <a:srgbClr val="1B4F93"/>
                </a:solidFill>
                <a:latin typeface="Calibri" pitchFamily="34" charset="0"/>
                <a:ea typeface="Calibri" pitchFamily="34" charset="-122"/>
                <a:cs typeface="Calibri" pitchFamily="34" charset="-120"/>
              </a:rPr>
              <a:t>Person does</a:t>
            </a:r>
            <a:endParaRPr lang="en-US" sz="1100" dirty="0"/>
          </a:p>
          <a:p>
            <a:pPr indent="0" marL="0">
              <a:buNone/>
            </a:pPr>
            <a:r>
              <a:rPr lang="en-US" sz="1100" dirty="0">
                <a:solidFill>
                  <a:srgbClr val="4A5A6E"/>
                </a:solidFill>
                <a:latin typeface="Calibri" pitchFamily="34" charset="0"/>
                <a:ea typeface="Calibri" pitchFamily="34" charset="-122"/>
                <a:cs typeface="Calibri" pitchFamily="34" charset="-120"/>
              </a:rPr>
              <a:t>Approves, edits or rejects each action</a:t>
            </a:r>
            <a:endParaRPr lang="en-US" sz="1100" dirty="0"/>
          </a:p>
        </p:txBody>
      </p:sp>
      <p:sp>
        <p:nvSpPr>
          <p:cNvPr id="32" name="Shape 30"/>
          <p:cNvSpPr/>
          <p:nvPr/>
        </p:nvSpPr>
        <p:spPr>
          <a:xfrm>
            <a:off x="6126480" y="6126480"/>
            <a:ext cx="2240280" cy="548640"/>
          </a:xfrm>
          <a:prstGeom prst="roundRect">
            <a:avLst>
              <a:gd name="adj" fmla="val 13333"/>
            </a:avLst>
          </a:prstGeom>
          <a:solidFill>
            <a:srgbClr val="F2A900"/>
          </a:solidFill>
          <a:ln w="12700">
            <a:solidFill>
              <a:srgbClr val="F2A900"/>
            </a:solidFill>
            <a:prstDash val="solid"/>
          </a:ln>
        </p:spPr>
      </p:sp>
      <p:sp>
        <p:nvSpPr>
          <p:cNvPr id="33" name="Text 31"/>
          <p:cNvSpPr txBox="1"/>
          <p:nvPr/>
        </p:nvSpPr>
        <p:spPr>
          <a:xfrm>
            <a:off x="6172200" y="6126480"/>
            <a:ext cx="2148840" cy="548640"/>
          </a:xfrm>
          <a:prstGeom prst="rect">
            <a:avLst/>
          </a:prstGeom>
          <a:noFill/>
          <a:ln/>
        </p:spPr>
        <p:txBody>
          <a:bodyPr wrap="square" lIns="0" tIns="0" rIns="0" bIns="0" rtlCol="0" anchor="ctr"/>
          <a:lstStyle/>
          <a:p>
            <a:pPr algn="ctr" indent="0" marL="0">
              <a:buNone/>
            </a:pPr>
            <a:r>
              <a:rPr lang="en-US" sz="1050" b="1" dirty="0">
                <a:solidFill>
                  <a:srgbClr val="0B2E5E"/>
                </a:solidFill>
                <a:latin typeface="Calibri" pitchFamily="34" charset="0"/>
                <a:ea typeface="Calibri" pitchFamily="34" charset="-122"/>
                <a:cs typeface="Calibri" pitchFamily="34" charset="-120"/>
              </a:rPr>
              <a:t>Use cases 1 to 8</a:t>
            </a:r>
            <a:endParaRPr lang="en-US" sz="1050" dirty="0"/>
          </a:p>
        </p:txBody>
      </p:sp>
      <p:sp>
        <p:nvSpPr>
          <p:cNvPr id="34" name="Shape 32"/>
          <p:cNvSpPr/>
          <p:nvPr/>
        </p:nvSpPr>
        <p:spPr>
          <a:xfrm>
            <a:off x="8732520" y="2286000"/>
            <a:ext cx="2514600" cy="4572000"/>
          </a:xfrm>
          <a:prstGeom prst="roundRect">
            <a:avLst>
              <a:gd name="adj" fmla="val 2909"/>
            </a:avLst>
          </a:prstGeom>
          <a:solidFill>
            <a:srgbClr val="F4F5F7"/>
          </a:solidFill>
          <a:ln w="9525">
            <a:solidFill>
              <a:srgbClr val="C3CAD3"/>
            </a:solidFill>
            <a:prstDash val="dash"/>
          </a:ln>
        </p:spPr>
      </p:sp>
      <p:sp>
        <p:nvSpPr>
          <p:cNvPr id="35" name="Shape 33"/>
          <p:cNvSpPr/>
          <p:nvPr/>
        </p:nvSpPr>
        <p:spPr>
          <a:xfrm>
            <a:off x="8915400" y="2468880"/>
            <a:ext cx="685800" cy="457200"/>
          </a:xfrm>
          <a:prstGeom prst="roundRect">
            <a:avLst>
              <a:gd name="adj" fmla="val 16000"/>
            </a:avLst>
          </a:prstGeom>
          <a:solidFill>
            <a:srgbClr val="A7B2C1"/>
          </a:solidFill>
          <a:ln w="12700">
            <a:solidFill>
              <a:srgbClr val="A7B2C1"/>
            </a:solidFill>
            <a:prstDash val="solid"/>
          </a:ln>
        </p:spPr>
      </p:sp>
      <p:sp>
        <p:nvSpPr>
          <p:cNvPr id="36" name="Text 34"/>
          <p:cNvSpPr txBox="1"/>
          <p:nvPr/>
        </p:nvSpPr>
        <p:spPr>
          <a:xfrm>
            <a:off x="8915400" y="2468880"/>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L3</a:t>
            </a:r>
            <a:endParaRPr lang="en-US" sz="1800" dirty="0"/>
          </a:p>
        </p:txBody>
      </p:sp>
      <p:sp>
        <p:nvSpPr>
          <p:cNvPr id="37" name="Text 35"/>
          <p:cNvSpPr txBox="1"/>
          <p:nvPr/>
        </p:nvSpPr>
        <p:spPr>
          <a:xfrm>
            <a:off x="8915400" y="3063240"/>
            <a:ext cx="2194560" cy="548640"/>
          </a:xfrm>
          <a:prstGeom prst="rect">
            <a:avLst/>
          </a:prstGeom>
          <a:noFill/>
          <a:ln/>
        </p:spPr>
        <p:txBody>
          <a:bodyPr wrap="square" lIns="0" tIns="0" rIns="0" bIns="0" rtlCol="0" anchor="t"/>
          <a:lstStyle/>
          <a:p>
            <a:pPr indent="0" marL="0">
              <a:buNone/>
            </a:pPr>
            <a:r>
              <a:rPr lang="en-US" sz="1500" b="1" dirty="0">
                <a:solidFill>
                  <a:srgbClr val="6B7C93"/>
                </a:solidFill>
                <a:latin typeface="Calibri" pitchFamily="34" charset="0"/>
                <a:ea typeface="Calibri" pitchFamily="34" charset="-122"/>
                <a:cs typeface="Calibri" pitchFamily="34" charset="-120"/>
              </a:rPr>
              <a:t>AI Acts, Human Oversees</a:t>
            </a:r>
            <a:endParaRPr lang="en-US" sz="1500" dirty="0"/>
          </a:p>
        </p:txBody>
      </p:sp>
      <p:sp>
        <p:nvSpPr>
          <p:cNvPr id="38" name="Text 36"/>
          <p:cNvSpPr txBox="1"/>
          <p:nvPr/>
        </p:nvSpPr>
        <p:spPr>
          <a:xfrm>
            <a:off x="8915400" y="3703320"/>
            <a:ext cx="2194560" cy="868680"/>
          </a:xfrm>
          <a:prstGeom prst="rect">
            <a:avLst/>
          </a:prstGeom>
          <a:noFill/>
          <a:ln/>
        </p:spPr>
        <p:txBody>
          <a:bodyPr wrap="square" lIns="0" tIns="0" rIns="0" bIns="0" rtlCol="0" anchor="t"/>
          <a:lstStyle/>
          <a:p>
            <a:pPr indent="0" marL="0">
              <a:buNone/>
            </a:pPr>
            <a:r>
              <a:rPr lang="en-US" sz="1100" b="1" dirty="0">
                <a:solidFill>
                  <a:srgbClr val="6B7C93"/>
                </a:solidFill>
                <a:latin typeface="Calibri" pitchFamily="34" charset="0"/>
                <a:ea typeface="Calibri" pitchFamily="34" charset="-122"/>
                <a:cs typeface="Calibri" pitchFamily="34" charset="-120"/>
              </a:rPr>
              <a:t>AI does</a:t>
            </a:r>
            <a:endParaRPr lang="en-US" sz="1100" dirty="0"/>
          </a:p>
          <a:p>
            <a:pPr indent="0" marL="0">
              <a:buNone/>
            </a:pPr>
            <a:r>
              <a:rPr lang="en-US" sz="1100" dirty="0">
                <a:solidFill>
                  <a:srgbClr val="6B7C93"/>
                </a:solidFill>
                <a:latin typeface="Calibri" pitchFamily="34" charset="0"/>
                <a:ea typeface="Calibri" pitchFamily="34" charset="-122"/>
                <a:cs typeface="Calibri" pitchFamily="34" charset="-120"/>
              </a:rPr>
              <a:t>Acts on pre-approved low-risk rules</a:t>
            </a:r>
            <a:endParaRPr lang="en-US" sz="1100" dirty="0"/>
          </a:p>
        </p:txBody>
      </p:sp>
      <p:sp>
        <p:nvSpPr>
          <p:cNvPr id="39" name="Text 37"/>
          <p:cNvSpPr txBox="1"/>
          <p:nvPr/>
        </p:nvSpPr>
        <p:spPr>
          <a:xfrm>
            <a:off x="8915400" y="4663440"/>
            <a:ext cx="2194560" cy="868680"/>
          </a:xfrm>
          <a:prstGeom prst="rect">
            <a:avLst/>
          </a:prstGeom>
          <a:noFill/>
          <a:ln/>
        </p:spPr>
        <p:txBody>
          <a:bodyPr wrap="square" lIns="0" tIns="0" rIns="0" bIns="0" rtlCol="0" anchor="t"/>
          <a:lstStyle/>
          <a:p>
            <a:pPr indent="0" marL="0">
              <a:buNone/>
            </a:pPr>
            <a:r>
              <a:rPr lang="en-US" sz="1100" b="1" dirty="0">
                <a:solidFill>
                  <a:srgbClr val="6B7C93"/>
                </a:solidFill>
                <a:latin typeface="Calibri" pitchFamily="34" charset="0"/>
                <a:ea typeface="Calibri" pitchFamily="34" charset="-122"/>
                <a:cs typeface="Calibri" pitchFamily="34" charset="-120"/>
              </a:rPr>
              <a:t>Person does</a:t>
            </a:r>
            <a:endParaRPr lang="en-US" sz="1100" dirty="0"/>
          </a:p>
          <a:p>
            <a:pPr indent="0" marL="0">
              <a:buNone/>
            </a:pPr>
            <a:r>
              <a:rPr lang="en-US" sz="1100" dirty="0">
                <a:solidFill>
                  <a:srgbClr val="6B7C93"/>
                </a:solidFill>
                <a:latin typeface="Calibri" pitchFamily="34" charset="0"/>
                <a:ea typeface="Calibri" pitchFamily="34" charset="-122"/>
                <a:cs typeface="Calibri" pitchFamily="34" charset="-120"/>
              </a:rPr>
              <a:t>Samples and reviews after the fact</a:t>
            </a:r>
            <a:endParaRPr lang="en-US" sz="1100" dirty="0"/>
          </a:p>
        </p:txBody>
      </p:sp>
      <p:sp>
        <p:nvSpPr>
          <p:cNvPr id="40" name="Shape 38"/>
          <p:cNvSpPr/>
          <p:nvPr/>
        </p:nvSpPr>
        <p:spPr>
          <a:xfrm>
            <a:off x="8869680" y="6126480"/>
            <a:ext cx="2240280" cy="548640"/>
          </a:xfrm>
          <a:prstGeom prst="roundRect">
            <a:avLst>
              <a:gd name="adj" fmla="val 13333"/>
            </a:avLst>
          </a:prstGeom>
          <a:solidFill>
            <a:srgbClr val="E9ECF0"/>
          </a:solidFill>
          <a:ln w="12700">
            <a:solidFill>
              <a:srgbClr val="E9ECF0"/>
            </a:solidFill>
            <a:prstDash val="solid"/>
          </a:ln>
        </p:spPr>
      </p:sp>
      <p:sp>
        <p:nvSpPr>
          <p:cNvPr id="41" name="Text 39"/>
          <p:cNvSpPr txBox="1"/>
          <p:nvPr/>
        </p:nvSpPr>
        <p:spPr>
          <a:xfrm>
            <a:off x="8915400" y="6126480"/>
            <a:ext cx="2148840" cy="548640"/>
          </a:xfrm>
          <a:prstGeom prst="rect">
            <a:avLst/>
          </a:prstGeom>
          <a:noFill/>
          <a:ln/>
        </p:spPr>
        <p:txBody>
          <a:bodyPr wrap="square" lIns="0" tIns="0" rIns="0" bIns="0" rtlCol="0" anchor="ctr"/>
          <a:lstStyle/>
          <a:p>
            <a:pPr algn="ctr" indent="0" marL="0">
              <a:buNone/>
            </a:pPr>
            <a:r>
              <a:rPr lang="en-US" sz="1050" b="1" dirty="0">
                <a:solidFill>
                  <a:srgbClr val="0B2E5E"/>
                </a:solidFill>
                <a:latin typeface="Calibri" pitchFamily="34" charset="0"/>
                <a:ea typeface="Calibri" pitchFamily="34" charset="-122"/>
                <a:cs typeface="Calibri" pitchFamily="34" charset="-120"/>
              </a:rPr>
              <a:t>Not planned. Needs Risk approval</a:t>
            </a:r>
            <a:endParaRPr lang="en-US" sz="1050" dirty="0"/>
          </a:p>
        </p:txBody>
      </p:sp>
      <p:sp>
        <p:nvSpPr>
          <p:cNvPr id="42" name="Shape 40"/>
          <p:cNvSpPr/>
          <p:nvPr/>
        </p:nvSpPr>
        <p:spPr>
          <a:xfrm>
            <a:off x="11475720" y="2011680"/>
            <a:ext cx="2514600" cy="4846320"/>
          </a:xfrm>
          <a:prstGeom prst="roundRect">
            <a:avLst>
              <a:gd name="adj" fmla="val 2909"/>
            </a:avLst>
          </a:prstGeom>
          <a:solidFill>
            <a:srgbClr val="F4F5F7"/>
          </a:solidFill>
          <a:ln w="9525">
            <a:solidFill>
              <a:srgbClr val="C3CAD3"/>
            </a:solidFill>
            <a:prstDash val="dash"/>
          </a:ln>
        </p:spPr>
      </p:sp>
      <p:sp>
        <p:nvSpPr>
          <p:cNvPr id="43" name="Shape 41"/>
          <p:cNvSpPr/>
          <p:nvPr/>
        </p:nvSpPr>
        <p:spPr>
          <a:xfrm>
            <a:off x="11658600" y="2194560"/>
            <a:ext cx="685800" cy="457200"/>
          </a:xfrm>
          <a:prstGeom prst="roundRect">
            <a:avLst>
              <a:gd name="adj" fmla="val 16000"/>
            </a:avLst>
          </a:prstGeom>
          <a:solidFill>
            <a:srgbClr val="C98B8B"/>
          </a:solidFill>
          <a:ln w="12700">
            <a:solidFill>
              <a:srgbClr val="C98B8B"/>
            </a:solidFill>
            <a:prstDash val="solid"/>
          </a:ln>
        </p:spPr>
      </p:sp>
      <p:sp>
        <p:nvSpPr>
          <p:cNvPr id="44" name="Text 42"/>
          <p:cNvSpPr txBox="1"/>
          <p:nvPr/>
        </p:nvSpPr>
        <p:spPr>
          <a:xfrm>
            <a:off x="11658600" y="2194560"/>
            <a:ext cx="6858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L4</a:t>
            </a:r>
            <a:endParaRPr lang="en-US" sz="1800" dirty="0"/>
          </a:p>
        </p:txBody>
      </p:sp>
      <p:sp>
        <p:nvSpPr>
          <p:cNvPr id="45" name="Text 43"/>
          <p:cNvSpPr txBox="1"/>
          <p:nvPr/>
        </p:nvSpPr>
        <p:spPr>
          <a:xfrm>
            <a:off x="11658600" y="2788920"/>
            <a:ext cx="2194560" cy="548640"/>
          </a:xfrm>
          <a:prstGeom prst="rect">
            <a:avLst/>
          </a:prstGeom>
          <a:noFill/>
          <a:ln/>
        </p:spPr>
        <p:txBody>
          <a:bodyPr wrap="square" lIns="0" tIns="0" rIns="0" bIns="0" rtlCol="0" anchor="t"/>
          <a:lstStyle/>
          <a:p>
            <a:pPr indent="0" marL="0">
              <a:buNone/>
            </a:pPr>
            <a:r>
              <a:rPr lang="en-US" sz="1500" b="1" dirty="0">
                <a:solidFill>
                  <a:srgbClr val="6B7C93"/>
                </a:solidFill>
                <a:latin typeface="Calibri" pitchFamily="34" charset="0"/>
                <a:ea typeface="Calibri" pitchFamily="34" charset="-122"/>
                <a:cs typeface="Calibri" pitchFamily="34" charset="-120"/>
              </a:rPr>
              <a:t>Fully Autonomous</a:t>
            </a:r>
            <a:endParaRPr lang="en-US" sz="1500" dirty="0"/>
          </a:p>
        </p:txBody>
      </p:sp>
      <p:sp>
        <p:nvSpPr>
          <p:cNvPr id="46" name="Text 44"/>
          <p:cNvSpPr txBox="1"/>
          <p:nvPr/>
        </p:nvSpPr>
        <p:spPr>
          <a:xfrm>
            <a:off x="11658600" y="3429000"/>
            <a:ext cx="2194560" cy="868680"/>
          </a:xfrm>
          <a:prstGeom prst="rect">
            <a:avLst/>
          </a:prstGeom>
          <a:noFill/>
          <a:ln/>
        </p:spPr>
        <p:txBody>
          <a:bodyPr wrap="square" lIns="0" tIns="0" rIns="0" bIns="0" rtlCol="0" anchor="t"/>
          <a:lstStyle/>
          <a:p>
            <a:pPr indent="0" marL="0">
              <a:buNone/>
            </a:pPr>
            <a:r>
              <a:rPr lang="en-US" sz="1100" b="1" dirty="0">
                <a:solidFill>
                  <a:srgbClr val="6B7C93"/>
                </a:solidFill>
                <a:latin typeface="Calibri" pitchFamily="34" charset="0"/>
                <a:ea typeface="Calibri" pitchFamily="34" charset="-122"/>
                <a:cs typeface="Calibri" pitchFamily="34" charset="-120"/>
              </a:rPr>
              <a:t>AI does</a:t>
            </a:r>
            <a:endParaRPr lang="en-US" sz="1100" dirty="0"/>
          </a:p>
          <a:p>
            <a:pPr indent="0" marL="0">
              <a:buNone/>
            </a:pPr>
            <a:r>
              <a:rPr lang="en-US" sz="1100" dirty="0">
                <a:solidFill>
                  <a:srgbClr val="6B7C93"/>
                </a:solidFill>
                <a:latin typeface="Calibri" pitchFamily="34" charset="0"/>
                <a:ea typeface="Calibri" pitchFamily="34" charset="-122"/>
                <a:cs typeface="Calibri" pitchFamily="34" charset="-120"/>
              </a:rPr>
              <a:t>Decides and acts alone</a:t>
            </a:r>
            <a:endParaRPr lang="en-US" sz="1100" dirty="0"/>
          </a:p>
        </p:txBody>
      </p:sp>
      <p:sp>
        <p:nvSpPr>
          <p:cNvPr id="47" name="Text 45"/>
          <p:cNvSpPr txBox="1"/>
          <p:nvPr/>
        </p:nvSpPr>
        <p:spPr>
          <a:xfrm>
            <a:off x="11658600" y="4389120"/>
            <a:ext cx="2194560" cy="868680"/>
          </a:xfrm>
          <a:prstGeom prst="rect">
            <a:avLst/>
          </a:prstGeom>
          <a:noFill/>
          <a:ln/>
        </p:spPr>
        <p:txBody>
          <a:bodyPr wrap="square" lIns="0" tIns="0" rIns="0" bIns="0" rtlCol="0" anchor="t"/>
          <a:lstStyle/>
          <a:p>
            <a:pPr indent="0" marL="0">
              <a:buNone/>
            </a:pPr>
            <a:r>
              <a:rPr lang="en-US" sz="1100" b="1" dirty="0">
                <a:solidFill>
                  <a:srgbClr val="6B7C93"/>
                </a:solidFill>
                <a:latin typeface="Calibri" pitchFamily="34" charset="0"/>
                <a:ea typeface="Calibri" pitchFamily="34" charset="-122"/>
                <a:cs typeface="Calibri" pitchFamily="34" charset="-120"/>
              </a:rPr>
              <a:t>Person does</a:t>
            </a:r>
            <a:endParaRPr lang="en-US" sz="1100" dirty="0"/>
          </a:p>
          <a:p>
            <a:pPr indent="0" marL="0">
              <a:buNone/>
            </a:pPr>
            <a:r>
              <a:rPr lang="en-US" sz="1100" dirty="0">
                <a:solidFill>
                  <a:srgbClr val="6B7C93"/>
                </a:solidFill>
                <a:latin typeface="Calibri" pitchFamily="34" charset="0"/>
                <a:ea typeface="Calibri" pitchFamily="34" charset="-122"/>
                <a:cs typeface="Calibri" pitchFamily="34" charset="-120"/>
              </a:rPr>
              <a:t>None</a:t>
            </a:r>
            <a:endParaRPr lang="en-US" sz="1100" dirty="0"/>
          </a:p>
        </p:txBody>
      </p:sp>
      <p:sp>
        <p:nvSpPr>
          <p:cNvPr id="48" name="Shape 46"/>
          <p:cNvSpPr/>
          <p:nvPr/>
        </p:nvSpPr>
        <p:spPr>
          <a:xfrm>
            <a:off x="11612880" y="6126480"/>
            <a:ext cx="2240280" cy="548640"/>
          </a:xfrm>
          <a:prstGeom prst="roundRect">
            <a:avLst>
              <a:gd name="adj" fmla="val 13333"/>
            </a:avLst>
          </a:prstGeom>
          <a:solidFill>
            <a:srgbClr val="E9ECF0"/>
          </a:solidFill>
          <a:ln w="12700">
            <a:solidFill>
              <a:srgbClr val="E9ECF0"/>
            </a:solidFill>
            <a:prstDash val="solid"/>
          </a:ln>
        </p:spPr>
      </p:sp>
      <p:sp>
        <p:nvSpPr>
          <p:cNvPr id="49" name="Text 47"/>
          <p:cNvSpPr txBox="1"/>
          <p:nvPr/>
        </p:nvSpPr>
        <p:spPr>
          <a:xfrm>
            <a:off x="11658600" y="6126480"/>
            <a:ext cx="2148840" cy="548640"/>
          </a:xfrm>
          <a:prstGeom prst="rect">
            <a:avLst/>
          </a:prstGeom>
          <a:noFill/>
          <a:ln/>
        </p:spPr>
        <p:txBody>
          <a:bodyPr wrap="square" lIns="0" tIns="0" rIns="0" bIns="0" rtlCol="0" anchor="ctr"/>
          <a:lstStyle/>
          <a:p>
            <a:pPr algn="ctr" indent="0" marL="0">
              <a:buNone/>
            </a:pPr>
            <a:r>
              <a:rPr lang="en-US" sz="1050" b="1" dirty="0">
                <a:solidFill>
                  <a:srgbClr val="0B2E5E"/>
                </a:solidFill>
                <a:latin typeface="Calibri" pitchFamily="34" charset="0"/>
                <a:ea typeface="Calibri" pitchFamily="34" charset="-122"/>
                <a:cs typeface="Calibri" pitchFamily="34" charset="-120"/>
              </a:rPr>
              <a:t>Out of scope</a:t>
            </a:r>
            <a:endParaRPr lang="en-US" sz="1050" dirty="0"/>
          </a:p>
        </p:txBody>
      </p:sp>
      <p:sp>
        <p:nvSpPr>
          <p:cNvPr id="50" name="Shape 48"/>
          <p:cNvSpPr/>
          <p:nvPr/>
        </p:nvSpPr>
        <p:spPr>
          <a:xfrm>
            <a:off x="502920" y="7269480"/>
            <a:ext cx="13624560" cy="1783080"/>
          </a:xfrm>
          <a:prstGeom prst="roundRect">
            <a:avLst>
              <a:gd name="adj" fmla="val 4103"/>
            </a:avLst>
          </a:prstGeom>
          <a:solidFill>
            <a:srgbClr val="0B2E5E"/>
          </a:solidFill>
          <a:ln w="12700">
            <a:solidFill>
              <a:srgbClr val="0B2E5E"/>
            </a:solidFill>
            <a:prstDash val="solid"/>
          </a:ln>
        </p:spPr>
      </p:sp>
      <p:sp>
        <p:nvSpPr>
          <p:cNvPr id="51" name="Shape 49"/>
          <p:cNvSpPr/>
          <p:nvPr/>
        </p:nvSpPr>
        <p:spPr>
          <a:xfrm>
            <a:off x="777240" y="7680960"/>
            <a:ext cx="822960" cy="822960"/>
          </a:xfrm>
          <a:prstGeom prst="ellipse">
            <a:avLst/>
          </a:prstGeom>
          <a:solidFill>
            <a:srgbClr val="2A6EBB"/>
          </a:solidFill>
          <a:ln w="12700">
            <a:solidFill>
              <a:srgbClr val="2A6EBB"/>
            </a:solidFill>
            <a:prstDash val="solid"/>
          </a:ln>
        </p:spPr>
      </p:sp>
      <p:pic>
        <p:nvPicPr>
          <p:cNvPr id="52" name="Image 0" descr="preencoded.png">    </p:cNvPr>
          <p:cNvPicPr>
            <a:picLocks noChangeAspect="1"/>
          </p:cNvPicPr>
          <p:nvPr/>
        </p:nvPicPr>
        <p:blipFill>
          <a:blip r:embed="rId1"/>
          <a:stretch>
            <a:fillRect/>
          </a:stretch>
        </p:blipFill>
        <p:spPr>
          <a:xfrm>
            <a:off x="991210" y="7894930"/>
            <a:ext cx="395021" cy="395021"/>
          </a:xfrm>
          <a:prstGeom prst="rect">
            <a:avLst/>
          </a:prstGeom>
        </p:spPr>
      </p:pic>
      <p:sp>
        <p:nvSpPr>
          <p:cNvPr id="53" name="Text 50"/>
          <p:cNvSpPr txBox="1"/>
          <p:nvPr/>
        </p:nvSpPr>
        <p:spPr>
          <a:xfrm>
            <a:off x="1874520" y="7452360"/>
            <a:ext cx="1197864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Moving any step up a level is a governance decision, not a technology decision</a:t>
            </a:r>
            <a:endParaRPr lang="en-US" sz="1800" dirty="0"/>
          </a:p>
        </p:txBody>
      </p:sp>
      <p:sp>
        <p:nvSpPr>
          <p:cNvPr id="54" name="Text 51"/>
          <p:cNvSpPr txBox="1"/>
          <p:nvPr/>
        </p:nvSpPr>
        <p:spPr>
          <a:xfrm>
            <a:off x="1874520" y="7909560"/>
            <a:ext cx="11978640" cy="914400"/>
          </a:xfrm>
          <a:prstGeom prst="rect">
            <a:avLst/>
          </a:prstGeom>
          <a:noFill/>
          <a:ln/>
        </p:spPr>
        <p:txBody>
          <a:bodyPr wrap="square" lIns="0" tIns="0" rIns="0" bIns="0" rtlCol="0" anchor="t"/>
          <a:lstStyle/>
          <a:p>
            <a:pPr indent="0" marL="0">
              <a:buNone/>
            </a:pPr>
            <a:r>
              <a:rPr lang="en-US" sz="1300" dirty="0">
                <a:solidFill>
                  <a:srgbClr val="DCE9F7"/>
                </a:solidFill>
                <a:latin typeface="Calibri" pitchFamily="34" charset="0"/>
                <a:ea typeface="Calibri" pitchFamily="34" charset="-122"/>
                <a:cs typeface="Calibri" pitchFamily="34" charset="-120"/>
              </a:rPr>
              <a:t>It would need sustained eval evidence, a proven approval and accuracy record on that step, and explicit sign-off from Risk and the business owner. Until then, every action waits for a person.</a:t>
            </a:r>
            <a:endParaRPr lang="en-US" sz="1300" dirty="0"/>
          </a:p>
        </p:txBody>
      </p:sp>
      <p:sp>
        <p:nvSpPr>
          <p:cNvPr id="55" name="Shape 52"/>
          <p:cNvSpPr/>
          <p:nvPr/>
        </p:nvSpPr>
        <p:spPr>
          <a:xfrm>
            <a:off x="0" y="9272016"/>
            <a:ext cx="14630400" cy="484632"/>
          </a:xfrm>
          <a:prstGeom prst="rect">
            <a:avLst/>
          </a:prstGeom>
          <a:solidFill>
            <a:srgbClr val="0B2E5E"/>
          </a:solidFill>
          <a:ln w="12700">
            <a:solidFill>
              <a:srgbClr val="0B2E5E"/>
            </a:solidFill>
            <a:prstDash val="solid"/>
          </a:ln>
        </p:spPr>
      </p:sp>
      <p:sp>
        <p:nvSpPr>
          <p:cNvPr id="56" name="Text 53"/>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Decision support, not decision replacement.</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Human Decision Gates by Use Case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What the agent prepares, and the decision that stays with a person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502920" y="1234440"/>
            <a:ext cx="2286000" cy="329184"/>
          </a:xfrm>
          <a:prstGeom prst="roundRect">
            <a:avLst>
              <a:gd name="adj" fmla="val 13889"/>
            </a:avLst>
          </a:prstGeom>
          <a:solidFill>
            <a:srgbClr val="5A6B82"/>
          </a:solidFill>
          <a:ln w="12700">
            <a:solidFill>
              <a:srgbClr val="5A6B82"/>
            </a:solidFill>
            <a:prstDash val="solid"/>
          </a:ln>
        </p:spPr>
      </p:sp>
      <p:sp>
        <p:nvSpPr>
          <p:cNvPr id="8" name="Text 6"/>
          <p:cNvSpPr txBox="1"/>
          <p:nvPr/>
        </p:nvSpPr>
        <p:spPr>
          <a:xfrm>
            <a:off x="502920" y="1234440"/>
            <a:ext cx="228600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USE CASE</a:t>
            </a:r>
            <a:endParaRPr lang="en-US" sz="950" dirty="0"/>
          </a:p>
        </p:txBody>
      </p:sp>
      <p:sp>
        <p:nvSpPr>
          <p:cNvPr id="9" name="Shape 7"/>
          <p:cNvSpPr/>
          <p:nvPr/>
        </p:nvSpPr>
        <p:spPr>
          <a:xfrm>
            <a:off x="2834640" y="1234440"/>
            <a:ext cx="3611880" cy="329184"/>
          </a:xfrm>
          <a:prstGeom prst="roundRect">
            <a:avLst>
              <a:gd name="adj" fmla="val 13889"/>
            </a:avLst>
          </a:prstGeom>
          <a:solidFill>
            <a:srgbClr val="5B4FA8"/>
          </a:solidFill>
          <a:ln w="12700">
            <a:solidFill>
              <a:srgbClr val="5B4FA8"/>
            </a:solidFill>
            <a:prstDash val="solid"/>
          </a:ln>
        </p:spPr>
      </p:sp>
      <p:sp>
        <p:nvSpPr>
          <p:cNvPr id="10" name="Text 8"/>
          <p:cNvSpPr txBox="1"/>
          <p:nvPr/>
        </p:nvSpPr>
        <p:spPr>
          <a:xfrm>
            <a:off x="2834640" y="1234440"/>
            <a:ext cx="361188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AGENT PREPARES</a:t>
            </a:r>
            <a:endParaRPr lang="en-US" sz="950" dirty="0"/>
          </a:p>
        </p:txBody>
      </p:sp>
      <p:sp>
        <p:nvSpPr>
          <p:cNvPr id="11" name="Shape 9"/>
          <p:cNvSpPr/>
          <p:nvPr/>
        </p:nvSpPr>
        <p:spPr>
          <a:xfrm>
            <a:off x="6492240" y="1234440"/>
            <a:ext cx="3246120" cy="329184"/>
          </a:xfrm>
          <a:prstGeom prst="roundRect">
            <a:avLst>
              <a:gd name="adj" fmla="val 13889"/>
            </a:avLst>
          </a:prstGeom>
          <a:solidFill>
            <a:srgbClr val="1B4F93"/>
          </a:solidFill>
          <a:ln w="12700">
            <a:solidFill>
              <a:srgbClr val="1B4F93"/>
            </a:solidFill>
            <a:prstDash val="solid"/>
          </a:ln>
        </p:spPr>
      </p:sp>
      <p:sp>
        <p:nvSpPr>
          <p:cNvPr id="12" name="Text 10"/>
          <p:cNvSpPr txBox="1"/>
          <p:nvPr/>
        </p:nvSpPr>
        <p:spPr>
          <a:xfrm>
            <a:off x="6492240" y="1234440"/>
            <a:ext cx="324612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HUMAN DECISION GATE</a:t>
            </a:r>
            <a:endParaRPr lang="en-US" sz="950" dirty="0"/>
          </a:p>
        </p:txBody>
      </p:sp>
      <p:sp>
        <p:nvSpPr>
          <p:cNvPr id="13" name="Shape 11"/>
          <p:cNvSpPr/>
          <p:nvPr/>
        </p:nvSpPr>
        <p:spPr>
          <a:xfrm>
            <a:off x="9784080" y="1234440"/>
            <a:ext cx="1965960" cy="329184"/>
          </a:xfrm>
          <a:prstGeom prst="roundRect">
            <a:avLst>
              <a:gd name="adj" fmla="val 13889"/>
            </a:avLst>
          </a:prstGeom>
          <a:solidFill>
            <a:srgbClr val="1F6FB5"/>
          </a:solidFill>
          <a:ln w="12700">
            <a:solidFill>
              <a:srgbClr val="1F6FB5"/>
            </a:solidFill>
            <a:prstDash val="solid"/>
          </a:ln>
        </p:spPr>
      </p:sp>
      <p:sp>
        <p:nvSpPr>
          <p:cNvPr id="14" name="Text 12"/>
          <p:cNvSpPr txBox="1"/>
          <p:nvPr/>
        </p:nvSpPr>
        <p:spPr>
          <a:xfrm>
            <a:off x="9784080" y="1234440"/>
            <a:ext cx="19659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DECISION OWNER</a:t>
            </a:r>
            <a:endParaRPr lang="en-US" sz="950" dirty="0"/>
          </a:p>
        </p:txBody>
      </p:sp>
      <p:sp>
        <p:nvSpPr>
          <p:cNvPr id="15" name="Shape 13"/>
          <p:cNvSpPr/>
          <p:nvPr/>
        </p:nvSpPr>
        <p:spPr>
          <a:xfrm>
            <a:off x="11795760" y="1234440"/>
            <a:ext cx="2103120" cy="329184"/>
          </a:xfrm>
          <a:prstGeom prst="roundRect">
            <a:avLst>
              <a:gd name="adj" fmla="val 13889"/>
            </a:avLst>
          </a:prstGeom>
          <a:solidFill>
            <a:srgbClr val="1E8A5A"/>
          </a:solidFill>
          <a:ln w="12700">
            <a:solidFill>
              <a:srgbClr val="1E8A5A"/>
            </a:solidFill>
            <a:prstDash val="solid"/>
          </a:ln>
        </p:spPr>
      </p:sp>
      <p:sp>
        <p:nvSpPr>
          <p:cNvPr id="16" name="Text 14"/>
          <p:cNvSpPr txBox="1"/>
          <p:nvPr/>
        </p:nvSpPr>
        <p:spPr>
          <a:xfrm>
            <a:off x="11795760" y="1234440"/>
            <a:ext cx="210312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EXECUTED BY</a:t>
            </a:r>
            <a:endParaRPr lang="en-US" sz="950" dirty="0"/>
          </a:p>
        </p:txBody>
      </p:sp>
      <p:sp>
        <p:nvSpPr>
          <p:cNvPr id="17" name="Shape 15"/>
          <p:cNvSpPr/>
          <p:nvPr/>
        </p:nvSpPr>
        <p:spPr>
          <a:xfrm>
            <a:off x="502920" y="1691640"/>
            <a:ext cx="2286000" cy="713232"/>
          </a:xfrm>
          <a:prstGeom prst="roundRect">
            <a:avLst>
              <a:gd name="adj" fmla="val 6410"/>
            </a:avLst>
          </a:prstGeom>
          <a:solidFill>
            <a:srgbClr val="FFFFFF"/>
          </a:solidFill>
          <a:ln w="9525">
            <a:solidFill>
              <a:srgbClr val="C8D8EC"/>
            </a:solidFill>
            <a:prstDash val="solid"/>
          </a:ln>
        </p:spPr>
      </p:sp>
      <p:sp>
        <p:nvSpPr>
          <p:cNvPr id="18" name="Shape 16"/>
          <p:cNvSpPr/>
          <p:nvPr/>
        </p:nvSpPr>
        <p:spPr>
          <a:xfrm>
            <a:off x="612648" y="1911096"/>
            <a:ext cx="274320" cy="274320"/>
          </a:xfrm>
          <a:prstGeom prst="ellipse">
            <a:avLst/>
          </a:prstGeom>
          <a:solidFill>
            <a:srgbClr val="F2A900"/>
          </a:solidFill>
          <a:ln w="12700">
            <a:solidFill>
              <a:srgbClr val="F2A900"/>
            </a:solidFill>
            <a:prstDash val="solid"/>
          </a:ln>
        </p:spPr>
      </p:sp>
      <p:sp>
        <p:nvSpPr>
          <p:cNvPr id="19" name="Text 17"/>
          <p:cNvSpPr txBox="1"/>
          <p:nvPr/>
        </p:nvSpPr>
        <p:spPr>
          <a:xfrm>
            <a:off x="612648" y="1911096"/>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1</a:t>
            </a:r>
            <a:endParaRPr lang="en-US" sz="950" dirty="0"/>
          </a:p>
        </p:txBody>
      </p:sp>
      <p:sp>
        <p:nvSpPr>
          <p:cNvPr id="20" name="Text 18"/>
          <p:cNvSpPr txBox="1"/>
          <p:nvPr/>
        </p:nvSpPr>
        <p:spPr>
          <a:xfrm>
            <a:off x="960120" y="1691640"/>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Helix: FOBO Rec</a:t>
            </a:r>
            <a:endParaRPr lang="en-US" sz="1100" dirty="0"/>
          </a:p>
        </p:txBody>
      </p:sp>
      <p:sp>
        <p:nvSpPr>
          <p:cNvPr id="21" name="Shape 19"/>
          <p:cNvSpPr/>
          <p:nvPr/>
        </p:nvSpPr>
        <p:spPr>
          <a:xfrm>
            <a:off x="2834640" y="1691640"/>
            <a:ext cx="3611880" cy="713232"/>
          </a:xfrm>
          <a:prstGeom prst="roundRect">
            <a:avLst>
              <a:gd name="adj" fmla="val 6410"/>
            </a:avLst>
          </a:prstGeom>
          <a:solidFill>
            <a:srgbClr val="F3F1FB"/>
          </a:solidFill>
          <a:ln w="9525">
            <a:solidFill>
              <a:srgbClr val="C8D8EC"/>
            </a:solidFill>
            <a:prstDash val="solid"/>
          </a:ln>
        </p:spPr>
      </p:sp>
      <p:sp>
        <p:nvSpPr>
          <p:cNvPr id="22" name="Text 20"/>
          <p:cNvSpPr txBox="1"/>
          <p:nvPr/>
        </p:nvSpPr>
        <p:spPr>
          <a:xfrm>
            <a:off x="2944368" y="1691640"/>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Break classification, explanation, proposed adjustment</a:t>
            </a:r>
            <a:endParaRPr lang="en-US" sz="1050" dirty="0"/>
          </a:p>
        </p:txBody>
      </p:sp>
      <p:sp>
        <p:nvSpPr>
          <p:cNvPr id="23" name="Shape 21"/>
          <p:cNvSpPr/>
          <p:nvPr/>
        </p:nvSpPr>
        <p:spPr>
          <a:xfrm>
            <a:off x="6492240" y="1691640"/>
            <a:ext cx="3246120" cy="713232"/>
          </a:xfrm>
          <a:prstGeom prst="roundRect">
            <a:avLst>
              <a:gd name="adj" fmla="val 6410"/>
            </a:avLst>
          </a:prstGeom>
          <a:solidFill>
            <a:srgbClr val="E3ECF7"/>
          </a:solidFill>
          <a:ln w="9525">
            <a:solidFill>
              <a:srgbClr val="C8D8EC"/>
            </a:solidFill>
            <a:prstDash val="solid"/>
          </a:ln>
        </p:spPr>
      </p:sp>
      <p:sp>
        <p:nvSpPr>
          <p:cNvPr id="24" name="Text 22"/>
          <p:cNvSpPr txBox="1"/>
          <p:nvPr/>
        </p:nvSpPr>
        <p:spPr>
          <a:xfrm>
            <a:off x="6601968" y="1691640"/>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Approve, edit or reject each adjustment</a:t>
            </a:r>
            <a:endParaRPr lang="en-US" sz="1050" dirty="0"/>
          </a:p>
        </p:txBody>
      </p:sp>
      <p:sp>
        <p:nvSpPr>
          <p:cNvPr id="25" name="Shape 23"/>
          <p:cNvSpPr/>
          <p:nvPr/>
        </p:nvSpPr>
        <p:spPr>
          <a:xfrm>
            <a:off x="9784080" y="1691640"/>
            <a:ext cx="1965960" cy="713232"/>
          </a:xfrm>
          <a:prstGeom prst="roundRect">
            <a:avLst>
              <a:gd name="adj" fmla="val 6410"/>
            </a:avLst>
          </a:prstGeom>
          <a:solidFill>
            <a:srgbClr val="EEF4FB"/>
          </a:solidFill>
          <a:ln w="9525">
            <a:solidFill>
              <a:srgbClr val="C8D8EC"/>
            </a:solidFill>
            <a:prstDash val="solid"/>
          </a:ln>
        </p:spPr>
      </p:sp>
      <p:sp>
        <p:nvSpPr>
          <p:cNvPr id="26" name="Text 24"/>
          <p:cNvSpPr txBox="1"/>
          <p:nvPr/>
        </p:nvSpPr>
        <p:spPr>
          <a:xfrm>
            <a:off x="9893808" y="1691640"/>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Controller</a:t>
            </a:r>
            <a:endParaRPr lang="en-US" sz="1050" dirty="0"/>
          </a:p>
        </p:txBody>
      </p:sp>
      <p:sp>
        <p:nvSpPr>
          <p:cNvPr id="27" name="Shape 25"/>
          <p:cNvSpPr/>
          <p:nvPr/>
        </p:nvSpPr>
        <p:spPr>
          <a:xfrm>
            <a:off x="11795760" y="1691640"/>
            <a:ext cx="2103120" cy="713232"/>
          </a:xfrm>
          <a:prstGeom prst="roundRect">
            <a:avLst>
              <a:gd name="adj" fmla="val 6410"/>
            </a:avLst>
          </a:prstGeom>
          <a:solidFill>
            <a:srgbClr val="EDF7F2"/>
          </a:solidFill>
          <a:ln w="9525">
            <a:solidFill>
              <a:srgbClr val="C8D8EC"/>
            </a:solidFill>
            <a:prstDash val="solid"/>
          </a:ln>
        </p:spPr>
      </p:sp>
      <p:sp>
        <p:nvSpPr>
          <p:cNvPr id="28" name="Text 26"/>
          <p:cNvSpPr txBox="1"/>
          <p:nvPr/>
        </p:nvSpPr>
        <p:spPr>
          <a:xfrm>
            <a:off x="11905488" y="1691640"/>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FAS posting to MOTIF</a:t>
            </a:r>
            <a:endParaRPr lang="en-US" sz="1050" dirty="0"/>
          </a:p>
        </p:txBody>
      </p:sp>
      <p:sp>
        <p:nvSpPr>
          <p:cNvPr id="29" name="Shape 27"/>
          <p:cNvSpPr/>
          <p:nvPr/>
        </p:nvSpPr>
        <p:spPr>
          <a:xfrm>
            <a:off x="502920" y="2478024"/>
            <a:ext cx="2286000" cy="713232"/>
          </a:xfrm>
          <a:prstGeom prst="roundRect">
            <a:avLst>
              <a:gd name="adj" fmla="val 6410"/>
            </a:avLst>
          </a:prstGeom>
          <a:solidFill>
            <a:srgbClr val="FFFFFF"/>
          </a:solidFill>
          <a:ln w="9525">
            <a:solidFill>
              <a:srgbClr val="C8D8EC"/>
            </a:solidFill>
            <a:prstDash val="solid"/>
          </a:ln>
        </p:spPr>
      </p:sp>
      <p:sp>
        <p:nvSpPr>
          <p:cNvPr id="30" name="Shape 28"/>
          <p:cNvSpPr/>
          <p:nvPr/>
        </p:nvSpPr>
        <p:spPr>
          <a:xfrm>
            <a:off x="612648" y="2697480"/>
            <a:ext cx="274320" cy="274320"/>
          </a:xfrm>
          <a:prstGeom prst="ellipse">
            <a:avLst/>
          </a:prstGeom>
          <a:solidFill>
            <a:srgbClr val="F2A900"/>
          </a:solidFill>
          <a:ln w="12700">
            <a:solidFill>
              <a:srgbClr val="F2A900"/>
            </a:solidFill>
            <a:prstDash val="solid"/>
          </a:ln>
        </p:spPr>
      </p:sp>
      <p:sp>
        <p:nvSpPr>
          <p:cNvPr id="31" name="Text 29"/>
          <p:cNvSpPr txBox="1"/>
          <p:nvPr/>
        </p:nvSpPr>
        <p:spPr>
          <a:xfrm>
            <a:off x="612648" y="269748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2</a:t>
            </a:r>
            <a:endParaRPr lang="en-US" sz="950" dirty="0"/>
          </a:p>
        </p:txBody>
      </p:sp>
      <p:sp>
        <p:nvSpPr>
          <p:cNvPr id="32" name="Text 30"/>
          <p:cNvSpPr txBox="1"/>
          <p:nvPr/>
        </p:nvSpPr>
        <p:spPr>
          <a:xfrm>
            <a:off x="960120" y="2478024"/>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Flash v Formal &amp; PLEX</a:t>
            </a:r>
            <a:endParaRPr lang="en-US" sz="1100" dirty="0"/>
          </a:p>
        </p:txBody>
      </p:sp>
      <p:sp>
        <p:nvSpPr>
          <p:cNvPr id="33" name="Shape 31"/>
          <p:cNvSpPr/>
          <p:nvPr/>
        </p:nvSpPr>
        <p:spPr>
          <a:xfrm>
            <a:off x="2834640" y="2478024"/>
            <a:ext cx="3611880" cy="713232"/>
          </a:xfrm>
          <a:prstGeom prst="roundRect">
            <a:avLst>
              <a:gd name="adj" fmla="val 6410"/>
            </a:avLst>
          </a:prstGeom>
          <a:solidFill>
            <a:srgbClr val="F3F1FB"/>
          </a:solidFill>
          <a:ln w="9525">
            <a:solidFill>
              <a:srgbClr val="C8D8EC"/>
            </a:solidFill>
            <a:prstDash val="solid"/>
          </a:ln>
        </p:spPr>
      </p:sp>
      <p:sp>
        <p:nvSpPr>
          <p:cNvPr id="34" name="Text 32"/>
          <p:cNvSpPr txBox="1"/>
          <p:nvPr/>
        </p:nvSpPr>
        <p:spPr>
          <a:xfrm>
            <a:off x="2944368" y="2478024"/>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Gap explanation, Hypo v Clean view, proposed reclass</a:t>
            </a:r>
            <a:endParaRPr lang="en-US" sz="1050" dirty="0"/>
          </a:p>
        </p:txBody>
      </p:sp>
      <p:sp>
        <p:nvSpPr>
          <p:cNvPr id="35" name="Shape 33"/>
          <p:cNvSpPr/>
          <p:nvPr/>
        </p:nvSpPr>
        <p:spPr>
          <a:xfrm>
            <a:off x="6492240" y="2478024"/>
            <a:ext cx="3246120" cy="713232"/>
          </a:xfrm>
          <a:prstGeom prst="roundRect">
            <a:avLst>
              <a:gd name="adj" fmla="val 6410"/>
            </a:avLst>
          </a:prstGeom>
          <a:solidFill>
            <a:srgbClr val="E3ECF7"/>
          </a:solidFill>
          <a:ln w="9525">
            <a:solidFill>
              <a:srgbClr val="C8D8EC"/>
            </a:solidFill>
            <a:prstDash val="solid"/>
          </a:ln>
        </p:spPr>
      </p:sp>
      <p:sp>
        <p:nvSpPr>
          <p:cNvPr id="36" name="Text 34"/>
          <p:cNvSpPr txBox="1"/>
          <p:nvPr/>
        </p:nvSpPr>
        <p:spPr>
          <a:xfrm>
            <a:off x="6601968" y="2478024"/>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Approve reclass, sign off explain</a:t>
            </a:r>
            <a:endParaRPr lang="en-US" sz="1050" dirty="0"/>
          </a:p>
        </p:txBody>
      </p:sp>
      <p:sp>
        <p:nvSpPr>
          <p:cNvPr id="37" name="Shape 35"/>
          <p:cNvSpPr/>
          <p:nvPr/>
        </p:nvSpPr>
        <p:spPr>
          <a:xfrm>
            <a:off x="9784080" y="2478024"/>
            <a:ext cx="1965960" cy="713232"/>
          </a:xfrm>
          <a:prstGeom prst="roundRect">
            <a:avLst>
              <a:gd name="adj" fmla="val 6410"/>
            </a:avLst>
          </a:prstGeom>
          <a:solidFill>
            <a:srgbClr val="EEF4FB"/>
          </a:solidFill>
          <a:ln w="9525">
            <a:solidFill>
              <a:srgbClr val="C8D8EC"/>
            </a:solidFill>
            <a:prstDash val="solid"/>
          </a:ln>
        </p:spPr>
      </p:sp>
      <p:sp>
        <p:nvSpPr>
          <p:cNvPr id="38" name="Text 36"/>
          <p:cNvSpPr txBox="1"/>
          <p:nvPr/>
        </p:nvSpPr>
        <p:spPr>
          <a:xfrm>
            <a:off x="9893808" y="2478024"/>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Product Controller</a:t>
            </a:r>
            <a:endParaRPr lang="en-US" sz="1050" dirty="0"/>
          </a:p>
        </p:txBody>
      </p:sp>
      <p:sp>
        <p:nvSpPr>
          <p:cNvPr id="39" name="Shape 37"/>
          <p:cNvSpPr/>
          <p:nvPr/>
        </p:nvSpPr>
        <p:spPr>
          <a:xfrm>
            <a:off x="11795760" y="2478024"/>
            <a:ext cx="2103120" cy="713232"/>
          </a:xfrm>
          <a:prstGeom prst="roundRect">
            <a:avLst>
              <a:gd name="adj" fmla="val 6410"/>
            </a:avLst>
          </a:prstGeom>
          <a:solidFill>
            <a:srgbClr val="EDF7F2"/>
          </a:solidFill>
          <a:ln w="9525">
            <a:solidFill>
              <a:srgbClr val="C8D8EC"/>
            </a:solidFill>
            <a:prstDash val="solid"/>
          </a:ln>
        </p:spPr>
      </p:sp>
      <p:sp>
        <p:nvSpPr>
          <p:cNvPr id="40" name="Text 38"/>
          <p:cNvSpPr txBox="1"/>
          <p:nvPr/>
        </p:nvSpPr>
        <p:spPr>
          <a:xfrm>
            <a:off x="11905488" y="2478024"/>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PLEX reclass</a:t>
            </a:r>
            <a:endParaRPr lang="en-US" sz="1050" dirty="0"/>
          </a:p>
        </p:txBody>
      </p:sp>
      <p:sp>
        <p:nvSpPr>
          <p:cNvPr id="41" name="Shape 39"/>
          <p:cNvSpPr/>
          <p:nvPr/>
        </p:nvSpPr>
        <p:spPr>
          <a:xfrm>
            <a:off x="502920" y="3264408"/>
            <a:ext cx="2286000" cy="713232"/>
          </a:xfrm>
          <a:prstGeom prst="roundRect">
            <a:avLst>
              <a:gd name="adj" fmla="val 6410"/>
            </a:avLst>
          </a:prstGeom>
          <a:solidFill>
            <a:srgbClr val="FFFFFF"/>
          </a:solidFill>
          <a:ln w="9525">
            <a:solidFill>
              <a:srgbClr val="C8D8EC"/>
            </a:solidFill>
            <a:prstDash val="solid"/>
          </a:ln>
        </p:spPr>
      </p:sp>
      <p:sp>
        <p:nvSpPr>
          <p:cNvPr id="42" name="Shape 40"/>
          <p:cNvSpPr/>
          <p:nvPr/>
        </p:nvSpPr>
        <p:spPr>
          <a:xfrm>
            <a:off x="612648" y="3483864"/>
            <a:ext cx="274320" cy="274320"/>
          </a:xfrm>
          <a:prstGeom prst="ellipse">
            <a:avLst/>
          </a:prstGeom>
          <a:solidFill>
            <a:srgbClr val="F2A900"/>
          </a:solidFill>
          <a:ln w="12700">
            <a:solidFill>
              <a:srgbClr val="F2A900"/>
            </a:solidFill>
            <a:prstDash val="solid"/>
          </a:ln>
        </p:spPr>
      </p:sp>
      <p:sp>
        <p:nvSpPr>
          <p:cNvPr id="43" name="Text 41"/>
          <p:cNvSpPr txBox="1"/>
          <p:nvPr/>
        </p:nvSpPr>
        <p:spPr>
          <a:xfrm>
            <a:off x="612648" y="3483864"/>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3</a:t>
            </a:r>
            <a:endParaRPr lang="en-US" sz="950" dirty="0"/>
          </a:p>
        </p:txBody>
      </p:sp>
      <p:sp>
        <p:nvSpPr>
          <p:cNvPr id="44" name="Text 42"/>
          <p:cNvSpPr txBox="1"/>
          <p:nvPr/>
        </p:nvSpPr>
        <p:spPr>
          <a:xfrm>
            <a:off x="960120" y="3264408"/>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Ledger Controls</a:t>
            </a:r>
            <a:endParaRPr lang="en-US" sz="1100" dirty="0"/>
          </a:p>
        </p:txBody>
      </p:sp>
      <p:sp>
        <p:nvSpPr>
          <p:cNvPr id="45" name="Shape 43"/>
          <p:cNvSpPr/>
          <p:nvPr/>
        </p:nvSpPr>
        <p:spPr>
          <a:xfrm>
            <a:off x="2834640" y="3264408"/>
            <a:ext cx="3611880" cy="713232"/>
          </a:xfrm>
          <a:prstGeom prst="roundRect">
            <a:avLst>
              <a:gd name="adj" fmla="val 6410"/>
            </a:avLst>
          </a:prstGeom>
          <a:solidFill>
            <a:srgbClr val="F3F1FB"/>
          </a:solidFill>
          <a:ln w="9525">
            <a:solidFill>
              <a:srgbClr val="C8D8EC"/>
            </a:solidFill>
            <a:prstDash val="solid"/>
          </a:ln>
        </p:spPr>
      </p:sp>
      <p:sp>
        <p:nvSpPr>
          <p:cNvPr id="46" name="Text 44"/>
          <p:cNvSpPr txBox="1"/>
          <p:nvPr/>
        </p:nvSpPr>
        <p:spPr>
          <a:xfrm>
            <a:off x="2944368" y="3264408"/>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Root cause, ageing risk, proposed fix</a:t>
            </a:r>
            <a:endParaRPr lang="en-US" sz="1050" dirty="0"/>
          </a:p>
        </p:txBody>
      </p:sp>
      <p:sp>
        <p:nvSpPr>
          <p:cNvPr id="47" name="Shape 45"/>
          <p:cNvSpPr/>
          <p:nvPr/>
        </p:nvSpPr>
        <p:spPr>
          <a:xfrm>
            <a:off x="6492240" y="3264408"/>
            <a:ext cx="3246120" cy="713232"/>
          </a:xfrm>
          <a:prstGeom prst="roundRect">
            <a:avLst>
              <a:gd name="adj" fmla="val 6410"/>
            </a:avLst>
          </a:prstGeom>
          <a:solidFill>
            <a:srgbClr val="E3ECF7"/>
          </a:solidFill>
          <a:ln w="9525">
            <a:solidFill>
              <a:srgbClr val="C8D8EC"/>
            </a:solidFill>
            <a:prstDash val="solid"/>
          </a:ln>
        </p:spPr>
      </p:sp>
      <p:sp>
        <p:nvSpPr>
          <p:cNvPr id="48" name="Text 46"/>
          <p:cNvSpPr txBox="1"/>
          <p:nvPr/>
        </p:nvSpPr>
        <p:spPr>
          <a:xfrm>
            <a:off x="6601968" y="3264408"/>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Approve fix, closure or instruction</a:t>
            </a:r>
            <a:endParaRPr lang="en-US" sz="1050" dirty="0"/>
          </a:p>
        </p:txBody>
      </p:sp>
      <p:sp>
        <p:nvSpPr>
          <p:cNvPr id="49" name="Shape 47"/>
          <p:cNvSpPr/>
          <p:nvPr/>
        </p:nvSpPr>
        <p:spPr>
          <a:xfrm>
            <a:off x="9784080" y="3264408"/>
            <a:ext cx="1965960" cy="713232"/>
          </a:xfrm>
          <a:prstGeom prst="roundRect">
            <a:avLst>
              <a:gd name="adj" fmla="val 6410"/>
            </a:avLst>
          </a:prstGeom>
          <a:solidFill>
            <a:srgbClr val="EEF4FB"/>
          </a:solidFill>
          <a:ln w="9525">
            <a:solidFill>
              <a:srgbClr val="C8D8EC"/>
            </a:solidFill>
            <a:prstDash val="solid"/>
          </a:ln>
        </p:spPr>
      </p:sp>
      <p:sp>
        <p:nvSpPr>
          <p:cNvPr id="50" name="Text 48"/>
          <p:cNvSpPr txBox="1"/>
          <p:nvPr/>
        </p:nvSpPr>
        <p:spPr>
          <a:xfrm>
            <a:off x="9893808" y="3264408"/>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Exception Owner</a:t>
            </a:r>
            <a:endParaRPr lang="en-US" sz="1050" dirty="0"/>
          </a:p>
        </p:txBody>
      </p:sp>
      <p:sp>
        <p:nvSpPr>
          <p:cNvPr id="51" name="Shape 49"/>
          <p:cNvSpPr/>
          <p:nvPr/>
        </p:nvSpPr>
        <p:spPr>
          <a:xfrm>
            <a:off x="11795760" y="3264408"/>
            <a:ext cx="2103120" cy="713232"/>
          </a:xfrm>
          <a:prstGeom prst="roundRect">
            <a:avLst>
              <a:gd name="adj" fmla="val 6410"/>
            </a:avLst>
          </a:prstGeom>
          <a:solidFill>
            <a:srgbClr val="EDF7F2"/>
          </a:solidFill>
          <a:ln w="9525">
            <a:solidFill>
              <a:srgbClr val="C8D8EC"/>
            </a:solidFill>
            <a:prstDash val="solid"/>
          </a:ln>
        </p:spPr>
      </p:sp>
      <p:sp>
        <p:nvSpPr>
          <p:cNvPr id="52" name="Text 50"/>
          <p:cNvSpPr txBox="1"/>
          <p:nvPr/>
        </p:nvSpPr>
        <p:spPr>
          <a:xfrm>
            <a:off x="11905488" y="3264408"/>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Adjustments function</a:t>
            </a:r>
            <a:endParaRPr lang="en-US" sz="1050" dirty="0"/>
          </a:p>
        </p:txBody>
      </p:sp>
      <p:sp>
        <p:nvSpPr>
          <p:cNvPr id="53" name="Shape 51"/>
          <p:cNvSpPr/>
          <p:nvPr/>
        </p:nvSpPr>
        <p:spPr>
          <a:xfrm>
            <a:off x="502920" y="4050792"/>
            <a:ext cx="2286000" cy="713232"/>
          </a:xfrm>
          <a:prstGeom prst="roundRect">
            <a:avLst>
              <a:gd name="adj" fmla="val 6410"/>
            </a:avLst>
          </a:prstGeom>
          <a:solidFill>
            <a:srgbClr val="FFFFFF"/>
          </a:solidFill>
          <a:ln w="9525">
            <a:solidFill>
              <a:srgbClr val="C8D8EC"/>
            </a:solidFill>
            <a:prstDash val="solid"/>
          </a:ln>
        </p:spPr>
      </p:sp>
      <p:sp>
        <p:nvSpPr>
          <p:cNvPr id="54" name="Shape 52"/>
          <p:cNvSpPr/>
          <p:nvPr/>
        </p:nvSpPr>
        <p:spPr>
          <a:xfrm>
            <a:off x="612648" y="4270248"/>
            <a:ext cx="274320" cy="274320"/>
          </a:xfrm>
          <a:prstGeom prst="ellipse">
            <a:avLst/>
          </a:prstGeom>
          <a:solidFill>
            <a:srgbClr val="F2A900"/>
          </a:solidFill>
          <a:ln w="12700">
            <a:solidFill>
              <a:srgbClr val="F2A900"/>
            </a:solidFill>
            <a:prstDash val="solid"/>
          </a:ln>
        </p:spPr>
      </p:sp>
      <p:sp>
        <p:nvSpPr>
          <p:cNvPr id="55" name="Text 53"/>
          <p:cNvSpPr txBox="1"/>
          <p:nvPr/>
        </p:nvSpPr>
        <p:spPr>
          <a:xfrm>
            <a:off x="612648" y="4270248"/>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4</a:t>
            </a:r>
            <a:endParaRPr lang="en-US" sz="950" dirty="0"/>
          </a:p>
        </p:txBody>
      </p:sp>
      <p:sp>
        <p:nvSpPr>
          <p:cNvPr id="56" name="Text 54"/>
          <p:cNvSpPr txBox="1"/>
          <p:nvPr/>
        </p:nvSpPr>
        <p:spPr>
          <a:xfrm>
            <a:off x="960120" y="4050792"/>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Analysis &amp; Commentary</a:t>
            </a:r>
            <a:endParaRPr lang="en-US" sz="1100" dirty="0"/>
          </a:p>
        </p:txBody>
      </p:sp>
      <p:sp>
        <p:nvSpPr>
          <p:cNvPr id="57" name="Shape 55"/>
          <p:cNvSpPr/>
          <p:nvPr/>
        </p:nvSpPr>
        <p:spPr>
          <a:xfrm>
            <a:off x="2834640" y="4050792"/>
            <a:ext cx="3611880" cy="713232"/>
          </a:xfrm>
          <a:prstGeom prst="roundRect">
            <a:avLst>
              <a:gd name="adj" fmla="val 6410"/>
            </a:avLst>
          </a:prstGeom>
          <a:solidFill>
            <a:srgbClr val="F3F1FB"/>
          </a:solidFill>
          <a:ln w="9525">
            <a:solidFill>
              <a:srgbClr val="C8D8EC"/>
            </a:solidFill>
            <a:prstDash val="solid"/>
          </a:ln>
        </p:spPr>
      </p:sp>
      <p:sp>
        <p:nvSpPr>
          <p:cNvPr id="58" name="Text 56"/>
          <p:cNvSpPr txBox="1"/>
          <p:nvPr/>
        </p:nvSpPr>
        <p:spPr>
          <a:xfrm>
            <a:off x="2944368" y="4050792"/>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Movement and variance explanations, draft text</a:t>
            </a:r>
            <a:endParaRPr lang="en-US" sz="1050" dirty="0"/>
          </a:p>
        </p:txBody>
      </p:sp>
      <p:sp>
        <p:nvSpPr>
          <p:cNvPr id="59" name="Shape 57"/>
          <p:cNvSpPr/>
          <p:nvPr/>
        </p:nvSpPr>
        <p:spPr>
          <a:xfrm>
            <a:off x="6492240" y="4050792"/>
            <a:ext cx="3246120" cy="713232"/>
          </a:xfrm>
          <a:prstGeom prst="roundRect">
            <a:avLst>
              <a:gd name="adj" fmla="val 6410"/>
            </a:avLst>
          </a:prstGeom>
          <a:solidFill>
            <a:srgbClr val="E3ECF7"/>
          </a:solidFill>
          <a:ln w="9525">
            <a:solidFill>
              <a:srgbClr val="C8D8EC"/>
            </a:solidFill>
            <a:prstDash val="solid"/>
          </a:ln>
        </p:spPr>
      </p:sp>
      <p:sp>
        <p:nvSpPr>
          <p:cNvPr id="60" name="Text 58"/>
          <p:cNvSpPr txBox="1"/>
          <p:nvPr/>
        </p:nvSpPr>
        <p:spPr>
          <a:xfrm>
            <a:off x="6601968" y="4050792"/>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Edit and approve commentary</a:t>
            </a:r>
            <a:endParaRPr lang="en-US" sz="1050" dirty="0"/>
          </a:p>
        </p:txBody>
      </p:sp>
      <p:sp>
        <p:nvSpPr>
          <p:cNvPr id="61" name="Shape 59"/>
          <p:cNvSpPr/>
          <p:nvPr/>
        </p:nvSpPr>
        <p:spPr>
          <a:xfrm>
            <a:off x="9784080" y="4050792"/>
            <a:ext cx="1965960" cy="713232"/>
          </a:xfrm>
          <a:prstGeom prst="roundRect">
            <a:avLst>
              <a:gd name="adj" fmla="val 6410"/>
            </a:avLst>
          </a:prstGeom>
          <a:solidFill>
            <a:srgbClr val="EEF4FB"/>
          </a:solidFill>
          <a:ln w="9525">
            <a:solidFill>
              <a:srgbClr val="C8D8EC"/>
            </a:solidFill>
            <a:prstDash val="solid"/>
          </a:ln>
        </p:spPr>
      </p:sp>
      <p:sp>
        <p:nvSpPr>
          <p:cNvPr id="62" name="Text 60"/>
          <p:cNvSpPr txBox="1"/>
          <p:nvPr/>
        </p:nvSpPr>
        <p:spPr>
          <a:xfrm>
            <a:off x="9893808" y="4050792"/>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Finance Controller</a:t>
            </a:r>
            <a:endParaRPr lang="en-US" sz="1050" dirty="0"/>
          </a:p>
        </p:txBody>
      </p:sp>
      <p:sp>
        <p:nvSpPr>
          <p:cNvPr id="63" name="Shape 61"/>
          <p:cNvSpPr/>
          <p:nvPr/>
        </p:nvSpPr>
        <p:spPr>
          <a:xfrm>
            <a:off x="11795760" y="4050792"/>
            <a:ext cx="2103120" cy="713232"/>
          </a:xfrm>
          <a:prstGeom prst="roundRect">
            <a:avLst>
              <a:gd name="adj" fmla="val 6410"/>
            </a:avLst>
          </a:prstGeom>
          <a:solidFill>
            <a:srgbClr val="EDF7F2"/>
          </a:solidFill>
          <a:ln w="9525">
            <a:solidFill>
              <a:srgbClr val="C8D8EC"/>
            </a:solidFill>
            <a:prstDash val="solid"/>
          </a:ln>
        </p:spPr>
      </p:sp>
      <p:sp>
        <p:nvSpPr>
          <p:cNvPr id="64" name="Text 62"/>
          <p:cNvSpPr txBox="1"/>
          <p:nvPr/>
        </p:nvSpPr>
        <p:spPr>
          <a:xfrm>
            <a:off x="11905488" y="4050792"/>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Commentary publication</a:t>
            </a:r>
            <a:endParaRPr lang="en-US" sz="1050" dirty="0"/>
          </a:p>
        </p:txBody>
      </p:sp>
      <p:sp>
        <p:nvSpPr>
          <p:cNvPr id="65" name="Shape 63"/>
          <p:cNvSpPr/>
          <p:nvPr/>
        </p:nvSpPr>
        <p:spPr>
          <a:xfrm>
            <a:off x="502920" y="4837176"/>
            <a:ext cx="2286000" cy="713232"/>
          </a:xfrm>
          <a:prstGeom prst="roundRect">
            <a:avLst>
              <a:gd name="adj" fmla="val 6410"/>
            </a:avLst>
          </a:prstGeom>
          <a:solidFill>
            <a:srgbClr val="FFFFFF"/>
          </a:solidFill>
          <a:ln w="9525">
            <a:solidFill>
              <a:srgbClr val="C8D8EC"/>
            </a:solidFill>
            <a:prstDash val="solid"/>
          </a:ln>
        </p:spPr>
      </p:sp>
      <p:sp>
        <p:nvSpPr>
          <p:cNvPr id="66" name="Shape 64"/>
          <p:cNvSpPr/>
          <p:nvPr/>
        </p:nvSpPr>
        <p:spPr>
          <a:xfrm>
            <a:off x="612648" y="5056632"/>
            <a:ext cx="274320" cy="274320"/>
          </a:xfrm>
          <a:prstGeom prst="ellipse">
            <a:avLst/>
          </a:prstGeom>
          <a:solidFill>
            <a:srgbClr val="F2A900"/>
          </a:solidFill>
          <a:ln w="12700">
            <a:solidFill>
              <a:srgbClr val="F2A900"/>
            </a:solidFill>
            <a:prstDash val="solid"/>
          </a:ln>
        </p:spPr>
      </p:sp>
      <p:sp>
        <p:nvSpPr>
          <p:cNvPr id="67" name="Text 65"/>
          <p:cNvSpPr txBox="1"/>
          <p:nvPr/>
        </p:nvSpPr>
        <p:spPr>
          <a:xfrm>
            <a:off x="612648" y="5056632"/>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5</a:t>
            </a:r>
            <a:endParaRPr lang="en-US" sz="950" dirty="0"/>
          </a:p>
        </p:txBody>
      </p:sp>
      <p:sp>
        <p:nvSpPr>
          <p:cNvPr id="68" name="Text 66"/>
          <p:cNvSpPr txBox="1"/>
          <p:nvPr/>
        </p:nvSpPr>
        <p:spPr>
          <a:xfrm>
            <a:off x="960120" y="4837176"/>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Close Sign-off</a:t>
            </a:r>
            <a:endParaRPr lang="en-US" sz="1100" dirty="0"/>
          </a:p>
        </p:txBody>
      </p:sp>
      <p:sp>
        <p:nvSpPr>
          <p:cNvPr id="69" name="Shape 67"/>
          <p:cNvSpPr/>
          <p:nvPr/>
        </p:nvSpPr>
        <p:spPr>
          <a:xfrm>
            <a:off x="2834640" y="4837176"/>
            <a:ext cx="3611880" cy="713232"/>
          </a:xfrm>
          <a:prstGeom prst="roundRect">
            <a:avLst>
              <a:gd name="adj" fmla="val 6410"/>
            </a:avLst>
          </a:prstGeom>
          <a:solidFill>
            <a:srgbClr val="F3F1FB"/>
          </a:solidFill>
          <a:ln w="9525">
            <a:solidFill>
              <a:srgbClr val="C8D8EC"/>
            </a:solidFill>
            <a:prstDash val="solid"/>
          </a:ln>
        </p:spPr>
      </p:sp>
      <p:sp>
        <p:nvSpPr>
          <p:cNvPr id="70" name="Text 68"/>
          <p:cNvSpPr txBox="1"/>
          <p:nvPr/>
        </p:nvSpPr>
        <p:spPr>
          <a:xfrm>
            <a:off x="2944368" y="4837176"/>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Sign-off pack: open items, evidence, risks</a:t>
            </a:r>
            <a:endParaRPr lang="en-US" sz="1050" dirty="0"/>
          </a:p>
        </p:txBody>
      </p:sp>
      <p:sp>
        <p:nvSpPr>
          <p:cNvPr id="71" name="Shape 69"/>
          <p:cNvSpPr/>
          <p:nvPr/>
        </p:nvSpPr>
        <p:spPr>
          <a:xfrm>
            <a:off x="6492240" y="4837176"/>
            <a:ext cx="3246120" cy="713232"/>
          </a:xfrm>
          <a:prstGeom prst="roundRect">
            <a:avLst>
              <a:gd name="adj" fmla="val 6410"/>
            </a:avLst>
          </a:prstGeom>
          <a:solidFill>
            <a:srgbClr val="E3ECF7"/>
          </a:solidFill>
          <a:ln w="9525">
            <a:solidFill>
              <a:srgbClr val="C8D8EC"/>
            </a:solidFill>
            <a:prstDash val="solid"/>
          </a:ln>
        </p:spPr>
      </p:sp>
      <p:sp>
        <p:nvSpPr>
          <p:cNvPr id="72" name="Text 70"/>
          <p:cNvSpPr txBox="1"/>
          <p:nvPr/>
        </p:nvSpPr>
        <p:spPr>
          <a:xfrm>
            <a:off x="6601968" y="4837176"/>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Sign off or attest</a:t>
            </a:r>
            <a:endParaRPr lang="en-US" sz="1050" dirty="0"/>
          </a:p>
        </p:txBody>
      </p:sp>
      <p:sp>
        <p:nvSpPr>
          <p:cNvPr id="73" name="Shape 71"/>
          <p:cNvSpPr/>
          <p:nvPr/>
        </p:nvSpPr>
        <p:spPr>
          <a:xfrm>
            <a:off x="9784080" y="4837176"/>
            <a:ext cx="1965960" cy="713232"/>
          </a:xfrm>
          <a:prstGeom prst="roundRect">
            <a:avLst>
              <a:gd name="adj" fmla="val 6410"/>
            </a:avLst>
          </a:prstGeom>
          <a:solidFill>
            <a:srgbClr val="EEF4FB"/>
          </a:solidFill>
          <a:ln w="9525">
            <a:solidFill>
              <a:srgbClr val="C8D8EC"/>
            </a:solidFill>
            <a:prstDash val="solid"/>
          </a:ln>
        </p:spPr>
      </p:sp>
      <p:sp>
        <p:nvSpPr>
          <p:cNvPr id="74" name="Text 72"/>
          <p:cNvSpPr txBox="1"/>
          <p:nvPr/>
        </p:nvSpPr>
        <p:spPr>
          <a:xfrm>
            <a:off x="9893808" y="4837176"/>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Named Signatory</a:t>
            </a:r>
            <a:endParaRPr lang="en-US" sz="1050" dirty="0"/>
          </a:p>
        </p:txBody>
      </p:sp>
      <p:sp>
        <p:nvSpPr>
          <p:cNvPr id="75" name="Shape 73"/>
          <p:cNvSpPr/>
          <p:nvPr/>
        </p:nvSpPr>
        <p:spPr>
          <a:xfrm>
            <a:off x="11795760" y="4837176"/>
            <a:ext cx="2103120" cy="713232"/>
          </a:xfrm>
          <a:prstGeom prst="roundRect">
            <a:avLst>
              <a:gd name="adj" fmla="val 6410"/>
            </a:avLst>
          </a:prstGeom>
          <a:solidFill>
            <a:srgbClr val="EDF7F2"/>
          </a:solidFill>
          <a:ln w="9525">
            <a:solidFill>
              <a:srgbClr val="C8D8EC"/>
            </a:solidFill>
            <a:prstDash val="solid"/>
          </a:ln>
        </p:spPr>
      </p:sp>
      <p:sp>
        <p:nvSpPr>
          <p:cNvPr id="76" name="Text 74"/>
          <p:cNvSpPr txBox="1"/>
          <p:nvPr/>
        </p:nvSpPr>
        <p:spPr>
          <a:xfrm>
            <a:off x="11905488" y="4837176"/>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Sign-off record</a:t>
            </a:r>
            <a:endParaRPr lang="en-US" sz="1050" dirty="0"/>
          </a:p>
        </p:txBody>
      </p:sp>
      <p:sp>
        <p:nvSpPr>
          <p:cNvPr id="77" name="Shape 75"/>
          <p:cNvSpPr/>
          <p:nvPr/>
        </p:nvSpPr>
        <p:spPr>
          <a:xfrm>
            <a:off x="502920" y="5623560"/>
            <a:ext cx="2286000" cy="713232"/>
          </a:xfrm>
          <a:prstGeom prst="roundRect">
            <a:avLst>
              <a:gd name="adj" fmla="val 6410"/>
            </a:avLst>
          </a:prstGeom>
          <a:solidFill>
            <a:srgbClr val="FFFFFF"/>
          </a:solidFill>
          <a:ln w="9525">
            <a:solidFill>
              <a:srgbClr val="C8D8EC"/>
            </a:solidFill>
            <a:prstDash val="solid"/>
          </a:ln>
        </p:spPr>
      </p:sp>
      <p:sp>
        <p:nvSpPr>
          <p:cNvPr id="78" name="Shape 76"/>
          <p:cNvSpPr/>
          <p:nvPr/>
        </p:nvSpPr>
        <p:spPr>
          <a:xfrm>
            <a:off x="612648" y="5843016"/>
            <a:ext cx="274320" cy="274320"/>
          </a:xfrm>
          <a:prstGeom prst="ellipse">
            <a:avLst/>
          </a:prstGeom>
          <a:solidFill>
            <a:srgbClr val="F2A900"/>
          </a:solidFill>
          <a:ln w="12700">
            <a:solidFill>
              <a:srgbClr val="F2A900"/>
            </a:solidFill>
            <a:prstDash val="solid"/>
          </a:ln>
        </p:spPr>
      </p:sp>
      <p:sp>
        <p:nvSpPr>
          <p:cNvPr id="79" name="Text 77"/>
          <p:cNvSpPr txBox="1"/>
          <p:nvPr/>
        </p:nvSpPr>
        <p:spPr>
          <a:xfrm>
            <a:off x="612648" y="5843016"/>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6</a:t>
            </a:r>
            <a:endParaRPr lang="en-US" sz="950" dirty="0"/>
          </a:p>
        </p:txBody>
      </p:sp>
      <p:sp>
        <p:nvSpPr>
          <p:cNvPr id="80" name="Text 78"/>
          <p:cNvSpPr txBox="1"/>
          <p:nvPr/>
        </p:nvSpPr>
        <p:spPr>
          <a:xfrm>
            <a:off x="960120" y="5623560"/>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Report Validation</a:t>
            </a:r>
            <a:endParaRPr lang="en-US" sz="1100" dirty="0"/>
          </a:p>
        </p:txBody>
      </p:sp>
      <p:sp>
        <p:nvSpPr>
          <p:cNvPr id="81" name="Shape 79"/>
          <p:cNvSpPr/>
          <p:nvPr/>
        </p:nvSpPr>
        <p:spPr>
          <a:xfrm>
            <a:off x="2834640" y="5623560"/>
            <a:ext cx="3611880" cy="713232"/>
          </a:xfrm>
          <a:prstGeom prst="roundRect">
            <a:avLst>
              <a:gd name="adj" fmla="val 6410"/>
            </a:avLst>
          </a:prstGeom>
          <a:solidFill>
            <a:srgbClr val="F3F1FB"/>
          </a:solidFill>
          <a:ln w="9525">
            <a:solidFill>
              <a:srgbClr val="C8D8EC"/>
            </a:solidFill>
            <a:prstDash val="solid"/>
          </a:ln>
        </p:spPr>
      </p:sp>
      <p:sp>
        <p:nvSpPr>
          <p:cNvPr id="82" name="Text 80"/>
          <p:cNvSpPr txBox="1"/>
          <p:nvPr/>
        </p:nvSpPr>
        <p:spPr>
          <a:xfrm>
            <a:off x="2944368" y="5623560"/>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Tie-out results, anomalies, explanations</a:t>
            </a:r>
            <a:endParaRPr lang="en-US" sz="1050" dirty="0"/>
          </a:p>
        </p:txBody>
      </p:sp>
      <p:sp>
        <p:nvSpPr>
          <p:cNvPr id="83" name="Shape 81"/>
          <p:cNvSpPr/>
          <p:nvPr/>
        </p:nvSpPr>
        <p:spPr>
          <a:xfrm>
            <a:off x="6492240" y="5623560"/>
            <a:ext cx="3246120" cy="713232"/>
          </a:xfrm>
          <a:prstGeom prst="roundRect">
            <a:avLst>
              <a:gd name="adj" fmla="val 6410"/>
            </a:avLst>
          </a:prstGeom>
          <a:solidFill>
            <a:srgbClr val="E3ECF7"/>
          </a:solidFill>
          <a:ln w="9525">
            <a:solidFill>
              <a:srgbClr val="C8D8EC"/>
            </a:solidFill>
            <a:prstDash val="solid"/>
          </a:ln>
        </p:spPr>
      </p:sp>
      <p:sp>
        <p:nvSpPr>
          <p:cNvPr id="84" name="Text 82"/>
          <p:cNvSpPr txBox="1"/>
          <p:nvPr/>
        </p:nvSpPr>
        <p:spPr>
          <a:xfrm>
            <a:off x="6601968" y="5623560"/>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Release or hold the report</a:t>
            </a:r>
            <a:endParaRPr lang="en-US" sz="1050" dirty="0"/>
          </a:p>
        </p:txBody>
      </p:sp>
      <p:sp>
        <p:nvSpPr>
          <p:cNvPr id="85" name="Shape 83"/>
          <p:cNvSpPr/>
          <p:nvPr/>
        </p:nvSpPr>
        <p:spPr>
          <a:xfrm>
            <a:off x="9784080" y="5623560"/>
            <a:ext cx="1965960" cy="713232"/>
          </a:xfrm>
          <a:prstGeom prst="roundRect">
            <a:avLst>
              <a:gd name="adj" fmla="val 6410"/>
            </a:avLst>
          </a:prstGeom>
          <a:solidFill>
            <a:srgbClr val="EEF4FB"/>
          </a:solidFill>
          <a:ln w="9525">
            <a:solidFill>
              <a:srgbClr val="C8D8EC"/>
            </a:solidFill>
            <a:prstDash val="solid"/>
          </a:ln>
        </p:spPr>
      </p:sp>
      <p:sp>
        <p:nvSpPr>
          <p:cNvPr id="86" name="Text 84"/>
          <p:cNvSpPr txBox="1"/>
          <p:nvPr/>
        </p:nvSpPr>
        <p:spPr>
          <a:xfrm>
            <a:off x="9893808" y="5623560"/>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Report Owner</a:t>
            </a:r>
            <a:endParaRPr lang="en-US" sz="1050" dirty="0"/>
          </a:p>
        </p:txBody>
      </p:sp>
      <p:sp>
        <p:nvSpPr>
          <p:cNvPr id="87" name="Shape 85"/>
          <p:cNvSpPr/>
          <p:nvPr/>
        </p:nvSpPr>
        <p:spPr>
          <a:xfrm>
            <a:off x="11795760" y="5623560"/>
            <a:ext cx="2103120" cy="713232"/>
          </a:xfrm>
          <a:prstGeom prst="roundRect">
            <a:avLst>
              <a:gd name="adj" fmla="val 6410"/>
            </a:avLst>
          </a:prstGeom>
          <a:solidFill>
            <a:srgbClr val="EDF7F2"/>
          </a:solidFill>
          <a:ln w="9525">
            <a:solidFill>
              <a:srgbClr val="C8D8EC"/>
            </a:solidFill>
            <a:prstDash val="solid"/>
          </a:ln>
        </p:spPr>
      </p:sp>
      <p:sp>
        <p:nvSpPr>
          <p:cNvPr id="88" name="Text 86"/>
          <p:cNvSpPr txBox="1"/>
          <p:nvPr/>
        </p:nvSpPr>
        <p:spPr>
          <a:xfrm>
            <a:off x="11905488" y="5623560"/>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Report publication</a:t>
            </a:r>
            <a:endParaRPr lang="en-US" sz="1050" dirty="0"/>
          </a:p>
        </p:txBody>
      </p:sp>
      <p:sp>
        <p:nvSpPr>
          <p:cNvPr id="89" name="Shape 87"/>
          <p:cNvSpPr/>
          <p:nvPr/>
        </p:nvSpPr>
        <p:spPr>
          <a:xfrm>
            <a:off x="502920" y="6409944"/>
            <a:ext cx="2286000" cy="713232"/>
          </a:xfrm>
          <a:prstGeom prst="roundRect">
            <a:avLst>
              <a:gd name="adj" fmla="val 6410"/>
            </a:avLst>
          </a:prstGeom>
          <a:solidFill>
            <a:srgbClr val="FFFFFF"/>
          </a:solidFill>
          <a:ln w="9525">
            <a:solidFill>
              <a:srgbClr val="C8D8EC"/>
            </a:solidFill>
            <a:prstDash val="solid"/>
          </a:ln>
        </p:spPr>
      </p:sp>
      <p:sp>
        <p:nvSpPr>
          <p:cNvPr id="90" name="Shape 88"/>
          <p:cNvSpPr/>
          <p:nvPr/>
        </p:nvSpPr>
        <p:spPr>
          <a:xfrm>
            <a:off x="612648" y="6629400"/>
            <a:ext cx="274320" cy="274320"/>
          </a:xfrm>
          <a:prstGeom prst="ellipse">
            <a:avLst/>
          </a:prstGeom>
          <a:solidFill>
            <a:srgbClr val="F2A900"/>
          </a:solidFill>
          <a:ln w="12700">
            <a:solidFill>
              <a:srgbClr val="F2A900"/>
            </a:solidFill>
            <a:prstDash val="solid"/>
          </a:ln>
        </p:spPr>
      </p:sp>
      <p:sp>
        <p:nvSpPr>
          <p:cNvPr id="91" name="Text 89"/>
          <p:cNvSpPr txBox="1"/>
          <p:nvPr/>
        </p:nvSpPr>
        <p:spPr>
          <a:xfrm>
            <a:off x="612648" y="6629400"/>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7</a:t>
            </a:r>
            <a:endParaRPr lang="en-US" sz="950" dirty="0"/>
          </a:p>
        </p:txBody>
      </p:sp>
      <p:sp>
        <p:nvSpPr>
          <p:cNvPr id="92" name="Text 90"/>
          <p:cNvSpPr txBox="1"/>
          <p:nvPr/>
        </p:nvSpPr>
        <p:spPr>
          <a:xfrm>
            <a:off x="960120" y="6409944"/>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Ref Data Corrections</a:t>
            </a:r>
            <a:endParaRPr lang="en-US" sz="1100" dirty="0"/>
          </a:p>
        </p:txBody>
      </p:sp>
      <p:sp>
        <p:nvSpPr>
          <p:cNvPr id="93" name="Shape 91"/>
          <p:cNvSpPr/>
          <p:nvPr/>
        </p:nvSpPr>
        <p:spPr>
          <a:xfrm>
            <a:off x="2834640" y="6409944"/>
            <a:ext cx="3611880" cy="713232"/>
          </a:xfrm>
          <a:prstGeom prst="roundRect">
            <a:avLst>
              <a:gd name="adj" fmla="val 6410"/>
            </a:avLst>
          </a:prstGeom>
          <a:solidFill>
            <a:srgbClr val="F3F1FB"/>
          </a:solidFill>
          <a:ln w="9525">
            <a:solidFill>
              <a:srgbClr val="C8D8EC"/>
            </a:solidFill>
            <a:prstDash val="solid"/>
          </a:ln>
        </p:spPr>
      </p:sp>
      <p:sp>
        <p:nvSpPr>
          <p:cNvPr id="94" name="Text 92"/>
          <p:cNvSpPr txBox="1"/>
          <p:nvPr/>
        </p:nvSpPr>
        <p:spPr>
          <a:xfrm>
            <a:off x="2944368" y="6409944"/>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Root data cause, proposed correction</a:t>
            </a:r>
            <a:endParaRPr lang="en-US" sz="1050" dirty="0"/>
          </a:p>
        </p:txBody>
      </p:sp>
      <p:sp>
        <p:nvSpPr>
          <p:cNvPr id="95" name="Shape 93"/>
          <p:cNvSpPr/>
          <p:nvPr/>
        </p:nvSpPr>
        <p:spPr>
          <a:xfrm>
            <a:off x="6492240" y="6409944"/>
            <a:ext cx="3246120" cy="713232"/>
          </a:xfrm>
          <a:prstGeom prst="roundRect">
            <a:avLst>
              <a:gd name="adj" fmla="val 6410"/>
            </a:avLst>
          </a:prstGeom>
          <a:solidFill>
            <a:srgbClr val="E3ECF7"/>
          </a:solidFill>
          <a:ln w="9525">
            <a:solidFill>
              <a:srgbClr val="C8D8EC"/>
            </a:solidFill>
            <a:prstDash val="solid"/>
          </a:ln>
        </p:spPr>
      </p:sp>
      <p:sp>
        <p:nvSpPr>
          <p:cNvPr id="96" name="Text 94"/>
          <p:cNvSpPr txBox="1"/>
          <p:nvPr/>
        </p:nvSpPr>
        <p:spPr>
          <a:xfrm>
            <a:off x="6601968" y="6409944"/>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Approve correction instruction</a:t>
            </a:r>
            <a:endParaRPr lang="en-US" sz="1050" dirty="0"/>
          </a:p>
        </p:txBody>
      </p:sp>
      <p:sp>
        <p:nvSpPr>
          <p:cNvPr id="97" name="Shape 95"/>
          <p:cNvSpPr/>
          <p:nvPr/>
        </p:nvSpPr>
        <p:spPr>
          <a:xfrm>
            <a:off x="9784080" y="6409944"/>
            <a:ext cx="1965960" cy="713232"/>
          </a:xfrm>
          <a:prstGeom prst="roundRect">
            <a:avLst>
              <a:gd name="adj" fmla="val 6410"/>
            </a:avLst>
          </a:prstGeom>
          <a:solidFill>
            <a:srgbClr val="EEF4FB"/>
          </a:solidFill>
          <a:ln w="9525">
            <a:solidFill>
              <a:srgbClr val="C8D8EC"/>
            </a:solidFill>
            <a:prstDash val="solid"/>
          </a:ln>
        </p:spPr>
      </p:sp>
      <p:sp>
        <p:nvSpPr>
          <p:cNvPr id="98" name="Text 96"/>
          <p:cNvSpPr txBox="1"/>
          <p:nvPr/>
        </p:nvSpPr>
        <p:spPr>
          <a:xfrm>
            <a:off x="9893808" y="6409944"/>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Data Owner</a:t>
            </a:r>
            <a:endParaRPr lang="en-US" sz="1050" dirty="0"/>
          </a:p>
        </p:txBody>
      </p:sp>
      <p:sp>
        <p:nvSpPr>
          <p:cNvPr id="99" name="Shape 97"/>
          <p:cNvSpPr/>
          <p:nvPr/>
        </p:nvSpPr>
        <p:spPr>
          <a:xfrm>
            <a:off x="11795760" y="6409944"/>
            <a:ext cx="2103120" cy="713232"/>
          </a:xfrm>
          <a:prstGeom prst="roundRect">
            <a:avLst>
              <a:gd name="adj" fmla="val 6410"/>
            </a:avLst>
          </a:prstGeom>
          <a:solidFill>
            <a:srgbClr val="EDF7F2"/>
          </a:solidFill>
          <a:ln w="9525">
            <a:solidFill>
              <a:srgbClr val="C8D8EC"/>
            </a:solidFill>
            <a:prstDash val="solid"/>
          </a:ln>
        </p:spPr>
      </p:sp>
      <p:sp>
        <p:nvSpPr>
          <p:cNvPr id="100" name="Text 98"/>
          <p:cNvSpPr txBox="1"/>
          <p:nvPr/>
        </p:nvSpPr>
        <p:spPr>
          <a:xfrm>
            <a:off x="11905488" y="6409944"/>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Ref data service</a:t>
            </a:r>
            <a:endParaRPr lang="en-US" sz="1050" dirty="0"/>
          </a:p>
        </p:txBody>
      </p:sp>
      <p:sp>
        <p:nvSpPr>
          <p:cNvPr id="101" name="Shape 99"/>
          <p:cNvSpPr/>
          <p:nvPr/>
        </p:nvSpPr>
        <p:spPr>
          <a:xfrm>
            <a:off x="502920" y="7196328"/>
            <a:ext cx="2286000" cy="713232"/>
          </a:xfrm>
          <a:prstGeom prst="roundRect">
            <a:avLst>
              <a:gd name="adj" fmla="val 6410"/>
            </a:avLst>
          </a:prstGeom>
          <a:solidFill>
            <a:srgbClr val="FFFFFF"/>
          </a:solidFill>
          <a:ln w="9525">
            <a:solidFill>
              <a:srgbClr val="C8D8EC"/>
            </a:solidFill>
            <a:prstDash val="solid"/>
          </a:ln>
        </p:spPr>
      </p:sp>
      <p:sp>
        <p:nvSpPr>
          <p:cNvPr id="102" name="Shape 100"/>
          <p:cNvSpPr/>
          <p:nvPr/>
        </p:nvSpPr>
        <p:spPr>
          <a:xfrm>
            <a:off x="612648" y="7415784"/>
            <a:ext cx="274320" cy="274320"/>
          </a:xfrm>
          <a:prstGeom prst="ellipse">
            <a:avLst/>
          </a:prstGeom>
          <a:solidFill>
            <a:srgbClr val="F2A900"/>
          </a:solidFill>
          <a:ln w="12700">
            <a:solidFill>
              <a:srgbClr val="F2A900"/>
            </a:solidFill>
            <a:prstDash val="solid"/>
          </a:ln>
        </p:spPr>
      </p:sp>
      <p:sp>
        <p:nvSpPr>
          <p:cNvPr id="103" name="Text 101"/>
          <p:cNvSpPr txBox="1"/>
          <p:nvPr/>
        </p:nvSpPr>
        <p:spPr>
          <a:xfrm>
            <a:off x="612648" y="7415784"/>
            <a:ext cx="274320" cy="274320"/>
          </a:xfrm>
          <a:prstGeom prst="rect">
            <a:avLst/>
          </a:prstGeom>
          <a:noFill/>
          <a:ln/>
        </p:spPr>
        <p:txBody>
          <a:bodyPr wrap="square" lIns="0" tIns="0" rIns="0" bIns="0" rtlCol="0" anchor="ctr"/>
          <a:lstStyle/>
          <a:p>
            <a:pPr algn="ctr" indent="0" marL="0">
              <a:buNone/>
            </a:pPr>
            <a:r>
              <a:rPr lang="en-US" sz="950" b="1" dirty="0">
                <a:solidFill>
                  <a:srgbClr val="0B2E5E"/>
                </a:solidFill>
                <a:latin typeface="Calibri" pitchFamily="34" charset="0"/>
                <a:ea typeface="Calibri" pitchFamily="34" charset="-122"/>
                <a:cs typeface="Calibri" pitchFamily="34" charset="-120"/>
              </a:rPr>
              <a:t>8</a:t>
            </a:r>
            <a:endParaRPr lang="en-US" sz="950" dirty="0"/>
          </a:p>
        </p:txBody>
      </p:sp>
      <p:sp>
        <p:nvSpPr>
          <p:cNvPr id="104" name="Text 102"/>
          <p:cNvSpPr txBox="1"/>
          <p:nvPr/>
        </p:nvSpPr>
        <p:spPr>
          <a:xfrm>
            <a:off x="960120" y="7196328"/>
            <a:ext cx="178308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Access &amp; Workflow</a:t>
            </a:r>
            <a:endParaRPr lang="en-US" sz="1100" dirty="0"/>
          </a:p>
        </p:txBody>
      </p:sp>
      <p:sp>
        <p:nvSpPr>
          <p:cNvPr id="105" name="Shape 103"/>
          <p:cNvSpPr/>
          <p:nvPr/>
        </p:nvSpPr>
        <p:spPr>
          <a:xfrm>
            <a:off x="2834640" y="7196328"/>
            <a:ext cx="3611880" cy="713232"/>
          </a:xfrm>
          <a:prstGeom prst="roundRect">
            <a:avLst>
              <a:gd name="adj" fmla="val 6410"/>
            </a:avLst>
          </a:prstGeom>
          <a:solidFill>
            <a:srgbClr val="F3F1FB"/>
          </a:solidFill>
          <a:ln w="9525">
            <a:solidFill>
              <a:srgbClr val="C8D8EC"/>
            </a:solidFill>
            <a:prstDash val="solid"/>
          </a:ln>
        </p:spPr>
      </p:sp>
      <p:sp>
        <p:nvSpPr>
          <p:cNvPr id="106" name="Text 104"/>
          <p:cNvSpPr txBox="1"/>
          <p:nvPr/>
        </p:nvSpPr>
        <p:spPr>
          <a:xfrm>
            <a:off x="2944368" y="7196328"/>
            <a:ext cx="3392424" cy="713232"/>
          </a:xfrm>
          <a:prstGeom prst="rect">
            <a:avLst/>
          </a:prstGeom>
          <a:noFill/>
          <a:ln/>
        </p:spPr>
        <p:txBody>
          <a:bodyPr wrap="square" lIns="0" tIns="0" rIns="0" bIns="0" rtlCol="0" anchor="ctr"/>
          <a:lstStyle/>
          <a:p>
            <a:pPr algn="l" indent="0" marL="0">
              <a:buNone/>
            </a:pPr>
            <a:r>
              <a:rPr lang="en-US" sz="1050" dirty="0">
                <a:solidFill>
                  <a:srgbClr val="1F2D3D"/>
                </a:solidFill>
                <a:latin typeface="Calibri" pitchFamily="34" charset="0"/>
                <a:ea typeface="Calibri" pitchFamily="34" charset="-122"/>
                <a:cs typeface="Calibri" pitchFamily="34" charset="-120"/>
              </a:rPr>
              <a:t>Risk-ranked access list, SoD flags</a:t>
            </a:r>
            <a:endParaRPr lang="en-US" sz="1050" dirty="0"/>
          </a:p>
        </p:txBody>
      </p:sp>
      <p:sp>
        <p:nvSpPr>
          <p:cNvPr id="107" name="Shape 105"/>
          <p:cNvSpPr/>
          <p:nvPr/>
        </p:nvSpPr>
        <p:spPr>
          <a:xfrm>
            <a:off x="6492240" y="7196328"/>
            <a:ext cx="3246120" cy="713232"/>
          </a:xfrm>
          <a:prstGeom prst="roundRect">
            <a:avLst>
              <a:gd name="adj" fmla="val 6410"/>
            </a:avLst>
          </a:prstGeom>
          <a:solidFill>
            <a:srgbClr val="E3ECF7"/>
          </a:solidFill>
          <a:ln w="9525">
            <a:solidFill>
              <a:srgbClr val="C8D8EC"/>
            </a:solidFill>
            <a:prstDash val="solid"/>
          </a:ln>
        </p:spPr>
      </p:sp>
      <p:sp>
        <p:nvSpPr>
          <p:cNvPr id="108" name="Text 106"/>
          <p:cNvSpPr txBox="1"/>
          <p:nvPr/>
        </p:nvSpPr>
        <p:spPr>
          <a:xfrm>
            <a:off x="6601968" y="7196328"/>
            <a:ext cx="3026664" cy="713232"/>
          </a:xfrm>
          <a:prstGeom prst="rect">
            <a:avLst/>
          </a:prstGeom>
          <a:noFill/>
          <a:ln/>
        </p:spPr>
        <p:txBody>
          <a:bodyPr wrap="square" lIns="0" tIns="0" rIns="0" bIns="0" rtlCol="0" anchor="ctr"/>
          <a:lstStyle/>
          <a:p>
            <a:pPr algn="l" indent="0" marL="0">
              <a:buNone/>
            </a:pPr>
            <a:r>
              <a:rPr lang="en-US" sz="1050" b="1" dirty="0">
                <a:solidFill>
                  <a:srgbClr val="0B2E5E"/>
                </a:solidFill>
                <a:latin typeface="Calibri" pitchFamily="34" charset="0"/>
                <a:ea typeface="Calibri" pitchFamily="34" charset="-122"/>
                <a:cs typeface="Calibri" pitchFamily="34" charset="-120"/>
              </a:rPr>
              <a:t>Certify or revoke each item</a:t>
            </a:r>
            <a:endParaRPr lang="en-US" sz="1050" dirty="0"/>
          </a:p>
        </p:txBody>
      </p:sp>
      <p:sp>
        <p:nvSpPr>
          <p:cNvPr id="109" name="Shape 107"/>
          <p:cNvSpPr/>
          <p:nvPr/>
        </p:nvSpPr>
        <p:spPr>
          <a:xfrm>
            <a:off x="9784080" y="7196328"/>
            <a:ext cx="1965960" cy="713232"/>
          </a:xfrm>
          <a:prstGeom prst="roundRect">
            <a:avLst>
              <a:gd name="adj" fmla="val 6410"/>
            </a:avLst>
          </a:prstGeom>
          <a:solidFill>
            <a:srgbClr val="EEF4FB"/>
          </a:solidFill>
          <a:ln w="9525">
            <a:solidFill>
              <a:srgbClr val="C8D8EC"/>
            </a:solidFill>
            <a:prstDash val="solid"/>
          </a:ln>
        </p:spPr>
      </p:sp>
      <p:sp>
        <p:nvSpPr>
          <p:cNvPr id="110" name="Text 108"/>
          <p:cNvSpPr txBox="1"/>
          <p:nvPr/>
        </p:nvSpPr>
        <p:spPr>
          <a:xfrm>
            <a:off x="9893808" y="7196328"/>
            <a:ext cx="174650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Approver</a:t>
            </a:r>
            <a:endParaRPr lang="en-US" sz="1050" dirty="0"/>
          </a:p>
        </p:txBody>
      </p:sp>
      <p:sp>
        <p:nvSpPr>
          <p:cNvPr id="111" name="Shape 109"/>
          <p:cNvSpPr/>
          <p:nvPr/>
        </p:nvSpPr>
        <p:spPr>
          <a:xfrm>
            <a:off x="11795760" y="7196328"/>
            <a:ext cx="2103120" cy="713232"/>
          </a:xfrm>
          <a:prstGeom prst="roundRect">
            <a:avLst>
              <a:gd name="adj" fmla="val 6410"/>
            </a:avLst>
          </a:prstGeom>
          <a:solidFill>
            <a:srgbClr val="EDF7F2"/>
          </a:solidFill>
          <a:ln w="9525">
            <a:solidFill>
              <a:srgbClr val="C8D8EC"/>
            </a:solidFill>
            <a:prstDash val="solid"/>
          </a:ln>
        </p:spPr>
      </p:sp>
      <p:sp>
        <p:nvSpPr>
          <p:cNvPr id="112" name="Text 110"/>
          <p:cNvSpPr txBox="1"/>
          <p:nvPr/>
        </p:nvSpPr>
        <p:spPr>
          <a:xfrm>
            <a:off x="11905488" y="7196328"/>
            <a:ext cx="1883664" cy="713232"/>
          </a:xfrm>
          <a:prstGeom prst="rect">
            <a:avLst/>
          </a:prstGeom>
          <a:noFill/>
          <a:ln/>
        </p:spPr>
        <p:txBody>
          <a:bodyPr wrap="square" lIns="0" tIns="0" rIns="0" bIns="0" rtlCol="0" anchor="ctr"/>
          <a:lstStyle/>
          <a:p>
            <a:pPr algn="ctr" indent="0" marL="0">
              <a:buNone/>
            </a:pPr>
            <a:r>
              <a:rPr lang="en-US" sz="1050" dirty="0">
                <a:solidFill>
                  <a:srgbClr val="1F2D3D"/>
                </a:solidFill>
                <a:latin typeface="Calibri" pitchFamily="34" charset="0"/>
                <a:ea typeface="Calibri" pitchFamily="34" charset="-122"/>
                <a:cs typeface="Calibri" pitchFamily="34" charset="-120"/>
              </a:rPr>
              <a:t>Entitlement System</a:t>
            </a:r>
            <a:endParaRPr lang="en-US" sz="1050" dirty="0"/>
          </a:p>
        </p:txBody>
      </p:sp>
      <p:sp>
        <p:nvSpPr>
          <p:cNvPr id="113" name="Shape 111"/>
          <p:cNvSpPr/>
          <p:nvPr/>
        </p:nvSpPr>
        <p:spPr>
          <a:xfrm>
            <a:off x="502920" y="8138160"/>
            <a:ext cx="13624560" cy="914400"/>
          </a:xfrm>
          <a:prstGeom prst="roundRect">
            <a:avLst>
              <a:gd name="adj" fmla="val 8000"/>
            </a:avLst>
          </a:prstGeom>
          <a:solidFill>
            <a:srgbClr val="FFFFFF"/>
          </a:solidFill>
          <a:ln w="9525">
            <a:solidFill>
              <a:srgbClr val="C8D8EC"/>
            </a:solidFill>
            <a:prstDash val="solid"/>
          </a:ln>
        </p:spPr>
      </p:sp>
      <p:sp>
        <p:nvSpPr>
          <p:cNvPr id="114" name="Shape 112"/>
          <p:cNvSpPr/>
          <p:nvPr/>
        </p:nvSpPr>
        <p:spPr>
          <a:xfrm>
            <a:off x="685800" y="8321040"/>
            <a:ext cx="548640" cy="548640"/>
          </a:xfrm>
          <a:prstGeom prst="ellipse">
            <a:avLst/>
          </a:prstGeom>
          <a:solidFill>
            <a:srgbClr val="1B4F93"/>
          </a:solidFill>
          <a:ln w="12700">
            <a:solidFill>
              <a:srgbClr val="1B4F93"/>
            </a:solidFill>
            <a:prstDash val="solid"/>
          </a:ln>
        </p:spPr>
      </p:sp>
      <p:pic>
        <p:nvPicPr>
          <p:cNvPr id="115" name="Image 0" descr="preencoded.png">    </p:cNvPr>
          <p:cNvPicPr>
            <a:picLocks noChangeAspect="1"/>
          </p:cNvPicPr>
          <p:nvPr/>
        </p:nvPicPr>
        <p:blipFill>
          <a:blip r:embed="rId1"/>
          <a:stretch>
            <a:fillRect/>
          </a:stretch>
        </p:blipFill>
        <p:spPr>
          <a:xfrm>
            <a:off x="828446" y="8463686"/>
            <a:ext cx="263347" cy="263347"/>
          </a:xfrm>
          <a:prstGeom prst="rect">
            <a:avLst/>
          </a:prstGeom>
        </p:spPr>
      </p:pic>
      <p:sp>
        <p:nvSpPr>
          <p:cNvPr id="116" name="Text 113"/>
          <p:cNvSpPr txBox="1"/>
          <p:nvPr/>
        </p:nvSpPr>
        <p:spPr>
          <a:xfrm>
            <a:off x="1417320" y="8138160"/>
            <a:ext cx="12527280" cy="914400"/>
          </a:xfrm>
          <a:prstGeom prst="rect">
            <a:avLst/>
          </a:prstGeom>
          <a:noFill/>
          <a:ln/>
        </p:spPr>
        <p:txBody>
          <a:bodyPr wrap="square" lIns="0" tIns="0" rIns="0" bIns="0" rtlCol="0" anchor="ctr"/>
          <a:lstStyle/>
          <a:p>
            <a:pPr indent="0" marL="0">
              <a:buNone/>
            </a:pPr>
            <a:r>
              <a:rPr lang="en-US" sz="1400" b="1" dirty="0">
                <a:solidFill>
                  <a:srgbClr val="0B2E5E"/>
                </a:solidFill>
                <a:latin typeface="Calibri" pitchFamily="34" charset="0"/>
                <a:ea typeface="Calibri" pitchFamily="34" charset="-122"/>
                <a:cs typeface="Calibri" pitchFamily="34" charset="-120"/>
              </a:rPr>
              <a:t>Every row has exactly one gate, owned by a named person with the same authority they hold today. No gate, no action.</a:t>
            </a:r>
            <a:endParaRPr lang="en-US" sz="1400" dirty="0"/>
          </a:p>
        </p:txBody>
      </p:sp>
      <p:sp>
        <p:nvSpPr>
          <p:cNvPr id="117" name="Shape 114"/>
          <p:cNvSpPr/>
          <p:nvPr/>
        </p:nvSpPr>
        <p:spPr>
          <a:xfrm>
            <a:off x="0" y="9272016"/>
            <a:ext cx="14630400" cy="484632"/>
          </a:xfrm>
          <a:prstGeom prst="rect">
            <a:avLst/>
          </a:prstGeom>
          <a:solidFill>
            <a:srgbClr val="0B2E5E"/>
          </a:solidFill>
          <a:ln w="12700">
            <a:solidFill>
              <a:srgbClr val="0B2E5E"/>
            </a:solidFill>
            <a:prstDash val="solid"/>
          </a:ln>
        </p:spPr>
      </p:sp>
      <p:sp>
        <p:nvSpPr>
          <p:cNvPr id="118" name="Text 115"/>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One gate per action. One owner per gate.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Who Does What: Agent, Person, System</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The agent does the preparation. The person keeps judgement and authority.</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502920" y="1234440"/>
            <a:ext cx="2971800" cy="329184"/>
          </a:xfrm>
          <a:prstGeom prst="roundRect">
            <a:avLst>
              <a:gd name="adj" fmla="val 13889"/>
            </a:avLst>
          </a:prstGeom>
          <a:solidFill>
            <a:srgbClr val="5A6B82"/>
          </a:solidFill>
          <a:ln w="12700">
            <a:solidFill>
              <a:srgbClr val="5A6B82"/>
            </a:solidFill>
            <a:prstDash val="solid"/>
          </a:ln>
        </p:spPr>
      </p:sp>
      <p:sp>
        <p:nvSpPr>
          <p:cNvPr id="8" name="Text 6"/>
          <p:cNvSpPr txBox="1"/>
          <p:nvPr/>
        </p:nvSpPr>
        <p:spPr>
          <a:xfrm>
            <a:off x="502920" y="1234440"/>
            <a:ext cx="297180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STEP</a:t>
            </a:r>
            <a:endParaRPr lang="en-US" sz="950" dirty="0"/>
          </a:p>
        </p:txBody>
      </p:sp>
      <p:sp>
        <p:nvSpPr>
          <p:cNvPr id="9" name="Shape 7"/>
          <p:cNvSpPr/>
          <p:nvPr/>
        </p:nvSpPr>
        <p:spPr>
          <a:xfrm>
            <a:off x="3520440" y="1234440"/>
            <a:ext cx="1965960" cy="329184"/>
          </a:xfrm>
          <a:prstGeom prst="roundRect">
            <a:avLst>
              <a:gd name="adj" fmla="val 13889"/>
            </a:avLst>
          </a:prstGeom>
          <a:solidFill>
            <a:srgbClr val="5B4FA8"/>
          </a:solidFill>
          <a:ln w="12700">
            <a:solidFill>
              <a:srgbClr val="5B4FA8"/>
            </a:solidFill>
            <a:prstDash val="solid"/>
          </a:ln>
        </p:spPr>
      </p:sp>
      <p:sp>
        <p:nvSpPr>
          <p:cNvPr id="10" name="Text 8"/>
          <p:cNvSpPr txBox="1"/>
          <p:nvPr/>
        </p:nvSpPr>
        <p:spPr>
          <a:xfrm>
            <a:off x="3520440" y="1234440"/>
            <a:ext cx="19659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AGENT</a:t>
            </a:r>
            <a:endParaRPr lang="en-US" sz="950" dirty="0"/>
          </a:p>
        </p:txBody>
      </p:sp>
      <p:sp>
        <p:nvSpPr>
          <p:cNvPr id="11" name="Shape 9"/>
          <p:cNvSpPr/>
          <p:nvPr/>
        </p:nvSpPr>
        <p:spPr>
          <a:xfrm>
            <a:off x="5532120" y="1234440"/>
            <a:ext cx="1965960" cy="329184"/>
          </a:xfrm>
          <a:prstGeom prst="roundRect">
            <a:avLst>
              <a:gd name="adj" fmla="val 13889"/>
            </a:avLst>
          </a:prstGeom>
          <a:solidFill>
            <a:srgbClr val="1B4F93"/>
          </a:solidFill>
          <a:ln w="12700">
            <a:solidFill>
              <a:srgbClr val="1B4F93"/>
            </a:solidFill>
            <a:prstDash val="solid"/>
          </a:ln>
        </p:spPr>
      </p:sp>
      <p:sp>
        <p:nvSpPr>
          <p:cNvPr id="12" name="Text 10"/>
          <p:cNvSpPr txBox="1"/>
          <p:nvPr/>
        </p:nvSpPr>
        <p:spPr>
          <a:xfrm>
            <a:off x="5532120" y="1234440"/>
            <a:ext cx="19659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PERSON</a:t>
            </a:r>
            <a:endParaRPr lang="en-US" sz="950" dirty="0"/>
          </a:p>
        </p:txBody>
      </p:sp>
      <p:sp>
        <p:nvSpPr>
          <p:cNvPr id="13" name="Shape 11"/>
          <p:cNvSpPr/>
          <p:nvPr/>
        </p:nvSpPr>
        <p:spPr>
          <a:xfrm>
            <a:off x="7543800" y="1234440"/>
            <a:ext cx="1965960" cy="329184"/>
          </a:xfrm>
          <a:prstGeom prst="roundRect">
            <a:avLst>
              <a:gd name="adj" fmla="val 13889"/>
            </a:avLst>
          </a:prstGeom>
          <a:solidFill>
            <a:srgbClr val="1E8A5A"/>
          </a:solidFill>
          <a:ln w="12700">
            <a:solidFill>
              <a:srgbClr val="1E8A5A"/>
            </a:solidFill>
            <a:prstDash val="solid"/>
          </a:ln>
        </p:spPr>
      </p:sp>
      <p:sp>
        <p:nvSpPr>
          <p:cNvPr id="14" name="Text 12"/>
          <p:cNvSpPr txBox="1"/>
          <p:nvPr/>
        </p:nvSpPr>
        <p:spPr>
          <a:xfrm>
            <a:off x="7543800" y="1234440"/>
            <a:ext cx="196596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EXISTING SYSTEM</a:t>
            </a:r>
            <a:endParaRPr lang="en-US" sz="950" dirty="0"/>
          </a:p>
        </p:txBody>
      </p:sp>
      <p:sp>
        <p:nvSpPr>
          <p:cNvPr id="15" name="Shape 13"/>
          <p:cNvSpPr/>
          <p:nvPr/>
        </p:nvSpPr>
        <p:spPr>
          <a:xfrm>
            <a:off x="502920" y="1691640"/>
            <a:ext cx="2971800" cy="566928"/>
          </a:xfrm>
          <a:prstGeom prst="roundRect">
            <a:avLst>
              <a:gd name="adj" fmla="val 8065"/>
            </a:avLst>
          </a:prstGeom>
          <a:solidFill>
            <a:srgbClr val="FFFFFF"/>
          </a:solidFill>
          <a:ln w="9525">
            <a:solidFill>
              <a:srgbClr val="C8D8EC"/>
            </a:solidFill>
            <a:prstDash val="solid"/>
          </a:ln>
        </p:spPr>
      </p:sp>
      <p:sp>
        <p:nvSpPr>
          <p:cNvPr id="16" name="Text 14"/>
          <p:cNvSpPr txBox="1"/>
          <p:nvPr/>
        </p:nvSpPr>
        <p:spPr>
          <a:xfrm>
            <a:off x="640080" y="169164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Gather data</a:t>
            </a:r>
            <a:endParaRPr lang="en-US" sz="1200" dirty="0"/>
          </a:p>
        </p:txBody>
      </p:sp>
      <p:sp>
        <p:nvSpPr>
          <p:cNvPr id="17" name="Shape 15"/>
          <p:cNvSpPr/>
          <p:nvPr/>
        </p:nvSpPr>
        <p:spPr>
          <a:xfrm>
            <a:off x="3520440" y="1691640"/>
            <a:ext cx="1965960" cy="566928"/>
          </a:xfrm>
          <a:prstGeom prst="roundRect">
            <a:avLst>
              <a:gd name="adj" fmla="val 8065"/>
            </a:avLst>
          </a:prstGeom>
          <a:solidFill>
            <a:srgbClr val="FFFFFF"/>
          </a:solidFill>
          <a:ln w="9525">
            <a:solidFill>
              <a:srgbClr val="C8D8EC"/>
            </a:solidFill>
            <a:prstDash val="solid"/>
          </a:ln>
        </p:spPr>
      </p:sp>
      <p:sp>
        <p:nvSpPr>
          <p:cNvPr id="18" name="Shape 16"/>
          <p:cNvSpPr/>
          <p:nvPr/>
        </p:nvSpPr>
        <p:spPr>
          <a:xfrm>
            <a:off x="4000500" y="1819656"/>
            <a:ext cx="1005840" cy="310896"/>
          </a:xfrm>
          <a:prstGeom prst="roundRect">
            <a:avLst>
              <a:gd name="adj" fmla="val 50000"/>
            </a:avLst>
          </a:prstGeom>
          <a:solidFill>
            <a:srgbClr val="5B4FA8"/>
          </a:solidFill>
          <a:ln w="9525">
            <a:solidFill>
              <a:srgbClr val="5B4FA8"/>
            </a:solidFill>
            <a:prstDash val="solid"/>
          </a:ln>
        </p:spPr>
      </p:sp>
      <p:sp>
        <p:nvSpPr>
          <p:cNvPr id="19" name="Text 17"/>
          <p:cNvSpPr txBox="1"/>
          <p:nvPr/>
        </p:nvSpPr>
        <p:spPr>
          <a:xfrm>
            <a:off x="4000500" y="181965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20" name="Shape 18"/>
          <p:cNvSpPr/>
          <p:nvPr/>
        </p:nvSpPr>
        <p:spPr>
          <a:xfrm>
            <a:off x="5532120" y="1691640"/>
            <a:ext cx="1965960" cy="566928"/>
          </a:xfrm>
          <a:prstGeom prst="roundRect">
            <a:avLst>
              <a:gd name="adj" fmla="val 8065"/>
            </a:avLst>
          </a:prstGeom>
          <a:solidFill>
            <a:srgbClr val="FFFFFF"/>
          </a:solidFill>
          <a:ln w="9525">
            <a:solidFill>
              <a:srgbClr val="C8D8EC"/>
            </a:solidFill>
            <a:prstDash val="solid"/>
          </a:ln>
        </p:spPr>
      </p:sp>
      <p:sp>
        <p:nvSpPr>
          <p:cNvPr id="21" name="Shape 19"/>
          <p:cNvSpPr/>
          <p:nvPr/>
        </p:nvSpPr>
        <p:spPr>
          <a:xfrm>
            <a:off x="7543800" y="1691640"/>
            <a:ext cx="1965960" cy="566928"/>
          </a:xfrm>
          <a:prstGeom prst="roundRect">
            <a:avLst>
              <a:gd name="adj" fmla="val 8065"/>
            </a:avLst>
          </a:prstGeom>
          <a:solidFill>
            <a:srgbClr val="FFFFFF"/>
          </a:solidFill>
          <a:ln w="9525">
            <a:solidFill>
              <a:srgbClr val="C8D8EC"/>
            </a:solidFill>
            <a:prstDash val="solid"/>
          </a:ln>
        </p:spPr>
      </p:sp>
      <p:sp>
        <p:nvSpPr>
          <p:cNvPr id="22" name="Shape 20"/>
          <p:cNvSpPr/>
          <p:nvPr/>
        </p:nvSpPr>
        <p:spPr>
          <a:xfrm>
            <a:off x="8023860" y="1819656"/>
            <a:ext cx="1005840" cy="310896"/>
          </a:xfrm>
          <a:prstGeom prst="roundRect">
            <a:avLst>
              <a:gd name="adj" fmla="val 50000"/>
            </a:avLst>
          </a:prstGeom>
          <a:solidFill>
            <a:srgbClr val="FFFFFF"/>
          </a:solidFill>
          <a:ln w="9525">
            <a:solidFill>
              <a:srgbClr val="1E8A5A"/>
            </a:solidFill>
            <a:prstDash val="solid"/>
          </a:ln>
        </p:spPr>
      </p:sp>
      <p:sp>
        <p:nvSpPr>
          <p:cNvPr id="23" name="Text 21"/>
          <p:cNvSpPr txBox="1"/>
          <p:nvPr/>
        </p:nvSpPr>
        <p:spPr>
          <a:xfrm>
            <a:off x="8023860" y="1819656"/>
            <a:ext cx="1005840" cy="310896"/>
          </a:xfrm>
          <a:prstGeom prst="rect">
            <a:avLst/>
          </a:prstGeom>
          <a:noFill/>
          <a:ln/>
        </p:spPr>
        <p:txBody>
          <a:bodyPr wrap="square" lIns="0" tIns="0" rIns="0" bIns="0" rtlCol="0" anchor="ctr"/>
          <a:lstStyle/>
          <a:p>
            <a:pPr algn="ctr" indent="0" marL="0">
              <a:buNone/>
            </a:pPr>
            <a:r>
              <a:rPr lang="en-US" sz="1000" b="1" dirty="0">
                <a:solidFill>
                  <a:srgbClr val="1E8A5A"/>
                </a:solidFill>
                <a:latin typeface="Calibri" pitchFamily="34" charset="0"/>
                <a:ea typeface="Calibri" pitchFamily="34" charset="-122"/>
                <a:cs typeface="Calibri" pitchFamily="34" charset="-120"/>
              </a:rPr>
              <a:t>Supports</a:t>
            </a:r>
            <a:endParaRPr lang="en-US" sz="1000" dirty="0"/>
          </a:p>
        </p:txBody>
      </p:sp>
      <p:sp>
        <p:nvSpPr>
          <p:cNvPr id="24" name="Shape 22"/>
          <p:cNvSpPr/>
          <p:nvPr/>
        </p:nvSpPr>
        <p:spPr>
          <a:xfrm>
            <a:off x="502920" y="2331720"/>
            <a:ext cx="2971800" cy="566928"/>
          </a:xfrm>
          <a:prstGeom prst="roundRect">
            <a:avLst>
              <a:gd name="adj" fmla="val 8065"/>
            </a:avLst>
          </a:prstGeom>
          <a:solidFill>
            <a:srgbClr val="FFFFFF"/>
          </a:solidFill>
          <a:ln w="9525">
            <a:solidFill>
              <a:srgbClr val="C8D8EC"/>
            </a:solidFill>
            <a:prstDash val="solid"/>
          </a:ln>
        </p:spPr>
      </p:sp>
      <p:sp>
        <p:nvSpPr>
          <p:cNvPr id="25" name="Text 23"/>
          <p:cNvSpPr txBox="1"/>
          <p:nvPr/>
        </p:nvSpPr>
        <p:spPr>
          <a:xfrm>
            <a:off x="640080" y="233172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Compute figures</a:t>
            </a:r>
            <a:endParaRPr lang="en-US" sz="1200" dirty="0"/>
          </a:p>
        </p:txBody>
      </p:sp>
      <p:sp>
        <p:nvSpPr>
          <p:cNvPr id="26" name="Shape 24"/>
          <p:cNvSpPr/>
          <p:nvPr/>
        </p:nvSpPr>
        <p:spPr>
          <a:xfrm>
            <a:off x="3520440" y="2331720"/>
            <a:ext cx="1965960" cy="566928"/>
          </a:xfrm>
          <a:prstGeom prst="roundRect">
            <a:avLst>
              <a:gd name="adj" fmla="val 8065"/>
            </a:avLst>
          </a:prstGeom>
          <a:solidFill>
            <a:srgbClr val="FFFFFF"/>
          </a:solidFill>
          <a:ln w="9525">
            <a:solidFill>
              <a:srgbClr val="C8D8EC"/>
            </a:solidFill>
            <a:prstDash val="solid"/>
          </a:ln>
        </p:spPr>
      </p:sp>
      <p:sp>
        <p:nvSpPr>
          <p:cNvPr id="27" name="Shape 25"/>
          <p:cNvSpPr/>
          <p:nvPr/>
        </p:nvSpPr>
        <p:spPr>
          <a:xfrm>
            <a:off x="5532120" y="2331720"/>
            <a:ext cx="1965960" cy="566928"/>
          </a:xfrm>
          <a:prstGeom prst="roundRect">
            <a:avLst>
              <a:gd name="adj" fmla="val 8065"/>
            </a:avLst>
          </a:prstGeom>
          <a:solidFill>
            <a:srgbClr val="FFFFFF"/>
          </a:solidFill>
          <a:ln w="9525">
            <a:solidFill>
              <a:srgbClr val="C8D8EC"/>
            </a:solidFill>
            <a:prstDash val="solid"/>
          </a:ln>
        </p:spPr>
      </p:sp>
      <p:sp>
        <p:nvSpPr>
          <p:cNvPr id="28" name="Shape 26"/>
          <p:cNvSpPr/>
          <p:nvPr/>
        </p:nvSpPr>
        <p:spPr>
          <a:xfrm>
            <a:off x="7543800" y="2331720"/>
            <a:ext cx="1965960" cy="566928"/>
          </a:xfrm>
          <a:prstGeom prst="roundRect">
            <a:avLst>
              <a:gd name="adj" fmla="val 8065"/>
            </a:avLst>
          </a:prstGeom>
          <a:solidFill>
            <a:srgbClr val="FFFFFF"/>
          </a:solidFill>
          <a:ln w="9525">
            <a:solidFill>
              <a:srgbClr val="C8D8EC"/>
            </a:solidFill>
            <a:prstDash val="solid"/>
          </a:ln>
        </p:spPr>
      </p:sp>
      <p:sp>
        <p:nvSpPr>
          <p:cNvPr id="29" name="Shape 27"/>
          <p:cNvSpPr/>
          <p:nvPr/>
        </p:nvSpPr>
        <p:spPr>
          <a:xfrm>
            <a:off x="8023860" y="2459736"/>
            <a:ext cx="1005840" cy="310896"/>
          </a:xfrm>
          <a:prstGeom prst="roundRect">
            <a:avLst>
              <a:gd name="adj" fmla="val 50000"/>
            </a:avLst>
          </a:prstGeom>
          <a:solidFill>
            <a:srgbClr val="1E8A5A"/>
          </a:solidFill>
          <a:ln w="9525">
            <a:solidFill>
              <a:srgbClr val="1E8A5A"/>
            </a:solidFill>
            <a:prstDash val="solid"/>
          </a:ln>
        </p:spPr>
      </p:sp>
      <p:sp>
        <p:nvSpPr>
          <p:cNvPr id="30" name="Text 28"/>
          <p:cNvSpPr txBox="1"/>
          <p:nvPr/>
        </p:nvSpPr>
        <p:spPr>
          <a:xfrm>
            <a:off x="8023860" y="245973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31" name="Shape 29"/>
          <p:cNvSpPr/>
          <p:nvPr/>
        </p:nvSpPr>
        <p:spPr>
          <a:xfrm>
            <a:off x="502920" y="2971800"/>
            <a:ext cx="2971800" cy="566928"/>
          </a:xfrm>
          <a:prstGeom prst="roundRect">
            <a:avLst>
              <a:gd name="adj" fmla="val 8065"/>
            </a:avLst>
          </a:prstGeom>
          <a:solidFill>
            <a:srgbClr val="FFFFFF"/>
          </a:solidFill>
          <a:ln w="9525">
            <a:solidFill>
              <a:srgbClr val="C8D8EC"/>
            </a:solidFill>
            <a:prstDash val="solid"/>
          </a:ln>
        </p:spPr>
      </p:sp>
      <p:sp>
        <p:nvSpPr>
          <p:cNvPr id="32" name="Text 30"/>
          <p:cNvSpPr txBox="1"/>
          <p:nvPr/>
        </p:nvSpPr>
        <p:spPr>
          <a:xfrm>
            <a:off x="640080" y="297180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Investigate and classify</a:t>
            </a:r>
            <a:endParaRPr lang="en-US" sz="1200" dirty="0"/>
          </a:p>
        </p:txBody>
      </p:sp>
      <p:sp>
        <p:nvSpPr>
          <p:cNvPr id="33" name="Shape 31"/>
          <p:cNvSpPr/>
          <p:nvPr/>
        </p:nvSpPr>
        <p:spPr>
          <a:xfrm>
            <a:off x="3520440" y="2971800"/>
            <a:ext cx="1965960" cy="566928"/>
          </a:xfrm>
          <a:prstGeom prst="roundRect">
            <a:avLst>
              <a:gd name="adj" fmla="val 8065"/>
            </a:avLst>
          </a:prstGeom>
          <a:solidFill>
            <a:srgbClr val="FFFFFF"/>
          </a:solidFill>
          <a:ln w="9525">
            <a:solidFill>
              <a:srgbClr val="C8D8EC"/>
            </a:solidFill>
            <a:prstDash val="solid"/>
          </a:ln>
        </p:spPr>
      </p:sp>
      <p:sp>
        <p:nvSpPr>
          <p:cNvPr id="34" name="Shape 32"/>
          <p:cNvSpPr/>
          <p:nvPr/>
        </p:nvSpPr>
        <p:spPr>
          <a:xfrm>
            <a:off x="4000500" y="3099816"/>
            <a:ext cx="1005840" cy="310896"/>
          </a:xfrm>
          <a:prstGeom prst="roundRect">
            <a:avLst>
              <a:gd name="adj" fmla="val 50000"/>
            </a:avLst>
          </a:prstGeom>
          <a:solidFill>
            <a:srgbClr val="5B4FA8"/>
          </a:solidFill>
          <a:ln w="9525">
            <a:solidFill>
              <a:srgbClr val="5B4FA8"/>
            </a:solidFill>
            <a:prstDash val="solid"/>
          </a:ln>
        </p:spPr>
      </p:sp>
      <p:sp>
        <p:nvSpPr>
          <p:cNvPr id="35" name="Text 33"/>
          <p:cNvSpPr txBox="1"/>
          <p:nvPr/>
        </p:nvSpPr>
        <p:spPr>
          <a:xfrm>
            <a:off x="4000500" y="309981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36" name="Shape 34"/>
          <p:cNvSpPr/>
          <p:nvPr/>
        </p:nvSpPr>
        <p:spPr>
          <a:xfrm>
            <a:off x="5532120" y="2971800"/>
            <a:ext cx="1965960" cy="566928"/>
          </a:xfrm>
          <a:prstGeom prst="roundRect">
            <a:avLst>
              <a:gd name="adj" fmla="val 8065"/>
            </a:avLst>
          </a:prstGeom>
          <a:solidFill>
            <a:srgbClr val="FFFFFF"/>
          </a:solidFill>
          <a:ln w="9525">
            <a:solidFill>
              <a:srgbClr val="C8D8EC"/>
            </a:solidFill>
            <a:prstDash val="solid"/>
          </a:ln>
        </p:spPr>
      </p:sp>
      <p:sp>
        <p:nvSpPr>
          <p:cNvPr id="37" name="Shape 35"/>
          <p:cNvSpPr/>
          <p:nvPr/>
        </p:nvSpPr>
        <p:spPr>
          <a:xfrm>
            <a:off x="6012180" y="3099816"/>
            <a:ext cx="1005840" cy="310896"/>
          </a:xfrm>
          <a:prstGeom prst="roundRect">
            <a:avLst>
              <a:gd name="adj" fmla="val 50000"/>
            </a:avLst>
          </a:prstGeom>
          <a:solidFill>
            <a:srgbClr val="FFFFFF"/>
          </a:solidFill>
          <a:ln w="9525">
            <a:solidFill>
              <a:srgbClr val="1B4F93"/>
            </a:solidFill>
            <a:prstDash val="solid"/>
          </a:ln>
        </p:spPr>
      </p:sp>
      <p:sp>
        <p:nvSpPr>
          <p:cNvPr id="38" name="Text 36"/>
          <p:cNvSpPr txBox="1"/>
          <p:nvPr/>
        </p:nvSpPr>
        <p:spPr>
          <a:xfrm>
            <a:off x="6012180" y="3099816"/>
            <a:ext cx="1005840" cy="310896"/>
          </a:xfrm>
          <a:prstGeom prst="rect">
            <a:avLst/>
          </a:prstGeom>
          <a:noFill/>
          <a:ln/>
        </p:spPr>
        <p:txBody>
          <a:bodyPr wrap="square" lIns="0" tIns="0" rIns="0" bIns="0" rtlCol="0" anchor="ctr"/>
          <a:lstStyle/>
          <a:p>
            <a:pPr algn="ctr" indent="0" marL="0">
              <a:buNone/>
            </a:pPr>
            <a:r>
              <a:rPr lang="en-US" sz="1000" b="1" dirty="0">
                <a:solidFill>
                  <a:srgbClr val="1B4F93"/>
                </a:solidFill>
                <a:latin typeface="Calibri" pitchFamily="34" charset="0"/>
                <a:ea typeface="Calibri" pitchFamily="34" charset="-122"/>
                <a:cs typeface="Calibri" pitchFamily="34" charset="-120"/>
              </a:rPr>
              <a:t>Supports</a:t>
            </a:r>
            <a:endParaRPr lang="en-US" sz="1000" dirty="0"/>
          </a:p>
        </p:txBody>
      </p:sp>
      <p:sp>
        <p:nvSpPr>
          <p:cNvPr id="39" name="Shape 37"/>
          <p:cNvSpPr/>
          <p:nvPr/>
        </p:nvSpPr>
        <p:spPr>
          <a:xfrm>
            <a:off x="7543800" y="2971800"/>
            <a:ext cx="1965960" cy="566928"/>
          </a:xfrm>
          <a:prstGeom prst="roundRect">
            <a:avLst>
              <a:gd name="adj" fmla="val 8065"/>
            </a:avLst>
          </a:prstGeom>
          <a:solidFill>
            <a:srgbClr val="FFFFFF"/>
          </a:solidFill>
          <a:ln w="9525">
            <a:solidFill>
              <a:srgbClr val="C8D8EC"/>
            </a:solidFill>
            <a:prstDash val="solid"/>
          </a:ln>
        </p:spPr>
      </p:sp>
      <p:sp>
        <p:nvSpPr>
          <p:cNvPr id="40" name="Shape 38"/>
          <p:cNvSpPr/>
          <p:nvPr/>
        </p:nvSpPr>
        <p:spPr>
          <a:xfrm>
            <a:off x="502920" y="3611880"/>
            <a:ext cx="2971800" cy="566928"/>
          </a:xfrm>
          <a:prstGeom prst="roundRect">
            <a:avLst>
              <a:gd name="adj" fmla="val 8065"/>
            </a:avLst>
          </a:prstGeom>
          <a:solidFill>
            <a:srgbClr val="FFFFFF"/>
          </a:solidFill>
          <a:ln w="9525">
            <a:solidFill>
              <a:srgbClr val="C8D8EC"/>
            </a:solidFill>
            <a:prstDash val="solid"/>
          </a:ln>
        </p:spPr>
      </p:sp>
      <p:sp>
        <p:nvSpPr>
          <p:cNvPr id="41" name="Text 39"/>
          <p:cNvSpPr txBox="1"/>
          <p:nvPr/>
        </p:nvSpPr>
        <p:spPr>
          <a:xfrm>
            <a:off x="640080" y="361188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Explain with evidence</a:t>
            </a:r>
            <a:endParaRPr lang="en-US" sz="1200" dirty="0"/>
          </a:p>
        </p:txBody>
      </p:sp>
      <p:sp>
        <p:nvSpPr>
          <p:cNvPr id="42" name="Shape 40"/>
          <p:cNvSpPr/>
          <p:nvPr/>
        </p:nvSpPr>
        <p:spPr>
          <a:xfrm>
            <a:off x="3520440" y="3611880"/>
            <a:ext cx="1965960" cy="566928"/>
          </a:xfrm>
          <a:prstGeom prst="roundRect">
            <a:avLst>
              <a:gd name="adj" fmla="val 8065"/>
            </a:avLst>
          </a:prstGeom>
          <a:solidFill>
            <a:srgbClr val="FFFFFF"/>
          </a:solidFill>
          <a:ln w="9525">
            <a:solidFill>
              <a:srgbClr val="C8D8EC"/>
            </a:solidFill>
            <a:prstDash val="solid"/>
          </a:ln>
        </p:spPr>
      </p:sp>
      <p:sp>
        <p:nvSpPr>
          <p:cNvPr id="43" name="Shape 41"/>
          <p:cNvSpPr/>
          <p:nvPr/>
        </p:nvSpPr>
        <p:spPr>
          <a:xfrm>
            <a:off x="4000500" y="3739896"/>
            <a:ext cx="1005840" cy="310896"/>
          </a:xfrm>
          <a:prstGeom prst="roundRect">
            <a:avLst>
              <a:gd name="adj" fmla="val 50000"/>
            </a:avLst>
          </a:prstGeom>
          <a:solidFill>
            <a:srgbClr val="5B4FA8"/>
          </a:solidFill>
          <a:ln w="9525">
            <a:solidFill>
              <a:srgbClr val="5B4FA8"/>
            </a:solidFill>
            <a:prstDash val="solid"/>
          </a:ln>
        </p:spPr>
      </p:sp>
      <p:sp>
        <p:nvSpPr>
          <p:cNvPr id="44" name="Text 42"/>
          <p:cNvSpPr txBox="1"/>
          <p:nvPr/>
        </p:nvSpPr>
        <p:spPr>
          <a:xfrm>
            <a:off x="4000500" y="373989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45" name="Shape 43"/>
          <p:cNvSpPr/>
          <p:nvPr/>
        </p:nvSpPr>
        <p:spPr>
          <a:xfrm>
            <a:off x="5532120" y="3611880"/>
            <a:ext cx="1965960" cy="566928"/>
          </a:xfrm>
          <a:prstGeom prst="roundRect">
            <a:avLst>
              <a:gd name="adj" fmla="val 8065"/>
            </a:avLst>
          </a:prstGeom>
          <a:solidFill>
            <a:srgbClr val="FFFFFF"/>
          </a:solidFill>
          <a:ln w="9525">
            <a:solidFill>
              <a:srgbClr val="C8D8EC"/>
            </a:solidFill>
            <a:prstDash val="solid"/>
          </a:ln>
        </p:spPr>
      </p:sp>
      <p:sp>
        <p:nvSpPr>
          <p:cNvPr id="46" name="Shape 44"/>
          <p:cNvSpPr/>
          <p:nvPr/>
        </p:nvSpPr>
        <p:spPr>
          <a:xfrm>
            <a:off x="7543800" y="3611880"/>
            <a:ext cx="1965960" cy="566928"/>
          </a:xfrm>
          <a:prstGeom prst="roundRect">
            <a:avLst>
              <a:gd name="adj" fmla="val 8065"/>
            </a:avLst>
          </a:prstGeom>
          <a:solidFill>
            <a:srgbClr val="FFFFFF"/>
          </a:solidFill>
          <a:ln w="9525">
            <a:solidFill>
              <a:srgbClr val="C8D8EC"/>
            </a:solidFill>
            <a:prstDash val="solid"/>
          </a:ln>
        </p:spPr>
      </p:sp>
      <p:sp>
        <p:nvSpPr>
          <p:cNvPr id="47" name="Shape 45"/>
          <p:cNvSpPr/>
          <p:nvPr/>
        </p:nvSpPr>
        <p:spPr>
          <a:xfrm>
            <a:off x="8023860" y="3739896"/>
            <a:ext cx="1005840" cy="310896"/>
          </a:xfrm>
          <a:prstGeom prst="roundRect">
            <a:avLst>
              <a:gd name="adj" fmla="val 50000"/>
            </a:avLst>
          </a:prstGeom>
          <a:solidFill>
            <a:srgbClr val="FFFFFF"/>
          </a:solidFill>
          <a:ln w="9525">
            <a:solidFill>
              <a:srgbClr val="1E8A5A"/>
            </a:solidFill>
            <a:prstDash val="solid"/>
          </a:ln>
        </p:spPr>
      </p:sp>
      <p:sp>
        <p:nvSpPr>
          <p:cNvPr id="48" name="Text 46"/>
          <p:cNvSpPr txBox="1"/>
          <p:nvPr/>
        </p:nvSpPr>
        <p:spPr>
          <a:xfrm>
            <a:off x="8023860" y="3739896"/>
            <a:ext cx="1005840" cy="310896"/>
          </a:xfrm>
          <a:prstGeom prst="rect">
            <a:avLst/>
          </a:prstGeom>
          <a:noFill/>
          <a:ln/>
        </p:spPr>
        <p:txBody>
          <a:bodyPr wrap="square" lIns="0" tIns="0" rIns="0" bIns="0" rtlCol="0" anchor="ctr"/>
          <a:lstStyle/>
          <a:p>
            <a:pPr algn="ctr" indent="0" marL="0">
              <a:buNone/>
            </a:pPr>
            <a:r>
              <a:rPr lang="en-US" sz="1000" b="1" dirty="0">
                <a:solidFill>
                  <a:srgbClr val="1E8A5A"/>
                </a:solidFill>
                <a:latin typeface="Calibri" pitchFamily="34" charset="0"/>
                <a:ea typeface="Calibri" pitchFamily="34" charset="-122"/>
                <a:cs typeface="Calibri" pitchFamily="34" charset="-120"/>
              </a:rPr>
              <a:t>Supports</a:t>
            </a:r>
            <a:endParaRPr lang="en-US" sz="1000" dirty="0"/>
          </a:p>
        </p:txBody>
      </p:sp>
      <p:sp>
        <p:nvSpPr>
          <p:cNvPr id="49" name="Shape 47"/>
          <p:cNvSpPr/>
          <p:nvPr/>
        </p:nvSpPr>
        <p:spPr>
          <a:xfrm>
            <a:off x="502920" y="4251960"/>
            <a:ext cx="2971800" cy="566928"/>
          </a:xfrm>
          <a:prstGeom prst="roundRect">
            <a:avLst>
              <a:gd name="adj" fmla="val 8065"/>
            </a:avLst>
          </a:prstGeom>
          <a:solidFill>
            <a:srgbClr val="FFFFFF"/>
          </a:solidFill>
          <a:ln w="9525">
            <a:solidFill>
              <a:srgbClr val="C8D8EC"/>
            </a:solidFill>
            <a:prstDash val="solid"/>
          </a:ln>
        </p:spPr>
      </p:sp>
      <p:sp>
        <p:nvSpPr>
          <p:cNvPr id="50" name="Text 48"/>
          <p:cNvSpPr txBox="1"/>
          <p:nvPr/>
        </p:nvSpPr>
        <p:spPr>
          <a:xfrm>
            <a:off x="640080" y="425196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Recommend an action</a:t>
            </a:r>
            <a:endParaRPr lang="en-US" sz="1200" dirty="0"/>
          </a:p>
        </p:txBody>
      </p:sp>
      <p:sp>
        <p:nvSpPr>
          <p:cNvPr id="51" name="Shape 49"/>
          <p:cNvSpPr/>
          <p:nvPr/>
        </p:nvSpPr>
        <p:spPr>
          <a:xfrm>
            <a:off x="3520440" y="4251960"/>
            <a:ext cx="1965960" cy="566928"/>
          </a:xfrm>
          <a:prstGeom prst="roundRect">
            <a:avLst>
              <a:gd name="adj" fmla="val 8065"/>
            </a:avLst>
          </a:prstGeom>
          <a:solidFill>
            <a:srgbClr val="FFFFFF"/>
          </a:solidFill>
          <a:ln w="9525">
            <a:solidFill>
              <a:srgbClr val="C8D8EC"/>
            </a:solidFill>
            <a:prstDash val="solid"/>
          </a:ln>
        </p:spPr>
      </p:sp>
      <p:sp>
        <p:nvSpPr>
          <p:cNvPr id="52" name="Shape 50"/>
          <p:cNvSpPr/>
          <p:nvPr/>
        </p:nvSpPr>
        <p:spPr>
          <a:xfrm>
            <a:off x="4000500" y="4379976"/>
            <a:ext cx="1005840" cy="310896"/>
          </a:xfrm>
          <a:prstGeom prst="roundRect">
            <a:avLst>
              <a:gd name="adj" fmla="val 50000"/>
            </a:avLst>
          </a:prstGeom>
          <a:solidFill>
            <a:srgbClr val="5B4FA8"/>
          </a:solidFill>
          <a:ln w="9525">
            <a:solidFill>
              <a:srgbClr val="5B4FA8"/>
            </a:solidFill>
            <a:prstDash val="solid"/>
          </a:ln>
        </p:spPr>
      </p:sp>
      <p:sp>
        <p:nvSpPr>
          <p:cNvPr id="53" name="Text 51"/>
          <p:cNvSpPr txBox="1"/>
          <p:nvPr/>
        </p:nvSpPr>
        <p:spPr>
          <a:xfrm>
            <a:off x="4000500" y="437997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54" name="Shape 52"/>
          <p:cNvSpPr/>
          <p:nvPr/>
        </p:nvSpPr>
        <p:spPr>
          <a:xfrm>
            <a:off x="5532120" y="4251960"/>
            <a:ext cx="1965960" cy="566928"/>
          </a:xfrm>
          <a:prstGeom prst="roundRect">
            <a:avLst>
              <a:gd name="adj" fmla="val 8065"/>
            </a:avLst>
          </a:prstGeom>
          <a:solidFill>
            <a:srgbClr val="FFFFFF"/>
          </a:solidFill>
          <a:ln w="9525">
            <a:solidFill>
              <a:srgbClr val="C8D8EC"/>
            </a:solidFill>
            <a:prstDash val="solid"/>
          </a:ln>
        </p:spPr>
      </p:sp>
      <p:sp>
        <p:nvSpPr>
          <p:cNvPr id="55" name="Shape 53"/>
          <p:cNvSpPr/>
          <p:nvPr/>
        </p:nvSpPr>
        <p:spPr>
          <a:xfrm>
            <a:off x="7543800" y="4251960"/>
            <a:ext cx="1965960" cy="566928"/>
          </a:xfrm>
          <a:prstGeom prst="roundRect">
            <a:avLst>
              <a:gd name="adj" fmla="val 8065"/>
            </a:avLst>
          </a:prstGeom>
          <a:solidFill>
            <a:srgbClr val="FFFFFF"/>
          </a:solidFill>
          <a:ln w="9525">
            <a:solidFill>
              <a:srgbClr val="C8D8EC"/>
            </a:solidFill>
            <a:prstDash val="solid"/>
          </a:ln>
        </p:spPr>
      </p:sp>
      <p:sp>
        <p:nvSpPr>
          <p:cNvPr id="56" name="Shape 54"/>
          <p:cNvSpPr/>
          <p:nvPr/>
        </p:nvSpPr>
        <p:spPr>
          <a:xfrm>
            <a:off x="502920" y="4892040"/>
            <a:ext cx="2971800" cy="566928"/>
          </a:xfrm>
          <a:prstGeom prst="roundRect">
            <a:avLst>
              <a:gd name="adj" fmla="val 8065"/>
            </a:avLst>
          </a:prstGeom>
          <a:solidFill>
            <a:srgbClr val="FFFFFF"/>
          </a:solidFill>
          <a:ln w="9525">
            <a:solidFill>
              <a:srgbClr val="C8D8EC"/>
            </a:solidFill>
            <a:prstDash val="solid"/>
          </a:ln>
        </p:spPr>
      </p:sp>
      <p:sp>
        <p:nvSpPr>
          <p:cNvPr id="57" name="Text 55"/>
          <p:cNvSpPr txBox="1"/>
          <p:nvPr/>
        </p:nvSpPr>
        <p:spPr>
          <a:xfrm>
            <a:off x="640080" y="489204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Challenge and question</a:t>
            </a:r>
            <a:endParaRPr lang="en-US" sz="1200" dirty="0"/>
          </a:p>
        </p:txBody>
      </p:sp>
      <p:sp>
        <p:nvSpPr>
          <p:cNvPr id="58" name="Shape 56"/>
          <p:cNvSpPr/>
          <p:nvPr/>
        </p:nvSpPr>
        <p:spPr>
          <a:xfrm>
            <a:off x="3520440" y="4892040"/>
            <a:ext cx="1965960" cy="566928"/>
          </a:xfrm>
          <a:prstGeom prst="roundRect">
            <a:avLst>
              <a:gd name="adj" fmla="val 8065"/>
            </a:avLst>
          </a:prstGeom>
          <a:solidFill>
            <a:srgbClr val="FFFFFF"/>
          </a:solidFill>
          <a:ln w="9525">
            <a:solidFill>
              <a:srgbClr val="C8D8EC"/>
            </a:solidFill>
            <a:prstDash val="solid"/>
          </a:ln>
        </p:spPr>
      </p:sp>
      <p:sp>
        <p:nvSpPr>
          <p:cNvPr id="59" name="Shape 57"/>
          <p:cNvSpPr/>
          <p:nvPr/>
        </p:nvSpPr>
        <p:spPr>
          <a:xfrm>
            <a:off x="4000500" y="5020056"/>
            <a:ext cx="1005840" cy="310896"/>
          </a:xfrm>
          <a:prstGeom prst="roundRect">
            <a:avLst>
              <a:gd name="adj" fmla="val 50000"/>
            </a:avLst>
          </a:prstGeom>
          <a:solidFill>
            <a:srgbClr val="FFFFFF"/>
          </a:solidFill>
          <a:ln w="9525">
            <a:solidFill>
              <a:srgbClr val="5B4FA8"/>
            </a:solidFill>
            <a:prstDash val="solid"/>
          </a:ln>
        </p:spPr>
      </p:sp>
      <p:sp>
        <p:nvSpPr>
          <p:cNvPr id="60" name="Text 58"/>
          <p:cNvSpPr txBox="1"/>
          <p:nvPr/>
        </p:nvSpPr>
        <p:spPr>
          <a:xfrm>
            <a:off x="4000500" y="5020056"/>
            <a:ext cx="1005840" cy="310896"/>
          </a:xfrm>
          <a:prstGeom prst="rect">
            <a:avLst/>
          </a:prstGeom>
          <a:noFill/>
          <a:ln/>
        </p:spPr>
        <p:txBody>
          <a:bodyPr wrap="square" lIns="0" tIns="0" rIns="0" bIns="0" rtlCol="0" anchor="ctr"/>
          <a:lstStyle/>
          <a:p>
            <a:pPr algn="ctr" indent="0" marL="0">
              <a:buNone/>
            </a:pPr>
            <a:r>
              <a:rPr lang="en-US" sz="1000" b="1" dirty="0">
                <a:solidFill>
                  <a:srgbClr val="5B4FA8"/>
                </a:solidFill>
                <a:latin typeface="Calibri" pitchFamily="34" charset="0"/>
                <a:ea typeface="Calibri" pitchFamily="34" charset="-122"/>
                <a:cs typeface="Calibri" pitchFamily="34" charset="-120"/>
              </a:rPr>
              <a:t>Supports</a:t>
            </a:r>
            <a:endParaRPr lang="en-US" sz="1000" dirty="0"/>
          </a:p>
        </p:txBody>
      </p:sp>
      <p:sp>
        <p:nvSpPr>
          <p:cNvPr id="61" name="Shape 59"/>
          <p:cNvSpPr/>
          <p:nvPr/>
        </p:nvSpPr>
        <p:spPr>
          <a:xfrm>
            <a:off x="5532120" y="4892040"/>
            <a:ext cx="1965960" cy="566928"/>
          </a:xfrm>
          <a:prstGeom prst="roundRect">
            <a:avLst>
              <a:gd name="adj" fmla="val 8065"/>
            </a:avLst>
          </a:prstGeom>
          <a:solidFill>
            <a:srgbClr val="FFFFFF"/>
          </a:solidFill>
          <a:ln w="9525">
            <a:solidFill>
              <a:srgbClr val="C8D8EC"/>
            </a:solidFill>
            <a:prstDash val="solid"/>
          </a:ln>
        </p:spPr>
      </p:sp>
      <p:sp>
        <p:nvSpPr>
          <p:cNvPr id="62" name="Shape 60"/>
          <p:cNvSpPr/>
          <p:nvPr/>
        </p:nvSpPr>
        <p:spPr>
          <a:xfrm>
            <a:off x="6012180" y="5020056"/>
            <a:ext cx="1005840" cy="310896"/>
          </a:xfrm>
          <a:prstGeom prst="roundRect">
            <a:avLst>
              <a:gd name="adj" fmla="val 50000"/>
            </a:avLst>
          </a:prstGeom>
          <a:solidFill>
            <a:srgbClr val="1B4F93"/>
          </a:solidFill>
          <a:ln w="9525">
            <a:solidFill>
              <a:srgbClr val="1B4F93"/>
            </a:solidFill>
            <a:prstDash val="solid"/>
          </a:ln>
        </p:spPr>
      </p:sp>
      <p:sp>
        <p:nvSpPr>
          <p:cNvPr id="63" name="Text 61"/>
          <p:cNvSpPr txBox="1"/>
          <p:nvPr/>
        </p:nvSpPr>
        <p:spPr>
          <a:xfrm>
            <a:off x="6012180" y="502005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64" name="Shape 62"/>
          <p:cNvSpPr/>
          <p:nvPr/>
        </p:nvSpPr>
        <p:spPr>
          <a:xfrm>
            <a:off x="7543800" y="4892040"/>
            <a:ext cx="1965960" cy="566928"/>
          </a:xfrm>
          <a:prstGeom prst="roundRect">
            <a:avLst>
              <a:gd name="adj" fmla="val 8065"/>
            </a:avLst>
          </a:prstGeom>
          <a:solidFill>
            <a:srgbClr val="FFFFFF"/>
          </a:solidFill>
          <a:ln w="9525">
            <a:solidFill>
              <a:srgbClr val="C8D8EC"/>
            </a:solidFill>
            <a:prstDash val="solid"/>
          </a:ln>
        </p:spPr>
      </p:sp>
      <p:sp>
        <p:nvSpPr>
          <p:cNvPr id="65" name="Shape 63"/>
          <p:cNvSpPr/>
          <p:nvPr/>
        </p:nvSpPr>
        <p:spPr>
          <a:xfrm>
            <a:off x="502920" y="5532120"/>
            <a:ext cx="2971800" cy="566928"/>
          </a:xfrm>
          <a:prstGeom prst="roundRect">
            <a:avLst>
              <a:gd name="adj" fmla="val 8065"/>
            </a:avLst>
          </a:prstGeom>
          <a:solidFill>
            <a:srgbClr val="E3ECF7"/>
          </a:solidFill>
          <a:ln w="9525">
            <a:solidFill>
              <a:srgbClr val="1B4F93"/>
            </a:solidFill>
            <a:prstDash val="solid"/>
          </a:ln>
        </p:spPr>
      </p:sp>
      <p:sp>
        <p:nvSpPr>
          <p:cNvPr id="66" name="Text 64"/>
          <p:cNvSpPr txBox="1"/>
          <p:nvPr/>
        </p:nvSpPr>
        <p:spPr>
          <a:xfrm>
            <a:off x="640080" y="553212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Approve, edit or reject</a:t>
            </a:r>
            <a:endParaRPr lang="en-US" sz="1200" dirty="0"/>
          </a:p>
        </p:txBody>
      </p:sp>
      <p:sp>
        <p:nvSpPr>
          <p:cNvPr id="67" name="Shape 65"/>
          <p:cNvSpPr/>
          <p:nvPr/>
        </p:nvSpPr>
        <p:spPr>
          <a:xfrm>
            <a:off x="3520440" y="5532120"/>
            <a:ext cx="1965960" cy="566928"/>
          </a:xfrm>
          <a:prstGeom prst="roundRect">
            <a:avLst>
              <a:gd name="adj" fmla="val 8065"/>
            </a:avLst>
          </a:prstGeom>
          <a:solidFill>
            <a:srgbClr val="E3ECF7"/>
          </a:solidFill>
          <a:ln w="9525">
            <a:solidFill>
              <a:srgbClr val="1B4F93"/>
            </a:solidFill>
            <a:prstDash val="solid"/>
          </a:ln>
        </p:spPr>
      </p:sp>
      <p:sp>
        <p:nvSpPr>
          <p:cNvPr id="68" name="Shape 66"/>
          <p:cNvSpPr/>
          <p:nvPr/>
        </p:nvSpPr>
        <p:spPr>
          <a:xfrm>
            <a:off x="5532120" y="5532120"/>
            <a:ext cx="1965960" cy="566928"/>
          </a:xfrm>
          <a:prstGeom prst="roundRect">
            <a:avLst>
              <a:gd name="adj" fmla="val 8065"/>
            </a:avLst>
          </a:prstGeom>
          <a:solidFill>
            <a:srgbClr val="E3ECF7"/>
          </a:solidFill>
          <a:ln w="9525">
            <a:solidFill>
              <a:srgbClr val="1B4F93"/>
            </a:solidFill>
            <a:prstDash val="solid"/>
          </a:ln>
        </p:spPr>
      </p:sp>
      <p:sp>
        <p:nvSpPr>
          <p:cNvPr id="69" name="Shape 67"/>
          <p:cNvSpPr/>
          <p:nvPr/>
        </p:nvSpPr>
        <p:spPr>
          <a:xfrm>
            <a:off x="6012180" y="5660136"/>
            <a:ext cx="1005840" cy="310896"/>
          </a:xfrm>
          <a:prstGeom prst="roundRect">
            <a:avLst>
              <a:gd name="adj" fmla="val 50000"/>
            </a:avLst>
          </a:prstGeom>
          <a:solidFill>
            <a:srgbClr val="1B4F93"/>
          </a:solidFill>
          <a:ln w="9525">
            <a:solidFill>
              <a:srgbClr val="1B4F93"/>
            </a:solidFill>
            <a:prstDash val="solid"/>
          </a:ln>
        </p:spPr>
      </p:sp>
      <p:sp>
        <p:nvSpPr>
          <p:cNvPr id="70" name="Text 68"/>
          <p:cNvSpPr txBox="1"/>
          <p:nvPr/>
        </p:nvSpPr>
        <p:spPr>
          <a:xfrm>
            <a:off x="6012180" y="566013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71" name="Shape 69"/>
          <p:cNvSpPr/>
          <p:nvPr/>
        </p:nvSpPr>
        <p:spPr>
          <a:xfrm>
            <a:off x="7543800" y="5532120"/>
            <a:ext cx="1965960" cy="566928"/>
          </a:xfrm>
          <a:prstGeom prst="roundRect">
            <a:avLst>
              <a:gd name="adj" fmla="val 8065"/>
            </a:avLst>
          </a:prstGeom>
          <a:solidFill>
            <a:srgbClr val="E3ECF7"/>
          </a:solidFill>
          <a:ln w="9525">
            <a:solidFill>
              <a:srgbClr val="1B4F93"/>
            </a:solidFill>
            <a:prstDash val="solid"/>
          </a:ln>
        </p:spPr>
      </p:sp>
      <p:sp>
        <p:nvSpPr>
          <p:cNvPr id="72" name="Shape 70"/>
          <p:cNvSpPr/>
          <p:nvPr/>
        </p:nvSpPr>
        <p:spPr>
          <a:xfrm>
            <a:off x="502920" y="6172200"/>
            <a:ext cx="2971800" cy="566928"/>
          </a:xfrm>
          <a:prstGeom prst="roundRect">
            <a:avLst>
              <a:gd name="adj" fmla="val 8065"/>
            </a:avLst>
          </a:prstGeom>
          <a:solidFill>
            <a:srgbClr val="FFFFFF"/>
          </a:solidFill>
          <a:ln w="9525">
            <a:solidFill>
              <a:srgbClr val="C8D8EC"/>
            </a:solidFill>
            <a:prstDash val="solid"/>
          </a:ln>
        </p:spPr>
      </p:sp>
      <p:sp>
        <p:nvSpPr>
          <p:cNvPr id="73" name="Text 71"/>
          <p:cNvSpPr txBox="1"/>
          <p:nvPr/>
        </p:nvSpPr>
        <p:spPr>
          <a:xfrm>
            <a:off x="640080" y="617220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Post, sign off, publish</a:t>
            </a:r>
            <a:endParaRPr lang="en-US" sz="1200" dirty="0"/>
          </a:p>
        </p:txBody>
      </p:sp>
      <p:sp>
        <p:nvSpPr>
          <p:cNvPr id="74" name="Shape 72"/>
          <p:cNvSpPr/>
          <p:nvPr/>
        </p:nvSpPr>
        <p:spPr>
          <a:xfrm>
            <a:off x="3520440" y="6172200"/>
            <a:ext cx="1965960" cy="566928"/>
          </a:xfrm>
          <a:prstGeom prst="roundRect">
            <a:avLst>
              <a:gd name="adj" fmla="val 8065"/>
            </a:avLst>
          </a:prstGeom>
          <a:solidFill>
            <a:srgbClr val="FFFFFF"/>
          </a:solidFill>
          <a:ln w="9525">
            <a:solidFill>
              <a:srgbClr val="C8D8EC"/>
            </a:solidFill>
            <a:prstDash val="solid"/>
          </a:ln>
        </p:spPr>
      </p:sp>
      <p:sp>
        <p:nvSpPr>
          <p:cNvPr id="75" name="Shape 73"/>
          <p:cNvSpPr/>
          <p:nvPr/>
        </p:nvSpPr>
        <p:spPr>
          <a:xfrm>
            <a:off x="5532120" y="6172200"/>
            <a:ext cx="1965960" cy="566928"/>
          </a:xfrm>
          <a:prstGeom prst="roundRect">
            <a:avLst>
              <a:gd name="adj" fmla="val 8065"/>
            </a:avLst>
          </a:prstGeom>
          <a:solidFill>
            <a:srgbClr val="FFFFFF"/>
          </a:solidFill>
          <a:ln w="9525">
            <a:solidFill>
              <a:srgbClr val="C8D8EC"/>
            </a:solidFill>
            <a:prstDash val="solid"/>
          </a:ln>
        </p:spPr>
      </p:sp>
      <p:sp>
        <p:nvSpPr>
          <p:cNvPr id="76" name="Shape 74"/>
          <p:cNvSpPr/>
          <p:nvPr/>
        </p:nvSpPr>
        <p:spPr>
          <a:xfrm>
            <a:off x="6012180" y="6300216"/>
            <a:ext cx="1005840" cy="310896"/>
          </a:xfrm>
          <a:prstGeom prst="roundRect">
            <a:avLst>
              <a:gd name="adj" fmla="val 50000"/>
            </a:avLst>
          </a:prstGeom>
          <a:solidFill>
            <a:srgbClr val="FFFFFF"/>
          </a:solidFill>
          <a:ln w="9525">
            <a:solidFill>
              <a:srgbClr val="1B4F93"/>
            </a:solidFill>
            <a:prstDash val="solid"/>
          </a:ln>
        </p:spPr>
      </p:sp>
      <p:sp>
        <p:nvSpPr>
          <p:cNvPr id="77" name="Text 75"/>
          <p:cNvSpPr txBox="1"/>
          <p:nvPr/>
        </p:nvSpPr>
        <p:spPr>
          <a:xfrm>
            <a:off x="6012180" y="6300216"/>
            <a:ext cx="1005840" cy="310896"/>
          </a:xfrm>
          <a:prstGeom prst="rect">
            <a:avLst/>
          </a:prstGeom>
          <a:noFill/>
          <a:ln/>
        </p:spPr>
        <p:txBody>
          <a:bodyPr wrap="square" lIns="0" tIns="0" rIns="0" bIns="0" rtlCol="0" anchor="ctr"/>
          <a:lstStyle/>
          <a:p>
            <a:pPr algn="ctr" indent="0" marL="0">
              <a:buNone/>
            </a:pPr>
            <a:r>
              <a:rPr lang="en-US" sz="1000" b="1" dirty="0">
                <a:solidFill>
                  <a:srgbClr val="1B4F93"/>
                </a:solidFill>
                <a:latin typeface="Calibri" pitchFamily="34" charset="0"/>
                <a:ea typeface="Calibri" pitchFamily="34" charset="-122"/>
                <a:cs typeface="Calibri" pitchFamily="34" charset="-120"/>
              </a:rPr>
              <a:t>Supports</a:t>
            </a:r>
            <a:endParaRPr lang="en-US" sz="1000" dirty="0"/>
          </a:p>
        </p:txBody>
      </p:sp>
      <p:sp>
        <p:nvSpPr>
          <p:cNvPr id="78" name="Shape 76"/>
          <p:cNvSpPr/>
          <p:nvPr/>
        </p:nvSpPr>
        <p:spPr>
          <a:xfrm>
            <a:off x="7543800" y="6172200"/>
            <a:ext cx="1965960" cy="566928"/>
          </a:xfrm>
          <a:prstGeom prst="roundRect">
            <a:avLst>
              <a:gd name="adj" fmla="val 8065"/>
            </a:avLst>
          </a:prstGeom>
          <a:solidFill>
            <a:srgbClr val="FFFFFF"/>
          </a:solidFill>
          <a:ln w="9525">
            <a:solidFill>
              <a:srgbClr val="C8D8EC"/>
            </a:solidFill>
            <a:prstDash val="solid"/>
          </a:ln>
        </p:spPr>
      </p:sp>
      <p:sp>
        <p:nvSpPr>
          <p:cNvPr id="79" name="Shape 77"/>
          <p:cNvSpPr/>
          <p:nvPr/>
        </p:nvSpPr>
        <p:spPr>
          <a:xfrm>
            <a:off x="8023860" y="6300216"/>
            <a:ext cx="1005840" cy="310896"/>
          </a:xfrm>
          <a:prstGeom prst="roundRect">
            <a:avLst>
              <a:gd name="adj" fmla="val 50000"/>
            </a:avLst>
          </a:prstGeom>
          <a:solidFill>
            <a:srgbClr val="1E8A5A"/>
          </a:solidFill>
          <a:ln w="9525">
            <a:solidFill>
              <a:srgbClr val="1E8A5A"/>
            </a:solidFill>
            <a:prstDash val="solid"/>
          </a:ln>
        </p:spPr>
      </p:sp>
      <p:sp>
        <p:nvSpPr>
          <p:cNvPr id="80" name="Text 78"/>
          <p:cNvSpPr txBox="1"/>
          <p:nvPr/>
        </p:nvSpPr>
        <p:spPr>
          <a:xfrm>
            <a:off x="8023860" y="630021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81" name="Shape 79"/>
          <p:cNvSpPr/>
          <p:nvPr/>
        </p:nvSpPr>
        <p:spPr>
          <a:xfrm>
            <a:off x="502920" y="6812280"/>
            <a:ext cx="2971800" cy="566928"/>
          </a:xfrm>
          <a:prstGeom prst="roundRect">
            <a:avLst>
              <a:gd name="adj" fmla="val 8065"/>
            </a:avLst>
          </a:prstGeom>
          <a:solidFill>
            <a:srgbClr val="FFFFFF"/>
          </a:solidFill>
          <a:ln w="9525">
            <a:solidFill>
              <a:srgbClr val="C8D8EC"/>
            </a:solidFill>
            <a:prstDash val="solid"/>
          </a:ln>
        </p:spPr>
      </p:sp>
      <p:sp>
        <p:nvSpPr>
          <p:cNvPr id="82" name="Text 80"/>
          <p:cNvSpPr txBox="1"/>
          <p:nvPr/>
        </p:nvSpPr>
        <p:spPr>
          <a:xfrm>
            <a:off x="640080" y="681228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Audit and trace</a:t>
            </a:r>
            <a:endParaRPr lang="en-US" sz="1200" dirty="0"/>
          </a:p>
        </p:txBody>
      </p:sp>
      <p:sp>
        <p:nvSpPr>
          <p:cNvPr id="83" name="Shape 81"/>
          <p:cNvSpPr/>
          <p:nvPr/>
        </p:nvSpPr>
        <p:spPr>
          <a:xfrm>
            <a:off x="3520440" y="6812280"/>
            <a:ext cx="1965960" cy="566928"/>
          </a:xfrm>
          <a:prstGeom prst="roundRect">
            <a:avLst>
              <a:gd name="adj" fmla="val 8065"/>
            </a:avLst>
          </a:prstGeom>
          <a:solidFill>
            <a:srgbClr val="FFFFFF"/>
          </a:solidFill>
          <a:ln w="9525">
            <a:solidFill>
              <a:srgbClr val="C8D8EC"/>
            </a:solidFill>
            <a:prstDash val="solid"/>
          </a:ln>
        </p:spPr>
      </p:sp>
      <p:sp>
        <p:nvSpPr>
          <p:cNvPr id="84" name="Shape 82"/>
          <p:cNvSpPr/>
          <p:nvPr/>
        </p:nvSpPr>
        <p:spPr>
          <a:xfrm>
            <a:off x="5532120" y="6812280"/>
            <a:ext cx="1965960" cy="566928"/>
          </a:xfrm>
          <a:prstGeom prst="roundRect">
            <a:avLst>
              <a:gd name="adj" fmla="val 8065"/>
            </a:avLst>
          </a:prstGeom>
          <a:solidFill>
            <a:srgbClr val="FFFFFF"/>
          </a:solidFill>
          <a:ln w="9525">
            <a:solidFill>
              <a:srgbClr val="C8D8EC"/>
            </a:solidFill>
            <a:prstDash val="solid"/>
          </a:ln>
        </p:spPr>
      </p:sp>
      <p:sp>
        <p:nvSpPr>
          <p:cNvPr id="85" name="Shape 83"/>
          <p:cNvSpPr/>
          <p:nvPr/>
        </p:nvSpPr>
        <p:spPr>
          <a:xfrm>
            <a:off x="7543800" y="6812280"/>
            <a:ext cx="1965960" cy="566928"/>
          </a:xfrm>
          <a:prstGeom prst="roundRect">
            <a:avLst>
              <a:gd name="adj" fmla="val 8065"/>
            </a:avLst>
          </a:prstGeom>
          <a:solidFill>
            <a:srgbClr val="FFFFFF"/>
          </a:solidFill>
          <a:ln w="9525">
            <a:solidFill>
              <a:srgbClr val="C8D8EC"/>
            </a:solidFill>
            <a:prstDash val="solid"/>
          </a:ln>
        </p:spPr>
      </p:sp>
      <p:sp>
        <p:nvSpPr>
          <p:cNvPr id="86" name="Shape 84"/>
          <p:cNvSpPr/>
          <p:nvPr/>
        </p:nvSpPr>
        <p:spPr>
          <a:xfrm>
            <a:off x="8023860" y="6940296"/>
            <a:ext cx="1005840" cy="310896"/>
          </a:xfrm>
          <a:prstGeom prst="roundRect">
            <a:avLst>
              <a:gd name="adj" fmla="val 50000"/>
            </a:avLst>
          </a:prstGeom>
          <a:solidFill>
            <a:srgbClr val="1E8A5A"/>
          </a:solidFill>
          <a:ln w="9525">
            <a:solidFill>
              <a:srgbClr val="1E8A5A"/>
            </a:solidFill>
            <a:prstDash val="solid"/>
          </a:ln>
        </p:spPr>
      </p:sp>
      <p:sp>
        <p:nvSpPr>
          <p:cNvPr id="87" name="Text 85"/>
          <p:cNvSpPr txBox="1"/>
          <p:nvPr/>
        </p:nvSpPr>
        <p:spPr>
          <a:xfrm>
            <a:off x="8023860" y="694029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88" name="Shape 86"/>
          <p:cNvSpPr/>
          <p:nvPr/>
        </p:nvSpPr>
        <p:spPr>
          <a:xfrm>
            <a:off x="502920" y="7452360"/>
            <a:ext cx="2971800" cy="566928"/>
          </a:xfrm>
          <a:prstGeom prst="roundRect">
            <a:avLst>
              <a:gd name="adj" fmla="val 8065"/>
            </a:avLst>
          </a:prstGeom>
          <a:solidFill>
            <a:srgbClr val="FFFFFF"/>
          </a:solidFill>
          <a:ln w="9525">
            <a:solidFill>
              <a:srgbClr val="C8D8EC"/>
            </a:solidFill>
            <a:prstDash val="solid"/>
          </a:ln>
        </p:spPr>
      </p:sp>
      <p:sp>
        <p:nvSpPr>
          <p:cNvPr id="89" name="Text 87"/>
          <p:cNvSpPr txBox="1"/>
          <p:nvPr/>
        </p:nvSpPr>
        <p:spPr>
          <a:xfrm>
            <a:off x="640080" y="7452360"/>
            <a:ext cx="2788920" cy="566928"/>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Improve the agent</a:t>
            </a:r>
            <a:endParaRPr lang="en-US" sz="1200" dirty="0"/>
          </a:p>
        </p:txBody>
      </p:sp>
      <p:sp>
        <p:nvSpPr>
          <p:cNvPr id="90" name="Shape 88"/>
          <p:cNvSpPr/>
          <p:nvPr/>
        </p:nvSpPr>
        <p:spPr>
          <a:xfrm>
            <a:off x="3520440" y="7452360"/>
            <a:ext cx="1965960" cy="566928"/>
          </a:xfrm>
          <a:prstGeom prst="roundRect">
            <a:avLst>
              <a:gd name="adj" fmla="val 8065"/>
            </a:avLst>
          </a:prstGeom>
          <a:solidFill>
            <a:srgbClr val="FFFFFF"/>
          </a:solidFill>
          <a:ln w="9525">
            <a:solidFill>
              <a:srgbClr val="C8D8EC"/>
            </a:solidFill>
            <a:prstDash val="solid"/>
          </a:ln>
        </p:spPr>
      </p:sp>
      <p:sp>
        <p:nvSpPr>
          <p:cNvPr id="91" name="Shape 89"/>
          <p:cNvSpPr/>
          <p:nvPr/>
        </p:nvSpPr>
        <p:spPr>
          <a:xfrm>
            <a:off x="5532120" y="7452360"/>
            <a:ext cx="1965960" cy="566928"/>
          </a:xfrm>
          <a:prstGeom prst="roundRect">
            <a:avLst>
              <a:gd name="adj" fmla="val 8065"/>
            </a:avLst>
          </a:prstGeom>
          <a:solidFill>
            <a:srgbClr val="FFFFFF"/>
          </a:solidFill>
          <a:ln w="9525">
            <a:solidFill>
              <a:srgbClr val="C8D8EC"/>
            </a:solidFill>
            <a:prstDash val="solid"/>
          </a:ln>
        </p:spPr>
      </p:sp>
      <p:sp>
        <p:nvSpPr>
          <p:cNvPr id="92" name="Shape 90"/>
          <p:cNvSpPr/>
          <p:nvPr/>
        </p:nvSpPr>
        <p:spPr>
          <a:xfrm>
            <a:off x="6012180" y="7580376"/>
            <a:ext cx="1005840" cy="310896"/>
          </a:xfrm>
          <a:prstGeom prst="roundRect">
            <a:avLst>
              <a:gd name="adj" fmla="val 50000"/>
            </a:avLst>
          </a:prstGeom>
          <a:solidFill>
            <a:srgbClr val="1B4F93"/>
          </a:solidFill>
          <a:ln w="9525">
            <a:solidFill>
              <a:srgbClr val="1B4F93"/>
            </a:solidFill>
            <a:prstDash val="solid"/>
          </a:ln>
        </p:spPr>
      </p:sp>
      <p:sp>
        <p:nvSpPr>
          <p:cNvPr id="93" name="Text 91"/>
          <p:cNvSpPr txBox="1"/>
          <p:nvPr/>
        </p:nvSpPr>
        <p:spPr>
          <a:xfrm>
            <a:off x="6012180" y="7580376"/>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94" name="Shape 92"/>
          <p:cNvSpPr/>
          <p:nvPr/>
        </p:nvSpPr>
        <p:spPr>
          <a:xfrm>
            <a:off x="7543800" y="7452360"/>
            <a:ext cx="1965960" cy="566928"/>
          </a:xfrm>
          <a:prstGeom prst="roundRect">
            <a:avLst>
              <a:gd name="adj" fmla="val 8065"/>
            </a:avLst>
          </a:prstGeom>
          <a:solidFill>
            <a:srgbClr val="FFFFFF"/>
          </a:solidFill>
          <a:ln w="9525">
            <a:solidFill>
              <a:srgbClr val="C8D8EC"/>
            </a:solidFill>
            <a:prstDash val="solid"/>
          </a:ln>
        </p:spPr>
      </p:sp>
      <p:sp>
        <p:nvSpPr>
          <p:cNvPr id="95" name="Shape 93"/>
          <p:cNvSpPr/>
          <p:nvPr/>
        </p:nvSpPr>
        <p:spPr>
          <a:xfrm>
            <a:off x="8023860" y="7580376"/>
            <a:ext cx="1005840" cy="310896"/>
          </a:xfrm>
          <a:prstGeom prst="roundRect">
            <a:avLst>
              <a:gd name="adj" fmla="val 50000"/>
            </a:avLst>
          </a:prstGeom>
          <a:solidFill>
            <a:srgbClr val="FFFFFF"/>
          </a:solidFill>
          <a:ln w="9525">
            <a:solidFill>
              <a:srgbClr val="1E8A5A"/>
            </a:solidFill>
            <a:prstDash val="solid"/>
          </a:ln>
        </p:spPr>
      </p:sp>
      <p:sp>
        <p:nvSpPr>
          <p:cNvPr id="96" name="Text 94"/>
          <p:cNvSpPr txBox="1"/>
          <p:nvPr/>
        </p:nvSpPr>
        <p:spPr>
          <a:xfrm>
            <a:off x="8023860" y="7580376"/>
            <a:ext cx="1005840" cy="310896"/>
          </a:xfrm>
          <a:prstGeom prst="rect">
            <a:avLst/>
          </a:prstGeom>
          <a:noFill/>
          <a:ln/>
        </p:spPr>
        <p:txBody>
          <a:bodyPr wrap="square" lIns="0" tIns="0" rIns="0" bIns="0" rtlCol="0" anchor="ctr"/>
          <a:lstStyle/>
          <a:p>
            <a:pPr algn="ctr" indent="0" marL="0">
              <a:buNone/>
            </a:pPr>
            <a:r>
              <a:rPr lang="en-US" sz="1000" b="1" dirty="0">
                <a:solidFill>
                  <a:srgbClr val="1E8A5A"/>
                </a:solidFill>
                <a:latin typeface="Calibri" pitchFamily="34" charset="0"/>
                <a:ea typeface="Calibri" pitchFamily="34" charset="-122"/>
                <a:cs typeface="Calibri" pitchFamily="34" charset="-120"/>
              </a:rPr>
              <a:t>Supports</a:t>
            </a:r>
            <a:endParaRPr lang="en-US" sz="1000" dirty="0"/>
          </a:p>
        </p:txBody>
      </p:sp>
      <p:sp>
        <p:nvSpPr>
          <p:cNvPr id="97" name="Shape 95"/>
          <p:cNvSpPr/>
          <p:nvPr/>
        </p:nvSpPr>
        <p:spPr>
          <a:xfrm>
            <a:off x="9738360" y="1234440"/>
            <a:ext cx="4389120" cy="6510528"/>
          </a:xfrm>
          <a:prstGeom prst="roundRect">
            <a:avLst>
              <a:gd name="adj" fmla="val 1667"/>
            </a:avLst>
          </a:prstGeom>
          <a:solidFill>
            <a:srgbClr val="0B2E5E"/>
          </a:solidFill>
          <a:ln w="12700">
            <a:solidFill>
              <a:srgbClr val="0B2E5E"/>
            </a:solidFill>
            <a:prstDash val="solid"/>
          </a:ln>
        </p:spPr>
      </p:sp>
      <p:sp>
        <p:nvSpPr>
          <p:cNvPr id="98" name="Shape 96"/>
          <p:cNvSpPr/>
          <p:nvPr/>
        </p:nvSpPr>
        <p:spPr>
          <a:xfrm>
            <a:off x="9966960" y="1463040"/>
            <a:ext cx="640080" cy="640080"/>
          </a:xfrm>
          <a:prstGeom prst="ellipse">
            <a:avLst/>
          </a:prstGeom>
          <a:solidFill>
            <a:srgbClr val="2A6EBB"/>
          </a:solidFill>
          <a:ln w="12700">
            <a:solidFill>
              <a:srgbClr val="2A6EBB"/>
            </a:solidFill>
            <a:prstDash val="solid"/>
          </a:ln>
        </p:spPr>
      </p:sp>
      <p:pic>
        <p:nvPicPr>
          <p:cNvPr id="99" name="Image 0" descr="preencoded.png">    </p:cNvPr>
          <p:cNvPicPr>
            <a:picLocks noChangeAspect="1"/>
          </p:cNvPicPr>
          <p:nvPr/>
        </p:nvPicPr>
        <p:blipFill>
          <a:blip r:embed="rId1"/>
          <a:stretch>
            <a:fillRect/>
          </a:stretch>
        </p:blipFill>
        <p:spPr>
          <a:xfrm>
            <a:off x="10133381" y="1629461"/>
            <a:ext cx="307238" cy="307238"/>
          </a:xfrm>
          <a:prstGeom prst="rect">
            <a:avLst/>
          </a:prstGeom>
        </p:spPr>
      </p:pic>
      <p:sp>
        <p:nvSpPr>
          <p:cNvPr id="100" name="Text 97"/>
          <p:cNvSpPr txBox="1"/>
          <p:nvPr/>
        </p:nvSpPr>
        <p:spPr>
          <a:xfrm>
            <a:off x="10744200" y="1463040"/>
            <a:ext cx="3246120" cy="64008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Accountability does not move</a:t>
            </a:r>
            <a:endParaRPr lang="en-US" sz="1700" dirty="0"/>
          </a:p>
        </p:txBody>
      </p:sp>
      <p:sp>
        <p:nvSpPr>
          <p:cNvPr id="101" name="Text 98"/>
          <p:cNvSpPr txBox="1"/>
          <p:nvPr/>
        </p:nvSpPr>
        <p:spPr>
          <a:xfrm>
            <a:off x="10012680" y="2377440"/>
            <a:ext cx="3886200" cy="5120640"/>
          </a:xfrm>
          <a:prstGeom prst="rect">
            <a:avLst/>
          </a:prstGeom>
          <a:noFill/>
          <a:ln/>
        </p:spPr>
        <p:txBody>
          <a:bodyPr wrap="square" lIns="0" tIns="0" rIns="0" bIns="0" rtlCol="0" anchor="t"/>
          <a:lstStyle/>
          <a:p>
            <a:pPr marL="342900" indent="-342900">
              <a:spcAft>
                <a:spcPts val="1400"/>
              </a:spcAft>
              <a:buSzPct val="100000"/>
              <a:buChar char="•"/>
            </a:pPr>
            <a:r>
              <a:rPr lang="en-US" sz="1300" dirty="0">
                <a:solidFill>
                  <a:srgbClr val="DCE9F7"/>
                </a:solidFill>
                <a:latin typeface="Calibri" pitchFamily="34" charset="0"/>
                <a:ea typeface="Calibri" pitchFamily="34" charset="-122"/>
                <a:cs typeface="Calibri" pitchFamily="34" charset="-120"/>
              </a:rPr>
              <a:t>The named owner stays accountable for every outcome</a:t>
            </a:r>
            <a:endParaRPr lang="en-US" sz="1300" dirty="0"/>
          </a:p>
          <a:p>
            <a:pPr marL="342900" indent="-342900">
              <a:spcAft>
                <a:spcPts val="1400"/>
              </a:spcAft>
              <a:buSzPct val="100000"/>
              <a:buChar char="•"/>
            </a:pPr>
            <a:r>
              <a:rPr lang="en-US" sz="1300" dirty="0">
                <a:solidFill>
                  <a:srgbClr val="DCE9F7"/>
                </a:solidFill>
                <a:latin typeface="Calibri" pitchFamily="34" charset="0"/>
                <a:ea typeface="Calibri" pitchFamily="34" charset="-122"/>
                <a:cs typeface="Calibri" pitchFamily="34" charset="-120"/>
              </a:rPr>
              <a:t>Agent output is recorded as advice, never as a decision</a:t>
            </a:r>
            <a:endParaRPr lang="en-US" sz="1300" dirty="0"/>
          </a:p>
          <a:p>
            <a:pPr marL="342900" indent="-342900">
              <a:spcAft>
                <a:spcPts val="1400"/>
              </a:spcAft>
              <a:buSzPct val="100000"/>
              <a:buChar char="•"/>
            </a:pPr>
            <a:r>
              <a:rPr lang="en-US" sz="1300" dirty="0">
                <a:solidFill>
                  <a:srgbClr val="DCE9F7"/>
                </a:solidFill>
                <a:latin typeface="Calibri" pitchFamily="34" charset="0"/>
                <a:ea typeface="Calibri" pitchFamily="34" charset="-122"/>
                <a:cs typeface="Calibri" pitchFamily="34" charset="-120"/>
              </a:rPr>
              <a:t>Every decision carries the approver, time and reason</a:t>
            </a:r>
            <a:endParaRPr lang="en-US" sz="1300" dirty="0"/>
          </a:p>
          <a:p>
            <a:pPr marL="342900" indent="-342900">
              <a:spcAft>
                <a:spcPts val="1400"/>
              </a:spcAft>
              <a:buSzPct val="100000"/>
              <a:buChar char="•"/>
            </a:pPr>
            <a:r>
              <a:rPr lang="en-US" sz="1300" dirty="0">
                <a:solidFill>
                  <a:srgbClr val="DCE9F7"/>
                </a:solidFill>
                <a:latin typeface="Calibri" pitchFamily="34" charset="0"/>
                <a:ea typeface="Calibri" pitchFamily="34" charset="-122"/>
                <a:cs typeface="Calibri" pitchFamily="34" charset="-120"/>
              </a:rPr>
              <a:t>Same segregation of duties and entitlements as today</a:t>
            </a:r>
            <a:endParaRPr lang="en-US" sz="1300" dirty="0"/>
          </a:p>
          <a:p>
            <a:pPr marL="342900" indent="-342900">
              <a:spcAft>
                <a:spcPts val="1400"/>
              </a:spcAft>
              <a:buSzPct val="100000"/>
              <a:buChar char="•"/>
            </a:pPr>
            <a:r>
              <a:rPr lang="en-US" sz="1300" dirty="0">
                <a:solidFill>
                  <a:srgbClr val="DCE9F7"/>
                </a:solidFill>
                <a:latin typeface="Calibri" pitchFamily="34" charset="0"/>
                <a:ea typeface="Calibri" pitchFamily="34" charset="-122"/>
                <a:cs typeface="Calibri" pitchFamily="34" charset="-120"/>
              </a:rPr>
              <a:t>The agent can say "I don't know" and route to a person</a:t>
            </a:r>
            <a:endParaRPr lang="en-US" sz="1300" dirty="0"/>
          </a:p>
        </p:txBody>
      </p:sp>
      <p:sp>
        <p:nvSpPr>
          <p:cNvPr id="102" name="Text 99"/>
          <p:cNvSpPr txBox="1"/>
          <p:nvPr/>
        </p:nvSpPr>
        <p:spPr>
          <a:xfrm>
            <a:off x="502920" y="8229600"/>
            <a:ext cx="1097280" cy="36576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Legend</a:t>
            </a:r>
            <a:endParaRPr lang="en-US" sz="1100" dirty="0"/>
          </a:p>
        </p:txBody>
      </p:sp>
      <p:sp>
        <p:nvSpPr>
          <p:cNvPr id="103" name="Shape 100"/>
          <p:cNvSpPr/>
          <p:nvPr/>
        </p:nvSpPr>
        <p:spPr>
          <a:xfrm>
            <a:off x="1463040" y="8257032"/>
            <a:ext cx="1005840" cy="310896"/>
          </a:xfrm>
          <a:prstGeom prst="roundRect">
            <a:avLst>
              <a:gd name="adj" fmla="val 50000"/>
            </a:avLst>
          </a:prstGeom>
          <a:solidFill>
            <a:srgbClr val="1B4F93"/>
          </a:solidFill>
          <a:ln w="9525">
            <a:solidFill>
              <a:srgbClr val="1B4F93"/>
            </a:solidFill>
            <a:prstDash val="solid"/>
          </a:ln>
        </p:spPr>
      </p:sp>
      <p:sp>
        <p:nvSpPr>
          <p:cNvPr id="104" name="Text 101"/>
          <p:cNvSpPr txBox="1"/>
          <p:nvPr/>
        </p:nvSpPr>
        <p:spPr>
          <a:xfrm>
            <a:off x="1463040" y="8257032"/>
            <a:ext cx="1005840"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Does</a:t>
            </a:r>
            <a:endParaRPr lang="en-US" sz="1000" dirty="0"/>
          </a:p>
        </p:txBody>
      </p:sp>
      <p:sp>
        <p:nvSpPr>
          <p:cNvPr id="105" name="Text 102"/>
          <p:cNvSpPr txBox="1"/>
          <p:nvPr/>
        </p:nvSpPr>
        <p:spPr>
          <a:xfrm>
            <a:off x="2560320" y="8229600"/>
            <a:ext cx="1828800" cy="365760"/>
          </a:xfrm>
          <a:prstGeom prst="rect">
            <a:avLst/>
          </a:prstGeom>
          <a:noFill/>
          <a:ln/>
        </p:spPr>
        <p:txBody>
          <a:bodyPr wrap="square" lIns="0" tIns="0" rIns="0" bIns="0" rtlCol="0" anchor="ctr"/>
          <a:lstStyle/>
          <a:p>
            <a:pPr indent="0" marL="0">
              <a:buNone/>
            </a:pPr>
            <a:r>
              <a:rPr lang="en-US" sz="1050" dirty="0">
                <a:solidFill>
                  <a:srgbClr val="4A5A6E"/>
                </a:solidFill>
                <a:latin typeface="Calibri" pitchFamily="34" charset="0"/>
                <a:ea typeface="Calibri" pitchFamily="34" charset="-122"/>
                <a:cs typeface="Calibri" pitchFamily="34" charset="-120"/>
              </a:rPr>
              <a:t>Performs the step</a:t>
            </a:r>
            <a:endParaRPr lang="en-US" sz="1050" dirty="0"/>
          </a:p>
        </p:txBody>
      </p:sp>
      <p:sp>
        <p:nvSpPr>
          <p:cNvPr id="106" name="Shape 103"/>
          <p:cNvSpPr/>
          <p:nvPr/>
        </p:nvSpPr>
        <p:spPr>
          <a:xfrm>
            <a:off x="4206240" y="8257032"/>
            <a:ext cx="1005840" cy="310896"/>
          </a:xfrm>
          <a:prstGeom prst="roundRect">
            <a:avLst>
              <a:gd name="adj" fmla="val 50000"/>
            </a:avLst>
          </a:prstGeom>
          <a:solidFill>
            <a:srgbClr val="FFFFFF"/>
          </a:solidFill>
          <a:ln w="9525">
            <a:solidFill>
              <a:srgbClr val="1B4F93"/>
            </a:solidFill>
            <a:prstDash val="solid"/>
          </a:ln>
        </p:spPr>
      </p:sp>
      <p:sp>
        <p:nvSpPr>
          <p:cNvPr id="107" name="Text 104"/>
          <p:cNvSpPr txBox="1"/>
          <p:nvPr/>
        </p:nvSpPr>
        <p:spPr>
          <a:xfrm>
            <a:off x="4206240" y="8257032"/>
            <a:ext cx="1005840" cy="310896"/>
          </a:xfrm>
          <a:prstGeom prst="rect">
            <a:avLst/>
          </a:prstGeom>
          <a:noFill/>
          <a:ln/>
        </p:spPr>
        <p:txBody>
          <a:bodyPr wrap="square" lIns="0" tIns="0" rIns="0" bIns="0" rtlCol="0" anchor="ctr"/>
          <a:lstStyle/>
          <a:p>
            <a:pPr algn="ctr" indent="0" marL="0">
              <a:buNone/>
            </a:pPr>
            <a:r>
              <a:rPr lang="en-US" sz="1000" b="1" dirty="0">
                <a:solidFill>
                  <a:srgbClr val="1B4F93"/>
                </a:solidFill>
                <a:latin typeface="Calibri" pitchFamily="34" charset="0"/>
                <a:ea typeface="Calibri" pitchFamily="34" charset="-122"/>
                <a:cs typeface="Calibri" pitchFamily="34" charset="-120"/>
              </a:rPr>
              <a:t>Supports</a:t>
            </a:r>
            <a:endParaRPr lang="en-US" sz="1000" dirty="0"/>
          </a:p>
        </p:txBody>
      </p:sp>
      <p:sp>
        <p:nvSpPr>
          <p:cNvPr id="108" name="Text 105"/>
          <p:cNvSpPr txBox="1"/>
          <p:nvPr/>
        </p:nvSpPr>
        <p:spPr>
          <a:xfrm>
            <a:off x="5303520" y="8229600"/>
            <a:ext cx="2743200" cy="365760"/>
          </a:xfrm>
          <a:prstGeom prst="rect">
            <a:avLst/>
          </a:prstGeom>
          <a:noFill/>
          <a:ln/>
        </p:spPr>
        <p:txBody>
          <a:bodyPr wrap="square" lIns="0" tIns="0" rIns="0" bIns="0" rtlCol="0" anchor="ctr"/>
          <a:lstStyle/>
          <a:p>
            <a:pPr indent="0" marL="0">
              <a:buNone/>
            </a:pPr>
            <a:r>
              <a:rPr lang="en-US" sz="1050" dirty="0">
                <a:solidFill>
                  <a:srgbClr val="4A5A6E"/>
                </a:solidFill>
                <a:latin typeface="Calibri" pitchFamily="34" charset="0"/>
                <a:ea typeface="Calibri" pitchFamily="34" charset="-122"/>
                <a:cs typeface="Calibri" pitchFamily="34" charset="-120"/>
              </a:rPr>
              <a:t>Provides input or instruction</a:t>
            </a:r>
            <a:endParaRPr lang="en-US" sz="1050" dirty="0"/>
          </a:p>
        </p:txBody>
      </p:sp>
      <p:sp>
        <p:nvSpPr>
          <p:cNvPr id="109" name="Text 106"/>
          <p:cNvSpPr txBox="1"/>
          <p:nvPr/>
        </p:nvSpPr>
        <p:spPr>
          <a:xfrm>
            <a:off x="9738360" y="8229600"/>
            <a:ext cx="4389120" cy="365760"/>
          </a:xfrm>
          <a:prstGeom prst="rect">
            <a:avLst/>
          </a:prstGeom>
          <a:noFill/>
          <a:ln/>
        </p:spPr>
        <p:txBody>
          <a:bodyPr wrap="square" lIns="0" tIns="0" rIns="0" bIns="0" rtlCol="0" anchor="ctr"/>
          <a:lstStyle/>
          <a:p>
            <a:pPr algn="r" indent="0" marL="0">
              <a:buNone/>
            </a:pPr>
            <a:r>
              <a:rPr lang="en-US" sz="1050" i="1" dirty="0">
                <a:solidFill>
                  <a:srgbClr val="1B4F93"/>
                </a:solidFill>
                <a:latin typeface="Calibri" pitchFamily="34" charset="0"/>
                <a:ea typeface="Calibri" pitchFamily="34" charset="-122"/>
                <a:cs typeface="Calibri" pitchFamily="34" charset="-120"/>
              </a:rPr>
              <a:t>Highlighted row: the decision gate</a:t>
            </a:r>
            <a:endParaRPr lang="en-US" sz="1050" dirty="0"/>
          </a:p>
        </p:txBody>
      </p:sp>
      <p:sp>
        <p:nvSpPr>
          <p:cNvPr id="110" name="Shape 107"/>
          <p:cNvSpPr/>
          <p:nvPr/>
        </p:nvSpPr>
        <p:spPr>
          <a:xfrm>
            <a:off x="0" y="9272016"/>
            <a:ext cx="14630400" cy="484632"/>
          </a:xfrm>
          <a:prstGeom prst="rect">
            <a:avLst/>
          </a:prstGeom>
          <a:solidFill>
            <a:srgbClr val="0B2E5E"/>
          </a:solidFill>
          <a:ln w="12700">
            <a:solidFill>
              <a:srgbClr val="0B2E5E"/>
            </a:solidFill>
            <a:prstDash val="solid"/>
          </a:ln>
        </p:spPr>
      </p:sp>
      <p:sp>
        <p:nvSpPr>
          <p:cNvPr id="111" name="Text 108"/>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prepare. People decide. Systems execute.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How People Stay in Control</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Controls built into the platform, the same for every use case</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502920" y="1280160"/>
            <a:ext cx="4389120" cy="1828800"/>
          </a:xfrm>
          <a:prstGeom prst="roundRect">
            <a:avLst>
              <a:gd name="adj" fmla="val 4000"/>
            </a:avLst>
          </a:prstGeom>
          <a:solidFill>
            <a:srgbClr val="FFFFFF"/>
          </a:solidFill>
          <a:ln w="9525">
            <a:solidFill>
              <a:srgbClr val="C8D8EC"/>
            </a:solidFill>
            <a:prstDash val="solid"/>
          </a:ln>
        </p:spPr>
      </p:sp>
      <p:sp>
        <p:nvSpPr>
          <p:cNvPr id="8" name="Shape 6"/>
          <p:cNvSpPr/>
          <p:nvPr/>
        </p:nvSpPr>
        <p:spPr>
          <a:xfrm>
            <a:off x="731520" y="1554480"/>
            <a:ext cx="685800" cy="685800"/>
          </a:xfrm>
          <a:prstGeom prst="ellipse">
            <a:avLst/>
          </a:prstGeom>
          <a:solidFill>
            <a:srgbClr val="1B4F93"/>
          </a:solidFill>
          <a:ln w="12700">
            <a:solidFill>
              <a:srgbClr val="1B4F93"/>
            </a:solidFill>
            <a:prstDash val="solid"/>
          </a:ln>
        </p:spPr>
      </p:sp>
      <p:pic>
        <p:nvPicPr>
          <p:cNvPr id="9" name="Image 0" descr="preencoded.png">    </p:cNvPr>
          <p:cNvPicPr>
            <a:picLocks noChangeAspect="1"/>
          </p:cNvPicPr>
          <p:nvPr/>
        </p:nvPicPr>
        <p:blipFill>
          <a:blip r:embed="rId1"/>
          <a:stretch>
            <a:fillRect/>
          </a:stretch>
        </p:blipFill>
        <p:spPr>
          <a:xfrm>
            <a:off x="909828" y="1732788"/>
            <a:ext cx="329184" cy="329184"/>
          </a:xfrm>
          <a:prstGeom prst="rect">
            <a:avLst/>
          </a:prstGeom>
        </p:spPr>
      </p:pic>
      <p:sp>
        <p:nvSpPr>
          <p:cNvPr id="10" name="Text 7"/>
          <p:cNvSpPr txBox="1"/>
          <p:nvPr/>
        </p:nvSpPr>
        <p:spPr>
          <a:xfrm>
            <a:off x="1645920" y="155448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Approval gates</a:t>
            </a:r>
            <a:endParaRPr lang="en-US" sz="1600" dirty="0"/>
          </a:p>
        </p:txBody>
      </p:sp>
      <p:sp>
        <p:nvSpPr>
          <p:cNvPr id="11" name="Text 8"/>
          <p:cNvSpPr txBox="1"/>
          <p:nvPr/>
        </p:nvSpPr>
        <p:spPr>
          <a:xfrm>
            <a:off x="1645920" y="196596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No instruction leaves the platform without a named approver.</a:t>
            </a:r>
            <a:endParaRPr lang="en-US" sz="1200" dirty="0"/>
          </a:p>
        </p:txBody>
      </p:sp>
      <p:sp>
        <p:nvSpPr>
          <p:cNvPr id="12" name="Shape 9"/>
          <p:cNvSpPr/>
          <p:nvPr/>
        </p:nvSpPr>
        <p:spPr>
          <a:xfrm>
            <a:off x="5074920" y="1280160"/>
            <a:ext cx="4389120" cy="1828800"/>
          </a:xfrm>
          <a:prstGeom prst="roundRect">
            <a:avLst>
              <a:gd name="adj" fmla="val 4000"/>
            </a:avLst>
          </a:prstGeom>
          <a:solidFill>
            <a:srgbClr val="FFFFFF"/>
          </a:solidFill>
          <a:ln w="9525">
            <a:solidFill>
              <a:srgbClr val="C8D8EC"/>
            </a:solidFill>
            <a:prstDash val="solid"/>
          </a:ln>
        </p:spPr>
      </p:sp>
      <p:sp>
        <p:nvSpPr>
          <p:cNvPr id="13" name="Shape 10"/>
          <p:cNvSpPr/>
          <p:nvPr/>
        </p:nvSpPr>
        <p:spPr>
          <a:xfrm>
            <a:off x="5303520" y="1554480"/>
            <a:ext cx="685800" cy="685800"/>
          </a:xfrm>
          <a:prstGeom prst="ellipse">
            <a:avLst/>
          </a:prstGeom>
          <a:solidFill>
            <a:srgbClr val="5B4FA8"/>
          </a:solidFill>
          <a:ln w="12700">
            <a:solidFill>
              <a:srgbClr val="5B4FA8"/>
            </a:solidFill>
            <a:prstDash val="solid"/>
          </a:ln>
        </p:spPr>
      </p:sp>
      <p:pic>
        <p:nvPicPr>
          <p:cNvPr id="14" name="Image 1" descr="preencoded.png">    </p:cNvPr>
          <p:cNvPicPr>
            <a:picLocks noChangeAspect="1"/>
          </p:cNvPicPr>
          <p:nvPr/>
        </p:nvPicPr>
        <p:blipFill>
          <a:blip r:embed="rId2"/>
          <a:stretch>
            <a:fillRect/>
          </a:stretch>
        </p:blipFill>
        <p:spPr>
          <a:xfrm>
            <a:off x="5481828" y="1732788"/>
            <a:ext cx="329184" cy="329184"/>
          </a:xfrm>
          <a:prstGeom prst="rect">
            <a:avLst/>
          </a:prstGeom>
        </p:spPr>
      </p:pic>
      <p:sp>
        <p:nvSpPr>
          <p:cNvPr id="15" name="Text 11"/>
          <p:cNvSpPr txBox="1"/>
          <p:nvPr/>
        </p:nvSpPr>
        <p:spPr>
          <a:xfrm>
            <a:off x="6217920" y="155448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Confidence &amp; escalation</a:t>
            </a:r>
            <a:endParaRPr lang="en-US" sz="1600" dirty="0"/>
          </a:p>
        </p:txBody>
      </p:sp>
      <p:sp>
        <p:nvSpPr>
          <p:cNvPr id="16" name="Text 12"/>
          <p:cNvSpPr txBox="1"/>
          <p:nvPr/>
        </p:nvSpPr>
        <p:spPr>
          <a:xfrm>
            <a:off x="6217920" y="196596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Low-confidence or novel cases are routed to people. The agent is allowed to say it does not know.</a:t>
            </a:r>
            <a:endParaRPr lang="en-US" sz="1200" dirty="0"/>
          </a:p>
        </p:txBody>
      </p:sp>
      <p:sp>
        <p:nvSpPr>
          <p:cNvPr id="17" name="Shape 13"/>
          <p:cNvSpPr/>
          <p:nvPr/>
        </p:nvSpPr>
        <p:spPr>
          <a:xfrm>
            <a:off x="9646920" y="1280160"/>
            <a:ext cx="4389120" cy="1828800"/>
          </a:xfrm>
          <a:prstGeom prst="roundRect">
            <a:avLst>
              <a:gd name="adj" fmla="val 4000"/>
            </a:avLst>
          </a:prstGeom>
          <a:solidFill>
            <a:srgbClr val="FFFFFF"/>
          </a:solidFill>
          <a:ln w="9525">
            <a:solidFill>
              <a:srgbClr val="C8D8EC"/>
            </a:solidFill>
            <a:prstDash val="solid"/>
          </a:ln>
        </p:spPr>
      </p:sp>
      <p:sp>
        <p:nvSpPr>
          <p:cNvPr id="18" name="Shape 14"/>
          <p:cNvSpPr/>
          <p:nvPr/>
        </p:nvSpPr>
        <p:spPr>
          <a:xfrm>
            <a:off x="9875520" y="1554480"/>
            <a:ext cx="685800" cy="685800"/>
          </a:xfrm>
          <a:prstGeom prst="ellipse">
            <a:avLst/>
          </a:prstGeom>
          <a:solidFill>
            <a:srgbClr val="2A6EBB"/>
          </a:solidFill>
          <a:ln w="12700">
            <a:solidFill>
              <a:srgbClr val="2A6EBB"/>
            </a:solidFill>
            <a:prstDash val="solid"/>
          </a:ln>
        </p:spPr>
      </p:sp>
      <p:pic>
        <p:nvPicPr>
          <p:cNvPr id="19" name="Image 2" descr="preencoded.png">    </p:cNvPr>
          <p:cNvPicPr>
            <a:picLocks noChangeAspect="1"/>
          </p:cNvPicPr>
          <p:nvPr/>
        </p:nvPicPr>
        <p:blipFill>
          <a:blip r:embed="rId3"/>
          <a:stretch>
            <a:fillRect/>
          </a:stretch>
        </p:blipFill>
        <p:spPr>
          <a:xfrm>
            <a:off x="10053828" y="1732788"/>
            <a:ext cx="329184" cy="329184"/>
          </a:xfrm>
          <a:prstGeom prst="rect">
            <a:avLst/>
          </a:prstGeom>
        </p:spPr>
      </p:pic>
      <p:sp>
        <p:nvSpPr>
          <p:cNvPr id="20" name="Text 15"/>
          <p:cNvSpPr txBox="1"/>
          <p:nvPr/>
        </p:nvSpPr>
        <p:spPr>
          <a:xfrm>
            <a:off x="10789920" y="155448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Edit and override</a:t>
            </a:r>
            <a:endParaRPr lang="en-US" sz="1600" dirty="0"/>
          </a:p>
        </p:txBody>
      </p:sp>
      <p:sp>
        <p:nvSpPr>
          <p:cNvPr id="21" name="Text 16"/>
          <p:cNvSpPr txBox="1"/>
          <p:nvPr/>
        </p:nvSpPr>
        <p:spPr>
          <a:xfrm>
            <a:off x="10789920" y="196596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People can change any recommendation. The reason is captured and learned from.</a:t>
            </a:r>
            <a:endParaRPr lang="en-US" sz="1200" dirty="0"/>
          </a:p>
        </p:txBody>
      </p:sp>
      <p:sp>
        <p:nvSpPr>
          <p:cNvPr id="22" name="Shape 17"/>
          <p:cNvSpPr/>
          <p:nvPr/>
        </p:nvSpPr>
        <p:spPr>
          <a:xfrm>
            <a:off x="502920" y="3291840"/>
            <a:ext cx="4389120" cy="1828800"/>
          </a:xfrm>
          <a:prstGeom prst="roundRect">
            <a:avLst>
              <a:gd name="adj" fmla="val 4000"/>
            </a:avLst>
          </a:prstGeom>
          <a:solidFill>
            <a:srgbClr val="FFFFFF"/>
          </a:solidFill>
          <a:ln w="9525">
            <a:solidFill>
              <a:srgbClr val="C8D8EC"/>
            </a:solidFill>
            <a:prstDash val="solid"/>
          </a:ln>
        </p:spPr>
      </p:sp>
      <p:sp>
        <p:nvSpPr>
          <p:cNvPr id="23" name="Shape 18"/>
          <p:cNvSpPr/>
          <p:nvPr/>
        </p:nvSpPr>
        <p:spPr>
          <a:xfrm>
            <a:off x="731520" y="3566160"/>
            <a:ext cx="685800" cy="685800"/>
          </a:xfrm>
          <a:prstGeom prst="ellipse">
            <a:avLst/>
          </a:prstGeom>
          <a:solidFill>
            <a:srgbClr val="1F4E8C"/>
          </a:solidFill>
          <a:ln w="12700">
            <a:solidFill>
              <a:srgbClr val="1F4E8C"/>
            </a:solidFill>
            <a:prstDash val="solid"/>
          </a:ln>
        </p:spPr>
      </p:sp>
      <p:pic>
        <p:nvPicPr>
          <p:cNvPr id="24" name="Image 3" descr="preencoded.png">    </p:cNvPr>
          <p:cNvPicPr>
            <a:picLocks noChangeAspect="1"/>
          </p:cNvPicPr>
          <p:nvPr/>
        </p:nvPicPr>
        <p:blipFill>
          <a:blip r:embed="rId4"/>
          <a:stretch>
            <a:fillRect/>
          </a:stretch>
        </p:blipFill>
        <p:spPr>
          <a:xfrm>
            <a:off x="909828" y="3744468"/>
            <a:ext cx="329184" cy="329184"/>
          </a:xfrm>
          <a:prstGeom prst="rect">
            <a:avLst/>
          </a:prstGeom>
        </p:spPr>
      </p:pic>
      <p:sp>
        <p:nvSpPr>
          <p:cNvPr id="25" name="Text 19"/>
          <p:cNvSpPr txBox="1"/>
          <p:nvPr/>
        </p:nvSpPr>
        <p:spPr>
          <a:xfrm>
            <a:off x="1645920" y="356616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Least privilege</a:t>
            </a:r>
            <a:endParaRPr lang="en-US" sz="1600" dirty="0"/>
          </a:p>
        </p:txBody>
      </p:sp>
      <p:sp>
        <p:nvSpPr>
          <p:cNvPr id="26" name="Text 20"/>
          <p:cNvSpPr txBox="1"/>
          <p:nvPr/>
        </p:nvSpPr>
        <p:spPr>
          <a:xfrm>
            <a:off x="1645920" y="397764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Agents read data and draft instructions only. No direct writes to any system.</a:t>
            </a:r>
            <a:endParaRPr lang="en-US" sz="1200" dirty="0"/>
          </a:p>
        </p:txBody>
      </p:sp>
      <p:sp>
        <p:nvSpPr>
          <p:cNvPr id="27" name="Shape 21"/>
          <p:cNvSpPr/>
          <p:nvPr/>
        </p:nvSpPr>
        <p:spPr>
          <a:xfrm>
            <a:off x="5074920" y="3291840"/>
            <a:ext cx="4389120" cy="1828800"/>
          </a:xfrm>
          <a:prstGeom prst="roundRect">
            <a:avLst>
              <a:gd name="adj" fmla="val 4000"/>
            </a:avLst>
          </a:prstGeom>
          <a:solidFill>
            <a:srgbClr val="FFFFFF"/>
          </a:solidFill>
          <a:ln w="9525">
            <a:solidFill>
              <a:srgbClr val="C8D8EC"/>
            </a:solidFill>
            <a:prstDash val="solid"/>
          </a:ln>
        </p:spPr>
      </p:sp>
      <p:sp>
        <p:nvSpPr>
          <p:cNvPr id="28" name="Shape 22"/>
          <p:cNvSpPr/>
          <p:nvPr/>
        </p:nvSpPr>
        <p:spPr>
          <a:xfrm>
            <a:off x="5303520" y="3566160"/>
            <a:ext cx="685800" cy="685800"/>
          </a:xfrm>
          <a:prstGeom prst="ellipse">
            <a:avLst/>
          </a:prstGeom>
          <a:solidFill>
            <a:srgbClr val="C0392B"/>
          </a:solidFill>
          <a:ln w="12700">
            <a:solidFill>
              <a:srgbClr val="C0392B"/>
            </a:solidFill>
            <a:prstDash val="solid"/>
          </a:ln>
        </p:spPr>
      </p:sp>
      <p:pic>
        <p:nvPicPr>
          <p:cNvPr id="29" name="Image 4" descr="preencoded.png">    </p:cNvPr>
          <p:cNvPicPr>
            <a:picLocks noChangeAspect="1"/>
          </p:cNvPicPr>
          <p:nvPr/>
        </p:nvPicPr>
        <p:blipFill>
          <a:blip r:embed="rId5"/>
          <a:stretch>
            <a:fillRect/>
          </a:stretch>
        </p:blipFill>
        <p:spPr>
          <a:xfrm>
            <a:off x="5481828" y="3744468"/>
            <a:ext cx="329184" cy="329184"/>
          </a:xfrm>
          <a:prstGeom prst="rect">
            <a:avLst/>
          </a:prstGeom>
        </p:spPr>
      </p:pic>
      <p:sp>
        <p:nvSpPr>
          <p:cNvPr id="30" name="Text 23"/>
          <p:cNvSpPr txBox="1"/>
          <p:nvPr/>
        </p:nvSpPr>
        <p:spPr>
          <a:xfrm>
            <a:off x="6217920" y="356616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Kill switch &amp; fallback</a:t>
            </a:r>
            <a:endParaRPr lang="en-US" sz="1600" dirty="0"/>
          </a:p>
        </p:txBody>
      </p:sp>
      <p:sp>
        <p:nvSpPr>
          <p:cNvPr id="31" name="Text 24"/>
          <p:cNvSpPr txBox="1"/>
          <p:nvPr/>
        </p:nvSpPr>
        <p:spPr>
          <a:xfrm>
            <a:off x="6217920" y="397764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Any agent can be switched off per workspace. The process reverts to today's manual steps.</a:t>
            </a:r>
            <a:endParaRPr lang="en-US" sz="1200" dirty="0"/>
          </a:p>
        </p:txBody>
      </p:sp>
      <p:sp>
        <p:nvSpPr>
          <p:cNvPr id="32" name="Shape 25"/>
          <p:cNvSpPr/>
          <p:nvPr/>
        </p:nvSpPr>
        <p:spPr>
          <a:xfrm>
            <a:off x="9646920" y="3291840"/>
            <a:ext cx="4389120" cy="1828800"/>
          </a:xfrm>
          <a:prstGeom prst="roundRect">
            <a:avLst>
              <a:gd name="adj" fmla="val 4000"/>
            </a:avLst>
          </a:prstGeom>
          <a:solidFill>
            <a:srgbClr val="FFFFFF"/>
          </a:solidFill>
          <a:ln w="9525">
            <a:solidFill>
              <a:srgbClr val="C8D8EC"/>
            </a:solidFill>
            <a:prstDash val="solid"/>
          </a:ln>
        </p:spPr>
      </p:sp>
      <p:sp>
        <p:nvSpPr>
          <p:cNvPr id="33" name="Shape 26"/>
          <p:cNvSpPr/>
          <p:nvPr/>
        </p:nvSpPr>
        <p:spPr>
          <a:xfrm>
            <a:off x="9875520" y="3566160"/>
            <a:ext cx="685800" cy="685800"/>
          </a:xfrm>
          <a:prstGeom prst="ellipse">
            <a:avLst/>
          </a:prstGeom>
          <a:solidFill>
            <a:srgbClr val="1E8A5A"/>
          </a:solidFill>
          <a:ln w="12700">
            <a:solidFill>
              <a:srgbClr val="1E8A5A"/>
            </a:solidFill>
            <a:prstDash val="solid"/>
          </a:ln>
        </p:spPr>
      </p:sp>
      <p:pic>
        <p:nvPicPr>
          <p:cNvPr id="34" name="Image 5" descr="preencoded.png">    </p:cNvPr>
          <p:cNvPicPr>
            <a:picLocks noChangeAspect="1"/>
          </p:cNvPicPr>
          <p:nvPr/>
        </p:nvPicPr>
        <p:blipFill>
          <a:blip r:embed="rId6"/>
          <a:stretch>
            <a:fillRect/>
          </a:stretch>
        </p:blipFill>
        <p:spPr>
          <a:xfrm>
            <a:off x="10053828" y="3744468"/>
            <a:ext cx="329184" cy="329184"/>
          </a:xfrm>
          <a:prstGeom prst="rect">
            <a:avLst/>
          </a:prstGeom>
        </p:spPr>
      </p:pic>
      <p:sp>
        <p:nvSpPr>
          <p:cNvPr id="35" name="Text 27"/>
          <p:cNvSpPr txBox="1"/>
          <p:nvPr/>
        </p:nvSpPr>
        <p:spPr>
          <a:xfrm>
            <a:off x="10789920" y="3566160"/>
            <a:ext cx="3108960" cy="365760"/>
          </a:xfrm>
          <a:prstGeom prst="rect">
            <a:avLst/>
          </a:prstGeom>
          <a:noFill/>
          <a:ln/>
        </p:spPr>
        <p:txBody>
          <a:bodyPr wrap="square" lIns="0" tIns="0" rIns="0" bIns="0" rtlCol="0" anchor="ctr"/>
          <a:lstStyle/>
          <a:p>
            <a:pPr indent="0" marL="0">
              <a:buNone/>
            </a:pPr>
            <a:r>
              <a:rPr lang="en-US" sz="1600" b="1" dirty="0">
                <a:solidFill>
                  <a:srgbClr val="1F2D3D"/>
                </a:solidFill>
                <a:latin typeface="Calibri" pitchFamily="34" charset="0"/>
                <a:ea typeface="Calibri" pitchFamily="34" charset="-122"/>
                <a:cs typeface="Calibri" pitchFamily="34" charset="-120"/>
              </a:rPr>
              <a:t>Evals &amp; feedback</a:t>
            </a:r>
            <a:endParaRPr lang="en-US" sz="1600" dirty="0"/>
          </a:p>
        </p:txBody>
      </p:sp>
      <p:sp>
        <p:nvSpPr>
          <p:cNvPr id="36" name="Text 28"/>
          <p:cNvSpPr txBox="1"/>
          <p:nvPr/>
        </p:nvSpPr>
        <p:spPr>
          <a:xfrm>
            <a:off x="10789920" y="3977640"/>
            <a:ext cx="3108960" cy="1005840"/>
          </a:xfrm>
          <a:prstGeom prst="rect">
            <a:avLst/>
          </a:prstGeom>
          <a:noFill/>
          <a:ln/>
        </p:spPr>
        <p:txBody>
          <a:bodyPr wrap="square" lIns="0" tIns="0" rIns="0" bIns="0" rtlCol="0" anchor="t"/>
          <a:lstStyle/>
          <a:p>
            <a:pPr indent="0" marL="0">
              <a:buNone/>
            </a:pPr>
            <a:r>
              <a:rPr lang="en-US" sz="1200" dirty="0">
                <a:solidFill>
                  <a:srgbClr val="4A5A6E"/>
                </a:solidFill>
                <a:latin typeface="Calibri" pitchFamily="34" charset="0"/>
                <a:ea typeface="Calibri" pitchFamily="34" charset="-122"/>
                <a:cs typeface="Calibri" pitchFamily="34" charset="-120"/>
              </a:rPr>
              <a:t>Every rejection becomes a test case. Skills are re-tested before each release.</a:t>
            </a:r>
            <a:endParaRPr lang="en-US" sz="1200" dirty="0"/>
          </a:p>
        </p:txBody>
      </p:sp>
      <p:sp>
        <p:nvSpPr>
          <p:cNvPr id="37" name="Shape 29"/>
          <p:cNvSpPr/>
          <p:nvPr/>
        </p:nvSpPr>
        <p:spPr>
          <a:xfrm>
            <a:off x="502920" y="5440680"/>
            <a:ext cx="13624560" cy="2148840"/>
          </a:xfrm>
          <a:prstGeom prst="roundRect">
            <a:avLst>
              <a:gd name="adj" fmla="val 2553"/>
            </a:avLst>
          </a:prstGeom>
          <a:solidFill>
            <a:srgbClr val="EEF4FB"/>
          </a:solidFill>
          <a:ln w="12700">
            <a:solidFill>
              <a:srgbClr val="1B4F93"/>
            </a:solidFill>
            <a:prstDash val="dash"/>
          </a:ln>
        </p:spPr>
      </p:sp>
      <p:sp>
        <p:nvSpPr>
          <p:cNvPr id="38" name="Text 30"/>
          <p:cNvSpPr txBox="1"/>
          <p:nvPr/>
        </p:nvSpPr>
        <p:spPr>
          <a:xfrm>
            <a:off x="640080" y="5532120"/>
            <a:ext cx="13350240" cy="201168"/>
          </a:xfrm>
          <a:prstGeom prst="rect">
            <a:avLst/>
          </a:prstGeom>
          <a:noFill/>
          <a:ln/>
        </p:spPr>
        <p:txBody>
          <a:bodyPr wrap="square" lIns="0" tIns="0" rIns="0" bIns="0" rtlCol="0" anchor="ctr"/>
          <a:lstStyle/>
          <a:p>
            <a:pPr indent="0" marL="0">
              <a:buNone/>
            </a:pPr>
            <a:r>
              <a:rPr lang="en-US" sz="950" b="1" spc="100" kern="0" dirty="0">
                <a:solidFill>
                  <a:srgbClr val="1B4F93"/>
                </a:solidFill>
                <a:latin typeface="Calibri" pitchFamily="34" charset="0"/>
                <a:ea typeface="Calibri" pitchFamily="34" charset="-122"/>
                <a:cs typeface="Calibri" pitchFamily="34" charset="-120"/>
              </a:rPr>
              <a:t>OVERSIGHT METRICS WE REPORT TO YOU EVERY MONTH</a:t>
            </a:r>
            <a:endParaRPr lang="en-US" sz="950" dirty="0"/>
          </a:p>
        </p:txBody>
      </p:sp>
      <p:sp>
        <p:nvSpPr>
          <p:cNvPr id="39" name="Shape 31"/>
          <p:cNvSpPr/>
          <p:nvPr/>
        </p:nvSpPr>
        <p:spPr>
          <a:xfrm>
            <a:off x="640080" y="5852160"/>
            <a:ext cx="2103120" cy="1554480"/>
          </a:xfrm>
          <a:prstGeom prst="roundRect">
            <a:avLst>
              <a:gd name="adj" fmla="val 4706"/>
            </a:avLst>
          </a:prstGeom>
          <a:solidFill>
            <a:srgbClr val="FFFFFF"/>
          </a:solidFill>
          <a:ln w="9525">
            <a:solidFill>
              <a:srgbClr val="C8D8EC"/>
            </a:solidFill>
            <a:prstDash val="solid"/>
          </a:ln>
        </p:spPr>
      </p:sp>
      <p:sp>
        <p:nvSpPr>
          <p:cNvPr id="40" name="Shape 32"/>
          <p:cNvSpPr/>
          <p:nvPr/>
        </p:nvSpPr>
        <p:spPr>
          <a:xfrm>
            <a:off x="1426464" y="5989320"/>
            <a:ext cx="502920" cy="502920"/>
          </a:xfrm>
          <a:prstGeom prst="roundRect">
            <a:avLst>
              <a:gd name="adj" fmla="val 18182"/>
            </a:avLst>
          </a:prstGeom>
          <a:solidFill>
            <a:srgbClr val="1B4F93"/>
          </a:solidFill>
          <a:ln w="12700">
            <a:solidFill>
              <a:srgbClr val="1B4F93"/>
            </a:solidFill>
            <a:prstDash val="solid"/>
          </a:ln>
        </p:spPr>
      </p:sp>
      <p:pic>
        <p:nvPicPr>
          <p:cNvPr id="41" name="Image 6" descr="preencoded.png">    </p:cNvPr>
          <p:cNvPicPr>
            <a:picLocks noChangeAspect="1"/>
          </p:cNvPicPr>
          <p:nvPr/>
        </p:nvPicPr>
        <p:blipFill>
          <a:blip r:embed="rId7"/>
          <a:stretch>
            <a:fillRect/>
          </a:stretch>
        </p:blipFill>
        <p:spPr>
          <a:xfrm>
            <a:off x="1537106" y="6099962"/>
            <a:ext cx="281635" cy="281635"/>
          </a:xfrm>
          <a:prstGeom prst="rect">
            <a:avLst/>
          </a:prstGeom>
        </p:spPr>
      </p:pic>
      <p:sp>
        <p:nvSpPr>
          <p:cNvPr id="42" name="Text 33"/>
          <p:cNvSpPr txBox="1"/>
          <p:nvPr/>
        </p:nvSpPr>
        <p:spPr>
          <a:xfrm>
            <a:off x="73152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Approval rate</a:t>
            </a:r>
            <a:endParaRPr lang="en-US" sz="1200" dirty="0"/>
          </a:p>
        </p:txBody>
      </p:sp>
      <p:sp>
        <p:nvSpPr>
          <p:cNvPr id="43" name="Text 34"/>
          <p:cNvSpPr txBox="1"/>
          <p:nvPr/>
        </p:nvSpPr>
        <p:spPr>
          <a:xfrm>
            <a:off x="77724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Share of recommendations accepted as is</a:t>
            </a:r>
            <a:endParaRPr lang="en-US" sz="950" dirty="0"/>
          </a:p>
        </p:txBody>
      </p:sp>
      <p:sp>
        <p:nvSpPr>
          <p:cNvPr id="44" name="Shape 35"/>
          <p:cNvSpPr/>
          <p:nvPr/>
        </p:nvSpPr>
        <p:spPr>
          <a:xfrm>
            <a:off x="2880360" y="5852160"/>
            <a:ext cx="2103120" cy="1554480"/>
          </a:xfrm>
          <a:prstGeom prst="roundRect">
            <a:avLst>
              <a:gd name="adj" fmla="val 4706"/>
            </a:avLst>
          </a:prstGeom>
          <a:solidFill>
            <a:srgbClr val="FFFFFF"/>
          </a:solidFill>
          <a:ln w="9525">
            <a:solidFill>
              <a:srgbClr val="C8D8EC"/>
            </a:solidFill>
            <a:prstDash val="solid"/>
          </a:ln>
        </p:spPr>
      </p:sp>
      <p:sp>
        <p:nvSpPr>
          <p:cNvPr id="45" name="Shape 36"/>
          <p:cNvSpPr/>
          <p:nvPr/>
        </p:nvSpPr>
        <p:spPr>
          <a:xfrm>
            <a:off x="3666744" y="5989320"/>
            <a:ext cx="502920" cy="502920"/>
          </a:xfrm>
          <a:prstGeom prst="roundRect">
            <a:avLst>
              <a:gd name="adj" fmla="val 18182"/>
            </a:avLst>
          </a:prstGeom>
          <a:solidFill>
            <a:srgbClr val="1B4F93"/>
          </a:solidFill>
          <a:ln w="12700">
            <a:solidFill>
              <a:srgbClr val="1B4F93"/>
            </a:solidFill>
            <a:prstDash val="solid"/>
          </a:ln>
        </p:spPr>
      </p:sp>
      <p:pic>
        <p:nvPicPr>
          <p:cNvPr id="46" name="Image 7" descr="preencoded.png">    </p:cNvPr>
          <p:cNvPicPr>
            <a:picLocks noChangeAspect="1"/>
          </p:cNvPicPr>
          <p:nvPr/>
        </p:nvPicPr>
        <p:blipFill>
          <a:blip r:embed="rId8"/>
          <a:stretch>
            <a:fillRect/>
          </a:stretch>
        </p:blipFill>
        <p:spPr>
          <a:xfrm>
            <a:off x="3777386" y="6099962"/>
            <a:ext cx="281635" cy="281635"/>
          </a:xfrm>
          <a:prstGeom prst="rect">
            <a:avLst/>
          </a:prstGeom>
        </p:spPr>
      </p:pic>
      <p:sp>
        <p:nvSpPr>
          <p:cNvPr id="47" name="Text 37"/>
          <p:cNvSpPr txBox="1"/>
          <p:nvPr/>
        </p:nvSpPr>
        <p:spPr>
          <a:xfrm>
            <a:off x="297180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Edit &amp; override rate</a:t>
            </a:r>
            <a:endParaRPr lang="en-US" sz="1200" dirty="0"/>
          </a:p>
        </p:txBody>
      </p:sp>
      <p:sp>
        <p:nvSpPr>
          <p:cNvPr id="48" name="Text 38"/>
          <p:cNvSpPr txBox="1"/>
          <p:nvPr/>
        </p:nvSpPr>
        <p:spPr>
          <a:xfrm>
            <a:off x="301752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Where people changed the agent's view</a:t>
            </a:r>
            <a:endParaRPr lang="en-US" sz="950" dirty="0"/>
          </a:p>
        </p:txBody>
      </p:sp>
      <p:sp>
        <p:nvSpPr>
          <p:cNvPr id="49" name="Shape 39"/>
          <p:cNvSpPr/>
          <p:nvPr/>
        </p:nvSpPr>
        <p:spPr>
          <a:xfrm>
            <a:off x="5120640" y="5852160"/>
            <a:ext cx="2103120" cy="1554480"/>
          </a:xfrm>
          <a:prstGeom prst="roundRect">
            <a:avLst>
              <a:gd name="adj" fmla="val 4706"/>
            </a:avLst>
          </a:prstGeom>
          <a:solidFill>
            <a:srgbClr val="FFFFFF"/>
          </a:solidFill>
          <a:ln w="9525">
            <a:solidFill>
              <a:srgbClr val="C8D8EC"/>
            </a:solidFill>
            <a:prstDash val="solid"/>
          </a:ln>
        </p:spPr>
      </p:sp>
      <p:sp>
        <p:nvSpPr>
          <p:cNvPr id="50" name="Shape 40"/>
          <p:cNvSpPr/>
          <p:nvPr/>
        </p:nvSpPr>
        <p:spPr>
          <a:xfrm>
            <a:off x="5907024" y="5989320"/>
            <a:ext cx="502920" cy="502920"/>
          </a:xfrm>
          <a:prstGeom prst="roundRect">
            <a:avLst>
              <a:gd name="adj" fmla="val 18182"/>
            </a:avLst>
          </a:prstGeom>
          <a:solidFill>
            <a:srgbClr val="1B4F93"/>
          </a:solidFill>
          <a:ln w="12700">
            <a:solidFill>
              <a:srgbClr val="1B4F93"/>
            </a:solidFill>
            <a:prstDash val="solid"/>
          </a:ln>
        </p:spPr>
      </p:sp>
      <p:pic>
        <p:nvPicPr>
          <p:cNvPr id="51" name="Image 8" descr="preencoded.png">    </p:cNvPr>
          <p:cNvPicPr>
            <a:picLocks noChangeAspect="1"/>
          </p:cNvPicPr>
          <p:nvPr/>
        </p:nvPicPr>
        <p:blipFill>
          <a:blip r:embed="rId9"/>
          <a:stretch>
            <a:fillRect/>
          </a:stretch>
        </p:blipFill>
        <p:spPr>
          <a:xfrm>
            <a:off x="6017666" y="6099962"/>
            <a:ext cx="281635" cy="281635"/>
          </a:xfrm>
          <a:prstGeom prst="rect">
            <a:avLst/>
          </a:prstGeom>
        </p:spPr>
      </p:pic>
      <p:sp>
        <p:nvSpPr>
          <p:cNvPr id="52" name="Text 41"/>
          <p:cNvSpPr txBox="1"/>
          <p:nvPr/>
        </p:nvSpPr>
        <p:spPr>
          <a:xfrm>
            <a:off x="521208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Agreement with owner</a:t>
            </a:r>
            <a:endParaRPr lang="en-US" sz="1200" dirty="0"/>
          </a:p>
        </p:txBody>
      </p:sp>
      <p:sp>
        <p:nvSpPr>
          <p:cNvPr id="53" name="Text 42"/>
          <p:cNvSpPr txBox="1"/>
          <p:nvPr/>
        </p:nvSpPr>
        <p:spPr>
          <a:xfrm>
            <a:off x="525780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Agent verdict vs final human decision</a:t>
            </a:r>
            <a:endParaRPr lang="en-US" sz="950" dirty="0"/>
          </a:p>
        </p:txBody>
      </p:sp>
      <p:sp>
        <p:nvSpPr>
          <p:cNvPr id="54" name="Shape 43"/>
          <p:cNvSpPr/>
          <p:nvPr/>
        </p:nvSpPr>
        <p:spPr>
          <a:xfrm>
            <a:off x="7360920" y="5852160"/>
            <a:ext cx="2103120" cy="1554480"/>
          </a:xfrm>
          <a:prstGeom prst="roundRect">
            <a:avLst>
              <a:gd name="adj" fmla="val 4706"/>
            </a:avLst>
          </a:prstGeom>
          <a:solidFill>
            <a:srgbClr val="FFFFFF"/>
          </a:solidFill>
          <a:ln w="9525">
            <a:solidFill>
              <a:srgbClr val="C8D8EC"/>
            </a:solidFill>
            <a:prstDash val="solid"/>
          </a:ln>
        </p:spPr>
      </p:sp>
      <p:sp>
        <p:nvSpPr>
          <p:cNvPr id="55" name="Shape 44"/>
          <p:cNvSpPr/>
          <p:nvPr/>
        </p:nvSpPr>
        <p:spPr>
          <a:xfrm>
            <a:off x="8147304" y="5989320"/>
            <a:ext cx="502920" cy="502920"/>
          </a:xfrm>
          <a:prstGeom prst="roundRect">
            <a:avLst>
              <a:gd name="adj" fmla="val 18182"/>
            </a:avLst>
          </a:prstGeom>
          <a:solidFill>
            <a:srgbClr val="1B4F93"/>
          </a:solidFill>
          <a:ln w="12700">
            <a:solidFill>
              <a:srgbClr val="1B4F93"/>
            </a:solidFill>
            <a:prstDash val="solid"/>
          </a:ln>
        </p:spPr>
      </p:sp>
      <p:pic>
        <p:nvPicPr>
          <p:cNvPr id="56" name="Image 9" descr="preencoded.png">    </p:cNvPr>
          <p:cNvPicPr>
            <a:picLocks noChangeAspect="1"/>
          </p:cNvPicPr>
          <p:nvPr/>
        </p:nvPicPr>
        <p:blipFill>
          <a:blip r:embed="rId10"/>
          <a:stretch>
            <a:fillRect/>
          </a:stretch>
        </p:blipFill>
        <p:spPr>
          <a:xfrm>
            <a:off x="8257946" y="6099962"/>
            <a:ext cx="281635" cy="281635"/>
          </a:xfrm>
          <a:prstGeom prst="rect">
            <a:avLst/>
          </a:prstGeom>
        </p:spPr>
      </p:pic>
      <p:sp>
        <p:nvSpPr>
          <p:cNvPr id="57" name="Text 45"/>
          <p:cNvSpPr txBox="1"/>
          <p:nvPr/>
        </p:nvSpPr>
        <p:spPr>
          <a:xfrm>
            <a:off x="745236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Time to decision</a:t>
            </a:r>
            <a:endParaRPr lang="en-US" sz="1200" dirty="0"/>
          </a:p>
        </p:txBody>
      </p:sp>
      <p:sp>
        <p:nvSpPr>
          <p:cNvPr id="58" name="Text 46"/>
          <p:cNvSpPr txBox="1"/>
          <p:nvPr/>
        </p:nvSpPr>
        <p:spPr>
          <a:xfrm>
            <a:off x="749808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From data ready to decision made</a:t>
            </a:r>
            <a:endParaRPr lang="en-US" sz="950" dirty="0"/>
          </a:p>
        </p:txBody>
      </p:sp>
      <p:sp>
        <p:nvSpPr>
          <p:cNvPr id="59" name="Shape 47"/>
          <p:cNvSpPr/>
          <p:nvPr/>
        </p:nvSpPr>
        <p:spPr>
          <a:xfrm>
            <a:off x="9601200" y="5852160"/>
            <a:ext cx="2103120" cy="1554480"/>
          </a:xfrm>
          <a:prstGeom prst="roundRect">
            <a:avLst>
              <a:gd name="adj" fmla="val 4706"/>
            </a:avLst>
          </a:prstGeom>
          <a:solidFill>
            <a:srgbClr val="FFFFFF"/>
          </a:solidFill>
          <a:ln w="9525">
            <a:solidFill>
              <a:srgbClr val="C8D8EC"/>
            </a:solidFill>
            <a:prstDash val="solid"/>
          </a:ln>
        </p:spPr>
      </p:sp>
      <p:sp>
        <p:nvSpPr>
          <p:cNvPr id="60" name="Shape 48"/>
          <p:cNvSpPr/>
          <p:nvPr/>
        </p:nvSpPr>
        <p:spPr>
          <a:xfrm>
            <a:off x="10387584" y="5989320"/>
            <a:ext cx="502920" cy="502920"/>
          </a:xfrm>
          <a:prstGeom prst="roundRect">
            <a:avLst>
              <a:gd name="adj" fmla="val 18182"/>
            </a:avLst>
          </a:prstGeom>
          <a:solidFill>
            <a:srgbClr val="1B4F93"/>
          </a:solidFill>
          <a:ln w="12700">
            <a:solidFill>
              <a:srgbClr val="1B4F93"/>
            </a:solidFill>
            <a:prstDash val="solid"/>
          </a:ln>
        </p:spPr>
      </p:sp>
      <p:pic>
        <p:nvPicPr>
          <p:cNvPr id="61" name="Image 10" descr="preencoded.png">    </p:cNvPr>
          <p:cNvPicPr>
            <a:picLocks noChangeAspect="1"/>
          </p:cNvPicPr>
          <p:nvPr/>
        </p:nvPicPr>
        <p:blipFill>
          <a:blip r:embed="rId11"/>
          <a:stretch>
            <a:fillRect/>
          </a:stretch>
        </p:blipFill>
        <p:spPr>
          <a:xfrm>
            <a:off x="10498226" y="6099962"/>
            <a:ext cx="281635" cy="281635"/>
          </a:xfrm>
          <a:prstGeom prst="rect">
            <a:avLst/>
          </a:prstGeom>
        </p:spPr>
      </p:pic>
      <p:sp>
        <p:nvSpPr>
          <p:cNvPr id="62" name="Text 49"/>
          <p:cNvSpPr txBox="1"/>
          <p:nvPr/>
        </p:nvSpPr>
        <p:spPr>
          <a:xfrm>
            <a:off x="969264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Escalations</a:t>
            </a:r>
            <a:endParaRPr lang="en-US" sz="1200" dirty="0"/>
          </a:p>
        </p:txBody>
      </p:sp>
      <p:sp>
        <p:nvSpPr>
          <p:cNvPr id="63" name="Text 50"/>
          <p:cNvSpPr txBox="1"/>
          <p:nvPr/>
        </p:nvSpPr>
        <p:spPr>
          <a:xfrm>
            <a:off x="973836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Cases routed to people by design</a:t>
            </a:r>
            <a:endParaRPr lang="en-US" sz="950" dirty="0"/>
          </a:p>
        </p:txBody>
      </p:sp>
      <p:sp>
        <p:nvSpPr>
          <p:cNvPr id="64" name="Shape 51"/>
          <p:cNvSpPr/>
          <p:nvPr/>
        </p:nvSpPr>
        <p:spPr>
          <a:xfrm>
            <a:off x="11841480" y="5852160"/>
            <a:ext cx="2103120" cy="1554480"/>
          </a:xfrm>
          <a:prstGeom prst="roundRect">
            <a:avLst>
              <a:gd name="adj" fmla="val 4706"/>
            </a:avLst>
          </a:prstGeom>
          <a:solidFill>
            <a:srgbClr val="FFFFFF"/>
          </a:solidFill>
          <a:ln w="9525">
            <a:solidFill>
              <a:srgbClr val="C8D8EC"/>
            </a:solidFill>
            <a:prstDash val="solid"/>
          </a:ln>
        </p:spPr>
      </p:sp>
      <p:sp>
        <p:nvSpPr>
          <p:cNvPr id="65" name="Shape 52"/>
          <p:cNvSpPr/>
          <p:nvPr/>
        </p:nvSpPr>
        <p:spPr>
          <a:xfrm>
            <a:off x="12627864" y="5989320"/>
            <a:ext cx="502920" cy="502920"/>
          </a:xfrm>
          <a:prstGeom prst="roundRect">
            <a:avLst>
              <a:gd name="adj" fmla="val 18182"/>
            </a:avLst>
          </a:prstGeom>
          <a:solidFill>
            <a:srgbClr val="1B4F93"/>
          </a:solidFill>
          <a:ln w="12700">
            <a:solidFill>
              <a:srgbClr val="1B4F93"/>
            </a:solidFill>
            <a:prstDash val="solid"/>
          </a:ln>
        </p:spPr>
      </p:sp>
      <p:pic>
        <p:nvPicPr>
          <p:cNvPr id="66" name="Image 11" descr="preencoded.png">    </p:cNvPr>
          <p:cNvPicPr>
            <a:picLocks noChangeAspect="1"/>
          </p:cNvPicPr>
          <p:nvPr/>
        </p:nvPicPr>
        <p:blipFill>
          <a:blip r:embed="rId12"/>
          <a:stretch>
            <a:fillRect/>
          </a:stretch>
        </p:blipFill>
        <p:spPr>
          <a:xfrm>
            <a:off x="12738506" y="6099962"/>
            <a:ext cx="281635" cy="281635"/>
          </a:xfrm>
          <a:prstGeom prst="rect">
            <a:avLst/>
          </a:prstGeom>
        </p:spPr>
      </p:pic>
      <p:sp>
        <p:nvSpPr>
          <p:cNvPr id="67" name="Text 53"/>
          <p:cNvSpPr txBox="1"/>
          <p:nvPr/>
        </p:nvSpPr>
        <p:spPr>
          <a:xfrm>
            <a:off x="11932920" y="6565392"/>
            <a:ext cx="192024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Incidents</a:t>
            </a:r>
            <a:endParaRPr lang="en-US" sz="1200" dirty="0"/>
          </a:p>
        </p:txBody>
      </p:sp>
      <p:sp>
        <p:nvSpPr>
          <p:cNvPr id="68" name="Text 54"/>
          <p:cNvSpPr txBox="1"/>
          <p:nvPr/>
        </p:nvSpPr>
        <p:spPr>
          <a:xfrm>
            <a:off x="11978640" y="6858000"/>
            <a:ext cx="1828800" cy="50292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Any control or quality issue raised</a:t>
            </a:r>
            <a:endParaRPr lang="en-US" sz="950" dirty="0"/>
          </a:p>
        </p:txBody>
      </p:sp>
      <p:sp>
        <p:nvSpPr>
          <p:cNvPr id="69" name="Text 55"/>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70" name="Shape 56"/>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71" name="Shape 57"/>
          <p:cNvSpPr/>
          <p:nvPr/>
        </p:nvSpPr>
        <p:spPr>
          <a:xfrm>
            <a:off x="667512" y="8321040"/>
            <a:ext cx="512064" cy="512064"/>
          </a:xfrm>
          <a:prstGeom prst="ellipse">
            <a:avLst/>
          </a:prstGeom>
          <a:solidFill>
            <a:srgbClr val="1E8A5A"/>
          </a:solidFill>
          <a:ln w="12700">
            <a:solidFill>
              <a:srgbClr val="1E8A5A"/>
            </a:solidFill>
            <a:prstDash val="solid"/>
          </a:ln>
        </p:spPr>
      </p:sp>
      <p:pic>
        <p:nvPicPr>
          <p:cNvPr id="72" name="Image 12" descr="preencoded.png">    </p:cNvPr>
          <p:cNvPicPr>
            <a:picLocks noChangeAspect="1"/>
          </p:cNvPicPr>
          <p:nvPr/>
        </p:nvPicPr>
        <p:blipFill>
          <a:blip r:embed="rId13"/>
          <a:stretch>
            <a:fillRect/>
          </a:stretch>
        </p:blipFill>
        <p:spPr>
          <a:xfrm>
            <a:off x="800649" y="8454177"/>
            <a:ext cx="245791" cy="245791"/>
          </a:xfrm>
          <a:prstGeom prst="rect">
            <a:avLst/>
          </a:prstGeom>
        </p:spPr>
      </p:pic>
      <p:sp>
        <p:nvSpPr>
          <p:cNvPr id="73" name="Text 58"/>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Visible, not black box</a:t>
            </a:r>
            <a:endParaRPr lang="en-US" sz="1200" dirty="0"/>
          </a:p>
        </p:txBody>
      </p:sp>
      <p:sp>
        <p:nvSpPr>
          <p:cNvPr id="74" name="Text 59"/>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recommendation shows its evidence and reasoning</a:t>
            </a:r>
            <a:endParaRPr lang="en-US" sz="950" dirty="0"/>
          </a:p>
        </p:txBody>
      </p:sp>
      <p:sp>
        <p:nvSpPr>
          <p:cNvPr id="75" name="Shape 60"/>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76" name="Shape 61"/>
          <p:cNvSpPr/>
          <p:nvPr/>
        </p:nvSpPr>
        <p:spPr>
          <a:xfrm>
            <a:off x="4105656" y="8321040"/>
            <a:ext cx="512064" cy="512064"/>
          </a:xfrm>
          <a:prstGeom prst="ellipse">
            <a:avLst/>
          </a:prstGeom>
          <a:solidFill>
            <a:srgbClr val="2A6EBB"/>
          </a:solidFill>
          <a:ln w="12700">
            <a:solidFill>
              <a:srgbClr val="2A6EBB"/>
            </a:solidFill>
            <a:prstDash val="solid"/>
          </a:ln>
        </p:spPr>
      </p:sp>
      <p:pic>
        <p:nvPicPr>
          <p:cNvPr id="77" name="Image 13" descr="preencoded.png">    </p:cNvPr>
          <p:cNvPicPr>
            <a:picLocks noChangeAspect="1"/>
          </p:cNvPicPr>
          <p:nvPr/>
        </p:nvPicPr>
        <p:blipFill>
          <a:blip r:embed="rId14"/>
          <a:stretch>
            <a:fillRect/>
          </a:stretch>
        </p:blipFill>
        <p:spPr>
          <a:xfrm>
            <a:off x="4238793" y="8454177"/>
            <a:ext cx="245791" cy="245791"/>
          </a:xfrm>
          <a:prstGeom prst="rect">
            <a:avLst/>
          </a:prstGeom>
        </p:spPr>
      </p:pic>
      <p:sp>
        <p:nvSpPr>
          <p:cNvPr id="78" name="Text 62"/>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authority intact</a:t>
            </a:r>
            <a:endParaRPr lang="en-US" sz="1200" dirty="0"/>
          </a:p>
        </p:txBody>
      </p:sp>
      <p:sp>
        <p:nvSpPr>
          <p:cNvPr id="79" name="Text 63"/>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People approve, override or stop the agent at any time</a:t>
            </a:r>
            <a:endParaRPr lang="en-US" sz="950" dirty="0"/>
          </a:p>
        </p:txBody>
      </p:sp>
      <p:sp>
        <p:nvSpPr>
          <p:cNvPr id="80" name="Shape 64"/>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81" name="Shape 65"/>
          <p:cNvSpPr/>
          <p:nvPr/>
        </p:nvSpPr>
        <p:spPr>
          <a:xfrm>
            <a:off x="7543800" y="8321040"/>
            <a:ext cx="512064" cy="512064"/>
          </a:xfrm>
          <a:prstGeom prst="ellipse">
            <a:avLst/>
          </a:prstGeom>
          <a:solidFill>
            <a:srgbClr val="5B4FA8"/>
          </a:solidFill>
          <a:ln w="12700">
            <a:solidFill>
              <a:srgbClr val="5B4FA8"/>
            </a:solidFill>
            <a:prstDash val="solid"/>
          </a:ln>
        </p:spPr>
      </p:sp>
      <p:pic>
        <p:nvPicPr>
          <p:cNvPr id="82" name="Image 14" descr="preencoded.png">    </p:cNvPr>
          <p:cNvPicPr>
            <a:picLocks noChangeAspect="1"/>
          </p:cNvPicPr>
          <p:nvPr/>
        </p:nvPicPr>
        <p:blipFill>
          <a:blip r:embed="rId15"/>
          <a:stretch>
            <a:fillRect/>
          </a:stretch>
        </p:blipFill>
        <p:spPr>
          <a:xfrm>
            <a:off x="7676937" y="8454177"/>
            <a:ext cx="245791" cy="245791"/>
          </a:xfrm>
          <a:prstGeom prst="rect">
            <a:avLst/>
          </a:prstGeom>
        </p:spPr>
      </p:pic>
      <p:sp>
        <p:nvSpPr>
          <p:cNvPr id="83" name="Text 66"/>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Audit ready</a:t>
            </a:r>
            <a:endParaRPr lang="en-US" sz="1200" dirty="0"/>
          </a:p>
        </p:txBody>
      </p:sp>
      <p:sp>
        <p:nvSpPr>
          <p:cNvPr id="84" name="Text 67"/>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Decisions and AI traces available for Risk and Audit</a:t>
            </a:r>
            <a:endParaRPr lang="en-US" sz="950" dirty="0"/>
          </a:p>
        </p:txBody>
      </p:sp>
      <p:sp>
        <p:nvSpPr>
          <p:cNvPr id="85" name="Shape 68"/>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86" name="Shape 69"/>
          <p:cNvSpPr/>
          <p:nvPr/>
        </p:nvSpPr>
        <p:spPr>
          <a:xfrm>
            <a:off x="10981944" y="8321040"/>
            <a:ext cx="512064" cy="512064"/>
          </a:xfrm>
          <a:prstGeom prst="ellipse">
            <a:avLst/>
          </a:prstGeom>
          <a:solidFill>
            <a:srgbClr val="1F4E8C"/>
          </a:solidFill>
          <a:ln w="12700">
            <a:solidFill>
              <a:srgbClr val="1F4E8C"/>
            </a:solidFill>
            <a:prstDash val="solid"/>
          </a:ln>
        </p:spPr>
      </p:sp>
      <p:pic>
        <p:nvPicPr>
          <p:cNvPr id="87" name="Image 15" descr="preencoded.png">    </p:cNvPr>
          <p:cNvPicPr>
            <a:picLocks noChangeAspect="1"/>
          </p:cNvPicPr>
          <p:nvPr/>
        </p:nvPicPr>
        <p:blipFill>
          <a:blip r:embed="rId16"/>
          <a:stretch>
            <a:fillRect/>
          </a:stretch>
        </p:blipFill>
        <p:spPr>
          <a:xfrm>
            <a:off x="11115081" y="8454177"/>
            <a:ext cx="245791" cy="245791"/>
          </a:xfrm>
          <a:prstGeom prst="rect">
            <a:avLst/>
          </a:prstGeom>
        </p:spPr>
      </p:pic>
      <p:sp>
        <p:nvSpPr>
          <p:cNvPr id="88" name="Text 70"/>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Earned trust</a:t>
            </a:r>
            <a:endParaRPr lang="en-US" sz="1200" dirty="0"/>
          </a:p>
        </p:txBody>
      </p:sp>
      <p:sp>
        <p:nvSpPr>
          <p:cNvPr id="89" name="Text 71"/>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Scope grows only as the metrics prove it</a:t>
            </a:r>
            <a:endParaRPr lang="en-US" sz="950" dirty="0"/>
          </a:p>
        </p:txBody>
      </p:sp>
      <p:sp>
        <p:nvSpPr>
          <p:cNvPr id="90" name="Shape 72"/>
          <p:cNvSpPr/>
          <p:nvPr/>
        </p:nvSpPr>
        <p:spPr>
          <a:xfrm>
            <a:off x="0" y="9272016"/>
            <a:ext cx="14630400" cy="484632"/>
          </a:xfrm>
          <a:prstGeom prst="rect">
            <a:avLst/>
          </a:prstGeom>
          <a:solidFill>
            <a:srgbClr val="0B2E5E"/>
          </a:solidFill>
          <a:ln w="12700">
            <a:solidFill>
              <a:srgbClr val="0B2E5E"/>
            </a:solidFill>
            <a:prstDash val="solid"/>
          </a:ln>
        </p:spPr>
      </p:sp>
      <p:sp>
        <p:nvSpPr>
          <p:cNvPr id="91" name="Text 73"/>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Controlled by people. Evidenced by data.</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What Changes for Your People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Less time finding and compiling. More time judging and deciding.</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Operating Model</a:t>
            </a:r>
            <a:endParaRPr lang="en-US" sz="2200" dirty="0"/>
          </a:p>
        </p:txBody>
      </p:sp>
      <p:sp>
        <p:nvSpPr>
          <p:cNvPr id="7" name="Shape 5"/>
          <p:cNvSpPr/>
          <p:nvPr/>
        </p:nvSpPr>
        <p:spPr>
          <a:xfrm>
            <a:off x="502920" y="1234440"/>
            <a:ext cx="6035040" cy="4983480"/>
          </a:xfrm>
          <a:prstGeom prst="roundRect">
            <a:avLst>
              <a:gd name="adj" fmla="val 1101"/>
            </a:avLst>
          </a:prstGeom>
          <a:solidFill>
            <a:srgbClr val="F1F4F8"/>
          </a:solidFill>
          <a:ln w="12700">
            <a:solidFill>
              <a:srgbClr val="6B7C93"/>
            </a:solidFill>
            <a:prstDash val="dash"/>
          </a:ln>
        </p:spPr>
      </p:sp>
      <p:sp>
        <p:nvSpPr>
          <p:cNvPr id="8" name="Text 6"/>
          <p:cNvSpPr txBox="1"/>
          <p:nvPr/>
        </p:nvSpPr>
        <p:spPr>
          <a:xfrm>
            <a:off x="640080" y="1325880"/>
            <a:ext cx="5760720" cy="201168"/>
          </a:xfrm>
          <a:prstGeom prst="rect">
            <a:avLst/>
          </a:prstGeom>
          <a:noFill/>
          <a:ln/>
        </p:spPr>
        <p:txBody>
          <a:bodyPr wrap="square" lIns="0" tIns="0" rIns="0" bIns="0" rtlCol="0" anchor="ctr"/>
          <a:lstStyle/>
          <a:p>
            <a:pPr indent="0" marL="0">
              <a:buNone/>
            </a:pPr>
            <a:r>
              <a:rPr lang="en-US" sz="950" b="1" spc="100" kern="0" dirty="0">
                <a:solidFill>
                  <a:srgbClr val="6B7C93"/>
                </a:solidFill>
                <a:latin typeface="Calibri" pitchFamily="34" charset="0"/>
                <a:ea typeface="Calibri" pitchFamily="34" charset="-122"/>
                <a:cs typeface="Calibri" pitchFamily="34" charset="-120"/>
              </a:rPr>
              <a:t>TODAY</a:t>
            </a:r>
            <a:endParaRPr lang="en-US" sz="950" dirty="0"/>
          </a:p>
        </p:txBody>
      </p:sp>
      <p:sp>
        <p:nvSpPr>
          <p:cNvPr id="9" name="Shape 7"/>
          <p:cNvSpPr/>
          <p:nvPr/>
        </p:nvSpPr>
        <p:spPr>
          <a:xfrm>
            <a:off x="8092440" y="1234440"/>
            <a:ext cx="6035040" cy="4983480"/>
          </a:xfrm>
          <a:prstGeom prst="roundRect">
            <a:avLst>
              <a:gd name="adj" fmla="val 1101"/>
            </a:avLst>
          </a:prstGeom>
          <a:solidFill>
            <a:srgbClr val="EEF4FB"/>
          </a:solidFill>
          <a:ln w="12700">
            <a:solidFill>
              <a:srgbClr val="1B4F93"/>
            </a:solidFill>
            <a:prstDash val="solid"/>
          </a:ln>
        </p:spPr>
      </p:sp>
      <p:sp>
        <p:nvSpPr>
          <p:cNvPr id="10" name="Text 8"/>
          <p:cNvSpPr txBox="1"/>
          <p:nvPr/>
        </p:nvSpPr>
        <p:spPr>
          <a:xfrm>
            <a:off x="8229600" y="1325880"/>
            <a:ext cx="5760720" cy="201168"/>
          </a:xfrm>
          <a:prstGeom prst="rect">
            <a:avLst/>
          </a:prstGeom>
          <a:noFill/>
          <a:ln/>
        </p:spPr>
        <p:txBody>
          <a:bodyPr wrap="square" lIns="0" tIns="0" rIns="0" bIns="0" rtlCol="0" anchor="ctr"/>
          <a:lstStyle/>
          <a:p>
            <a:pPr indent="0" marL="0">
              <a:buNone/>
            </a:pPr>
            <a:r>
              <a:rPr lang="en-US" sz="950" b="1" spc="100" kern="0" dirty="0">
                <a:solidFill>
                  <a:srgbClr val="1B4F93"/>
                </a:solidFill>
                <a:latin typeface="Calibri" pitchFamily="34" charset="0"/>
                <a:ea typeface="Calibri" pitchFamily="34" charset="-122"/>
                <a:cs typeface="Calibri" pitchFamily="34" charset="-120"/>
              </a:rPr>
              <a:t>WITH AN AGENT PREPARING THE WORK</a:t>
            </a:r>
            <a:endParaRPr lang="en-US" sz="950" dirty="0"/>
          </a:p>
        </p:txBody>
      </p:sp>
      <p:sp>
        <p:nvSpPr>
          <p:cNvPr id="11" name="Shape 9"/>
          <p:cNvSpPr/>
          <p:nvPr/>
        </p:nvSpPr>
        <p:spPr>
          <a:xfrm>
            <a:off x="640080" y="1645920"/>
            <a:ext cx="5760720" cy="960120"/>
          </a:xfrm>
          <a:prstGeom prst="roundRect">
            <a:avLst>
              <a:gd name="adj" fmla="val 7619"/>
            </a:avLst>
          </a:prstGeom>
          <a:solidFill>
            <a:srgbClr val="FFFFFF"/>
          </a:solidFill>
          <a:ln w="9525">
            <a:solidFill>
              <a:srgbClr val="C8D8EC"/>
            </a:solidFill>
            <a:prstDash val="solid"/>
          </a:ln>
        </p:spPr>
      </p:sp>
      <p:sp>
        <p:nvSpPr>
          <p:cNvPr id="12" name="Shape 10"/>
          <p:cNvSpPr/>
          <p:nvPr/>
        </p:nvSpPr>
        <p:spPr>
          <a:xfrm>
            <a:off x="777240" y="1888236"/>
            <a:ext cx="475488" cy="475488"/>
          </a:xfrm>
          <a:prstGeom prst="roundRect">
            <a:avLst>
              <a:gd name="adj" fmla="val 19231"/>
            </a:avLst>
          </a:prstGeom>
          <a:solidFill>
            <a:srgbClr val="5A6B82"/>
          </a:solidFill>
          <a:ln w="12700">
            <a:solidFill>
              <a:srgbClr val="5A6B82"/>
            </a:solidFill>
            <a:prstDash val="solid"/>
          </a:ln>
        </p:spPr>
      </p:sp>
      <p:pic>
        <p:nvPicPr>
          <p:cNvPr id="13" name="Image 0" descr="preencoded.png">    </p:cNvPr>
          <p:cNvPicPr>
            <a:picLocks noChangeAspect="1"/>
          </p:cNvPicPr>
          <p:nvPr/>
        </p:nvPicPr>
        <p:blipFill>
          <a:blip r:embed="rId1"/>
          <a:stretch>
            <a:fillRect/>
          </a:stretch>
        </p:blipFill>
        <p:spPr>
          <a:xfrm>
            <a:off x="881847" y="1992843"/>
            <a:ext cx="266273" cy="266273"/>
          </a:xfrm>
          <a:prstGeom prst="rect">
            <a:avLst/>
          </a:prstGeom>
        </p:spPr>
      </p:pic>
      <p:sp>
        <p:nvSpPr>
          <p:cNvPr id="14" name="Text 11"/>
          <p:cNvSpPr txBox="1"/>
          <p:nvPr/>
        </p:nvSpPr>
        <p:spPr>
          <a:xfrm>
            <a:off x="1371600" y="1755648"/>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Collect data</a:t>
            </a:r>
            <a:endParaRPr lang="en-US" sz="1250" dirty="0"/>
          </a:p>
        </p:txBody>
      </p:sp>
      <p:sp>
        <p:nvSpPr>
          <p:cNvPr id="15" name="Text 12"/>
          <p:cNvSpPr txBox="1"/>
          <p:nvPr/>
        </p:nvSpPr>
        <p:spPr>
          <a:xfrm>
            <a:off x="1371600" y="2011680"/>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Pull from several systems and spreadsheets</a:t>
            </a:r>
            <a:endParaRPr lang="en-US" sz="1000" dirty="0"/>
          </a:p>
        </p:txBody>
      </p:sp>
      <p:sp>
        <p:nvSpPr>
          <p:cNvPr id="16" name="Shape 13"/>
          <p:cNvSpPr/>
          <p:nvPr/>
        </p:nvSpPr>
        <p:spPr>
          <a:xfrm>
            <a:off x="8229600" y="1645920"/>
            <a:ext cx="5760720" cy="960120"/>
          </a:xfrm>
          <a:prstGeom prst="roundRect">
            <a:avLst>
              <a:gd name="adj" fmla="val 7619"/>
            </a:avLst>
          </a:prstGeom>
          <a:solidFill>
            <a:srgbClr val="FFFFFF"/>
          </a:solidFill>
          <a:ln w="9525">
            <a:solidFill>
              <a:srgbClr val="C8D8EC"/>
            </a:solidFill>
            <a:prstDash val="solid"/>
          </a:ln>
        </p:spPr>
      </p:sp>
      <p:sp>
        <p:nvSpPr>
          <p:cNvPr id="17" name="Shape 14"/>
          <p:cNvSpPr/>
          <p:nvPr/>
        </p:nvSpPr>
        <p:spPr>
          <a:xfrm>
            <a:off x="8366760" y="1888236"/>
            <a:ext cx="475488" cy="475488"/>
          </a:xfrm>
          <a:prstGeom prst="roundRect">
            <a:avLst>
              <a:gd name="adj" fmla="val 19231"/>
            </a:avLst>
          </a:prstGeom>
          <a:solidFill>
            <a:srgbClr val="1B4F93"/>
          </a:solidFill>
          <a:ln w="12700">
            <a:solidFill>
              <a:srgbClr val="1B4F93"/>
            </a:solidFill>
            <a:prstDash val="solid"/>
          </a:ln>
        </p:spPr>
      </p:sp>
      <p:pic>
        <p:nvPicPr>
          <p:cNvPr id="18" name="Image 1" descr="preencoded.png">    </p:cNvPr>
          <p:cNvPicPr>
            <a:picLocks noChangeAspect="1"/>
          </p:cNvPicPr>
          <p:nvPr/>
        </p:nvPicPr>
        <p:blipFill>
          <a:blip r:embed="rId2"/>
          <a:stretch>
            <a:fillRect/>
          </a:stretch>
        </p:blipFill>
        <p:spPr>
          <a:xfrm>
            <a:off x="8471367" y="1992843"/>
            <a:ext cx="266273" cy="266273"/>
          </a:xfrm>
          <a:prstGeom prst="rect">
            <a:avLst/>
          </a:prstGeom>
        </p:spPr>
      </p:pic>
      <p:sp>
        <p:nvSpPr>
          <p:cNvPr id="19" name="Text 15"/>
          <p:cNvSpPr txBox="1"/>
          <p:nvPr/>
        </p:nvSpPr>
        <p:spPr>
          <a:xfrm>
            <a:off x="8961120" y="1755648"/>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Start from prepared analysis</a:t>
            </a:r>
            <a:endParaRPr lang="en-US" sz="1250" dirty="0"/>
          </a:p>
        </p:txBody>
      </p:sp>
      <p:sp>
        <p:nvSpPr>
          <p:cNvPr id="20" name="Text 16"/>
          <p:cNvSpPr txBox="1"/>
          <p:nvPr/>
        </p:nvSpPr>
        <p:spPr>
          <a:xfrm>
            <a:off x="8961120" y="2011680"/>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Evidence gathered before the day starts</a:t>
            </a:r>
            <a:endParaRPr lang="en-US" sz="1000" dirty="0"/>
          </a:p>
        </p:txBody>
      </p:sp>
      <p:sp>
        <p:nvSpPr>
          <p:cNvPr id="21" name="Shape 17"/>
          <p:cNvSpPr/>
          <p:nvPr/>
        </p:nvSpPr>
        <p:spPr>
          <a:xfrm>
            <a:off x="6629400" y="2121408"/>
            <a:ext cx="1371600" cy="0"/>
          </a:xfrm>
          <a:prstGeom prst="line">
            <a:avLst/>
          </a:prstGeom>
          <a:noFill/>
          <a:ln w="19050">
            <a:solidFill>
              <a:srgbClr val="1B4F93"/>
            </a:solidFill>
            <a:prstDash val="solid"/>
            <a:tailEnd type="triangle"/>
          </a:ln>
        </p:spPr>
      </p:sp>
      <p:sp>
        <p:nvSpPr>
          <p:cNvPr id="22" name="Shape 18"/>
          <p:cNvSpPr/>
          <p:nvPr/>
        </p:nvSpPr>
        <p:spPr>
          <a:xfrm>
            <a:off x="640080" y="2761488"/>
            <a:ext cx="5760720" cy="960120"/>
          </a:xfrm>
          <a:prstGeom prst="roundRect">
            <a:avLst>
              <a:gd name="adj" fmla="val 7619"/>
            </a:avLst>
          </a:prstGeom>
          <a:solidFill>
            <a:srgbClr val="FFFFFF"/>
          </a:solidFill>
          <a:ln w="9525">
            <a:solidFill>
              <a:srgbClr val="C8D8EC"/>
            </a:solidFill>
            <a:prstDash val="solid"/>
          </a:ln>
        </p:spPr>
      </p:sp>
      <p:sp>
        <p:nvSpPr>
          <p:cNvPr id="23" name="Shape 19"/>
          <p:cNvSpPr/>
          <p:nvPr/>
        </p:nvSpPr>
        <p:spPr>
          <a:xfrm>
            <a:off x="777240" y="3003804"/>
            <a:ext cx="475488" cy="475488"/>
          </a:xfrm>
          <a:prstGeom prst="roundRect">
            <a:avLst>
              <a:gd name="adj" fmla="val 19231"/>
            </a:avLst>
          </a:prstGeom>
          <a:solidFill>
            <a:srgbClr val="5A6B82"/>
          </a:solidFill>
          <a:ln w="12700">
            <a:solidFill>
              <a:srgbClr val="5A6B82"/>
            </a:solidFill>
            <a:prstDash val="solid"/>
          </a:ln>
        </p:spPr>
      </p:sp>
      <p:pic>
        <p:nvPicPr>
          <p:cNvPr id="24" name="Image 2" descr="preencoded.png">    </p:cNvPr>
          <p:cNvPicPr>
            <a:picLocks noChangeAspect="1"/>
          </p:cNvPicPr>
          <p:nvPr/>
        </p:nvPicPr>
        <p:blipFill>
          <a:blip r:embed="rId3"/>
          <a:stretch>
            <a:fillRect/>
          </a:stretch>
        </p:blipFill>
        <p:spPr>
          <a:xfrm>
            <a:off x="881847" y="3108411"/>
            <a:ext cx="266273" cy="266273"/>
          </a:xfrm>
          <a:prstGeom prst="rect">
            <a:avLst/>
          </a:prstGeom>
        </p:spPr>
      </p:pic>
      <p:sp>
        <p:nvSpPr>
          <p:cNvPr id="25" name="Text 20"/>
          <p:cNvSpPr txBox="1"/>
          <p:nvPr/>
        </p:nvSpPr>
        <p:spPr>
          <a:xfrm>
            <a:off x="1371600" y="2871216"/>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Match and investigate</a:t>
            </a:r>
            <a:endParaRPr lang="en-US" sz="1250" dirty="0"/>
          </a:p>
        </p:txBody>
      </p:sp>
      <p:sp>
        <p:nvSpPr>
          <p:cNvPr id="26" name="Text 21"/>
          <p:cNvSpPr txBox="1"/>
          <p:nvPr/>
        </p:nvSpPr>
        <p:spPr>
          <a:xfrm>
            <a:off x="1371600" y="3127248"/>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Work through every break by hand</a:t>
            </a:r>
            <a:endParaRPr lang="en-US" sz="1000" dirty="0"/>
          </a:p>
        </p:txBody>
      </p:sp>
      <p:sp>
        <p:nvSpPr>
          <p:cNvPr id="27" name="Shape 22"/>
          <p:cNvSpPr/>
          <p:nvPr/>
        </p:nvSpPr>
        <p:spPr>
          <a:xfrm>
            <a:off x="8229600" y="2761488"/>
            <a:ext cx="5760720" cy="960120"/>
          </a:xfrm>
          <a:prstGeom prst="roundRect">
            <a:avLst>
              <a:gd name="adj" fmla="val 7619"/>
            </a:avLst>
          </a:prstGeom>
          <a:solidFill>
            <a:srgbClr val="FFFFFF"/>
          </a:solidFill>
          <a:ln w="9525">
            <a:solidFill>
              <a:srgbClr val="C8D8EC"/>
            </a:solidFill>
            <a:prstDash val="solid"/>
          </a:ln>
        </p:spPr>
      </p:sp>
      <p:sp>
        <p:nvSpPr>
          <p:cNvPr id="28" name="Shape 23"/>
          <p:cNvSpPr/>
          <p:nvPr/>
        </p:nvSpPr>
        <p:spPr>
          <a:xfrm>
            <a:off x="8366760" y="3003804"/>
            <a:ext cx="475488" cy="475488"/>
          </a:xfrm>
          <a:prstGeom prst="roundRect">
            <a:avLst>
              <a:gd name="adj" fmla="val 19231"/>
            </a:avLst>
          </a:prstGeom>
          <a:solidFill>
            <a:srgbClr val="1B4F93"/>
          </a:solidFill>
          <a:ln w="12700">
            <a:solidFill>
              <a:srgbClr val="1B4F93"/>
            </a:solidFill>
            <a:prstDash val="solid"/>
          </a:ln>
        </p:spPr>
      </p:sp>
      <p:pic>
        <p:nvPicPr>
          <p:cNvPr id="29" name="Image 3" descr="preencoded.png">    </p:cNvPr>
          <p:cNvPicPr>
            <a:picLocks noChangeAspect="1"/>
          </p:cNvPicPr>
          <p:nvPr/>
        </p:nvPicPr>
        <p:blipFill>
          <a:blip r:embed="rId4"/>
          <a:stretch>
            <a:fillRect/>
          </a:stretch>
        </p:blipFill>
        <p:spPr>
          <a:xfrm>
            <a:off x="8471367" y="3108411"/>
            <a:ext cx="266273" cy="266273"/>
          </a:xfrm>
          <a:prstGeom prst="rect">
            <a:avLst/>
          </a:prstGeom>
        </p:spPr>
      </p:pic>
      <p:sp>
        <p:nvSpPr>
          <p:cNvPr id="30" name="Text 24"/>
          <p:cNvSpPr txBox="1"/>
          <p:nvPr/>
        </p:nvSpPr>
        <p:spPr>
          <a:xfrm>
            <a:off x="8961120" y="2871216"/>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Focus on what needs judgement</a:t>
            </a:r>
            <a:endParaRPr lang="en-US" sz="1250" dirty="0"/>
          </a:p>
        </p:txBody>
      </p:sp>
      <p:sp>
        <p:nvSpPr>
          <p:cNvPr id="31" name="Text 25"/>
          <p:cNvSpPr txBox="1"/>
          <p:nvPr/>
        </p:nvSpPr>
        <p:spPr>
          <a:xfrm>
            <a:off x="8961120" y="3127248"/>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Routine items explained, exceptions surfaced</a:t>
            </a:r>
            <a:endParaRPr lang="en-US" sz="1000" dirty="0"/>
          </a:p>
        </p:txBody>
      </p:sp>
      <p:sp>
        <p:nvSpPr>
          <p:cNvPr id="32" name="Shape 26"/>
          <p:cNvSpPr/>
          <p:nvPr/>
        </p:nvSpPr>
        <p:spPr>
          <a:xfrm>
            <a:off x="6629400" y="3236976"/>
            <a:ext cx="1371600" cy="0"/>
          </a:xfrm>
          <a:prstGeom prst="line">
            <a:avLst/>
          </a:prstGeom>
          <a:noFill/>
          <a:ln w="19050">
            <a:solidFill>
              <a:srgbClr val="1B4F93"/>
            </a:solidFill>
            <a:prstDash val="solid"/>
            <a:tailEnd type="triangle"/>
          </a:ln>
        </p:spPr>
      </p:sp>
      <p:sp>
        <p:nvSpPr>
          <p:cNvPr id="33" name="Shape 27"/>
          <p:cNvSpPr/>
          <p:nvPr/>
        </p:nvSpPr>
        <p:spPr>
          <a:xfrm>
            <a:off x="640080" y="3877056"/>
            <a:ext cx="5760720" cy="960120"/>
          </a:xfrm>
          <a:prstGeom prst="roundRect">
            <a:avLst>
              <a:gd name="adj" fmla="val 7619"/>
            </a:avLst>
          </a:prstGeom>
          <a:solidFill>
            <a:srgbClr val="FFFFFF"/>
          </a:solidFill>
          <a:ln w="9525">
            <a:solidFill>
              <a:srgbClr val="C8D8EC"/>
            </a:solidFill>
            <a:prstDash val="solid"/>
          </a:ln>
        </p:spPr>
      </p:sp>
      <p:sp>
        <p:nvSpPr>
          <p:cNvPr id="34" name="Shape 28"/>
          <p:cNvSpPr/>
          <p:nvPr/>
        </p:nvSpPr>
        <p:spPr>
          <a:xfrm>
            <a:off x="777240" y="4119372"/>
            <a:ext cx="475488" cy="475488"/>
          </a:xfrm>
          <a:prstGeom prst="roundRect">
            <a:avLst>
              <a:gd name="adj" fmla="val 19231"/>
            </a:avLst>
          </a:prstGeom>
          <a:solidFill>
            <a:srgbClr val="5A6B82"/>
          </a:solidFill>
          <a:ln w="12700">
            <a:solidFill>
              <a:srgbClr val="5A6B82"/>
            </a:solidFill>
            <a:prstDash val="solid"/>
          </a:ln>
        </p:spPr>
      </p:sp>
      <p:pic>
        <p:nvPicPr>
          <p:cNvPr id="35" name="Image 4" descr="preencoded.png">    </p:cNvPr>
          <p:cNvPicPr>
            <a:picLocks noChangeAspect="1"/>
          </p:cNvPicPr>
          <p:nvPr/>
        </p:nvPicPr>
        <p:blipFill>
          <a:blip r:embed="rId5"/>
          <a:stretch>
            <a:fillRect/>
          </a:stretch>
        </p:blipFill>
        <p:spPr>
          <a:xfrm>
            <a:off x="881847" y="4223979"/>
            <a:ext cx="266273" cy="266273"/>
          </a:xfrm>
          <a:prstGeom prst="rect">
            <a:avLst/>
          </a:prstGeom>
        </p:spPr>
      </p:pic>
      <p:sp>
        <p:nvSpPr>
          <p:cNvPr id="36" name="Text 29"/>
          <p:cNvSpPr txBox="1"/>
          <p:nvPr/>
        </p:nvSpPr>
        <p:spPr>
          <a:xfrm>
            <a:off x="1371600" y="3986784"/>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Build packs and commentary</a:t>
            </a:r>
            <a:endParaRPr lang="en-US" sz="1250" dirty="0"/>
          </a:p>
        </p:txBody>
      </p:sp>
      <p:sp>
        <p:nvSpPr>
          <p:cNvPr id="37" name="Text 30"/>
          <p:cNvSpPr txBox="1"/>
          <p:nvPr/>
        </p:nvSpPr>
        <p:spPr>
          <a:xfrm>
            <a:off x="1371600" y="4242816"/>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Write from a blank page each cycle</a:t>
            </a:r>
            <a:endParaRPr lang="en-US" sz="1000" dirty="0"/>
          </a:p>
        </p:txBody>
      </p:sp>
      <p:sp>
        <p:nvSpPr>
          <p:cNvPr id="38" name="Shape 31"/>
          <p:cNvSpPr/>
          <p:nvPr/>
        </p:nvSpPr>
        <p:spPr>
          <a:xfrm>
            <a:off x="8229600" y="3877056"/>
            <a:ext cx="5760720" cy="960120"/>
          </a:xfrm>
          <a:prstGeom prst="roundRect">
            <a:avLst>
              <a:gd name="adj" fmla="val 7619"/>
            </a:avLst>
          </a:prstGeom>
          <a:solidFill>
            <a:srgbClr val="FFFFFF"/>
          </a:solidFill>
          <a:ln w="9525">
            <a:solidFill>
              <a:srgbClr val="C8D8EC"/>
            </a:solidFill>
            <a:prstDash val="solid"/>
          </a:ln>
        </p:spPr>
      </p:sp>
      <p:sp>
        <p:nvSpPr>
          <p:cNvPr id="39" name="Shape 32"/>
          <p:cNvSpPr/>
          <p:nvPr/>
        </p:nvSpPr>
        <p:spPr>
          <a:xfrm>
            <a:off x="8366760" y="4119372"/>
            <a:ext cx="475488" cy="475488"/>
          </a:xfrm>
          <a:prstGeom prst="roundRect">
            <a:avLst>
              <a:gd name="adj" fmla="val 19231"/>
            </a:avLst>
          </a:prstGeom>
          <a:solidFill>
            <a:srgbClr val="1B4F93"/>
          </a:solidFill>
          <a:ln w="12700">
            <a:solidFill>
              <a:srgbClr val="1B4F93"/>
            </a:solidFill>
            <a:prstDash val="solid"/>
          </a:ln>
        </p:spPr>
      </p:sp>
      <p:pic>
        <p:nvPicPr>
          <p:cNvPr id="40" name="Image 5" descr="preencoded.png">    </p:cNvPr>
          <p:cNvPicPr>
            <a:picLocks noChangeAspect="1"/>
          </p:cNvPicPr>
          <p:nvPr/>
        </p:nvPicPr>
        <p:blipFill>
          <a:blip r:embed="rId6"/>
          <a:stretch>
            <a:fillRect/>
          </a:stretch>
        </p:blipFill>
        <p:spPr>
          <a:xfrm>
            <a:off x="8471367" y="4223979"/>
            <a:ext cx="266273" cy="266273"/>
          </a:xfrm>
          <a:prstGeom prst="rect">
            <a:avLst/>
          </a:prstGeom>
        </p:spPr>
      </p:pic>
      <p:sp>
        <p:nvSpPr>
          <p:cNvPr id="41" name="Text 33"/>
          <p:cNvSpPr txBox="1"/>
          <p:nvPr/>
        </p:nvSpPr>
        <p:spPr>
          <a:xfrm>
            <a:off x="8961120" y="3986784"/>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Edit drafts, not blank pages</a:t>
            </a:r>
            <a:endParaRPr lang="en-US" sz="1250" dirty="0"/>
          </a:p>
        </p:txBody>
      </p:sp>
      <p:sp>
        <p:nvSpPr>
          <p:cNvPr id="42" name="Text 34"/>
          <p:cNvSpPr txBox="1"/>
          <p:nvPr/>
        </p:nvSpPr>
        <p:spPr>
          <a:xfrm>
            <a:off x="8961120" y="4242816"/>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Commentary and packs drafted for review</a:t>
            </a:r>
            <a:endParaRPr lang="en-US" sz="1000" dirty="0"/>
          </a:p>
        </p:txBody>
      </p:sp>
      <p:sp>
        <p:nvSpPr>
          <p:cNvPr id="43" name="Shape 35"/>
          <p:cNvSpPr/>
          <p:nvPr/>
        </p:nvSpPr>
        <p:spPr>
          <a:xfrm>
            <a:off x="6629400" y="4352544"/>
            <a:ext cx="1371600" cy="0"/>
          </a:xfrm>
          <a:prstGeom prst="line">
            <a:avLst/>
          </a:prstGeom>
          <a:noFill/>
          <a:ln w="19050">
            <a:solidFill>
              <a:srgbClr val="1B4F93"/>
            </a:solidFill>
            <a:prstDash val="solid"/>
            <a:tailEnd type="triangle"/>
          </a:ln>
        </p:spPr>
      </p:sp>
      <p:sp>
        <p:nvSpPr>
          <p:cNvPr id="44" name="Shape 36"/>
          <p:cNvSpPr/>
          <p:nvPr/>
        </p:nvSpPr>
        <p:spPr>
          <a:xfrm>
            <a:off x="640080" y="4992624"/>
            <a:ext cx="5760720" cy="960120"/>
          </a:xfrm>
          <a:prstGeom prst="roundRect">
            <a:avLst>
              <a:gd name="adj" fmla="val 7619"/>
            </a:avLst>
          </a:prstGeom>
          <a:solidFill>
            <a:srgbClr val="FFFFFF"/>
          </a:solidFill>
          <a:ln w="9525">
            <a:solidFill>
              <a:srgbClr val="C8D8EC"/>
            </a:solidFill>
            <a:prstDash val="solid"/>
          </a:ln>
        </p:spPr>
      </p:sp>
      <p:sp>
        <p:nvSpPr>
          <p:cNvPr id="45" name="Shape 37"/>
          <p:cNvSpPr/>
          <p:nvPr/>
        </p:nvSpPr>
        <p:spPr>
          <a:xfrm>
            <a:off x="777240" y="5234940"/>
            <a:ext cx="475488" cy="475488"/>
          </a:xfrm>
          <a:prstGeom prst="roundRect">
            <a:avLst>
              <a:gd name="adj" fmla="val 19231"/>
            </a:avLst>
          </a:prstGeom>
          <a:solidFill>
            <a:srgbClr val="5A6B82"/>
          </a:solidFill>
          <a:ln w="12700">
            <a:solidFill>
              <a:srgbClr val="5A6B82"/>
            </a:solidFill>
            <a:prstDash val="solid"/>
          </a:ln>
        </p:spPr>
      </p:sp>
      <p:pic>
        <p:nvPicPr>
          <p:cNvPr id="46" name="Image 6" descr="preencoded.png">    </p:cNvPr>
          <p:cNvPicPr>
            <a:picLocks noChangeAspect="1"/>
          </p:cNvPicPr>
          <p:nvPr/>
        </p:nvPicPr>
        <p:blipFill>
          <a:blip r:embed="rId7"/>
          <a:stretch>
            <a:fillRect/>
          </a:stretch>
        </p:blipFill>
        <p:spPr>
          <a:xfrm>
            <a:off x="881847" y="5339547"/>
            <a:ext cx="266273" cy="266273"/>
          </a:xfrm>
          <a:prstGeom prst="rect">
            <a:avLst/>
          </a:prstGeom>
        </p:spPr>
      </p:pic>
      <p:sp>
        <p:nvSpPr>
          <p:cNvPr id="47" name="Text 38"/>
          <p:cNvSpPr txBox="1"/>
          <p:nvPr/>
        </p:nvSpPr>
        <p:spPr>
          <a:xfrm>
            <a:off x="1371600" y="5102352"/>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Decide under time pressure</a:t>
            </a:r>
            <a:endParaRPr lang="en-US" sz="1250" dirty="0"/>
          </a:p>
        </p:txBody>
      </p:sp>
      <p:sp>
        <p:nvSpPr>
          <p:cNvPr id="48" name="Text 39"/>
          <p:cNvSpPr txBox="1"/>
          <p:nvPr/>
        </p:nvSpPr>
        <p:spPr>
          <a:xfrm>
            <a:off x="1371600" y="5358384"/>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Little time left for judgement</a:t>
            </a:r>
            <a:endParaRPr lang="en-US" sz="1000" dirty="0"/>
          </a:p>
        </p:txBody>
      </p:sp>
      <p:sp>
        <p:nvSpPr>
          <p:cNvPr id="49" name="Shape 40"/>
          <p:cNvSpPr/>
          <p:nvPr/>
        </p:nvSpPr>
        <p:spPr>
          <a:xfrm>
            <a:off x="8229600" y="4992624"/>
            <a:ext cx="5760720" cy="960120"/>
          </a:xfrm>
          <a:prstGeom prst="roundRect">
            <a:avLst>
              <a:gd name="adj" fmla="val 7619"/>
            </a:avLst>
          </a:prstGeom>
          <a:solidFill>
            <a:srgbClr val="FFFFFF"/>
          </a:solidFill>
          <a:ln w="9525">
            <a:solidFill>
              <a:srgbClr val="C8D8EC"/>
            </a:solidFill>
            <a:prstDash val="solid"/>
          </a:ln>
        </p:spPr>
      </p:sp>
      <p:sp>
        <p:nvSpPr>
          <p:cNvPr id="50" name="Shape 41"/>
          <p:cNvSpPr/>
          <p:nvPr/>
        </p:nvSpPr>
        <p:spPr>
          <a:xfrm>
            <a:off x="8366760" y="5234940"/>
            <a:ext cx="475488" cy="475488"/>
          </a:xfrm>
          <a:prstGeom prst="roundRect">
            <a:avLst>
              <a:gd name="adj" fmla="val 19231"/>
            </a:avLst>
          </a:prstGeom>
          <a:solidFill>
            <a:srgbClr val="1B4F93"/>
          </a:solidFill>
          <a:ln w="12700">
            <a:solidFill>
              <a:srgbClr val="1B4F93"/>
            </a:solidFill>
            <a:prstDash val="solid"/>
          </a:ln>
        </p:spPr>
      </p:sp>
      <p:pic>
        <p:nvPicPr>
          <p:cNvPr id="51" name="Image 7" descr="preencoded.png">    </p:cNvPr>
          <p:cNvPicPr>
            <a:picLocks noChangeAspect="1"/>
          </p:cNvPicPr>
          <p:nvPr/>
        </p:nvPicPr>
        <p:blipFill>
          <a:blip r:embed="rId8"/>
          <a:stretch>
            <a:fillRect/>
          </a:stretch>
        </p:blipFill>
        <p:spPr>
          <a:xfrm>
            <a:off x="8471367" y="5339547"/>
            <a:ext cx="266273" cy="266273"/>
          </a:xfrm>
          <a:prstGeom prst="rect">
            <a:avLst/>
          </a:prstGeom>
        </p:spPr>
      </p:pic>
      <p:sp>
        <p:nvSpPr>
          <p:cNvPr id="52" name="Text 42"/>
          <p:cNvSpPr txBox="1"/>
          <p:nvPr/>
        </p:nvSpPr>
        <p:spPr>
          <a:xfrm>
            <a:off x="8961120" y="5102352"/>
            <a:ext cx="4937760" cy="256032"/>
          </a:xfrm>
          <a:prstGeom prst="rect">
            <a:avLst/>
          </a:prstGeom>
          <a:noFill/>
          <a:ln/>
        </p:spPr>
        <p:txBody>
          <a:bodyPr wrap="square" lIns="0" tIns="0" rIns="0" bIns="0" rtlCol="0" anchor="ctr"/>
          <a:lstStyle/>
          <a:p>
            <a:pPr indent="0" marL="0">
              <a:buNone/>
            </a:pPr>
            <a:r>
              <a:rPr lang="en-US" sz="1250" b="1" dirty="0">
                <a:solidFill>
                  <a:srgbClr val="1F2D3D"/>
                </a:solidFill>
                <a:latin typeface="Calibri" pitchFamily="34" charset="0"/>
                <a:ea typeface="Calibri" pitchFamily="34" charset="-122"/>
                <a:cs typeface="Calibri" pitchFamily="34" charset="-120"/>
              </a:rPr>
              <a:t>Decide with evidence attached</a:t>
            </a:r>
            <a:endParaRPr lang="en-US" sz="1250" dirty="0"/>
          </a:p>
        </p:txBody>
      </p:sp>
      <p:sp>
        <p:nvSpPr>
          <p:cNvPr id="53" name="Text 43"/>
          <p:cNvSpPr txBox="1"/>
          <p:nvPr/>
        </p:nvSpPr>
        <p:spPr>
          <a:xfrm>
            <a:off x="8961120" y="5358384"/>
            <a:ext cx="4937760" cy="548640"/>
          </a:xfrm>
          <a:prstGeom prst="rect">
            <a:avLst/>
          </a:prstGeom>
          <a:noFill/>
          <a:ln/>
        </p:spPr>
        <p:txBody>
          <a:bodyPr wrap="square" lIns="0" tIns="0" rIns="0" bIns="0" rtlCol="0" anchor="t"/>
          <a:lstStyle/>
          <a:p>
            <a:pPr indent="0" marL="0">
              <a:buNone/>
            </a:pPr>
            <a:r>
              <a:rPr lang="en-US" sz="1000" dirty="0">
                <a:solidFill>
                  <a:srgbClr val="4A5A6E"/>
                </a:solidFill>
                <a:latin typeface="Calibri" pitchFamily="34" charset="0"/>
                <a:ea typeface="Calibri" pitchFamily="34" charset="-122"/>
                <a:cs typeface="Calibri" pitchFamily="34" charset="-120"/>
              </a:rPr>
              <a:t>Every decision backed and recorded</a:t>
            </a:r>
            <a:endParaRPr lang="en-US" sz="1000" dirty="0"/>
          </a:p>
        </p:txBody>
      </p:sp>
      <p:sp>
        <p:nvSpPr>
          <p:cNvPr id="54" name="Shape 44"/>
          <p:cNvSpPr/>
          <p:nvPr/>
        </p:nvSpPr>
        <p:spPr>
          <a:xfrm>
            <a:off x="6629400" y="5468112"/>
            <a:ext cx="1371600" cy="0"/>
          </a:xfrm>
          <a:prstGeom prst="line">
            <a:avLst/>
          </a:prstGeom>
          <a:noFill/>
          <a:ln w="19050">
            <a:solidFill>
              <a:srgbClr val="1B4F93"/>
            </a:solidFill>
            <a:prstDash val="solid"/>
            <a:tailEnd type="triangle"/>
          </a:ln>
        </p:spPr>
      </p:sp>
      <p:sp>
        <p:nvSpPr>
          <p:cNvPr id="55" name="Shape 45"/>
          <p:cNvSpPr/>
          <p:nvPr/>
        </p:nvSpPr>
        <p:spPr>
          <a:xfrm>
            <a:off x="502920" y="6446520"/>
            <a:ext cx="6720840" cy="1188720"/>
          </a:xfrm>
          <a:prstGeom prst="roundRect">
            <a:avLst>
              <a:gd name="adj" fmla="val 4615"/>
            </a:avLst>
          </a:prstGeom>
          <a:solidFill>
            <a:srgbClr val="EDF7F2"/>
          </a:solidFill>
          <a:ln w="12700">
            <a:solidFill>
              <a:srgbClr val="1E8A5A"/>
            </a:solidFill>
            <a:prstDash val="dash"/>
          </a:ln>
        </p:spPr>
      </p:sp>
      <p:sp>
        <p:nvSpPr>
          <p:cNvPr id="56" name="Text 46"/>
          <p:cNvSpPr txBox="1"/>
          <p:nvPr/>
        </p:nvSpPr>
        <p:spPr>
          <a:xfrm>
            <a:off x="640080" y="6537960"/>
            <a:ext cx="6446520" cy="201168"/>
          </a:xfrm>
          <a:prstGeom prst="rect">
            <a:avLst/>
          </a:prstGeom>
          <a:noFill/>
          <a:ln/>
        </p:spPr>
        <p:txBody>
          <a:bodyPr wrap="square" lIns="0" tIns="0" rIns="0" bIns="0" rtlCol="0" anchor="ctr"/>
          <a:lstStyle/>
          <a:p>
            <a:pPr indent="0" marL="0">
              <a:buNone/>
            </a:pPr>
            <a:r>
              <a:rPr lang="en-US" sz="950" b="1" spc="100" kern="0" dirty="0">
                <a:solidFill>
                  <a:srgbClr val="1E8A5A"/>
                </a:solidFill>
                <a:latin typeface="Calibri" pitchFamily="34" charset="0"/>
                <a:ea typeface="Calibri" pitchFamily="34" charset="-122"/>
                <a:cs typeface="Calibri" pitchFamily="34" charset="-120"/>
              </a:rPr>
              <a:t>WHAT STAYS THE SAME</a:t>
            </a:r>
            <a:endParaRPr lang="en-US" sz="950" dirty="0"/>
          </a:p>
        </p:txBody>
      </p:sp>
      <p:sp>
        <p:nvSpPr>
          <p:cNvPr id="57" name="Shape 47"/>
          <p:cNvSpPr/>
          <p:nvPr/>
        </p:nvSpPr>
        <p:spPr>
          <a:xfrm>
            <a:off x="640080" y="6766560"/>
            <a:ext cx="3108960" cy="347472"/>
          </a:xfrm>
          <a:prstGeom prst="roundRect">
            <a:avLst>
              <a:gd name="adj" fmla="val 39474"/>
            </a:avLst>
          </a:prstGeom>
          <a:solidFill>
            <a:srgbClr val="FFFFFF"/>
          </a:solidFill>
          <a:ln w="9525">
            <a:solidFill>
              <a:srgbClr val="C8D8EC"/>
            </a:solidFill>
            <a:prstDash val="solid"/>
          </a:ln>
        </p:spPr>
      </p:sp>
      <p:pic>
        <p:nvPicPr>
          <p:cNvPr id="58" name="Image 8" descr="preencoded.png">    </p:cNvPr>
          <p:cNvPicPr>
            <a:picLocks noChangeAspect="1"/>
          </p:cNvPicPr>
          <p:nvPr/>
        </p:nvPicPr>
        <p:blipFill>
          <a:blip r:embed="rId9"/>
          <a:stretch>
            <a:fillRect/>
          </a:stretch>
        </p:blipFill>
        <p:spPr>
          <a:xfrm>
            <a:off x="768096" y="6867144"/>
            <a:ext cx="146304" cy="146304"/>
          </a:xfrm>
          <a:prstGeom prst="rect">
            <a:avLst/>
          </a:prstGeom>
        </p:spPr>
      </p:pic>
      <p:sp>
        <p:nvSpPr>
          <p:cNvPr id="59" name="Text 48"/>
          <p:cNvSpPr txBox="1"/>
          <p:nvPr/>
        </p:nvSpPr>
        <p:spPr>
          <a:xfrm>
            <a:off x="1005840" y="6766560"/>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Roles and accountability</a:t>
            </a:r>
            <a:endParaRPr lang="en-US" sz="950" dirty="0"/>
          </a:p>
        </p:txBody>
      </p:sp>
      <p:sp>
        <p:nvSpPr>
          <p:cNvPr id="60" name="Shape 49"/>
          <p:cNvSpPr/>
          <p:nvPr/>
        </p:nvSpPr>
        <p:spPr>
          <a:xfrm>
            <a:off x="3886200" y="6766560"/>
            <a:ext cx="3108960" cy="347472"/>
          </a:xfrm>
          <a:prstGeom prst="roundRect">
            <a:avLst>
              <a:gd name="adj" fmla="val 39474"/>
            </a:avLst>
          </a:prstGeom>
          <a:solidFill>
            <a:srgbClr val="FFFFFF"/>
          </a:solidFill>
          <a:ln w="9525">
            <a:solidFill>
              <a:srgbClr val="C8D8EC"/>
            </a:solidFill>
            <a:prstDash val="solid"/>
          </a:ln>
        </p:spPr>
      </p:sp>
      <p:pic>
        <p:nvPicPr>
          <p:cNvPr id="61" name="Image 9" descr="preencoded.png">    </p:cNvPr>
          <p:cNvPicPr>
            <a:picLocks noChangeAspect="1"/>
          </p:cNvPicPr>
          <p:nvPr/>
        </p:nvPicPr>
        <p:blipFill>
          <a:blip r:embed="rId10"/>
          <a:stretch>
            <a:fillRect/>
          </a:stretch>
        </p:blipFill>
        <p:spPr>
          <a:xfrm>
            <a:off x="4014216" y="6867144"/>
            <a:ext cx="146304" cy="146304"/>
          </a:xfrm>
          <a:prstGeom prst="rect">
            <a:avLst/>
          </a:prstGeom>
        </p:spPr>
      </p:pic>
      <p:sp>
        <p:nvSpPr>
          <p:cNvPr id="62" name="Text 50"/>
          <p:cNvSpPr txBox="1"/>
          <p:nvPr/>
        </p:nvSpPr>
        <p:spPr>
          <a:xfrm>
            <a:off x="4251960" y="6766560"/>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Sign-off authority</a:t>
            </a:r>
            <a:endParaRPr lang="en-US" sz="950" dirty="0"/>
          </a:p>
        </p:txBody>
      </p:sp>
      <p:sp>
        <p:nvSpPr>
          <p:cNvPr id="63" name="Shape 51"/>
          <p:cNvSpPr/>
          <p:nvPr/>
        </p:nvSpPr>
        <p:spPr>
          <a:xfrm>
            <a:off x="640080" y="7187184"/>
            <a:ext cx="3108960" cy="347472"/>
          </a:xfrm>
          <a:prstGeom prst="roundRect">
            <a:avLst>
              <a:gd name="adj" fmla="val 39474"/>
            </a:avLst>
          </a:prstGeom>
          <a:solidFill>
            <a:srgbClr val="FFFFFF"/>
          </a:solidFill>
          <a:ln w="9525">
            <a:solidFill>
              <a:srgbClr val="C8D8EC"/>
            </a:solidFill>
            <a:prstDash val="solid"/>
          </a:ln>
        </p:spPr>
      </p:sp>
      <p:pic>
        <p:nvPicPr>
          <p:cNvPr id="64" name="Image 10" descr="preencoded.png">    </p:cNvPr>
          <p:cNvPicPr>
            <a:picLocks noChangeAspect="1"/>
          </p:cNvPicPr>
          <p:nvPr/>
        </p:nvPicPr>
        <p:blipFill>
          <a:blip r:embed="rId11"/>
          <a:stretch>
            <a:fillRect/>
          </a:stretch>
        </p:blipFill>
        <p:spPr>
          <a:xfrm>
            <a:off x="768096" y="7287768"/>
            <a:ext cx="146304" cy="146304"/>
          </a:xfrm>
          <a:prstGeom prst="rect">
            <a:avLst/>
          </a:prstGeom>
        </p:spPr>
      </p:pic>
      <p:sp>
        <p:nvSpPr>
          <p:cNvPr id="65" name="Text 52"/>
          <p:cNvSpPr txBox="1"/>
          <p:nvPr/>
        </p:nvSpPr>
        <p:spPr>
          <a:xfrm>
            <a:off x="1005840" y="7187184"/>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Controls and audit</a:t>
            </a:r>
            <a:endParaRPr lang="en-US" sz="950" dirty="0"/>
          </a:p>
        </p:txBody>
      </p:sp>
      <p:sp>
        <p:nvSpPr>
          <p:cNvPr id="66" name="Shape 53"/>
          <p:cNvSpPr/>
          <p:nvPr/>
        </p:nvSpPr>
        <p:spPr>
          <a:xfrm>
            <a:off x="3886200" y="7187184"/>
            <a:ext cx="3108960" cy="347472"/>
          </a:xfrm>
          <a:prstGeom prst="roundRect">
            <a:avLst>
              <a:gd name="adj" fmla="val 39474"/>
            </a:avLst>
          </a:prstGeom>
          <a:solidFill>
            <a:srgbClr val="FFFFFF"/>
          </a:solidFill>
          <a:ln w="9525">
            <a:solidFill>
              <a:srgbClr val="C8D8EC"/>
            </a:solidFill>
            <a:prstDash val="solid"/>
          </a:ln>
        </p:spPr>
      </p:sp>
      <p:pic>
        <p:nvPicPr>
          <p:cNvPr id="67" name="Image 11" descr="preencoded.png">    </p:cNvPr>
          <p:cNvPicPr>
            <a:picLocks noChangeAspect="1"/>
          </p:cNvPicPr>
          <p:nvPr/>
        </p:nvPicPr>
        <p:blipFill>
          <a:blip r:embed="rId12"/>
          <a:stretch>
            <a:fillRect/>
          </a:stretch>
        </p:blipFill>
        <p:spPr>
          <a:xfrm>
            <a:off x="4014216" y="7287768"/>
            <a:ext cx="146304" cy="146304"/>
          </a:xfrm>
          <a:prstGeom prst="rect">
            <a:avLst/>
          </a:prstGeom>
        </p:spPr>
      </p:pic>
      <p:sp>
        <p:nvSpPr>
          <p:cNvPr id="68" name="Text 54"/>
          <p:cNvSpPr txBox="1"/>
          <p:nvPr/>
        </p:nvSpPr>
        <p:spPr>
          <a:xfrm>
            <a:off x="4251960" y="7187184"/>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Systems of record</a:t>
            </a:r>
            <a:endParaRPr lang="en-US" sz="950" dirty="0"/>
          </a:p>
        </p:txBody>
      </p:sp>
      <p:sp>
        <p:nvSpPr>
          <p:cNvPr id="69" name="Shape 55"/>
          <p:cNvSpPr/>
          <p:nvPr/>
        </p:nvSpPr>
        <p:spPr>
          <a:xfrm>
            <a:off x="7406640" y="6446520"/>
            <a:ext cx="6720840" cy="1188720"/>
          </a:xfrm>
          <a:prstGeom prst="roundRect">
            <a:avLst>
              <a:gd name="adj" fmla="val 4615"/>
            </a:avLst>
          </a:prstGeom>
          <a:solidFill>
            <a:srgbClr val="F3F1FB"/>
          </a:solidFill>
          <a:ln w="12700">
            <a:solidFill>
              <a:srgbClr val="5B4FA8"/>
            </a:solidFill>
            <a:prstDash val="dash"/>
          </a:ln>
        </p:spPr>
      </p:sp>
      <p:sp>
        <p:nvSpPr>
          <p:cNvPr id="70" name="Text 56"/>
          <p:cNvSpPr txBox="1"/>
          <p:nvPr/>
        </p:nvSpPr>
        <p:spPr>
          <a:xfrm>
            <a:off x="7543800" y="6537960"/>
            <a:ext cx="6446520" cy="201168"/>
          </a:xfrm>
          <a:prstGeom prst="rect">
            <a:avLst/>
          </a:prstGeom>
          <a:noFill/>
          <a:ln/>
        </p:spPr>
        <p:txBody>
          <a:bodyPr wrap="square" lIns="0" tIns="0" rIns="0" bIns="0" rtlCol="0" anchor="ctr"/>
          <a:lstStyle/>
          <a:p>
            <a:pPr indent="0" marL="0">
              <a:buNone/>
            </a:pPr>
            <a:r>
              <a:rPr lang="en-US" sz="950" b="1" spc="100" kern="0" dirty="0">
                <a:solidFill>
                  <a:srgbClr val="5B4FA8"/>
                </a:solidFill>
                <a:latin typeface="Calibri" pitchFamily="34" charset="0"/>
                <a:ea typeface="Calibri" pitchFamily="34" charset="-122"/>
                <a:cs typeface="Calibri" pitchFamily="34" charset="-120"/>
              </a:rPr>
              <a:t>NEW SKILLS WE BUILD WITH YOUR TEAMS</a:t>
            </a:r>
            <a:endParaRPr lang="en-US" sz="950" dirty="0"/>
          </a:p>
        </p:txBody>
      </p:sp>
      <p:sp>
        <p:nvSpPr>
          <p:cNvPr id="71" name="Shape 57"/>
          <p:cNvSpPr/>
          <p:nvPr/>
        </p:nvSpPr>
        <p:spPr>
          <a:xfrm>
            <a:off x="7543800" y="6766560"/>
            <a:ext cx="3108960" cy="347472"/>
          </a:xfrm>
          <a:prstGeom prst="roundRect">
            <a:avLst>
              <a:gd name="adj" fmla="val 39474"/>
            </a:avLst>
          </a:prstGeom>
          <a:solidFill>
            <a:srgbClr val="FFFFFF"/>
          </a:solidFill>
          <a:ln w="9525">
            <a:solidFill>
              <a:srgbClr val="C8D8EC"/>
            </a:solidFill>
            <a:prstDash val="solid"/>
          </a:ln>
        </p:spPr>
      </p:sp>
      <p:pic>
        <p:nvPicPr>
          <p:cNvPr id="72" name="Image 12" descr="preencoded.png">    </p:cNvPr>
          <p:cNvPicPr>
            <a:picLocks noChangeAspect="1"/>
          </p:cNvPicPr>
          <p:nvPr/>
        </p:nvPicPr>
        <p:blipFill>
          <a:blip r:embed="rId13"/>
          <a:stretch>
            <a:fillRect/>
          </a:stretch>
        </p:blipFill>
        <p:spPr>
          <a:xfrm>
            <a:off x="7671816" y="6867144"/>
            <a:ext cx="146304" cy="146304"/>
          </a:xfrm>
          <a:prstGeom prst="rect">
            <a:avLst/>
          </a:prstGeom>
        </p:spPr>
      </p:pic>
      <p:sp>
        <p:nvSpPr>
          <p:cNvPr id="73" name="Text 58"/>
          <p:cNvSpPr txBox="1"/>
          <p:nvPr/>
        </p:nvSpPr>
        <p:spPr>
          <a:xfrm>
            <a:off x="7909560" y="6766560"/>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Reviewing AI output</a:t>
            </a:r>
            <a:endParaRPr lang="en-US" sz="950" dirty="0"/>
          </a:p>
        </p:txBody>
      </p:sp>
      <p:sp>
        <p:nvSpPr>
          <p:cNvPr id="74" name="Shape 59"/>
          <p:cNvSpPr/>
          <p:nvPr/>
        </p:nvSpPr>
        <p:spPr>
          <a:xfrm>
            <a:off x="10789920" y="6766560"/>
            <a:ext cx="3108960" cy="347472"/>
          </a:xfrm>
          <a:prstGeom prst="roundRect">
            <a:avLst>
              <a:gd name="adj" fmla="val 39474"/>
            </a:avLst>
          </a:prstGeom>
          <a:solidFill>
            <a:srgbClr val="FFFFFF"/>
          </a:solidFill>
          <a:ln w="9525">
            <a:solidFill>
              <a:srgbClr val="C8D8EC"/>
            </a:solidFill>
            <a:prstDash val="solid"/>
          </a:ln>
        </p:spPr>
      </p:sp>
      <p:pic>
        <p:nvPicPr>
          <p:cNvPr id="75" name="Image 13" descr="preencoded.png">    </p:cNvPr>
          <p:cNvPicPr>
            <a:picLocks noChangeAspect="1"/>
          </p:cNvPicPr>
          <p:nvPr/>
        </p:nvPicPr>
        <p:blipFill>
          <a:blip r:embed="rId14"/>
          <a:stretch>
            <a:fillRect/>
          </a:stretch>
        </p:blipFill>
        <p:spPr>
          <a:xfrm>
            <a:off x="10917936" y="6867144"/>
            <a:ext cx="146304" cy="146304"/>
          </a:xfrm>
          <a:prstGeom prst="rect">
            <a:avLst/>
          </a:prstGeom>
        </p:spPr>
      </p:pic>
      <p:sp>
        <p:nvSpPr>
          <p:cNvPr id="76" name="Text 60"/>
          <p:cNvSpPr txBox="1"/>
          <p:nvPr/>
        </p:nvSpPr>
        <p:spPr>
          <a:xfrm>
            <a:off x="11155680" y="6766560"/>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Feedback into evals</a:t>
            </a:r>
            <a:endParaRPr lang="en-US" sz="950" dirty="0"/>
          </a:p>
        </p:txBody>
      </p:sp>
      <p:sp>
        <p:nvSpPr>
          <p:cNvPr id="77" name="Shape 61"/>
          <p:cNvSpPr/>
          <p:nvPr/>
        </p:nvSpPr>
        <p:spPr>
          <a:xfrm>
            <a:off x="7543800" y="7187184"/>
            <a:ext cx="3108960" cy="347472"/>
          </a:xfrm>
          <a:prstGeom prst="roundRect">
            <a:avLst>
              <a:gd name="adj" fmla="val 39474"/>
            </a:avLst>
          </a:prstGeom>
          <a:solidFill>
            <a:srgbClr val="FFFFFF"/>
          </a:solidFill>
          <a:ln w="9525">
            <a:solidFill>
              <a:srgbClr val="C8D8EC"/>
            </a:solidFill>
            <a:prstDash val="solid"/>
          </a:ln>
        </p:spPr>
      </p:sp>
      <p:pic>
        <p:nvPicPr>
          <p:cNvPr id="78" name="Image 14" descr="preencoded.png">    </p:cNvPr>
          <p:cNvPicPr>
            <a:picLocks noChangeAspect="1"/>
          </p:cNvPicPr>
          <p:nvPr/>
        </p:nvPicPr>
        <p:blipFill>
          <a:blip r:embed="rId15"/>
          <a:stretch>
            <a:fillRect/>
          </a:stretch>
        </p:blipFill>
        <p:spPr>
          <a:xfrm>
            <a:off x="7671816" y="7287768"/>
            <a:ext cx="146304" cy="146304"/>
          </a:xfrm>
          <a:prstGeom prst="rect">
            <a:avLst/>
          </a:prstGeom>
        </p:spPr>
      </p:pic>
      <p:sp>
        <p:nvSpPr>
          <p:cNvPr id="79" name="Text 62"/>
          <p:cNvSpPr txBox="1"/>
          <p:nvPr/>
        </p:nvSpPr>
        <p:spPr>
          <a:xfrm>
            <a:off x="7909560" y="7187184"/>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SMEs own skills</a:t>
            </a:r>
            <a:endParaRPr lang="en-US" sz="950" dirty="0"/>
          </a:p>
        </p:txBody>
      </p:sp>
      <p:sp>
        <p:nvSpPr>
          <p:cNvPr id="80" name="Shape 63"/>
          <p:cNvSpPr/>
          <p:nvPr/>
        </p:nvSpPr>
        <p:spPr>
          <a:xfrm>
            <a:off x="10789920" y="7187184"/>
            <a:ext cx="3108960" cy="347472"/>
          </a:xfrm>
          <a:prstGeom prst="roundRect">
            <a:avLst>
              <a:gd name="adj" fmla="val 39474"/>
            </a:avLst>
          </a:prstGeom>
          <a:solidFill>
            <a:srgbClr val="FFFFFF"/>
          </a:solidFill>
          <a:ln w="9525">
            <a:solidFill>
              <a:srgbClr val="C8D8EC"/>
            </a:solidFill>
            <a:prstDash val="solid"/>
          </a:ln>
        </p:spPr>
      </p:sp>
      <p:pic>
        <p:nvPicPr>
          <p:cNvPr id="81" name="Image 15" descr="preencoded.png">    </p:cNvPr>
          <p:cNvPicPr>
            <a:picLocks noChangeAspect="1"/>
          </p:cNvPicPr>
          <p:nvPr/>
        </p:nvPicPr>
        <p:blipFill>
          <a:blip r:embed="rId16"/>
          <a:stretch>
            <a:fillRect/>
          </a:stretch>
        </p:blipFill>
        <p:spPr>
          <a:xfrm>
            <a:off x="10917936" y="7287768"/>
            <a:ext cx="146304" cy="146304"/>
          </a:xfrm>
          <a:prstGeom prst="rect">
            <a:avLst/>
          </a:prstGeom>
        </p:spPr>
      </p:pic>
      <p:sp>
        <p:nvSpPr>
          <p:cNvPr id="82" name="Text 64"/>
          <p:cNvSpPr txBox="1"/>
          <p:nvPr/>
        </p:nvSpPr>
        <p:spPr>
          <a:xfrm>
            <a:off x="11155680" y="7187184"/>
            <a:ext cx="2697480" cy="347472"/>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Reading AI traces</a:t>
            </a:r>
            <a:endParaRPr lang="en-US" sz="950" dirty="0"/>
          </a:p>
        </p:txBody>
      </p:sp>
      <p:sp>
        <p:nvSpPr>
          <p:cNvPr id="83" name="Text 65"/>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84" name="Shape 66"/>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85" name="Shape 67"/>
          <p:cNvSpPr/>
          <p:nvPr/>
        </p:nvSpPr>
        <p:spPr>
          <a:xfrm>
            <a:off x="667512" y="8321040"/>
            <a:ext cx="512064" cy="512064"/>
          </a:xfrm>
          <a:prstGeom prst="ellipse">
            <a:avLst/>
          </a:prstGeom>
          <a:solidFill>
            <a:srgbClr val="1E8A5A"/>
          </a:solidFill>
          <a:ln w="12700">
            <a:solidFill>
              <a:srgbClr val="1E8A5A"/>
            </a:solidFill>
            <a:prstDash val="solid"/>
          </a:ln>
        </p:spPr>
      </p:sp>
      <p:pic>
        <p:nvPicPr>
          <p:cNvPr id="86" name="Image 16" descr="preencoded.png">    </p:cNvPr>
          <p:cNvPicPr>
            <a:picLocks noChangeAspect="1"/>
          </p:cNvPicPr>
          <p:nvPr/>
        </p:nvPicPr>
        <p:blipFill>
          <a:blip r:embed="rId17"/>
          <a:stretch>
            <a:fillRect/>
          </a:stretch>
        </p:blipFill>
        <p:spPr>
          <a:xfrm>
            <a:off x="800649" y="8454177"/>
            <a:ext cx="245791" cy="245791"/>
          </a:xfrm>
          <a:prstGeom prst="rect">
            <a:avLst/>
          </a:prstGeom>
        </p:spPr>
      </p:pic>
      <p:sp>
        <p:nvSpPr>
          <p:cNvPr id="87" name="Text 68"/>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Earlier start</a:t>
            </a:r>
            <a:endParaRPr lang="en-US" sz="1200" dirty="0"/>
          </a:p>
        </p:txBody>
      </p:sp>
      <p:sp>
        <p:nvSpPr>
          <p:cNvPr id="88" name="Text 69"/>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Analysis waiting at desk time, not built during it</a:t>
            </a:r>
            <a:endParaRPr lang="en-US" sz="950" dirty="0"/>
          </a:p>
        </p:txBody>
      </p:sp>
      <p:sp>
        <p:nvSpPr>
          <p:cNvPr id="89" name="Shape 70"/>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90" name="Shape 71"/>
          <p:cNvSpPr/>
          <p:nvPr/>
        </p:nvSpPr>
        <p:spPr>
          <a:xfrm>
            <a:off x="4105656" y="8321040"/>
            <a:ext cx="512064" cy="512064"/>
          </a:xfrm>
          <a:prstGeom prst="ellipse">
            <a:avLst/>
          </a:prstGeom>
          <a:solidFill>
            <a:srgbClr val="2A6EBB"/>
          </a:solidFill>
          <a:ln w="12700">
            <a:solidFill>
              <a:srgbClr val="2A6EBB"/>
            </a:solidFill>
            <a:prstDash val="solid"/>
          </a:ln>
        </p:spPr>
      </p:sp>
      <p:pic>
        <p:nvPicPr>
          <p:cNvPr id="91" name="Image 17" descr="preencoded.png">    </p:cNvPr>
          <p:cNvPicPr>
            <a:picLocks noChangeAspect="1"/>
          </p:cNvPicPr>
          <p:nvPr/>
        </p:nvPicPr>
        <p:blipFill>
          <a:blip r:embed="rId18"/>
          <a:stretch>
            <a:fillRect/>
          </a:stretch>
        </p:blipFill>
        <p:spPr>
          <a:xfrm>
            <a:off x="4238793" y="8454177"/>
            <a:ext cx="245791" cy="245791"/>
          </a:xfrm>
          <a:prstGeom prst="rect">
            <a:avLst/>
          </a:prstGeom>
        </p:spPr>
      </p:pic>
      <p:sp>
        <p:nvSpPr>
          <p:cNvPr id="92" name="Text 72"/>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Better judgement</a:t>
            </a:r>
            <a:endParaRPr lang="en-US" sz="1200" dirty="0"/>
          </a:p>
        </p:txBody>
      </p:sp>
      <p:sp>
        <p:nvSpPr>
          <p:cNvPr id="93" name="Text 73"/>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More time on the cases that need an expert</a:t>
            </a:r>
            <a:endParaRPr lang="en-US" sz="950" dirty="0"/>
          </a:p>
        </p:txBody>
      </p:sp>
      <p:sp>
        <p:nvSpPr>
          <p:cNvPr id="94" name="Shape 74"/>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95" name="Shape 75"/>
          <p:cNvSpPr/>
          <p:nvPr/>
        </p:nvSpPr>
        <p:spPr>
          <a:xfrm>
            <a:off x="7543800" y="8321040"/>
            <a:ext cx="512064" cy="512064"/>
          </a:xfrm>
          <a:prstGeom prst="ellipse">
            <a:avLst/>
          </a:prstGeom>
          <a:solidFill>
            <a:srgbClr val="5B4FA8"/>
          </a:solidFill>
          <a:ln w="12700">
            <a:solidFill>
              <a:srgbClr val="5B4FA8"/>
            </a:solidFill>
            <a:prstDash val="solid"/>
          </a:ln>
        </p:spPr>
      </p:sp>
      <p:pic>
        <p:nvPicPr>
          <p:cNvPr id="96" name="Image 18" descr="preencoded.png">    </p:cNvPr>
          <p:cNvPicPr>
            <a:picLocks noChangeAspect="1"/>
          </p:cNvPicPr>
          <p:nvPr/>
        </p:nvPicPr>
        <p:blipFill>
          <a:blip r:embed="rId19"/>
          <a:stretch>
            <a:fillRect/>
          </a:stretch>
        </p:blipFill>
        <p:spPr>
          <a:xfrm>
            <a:off x="7676937" y="8454177"/>
            <a:ext cx="245791" cy="245791"/>
          </a:xfrm>
          <a:prstGeom prst="rect">
            <a:avLst/>
          </a:prstGeom>
        </p:spPr>
      </p:pic>
      <p:sp>
        <p:nvSpPr>
          <p:cNvPr id="97" name="Text 76"/>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Same team, more reach</a:t>
            </a:r>
            <a:endParaRPr lang="en-US" sz="1200" dirty="0"/>
          </a:p>
        </p:txBody>
      </p:sp>
      <p:sp>
        <p:nvSpPr>
          <p:cNvPr id="98" name="Text 77"/>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Capacity released for higher-value analysis</a:t>
            </a:r>
            <a:endParaRPr lang="en-US" sz="950" dirty="0"/>
          </a:p>
        </p:txBody>
      </p:sp>
      <p:sp>
        <p:nvSpPr>
          <p:cNvPr id="99" name="Shape 78"/>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00" name="Shape 79"/>
          <p:cNvSpPr/>
          <p:nvPr/>
        </p:nvSpPr>
        <p:spPr>
          <a:xfrm>
            <a:off x="10981944" y="8321040"/>
            <a:ext cx="512064" cy="512064"/>
          </a:xfrm>
          <a:prstGeom prst="ellipse">
            <a:avLst/>
          </a:prstGeom>
          <a:solidFill>
            <a:srgbClr val="1F4E8C"/>
          </a:solidFill>
          <a:ln w="12700">
            <a:solidFill>
              <a:srgbClr val="1F4E8C"/>
            </a:solidFill>
            <a:prstDash val="solid"/>
          </a:ln>
        </p:spPr>
      </p:sp>
      <p:pic>
        <p:nvPicPr>
          <p:cNvPr id="101" name="Image 19" descr="preencoded.png">    </p:cNvPr>
          <p:cNvPicPr>
            <a:picLocks noChangeAspect="1"/>
          </p:cNvPicPr>
          <p:nvPr/>
        </p:nvPicPr>
        <p:blipFill>
          <a:blip r:embed="rId20"/>
          <a:stretch>
            <a:fillRect/>
          </a:stretch>
        </p:blipFill>
        <p:spPr>
          <a:xfrm>
            <a:off x="11115081" y="8454177"/>
            <a:ext cx="245791" cy="245791"/>
          </a:xfrm>
          <a:prstGeom prst="rect">
            <a:avLst/>
          </a:prstGeom>
        </p:spPr>
      </p:pic>
      <p:sp>
        <p:nvSpPr>
          <p:cNvPr id="102" name="Text 80"/>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Stronger control</a:t>
            </a:r>
            <a:endParaRPr lang="en-US" sz="1200" dirty="0"/>
          </a:p>
        </p:txBody>
      </p:sp>
      <p:sp>
        <p:nvSpPr>
          <p:cNvPr id="103" name="Text 81"/>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Consistent evidence behind every decision</a:t>
            </a:r>
            <a:endParaRPr lang="en-US" sz="950" dirty="0"/>
          </a:p>
        </p:txBody>
      </p:sp>
      <p:sp>
        <p:nvSpPr>
          <p:cNvPr id="104" name="Shape 82"/>
          <p:cNvSpPr/>
          <p:nvPr/>
        </p:nvSpPr>
        <p:spPr>
          <a:xfrm>
            <a:off x="0" y="9272016"/>
            <a:ext cx="14630400" cy="484632"/>
          </a:xfrm>
          <a:prstGeom prst="rect">
            <a:avLst/>
          </a:prstGeom>
          <a:solidFill>
            <a:srgbClr val="0B2E5E"/>
          </a:solidFill>
          <a:ln w="12700">
            <a:solidFill>
              <a:srgbClr val="0B2E5E"/>
            </a:solidFill>
            <a:prstDash val="solid"/>
          </a:ln>
        </p:spPr>
      </p:sp>
      <p:sp>
        <p:nvSpPr>
          <p:cNvPr id="105" name="Text 83"/>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Your experts, better prepared.</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One Pattern, Every Function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How each use case maps to the Helix architecture lanes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Text 5"/>
          <p:cNvSpPr txBox="1"/>
          <p:nvPr/>
        </p:nvSpPr>
        <p:spPr>
          <a:xfrm>
            <a:off x="502920" y="1234440"/>
            <a:ext cx="2011680" cy="32004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USE CASE</a:t>
            </a:r>
            <a:endParaRPr lang="en-US" sz="900" dirty="0"/>
          </a:p>
        </p:txBody>
      </p:sp>
      <p:sp>
        <p:nvSpPr>
          <p:cNvPr id="8" name="Shape 6"/>
          <p:cNvSpPr/>
          <p:nvPr/>
        </p:nvSpPr>
        <p:spPr>
          <a:xfrm>
            <a:off x="2606040" y="1234440"/>
            <a:ext cx="1874520" cy="320040"/>
          </a:xfrm>
          <a:prstGeom prst="roundRect">
            <a:avLst>
              <a:gd name="adj" fmla="val 14286"/>
            </a:avLst>
          </a:prstGeom>
          <a:solidFill>
            <a:srgbClr val="1B4F93"/>
          </a:solidFill>
          <a:ln w="12700">
            <a:solidFill>
              <a:srgbClr val="1B4F93"/>
            </a:solidFill>
            <a:prstDash val="solid"/>
          </a:ln>
        </p:spPr>
      </p:sp>
      <p:sp>
        <p:nvSpPr>
          <p:cNvPr id="9" name="Text 7"/>
          <p:cNvSpPr txBox="1"/>
          <p:nvPr/>
        </p:nvSpPr>
        <p:spPr>
          <a:xfrm>
            <a:off x="260604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SOURCE PROCESSING</a:t>
            </a:r>
            <a:endParaRPr lang="en-US" sz="900" dirty="0"/>
          </a:p>
        </p:txBody>
      </p:sp>
      <p:sp>
        <p:nvSpPr>
          <p:cNvPr id="10" name="Shape 8"/>
          <p:cNvSpPr/>
          <p:nvPr/>
        </p:nvSpPr>
        <p:spPr>
          <a:xfrm>
            <a:off x="4526280" y="1234440"/>
            <a:ext cx="1874520" cy="320040"/>
          </a:xfrm>
          <a:prstGeom prst="roundRect">
            <a:avLst>
              <a:gd name="adj" fmla="val 14286"/>
            </a:avLst>
          </a:prstGeom>
          <a:solidFill>
            <a:srgbClr val="2A6EBB"/>
          </a:solidFill>
          <a:ln w="12700">
            <a:solidFill>
              <a:srgbClr val="2A6EBB"/>
            </a:solidFill>
            <a:prstDash val="solid"/>
          </a:ln>
        </p:spPr>
      </p:sp>
      <p:sp>
        <p:nvSpPr>
          <p:cNvPr id="11" name="Text 9"/>
          <p:cNvSpPr txBox="1"/>
          <p:nvPr/>
        </p:nvSpPr>
        <p:spPr>
          <a:xfrm>
            <a:off x="452628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EVENTS &amp; READINESS</a:t>
            </a:r>
            <a:endParaRPr lang="en-US" sz="900" dirty="0"/>
          </a:p>
        </p:txBody>
      </p:sp>
      <p:sp>
        <p:nvSpPr>
          <p:cNvPr id="12" name="Shape 10"/>
          <p:cNvSpPr/>
          <p:nvPr/>
        </p:nvSpPr>
        <p:spPr>
          <a:xfrm>
            <a:off x="6446520" y="1234440"/>
            <a:ext cx="1874520" cy="320040"/>
          </a:xfrm>
          <a:prstGeom prst="roundRect">
            <a:avLst>
              <a:gd name="adj" fmla="val 14286"/>
            </a:avLst>
          </a:prstGeom>
          <a:solidFill>
            <a:srgbClr val="1E8A5A"/>
          </a:solidFill>
          <a:ln w="12700">
            <a:solidFill>
              <a:srgbClr val="1E8A5A"/>
            </a:solidFill>
            <a:prstDash val="solid"/>
          </a:ln>
        </p:spPr>
      </p:sp>
      <p:sp>
        <p:nvSpPr>
          <p:cNvPr id="13" name="Text 11"/>
          <p:cNvSpPr txBox="1"/>
          <p:nvPr/>
        </p:nvSpPr>
        <p:spPr>
          <a:xfrm>
            <a:off x="644652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ORCHESTRATION</a:t>
            </a:r>
            <a:endParaRPr lang="en-US" sz="900" dirty="0"/>
          </a:p>
        </p:txBody>
      </p:sp>
      <p:sp>
        <p:nvSpPr>
          <p:cNvPr id="14" name="Shape 12"/>
          <p:cNvSpPr/>
          <p:nvPr/>
        </p:nvSpPr>
        <p:spPr>
          <a:xfrm>
            <a:off x="8366760" y="1234440"/>
            <a:ext cx="1874520" cy="320040"/>
          </a:xfrm>
          <a:prstGeom prst="roundRect">
            <a:avLst>
              <a:gd name="adj" fmla="val 14286"/>
            </a:avLst>
          </a:prstGeom>
          <a:solidFill>
            <a:srgbClr val="5B4FA8"/>
          </a:solidFill>
          <a:ln w="12700">
            <a:solidFill>
              <a:srgbClr val="5B4FA8"/>
            </a:solidFill>
            <a:prstDash val="solid"/>
          </a:ln>
        </p:spPr>
      </p:sp>
      <p:sp>
        <p:nvSpPr>
          <p:cNvPr id="15" name="Text 13"/>
          <p:cNvSpPr txBox="1"/>
          <p:nvPr/>
        </p:nvSpPr>
        <p:spPr>
          <a:xfrm>
            <a:off x="836676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AI REASONING</a:t>
            </a:r>
            <a:endParaRPr lang="en-US" sz="900" dirty="0"/>
          </a:p>
        </p:txBody>
      </p:sp>
      <p:sp>
        <p:nvSpPr>
          <p:cNvPr id="16" name="Shape 14"/>
          <p:cNvSpPr/>
          <p:nvPr/>
        </p:nvSpPr>
        <p:spPr>
          <a:xfrm>
            <a:off x="10287000" y="1234440"/>
            <a:ext cx="1874520" cy="320040"/>
          </a:xfrm>
          <a:prstGeom prst="roundRect">
            <a:avLst>
              <a:gd name="adj" fmla="val 14286"/>
            </a:avLst>
          </a:prstGeom>
          <a:solidFill>
            <a:srgbClr val="1F6FB5"/>
          </a:solidFill>
          <a:ln w="12700">
            <a:solidFill>
              <a:srgbClr val="1F6FB5"/>
            </a:solidFill>
            <a:prstDash val="solid"/>
          </a:ln>
        </p:spPr>
      </p:sp>
      <p:sp>
        <p:nvSpPr>
          <p:cNvPr id="17" name="Text 15"/>
          <p:cNvSpPr txBox="1"/>
          <p:nvPr/>
        </p:nvSpPr>
        <p:spPr>
          <a:xfrm>
            <a:off x="1028700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HUMAN DECISION</a:t>
            </a:r>
            <a:endParaRPr lang="en-US" sz="900" dirty="0"/>
          </a:p>
        </p:txBody>
      </p:sp>
      <p:sp>
        <p:nvSpPr>
          <p:cNvPr id="18" name="Shape 16"/>
          <p:cNvSpPr/>
          <p:nvPr/>
        </p:nvSpPr>
        <p:spPr>
          <a:xfrm>
            <a:off x="12207240" y="1234440"/>
            <a:ext cx="1874520" cy="320040"/>
          </a:xfrm>
          <a:prstGeom prst="roundRect">
            <a:avLst>
              <a:gd name="adj" fmla="val 14286"/>
            </a:avLst>
          </a:prstGeom>
          <a:solidFill>
            <a:srgbClr val="C0392B"/>
          </a:solidFill>
          <a:ln w="12700">
            <a:solidFill>
              <a:srgbClr val="C0392B"/>
            </a:solidFill>
            <a:prstDash val="solid"/>
          </a:ln>
        </p:spPr>
      </p:sp>
      <p:sp>
        <p:nvSpPr>
          <p:cNvPr id="19" name="Text 17"/>
          <p:cNvSpPr txBox="1"/>
          <p:nvPr/>
        </p:nvSpPr>
        <p:spPr>
          <a:xfrm>
            <a:off x="12207240" y="1234440"/>
            <a:ext cx="1874520" cy="320040"/>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ACTION (VIA MCP)</a:t>
            </a:r>
            <a:endParaRPr lang="en-US" sz="900" dirty="0"/>
          </a:p>
        </p:txBody>
      </p:sp>
      <p:sp>
        <p:nvSpPr>
          <p:cNvPr id="20" name="Shape 18"/>
          <p:cNvSpPr/>
          <p:nvPr/>
        </p:nvSpPr>
        <p:spPr>
          <a:xfrm>
            <a:off x="502920" y="1691640"/>
            <a:ext cx="2011680" cy="713232"/>
          </a:xfrm>
          <a:prstGeom prst="roundRect">
            <a:avLst>
              <a:gd name="adj" fmla="val 10256"/>
            </a:avLst>
          </a:prstGeom>
          <a:solidFill>
            <a:srgbClr val="FFFFFF"/>
          </a:solidFill>
          <a:ln w="9525">
            <a:solidFill>
              <a:srgbClr val="C8D8EC"/>
            </a:solidFill>
            <a:prstDash val="solid"/>
          </a:ln>
        </p:spPr>
      </p:sp>
      <p:sp>
        <p:nvSpPr>
          <p:cNvPr id="21" name="Text 19"/>
          <p:cNvSpPr txBox="1"/>
          <p:nvPr/>
        </p:nvSpPr>
        <p:spPr>
          <a:xfrm>
            <a:off x="640080" y="1691640"/>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1  Helix: FOBO Rec</a:t>
            </a:r>
            <a:endParaRPr lang="en-US" sz="1100" dirty="0"/>
          </a:p>
        </p:txBody>
      </p:sp>
      <p:sp>
        <p:nvSpPr>
          <p:cNvPr id="22" name="Shape 20"/>
          <p:cNvSpPr/>
          <p:nvPr/>
        </p:nvSpPr>
        <p:spPr>
          <a:xfrm>
            <a:off x="2606040" y="1691640"/>
            <a:ext cx="1874520" cy="713232"/>
          </a:xfrm>
          <a:prstGeom prst="roundRect">
            <a:avLst>
              <a:gd name="adj" fmla="val 6410"/>
            </a:avLst>
          </a:prstGeom>
          <a:solidFill>
            <a:srgbClr val="EEF4FB"/>
          </a:solidFill>
          <a:ln w="9525">
            <a:solidFill>
              <a:srgbClr val="C8D8EC"/>
            </a:solidFill>
            <a:prstDash val="solid"/>
          </a:ln>
        </p:spPr>
      </p:sp>
      <p:sp>
        <p:nvSpPr>
          <p:cNvPr id="23" name="Text 21"/>
          <p:cNvSpPr txBox="1"/>
          <p:nvPr/>
        </p:nvSpPr>
        <p:spPr>
          <a:xfrm>
            <a:off x="269748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MBREC master-book rec</a:t>
            </a:r>
            <a:endParaRPr lang="en-US" sz="1000" dirty="0"/>
          </a:p>
        </p:txBody>
      </p:sp>
      <p:sp>
        <p:nvSpPr>
          <p:cNvPr id="24" name="Shape 22"/>
          <p:cNvSpPr/>
          <p:nvPr/>
        </p:nvSpPr>
        <p:spPr>
          <a:xfrm>
            <a:off x="4526280" y="1691640"/>
            <a:ext cx="1874520" cy="713232"/>
          </a:xfrm>
          <a:prstGeom prst="roundRect">
            <a:avLst>
              <a:gd name="adj" fmla="val 6410"/>
            </a:avLst>
          </a:prstGeom>
          <a:solidFill>
            <a:srgbClr val="EEF4FB"/>
          </a:solidFill>
          <a:ln w="9525">
            <a:solidFill>
              <a:srgbClr val="C8D8EC"/>
            </a:solidFill>
            <a:prstDash val="solid"/>
          </a:ln>
        </p:spPr>
      </p:sp>
      <p:sp>
        <p:nvSpPr>
          <p:cNvPr id="25" name="Text 23"/>
          <p:cNvSpPr txBox="1"/>
          <p:nvPr/>
        </p:nvSpPr>
        <p:spPr>
          <a:xfrm>
            <a:off x="461772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Book availability, final Ready</a:t>
            </a:r>
            <a:endParaRPr lang="en-US" sz="1000" dirty="0"/>
          </a:p>
        </p:txBody>
      </p:sp>
      <p:sp>
        <p:nvSpPr>
          <p:cNvPr id="26" name="Shape 24"/>
          <p:cNvSpPr/>
          <p:nvPr/>
        </p:nvSpPr>
        <p:spPr>
          <a:xfrm>
            <a:off x="6446520" y="1691640"/>
            <a:ext cx="1874520" cy="713232"/>
          </a:xfrm>
          <a:prstGeom prst="roundRect">
            <a:avLst>
              <a:gd name="adj" fmla="val 6410"/>
            </a:avLst>
          </a:prstGeom>
          <a:solidFill>
            <a:srgbClr val="EDF7F2"/>
          </a:solidFill>
          <a:ln w="9525">
            <a:solidFill>
              <a:srgbClr val="C8D8EC"/>
            </a:solidFill>
            <a:prstDash val="solid"/>
          </a:ln>
        </p:spPr>
      </p:sp>
      <p:sp>
        <p:nvSpPr>
          <p:cNvPr id="27" name="Text 25"/>
          <p:cNvSpPr txBox="1"/>
          <p:nvPr/>
        </p:nvSpPr>
        <p:spPr>
          <a:xfrm>
            <a:off x="653796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Helix Agent session</a:t>
            </a:r>
            <a:endParaRPr lang="en-US" sz="1000" dirty="0"/>
          </a:p>
        </p:txBody>
      </p:sp>
      <p:sp>
        <p:nvSpPr>
          <p:cNvPr id="28" name="Shape 26"/>
          <p:cNvSpPr/>
          <p:nvPr/>
        </p:nvSpPr>
        <p:spPr>
          <a:xfrm>
            <a:off x="8366760" y="1691640"/>
            <a:ext cx="1874520" cy="713232"/>
          </a:xfrm>
          <a:prstGeom prst="roundRect">
            <a:avLst>
              <a:gd name="adj" fmla="val 6410"/>
            </a:avLst>
          </a:prstGeom>
          <a:solidFill>
            <a:srgbClr val="F3F1FB"/>
          </a:solidFill>
          <a:ln w="9525">
            <a:solidFill>
              <a:srgbClr val="C8D8EC"/>
            </a:solidFill>
            <a:prstDash val="solid"/>
          </a:ln>
        </p:spPr>
      </p:sp>
      <p:sp>
        <p:nvSpPr>
          <p:cNvPr id="29" name="Text 27"/>
          <p:cNvSpPr txBox="1"/>
          <p:nvPr/>
        </p:nvSpPr>
        <p:spPr>
          <a:xfrm>
            <a:off x="845820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Classify, explain, recommend</a:t>
            </a:r>
            <a:endParaRPr lang="en-US" sz="1000" dirty="0"/>
          </a:p>
        </p:txBody>
      </p:sp>
      <p:sp>
        <p:nvSpPr>
          <p:cNvPr id="30" name="Shape 28"/>
          <p:cNvSpPr/>
          <p:nvPr/>
        </p:nvSpPr>
        <p:spPr>
          <a:xfrm>
            <a:off x="10287000" y="1691640"/>
            <a:ext cx="1874520" cy="713232"/>
          </a:xfrm>
          <a:prstGeom prst="roundRect">
            <a:avLst>
              <a:gd name="adj" fmla="val 6410"/>
            </a:avLst>
          </a:prstGeom>
          <a:solidFill>
            <a:srgbClr val="EEF4FB"/>
          </a:solidFill>
          <a:ln w="9525">
            <a:solidFill>
              <a:srgbClr val="C8D8EC"/>
            </a:solidFill>
            <a:prstDash val="solid"/>
          </a:ln>
        </p:spPr>
      </p:sp>
      <p:sp>
        <p:nvSpPr>
          <p:cNvPr id="31" name="Text 29"/>
          <p:cNvSpPr txBox="1"/>
          <p:nvPr/>
        </p:nvSpPr>
        <p:spPr>
          <a:xfrm>
            <a:off x="1037844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Controller approves</a:t>
            </a:r>
            <a:endParaRPr lang="en-US" sz="1000" dirty="0"/>
          </a:p>
        </p:txBody>
      </p:sp>
      <p:sp>
        <p:nvSpPr>
          <p:cNvPr id="32" name="Shape 30"/>
          <p:cNvSpPr/>
          <p:nvPr/>
        </p:nvSpPr>
        <p:spPr>
          <a:xfrm>
            <a:off x="12207240" y="1691640"/>
            <a:ext cx="1874520" cy="713232"/>
          </a:xfrm>
          <a:prstGeom prst="roundRect">
            <a:avLst>
              <a:gd name="adj" fmla="val 6410"/>
            </a:avLst>
          </a:prstGeom>
          <a:solidFill>
            <a:srgbClr val="FBEFEE"/>
          </a:solidFill>
          <a:ln w="9525">
            <a:solidFill>
              <a:srgbClr val="C8D8EC"/>
            </a:solidFill>
            <a:prstDash val="solid"/>
          </a:ln>
        </p:spPr>
      </p:sp>
      <p:sp>
        <p:nvSpPr>
          <p:cNvPr id="33" name="Text 31"/>
          <p:cNvSpPr txBox="1"/>
          <p:nvPr/>
        </p:nvSpPr>
        <p:spPr>
          <a:xfrm>
            <a:off x="12298680" y="169164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FAS posts to MOTIF</a:t>
            </a:r>
            <a:endParaRPr lang="en-US" sz="1000" dirty="0"/>
          </a:p>
        </p:txBody>
      </p:sp>
      <p:sp>
        <p:nvSpPr>
          <p:cNvPr id="34" name="Shape 32"/>
          <p:cNvSpPr/>
          <p:nvPr/>
        </p:nvSpPr>
        <p:spPr>
          <a:xfrm>
            <a:off x="502920" y="2487168"/>
            <a:ext cx="2011680" cy="713232"/>
          </a:xfrm>
          <a:prstGeom prst="roundRect">
            <a:avLst>
              <a:gd name="adj" fmla="val 10256"/>
            </a:avLst>
          </a:prstGeom>
          <a:solidFill>
            <a:srgbClr val="FFFFFF"/>
          </a:solidFill>
          <a:ln w="9525">
            <a:solidFill>
              <a:srgbClr val="C8D8EC"/>
            </a:solidFill>
            <a:prstDash val="solid"/>
          </a:ln>
        </p:spPr>
      </p:sp>
      <p:sp>
        <p:nvSpPr>
          <p:cNvPr id="35" name="Text 33"/>
          <p:cNvSpPr txBox="1"/>
          <p:nvPr/>
        </p:nvSpPr>
        <p:spPr>
          <a:xfrm>
            <a:off x="640080" y="2487168"/>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2  Flash v Formal &amp; PLEX</a:t>
            </a:r>
            <a:endParaRPr lang="en-US" sz="1100" dirty="0"/>
          </a:p>
        </p:txBody>
      </p:sp>
      <p:sp>
        <p:nvSpPr>
          <p:cNvPr id="36" name="Shape 34"/>
          <p:cNvSpPr/>
          <p:nvPr/>
        </p:nvSpPr>
        <p:spPr>
          <a:xfrm>
            <a:off x="2606040" y="2487168"/>
            <a:ext cx="1874520" cy="713232"/>
          </a:xfrm>
          <a:prstGeom prst="roundRect">
            <a:avLst>
              <a:gd name="adj" fmla="val 6410"/>
            </a:avLst>
          </a:prstGeom>
          <a:solidFill>
            <a:srgbClr val="EEF4FB"/>
          </a:solidFill>
          <a:ln w="9525">
            <a:solidFill>
              <a:srgbClr val="C8D8EC"/>
            </a:solidFill>
            <a:prstDash val="solid"/>
          </a:ln>
        </p:spPr>
      </p:sp>
      <p:sp>
        <p:nvSpPr>
          <p:cNvPr id="37" name="Text 35"/>
          <p:cNvSpPr txBox="1"/>
          <p:nvPr/>
        </p:nvSpPr>
        <p:spPr>
          <a:xfrm>
            <a:off x="269748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Flash, formal P&amp;L, PLEX</a:t>
            </a:r>
            <a:endParaRPr lang="en-US" sz="1000" dirty="0"/>
          </a:p>
        </p:txBody>
      </p:sp>
      <p:sp>
        <p:nvSpPr>
          <p:cNvPr id="38" name="Shape 36"/>
          <p:cNvSpPr/>
          <p:nvPr/>
        </p:nvSpPr>
        <p:spPr>
          <a:xfrm>
            <a:off x="4526280" y="2487168"/>
            <a:ext cx="1874520" cy="713232"/>
          </a:xfrm>
          <a:prstGeom prst="roundRect">
            <a:avLst>
              <a:gd name="adj" fmla="val 6410"/>
            </a:avLst>
          </a:prstGeom>
          <a:solidFill>
            <a:srgbClr val="EEF4FB"/>
          </a:solidFill>
          <a:ln w="9525">
            <a:solidFill>
              <a:srgbClr val="C8D8EC"/>
            </a:solidFill>
            <a:prstDash val="solid"/>
          </a:ln>
        </p:spPr>
      </p:sp>
      <p:sp>
        <p:nvSpPr>
          <p:cNvPr id="39" name="Text 37"/>
          <p:cNvSpPr txBox="1"/>
          <p:nvPr/>
        </p:nvSpPr>
        <p:spPr>
          <a:xfrm>
            <a:off x="461772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Formal P&amp;L ready per desk</a:t>
            </a:r>
            <a:endParaRPr lang="en-US" sz="1000" dirty="0"/>
          </a:p>
        </p:txBody>
      </p:sp>
      <p:sp>
        <p:nvSpPr>
          <p:cNvPr id="40" name="Shape 38"/>
          <p:cNvSpPr/>
          <p:nvPr/>
        </p:nvSpPr>
        <p:spPr>
          <a:xfrm>
            <a:off x="6446520" y="2487168"/>
            <a:ext cx="1874520" cy="713232"/>
          </a:xfrm>
          <a:prstGeom prst="roundRect">
            <a:avLst>
              <a:gd name="adj" fmla="val 6410"/>
            </a:avLst>
          </a:prstGeom>
          <a:solidFill>
            <a:srgbClr val="EDF7F2"/>
          </a:solidFill>
          <a:ln w="9525">
            <a:solidFill>
              <a:srgbClr val="C8D8EC"/>
            </a:solidFill>
            <a:prstDash val="solid"/>
          </a:ln>
        </p:spPr>
      </p:sp>
      <p:sp>
        <p:nvSpPr>
          <p:cNvPr id="41" name="Text 39"/>
          <p:cNvSpPr txBox="1"/>
          <p:nvPr/>
        </p:nvSpPr>
        <p:spPr>
          <a:xfrm>
            <a:off x="653796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P&amp;L Agent session</a:t>
            </a:r>
            <a:endParaRPr lang="en-US" sz="1000" dirty="0"/>
          </a:p>
        </p:txBody>
      </p:sp>
      <p:sp>
        <p:nvSpPr>
          <p:cNvPr id="42" name="Shape 40"/>
          <p:cNvSpPr/>
          <p:nvPr/>
        </p:nvSpPr>
        <p:spPr>
          <a:xfrm>
            <a:off x="8366760" y="2487168"/>
            <a:ext cx="1874520" cy="713232"/>
          </a:xfrm>
          <a:prstGeom prst="roundRect">
            <a:avLst>
              <a:gd name="adj" fmla="val 6410"/>
            </a:avLst>
          </a:prstGeom>
          <a:solidFill>
            <a:srgbClr val="F3F1FB"/>
          </a:solidFill>
          <a:ln w="9525">
            <a:solidFill>
              <a:srgbClr val="C8D8EC"/>
            </a:solidFill>
            <a:prstDash val="solid"/>
          </a:ln>
        </p:spPr>
      </p:sp>
      <p:sp>
        <p:nvSpPr>
          <p:cNvPr id="43" name="Text 41"/>
          <p:cNvSpPr txBox="1"/>
          <p:nvPr/>
        </p:nvSpPr>
        <p:spPr>
          <a:xfrm>
            <a:off x="845820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Explain gaps, Hypo v Clean</a:t>
            </a:r>
            <a:endParaRPr lang="en-US" sz="1000" dirty="0"/>
          </a:p>
        </p:txBody>
      </p:sp>
      <p:sp>
        <p:nvSpPr>
          <p:cNvPr id="44" name="Shape 42"/>
          <p:cNvSpPr/>
          <p:nvPr/>
        </p:nvSpPr>
        <p:spPr>
          <a:xfrm>
            <a:off x="10287000" y="2487168"/>
            <a:ext cx="1874520" cy="713232"/>
          </a:xfrm>
          <a:prstGeom prst="roundRect">
            <a:avLst>
              <a:gd name="adj" fmla="val 6410"/>
            </a:avLst>
          </a:prstGeom>
          <a:solidFill>
            <a:srgbClr val="EEF4FB"/>
          </a:solidFill>
          <a:ln w="9525">
            <a:solidFill>
              <a:srgbClr val="C8D8EC"/>
            </a:solidFill>
            <a:prstDash val="solid"/>
          </a:ln>
        </p:spPr>
      </p:sp>
      <p:sp>
        <p:nvSpPr>
          <p:cNvPr id="45" name="Text 43"/>
          <p:cNvSpPr txBox="1"/>
          <p:nvPr/>
        </p:nvSpPr>
        <p:spPr>
          <a:xfrm>
            <a:off x="1037844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Product Controller signs off</a:t>
            </a:r>
            <a:endParaRPr lang="en-US" sz="1000" dirty="0"/>
          </a:p>
        </p:txBody>
      </p:sp>
      <p:sp>
        <p:nvSpPr>
          <p:cNvPr id="46" name="Shape 44"/>
          <p:cNvSpPr/>
          <p:nvPr/>
        </p:nvSpPr>
        <p:spPr>
          <a:xfrm>
            <a:off x="12207240" y="2487168"/>
            <a:ext cx="1874520" cy="713232"/>
          </a:xfrm>
          <a:prstGeom prst="roundRect">
            <a:avLst>
              <a:gd name="adj" fmla="val 6410"/>
            </a:avLst>
          </a:prstGeom>
          <a:solidFill>
            <a:srgbClr val="FBEFEE"/>
          </a:solidFill>
          <a:ln w="9525">
            <a:solidFill>
              <a:srgbClr val="C8D8EC"/>
            </a:solidFill>
            <a:prstDash val="solid"/>
          </a:ln>
        </p:spPr>
      </p:sp>
      <p:sp>
        <p:nvSpPr>
          <p:cNvPr id="47" name="Text 45"/>
          <p:cNvSpPr txBox="1"/>
          <p:nvPr/>
        </p:nvSpPr>
        <p:spPr>
          <a:xfrm>
            <a:off x="12298680" y="248716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Approved reclass, commentary</a:t>
            </a:r>
            <a:endParaRPr lang="en-US" sz="1000" dirty="0"/>
          </a:p>
        </p:txBody>
      </p:sp>
      <p:sp>
        <p:nvSpPr>
          <p:cNvPr id="48" name="Shape 46"/>
          <p:cNvSpPr/>
          <p:nvPr/>
        </p:nvSpPr>
        <p:spPr>
          <a:xfrm>
            <a:off x="502920" y="3282696"/>
            <a:ext cx="2011680" cy="713232"/>
          </a:xfrm>
          <a:prstGeom prst="roundRect">
            <a:avLst>
              <a:gd name="adj" fmla="val 10256"/>
            </a:avLst>
          </a:prstGeom>
          <a:solidFill>
            <a:srgbClr val="FFFFFF"/>
          </a:solidFill>
          <a:ln w="9525">
            <a:solidFill>
              <a:srgbClr val="C8D8EC"/>
            </a:solidFill>
            <a:prstDash val="solid"/>
          </a:ln>
        </p:spPr>
      </p:sp>
      <p:sp>
        <p:nvSpPr>
          <p:cNvPr id="49" name="Text 47"/>
          <p:cNvSpPr txBox="1"/>
          <p:nvPr/>
        </p:nvSpPr>
        <p:spPr>
          <a:xfrm>
            <a:off x="640080" y="3282696"/>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3  Ledger Controls</a:t>
            </a:r>
            <a:endParaRPr lang="en-US" sz="1100" dirty="0"/>
          </a:p>
        </p:txBody>
      </p:sp>
      <p:sp>
        <p:nvSpPr>
          <p:cNvPr id="50" name="Shape 48"/>
          <p:cNvSpPr/>
          <p:nvPr/>
        </p:nvSpPr>
        <p:spPr>
          <a:xfrm>
            <a:off x="2606040" y="3282696"/>
            <a:ext cx="1874520" cy="713232"/>
          </a:xfrm>
          <a:prstGeom prst="roundRect">
            <a:avLst>
              <a:gd name="adj" fmla="val 6410"/>
            </a:avLst>
          </a:prstGeom>
          <a:solidFill>
            <a:srgbClr val="EEF4FB"/>
          </a:solidFill>
          <a:ln w="9525">
            <a:solidFill>
              <a:srgbClr val="C8D8EC"/>
            </a:solidFill>
            <a:prstDash val="solid"/>
          </a:ln>
        </p:spPr>
      </p:sp>
      <p:sp>
        <p:nvSpPr>
          <p:cNvPr id="51" name="Text 49"/>
          <p:cNvSpPr txBox="1"/>
          <p:nvPr/>
        </p:nvSpPr>
        <p:spPr>
          <a:xfrm>
            <a:off x="269748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Exception Hub, S/L, G/L, C/L</a:t>
            </a:r>
            <a:endParaRPr lang="en-US" sz="1000" dirty="0"/>
          </a:p>
        </p:txBody>
      </p:sp>
      <p:sp>
        <p:nvSpPr>
          <p:cNvPr id="52" name="Shape 50"/>
          <p:cNvSpPr/>
          <p:nvPr/>
        </p:nvSpPr>
        <p:spPr>
          <a:xfrm>
            <a:off x="4526280" y="3282696"/>
            <a:ext cx="1874520" cy="713232"/>
          </a:xfrm>
          <a:prstGeom prst="roundRect">
            <a:avLst>
              <a:gd name="adj" fmla="val 6410"/>
            </a:avLst>
          </a:prstGeom>
          <a:solidFill>
            <a:srgbClr val="EEF4FB"/>
          </a:solidFill>
          <a:ln w="9525">
            <a:solidFill>
              <a:srgbClr val="C8D8EC"/>
            </a:solidFill>
            <a:prstDash val="solid"/>
          </a:ln>
        </p:spPr>
      </p:sp>
      <p:sp>
        <p:nvSpPr>
          <p:cNvPr id="53" name="Text 51"/>
          <p:cNvSpPr txBox="1"/>
          <p:nvPr/>
        </p:nvSpPr>
        <p:spPr>
          <a:xfrm>
            <a:off x="461772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 run complete</a:t>
            </a:r>
            <a:endParaRPr lang="en-US" sz="1000" dirty="0"/>
          </a:p>
        </p:txBody>
      </p:sp>
      <p:sp>
        <p:nvSpPr>
          <p:cNvPr id="54" name="Shape 52"/>
          <p:cNvSpPr/>
          <p:nvPr/>
        </p:nvSpPr>
        <p:spPr>
          <a:xfrm>
            <a:off x="6446520" y="3282696"/>
            <a:ext cx="1874520" cy="713232"/>
          </a:xfrm>
          <a:prstGeom prst="roundRect">
            <a:avLst>
              <a:gd name="adj" fmla="val 6410"/>
            </a:avLst>
          </a:prstGeom>
          <a:solidFill>
            <a:srgbClr val="EDF7F2"/>
          </a:solidFill>
          <a:ln w="9525">
            <a:solidFill>
              <a:srgbClr val="C8D8EC"/>
            </a:solidFill>
            <a:prstDash val="solid"/>
          </a:ln>
        </p:spPr>
      </p:sp>
      <p:sp>
        <p:nvSpPr>
          <p:cNvPr id="55" name="Text 53"/>
          <p:cNvSpPr txBox="1"/>
          <p:nvPr/>
        </p:nvSpPr>
        <p:spPr>
          <a:xfrm>
            <a:off x="653796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Controls Agent session</a:t>
            </a:r>
            <a:endParaRPr lang="en-US" sz="1000" dirty="0"/>
          </a:p>
        </p:txBody>
      </p:sp>
      <p:sp>
        <p:nvSpPr>
          <p:cNvPr id="56" name="Shape 54"/>
          <p:cNvSpPr/>
          <p:nvPr/>
        </p:nvSpPr>
        <p:spPr>
          <a:xfrm>
            <a:off x="8366760" y="3282696"/>
            <a:ext cx="1874520" cy="713232"/>
          </a:xfrm>
          <a:prstGeom prst="roundRect">
            <a:avLst>
              <a:gd name="adj" fmla="val 6410"/>
            </a:avLst>
          </a:prstGeom>
          <a:solidFill>
            <a:srgbClr val="F3F1FB"/>
          </a:solidFill>
          <a:ln w="9525">
            <a:solidFill>
              <a:srgbClr val="C8D8EC"/>
            </a:solidFill>
            <a:prstDash val="solid"/>
          </a:ln>
        </p:spPr>
      </p:sp>
      <p:sp>
        <p:nvSpPr>
          <p:cNvPr id="57" name="Text 55"/>
          <p:cNvSpPr txBox="1"/>
          <p:nvPr/>
        </p:nvSpPr>
        <p:spPr>
          <a:xfrm>
            <a:off x="845820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Root cause, ageing risk, fix</a:t>
            </a:r>
            <a:endParaRPr lang="en-US" sz="1000" dirty="0"/>
          </a:p>
        </p:txBody>
      </p:sp>
      <p:sp>
        <p:nvSpPr>
          <p:cNvPr id="58" name="Shape 56"/>
          <p:cNvSpPr/>
          <p:nvPr/>
        </p:nvSpPr>
        <p:spPr>
          <a:xfrm>
            <a:off x="10287000" y="3282696"/>
            <a:ext cx="1874520" cy="713232"/>
          </a:xfrm>
          <a:prstGeom prst="roundRect">
            <a:avLst>
              <a:gd name="adj" fmla="val 6410"/>
            </a:avLst>
          </a:prstGeom>
          <a:solidFill>
            <a:srgbClr val="EEF4FB"/>
          </a:solidFill>
          <a:ln w="9525">
            <a:solidFill>
              <a:srgbClr val="C8D8EC"/>
            </a:solidFill>
            <a:prstDash val="solid"/>
          </a:ln>
        </p:spPr>
      </p:sp>
      <p:sp>
        <p:nvSpPr>
          <p:cNvPr id="59" name="Text 57"/>
          <p:cNvSpPr txBox="1"/>
          <p:nvPr/>
        </p:nvSpPr>
        <p:spPr>
          <a:xfrm>
            <a:off x="1037844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Owner approves</a:t>
            </a:r>
            <a:endParaRPr lang="en-US" sz="1000" dirty="0"/>
          </a:p>
        </p:txBody>
      </p:sp>
      <p:sp>
        <p:nvSpPr>
          <p:cNvPr id="60" name="Shape 58"/>
          <p:cNvSpPr/>
          <p:nvPr/>
        </p:nvSpPr>
        <p:spPr>
          <a:xfrm>
            <a:off x="12207240" y="3282696"/>
            <a:ext cx="1874520" cy="713232"/>
          </a:xfrm>
          <a:prstGeom prst="roundRect">
            <a:avLst>
              <a:gd name="adj" fmla="val 6410"/>
            </a:avLst>
          </a:prstGeom>
          <a:solidFill>
            <a:srgbClr val="FBEFEE"/>
          </a:solidFill>
          <a:ln w="9525">
            <a:solidFill>
              <a:srgbClr val="C8D8EC"/>
            </a:solidFill>
            <a:prstDash val="solid"/>
          </a:ln>
        </p:spPr>
      </p:sp>
      <p:sp>
        <p:nvSpPr>
          <p:cNvPr id="61" name="Text 59"/>
          <p:cNvSpPr txBox="1"/>
          <p:nvPr/>
        </p:nvSpPr>
        <p:spPr>
          <a:xfrm>
            <a:off x="12298680" y="328269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Adjustment instruction</a:t>
            </a:r>
            <a:endParaRPr lang="en-US" sz="1000" dirty="0"/>
          </a:p>
        </p:txBody>
      </p:sp>
      <p:sp>
        <p:nvSpPr>
          <p:cNvPr id="62" name="Shape 60"/>
          <p:cNvSpPr/>
          <p:nvPr/>
        </p:nvSpPr>
        <p:spPr>
          <a:xfrm>
            <a:off x="502920" y="4078224"/>
            <a:ext cx="2011680" cy="713232"/>
          </a:xfrm>
          <a:prstGeom prst="roundRect">
            <a:avLst>
              <a:gd name="adj" fmla="val 10256"/>
            </a:avLst>
          </a:prstGeom>
          <a:solidFill>
            <a:srgbClr val="FFFFFF"/>
          </a:solidFill>
          <a:ln w="9525">
            <a:solidFill>
              <a:srgbClr val="C8D8EC"/>
            </a:solidFill>
            <a:prstDash val="solid"/>
          </a:ln>
        </p:spPr>
      </p:sp>
      <p:sp>
        <p:nvSpPr>
          <p:cNvPr id="63" name="Text 61"/>
          <p:cNvSpPr txBox="1"/>
          <p:nvPr/>
        </p:nvSpPr>
        <p:spPr>
          <a:xfrm>
            <a:off x="640080" y="4078224"/>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4  Analysis &amp; Commentary</a:t>
            </a:r>
            <a:endParaRPr lang="en-US" sz="1100" dirty="0"/>
          </a:p>
        </p:txBody>
      </p:sp>
      <p:sp>
        <p:nvSpPr>
          <p:cNvPr id="64" name="Shape 62"/>
          <p:cNvSpPr/>
          <p:nvPr/>
        </p:nvSpPr>
        <p:spPr>
          <a:xfrm>
            <a:off x="2606040" y="4078224"/>
            <a:ext cx="1874520" cy="713232"/>
          </a:xfrm>
          <a:prstGeom prst="roundRect">
            <a:avLst>
              <a:gd name="adj" fmla="val 6410"/>
            </a:avLst>
          </a:prstGeom>
          <a:solidFill>
            <a:srgbClr val="EEF4FB"/>
          </a:solidFill>
          <a:ln w="9525">
            <a:solidFill>
              <a:srgbClr val="C8D8EC"/>
            </a:solidFill>
            <a:prstDash val="solid"/>
          </a:ln>
        </p:spPr>
      </p:sp>
      <p:sp>
        <p:nvSpPr>
          <p:cNvPr id="65" name="Text 63"/>
          <p:cNvSpPr txBox="1"/>
          <p:nvPr/>
        </p:nvSpPr>
        <p:spPr>
          <a:xfrm>
            <a:off x="269748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ETB, balances, cost</a:t>
            </a:r>
            <a:endParaRPr lang="en-US" sz="1000" dirty="0"/>
          </a:p>
        </p:txBody>
      </p:sp>
      <p:sp>
        <p:nvSpPr>
          <p:cNvPr id="66" name="Shape 64"/>
          <p:cNvSpPr/>
          <p:nvPr/>
        </p:nvSpPr>
        <p:spPr>
          <a:xfrm>
            <a:off x="4526280" y="4078224"/>
            <a:ext cx="1874520" cy="713232"/>
          </a:xfrm>
          <a:prstGeom prst="roundRect">
            <a:avLst>
              <a:gd name="adj" fmla="val 6410"/>
            </a:avLst>
          </a:prstGeom>
          <a:solidFill>
            <a:srgbClr val="EEF4FB"/>
          </a:solidFill>
          <a:ln w="9525">
            <a:solidFill>
              <a:srgbClr val="C8D8EC"/>
            </a:solidFill>
            <a:prstDash val="solid"/>
          </a:ln>
        </p:spPr>
      </p:sp>
      <p:sp>
        <p:nvSpPr>
          <p:cNvPr id="67" name="Text 65"/>
          <p:cNvSpPr txBox="1"/>
          <p:nvPr/>
        </p:nvSpPr>
        <p:spPr>
          <a:xfrm>
            <a:off x="461772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TB published per entity</a:t>
            </a:r>
            <a:endParaRPr lang="en-US" sz="1000" dirty="0"/>
          </a:p>
        </p:txBody>
      </p:sp>
      <p:sp>
        <p:nvSpPr>
          <p:cNvPr id="68" name="Shape 66"/>
          <p:cNvSpPr/>
          <p:nvPr/>
        </p:nvSpPr>
        <p:spPr>
          <a:xfrm>
            <a:off x="6446520" y="4078224"/>
            <a:ext cx="1874520" cy="713232"/>
          </a:xfrm>
          <a:prstGeom prst="roundRect">
            <a:avLst>
              <a:gd name="adj" fmla="val 6410"/>
            </a:avLst>
          </a:prstGeom>
          <a:solidFill>
            <a:srgbClr val="EDF7F2"/>
          </a:solidFill>
          <a:ln w="9525">
            <a:solidFill>
              <a:srgbClr val="C8D8EC"/>
            </a:solidFill>
            <a:prstDash val="solid"/>
          </a:ln>
        </p:spPr>
      </p:sp>
      <p:sp>
        <p:nvSpPr>
          <p:cNvPr id="69" name="Text 67"/>
          <p:cNvSpPr txBox="1"/>
          <p:nvPr/>
        </p:nvSpPr>
        <p:spPr>
          <a:xfrm>
            <a:off x="653796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Analysis Agent session</a:t>
            </a:r>
            <a:endParaRPr lang="en-US" sz="1000" dirty="0"/>
          </a:p>
        </p:txBody>
      </p:sp>
      <p:sp>
        <p:nvSpPr>
          <p:cNvPr id="70" name="Shape 68"/>
          <p:cNvSpPr/>
          <p:nvPr/>
        </p:nvSpPr>
        <p:spPr>
          <a:xfrm>
            <a:off x="8366760" y="4078224"/>
            <a:ext cx="1874520" cy="713232"/>
          </a:xfrm>
          <a:prstGeom prst="roundRect">
            <a:avLst>
              <a:gd name="adj" fmla="val 6410"/>
            </a:avLst>
          </a:prstGeom>
          <a:solidFill>
            <a:srgbClr val="F3F1FB"/>
          </a:solidFill>
          <a:ln w="9525">
            <a:solidFill>
              <a:srgbClr val="C8D8EC"/>
            </a:solidFill>
            <a:prstDash val="solid"/>
          </a:ln>
        </p:spPr>
      </p:sp>
      <p:sp>
        <p:nvSpPr>
          <p:cNvPr id="71" name="Text 69"/>
          <p:cNvSpPr txBox="1"/>
          <p:nvPr/>
        </p:nvSpPr>
        <p:spPr>
          <a:xfrm>
            <a:off x="845820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Explain MOT and variance</a:t>
            </a:r>
            <a:endParaRPr lang="en-US" sz="1000" dirty="0"/>
          </a:p>
        </p:txBody>
      </p:sp>
      <p:sp>
        <p:nvSpPr>
          <p:cNvPr id="72" name="Shape 70"/>
          <p:cNvSpPr/>
          <p:nvPr/>
        </p:nvSpPr>
        <p:spPr>
          <a:xfrm>
            <a:off x="10287000" y="4078224"/>
            <a:ext cx="1874520" cy="713232"/>
          </a:xfrm>
          <a:prstGeom prst="roundRect">
            <a:avLst>
              <a:gd name="adj" fmla="val 6410"/>
            </a:avLst>
          </a:prstGeom>
          <a:solidFill>
            <a:srgbClr val="EEF4FB"/>
          </a:solidFill>
          <a:ln w="9525">
            <a:solidFill>
              <a:srgbClr val="C8D8EC"/>
            </a:solidFill>
            <a:prstDash val="solid"/>
          </a:ln>
        </p:spPr>
      </p:sp>
      <p:sp>
        <p:nvSpPr>
          <p:cNvPr id="73" name="Text 71"/>
          <p:cNvSpPr txBox="1"/>
          <p:nvPr/>
        </p:nvSpPr>
        <p:spPr>
          <a:xfrm>
            <a:off x="1037844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Controller approves</a:t>
            </a:r>
            <a:endParaRPr lang="en-US" sz="1000" dirty="0"/>
          </a:p>
        </p:txBody>
      </p:sp>
      <p:sp>
        <p:nvSpPr>
          <p:cNvPr id="74" name="Shape 72"/>
          <p:cNvSpPr/>
          <p:nvPr/>
        </p:nvSpPr>
        <p:spPr>
          <a:xfrm>
            <a:off x="12207240" y="4078224"/>
            <a:ext cx="1874520" cy="713232"/>
          </a:xfrm>
          <a:prstGeom prst="roundRect">
            <a:avLst>
              <a:gd name="adj" fmla="val 6410"/>
            </a:avLst>
          </a:prstGeom>
          <a:solidFill>
            <a:srgbClr val="FBEFEE"/>
          </a:solidFill>
          <a:ln w="9525">
            <a:solidFill>
              <a:srgbClr val="C8D8EC"/>
            </a:solidFill>
            <a:prstDash val="solid"/>
          </a:ln>
        </p:spPr>
      </p:sp>
      <p:sp>
        <p:nvSpPr>
          <p:cNvPr id="75" name="Text 73"/>
          <p:cNvSpPr txBox="1"/>
          <p:nvPr/>
        </p:nvSpPr>
        <p:spPr>
          <a:xfrm>
            <a:off x="12298680" y="4078224"/>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Commentary published</a:t>
            </a:r>
            <a:endParaRPr lang="en-US" sz="1000" dirty="0"/>
          </a:p>
        </p:txBody>
      </p:sp>
      <p:sp>
        <p:nvSpPr>
          <p:cNvPr id="76" name="Shape 74"/>
          <p:cNvSpPr/>
          <p:nvPr/>
        </p:nvSpPr>
        <p:spPr>
          <a:xfrm>
            <a:off x="502920" y="4873752"/>
            <a:ext cx="2011680" cy="713232"/>
          </a:xfrm>
          <a:prstGeom prst="roundRect">
            <a:avLst>
              <a:gd name="adj" fmla="val 10256"/>
            </a:avLst>
          </a:prstGeom>
          <a:solidFill>
            <a:srgbClr val="FFFFFF"/>
          </a:solidFill>
          <a:ln w="9525">
            <a:solidFill>
              <a:srgbClr val="C8D8EC"/>
            </a:solidFill>
            <a:prstDash val="solid"/>
          </a:ln>
        </p:spPr>
      </p:sp>
      <p:sp>
        <p:nvSpPr>
          <p:cNvPr id="77" name="Text 75"/>
          <p:cNvSpPr txBox="1"/>
          <p:nvPr/>
        </p:nvSpPr>
        <p:spPr>
          <a:xfrm>
            <a:off x="640080" y="4873752"/>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5  Close Sign-off</a:t>
            </a:r>
            <a:endParaRPr lang="en-US" sz="1100" dirty="0"/>
          </a:p>
        </p:txBody>
      </p:sp>
      <p:sp>
        <p:nvSpPr>
          <p:cNvPr id="78" name="Shape 76"/>
          <p:cNvSpPr/>
          <p:nvPr/>
        </p:nvSpPr>
        <p:spPr>
          <a:xfrm>
            <a:off x="2606040" y="4873752"/>
            <a:ext cx="1874520" cy="713232"/>
          </a:xfrm>
          <a:prstGeom prst="roundRect">
            <a:avLst>
              <a:gd name="adj" fmla="val 6410"/>
            </a:avLst>
          </a:prstGeom>
          <a:solidFill>
            <a:srgbClr val="EEF4FB"/>
          </a:solidFill>
          <a:ln w="9525">
            <a:solidFill>
              <a:srgbClr val="C8D8EC"/>
            </a:solidFill>
            <a:prstDash val="solid"/>
          </a:ln>
        </p:spPr>
      </p:sp>
      <p:sp>
        <p:nvSpPr>
          <p:cNvPr id="79" name="Text 77"/>
          <p:cNvSpPr txBox="1"/>
          <p:nvPr/>
        </p:nvSpPr>
        <p:spPr>
          <a:xfrm>
            <a:off x="269748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Rec, control, TB results</a:t>
            </a:r>
            <a:endParaRPr lang="en-US" sz="1000" dirty="0"/>
          </a:p>
        </p:txBody>
      </p:sp>
      <p:sp>
        <p:nvSpPr>
          <p:cNvPr id="80" name="Shape 78"/>
          <p:cNvSpPr/>
          <p:nvPr/>
        </p:nvSpPr>
        <p:spPr>
          <a:xfrm>
            <a:off x="4526280" y="4873752"/>
            <a:ext cx="1874520" cy="713232"/>
          </a:xfrm>
          <a:prstGeom prst="roundRect">
            <a:avLst>
              <a:gd name="adj" fmla="val 6410"/>
            </a:avLst>
          </a:prstGeom>
          <a:solidFill>
            <a:srgbClr val="EEF4FB"/>
          </a:solidFill>
          <a:ln w="9525">
            <a:solidFill>
              <a:srgbClr val="C8D8EC"/>
            </a:solidFill>
            <a:prstDash val="solid"/>
          </a:ln>
        </p:spPr>
      </p:sp>
      <p:sp>
        <p:nvSpPr>
          <p:cNvPr id="81" name="Text 79"/>
          <p:cNvSpPr txBox="1"/>
          <p:nvPr/>
        </p:nvSpPr>
        <p:spPr>
          <a:xfrm>
            <a:off x="461772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Milestone readiness</a:t>
            </a:r>
            <a:endParaRPr lang="en-US" sz="1000" dirty="0"/>
          </a:p>
        </p:txBody>
      </p:sp>
      <p:sp>
        <p:nvSpPr>
          <p:cNvPr id="82" name="Shape 80"/>
          <p:cNvSpPr/>
          <p:nvPr/>
        </p:nvSpPr>
        <p:spPr>
          <a:xfrm>
            <a:off x="6446520" y="4873752"/>
            <a:ext cx="1874520" cy="713232"/>
          </a:xfrm>
          <a:prstGeom prst="roundRect">
            <a:avLst>
              <a:gd name="adj" fmla="val 6410"/>
            </a:avLst>
          </a:prstGeom>
          <a:solidFill>
            <a:srgbClr val="EDF7F2"/>
          </a:solidFill>
          <a:ln w="9525">
            <a:solidFill>
              <a:srgbClr val="C8D8EC"/>
            </a:solidFill>
            <a:prstDash val="solid"/>
          </a:ln>
        </p:spPr>
      </p:sp>
      <p:sp>
        <p:nvSpPr>
          <p:cNvPr id="83" name="Text 81"/>
          <p:cNvSpPr txBox="1"/>
          <p:nvPr/>
        </p:nvSpPr>
        <p:spPr>
          <a:xfrm>
            <a:off x="653796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Close Agent builds pack</a:t>
            </a:r>
            <a:endParaRPr lang="en-US" sz="1000" dirty="0"/>
          </a:p>
        </p:txBody>
      </p:sp>
      <p:sp>
        <p:nvSpPr>
          <p:cNvPr id="84" name="Shape 82"/>
          <p:cNvSpPr/>
          <p:nvPr/>
        </p:nvSpPr>
        <p:spPr>
          <a:xfrm>
            <a:off x="8366760" y="4873752"/>
            <a:ext cx="1874520" cy="713232"/>
          </a:xfrm>
          <a:prstGeom prst="roundRect">
            <a:avLst>
              <a:gd name="adj" fmla="val 6410"/>
            </a:avLst>
          </a:prstGeom>
          <a:solidFill>
            <a:srgbClr val="F3F1FB"/>
          </a:solidFill>
          <a:ln w="9525">
            <a:solidFill>
              <a:srgbClr val="C8D8EC"/>
            </a:solidFill>
            <a:prstDash val="solid"/>
          </a:ln>
        </p:spPr>
      </p:sp>
      <p:sp>
        <p:nvSpPr>
          <p:cNvPr id="85" name="Text 83"/>
          <p:cNvSpPr txBox="1"/>
          <p:nvPr/>
        </p:nvSpPr>
        <p:spPr>
          <a:xfrm>
            <a:off x="845820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Open items, evidence, risk</a:t>
            </a:r>
            <a:endParaRPr lang="en-US" sz="1000" dirty="0"/>
          </a:p>
        </p:txBody>
      </p:sp>
      <p:sp>
        <p:nvSpPr>
          <p:cNvPr id="86" name="Shape 84"/>
          <p:cNvSpPr/>
          <p:nvPr/>
        </p:nvSpPr>
        <p:spPr>
          <a:xfrm>
            <a:off x="10287000" y="4873752"/>
            <a:ext cx="1874520" cy="713232"/>
          </a:xfrm>
          <a:prstGeom prst="roundRect">
            <a:avLst>
              <a:gd name="adj" fmla="val 6410"/>
            </a:avLst>
          </a:prstGeom>
          <a:solidFill>
            <a:srgbClr val="EEF4FB"/>
          </a:solidFill>
          <a:ln w="9525">
            <a:solidFill>
              <a:srgbClr val="C8D8EC"/>
            </a:solidFill>
            <a:prstDash val="solid"/>
          </a:ln>
        </p:spPr>
      </p:sp>
      <p:sp>
        <p:nvSpPr>
          <p:cNvPr id="87" name="Text 85"/>
          <p:cNvSpPr txBox="1"/>
          <p:nvPr/>
        </p:nvSpPr>
        <p:spPr>
          <a:xfrm>
            <a:off x="1037844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Signatory signs off</a:t>
            </a:r>
            <a:endParaRPr lang="en-US" sz="1000" dirty="0"/>
          </a:p>
        </p:txBody>
      </p:sp>
      <p:sp>
        <p:nvSpPr>
          <p:cNvPr id="88" name="Shape 86"/>
          <p:cNvSpPr/>
          <p:nvPr/>
        </p:nvSpPr>
        <p:spPr>
          <a:xfrm>
            <a:off x="12207240" y="4873752"/>
            <a:ext cx="1874520" cy="713232"/>
          </a:xfrm>
          <a:prstGeom prst="roundRect">
            <a:avLst>
              <a:gd name="adj" fmla="val 6410"/>
            </a:avLst>
          </a:prstGeom>
          <a:solidFill>
            <a:srgbClr val="FBEFEE"/>
          </a:solidFill>
          <a:ln w="9525">
            <a:solidFill>
              <a:srgbClr val="C8D8EC"/>
            </a:solidFill>
            <a:prstDash val="solid"/>
          </a:ln>
        </p:spPr>
      </p:sp>
      <p:sp>
        <p:nvSpPr>
          <p:cNvPr id="89" name="Text 87"/>
          <p:cNvSpPr txBox="1"/>
          <p:nvPr/>
        </p:nvSpPr>
        <p:spPr>
          <a:xfrm>
            <a:off x="12298680" y="4873752"/>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Sign-off record</a:t>
            </a:r>
            <a:endParaRPr lang="en-US" sz="1000" dirty="0"/>
          </a:p>
        </p:txBody>
      </p:sp>
      <p:sp>
        <p:nvSpPr>
          <p:cNvPr id="90" name="Shape 88"/>
          <p:cNvSpPr/>
          <p:nvPr/>
        </p:nvSpPr>
        <p:spPr>
          <a:xfrm>
            <a:off x="502920" y="5669280"/>
            <a:ext cx="2011680" cy="713232"/>
          </a:xfrm>
          <a:prstGeom prst="roundRect">
            <a:avLst>
              <a:gd name="adj" fmla="val 10256"/>
            </a:avLst>
          </a:prstGeom>
          <a:solidFill>
            <a:srgbClr val="FFFFFF"/>
          </a:solidFill>
          <a:ln w="9525">
            <a:solidFill>
              <a:srgbClr val="C8D8EC"/>
            </a:solidFill>
            <a:prstDash val="solid"/>
          </a:ln>
        </p:spPr>
      </p:sp>
      <p:sp>
        <p:nvSpPr>
          <p:cNvPr id="91" name="Text 89"/>
          <p:cNvSpPr txBox="1"/>
          <p:nvPr/>
        </p:nvSpPr>
        <p:spPr>
          <a:xfrm>
            <a:off x="640080" y="5669280"/>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6  Report Validation</a:t>
            </a:r>
            <a:endParaRPr lang="en-US" sz="1100" dirty="0"/>
          </a:p>
        </p:txBody>
      </p:sp>
      <p:sp>
        <p:nvSpPr>
          <p:cNvPr id="92" name="Shape 90"/>
          <p:cNvSpPr/>
          <p:nvPr/>
        </p:nvSpPr>
        <p:spPr>
          <a:xfrm>
            <a:off x="2606040" y="5669280"/>
            <a:ext cx="1874520" cy="713232"/>
          </a:xfrm>
          <a:prstGeom prst="roundRect">
            <a:avLst>
              <a:gd name="adj" fmla="val 6410"/>
            </a:avLst>
          </a:prstGeom>
          <a:solidFill>
            <a:srgbClr val="EEF4FB"/>
          </a:solidFill>
          <a:ln w="9525">
            <a:solidFill>
              <a:srgbClr val="C8D8EC"/>
            </a:solidFill>
            <a:prstDash val="solid"/>
          </a:ln>
        </p:spPr>
      </p:sp>
      <p:sp>
        <p:nvSpPr>
          <p:cNvPr id="93" name="Text 91"/>
          <p:cNvSpPr txBox="1"/>
          <p:nvPr/>
        </p:nvSpPr>
        <p:spPr>
          <a:xfrm>
            <a:off x="269748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Generated reports</a:t>
            </a:r>
            <a:endParaRPr lang="en-US" sz="1000" dirty="0"/>
          </a:p>
        </p:txBody>
      </p:sp>
      <p:sp>
        <p:nvSpPr>
          <p:cNvPr id="94" name="Shape 92"/>
          <p:cNvSpPr/>
          <p:nvPr/>
        </p:nvSpPr>
        <p:spPr>
          <a:xfrm>
            <a:off x="4526280" y="5669280"/>
            <a:ext cx="1874520" cy="713232"/>
          </a:xfrm>
          <a:prstGeom prst="roundRect">
            <a:avLst>
              <a:gd name="adj" fmla="val 6410"/>
            </a:avLst>
          </a:prstGeom>
          <a:solidFill>
            <a:srgbClr val="EEF4FB"/>
          </a:solidFill>
          <a:ln w="9525">
            <a:solidFill>
              <a:srgbClr val="C8D8EC"/>
            </a:solidFill>
            <a:prstDash val="solid"/>
          </a:ln>
        </p:spPr>
      </p:sp>
      <p:sp>
        <p:nvSpPr>
          <p:cNvPr id="95" name="Text 93"/>
          <p:cNvSpPr txBox="1"/>
          <p:nvPr/>
        </p:nvSpPr>
        <p:spPr>
          <a:xfrm>
            <a:off x="461772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run complete</a:t>
            </a:r>
            <a:endParaRPr lang="en-US" sz="1000" dirty="0"/>
          </a:p>
        </p:txBody>
      </p:sp>
      <p:sp>
        <p:nvSpPr>
          <p:cNvPr id="96" name="Shape 94"/>
          <p:cNvSpPr/>
          <p:nvPr/>
        </p:nvSpPr>
        <p:spPr>
          <a:xfrm>
            <a:off x="6446520" y="5669280"/>
            <a:ext cx="1874520" cy="713232"/>
          </a:xfrm>
          <a:prstGeom prst="roundRect">
            <a:avLst>
              <a:gd name="adj" fmla="val 6410"/>
            </a:avLst>
          </a:prstGeom>
          <a:solidFill>
            <a:srgbClr val="EDF7F2"/>
          </a:solidFill>
          <a:ln w="9525">
            <a:solidFill>
              <a:srgbClr val="C8D8EC"/>
            </a:solidFill>
            <a:prstDash val="solid"/>
          </a:ln>
        </p:spPr>
      </p:sp>
      <p:sp>
        <p:nvSpPr>
          <p:cNvPr id="97" name="Text 95"/>
          <p:cNvSpPr txBox="1"/>
          <p:nvPr/>
        </p:nvSpPr>
        <p:spPr>
          <a:xfrm>
            <a:off x="653796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Validation Agent session</a:t>
            </a:r>
            <a:endParaRPr lang="en-US" sz="1000" dirty="0"/>
          </a:p>
        </p:txBody>
      </p:sp>
      <p:sp>
        <p:nvSpPr>
          <p:cNvPr id="98" name="Shape 96"/>
          <p:cNvSpPr/>
          <p:nvPr/>
        </p:nvSpPr>
        <p:spPr>
          <a:xfrm>
            <a:off x="8366760" y="5669280"/>
            <a:ext cx="1874520" cy="713232"/>
          </a:xfrm>
          <a:prstGeom prst="roundRect">
            <a:avLst>
              <a:gd name="adj" fmla="val 6410"/>
            </a:avLst>
          </a:prstGeom>
          <a:solidFill>
            <a:srgbClr val="F3F1FB"/>
          </a:solidFill>
          <a:ln w="9525">
            <a:solidFill>
              <a:srgbClr val="C8D8EC"/>
            </a:solidFill>
            <a:prstDash val="solid"/>
          </a:ln>
        </p:spPr>
      </p:sp>
      <p:sp>
        <p:nvSpPr>
          <p:cNvPr id="99" name="Text 97"/>
          <p:cNvSpPr txBox="1"/>
          <p:nvPr/>
        </p:nvSpPr>
        <p:spPr>
          <a:xfrm>
            <a:off x="845820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Tie-out, anomalies, explain</a:t>
            </a:r>
            <a:endParaRPr lang="en-US" sz="1000" dirty="0"/>
          </a:p>
        </p:txBody>
      </p:sp>
      <p:sp>
        <p:nvSpPr>
          <p:cNvPr id="100" name="Shape 98"/>
          <p:cNvSpPr/>
          <p:nvPr/>
        </p:nvSpPr>
        <p:spPr>
          <a:xfrm>
            <a:off x="10287000" y="5669280"/>
            <a:ext cx="1874520" cy="713232"/>
          </a:xfrm>
          <a:prstGeom prst="roundRect">
            <a:avLst>
              <a:gd name="adj" fmla="val 6410"/>
            </a:avLst>
          </a:prstGeom>
          <a:solidFill>
            <a:srgbClr val="EEF4FB"/>
          </a:solidFill>
          <a:ln w="9525">
            <a:solidFill>
              <a:srgbClr val="C8D8EC"/>
            </a:solidFill>
            <a:prstDash val="solid"/>
          </a:ln>
        </p:spPr>
      </p:sp>
      <p:sp>
        <p:nvSpPr>
          <p:cNvPr id="101" name="Text 99"/>
          <p:cNvSpPr txBox="1"/>
          <p:nvPr/>
        </p:nvSpPr>
        <p:spPr>
          <a:xfrm>
            <a:off x="1037844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Owner releases</a:t>
            </a:r>
            <a:endParaRPr lang="en-US" sz="1000" dirty="0"/>
          </a:p>
        </p:txBody>
      </p:sp>
      <p:sp>
        <p:nvSpPr>
          <p:cNvPr id="102" name="Shape 100"/>
          <p:cNvSpPr/>
          <p:nvPr/>
        </p:nvSpPr>
        <p:spPr>
          <a:xfrm>
            <a:off x="12207240" y="5669280"/>
            <a:ext cx="1874520" cy="713232"/>
          </a:xfrm>
          <a:prstGeom prst="roundRect">
            <a:avLst>
              <a:gd name="adj" fmla="val 6410"/>
            </a:avLst>
          </a:prstGeom>
          <a:solidFill>
            <a:srgbClr val="FBEFEE"/>
          </a:solidFill>
          <a:ln w="9525">
            <a:solidFill>
              <a:srgbClr val="C8D8EC"/>
            </a:solidFill>
            <a:prstDash val="solid"/>
          </a:ln>
        </p:spPr>
      </p:sp>
      <p:sp>
        <p:nvSpPr>
          <p:cNvPr id="103" name="Text 101"/>
          <p:cNvSpPr txBox="1"/>
          <p:nvPr/>
        </p:nvSpPr>
        <p:spPr>
          <a:xfrm>
            <a:off x="12298680" y="5669280"/>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Report publication</a:t>
            </a:r>
            <a:endParaRPr lang="en-US" sz="1000" dirty="0"/>
          </a:p>
        </p:txBody>
      </p:sp>
      <p:sp>
        <p:nvSpPr>
          <p:cNvPr id="104" name="Shape 102"/>
          <p:cNvSpPr/>
          <p:nvPr/>
        </p:nvSpPr>
        <p:spPr>
          <a:xfrm>
            <a:off x="502920" y="6464808"/>
            <a:ext cx="2011680" cy="713232"/>
          </a:xfrm>
          <a:prstGeom prst="roundRect">
            <a:avLst>
              <a:gd name="adj" fmla="val 10256"/>
            </a:avLst>
          </a:prstGeom>
          <a:solidFill>
            <a:srgbClr val="FFFFFF"/>
          </a:solidFill>
          <a:ln w="9525">
            <a:solidFill>
              <a:srgbClr val="C8D8EC"/>
            </a:solidFill>
            <a:prstDash val="solid"/>
          </a:ln>
        </p:spPr>
      </p:sp>
      <p:sp>
        <p:nvSpPr>
          <p:cNvPr id="105" name="Text 103"/>
          <p:cNvSpPr txBox="1"/>
          <p:nvPr/>
        </p:nvSpPr>
        <p:spPr>
          <a:xfrm>
            <a:off x="640080" y="6464808"/>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7  Ref Data Corrections</a:t>
            </a:r>
            <a:endParaRPr lang="en-US" sz="1100" dirty="0"/>
          </a:p>
        </p:txBody>
      </p:sp>
      <p:sp>
        <p:nvSpPr>
          <p:cNvPr id="106" name="Shape 104"/>
          <p:cNvSpPr/>
          <p:nvPr/>
        </p:nvSpPr>
        <p:spPr>
          <a:xfrm>
            <a:off x="2606040" y="6464808"/>
            <a:ext cx="1874520" cy="713232"/>
          </a:xfrm>
          <a:prstGeom prst="roundRect">
            <a:avLst>
              <a:gd name="adj" fmla="val 6410"/>
            </a:avLst>
          </a:prstGeom>
          <a:solidFill>
            <a:srgbClr val="EEF4FB"/>
          </a:solidFill>
          <a:ln w="9525">
            <a:solidFill>
              <a:srgbClr val="C8D8EC"/>
            </a:solidFill>
            <a:prstDash val="solid"/>
          </a:ln>
        </p:spPr>
      </p:sp>
      <p:sp>
        <p:nvSpPr>
          <p:cNvPr id="107" name="Text 105"/>
          <p:cNvSpPr txBox="1"/>
          <p:nvPr/>
        </p:nvSpPr>
        <p:spPr>
          <a:xfrm>
            <a:off x="269748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Breaks from recs and analysis</a:t>
            </a:r>
            <a:endParaRPr lang="en-US" sz="1000" dirty="0"/>
          </a:p>
        </p:txBody>
      </p:sp>
      <p:sp>
        <p:nvSpPr>
          <p:cNvPr id="108" name="Shape 106"/>
          <p:cNvSpPr/>
          <p:nvPr/>
        </p:nvSpPr>
        <p:spPr>
          <a:xfrm>
            <a:off x="4526280" y="6464808"/>
            <a:ext cx="1874520" cy="713232"/>
          </a:xfrm>
          <a:prstGeom prst="roundRect">
            <a:avLst>
              <a:gd name="adj" fmla="val 6410"/>
            </a:avLst>
          </a:prstGeom>
          <a:solidFill>
            <a:srgbClr val="EEF4FB"/>
          </a:solidFill>
          <a:ln w="9525">
            <a:solidFill>
              <a:srgbClr val="C8D8EC"/>
            </a:solidFill>
            <a:prstDash val="solid"/>
          </a:ln>
        </p:spPr>
      </p:sp>
      <p:sp>
        <p:nvSpPr>
          <p:cNvPr id="109" name="Text 107"/>
          <p:cNvSpPr txBox="1"/>
          <p:nvPr/>
        </p:nvSpPr>
        <p:spPr>
          <a:xfrm>
            <a:off x="461772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issue raised</a:t>
            </a:r>
            <a:endParaRPr lang="en-US" sz="1000" dirty="0"/>
          </a:p>
        </p:txBody>
      </p:sp>
      <p:sp>
        <p:nvSpPr>
          <p:cNvPr id="110" name="Shape 108"/>
          <p:cNvSpPr/>
          <p:nvPr/>
        </p:nvSpPr>
        <p:spPr>
          <a:xfrm>
            <a:off x="6446520" y="6464808"/>
            <a:ext cx="1874520" cy="713232"/>
          </a:xfrm>
          <a:prstGeom prst="roundRect">
            <a:avLst>
              <a:gd name="adj" fmla="val 6410"/>
            </a:avLst>
          </a:prstGeom>
          <a:solidFill>
            <a:srgbClr val="EDF7F2"/>
          </a:solidFill>
          <a:ln w="9525">
            <a:solidFill>
              <a:srgbClr val="C8D8EC"/>
            </a:solidFill>
            <a:prstDash val="solid"/>
          </a:ln>
        </p:spPr>
      </p:sp>
      <p:sp>
        <p:nvSpPr>
          <p:cNvPr id="111" name="Text 109"/>
          <p:cNvSpPr txBox="1"/>
          <p:nvPr/>
        </p:nvSpPr>
        <p:spPr>
          <a:xfrm>
            <a:off x="653796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Agent session</a:t>
            </a:r>
            <a:endParaRPr lang="en-US" sz="1000" dirty="0"/>
          </a:p>
        </p:txBody>
      </p:sp>
      <p:sp>
        <p:nvSpPr>
          <p:cNvPr id="112" name="Shape 110"/>
          <p:cNvSpPr/>
          <p:nvPr/>
        </p:nvSpPr>
        <p:spPr>
          <a:xfrm>
            <a:off x="8366760" y="6464808"/>
            <a:ext cx="1874520" cy="713232"/>
          </a:xfrm>
          <a:prstGeom prst="roundRect">
            <a:avLst>
              <a:gd name="adj" fmla="val 6410"/>
            </a:avLst>
          </a:prstGeom>
          <a:solidFill>
            <a:srgbClr val="F3F1FB"/>
          </a:solidFill>
          <a:ln w="9525">
            <a:solidFill>
              <a:srgbClr val="C8D8EC"/>
            </a:solidFill>
            <a:prstDash val="solid"/>
          </a:ln>
        </p:spPr>
      </p:sp>
      <p:sp>
        <p:nvSpPr>
          <p:cNvPr id="113" name="Text 111"/>
          <p:cNvSpPr txBox="1"/>
          <p:nvPr/>
        </p:nvSpPr>
        <p:spPr>
          <a:xfrm>
            <a:off x="845820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Trace root data cause</a:t>
            </a:r>
            <a:endParaRPr lang="en-US" sz="1000" dirty="0"/>
          </a:p>
        </p:txBody>
      </p:sp>
      <p:sp>
        <p:nvSpPr>
          <p:cNvPr id="114" name="Shape 112"/>
          <p:cNvSpPr/>
          <p:nvPr/>
        </p:nvSpPr>
        <p:spPr>
          <a:xfrm>
            <a:off x="10287000" y="6464808"/>
            <a:ext cx="1874520" cy="713232"/>
          </a:xfrm>
          <a:prstGeom prst="roundRect">
            <a:avLst>
              <a:gd name="adj" fmla="val 6410"/>
            </a:avLst>
          </a:prstGeom>
          <a:solidFill>
            <a:srgbClr val="EEF4FB"/>
          </a:solidFill>
          <a:ln w="9525">
            <a:solidFill>
              <a:srgbClr val="C8D8EC"/>
            </a:solidFill>
            <a:prstDash val="solid"/>
          </a:ln>
        </p:spPr>
      </p:sp>
      <p:sp>
        <p:nvSpPr>
          <p:cNvPr id="115" name="Text 113"/>
          <p:cNvSpPr txBox="1"/>
          <p:nvPr/>
        </p:nvSpPr>
        <p:spPr>
          <a:xfrm>
            <a:off x="1037844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Data Owner approves</a:t>
            </a:r>
            <a:endParaRPr lang="en-US" sz="1000" dirty="0"/>
          </a:p>
        </p:txBody>
      </p:sp>
      <p:sp>
        <p:nvSpPr>
          <p:cNvPr id="116" name="Shape 114"/>
          <p:cNvSpPr/>
          <p:nvPr/>
        </p:nvSpPr>
        <p:spPr>
          <a:xfrm>
            <a:off x="12207240" y="6464808"/>
            <a:ext cx="1874520" cy="713232"/>
          </a:xfrm>
          <a:prstGeom prst="roundRect">
            <a:avLst>
              <a:gd name="adj" fmla="val 6410"/>
            </a:avLst>
          </a:prstGeom>
          <a:solidFill>
            <a:srgbClr val="FBEFEE"/>
          </a:solidFill>
          <a:ln w="9525">
            <a:solidFill>
              <a:srgbClr val="C8D8EC"/>
            </a:solidFill>
            <a:prstDash val="solid"/>
          </a:ln>
        </p:spPr>
      </p:sp>
      <p:sp>
        <p:nvSpPr>
          <p:cNvPr id="117" name="Text 115"/>
          <p:cNvSpPr txBox="1"/>
          <p:nvPr/>
        </p:nvSpPr>
        <p:spPr>
          <a:xfrm>
            <a:off x="12298680" y="6464808"/>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Correction instruction</a:t>
            </a:r>
            <a:endParaRPr lang="en-US" sz="1000" dirty="0"/>
          </a:p>
        </p:txBody>
      </p:sp>
      <p:sp>
        <p:nvSpPr>
          <p:cNvPr id="118" name="Shape 116"/>
          <p:cNvSpPr/>
          <p:nvPr/>
        </p:nvSpPr>
        <p:spPr>
          <a:xfrm>
            <a:off x="502920" y="7260336"/>
            <a:ext cx="2011680" cy="713232"/>
          </a:xfrm>
          <a:prstGeom prst="roundRect">
            <a:avLst>
              <a:gd name="adj" fmla="val 10256"/>
            </a:avLst>
          </a:prstGeom>
          <a:solidFill>
            <a:srgbClr val="FFFFFF"/>
          </a:solidFill>
          <a:ln w="9525">
            <a:solidFill>
              <a:srgbClr val="C8D8EC"/>
            </a:solidFill>
            <a:prstDash val="solid"/>
          </a:ln>
        </p:spPr>
      </p:sp>
      <p:sp>
        <p:nvSpPr>
          <p:cNvPr id="119" name="Text 117"/>
          <p:cNvSpPr txBox="1"/>
          <p:nvPr/>
        </p:nvSpPr>
        <p:spPr>
          <a:xfrm>
            <a:off x="640080" y="7260336"/>
            <a:ext cx="1828800" cy="7132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8  Access &amp; Workflow</a:t>
            </a:r>
            <a:endParaRPr lang="en-US" sz="1100" dirty="0"/>
          </a:p>
        </p:txBody>
      </p:sp>
      <p:sp>
        <p:nvSpPr>
          <p:cNvPr id="120" name="Shape 118"/>
          <p:cNvSpPr/>
          <p:nvPr/>
        </p:nvSpPr>
        <p:spPr>
          <a:xfrm>
            <a:off x="2606040" y="7260336"/>
            <a:ext cx="1874520" cy="713232"/>
          </a:xfrm>
          <a:prstGeom prst="roundRect">
            <a:avLst>
              <a:gd name="adj" fmla="val 6410"/>
            </a:avLst>
          </a:prstGeom>
          <a:solidFill>
            <a:srgbClr val="EEF4FB"/>
          </a:solidFill>
          <a:ln w="9525">
            <a:solidFill>
              <a:srgbClr val="C8D8EC"/>
            </a:solidFill>
            <a:prstDash val="solid"/>
          </a:ln>
        </p:spPr>
      </p:sp>
      <p:sp>
        <p:nvSpPr>
          <p:cNvPr id="121" name="Text 119"/>
          <p:cNvSpPr txBox="1"/>
          <p:nvPr/>
        </p:nvSpPr>
        <p:spPr>
          <a:xfrm>
            <a:off x="269748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Central Entitlement System</a:t>
            </a:r>
            <a:endParaRPr lang="en-US" sz="1000" dirty="0"/>
          </a:p>
        </p:txBody>
      </p:sp>
      <p:sp>
        <p:nvSpPr>
          <p:cNvPr id="122" name="Shape 120"/>
          <p:cNvSpPr/>
          <p:nvPr/>
        </p:nvSpPr>
        <p:spPr>
          <a:xfrm>
            <a:off x="4526280" y="7260336"/>
            <a:ext cx="1874520" cy="713232"/>
          </a:xfrm>
          <a:prstGeom prst="roundRect">
            <a:avLst>
              <a:gd name="adj" fmla="val 6410"/>
            </a:avLst>
          </a:prstGeom>
          <a:solidFill>
            <a:srgbClr val="EEF4FB"/>
          </a:solidFill>
          <a:ln w="9525">
            <a:solidFill>
              <a:srgbClr val="C8D8EC"/>
            </a:solidFill>
            <a:prstDash val="solid"/>
          </a:ln>
        </p:spPr>
      </p:sp>
      <p:sp>
        <p:nvSpPr>
          <p:cNvPr id="123" name="Text 121"/>
          <p:cNvSpPr txBox="1"/>
          <p:nvPr/>
        </p:nvSpPr>
        <p:spPr>
          <a:xfrm>
            <a:off x="461772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Review cycle, JML events</a:t>
            </a:r>
            <a:endParaRPr lang="en-US" sz="1000" dirty="0"/>
          </a:p>
        </p:txBody>
      </p:sp>
      <p:sp>
        <p:nvSpPr>
          <p:cNvPr id="124" name="Shape 122"/>
          <p:cNvSpPr/>
          <p:nvPr/>
        </p:nvSpPr>
        <p:spPr>
          <a:xfrm>
            <a:off x="6446520" y="7260336"/>
            <a:ext cx="1874520" cy="713232"/>
          </a:xfrm>
          <a:prstGeom prst="roundRect">
            <a:avLst>
              <a:gd name="adj" fmla="val 6410"/>
            </a:avLst>
          </a:prstGeom>
          <a:solidFill>
            <a:srgbClr val="EDF7F2"/>
          </a:solidFill>
          <a:ln w="9525">
            <a:solidFill>
              <a:srgbClr val="C8D8EC"/>
            </a:solidFill>
            <a:prstDash val="solid"/>
          </a:ln>
        </p:spPr>
      </p:sp>
      <p:sp>
        <p:nvSpPr>
          <p:cNvPr id="125" name="Text 123"/>
          <p:cNvSpPr txBox="1"/>
          <p:nvPr/>
        </p:nvSpPr>
        <p:spPr>
          <a:xfrm>
            <a:off x="653796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Review Agent per campaign</a:t>
            </a:r>
            <a:endParaRPr lang="en-US" sz="1000" dirty="0"/>
          </a:p>
        </p:txBody>
      </p:sp>
      <p:sp>
        <p:nvSpPr>
          <p:cNvPr id="126" name="Shape 124"/>
          <p:cNvSpPr/>
          <p:nvPr/>
        </p:nvSpPr>
        <p:spPr>
          <a:xfrm>
            <a:off x="8366760" y="7260336"/>
            <a:ext cx="1874520" cy="713232"/>
          </a:xfrm>
          <a:prstGeom prst="roundRect">
            <a:avLst>
              <a:gd name="adj" fmla="val 6410"/>
            </a:avLst>
          </a:prstGeom>
          <a:solidFill>
            <a:srgbClr val="F3F1FB"/>
          </a:solidFill>
          <a:ln w="9525">
            <a:solidFill>
              <a:srgbClr val="C8D8EC"/>
            </a:solidFill>
            <a:prstDash val="solid"/>
          </a:ln>
        </p:spPr>
      </p:sp>
      <p:sp>
        <p:nvSpPr>
          <p:cNvPr id="127" name="Text 125"/>
          <p:cNvSpPr txBox="1"/>
          <p:nvPr/>
        </p:nvSpPr>
        <p:spPr>
          <a:xfrm>
            <a:off x="845820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SoD, stale, excess access</a:t>
            </a:r>
            <a:endParaRPr lang="en-US" sz="1000" dirty="0"/>
          </a:p>
        </p:txBody>
      </p:sp>
      <p:sp>
        <p:nvSpPr>
          <p:cNvPr id="128" name="Shape 126"/>
          <p:cNvSpPr/>
          <p:nvPr/>
        </p:nvSpPr>
        <p:spPr>
          <a:xfrm>
            <a:off x="10287000" y="7260336"/>
            <a:ext cx="1874520" cy="713232"/>
          </a:xfrm>
          <a:prstGeom prst="roundRect">
            <a:avLst>
              <a:gd name="adj" fmla="val 6410"/>
            </a:avLst>
          </a:prstGeom>
          <a:solidFill>
            <a:srgbClr val="EEF4FB"/>
          </a:solidFill>
          <a:ln w="9525">
            <a:solidFill>
              <a:srgbClr val="C8D8EC"/>
            </a:solidFill>
            <a:prstDash val="solid"/>
          </a:ln>
        </p:spPr>
      </p:sp>
      <p:sp>
        <p:nvSpPr>
          <p:cNvPr id="129" name="Text 127"/>
          <p:cNvSpPr txBox="1"/>
          <p:nvPr/>
        </p:nvSpPr>
        <p:spPr>
          <a:xfrm>
            <a:off x="1037844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Approver certifies</a:t>
            </a:r>
            <a:endParaRPr lang="en-US" sz="1000" dirty="0"/>
          </a:p>
        </p:txBody>
      </p:sp>
      <p:sp>
        <p:nvSpPr>
          <p:cNvPr id="130" name="Shape 128"/>
          <p:cNvSpPr/>
          <p:nvPr/>
        </p:nvSpPr>
        <p:spPr>
          <a:xfrm>
            <a:off x="12207240" y="7260336"/>
            <a:ext cx="1874520" cy="713232"/>
          </a:xfrm>
          <a:prstGeom prst="roundRect">
            <a:avLst>
              <a:gd name="adj" fmla="val 6410"/>
            </a:avLst>
          </a:prstGeom>
          <a:solidFill>
            <a:srgbClr val="FBEFEE"/>
          </a:solidFill>
          <a:ln w="9525">
            <a:solidFill>
              <a:srgbClr val="C8D8EC"/>
            </a:solidFill>
            <a:prstDash val="solid"/>
          </a:ln>
        </p:spPr>
      </p:sp>
      <p:sp>
        <p:nvSpPr>
          <p:cNvPr id="131" name="Text 129"/>
          <p:cNvSpPr txBox="1"/>
          <p:nvPr/>
        </p:nvSpPr>
        <p:spPr>
          <a:xfrm>
            <a:off x="12298680" y="7260336"/>
            <a:ext cx="1691640" cy="713232"/>
          </a:xfrm>
          <a:prstGeom prst="rect">
            <a:avLst/>
          </a:prstGeom>
          <a:noFill/>
          <a:ln/>
        </p:spPr>
        <p:txBody>
          <a:bodyPr wrap="square" lIns="0" tIns="0" rIns="0" bIns="0" rtlCol="0" anchor="ctr"/>
          <a:lstStyle/>
          <a:p>
            <a:pPr algn="ctr" indent="0" marL="0">
              <a:buNone/>
            </a:pPr>
            <a:r>
              <a:rPr lang="en-US" sz="1000" dirty="0">
                <a:solidFill>
                  <a:srgbClr val="1F2D3D"/>
                </a:solidFill>
                <a:latin typeface="Calibri" pitchFamily="34" charset="0"/>
                <a:ea typeface="Calibri" pitchFamily="34" charset="-122"/>
                <a:cs typeface="Calibri" pitchFamily="34" charset="-120"/>
              </a:rPr>
              <a:t>Entitlement API revoke</a:t>
            </a:r>
            <a:endParaRPr lang="en-US" sz="1000" dirty="0"/>
          </a:p>
        </p:txBody>
      </p:sp>
      <p:sp>
        <p:nvSpPr>
          <p:cNvPr id="132" name="Text 130"/>
          <p:cNvSpPr txBox="1"/>
          <p:nvPr/>
        </p:nvSpPr>
        <p:spPr>
          <a:xfrm>
            <a:off x="502920" y="8138160"/>
            <a:ext cx="27432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Key controls (every row)</a:t>
            </a:r>
            <a:endParaRPr lang="en-US" sz="1100" dirty="0"/>
          </a:p>
        </p:txBody>
      </p:sp>
      <p:sp>
        <p:nvSpPr>
          <p:cNvPr id="133" name="Shape 131"/>
          <p:cNvSpPr/>
          <p:nvPr/>
        </p:nvSpPr>
        <p:spPr>
          <a:xfrm>
            <a:off x="502920" y="8503920"/>
            <a:ext cx="3227832" cy="457200"/>
          </a:xfrm>
          <a:prstGeom prst="roundRect">
            <a:avLst>
              <a:gd name="adj" fmla="val 30000"/>
            </a:avLst>
          </a:prstGeom>
          <a:solidFill>
            <a:srgbClr val="FFFFFF"/>
          </a:solidFill>
          <a:ln w="9525">
            <a:solidFill>
              <a:srgbClr val="C8D8EC"/>
            </a:solidFill>
            <a:prstDash val="solid"/>
          </a:ln>
        </p:spPr>
      </p:sp>
      <p:pic>
        <p:nvPicPr>
          <p:cNvPr id="134" name="Image 0" descr="preencoded.png">    </p:cNvPr>
          <p:cNvPicPr>
            <a:picLocks noChangeAspect="1"/>
          </p:cNvPicPr>
          <p:nvPr/>
        </p:nvPicPr>
        <p:blipFill>
          <a:blip r:embed="rId1"/>
          <a:stretch>
            <a:fillRect/>
          </a:stretch>
        </p:blipFill>
        <p:spPr>
          <a:xfrm>
            <a:off x="630936" y="8659368"/>
            <a:ext cx="146304" cy="146304"/>
          </a:xfrm>
          <a:prstGeom prst="rect">
            <a:avLst/>
          </a:prstGeom>
        </p:spPr>
      </p:pic>
      <p:sp>
        <p:nvSpPr>
          <p:cNvPr id="135" name="Text 132"/>
          <p:cNvSpPr txBox="1"/>
          <p:nvPr/>
        </p:nvSpPr>
        <p:spPr>
          <a:xfrm>
            <a:off x="868680"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Evidence checked first</a:t>
            </a:r>
            <a:endParaRPr lang="en-US" sz="950" dirty="0"/>
          </a:p>
        </p:txBody>
      </p:sp>
      <p:sp>
        <p:nvSpPr>
          <p:cNvPr id="136" name="Shape 133"/>
          <p:cNvSpPr/>
          <p:nvPr/>
        </p:nvSpPr>
        <p:spPr>
          <a:xfrm>
            <a:off x="3941064" y="8503920"/>
            <a:ext cx="3227832" cy="457200"/>
          </a:xfrm>
          <a:prstGeom prst="roundRect">
            <a:avLst>
              <a:gd name="adj" fmla="val 30000"/>
            </a:avLst>
          </a:prstGeom>
          <a:solidFill>
            <a:srgbClr val="FFFFFF"/>
          </a:solidFill>
          <a:ln w="9525">
            <a:solidFill>
              <a:srgbClr val="C8D8EC"/>
            </a:solidFill>
            <a:prstDash val="solid"/>
          </a:ln>
        </p:spPr>
      </p:sp>
      <p:pic>
        <p:nvPicPr>
          <p:cNvPr id="137" name="Image 1" descr="preencoded.png">    </p:cNvPr>
          <p:cNvPicPr>
            <a:picLocks noChangeAspect="1"/>
          </p:cNvPicPr>
          <p:nvPr/>
        </p:nvPicPr>
        <p:blipFill>
          <a:blip r:embed="rId2"/>
          <a:stretch>
            <a:fillRect/>
          </a:stretch>
        </p:blipFill>
        <p:spPr>
          <a:xfrm>
            <a:off x="4069080" y="8659368"/>
            <a:ext cx="146304" cy="146304"/>
          </a:xfrm>
          <a:prstGeom prst="rect">
            <a:avLst/>
          </a:prstGeom>
        </p:spPr>
      </p:pic>
      <p:sp>
        <p:nvSpPr>
          <p:cNvPr id="138" name="Text 134"/>
          <p:cNvSpPr txBox="1"/>
          <p:nvPr/>
        </p:nvSpPr>
        <p:spPr>
          <a:xfrm>
            <a:off x="4306824"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Numbers from code, not the LLM</a:t>
            </a:r>
            <a:endParaRPr lang="en-US" sz="950" dirty="0"/>
          </a:p>
        </p:txBody>
      </p:sp>
      <p:sp>
        <p:nvSpPr>
          <p:cNvPr id="139" name="Shape 135"/>
          <p:cNvSpPr/>
          <p:nvPr/>
        </p:nvSpPr>
        <p:spPr>
          <a:xfrm>
            <a:off x="7379208" y="8503920"/>
            <a:ext cx="3227832" cy="457200"/>
          </a:xfrm>
          <a:prstGeom prst="roundRect">
            <a:avLst>
              <a:gd name="adj" fmla="val 30000"/>
            </a:avLst>
          </a:prstGeom>
          <a:solidFill>
            <a:srgbClr val="FFFFFF"/>
          </a:solidFill>
          <a:ln w="9525">
            <a:solidFill>
              <a:srgbClr val="C8D8EC"/>
            </a:solidFill>
            <a:prstDash val="solid"/>
          </a:ln>
        </p:spPr>
      </p:sp>
      <p:pic>
        <p:nvPicPr>
          <p:cNvPr id="140" name="Image 2" descr="preencoded.png">    </p:cNvPr>
          <p:cNvPicPr>
            <a:picLocks noChangeAspect="1"/>
          </p:cNvPicPr>
          <p:nvPr/>
        </p:nvPicPr>
        <p:blipFill>
          <a:blip r:embed="rId3"/>
          <a:stretch>
            <a:fillRect/>
          </a:stretch>
        </p:blipFill>
        <p:spPr>
          <a:xfrm>
            <a:off x="7507224" y="8659368"/>
            <a:ext cx="146304" cy="146304"/>
          </a:xfrm>
          <a:prstGeom prst="rect">
            <a:avLst/>
          </a:prstGeom>
        </p:spPr>
      </p:pic>
      <p:sp>
        <p:nvSpPr>
          <p:cNvPr id="141" name="Text 136"/>
          <p:cNvSpPr txBox="1"/>
          <p:nvPr/>
        </p:nvSpPr>
        <p:spPr>
          <a:xfrm>
            <a:off x="7744968"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Named owner approves every action</a:t>
            </a:r>
            <a:endParaRPr lang="en-US" sz="950" dirty="0"/>
          </a:p>
        </p:txBody>
      </p:sp>
      <p:sp>
        <p:nvSpPr>
          <p:cNvPr id="142" name="Shape 137"/>
          <p:cNvSpPr/>
          <p:nvPr/>
        </p:nvSpPr>
        <p:spPr>
          <a:xfrm>
            <a:off x="10817352" y="8503920"/>
            <a:ext cx="3227832" cy="457200"/>
          </a:xfrm>
          <a:prstGeom prst="roundRect">
            <a:avLst>
              <a:gd name="adj" fmla="val 30000"/>
            </a:avLst>
          </a:prstGeom>
          <a:solidFill>
            <a:srgbClr val="FFFFFF"/>
          </a:solidFill>
          <a:ln w="9525">
            <a:solidFill>
              <a:srgbClr val="C8D8EC"/>
            </a:solidFill>
            <a:prstDash val="solid"/>
          </a:ln>
        </p:spPr>
      </p:sp>
      <p:pic>
        <p:nvPicPr>
          <p:cNvPr id="143" name="Image 3" descr="preencoded.png">    </p:cNvPr>
          <p:cNvPicPr>
            <a:picLocks noChangeAspect="1"/>
          </p:cNvPicPr>
          <p:nvPr/>
        </p:nvPicPr>
        <p:blipFill>
          <a:blip r:embed="rId4"/>
          <a:stretch>
            <a:fillRect/>
          </a:stretch>
        </p:blipFill>
        <p:spPr>
          <a:xfrm>
            <a:off x="10945368" y="8659368"/>
            <a:ext cx="146304" cy="146304"/>
          </a:xfrm>
          <a:prstGeom prst="rect">
            <a:avLst/>
          </a:prstGeom>
        </p:spPr>
      </p:pic>
      <p:sp>
        <p:nvSpPr>
          <p:cNvPr id="144" name="Text 138"/>
          <p:cNvSpPr txBox="1"/>
          <p:nvPr/>
        </p:nvSpPr>
        <p:spPr>
          <a:xfrm>
            <a:off x="11183112" y="8503920"/>
            <a:ext cx="2816352" cy="457200"/>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traced in Phoenix, actions in app audit</a:t>
            </a:r>
            <a:endParaRPr lang="en-US" sz="950" dirty="0"/>
          </a:p>
        </p:txBody>
      </p:sp>
      <p:sp>
        <p:nvSpPr>
          <p:cNvPr id="145" name="Shape 139"/>
          <p:cNvSpPr/>
          <p:nvPr/>
        </p:nvSpPr>
        <p:spPr>
          <a:xfrm>
            <a:off x="0" y="9272016"/>
            <a:ext cx="14630400" cy="484632"/>
          </a:xfrm>
          <a:prstGeom prst="rect">
            <a:avLst/>
          </a:prstGeom>
          <a:solidFill>
            <a:srgbClr val="0B2E5E"/>
          </a:solidFill>
          <a:ln w="12700">
            <a:solidFill>
              <a:srgbClr val="0B2E5E"/>
            </a:solidFill>
            <a:prstDash val="solid"/>
          </a:ln>
        </p:spPr>
      </p:sp>
      <p:sp>
        <p:nvSpPr>
          <p:cNvPr id="146" name="Text 14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One pattern. Same controls. Different functions.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UC1 Helix: AI-Powered FOBO Reconciliation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Recs &amp; Controls, Exceptions &amp; Break Analysis, Accounting Adjustments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Helix Architecture</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Workspaces (one per L4)</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FI Credit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Rates</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CATS vs MOTIF - Prime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L4 workspaces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In delivery, go-live 5 Feb 2027</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REC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MBREC</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Master-book reconciliation of CATS vs MOTIF</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workspace</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Helix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automated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Skill-based investigation: classify, explain, recommend</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Helix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Session analysis and chat per workspace</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Master Books</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X books per workspace (FO, BO, other)</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all X books are available</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workspace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MB Rec and other data</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FAS Services</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Posts adjustments to MOTIF</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Arrives at desk time, approves adjustments</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Book availability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Final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automated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Session analysis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Rec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Post approved adjustment</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After X time: 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MBREC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Book availability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Workspace readiness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Helix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Adjustment approvals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Analysis ready before desk time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Sessions run automatically once books are available</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Controllers approve every adjustment before FAS posts it</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Full audit trail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AI traced in Phoenix, user and event actions in app audit</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workspace</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new L4 workspaces without new builds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Helix Architecture</a:t>
            </a:r>
            <a:pPr algn="ctr" indent="0" marL="0">
              <a:buNone/>
            </a:pPr>
            <a:r>
              <a:rPr lang="en-US" sz="1100" dirty="0">
                <a:solidFill>
                  <a:srgbClr val="FFFFFF"/>
                </a:solidFill>
                <a:latin typeface="Calibri" pitchFamily="34" charset="0"/>
                <a:ea typeface="Calibri" pitchFamily="34" charset="-122"/>
                <a:cs typeface="Calibri" pitchFamily="34" charset="-120"/>
              </a:rPr>
              <a:t>   |   Smarter Reconciliation. Stronger Control. Greater Insight.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UC2 Flash v Formal P&amp;L &amp; PLEX Explain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FO / Finance P&amp;L Explains, PLEX Analysis (Hypo v Clean), PLEX Reclassification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P&amp;L Explain</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Workspaces (one per desk)</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Rates desk</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Credit desk</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Prime desk</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desks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In build (P&amp;L Controller plugin)</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P&amp;L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Flash &amp; Formal P&amp;L</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Trader flash and finance formal P&amp;L per desk</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desk</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P&amp;L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flash v formal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gaps, PLEX Hypo v Clean, reclass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P&amp;L Explain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reclass and chat per desk</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PLEX &amp; Lineage</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P&amp;L explains and P&amp;L Lineage per book</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formal P&amp;L is loaded</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desk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P&amp;L, PLEX, positions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Reclass</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Applies approved PLEX reclass</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Product 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explain, signs off</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Flash and formal P&amp;L</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Desk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explain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Explain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sign-off</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PLEX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Apply approved reclass</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sign off</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P&amp;L loads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load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Desk readiness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P&amp;L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sign-offs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Reclass approvals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Explain ready before sign-off</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Flash v formal gaps explained as soon as formal P&amp;L lands</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Product Controllers approve every reclass and sign-off</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P&amp;L bridge figures from code, the LLM only explains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desk</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new desks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P&amp;L Explain</a:t>
            </a:r>
            <a:pPr algn="ctr" indent="0" marL="0">
              <a:buNone/>
            </a:pPr>
            <a:r>
              <a:rPr lang="en-US" sz="1100" dirty="0">
                <a:solidFill>
                  <a:srgbClr val="FFFFFF"/>
                </a:solidFill>
                <a:latin typeface="Calibri" pitchFamily="34" charset="0"/>
                <a:ea typeface="Calibri" pitchFamily="34" charset="-122"/>
                <a:cs typeface="Calibri" pitchFamily="34" charset="-120"/>
              </a:rPr>
              <a:t>   |   Faster Explain. Cleaner PLEX. Stronger Sign-off.</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UC3 Ledger Controls &amp; Exception Lifecycle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Source to Ledger, Inter Ledger (S/L v G/L v C/L), Operational Recs, Exception Ageing</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Ledger Controls</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Controls in scope</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S/L v G/L</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G/L v C/L</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TB-BB (Exception Hub)</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Nostro recs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For discussion: GL to SL true up</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CONTROL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Hub</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Control breaks from TB-BB and inter-ledger checks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entity</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Controls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break triage sessions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Classify, root cause, ageing risk, propose fix</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Triage view and chat per entity</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Ledgers &amp; ETB</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Sub, General, Consolidation ledgers, ETB</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control run completes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entity before session start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Ledgers, journals, rules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Adj. Instruction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Raises approved instruction</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Exception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triage, approves fix or closure</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Control break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Entity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triage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Triage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Ledger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Raise approved instruction</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Exception Hub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Break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Exception ageing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Controls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actions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Adjustment instructions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Triage ready at start of day</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Breaks classified with root cause, owner and ageing risk</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Owners approve every fix, closure or instruction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Entitlement-aware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Routing and access from the Central Entitlement System</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control</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controls and entities without new builds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Ledger Controls</a:t>
            </a:r>
            <a:pPr algn="ctr" indent="0" marL="0">
              <a:buNone/>
            </a:pPr>
            <a:r>
              <a:rPr lang="en-US" sz="1100" dirty="0">
                <a:solidFill>
                  <a:srgbClr val="FFFFFF"/>
                </a:solidFill>
                <a:latin typeface="Calibri" pitchFamily="34" charset="0"/>
                <a:ea typeface="Calibri" pitchFamily="34" charset="-122"/>
                <a:cs typeface="Calibri" pitchFamily="34" charset="-120"/>
              </a:rPr>
              <a:t>   |   Faster Triage. Clear Ownership. Stronger Controls.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UC4 Analysis &amp; Commentary</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Movements (MOT, Trend), Variance, Avg Balance Sheet, Cost, Impairments, Presentation Currency, Commentary</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Analysis &amp; Review</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Analysis packs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Movements (MOT)</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Variance &amp; trend</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Avg balance sheet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cost, impairments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ANALYTICS DATA</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CONTROLLER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Trial Balance</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Enterprise trial balance per entity</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business outcome per entity</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Analysis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Runs MOT, variance and trend packs</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Explain movements and variances, draft commentary</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Analysis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Packs, commentary and chat per entity</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Reference Data</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Hierarchies, FX for presentation currency</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TB is published</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Analytics Engine</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Computes movements and variances</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TB, balances, cost, impairments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Commentary</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Publishes approved text</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Finance Controller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edits, approves commentary</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TB published</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Entity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analysis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Explain and draft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Hierarchies</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Computes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Publish approved commentary</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edit,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TB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TB publication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Entity readiness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Analysis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User edits &amp; approvals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Commentary versions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Packs ready on TB publish</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Movements and variances explained without manual build</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Controllers edit and approve every commentary</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All numbers from the analytics engine, the LLM explains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pack</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cost or impairment packs as new skills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Analysis &amp; Review</a:t>
            </a:r>
            <a:pPr algn="ctr" indent="0" marL="0">
              <a:buNone/>
            </a:pPr>
            <a:r>
              <a:rPr lang="en-US" sz="1100" dirty="0">
                <a:solidFill>
                  <a:srgbClr val="FFFFFF"/>
                </a:solidFill>
                <a:latin typeface="Calibri" pitchFamily="34" charset="0"/>
                <a:ea typeface="Calibri" pitchFamily="34" charset="-122"/>
                <a:cs typeface="Calibri" pitchFamily="34" charset="-120"/>
              </a:rPr>
              <a:t>   |   Explained Numbers. Consistent Commentary. Faster Review.</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UC5 Financial Close: Sign-off &amp; Attestation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Substantiation &amp; Attestation, Trader, Daily TB, Legal Entity &amp; Group Sign Off</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Financial Close</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Sign-off milestones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Trader sign off</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Daily TB sign off</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LE &amp; Group sign off</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attestation</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One Fin UX PoC</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CLOSE INPUTS</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SIGNATORY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Finance Systems</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Motif, GMIS, RAM, SAP, Axiom</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Readiness per sign-off milestone</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Close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Builds sign-off pack per milestone</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Summarise open items, evidence, risks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Close Cockpit</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Sign-off pack and chat per milestone</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Rec &amp; Control Results</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Breaks, exceptions, adjustments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all inputs complete</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Readiness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milestone before pack build</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Results, balances, evidence</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Sign-off Record</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Records approved sign-off</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Signatory</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pack, signs off or attests</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Input availability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Milestone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pack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Sign-off pack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Results</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Record sign-off</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sign off</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Source feeds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Input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Milestone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Close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Sign-offs &amp; attestations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Sign-off instructions</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Pack ready at milestone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Signatories start from a complete, evidenced pack</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Only the named signatory signs off or attests</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Evidenced sign-off</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open item and source linked in the record</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milestone</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entities and milestones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Financial Close</a:t>
            </a:r>
            <a:pPr algn="ctr" indent="0" marL="0">
              <a:buNone/>
            </a:pPr>
            <a:r>
              <a:rPr lang="en-US" sz="1100" dirty="0">
                <a:solidFill>
                  <a:srgbClr val="FFFFFF"/>
                </a:solidFill>
                <a:latin typeface="Calibri" pitchFamily="34" charset="0"/>
                <a:ea typeface="Calibri" pitchFamily="34" charset="-122"/>
                <a:cs typeface="Calibri" pitchFamily="34" charset="-120"/>
              </a:rPr>
              <a:t>   |   Evidenced Sign-off. Smoother Close. Fewer Surprises.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UC6 Internal Reporting: Report Validation</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Report Generation &amp; Validation before Report Publication</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Internal Reporting</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Report domains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Revenue accounting</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reporting</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Balance sheet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domains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BO consolidation</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REPORT PROCESSING</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Generation</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BO and reporting outputs per cycle</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outcome per report set</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Validation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validation per report set</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Tie-out to TB, anomalies, explain changes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Validation results and chat</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BO Estate</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Consolidated from ~2,500 to ~400-500</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Business Outcome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Ready when report run completes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Tie-out Engine</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Computes totals vs TB and prior run</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Reports, TB, prior runs</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Publication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Releases approved report</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Report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findings, releases report</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Report run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Report set Ready</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validation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Findings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Estate</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Evaluates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Computes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Publish approved report</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release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Report runs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 run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 set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Validation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Owner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Reports published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Validated before release</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Every report tied out before it leaves Finance</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Report Owners release every publication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Engines compute</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Tie-outs from code, the LLM explains differences</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domain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Smaller BO estate makes coverage practical</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Internal Reporting</a:t>
            </a:r>
            <a:pPr algn="ctr" indent="0" marL="0">
              <a:buNone/>
            </a:pPr>
            <a:r>
              <a:rPr lang="en-US" sz="1100" dirty="0">
                <a:solidFill>
                  <a:srgbClr val="FFFFFF"/>
                </a:solidFill>
                <a:latin typeface="Calibri" pitchFamily="34" charset="0"/>
                <a:ea typeface="Calibri" pitchFamily="34" charset="-122"/>
                <a:cs typeface="Calibri" pitchFamily="34" charset="-120"/>
              </a:rPr>
              <a:t>   |   Validated Reports. Fewer Restatements. Lower Run Cost.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UC7 Master &amp; Reference Data Corrections</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Master / Reference Data Corrections from recs, controls and analytics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Reference Data</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Data domains</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Books &amp; hierarchy</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Legal entity</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Account &amp; product</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domains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DATA ISSUES</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READINESS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OWNER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Recs &amp; Analytics</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Issues raised from breaks and analysis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Event hub and outcome per data domain</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issue investigation</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Trace root data cause, draft correction</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Workbench</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Issue, impact and chat per domain</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Master / Ref Data</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Books, hierarchies, mappings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Issue Queue</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Grouped by data domain</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Impact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Sizes downstream impact</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Ref data, lineage, history</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Correction</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Sends approved instruction</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Data Owner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Reviews and approves correction</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Data issue events</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Domain Ready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investigation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Root cause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approval</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Ref data</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Groups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Send approved correction</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approve</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Issue sources and One Fin UX</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Issue &amp; event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Domain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Data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Owner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Corrections applied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Fix causes, not symptoms</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Repeat breaks traced back to the data that caused them</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Data Owners approve every correction</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Full audit trail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Issue, evidence and correction linked end to end</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domain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data domains as new skills and tools</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Reference Data</a:t>
            </a:r>
            <a:pPr algn="ctr" indent="0" marL="0">
              <a:buNone/>
            </a:pPr>
            <a:r>
              <a:rPr lang="en-US" sz="1100" dirty="0">
                <a:solidFill>
                  <a:srgbClr val="FFFFFF"/>
                </a:solidFill>
                <a:latin typeface="Calibri" pitchFamily="34" charset="0"/>
                <a:ea typeface="Calibri" pitchFamily="34" charset="-122"/>
                <a:cs typeface="Calibri" pitchFamily="34" charset="-120"/>
              </a:rPr>
              <a:t>   |   Cleaner Data. Fewer Repeat Breaks. Faster Fixes.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UC8 Entitlements &amp; Workflow: Access Review</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Entitlements Definition and Workflow Definition across the control functions</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Access &amp; Workflow</a:t>
            </a:r>
            <a:endParaRPr lang="en-US" sz="2200" dirty="0"/>
          </a:p>
        </p:txBody>
      </p:sp>
      <p:sp>
        <p:nvSpPr>
          <p:cNvPr id="7" name="Text 5"/>
          <p:cNvSpPr txBox="1"/>
          <p:nvPr/>
        </p:nvSpPr>
        <p:spPr>
          <a:xfrm>
            <a:off x="502920" y="1216152"/>
            <a:ext cx="1920240" cy="34747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Campaigns (one per app)</a:t>
            </a:r>
            <a:endParaRPr lang="en-US" sz="1100" dirty="0"/>
          </a:p>
        </p:txBody>
      </p:sp>
      <p:sp>
        <p:nvSpPr>
          <p:cNvPr id="8" name="Shape 6"/>
          <p:cNvSpPr/>
          <p:nvPr/>
        </p:nvSpPr>
        <p:spPr>
          <a:xfrm>
            <a:off x="2496312" y="1243584"/>
            <a:ext cx="2075688" cy="283464"/>
          </a:xfrm>
          <a:prstGeom prst="roundRect">
            <a:avLst>
              <a:gd name="adj" fmla="val 48387"/>
            </a:avLst>
          </a:prstGeom>
          <a:solidFill>
            <a:srgbClr val="DCE9F7"/>
          </a:solidFill>
          <a:ln w="9525">
            <a:solidFill>
              <a:srgbClr val="C8D8EC"/>
            </a:solidFill>
            <a:prstDash val="solid"/>
          </a:ln>
        </p:spPr>
      </p:sp>
      <p:pic>
        <p:nvPicPr>
          <p:cNvPr id="9" name="Image 0" descr="preencoded.png">    </p:cNvPr>
          <p:cNvPicPr>
            <a:picLocks noChangeAspect="1"/>
          </p:cNvPicPr>
          <p:nvPr/>
        </p:nvPicPr>
        <p:blipFill>
          <a:blip r:embed="rId1"/>
          <a:stretch>
            <a:fillRect/>
          </a:stretch>
        </p:blipFill>
        <p:spPr>
          <a:xfrm>
            <a:off x="2606040" y="1316736"/>
            <a:ext cx="137160" cy="137160"/>
          </a:xfrm>
          <a:prstGeom prst="rect">
            <a:avLst/>
          </a:prstGeom>
        </p:spPr>
      </p:pic>
      <p:sp>
        <p:nvSpPr>
          <p:cNvPr id="10" name="Text 7"/>
          <p:cNvSpPr txBox="1"/>
          <p:nvPr/>
        </p:nvSpPr>
        <p:spPr>
          <a:xfrm>
            <a:off x="2798064"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Exception Hub</a:t>
            </a:r>
            <a:endParaRPr lang="en-US" sz="950" dirty="0"/>
          </a:p>
        </p:txBody>
      </p:sp>
      <p:sp>
        <p:nvSpPr>
          <p:cNvPr id="11" name="Shape 8"/>
          <p:cNvSpPr/>
          <p:nvPr/>
        </p:nvSpPr>
        <p:spPr>
          <a:xfrm>
            <a:off x="4709160" y="1243584"/>
            <a:ext cx="2075688" cy="283464"/>
          </a:xfrm>
          <a:prstGeom prst="roundRect">
            <a:avLst>
              <a:gd name="adj" fmla="val 48387"/>
            </a:avLst>
          </a:prstGeom>
          <a:solidFill>
            <a:srgbClr val="DCE9F7"/>
          </a:solidFill>
          <a:ln w="9525">
            <a:solidFill>
              <a:srgbClr val="C8D8EC"/>
            </a:solidFill>
            <a:prstDash val="solid"/>
          </a:ln>
        </p:spPr>
      </p:sp>
      <p:pic>
        <p:nvPicPr>
          <p:cNvPr id="12" name="Image 1" descr="preencoded.png">    </p:cNvPr>
          <p:cNvPicPr>
            <a:picLocks noChangeAspect="1"/>
          </p:cNvPicPr>
          <p:nvPr/>
        </p:nvPicPr>
        <p:blipFill>
          <a:blip r:embed="rId2"/>
          <a:stretch>
            <a:fillRect/>
          </a:stretch>
        </p:blipFill>
        <p:spPr>
          <a:xfrm>
            <a:off x="4818888" y="1316736"/>
            <a:ext cx="137160" cy="137160"/>
          </a:xfrm>
          <a:prstGeom prst="rect">
            <a:avLst/>
          </a:prstGeom>
        </p:spPr>
      </p:pic>
      <p:sp>
        <p:nvSpPr>
          <p:cNvPr id="13" name="Text 9"/>
          <p:cNvSpPr txBox="1"/>
          <p:nvPr/>
        </p:nvSpPr>
        <p:spPr>
          <a:xfrm>
            <a:off x="5010912"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Helix</a:t>
            </a:r>
            <a:endParaRPr lang="en-US" sz="950" dirty="0"/>
          </a:p>
        </p:txBody>
      </p:sp>
      <p:sp>
        <p:nvSpPr>
          <p:cNvPr id="14" name="Shape 10"/>
          <p:cNvSpPr/>
          <p:nvPr/>
        </p:nvSpPr>
        <p:spPr>
          <a:xfrm>
            <a:off x="6922008" y="1243584"/>
            <a:ext cx="2075688" cy="283464"/>
          </a:xfrm>
          <a:prstGeom prst="roundRect">
            <a:avLst>
              <a:gd name="adj" fmla="val 48387"/>
            </a:avLst>
          </a:prstGeom>
          <a:solidFill>
            <a:srgbClr val="DCE9F7"/>
          </a:solidFill>
          <a:ln w="9525">
            <a:solidFill>
              <a:srgbClr val="C8D8EC"/>
            </a:solidFill>
            <a:prstDash val="solid"/>
          </a:ln>
        </p:spPr>
      </p:sp>
      <p:pic>
        <p:nvPicPr>
          <p:cNvPr id="15" name="Image 2" descr="preencoded.png">    </p:cNvPr>
          <p:cNvPicPr>
            <a:picLocks noChangeAspect="1"/>
          </p:cNvPicPr>
          <p:nvPr/>
        </p:nvPicPr>
        <p:blipFill>
          <a:blip r:embed="rId3"/>
          <a:stretch>
            <a:fillRect/>
          </a:stretch>
        </p:blipFill>
        <p:spPr>
          <a:xfrm>
            <a:off x="7031736" y="1316736"/>
            <a:ext cx="137160" cy="137160"/>
          </a:xfrm>
          <a:prstGeom prst="rect">
            <a:avLst/>
          </a:prstGeom>
        </p:spPr>
      </p:pic>
      <p:sp>
        <p:nvSpPr>
          <p:cNvPr id="16" name="Text 11"/>
          <p:cNvSpPr txBox="1"/>
          <p:nvPr/>
        </p:nvSpPr>
        <p:spPr>
          <a:xfrm>
            <a:off x="7223760" y="1243584"/>
            <a:ext cx="1737360" cy="283464"/>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P&amp;L Lineage</a:t>
            </a:r>
            <a:endParaRPr lang="en-US" sz="950" dirty="0"/>
          </a:p>
        </p:txBody>
      </p:sp>
      <p:sp>
        <p:nvSpPr>
          <p:cNvPr id="17" name="Shape 12"/>
          <p:cNvSpPr/>
          <p:nvPr/>
        </p:nvSpPr>
        <p:spPr>
          <a:xfrm>
            <a:off x="9134856" y="1243584"/>
            <a:ext cx="2075688" cy="283464"/>
          </a:xfrm>
          <a:prstGeom prst="roundRect">
            <a:avLst>
              <a:gd name="adj" fmla="val 48387"/>
            </a:avLst>
          </a:prstGeom>
          <a:solidFill>
            <a:srgbClr val="FFFFFF"/>
          </a:solidFill>
          <a:ln w="9525">
            <a:solidFill>
              <a:srgbClr val="C8D8EC"/>
            </a:solidFill>
            <a:prstDash val="solid"/>
          </a:ln>
        </p:spPr>
      </p:sp>
      <p:pic>
        <p:nvPicPr>
          <p:cNvPr id="18" name="Image 3" descr="preencoded.png">    </p:cNvPr>
          <p:cNvPicPr>
            <a:picLocks noChangeAspect="1"/>
          </p:cNvPicPr>
          <p:nvPr/>
        </p:nvPicPr>
        <p:blipFill>
          <a:blip r:embed="rId4"/>
          <a:stretch>
            <a:fillRect/>
          </a:stretch>
        </p:blipFill>
        <p:spPr>
          <a:xfrm>
            <a:off x="9244584" y="1316736"/>
            <a:ext cx="137160" cy="137160"/>
          </a:xfrm>
          <a:prstGeom prst="rect">
            <a:avLst/>
          </a:prstGeom>
        </p:spPr>
      </p:pic>
      <p:sp>
        <p:nvSpPr>
          <p:cNvPr id="19" name="Text 13"/>
          <p:cNvSpPr txBox="1"/>
          <p:nvPr/>
        </p:nvSpPr>
        <p:spPr>
          <a:xfrm>
            <a:off x="9436608" y="1243584"/>
            <a:ext cx="1737360" cy="283464"/>
          </a:xfrm>
          <a:prstGeom prst="rect">
            <a:avLst/>
          </a:prstGeom>
          <a:noFill/>
          <a:ln/>
        </p:spPr>
        <p:txBody>
          <a:bodyPr wrap="square" lIns="0" tIns="0" rIns="0" bIns="0" rtlCol="0" anchor="ctr"/>
          <a:lstStyle/>
          <a:p>
            <a:pPr indent="0" marL="0">
              <a:buNone/>
            </a:pPr>
            <a:r>
              <a:rPr lang="en-US" sz="950" i="1" dirty="0">
                <a:solidFill>
                  <a:srgbClr val="1F2D3D"/>
                </a:solidFill>
                <a:latin typeface="Calibri" pitchFamily="34" charset="0"/>
                <a:ea typeface="Calibri" pitchFamily="34" charset="-122"/>
                <a:cs typeface="Calibri" pitchFamily="34" charset="-120"/>
              </a:rPr>
              <a:t>More applications</a:t>
            </a:r>
            <a:endParaRPr lang="en-US" sz="950" dirty="0"/>
          </a:p>
        </p:txBody>
      </p:sp>
      <p:sp>
        <p:nvSpPr>
          <p:cNvPr id="20" name="Text 14"/>
          <p:cNvSpPr txBox="1"/>
          <p:nvPr/>
        </p:nvSpPr>
        <p:spPr>
          <a:xfrm>
            <a:off x="11338560" y="1216152"/>
            <a:ext cx="2852928" cy="347472"/>
          </a:xfrm>
          <a:prstGeom prst="rect">
            <a:avLst/>
          </a:prstGeom>
          <a:noFill/>
          <a:ln/>
        </p:spPr>
        <p:txBody>
          <a:bodyPr wrap="square" lIns="0" tIns="0" rIns="0" bIns="0" rtlCol="0" anchor="ctr"/>
          <a:lstStyle/>
          <a:p>
            <a:pPr indent="0" marL="0">
              <a:buNone/>
            </a:pPr>
            <a:r>
              <a:rPr lang="en-US" sz="950" i="1" dirty="0">
                <a:solidFill>
                  <a:srgbClr val="4A5A6E"/>
                </a:solidFill>
                <a:latin typeface="Calibri" pitchFamily="34" charset="0"/>
                <a:ea typeface="Calibri" pitchFamily="34" charset="-122"/>
                <a:cs typeface="Calibri" pitchFamily="34" charset="-120"/>
              </a:rPr>
              <a:t>Status: Next wave on Central Entitlement System</a:t>
            </a:r>
            <a:endParaRPr lang="en-US" sz="950" dirty="0"/>
          </a:p>
        </p:txBody>
      </p:sp>
      <p:sp>
        <p:nvSpPr>
          <p:cNvPr id="21" name="Shape 15"/>
          <p:cNvSpPr/>
          <p:nvPr/>
        </p:nvSpPr>
        <p:spPr>
          <a:xfrm>
            <a:off x="502920" y="1737360"/>
            <a:ext cx="2377440" cy="4480560"/>
          </a:xfrm>
          <a:prstGeom prst="roundRect">
            <a:avLst>
              <a:gd name="adj" fmla="val 2308"/>
            </a:avLst>
          </a:prstGeom>
          <a:solidFill>
            <a:srgbClr val="EEF4FB"/>
          </a:solidFill>
          <a:ln w="12700">
            <a:solidFill>
              <a:srgbClr val="1B4F93"/>
            </a:solidFill>
            <a:prstDash val="dash"/>
          </a:ln>
        </p:spPr>
      </p:sp>
      <p:sp>
        <p:nvSpPr>
          <p:cNvPr id="22" name="Text 16"/>
          <p:cNvSpPr txBox="1"/>
          <p:nvPr/>
        </p:nvSpPr>
        <p:spPr>
          <a:xfrm>
            <a:off x="621792" y="1810512"/>
            <a:ext cx="2148840" cy="192024"/>
          </a:xfrm>
          <a:prstGeom prst="rect">
            <a:avLst/>
          </a:prstGeom>
          <a:noFill/>
          <a:ln/>
        </p:spPr>
        <p:txBody>
          <a:bodyPr wrap="square" lIns="0" tIns="0" rIns="0" bIns="0" rtlCol="0" anchor="ctr"/>
          <a:lstStyle/>
          <a:p>
            <a:pPr indent="0" marL="0">
              <a:buNone/>
            </a:pPr>
            <a:r>
              <a:rPr lang="en-US" sz="900" b="1" spc="100" kern="0" dirty="0">
                <a:solidFill>
                  <a:srgbClr val="1B4F93"/>
                </a:solidFill>
                <a:latin typeface="Calibri" pitchFamily="34" charset="0"/>
                <a:ea typeface="Calibri" pitchFamily="34" charset="-122"/>
                <a:cs typeface="Calibri" pitchFamily="34" charset="-120"/>
              </a:rPr>
              <a:t>ENTITLEMENT DATA</a:t>
            </a:r>
            <a:endParaRPr lang="en-US" sz="900" dirty="0"/>
          </a:p>
        </p:txBody>
      </p:sp>
      <p:sp>
        <p:nvSpPr>
          <p:cNvPr id="23" name="Shape 17"/>
          <p:cNvSpPr/>
          <p:nvPr/>
        </p:nvSpPr>
        <p:spPr>
          <a:xfrm>
            <a:off x="1691640" y="6236208"/>
            <a:ext cx="0" cy="219456"/>
          </a:xfrm>
          <a:prstGeom prst="line">
            <a:avLst/>
          </a:prstGeom>
          <a:noFill/>
          <a:ln w="15875">
            <a:solidFill>
              <a:srgbClr val="6B7C93"/>
            </a:solidFill>
            <a:prstDash val="dash"/>
            <a:tailEnd type="triangle"/>
          </a:ln>
        </p:spPr>
      </p:sp>
      <p:sp>
        <p:nvSpPr>
          <p:cNvPr id="24" name="Shape 18"/>
          <p:cNvSpPr/>
          <p:nvPr/>
        </p:nvSpPr>
        <p:spPr>
          <a:xfrm>
            <a:off x="3310128" y="1737360"/>
            <a:ext cx="2377440" cy="4480560"/>
          </a:xfrm>
          <a:prstGeom prst="roundRect">
            <a:avLst>
              <a:gd name="adj" fmla="val 2308"/>
            </a:avLst>
          </a:prstGeom>
          <a:solidFill>
            <a:srgbClr val="EEF4FB"/>
          </a:solidFill>
          <a:ln w="12700">
            <a:solidFill>
              <a:srgbClr val="2A6EBB"/>
            </a:solidFill>
            <a:prstDash val="dash"/>
          </a:ln>
        </p:spPr>
      </p:sp>
      <p:sp>
        <p:nvSpPr>
          <p:cNvPr id="25" name="Text 19"/>
          <p:cNvSpPr txBox="1"/>
          <p:nvPr/>
        </p:nvSpPr>
        <p:spPr>
          <a:xfrm>
            <a:off x="3429000" y="1810512"/>
            <a:ext cx="2148840" cy="192024"/>
          </a:xfrm>
          <a:prstGeom prst="rect">
            <a:avLst/>
          </a:prstGeom>
          <a:noFill/>
          <a:ln/>
        </p:spPr>
        <p:txBody>
          <a:bodyPr wrap="square" lIns="0" tIns="0" rIns="0" bIns="0" rtlCol="0" anchor="ctr"/>
          <a:lstStyle/>
          <a:p>
            <a:pPr indent="0" marL="0">
              <a:buNone/>
            </a:pPr>
            <a:r>
              <a:rPr lang="en-US" sz="900" b="1" spc="100" kern="0" dirty="0">
                <a:solidFill>
                  <a:srgbClr val="2A6EBB"/>
                </a:solidFill>
                <a:latin typeface="Calibri" pitchFamily="34" charset="0"/>
                <a:ea typeface="Calibri" pitchFamily="34" charset="-122"/>
                <a:cs typeface="Calibri" pitchFamily="34" charset="-120"/>
              </a:rPr>
              <a:t>EVENTS &amp; CAMPAIGNS</a:t>
            </a:r>
            <a:endParaRPr lang="en-US" sz="900" dirty="0"/>
          </a:p>
        </p:txBody>
      </p:sp>
      <p:sp>
        <p:nvSpPr>
          <p:cNvPr id="26" name="Shape 20"/>
          <p:cNvSpPr/>
          <p:nvPr/>
        </p:nvSpPr>
        <p:spPr>
          <a:xfrm>
            <a:off x="4498848" y="6236208"/>
            <a:ext cx="0" cy="219456"/>
          </a:xfrm>
          <a:prstGeom prst="line">
            <a:avLst/>
          </a:prstGeom>
          <a:noFill/>
          <a:ln w="15875">
            <a:solidFill>
              <a:srgbClr val="6B7C93"/>
            </a:solidFill>
            <a:prstDash val="dash"/>
            <a:tailEnd type="triangle"/>
          </a:ln>
        </p:spPr>
      </p:sp>
      <p:sp>
        <p:nvSpPr>
          <p:cNvPr id="27" name="Shape 21"/>
          <p:cNvSpPr/>
          <p:nvPr/>
        </p:nvSpPr>
        <p:spPr>
          <a:xfrm>
            <a:off x="6126480" y="1737360"/>
            <a:ext cx="2377440" cy="4480560"/>
          </a:xfrm>
          <a:prstGeom prst="roundRect">
            <a:avLst>
              <a:gd name="adj" fmla="val 2308"/>
            </a:avLst>
          </a:prstGeom>
          <a:solidFill>
            <a:srgbClr val="EDF7F2"/>
          </a:solidFill>
          <a:ln w="12700">
            <a:solidFill>
              <a:srgbClr val="1E8A5A"/>
            </a:solidFill>
            <a:prstDash val="dash"/>
          </a:ln>
        </p:spPr>
      </p:sp>
      <p:sp>
        <p:nvSpPr>
          <p:cNvPr id="28" name="Text 22"/>
          <p:cNvSpPr txBox="1"/>
          <p:nvPr/>
        </p:nvSpPr>
        <p:spPr>
          <a:xfrm>
            <a:off x="6245352" y="1810512"/>
            <a:ext cx="2148840" cy="192024"/>
          </a:xfrm>
          <a:prstGeom prst="rect">
            <a:avLst/>
          </a:prstGeom>
          <a:noFill/>
          <a:ln/>
        </p:spPr>
        <p:txBody>
          <a:bodyPr wrap="square" lIns="0" tIns="0" rIns="0" bIns="0" rtlCol="0" anchor="ctr"/>
          <a:lstStyle/>
          <a:p>
            <a:pPr indent="0" marL="0">
              <a:buNone/>
            </a:pPr>
            <a:r>
              <a:rPr lang="en-US" sz="900" b="1" spc="100" kern="0" dirty="0">
                <a:solidFill>
                  <a:srgbClr val="1E8A5A"/>
                </a:solidFill>
                <a:latin typeface="Calibri" pitchFamily="34" charset="0"/>
                <a:ea typeface="Calibri" pitchFamily="34" charset="-122"/>
                <a:cs typeface="Calibri" pitchFamily="34" charset="-120"/>
              </a:rPr>
              <a:t>ORCHESTRATION</a:t>
            </a:r>
            <a:endParaRPr lang="en-US" sz="900" dirty="0"/>
          </a:p>
        </p:txBody>
      </p:sp>
      <p:sp>
        <p:nvSpPr>
          <p:cNvPr id="29" name="Shape 23"/>
          <p:cNvSpPr/>
          <p:nvPr/>
        </p:nvSpPr>
        <p:spPr>
          <a:xfrm>
            <a:off x="7315200" y="6236208"/>
            <a:ext cx="0" cy="219456"/>
          </a:xfrm>
          <a:prstGeom prst="line">
            <a:avLst/>
          </a:prstGeom>
          <a:noFill/>
          <a:ln w="15875">
            <a:solidFill>
              <a:srgbClr val="6B7C93"/>
            </a:solidFill>
            <a:prstDash val="dash"/>
            <a:tailEnd type="triangle"/>
          </a:ln>
        </p:spPr>
      </p:sp>
      <p:sp>
        <p:nvSpPr>
          <p:cNvPr id="30" name="Shape 24"/>
          <p:cNvSpPr/>
          <p:nvPr/>
        </p:nvSpPr>
        <p:spPr>
          <a:xfrm>
            <a:off x="8933688" y="1737360"/>
            <a:ext cx="2377440" cy="4480560"/>
          </a:xfrm>
          <a:prstGeom prst="roundRect">
            <a:avLst>
              <a:gd name="adj" fmla="val 2308"/>
            </a:avLst>
          </a:prstGeom>
          <a:solidFill>
            <a:srgbClr val="F3F1FB"/>
          </a:solidFill>
          <a:ln w="12700">
            <a:solidFill>
              <a:srgbClr val="5B4FA8"/>
            </a:solidFill>
            <a:prstDash val="dash"/>
          </a:ln>
        </p:spPr>
      </p:sp>
      <p:sp>
        <p:nvSpPr>
          <p:cNvPr id="31" name="Text 25"/>
          <p:cNvSpPr txBox="1"/>
          <p:nvPr/>
        </p:nvSpPr>
        <p:spPr>
          <a:xfrm>
            <a:off x="9052560" y="1810512"/>
            <a:ext cx="2148840" cy="192024"/>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REASONING</a:t>
            </a:r>
            <a:endParaRPr lang="en-US" sz="900" dirty="0"/>
          </a:p>
        </p:txBody>
      </p:sp>
      <p:sp>
        <p:nvSpPr>
          <p:cNvPr id="32" name="Shape 26"/>
          <p:cNvSpPr/>
          <p:nvPr/>
        </p:nvSpPr>
        <p:spPr>
          <a:xfrm>
            <a:off x="10122408" y="6236208"/>
            <a:ext cx="0" cy="219456"/>
          </a:xfrm>
          <a:prstGeom prst="line">
            <a:avLst/>
          </a:prstGeom>
          <a:noFill/>
          <a:ln w="15875">
            <a:solidFill>
              <a:srgbClr val="6B7C93"/>
            </a:solidFill>
            <a:prstDash val="dash"/>
            <a:tailEnd type="triangle"/>
          </a:ln>
        </p:spPr>
      </p:sp>
      <p:sp>
        <p:nvSpPr>
          <p:cNvPr id="33" name="Shape 27"/>
          <p:cNvSpPr/>
          <p:nvPr/>
        </p:nvSpPr>
        <p:spPr>
          <a:xfrm>
            <a:off x="11740896" y="1737360"/>
            <a:ext cx="2377440" cy="4480560"/>
          </a:xfrm>
          <a:prstGeom prst="roundRect">
            <a:avLst>
              <a:gd name="adj" fmla="val 2308"/>
            </a:avLst>
          </a:prstGeom>
          <a:solidFill>
            <a:srgbClr val="EEF4FB"/>
          </a:solidFill>
          <a:ln w="12700">
            <a:solidFill>
              <a:srgbClr val="1F6FB5"/>
            </a:solidFill>
            <a:prstDash val="dash"/>
          </a:ln>
        </p:spPr>
      </p:sp>
      <p:sp>
        <p:nvSpPr>
          <p:cNvPr id="34" name="Text 28"/>
          <p:cNvSpPr txBox="1"/>
          <p:nvPr/>
        </p:nvSpPr>
        <p:spPr>
          <a:xfrm>
            <a:off x="11859768" y="1810512"/>
            <a:ext cx="2148840" cy="192024"/>
          </a:xfrm>
          <a:prstGeom prst="rect">
            <a:avLst/>
          </a:prstGeom>
          <a:noFill/>
          <a:ln/>
        </p:spPr>
        <p:txBody>
          <a:bodyPr wrap="square" lIns="0" tIns="0" rIns="0" bIns="0" rtlCol="0" anchor="ctr"/>
          <a:lstStyle/>
          <a:p>
            <a:pPr indent="0" marL="0">
              <a:buNone/>
            </a:pPr>
            <a:r>
              <a:rPr lang="en-US" sz="900" b="1" spc="100" kern="0" dirty="0">
                <a:solidFill>
                  <a:srgbClr val="1F6FB5"/>
                </a:solidFill>
                <a:latin typeface="Calibri" pitchFamily="34" charset="0"/>
                <a:ea typeface="Calibri" pitchFamily="34" charset="-122"/>
                <a:cs typeface="Calibri" pitchFamily="34" charset="-120"/>
              </a:rPr>
              <a:t>APPROVER EXPERIENCE</a:t>
            </a:r>
            <a:endParaRPr lang="en-US" sz="900" dirty="0"/>
          </a:p>
        </p:txBody>
      </p:sp>
      <p:sp>
        <p:nvSpPr>
          <p:cNvPr id="35" name="Shape 29"/>
          <p:cNvSpPr/>
          <p:nvPr/>
        </p:nvSpPr>
        <p:spPr>
          <a:xfrm>
            <a:off x="12929616" y="6236208"/>
            <a:ext cx="0" cy="219456"/>
          </a:xfrm>
          <a:prstGeom prst="line">
            <a:avLst/>
          </a:prstGeom>
          <a:noFill/>
          <a:ln w="15875">
            <a:solidFill>
              <a:srgbClr val="6B7C93"/>
            </a:solidFill>
            <a:prstDash val="dash"/>
            <a:tailEnd type="triangle"/>
          </a:ln>
        </p:spPr>
      </p:sp>
      <p:sp>
        <p:nvSpPr>
          <p:cNvPr id="36" name="Shape 30"/>
          <p:cNvSpPr/>
          <p:nvPr/>
        </p:nvSpPr>
        <p:spPr>
          <a:xfrm>
            <a:off x="932688" y="2212848"/>
            <a:ext cx="1527048" cy="1426464"/>
          </a:xfrm>
          <a:prstGeom prst="roundRect">
            <a:avLst>
              <a:gd name="adj" fmla="val 5128"/>
            </a:avLst>
          </a:prstGeom>
          <a:solidFill>
            <a:srgbClr val="FFFFFF"/>
          </a:solidFill>
          <a:ln w="9525">
            <a:solidFill>
              <a:srgbClr val="C8D8EC"/>
            </a:solidFill>
            <a:prstDash val="solid"/>
          </a:ln>
        </p:spPr>
      </p:sp>
      <p:sp>
        <p:nvSpPr>
          <p:cNvPr id="37" name="Shape 31"/>
          <p:cNvSpPr/>
          <p:nvPr/>
        </p:nvSpPr>
        <p:spPr>
          <a:xfrm>
            <a:off x="1431036" y="2322576"/>
            <a:ext cx="530352" cy="530352"/>
          </a:xfrm>
          <a:prstGeom prst="roundRect">
            <a:avLst>
              <a:gd name="adj" fmla="val 17241"/>
            </a:avLst>
          </a:prstGeom>
          <a:solidFill>
            <a:srgbClr val="1B4F93"/>
          </a:solidFill>
          <a:ln w="12700">
            <a:solidFill>
              <a:srgbClr val="1B4F93"/>
            </a:solidFill>
            <a:prstDash val="solid"/>
          </a:ln>
        </p:spPr>
      </p:sp>
      <p:pic>
        <p:nvPicPr>
          <p:cNvPr id="38" name="Image 4" descr="preencoded.png">    </p:cNvPr>
          <p:cNvPicPr>
            <a:picLocks noChangeAspect="1"/>
          </p:cNvPicPr>
          <p:nvPr/>
        </p:nvPicPr>
        <p:blipFill>
          <a:blip r:embed="rId5"/>
          <a:stretch>
            <a:fillRect/>
          </a:stretch>
        </p:blipFill>
        <p:spPr>
          <a:xfrm>
            <a:off x="1547713" y="2439253"/>
            <a:ext cx="296997" cy="296997"/>
          </a:xfrm>
          <a:prstGeom prst="rect">
            <a:avLst/>
          </a:prstGeom>
        </p:spPr>
      </p:pic>
      <p:sp>
        <p:nvSpPr>
          <p:cNvPr id="39" name="Text 32"/>
          <p:cNvSpPr txBox="1"/>
          <p:nvPr/>
        </p:nvSpPr>
        <p:spPr>
          <a:xfrm>
            <a:off x="97840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Entitlement System</a:t>
            </a:r>
            <a:endParaRPr lang="en-US" sz="1200" dirty="0"/>
          </a:p>
        </p:txBody>
      </p:sp>
      <p:sp>
        <p:nvSpPr>
          <p:cNvPr id="40" name="Text 33"/>
          <p:cNvSpPr txBox="1"/>
          <p:nvPr/>
        </p:nvSpPr>
        <p:spPr>
          <a:xfrm>
            <a:off x="100584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Roles, users, departments, read-write rights</a:t>
            </a:r>
            <a:endParaRPr lang="en-US" sz="900" dirty="0"/>
          </a:p>
        </p:txBody>
      </p:sp>
      <p:sp>
        <p:nvSpPr>
          <p:cNvPr id="41" name="Shape 34"/>
          <p:cNvSpPr/>
          <p:nvPr/>
        </p:nvSpPr>
        <p:spPr>
          <a:xfrm>
            <a:off x="3739896" y="2212848"/>
            <a:ext cx="1527048" cy="1426464"/>
          </a:xfrm>
          <a:prstGeom prst="roundRect">
            <a:avLst>
              <a:gd name="adj" fmla="val 5128"/>
            </a:avLst>
          </a:prstGeom>
          <a:solidFill>
            <a:srgbClr val="FFFFFF"/>
          </a:solidFill>
          <a:ln w="9525">
            <a:solidFill>
              <a:srgbClr val="C8D8EC"/>
            </a:solidFill>
            <a:prstDash val="solid"/>
          </a:ln>
        </p:spPr>
      </p:sp>
      <p:sp>
        <p:nvSpPr>
          <p:cNvPr id="42" name="Shape 35"/>
          <p:cNvSpPr/>
          <p:nvPr/>
        </p:nvSpPr>
        <p:spPr>
          <a:xfrm>
            <a:off x="4238244" y="2322576"/>
            <a:ext cx="530352" cy="530352"/>
          </a:xfrm>
          <a:prstGeom prst="roundRect">
            <a:avLst>
              <a:gd name="adj" fmla="val 17241"/>
            </a:avLst>
          </a:prstGeom>
          <a:solidFill>
            <a:srgbClr val="2A6EBB"/>
          </a:solidFill>
          <a:ln w="12700">
            <a:solidFill>
              <a:srgbClr val="2A6EBB"/>
            </a:solidFill>
            <a:prstDash val="solid"/>
          </a:ln>
        </p:spPr>
      </p:sp>
      <p:pic>
        <p:nvPicPr>
          <p:cNvPr id="43" name="Image 5" descr="preencoded.png">    </p:cNvPr>
          <p:cNvPicPr>
            <a:picLocks noChangeAspect="1"/>
          </p:cNvPicPr>
          <p:nvPr/>
        </p:nvPicPr>
        <p:blipFill>
          <a:blip r:embed="rId6"/>
          <a:stretch>
            <a:fillRect/>
          </a:stretch>
        </p:blipFill>
        <p:spPr>
          <a:xfrm>
            <a:off x="4354921" y="2439253"/>
            <a:ext cx="296997" cy="296997"/>
          </a:xfrm>
          <a:prstGeom prst="rect">
            <a:avLst/>
          </a:prstGeom>
        </p:spPr>
      </p:pic>
      <p:sp>
        <p:nvSpPr>
          <p:cNvPr id="44" name="Text 36"/>
          <p:cNvSpPr txBox="1"/>
          <p:nvPr/>
        </p:nvSpPr>
        <p:spPr>
          <a:xfrm>
            <a:off x="378561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Cycle</a:t>
            </a:r>
            <a:endParaRPr lang="en-US" sz="1200" dirty="0"/>
          </a:p>
        </p:txBody>
      </p:sp>
      <p:sp>
        <p:nvSpPr>
          <p:cNvPr id="45" name="Text 37"/>
          <p:cNvSpPr txBox="1"/>
          <p:nvPr/>
        </p:nvSpPr>
        <p:spPr>
          <a:xfrm>
            <a:off x="381304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Certification campaign per application</a:t>
            </a:r>
            <a:endParaRPr lang="en-US" sz="900" dirty="0"/>
          </a:p>
        </p:txBody>
      </p:sp>
      <p:sp>
        <p:nvSpPr>
          <p:cNvPr id="46" name="Shape 38"/>
          <p:cNvSpPr/>
          <p:nvPr/>
        </p:nvSpPr>
        <p:spPr>
          <a:xfrm>
            <a:off x="6556248" y="2212848"/>
            <a:ext cx="1527048" cy="1426464"/>
          </a:xfrm>
          <a:prstGeom prst="roundRect">
            <a:avLst>
              <a:gd name="adj" fmla="val 5128"/>
            </a:avLst>
          </a:prstGeom>
          <a:solidFill>
            <a:srgbClr val="FFFFFF"/>
          </a:solidFill>
          <a:ln w="9525">
            <a:solidFill>
              <a:srgbClr val="C8D8EC"/>
            </a:solidFill>
            <a:prstDash val="solid"/>
          </a:ln>
        </p:spPr>
      </p:sp>
      <p:sp>
        <p:nvSpPr>
          <p:cNvPr id="47" name="Shape 39"/>
          <p:cNvSpPr/>
          <p:nvPr/>
        </p:nvSpPr>
        <p:spPr>
          <a:xfrm>
            <a:off x="7054596" y="2322576"/>
            <a:ext cx="530352" cy="530352"/>
          </a:xfrm>
          <a:prstGeom prst="roundRect">
            <a:avLst>
              <a:gd name="adj" fmla="val 17241"/>
            </a:avLst>
          </a:prstGeom>
          <a:solidFill>
            <a:srgbClr val="1E8A5A"/>
          </a:solidFill>
          <a:ln w="12700">
            <a:solidFill>
              <a:srgbClr val="1E8A5A"/>
            </a:solidFill>
            <a:prstDash val="solid"/>
          </a:ln>
        </p:spPr>
      </p:sp>
      <p:pic>
        <p:nvPicPr>
          <p:cNvPr id="48" name="Image 6" descr="preencoded.png">    </p:cNvPr>
          <p:cNvPicPr>
            <a:picLocks noChangeAspect="1"/>
          </p:cNvPicPr>
          <p:nvPr/>
        </p:nvPicPr>
        <p:blipFill>
          <a:blip r:embed="rId7"/>
          <a:stretch>
            <a:fillRect/>
          </a:stretch>
        </p:blipFill>
        <p:spPr>
          <a:xfrm>
            <a:off x="7171273" y="2439253"/>
            <a:ext cx="296997" cy="296997"/>
          </a:xfrm>
          <a:prstGeom prst="rect">
            <a:avLst/>
          </a:prstGeom>
        </p:spPr>
      </p:pic>
      <p:sp>
        <p:nvSpPr>
          <p:cNvPr id="49" name="Text 40"/>
          <p:cNvSpPr txBox="1"/>
          <p:nvPr/>
        </p:nvSpPr>
        <p:spPr>
          <a:xfrm>
            <a:off x="6601968"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Agent</a:t>
            </a:r>
            <a:endParaRPr lang="en-US" sz="1200" dirty="0"/>
          </a:p>
        </p:txBody>
      </p:sp>
      <p:sp>
        <p:nvSpPr>
          <p:cNvPr id="50" name="Text 41"/>
          <p:cNvSpPr txBox="1"/>
          <p:nvPr/>
        </p:nvSpPr>
        <p:spPr>
          <a:xfrm>
            <a:off x="6629400"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Orchestrates pre-review per campaign</a:t>
            </a:r>
            <a:endParaRPr lang="en-US" sz="900" dirty="0"/>
          </a:p>
        </p:txBody>
      </p:sp>
      <p:sp>
        <p:nvSpPr>
          <p:cNvPr id="51" name="Shape 42"/>
          <p:cNvSpPr/>
          <p:nvPr/>
        </p:nvSpPr>
        <p:spPr>
          <a:xfrm>
            <a:off x="9363456" y="2212848"/>
            <a:ext cx="1527048" cy="1426464"/>
          </a:xfrm>
          <a:prstGeom prst="roundRect">
            <a:avLst>
              <a:gd name="adj" fmla="val 5128"/>
            </a:avLst>
          </a:prstGeom>
          <a:solidFill>
            <a:srgbClr val="FFFFFF"/>
          </a:solidFill>
          <a:ln w="9525">
            <a:solidFill>
              <a:srgbClr val="C8D8EC"/>
            </a:solidFill>
            <a:prstDash val="solid"/>
          </a:ln>
        </p:spPr>
      </p:sp>
      <p:sp>
        <p:nvSpPr>
          <p:cNvPr id="52" name="Shape 43"/>
          <p:cNvSpPr/>
          <p:nvPr/>
        </p:nvSpPr>
        <p:spPr>
          <a:xfrm>
            <a:off x="9861804" y="2322576"/>
            <a:ext cx="530352" cy="530352"/>
          </a:xfrm>
          <a:prstGeom prst="roundRect">
            <a:avLst>
              <a:gd name="adj" fmla="val 17241"/>
            </a:avLst>
          </a:prstGeom>
          <a:solidFill>
            <a:srgbClr val="5B4FA8"/>
          </a:solidFill>
          <a:ln w="12700">
            <a:solidFill>
              <a:srgbClr val="5B4FA8"/>
            </a:solidFill>
            <a:prstDash val="solid"/>
          </a:ln>
        </p:spPr>
      </p:sp>
      <p:pic>
        <p:nvPicPr>
          <p:cNvPr id="53" name="Image 7" descr="preencoded.png">    </p:cNvPr>
          <p:cNvPicPr>
            <a:picLocks noChangeAspect="1"/>
          </p:cNvPicPr>
          <p:nvPr/>
        </p:nvPicPr>
        <p:blipFill>
          <a:blip r:embed="rId8"/>
          <a:stretch>
            <a:fillRect/>
          </a:stretch>
        </p:blipFill>
        <p:spPr>
          <a:xfrm>
            <a:off x="9978481" y="2439253"/>
            <a:ext cx="296997" cy="296997"/>
          </a:xfrm>
          <a:prstGeom prst="rect">
            <a:avLst/>
          </a:prstGeom>
        </p:spPr>
      </p:pic>
      <p:sp>
        <p:nvSpPr>
          <p:cNvPr id="54" name="Text 44"/>
          <p:cNvSpPr txBox="1"/>
          <p:nvPr/>
        </p:nvSpPr>
        <p:spPr>
          <a:xfrm>
            <a:off x="9409176"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a:t>
            </a:r>
            <a:endParaRPr lang="en-US" sz="1200" dirty="0"/>
          </a:p>
        </p:txBody>
      </p:sp>
      <p:sp>
        <p:nvSpPr>
          <p:cNvPr id="55" name="Text 45"/>
          <p:cNvSpPr txBox="1"/>
          <p:nvPr/>
        </p:nvSpPr>
        <p:spPr>
          <a:xfrm>
            <a:off x="9436608"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Flag SoD conflicts, stale and excess access</a:t>
            </a:r>
            <a:endParaRPr lang="en-US" sz="900" dirty="0"/>
          </a:p>
        </p:txBody>
      </p:sp>
      <p:sp>
        <p:nvSpPr>
          <p:cNvPr id="56" name="Shape 46"/>
          <p:cNvSpPr/>
          <p:nvPr/>
        </p:nvSpPr>
        <p:spPr>
          <a:xfrm>
            <a:off x="12170664" y="2212848"/>
            <a:ext cx="1527048" cy="1426464"/>
          </a:xfrm>
          <a:prstGeom prst="roundRect">
            <a:avLst>
              <a:gd name="adj" fmla="val 5128"/>
            </a:avLst>
          </a:prstGeom>
          <a:solidFill>
            <a:srgbClr val="FFFFFF"/>
          </a:solidFill>
          <a:ln w="9525">
            <a:solidFill>
              <a:srgbClr val="C8D8EC"/>
            </a:solidFill>
            <a:prstDash val="solid"/>
          </a:ln>
        </p:spPr>
      </p:sp>
      <p:sp>
        <p:nvSpPr>
          <p:cNvPr id="57" name="Shape 47"/>
          <p:cNvSpPr/>
          <p:nvPr/>
        </p:nvSpPr>
        <p:spPr>
          <a:xfrm>
            <a:off x="12669012" y="2322576"/>
            <a:ext cx="530352" cy="530352"/>
          </a:xfrm>
          <a:prstGeom prst="roundRect">
            <a:avLst>
              <a:gd name="adj" fmla="val 17241"/>
            </a:avLst>
          </a:prstGeom>
          <a:solidFill>
            <a:srgbClr val="1F6FB5"/>
          </a:solidFill>
          <a:ln w="12700">
            <a:solidFill>
              <a:srgbClr val="1F6FB5"/>
            </a:solidFill>
            <a:prstDash val="solid"/>
          </a:ln>
        </p:spPr>
      </p:sp>
      <p:pic>
        <p:nvPicPr>
          <p:cNvPr id="58" name="Image 8" descr="preencoded.png">    </p:cNvPr>
          <p:cNvPicPr>
            <a:picLocks noChangeAspect="1"/>
          </p:cNvPicPr>
          <p:nvPr/>
        </p:nvPicPr>
        <p:blipFill>
          <a:blip r:embed="rId9"/>
          <a:stretch>
            <a:fillRect/>
          </a:stretch>
        </p:blipFill>
        <p:spPr>
          <a:xfrm>
            <a:off x="12785689" y="2439253"/>
            <a:ext cx="296997" cy="296997"/>
          </a:xfrm>
          <a:prstGeom prst="rect">
            <a:avLst/>
          </a:prstGeom>
        </p:spPr>
      </p:pic>
      <p:sp>
        <p:nvSpPr>
          <p:cNvPr id="59" name="Text 48"/>
          <p:cNvSpPr txBox="1"/>
          <p:nvPr/>
        </p:nvSpPr>
        <p:spPr>
          <a:xfrm>
            <a:off x="12216384" y="2916936"/>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Review UI</a:t>
            </a:r>
            <a:endParaRPr lang="en-US" sz="1200" dirty="0"/>
          </a:p>
        </p:txBody>
      </p:sp>
      <p:sp>
        <p:nvSpPr>
          <p:cNvPr id="60" name="Text 49"/>
          <p:cNvSpPr txBox="1"/>
          <p:nvPr/>
        </p:nvSpPr>
        <p:spPr>
          <a:xfrm>
            <a:off x="12243816" y="3127248"/>
            <a:ext cx="1380744" cy="466344"/>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Pre-reviewed items and chat per campaign</a:t>
            </a:r>
            <a:endParaRPr lang="en-US" sz="900" dirty="0"/>
          </a:p>
        </p:txBody>
      </p:sp>
      <p:sp>
        <p:nvSpPr>
          <p:cNvPr id="61" name="Shape 50"/>
          <p:cNvSpPr/>
          <p:nvPr/>
        </p:nvSpPr>
        <p:spPr>
          <a:xfrm>
            <a:off x="932688" y="4645152"/>
            <a:ext cx="1527048" cy="1261872"/>
          </a:xfrm>
          <a:prstGeom prst="roundRect">
            <a:avLst>
              <a:gd name="adj" fmla="val 5797"/>
            </a:avLst>
          </a:prstGeom>
          <a:solidFill>
            <a:srgbClr val="FFFFFF"/>
          </a:solidFill>
          <a:ln w="9525">
            <a:solidFill>
              <a:srgbClr val="C8D8EC"/>
            </a:solidFill>
            <a:prstDash val="solid"/>
          </a:ln>
        </p:spPr>
      </p:sp>
      <p:sp>
        <p:nvSpPr>
          <p:cNvPr id="62" name="Shape 51"/>
          <p:cNvSpPr/>
          <p:nvPr/>
        </p:nvSpPr>
        <p:spPr>
          <a:xfrm>
            <a:off x="1431036" y="4754880"/>
            <a:ext cx="530352" cy="530352"/>
          </a:xfrm>
          <a:prstGeom prst="roundRect">
            <a:avLst>
              <a:gd name="adj" fmla="val 17241"/>
            </a:avLst>
          </a:prstGeom>
          <a:solidFill>
            <a:srgbClr val="4F7BB5"/>
          </a:solidFill>
          <a:ln w="12700">
            <a:solidFill>
              <a:srgbClr val="4F7BB5"/>
            </a:solidFill>
            <a:prstDash val="solid"/>
          </a:ln>
        </p:spPr>
      </p:sp>
      <p:pic>
        <p:nvPicPr>
          <p:cNvPr id="63" name="Image 9" descr="preencoded.png">    </p:cNvPr>
          <p:cNvPicPr>
            <a:picLocks noChangeAspect="1"/>
          </p:cNvPicPr>
          <p:nvPr/>
        </p:nvPicPr>
        <p:blipFill>
          <a:blip r:embed="rId10"/>
          <a:stretch>
            <a:fillRect/>
          </a:stretch>
        </p:blipFill>
        <p:spPr>
          <a:xfrm>
            <a:off x="1547713" y="4871557"/>
            <a:ext cx="296997" cy="296997"/>
          </a:xfrm>
          <a:prstGeom prst="rect">
            <a:avLst/>
          </a:prstGeom>
        </p:spPr>
      </p:pic>
      <p:sp>
        <p:nvSpPr>
          <p:cNvPr id="64" name="Text 52"/>
          <p:cNvSpPr txBox="1"/>
          <p:nvPr/>
        </p:nvSpPr>
        <p:spPr>
          <a:xfrm>
            <a:off x="97840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Envers Audit</a:t>
            </a:r>
            <a:endParaRPr lang="en-US" sz="1200" dirty="0"/>
          </a:p>
        </p:txBody>
      </p:sp>
      <p:sp>
        <p:nvSpPr>
          <p:cNvPr id="65" name="Text 53"/>
          <p:cNvSpPr txBox="1"/>
          <p:nvPr/>
        </p:nvSpPr>
        <p:spPr>
          <a:xfrm>
            <a:off x="100584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Full history of grants and changes</a:t>
            </a:r>
            <a:endParaRPr lang="en-US" sz="900" dirty="0"/>
          </a:p>
        </p:txBody>
      </p:sp>
      <p:sp>
        <p:nvSpPr>
          <p:cNvPr id="66" name="Shape 54"/>
          <p:cNvSpPr/>
          <p:nvPr/>
        </p:nvSpPr>
        <p:spPr>
          <a:xfrm>
            <a:off x="3739896" y="4645152"/>
            <a:ext cx="1527048" cy="1261872"/>
          </a:xfrm>
          <a:prstGeom prst="roundRect">
            <a:avLst>
              <a:gd name="adj" fmla="val 5797"/>
            </a:avLst>
          </a:prstGeom>
          <a:solidFill>
            <a:srgbClr val="FFFFFF"/>
          </a:solidFill>
          <a:ln w="9525">
            <a:solidFill>
              <a:srgbClr val="C8D8EC"/>
            </a:solidFill>
            <a:prstDash val="solid"/>
          </a:ln>
        </p:spPr>
      </p:sp>
      <p:sp>
        <p:nvSpPr>
          <p:cNvPr id="67" name="Shape 55"/>
          <p:cNvSpPr/>
          <p:nvPr/>
        </p:nvSpPr>
        <p:spPr>
          <a:xfrm>
            <a:off x="4238244" y="4754880"/>
            <a:ext cx="530352" cy="530352"/>
          </a:xfrm>
          <a:prstGeom prst="roundRect">
            <a:avLst>
              <a:gd name="adj" fmla="val 17241"/>
            </a:avLst>
          </a:prstGeom>
          <a:solidFill>
            <a:srgbClr val="3F86C8"/>
          </a:solidFill>
          <a:ln w="12700">
            <a:solidFill>
              <a:srgbClr val="3F86C8"/>
            </a:solidFill>
            <a:prstDash val="solid"/>
          </a:ln>
        </p:spPr>
      </p:sp>
      <p:pic>
        <p:nvPicPr>
          <p:cNvPr id="68" name="Image 10" descr="preencoded.png">    </p:cNvPr>
          <p:cNvPicPr>
            <a:picLocks noChangeAspect="1"/>
          </p:cNvPicPr>
          <p:nvPr/>
        </p:nvPicPr>
        <p:blipFill>
          <a:blip r:embed="rId11"/>
          <a:stretch>
            <a:fillRect/>
          </a:stretch>
        </p:blipFill>
        <p:spPr>
          <a:xfrm>
            <a:off x="4354921" y="4871557"/>
            <a:ext cx="296997" cy="296997"/>
          </a:xfrm>
          <a:prstGeom prst="rect">
            <a:avLst/>
          </a:prstGeom>
        </p:spPr>
      </p:pic>
      <p:sp>
        <p:nvSpPr>
          <p:cNvPr id="69" name="Text 56"/>
          <p:cNvSpPr txBox="1"/>
          <p:nvPr/>
        </p:nvSpPr>
        <p:spPr>
          <a:xfrm>
            <a:off x="3785616"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Joiner-Mover-Leaver</a:t>
            </a:r>
            <a:endParaRPr lang="en-US" sz="1200" dirty="0"/>
          </a:p>
        </p:txBody>
      </p:sp>
      <p:sp>
        <p:nvSpPr>
          <p:cNvPr id="70" name="Text 57"/>
          <p:cNvSpPr txBox="1"/>
          <p:nvPr/>
        </p:nvSpPr>
        <p:spPr>
          <a:xfrm>
            <a:off x="3813048"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HR and org change events</a:t>
            </a:r>
            <a:endParaRPr lang="en-US" sz="900" dirty="0"/>
          </a:p>
        </p:txBody>
      </p:sp>
      <p:sp>
        <p:nvSpPr>
          <p:cNvPr id="71" name="Shape 58"/>
          <p:cNvSpPr/>
          <p:nvPr/>
        </p:nvSpPr>
        <p:spPr>
          <a:xfrm>
            <a:off x="6556248" y="4645152"/>
            <a:ext cx="1527048" cy="1261872"/>
          </a:xfrm>
          <a:prstGeom prst="roundRect">
            <a:avLst>
              <a:gd name="adj" fmla="val 5797"/>
            </a:avLst>
          </a:prstGeom>
          <a:solidFill>
            <a:srgbClr val="FFFFFF"/>
          </a:solidFill>
          <a:ln w="9525">
            <a:solidFill>
              <a:srgbClr val="C8D8EC"/>
            </a:solidFill>
            <a:prstDash val="solid"/>
          </a:ln>
        </p:spPr>
      </p:sp>
      <p:sp>
        <p:nvSpPr>
          <p:cNvPr id="72" name="Shape 59"/>
          <p:cNvSpPr/>
          <p:nvPr/>
        </p:nvSpPr>
        <p:spPr>
          <a:xfrm>
            <a:off x="7054596" y="4754880"/>
            <a:ext cx="530352" cy="530352"/>
          </a:xfrm>
          <a:prstGeom prst="roundRect">
            <a:avLst>
              <a:gd name="adj" fmla="val 17241"/>
            </a:avLst>
          </a:prstGeom>
          <a:solidFill>
            <a:srgbClr val="1E8A5A"/>
          </a:solidFill>
          <a:ln w="12700">
            <a:solidFill>
              <a:srgbClr val="1E8A5A"/>
            </a:solidFill>
            <a:prstDash val="solid"/>
          </a:ln>
        </p:spPr>
      </p:sp>
      <p:pic>
        <p:nvPicPr>
          <p:cNvPr id="73" name="Image 11" descr="preencoded.png">    </p:cNvPr>
          <p:cNvPicPr>
            <a:picLocks noChangeAspect="1"/>
          </p:cNvPicPr>
          <p:nvPr/>
        </p:nvPicPr>
        <p:blipFill>
          <a:blip r:embed="rId12"/>
          <a:stretch>
            <a:fillRect/>
          </a:stretch>
        </p:blipFill>
        <p:spPr>
          <a:xfrm>
            <a:off x="7171273" y="4871557"/>
            <a:ext cx="296997" cy="296997"/>
          </a:xfrm>
          <a:prstGeom prst="rect">
            <a:avLst/>
          </a:prstGeom>
        </p:spPr>
      </p:pic>
      <p:sp>
        <p:nvSpPr>
          <p:cNvPr id="74" name="Text 60"/>
          <p:cNvSpPr txBox="1"/>
          <p:nvPr/>
        </p:nvSpPr>
        <p:spPr>
          <a:xfrm>
            <a:off x="6601968"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Scope Check</a:t>
            </a:r>
            <a:endParaRPr lang="en-US" sz="1200" dirty="0"/>
          </a:p>
        </p:txBody>
      </p:sp>
      <p:sp>
        <p:nvSpPr>
          <p:cNvPr id="75" name="Text 61"/>
          <p:cNvSpPr txBox="1"/>
          <p:nvPr/>
        </p:nvSpPr>
        <p:spPr>
          <a:xfrm>
            <a:off x="6629400"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Validates campaign scope</a:t>
            </a:r>
            <a:endParaRPr lang="en-US" sz="900" dirty="0"/>
          </a:p>
        </p:txBody>
      </p:sp>
      <p:sp>
        <p:nvSpPr>
          <p:cNvPr id="76" name="Shape 62"/>
          <p:cNvSpPr/>
          <p:nvPr/>
        </p:nvSpPr>
        <p:spPr>
          <a:xfrm>
            <a:off x="9015984" y="4645152"/>
            <a:ext cx="1051560" cy="1261872"/>
          </a:xfrm>
          <a:prstGeom prst="roundRect">
            <a:avLst>
              <a:gd name="adj" fmla="val 6957"/>
            </a:avLst>
          </a:prstGeom>
          <a:solidFill>
            <a:srgbClr val="FFFFFF"/>
          </a:solidFill>
          <a:ln w="9525">
            <a:solidFill>
              <a:srgbClr val="C8D8EC"/>
            </a:solidFill>
            <a:prstDash val="solid"/>
          </a:ln>
        </p:spPr>
      </p:sp>
      <p:sp>
        <p:nvSpPr>
          <p:cNvPr id="77" name="Shape 63"/>
          <p:cNvSpPr/>
          <p:nvPr/>
        </p:nvSpPr>
        <p:spPr>
          <a:xfrm>
            <a:off x="9276588" y="4754880"/>
            <a:ext cx="530352" cy="530352"/>
          </a:xfrm>
          <a:prstGeom prst="roundRect">
            <a:avLst>
              <a:gd name="adj" fmla="val 17241"/>
            </a:avLst>
          </a:prstGeom>
          <a:solidFill>
            <a:srgbClr val="5B4FA8"/>
          </a:solidFill>
          <a:ln w="12700">
            <a:solidFill>
              <a:srgbClr val="5B4FA8"/>
            </a:solidFill>
            <a:prstDash val="solid"/>
          </a:ln>
        </p:spPr>
      </p:sp>
      <p:pic>
        <p:nvPicPr>
          <p:cNvPr id="78" name="Image 12" descr="preencoded.png">    </p:cNvPr>
          <p:cNvPicPr>
            <a:picLocks noChangeAspect="1"/>
          </p:cNvPicPr>
          <p:nvPr/>
        </p:nvPicPr>
        <p:blipFill>
          <a:blip r:embed="rId13"/>
          <a:stretch>
            <a:fillRect/>
          </a:stretch>
        </p:blipFill>
        <p:spPr>
          <a:xfrm>
            <a:off x="9393265" y="4871557"/>
            <a:ext cx="296997" cy="296997"/>
          </a:xfrm>
          <a:prstGeom prst="rect">
            <a:avLst/>
          </a:prstGeom>
        </p:spPr>
      </p:pic>
      <p:sp>
        <p:nvSpPr>
          <p:cNvPr id="79" name="Text 64"/>
          <p:cNvSpPr txBox="1"/>
          <p:nvPr/>
        </p:nvSpPr>
        <p:spPr>
          <a:xfrm>
            <a:off x="9061704"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Data (MCP)</a:t>
            </a:r>
            <a:endParaRPr lang="en-US" sz="1050" dirty="0"/>
          </a:p>
        </p:txBody>
      </p:sp>
      <p:sp>
        <p:nvSpPr>
          <p:cNvPr id="80" name="Text 65"/>
          <p:cNvSpPr txBox="1"/>
          <p:nvPr/>
        </p:nvSpPr>
        <p:spPr>
          <a:xfrm>
            <a:off x="9089136"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Entitlements, org, history</a:t>
            </a:r>
            <a:endParaRPr lang="en-US" sz="900" dirty="0"/>
          </a:p>
        </p:txBody>
      </p:sp>
      <p:sp>
        <p:nvSpPr>
          <p:cNvPr id="81" name="Shape 66"/>
          <p:cNvSpPr/>
          <p:nvPr/>
        </p:nvSpPr>
        <p:spPr>
          <a:xfrm>
            <a:off x="10149840" y="4645152"/>
            <a:ext cx="1051560" cy="1261872"/>
          </a:xfrm>
          <a:prstGeom prst="roundRect">
            <a:avLst>
              <a:gd name="adj" fmla="val 6957"/>
            </a:avLst>
          </a:prstGeom>
          <a:solidFill>
            <a:srgbClr val="FFFFFF"/>
          </a:solidFill>
          <a:ln w="9525">
            <a:solidFill>
              <a:srgbClr val="C8D8EC"/>
            </a:solidFill>
            <a:prstDash val="solid"/>
          </a:ln>
        </p:spPr>
      </p:sp>
      <p:sp>
        <p:nvSpPr>
          <p:cNvPr id="82" name="Shape 67"/>
          <p:cNvSpPr/>
          <p:nvPr/>
        </p:nvSpPr>
        <p:spPr>
          <a:xfrm>
            <a:off x="10410444" y="4754880"/>
            <a:ext cx="530352" cy="530352"/>
          </a:xfrm>
          <a:prstGeom prst="roundRect">
            <a:avLst>
              <a:gd name="adj" fmla="val 17241"/>
            </a:avLst>
          </a:prstGeom>
          <a:solidFill>
            <a:srgbClr val="C0392B"/>
          </a:solidFill>
          <a:ln w="12700">
            <a:solidFill>
              <a:srgbClr val="C0392B"/>
            </a:solidFill>
            <a:prstDash val="solid"/>
          </a:ln>
        </p:spPr>
      </p:sp>
      <p:pic>
        <p:nvPicPr>
          <p:cNvPr id="83" name="Image 13" descr="preencoded.png">    </p:cNvPr>
          <p:cNvPicPr>
            <a:picLocks noChangeAspect="1"/>
          </p:cNvPicPr>
          <p:nvPr/>
        </p:nvPicPr>
        <p:blipFill>
          <a:blip r:embed="rId14"/>
          <a:stretch>
            <a:fillRect/>
          </a:stretch>
        </p:blipFill>
        <p:spPr>
          <a:xfrm>
            <a:off x="10527121" y="4871557"/>
            <a:ext cx="296997" cy="296997"/>
          </a:xfrm>
          <a:prstGeom prst="rect">
            <a:avLst/>
          </a:prstGeom>
        </p:spPr>
      </p:pic>
      <p:sp>
        <p:nvSpPr>
          <p:cNvPr id="84" name="Text 68"/>
          <p:cNvSpPr txBox="1"/>
          <p:nvPr/>
        </p:nvSpPr>
        <p:spPr>
          <a:xfrm>
            <a:off x="10195560" y="5349240"/>
            <a:ext cx="960120" cy="210312"/>
          </a:xfrm>
          <a:prstGeom prst="rect">
            <a:avLst/>
          </a:prstGeom>
          <a:noFill/>
          <a:ln/>
        </p:spPr>
        <p:txBody>
          <a:bodyPr wrap="square" lIns="0" tIns="0" rIns="0" bIns="0" rtlCol="0" anchor="ctr"/>
          <a:lstStyle/>
          <a:p>
            <a:pPr algn="ctr" indent="0" marL="0">
              <a:buNone/>
            </a:pPr>
            <a:r>
              <a:rPr lang="en-US" sz="1050" b="1" dirty="0">
                <a:solidFill>
                  <a:srgbClr val="1F2D3D"/>
                </a:solidFill>
                <a:latin typeface="Calibri" pitchFamily="34" charset="0"/>
                <a:ea typeface="Calibri" pitchFamily="34" charset="-122"/>
                <a:cs typeface="Calibri" pitchFamily="34" charset="-120"/>
              </a:rPr>
              <a:t>Ent. API</a:t>
            </a:r>
            <a:endParaRPr lang="en-US" sz="1050" dirty="0"/>
          </a:p>
        </p:txBody>
      </p:sp>
      <p:sp>
        <p:nvSpPr>
          <p:cNvPr id="85" name="Text 69"/>
          <p:cNvSpPr txBox="1"/>
          <p:nvPr/>
        </p:nvSpPr>
        <p:spPr>
          <a:xfrm>
            <a:off x="10222992" y="5559552"/>
            <a:ext cx="905256"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Revokes or updates access</a:t>
            </a:r>
            <a:endParaRPr lang="en-US" sz="900" dirty="0"/>
          </a:p>
        </p:txBody>
      </p:sp>
      <p:sp>
        <p:nvSpPr>
          <p:cNvPr id="86" name="Shape 70"/>
          <p:cNvSpPr/>
          <p:nvPr/>
        </p:nvSpPr>
        <p:spPr>
          <a:xfrm>
            <a:off x="12170664" y="4645152"/>
            <a:ext cx="1527048" cy="1261872"/>
          </a:xfrm>
          <a:prstGeom prst="roundRect">
            <a:avLst>
              <a:gd name="adj" fmla="val 5797"/>
            </a:avLst>
          </a:prstGeom>
          <a:solidFill>
            <a:srgbClr val="FFFFFF"/>
          </a:solidFill>
          <a:ln w="9525">
            <a:solidFill>
              <a:srgbClr val="C8D8EC"/>
            </a:solidFill>
            <a:prstDash val="solid"/>
          </a:ln>
        </p:spPr>
      </p:sp>
      <p:sp>
        <p:nvSpPr>
          <p:cNvPr id="87" name="Shape 71"/>
          <p:cNvSpPr/>
          <p:nvPr/>
        </p:nvSpPr>
        <p:spPr>
          <a:xfrm>
            <a:off x="12669012" y="4754880"/>
            <a:ext cx="530352" cy="530352"/>
          </a:xfrm>
          <a:prstGeom prst="roundRect">
            <a:avLst>
              <a:gd name="adj" fmla="val 17241"/>
            </a:avLst>
          </a:prstGeom>
          <a:solidFill>
            <a:srgbClr val="1F6FB5"/>
          </a:solidFill>
          <a:ln w="12700">
            <a:solidFill>
              <a:srgbClr val="1F6FB5"/>
            </a:solidFill>
            <a:prstDash val="solid"/>
          </a:ln>
        </p:spPr>
      </p:sp>
      <p:pic>
        <p:nvPicPr>
          <p:cNvPr id="88" name="Image 14" descr="preencoded.png">    </p:cNvPr>
          <p:cNvPicPr>
            <a:picLocks noChangeAspect="1"/>
          </p:cNvPicPr>
          <p:nvPr/>
        </p:nvPicPr>
        <p:blipFill>
          <a:blip r:embed="rId15"/>
          <a:stretch>
            <a:fillRect/>
          </a:stretch>
        </p:blipFill>
        <p:spPr>
          <a:xfrm>
            <a:off x="12785689" y="4871557"/>
            <a:ext cx="296997" cy="296997"/>
          </a:xfrm>
          <a:prstGeom prst="rect">
            <a:avLst/>
          </a:prstGeom>
        </p:spPr>
      </p:pic>
      <p:sp>
        <p:nvSpPr>
          <p:cNvPr id="89" name="Text 72"/>
          <p:cNvSpPr txBox="1"/>
          <p:nvPr/>
        </p:nvSpPr>
        <p:spPr>
          <a:xfrm>
            <a:off x="12216384" y="5349240"/>
            <a:ext cx="1435608" cy="210312"/>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Approver</a:t>
            </a:r>
            <a:endParaRPr lang="en-US" sz="1200" dirty="0"/>
          </a:p>
        </p:txBody>
      </p:sp>
      <p:sp>
        <p:nvSpPr>
          <p:cNvPr id="90" name="Text 73"/>
          <p:cNvSpPr txBox="1"/>
          <p:nvPr/>
        </p:nvSpPr>
        <p:spPr>
          <a:xfrm>
            <a:off x="12243816" y="5559552"/>
            <a:ext cx="1380744" cy="301752"/>
          </a:xfrm>
          <a:prstGeom prst="rect">
            <a:avLst/>
          </a:prstGeom>
          <a:noFill/>
          <a:ln/>
        </p:spPr>
        <p:txBody>
          <a:bodyPr wrap="square" lIns="0" tIns="0" rIns="0" bIns="0" rtlCol="0" anchor="t"/>
          <a:lstStyle/>
          <a:p>
            <a:pPr algn="ctr" indent="0" marL="0">
              <a:buNone/>
            </a:pPr>
            <a:r>
              <a:rPr lang="en-US" sz="900" dirty="0">
                <a:solidFill>
                  <a:srgbClr val="4A5A6E"/>
                </a:solidFill>
                <a:latin typeface="Calibri" pitchFamily="34" charset="0"/>
                <a:ea typeface="Calibri" pitchFamily="34" charset="-122"/>
                <a:cs typeface="Calibri" pitchFamily="34" charset="-120"/>
              </a:rPr>
              <a:t>Certifies or revokes each item</a:t>
            </a:r>
            <a:endParaRPr lang="en-US" sz="900" dirty="0"/>
          </a:p>
        </p:txBody>
      </p:sp>
      <p:sp>
        <p:nvSpPr>
          <p:cNvPr id="91" name="Shape 74"/>
          <p:cNvSpPr/>
          <p:nvPr/>
        </p:nvSpPr>
        <p:spPr>
          <a:xfrm>
            <a:off x="2459736" y="2615184"/>
            <a:ext cx="1280160" cy="0"/>
          </a:xfrm>
          <a:prstGeom prst="line">
            <a:avLst/>
          </a:prstGeom>
          <a:noFill/>
          <a:ln w="19050">
            <a:solidFill>
              <a:srgbClr val="1F4E8C"/>
            </a:solidFill>
            <a:prstDash val="solid"/>
            <a:tailEnd type="triangle"/>
          </a:ln>
        </p:spPr>
      </p:sp>
      <p:sp>
        <p:nvSpPr>
          <p:cNvPr id="92" name="Shape 75"/>
          <p:cNvSpPr/>
          <p:nvPr/>
        </p:nvSpPr>
        <p:spPr>
          <a:xfrm>
            <a:off x="2532888" y="2286000"/>
            <a:ext cx="219456" cy="219456"/>
          </a:xfrm>
          <a:prstGeom prst="ellipse">
            <a:avLst/>
          </a:prstGeom>
          <a:solidFill>
            <a:srgbClr val="1F4E8C"/>
          </a:solidFill>
          <a:ln w="12700">
            <a:solidFill>
              <a:srgbClr val="1F4E8C"/>
            </a:solidFill>
            <a:prstDash val="solid"/>
          </a:ln>
        </p:spPr>
      </p:sp>
      <p:sp>
        <p:nvSpPr>
          <p:cNvPr id="93" name="Text 76"/>
          <p:cNvSpPr txBox="1"/>
          <p:nvPr/>
        </p:nvSpPr>
        <p:spPr>
          <a:xfrm>
            <a:off x="253288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94" name="Text 77"/>
          <p:cNvSpPr txBox="1"/>
          <p:nvPr/>
        </p:nvSpPr>
        <p:spPr>
          <a:xfrm>
            <a:off x="278892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Access snapshot</a:t>
            </a:r>
            <a:endParaRPr lang="en-US" sz="900" dirty="0"/>
          </a:p>
        </p:txBody>
      </p:sp>
      <p:sp>
        <p:nvSpPr>
          <p:cNvPr id="95" name="Shape 78"/>
          <p:cNvSpPr/>
          <p:nvPr/>
        </p:nvSpPr>
        <p:spPr>
          <a:xfrm>
            <a:off x="5266944" y="2615184"/>
            <a:ext cx="1289304" cy="0"/>
          </a:xfrm>
          <a:prstGeom prst="line">
            <a:avLst/>
          </a:prstGeom>
          <a:noFill/>
          <a:ln w="19050">
            <a:solidFill>
              <a:srgbClr val="2A6EBB"/>
            </a:solidFill>
            <a:prstDash val="solid"/>
            <a:tailEnd type="triangle"/>
          </a:ln>
        </p:spPr>
      </p:sp>
      <p:sp>
        <p:nvSpPr>
          <p:cNvPr id="96" name="Shape 79"/>
          <p:cNvSpPr/>
          <p:nvPr/>
        </p:nvSpPr>
        <p:spPr>
          <a:xfrm>
            <a:off x="5340096" y="2286000"/>
            <a:ext cx="219456" cy="219456"/>
          </a:xfrm>
          <a:prstGeom prst="ellipse">
            <a:avLst/>
          </a:prstGeom>
          <a:solidFill>
            <a:srgbClr val="2A6EBB"/>
          </a:solidFill>
          <a:ln w="12700">
            <a:solidFill>
              <a:srgbClr val="2A6EBB"/>
            </a:solidFill>
            <a:prstDash val="solid"/>
          </a:ln>
        </p:spPr>
      </p:sp>
      <p:sp>
        <p:nvSpPr>
          <p:cNvPr id="97" name="Text 80"/>
          <p:cNvSpPr txBox="1"/>
          <p:nvPr/>
        </p:nvSpPr>
        <p:spPr>
          <a:xfrm>
            <a:off x="534009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98" name="Text 81"/>
          <p:cNvSpPr txBox="1"/>
          <p:nvPr/>
        </p:nvSpPr>
        <p:spPr>
          <a:xfrm>
            <a:off x="5596128" y="2029968"/>
            <a:ext cx="923544"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Campaign start event</a:t>
            </a:r>
            <a:endParaRPr lang="en-US" sz="900" dirty="0"/>
          </a:p>
        </p:txBody>
      </p:sp>
      <p:sp>
        <p:nvSpPr>
          <p:cNvPr id="99" name="Shape 82"/>
          <p:cNvSpPr/>
          <p:nvPr/>
        </p:nvSpPr>
        <p:spPr>
          <a:xfrm>
            <a:off x="8083296" y="2615184"/>
            <a:ext cx="1280160" cy="0"/>
          </a:xfrm>
          <a:prstGeom prst="line">
            <a:avLst/>
          </a:prstGeom>
          <a:noFill/>
          <a:ln w="19050">
            <a:solidFill>
              <a:srgbClr val="1E8A5A"/>
            </a:solidFill>
            <a:prstDash val="solid"/>
            <a:tailEnd type="triangle"/>
          </a:ln>
        </p:spPr>
      </p:sp>
      <p:sp>
        <p:nvSpPr>
          <p:cNvPr id="100" name="Shape 83"/>
          <p:cNvSpPr/>
          <p:nvPr/>
        </p:nvSpPr>
        <p:spPr>
          <a:xfrm>
            <a:off x="8156448" y="2286000"/>
            <a:ext cx="219456" cy="219456"/>
          </a:xfrm>
          <a:prstGeom prst="ellipse">
            <a:avLst/>
          </a:prstGeom>
          <a:solidFill>
            <a:srgbClr val="1E8A5A"/>
          </a:solidFill>
          <a:ln w="12700">
            <a:solidFill>
              <a:srgbClr val="1E8A5A"/>
            </a:solidFill>
            <a:prstDash val="solid"/>
          </a:ln>
        </p:spPr>
      </p:sp>
      <p:sp>
        <p:nvSpPr>
          <p:cNvPr id="101" name="Text 84"/>
          <p:cNvSpPr txBox="1"/>
          <p:nvPr/>
        </p:nvSpPr>
        <p:spPr>
          <a:xfrm>
            <a:off x="8156448"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02" name="Text 85"/>
          <p:cNvSpPr txBox="1"/>
          <p:nvPr/>
        </p:nvSpPr>
        <p:spPr>
          <a:xfrm>
            <a:off x="8412480"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Start pre-review session</a:t>
            </a:r>
            <a:endParaRPr lang="en-US" sz="900" dirty="0"/>
          </a:p>
        </p:txBody>
      </p:sp>
      <p:sp>
        <p:nvSpPr>
          <p:cNvPr id="103" name="Shape 86"/>
          <p:cNvSpPr/>
          <p:nvPr/>
        </p:nvSpPr>
        <p:spPr>
          <a:xfrm>
            <a:off x="10890504" y="2615184"/>
            <a:ext cx="1280160" cy="0"/>
          </a:xfrm>
          <a:prstGeom prst="line">
            <a:avLst/>
          </a:prstGeom>
          <a:noFill/>
          <a:ln w="19050">
            <a:solidFill>
              <a:srgbClr val="5B4FA8"/>
            </a:solidFill>
            <a:prstDash val="solid"/>
            <a:tailEnd type="triangle"/>
          </a:ln>
        </p:spPr>
      </p:sp>
      <p:sp>
        <p:nvSpPr>
          <p:cNvPr id="104" name="Shape 87"/>
          <p:cNvSpPr/>
          <p:nvPr/>
        </p:nvSpPr>
        <p:spPr>
          <a:xfrm>
            <a:off x="10963656" y="2286000"/>
            <a:ext cx="219456" cy="219456"/>
          </a:xfrm>
          <a:prstGeom prst="ellipse">
            <a:avLst/>
          </a:prstGeom>
          <a:solidFill>
            <a:srgbClr val="5B4FA8"/>
          </a:solidFill>
          <a:ln w="12700">
            <a:solidFill>
              <a:srgbClr val="5B4FA8"/>
            </a:solidFill>
            <a:prstDash val="solid"/>
          </a:ln>
        </p:spPr>
      </p:sp>
      <p:sp>
        <p:nvSpPr>
          <p:cNvPr id="105" name="Text 88"/>
          <p:cNvSpPr txBox="1"/>
          <p:nvPr/>
        </p:nvSpPr>
        <p:spPr>
          <a:xfrm>
            <a:off x="10963656" y="228600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106" name="Text 89"/>
          <p:cNvSpPr txBox="1"/>
          <p:nvPr/>
        </p:nvSpPr>
        <p:spPr>
          <a:xfrm>
            <a:off x="11219688" y="2029968"/>
            <a:ext cx="914400" cy="365760"/>
          </a:xfrm>
          <a:prstGeom prst="rect">
            <a:avLst/>
          </a:prstGeom>
          <a:solidFill>
            <a:srgbClr val="FFFFFF">
              <a:alpha val="0"/>
            </a:srgbClr>
          </a:solidFill>
          <a:ln/>
        </p:spPr>
        <p:txBody>
          <a:bodyPr wrap="square" lIns="0" tIns="0" rIns="0" bIns="0" rtlCol="0" anchor="b"/>
          <a:lstStyle/>
          <a:p>
            <a:pPr indent="0" marL="0">
              <a:buNone/>
            </a:pPr>
            <a:r>
              <a:rPr lang="en-US" sz="900" dirty="0">
                <a:solidFill>
                  <a:srgbClr val="1F2D3D"/>
                </a:solidFill>
                <a:latin typeface="Calibri" pitchFamily="34" charset="0"/>
                <a:ea typeface="Calibri" pitchFamily="34" charset="-122"/>
                <a:cs typeface="Calibri" pitchFamily="34" charset="-120"/>
              </a:rPr>
              <a:t>Pre-review published</a:t>
            </a:r>
            <a:endParaRPr lang="en-US" sz="900" dirty="0"/>
          </a:p>
        </p:txBody>
      </p:sp>
      <p:sp>
        <p:nvSpPr>
          <p:cNvPr id="107" name="Shape 90"/>
          <p:cNvSpPr/>
          <p:nvPr/>
        </p:nvSpPr>
        <p:spPr>
          <a:xfrm>
            <a:off x="10890504" y="3218688"/>
            <a:ext cx="1280160" cy="0"/>
          </a:xfrm>
          <a:prstGeom prst="line">
            <a:avLst/>
          </a:prstGeom>
          <a:noFill/>
          <a:ln w="19050">
            <a:solidFill>
              <a:srgbClr val="1F6FB5"/>
            </a:solidFill>
            <a:prstDash val="solid"/>
            <a:headEnd type="triangle"/>
          </a:ln>
        </p:spPr>
      </p:sp>
      <p:sp>
        <p:nvSpPr>
          <p:cNvPr id="108" name="Shape 91"/>
          <p:cNvSpPr/>
          <p:nvPr/>
        </p:nvSpPr>
        <p:spPr>
          <a:xfrm>
            <a:off x="10963656" y="3291840"/>
            <a:ext cx="219456" cy="219456"/>
          </a:xfrm>
          <a:prstGeom prst="ellipse">
            <a:avLst/>
          </a:prstGeom>
          <a:solidFill>
            <a:srgbClr val="1F6FB5"/>
          </a:solidFill>
          <a:ln w="12700">
            <a:solidFill>
              <a:srgbClr val="1F6FB5"/>
            </a:solidFill>
            <a:prstDash val="solid"/>
          </a:ln>
        </p:spPr>
      </p:sp>
      <p:sp>
        <p:nvSpPr>
          <p:cNvPr id="109" name="Text 92"/>
          <p:cNvSpPr txBox="1"/>
          <p:nvPr/>
        </p:nvSpPr>
        <p:spPr>
          <a:xfrm>
            <a:off x="10963656" y="329184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7</a:t>
            </a:r>
            <a:endParaRPr lang="en-US" sz="900" dirty="0"/>
          </a:p>
        </p:txBody>
      </p:sp>
      <p:sp>
        <p:nvSpPr>
          <p:cNvPr id="110" name="Text 93"/>
          <p:cNvSpPr txBox="1"/>
          <p:nvPr/>
        </p:nvSpPr>
        <p:spPr>
          <a:xfrm>
            <a:off x="11219688" y="3273552"/>
            <a:ext cx="914400" cy="36576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Q&amp;A and decision</a:t>
            </a:r>
            <a:endParaRPr lang="en-US" sz="900" dirty="0"/>
          </a:p>
        </p:txBody>
      </p:sp>
      <p:sp>
        <p:nvSpPr>
          <p:cNvPr id="111" name="Shape 94"/>
          <p:cNvSpPr/>
          <p:nvPr/>
        </p:nvSpPr>
        <p:spPr>
          <a:xfrm>
            <a:off x="1696212" y="3639312"/>
            <a:ext cx="0" cy="1005840"/>
          </a:xfrm>
          <a:prstGeom prst="line">
            <a:avLst/>
          </a:prstGeom>
          <a:noFill/>
          <a:ln w="15875">
            <a:solidFill>
              <a:srgbClr val="4F7BB5"/>
            </a:solidFill>
            <a:prstDash val="dash"/>
            <a:headEnd type="triangle"/>
          </a:ln>
        </p:spPr>
      </p:sp>
      <p:sp>
        <p:nvSpPr>
          <p:cNvPr id="112" name="Text 95"/>
          <p:cNvSpPr txBox="1"/>
          <p:nvPr/>
        </p:nvSpPr>
        <p:spPr>
          <a:xfrm>
            <a:off x="178765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History</a:t>
            </a:r>
            <a:endParaRPr lang="en-US" sz="900" dirty="0"/>
          </a:p>
        </p:txBody>
      </p:sp>
      <p:sp>
        <p:nvSpPr>
          <p:cNvPr id="113" name="Shape 96"/>
          <p:cNvSpPr/>
          <p:nvPr/>
        </p:nvSpPr>
        <p:spPr>
          <a:xfrm>
            <a:off x="4503420" y="3639312"/>
            <a:ext cx="0" cy="1005840"/>
          </a:xfrm>
          <a:prstGeom prst="line">
            <a:avLst/>
          </a:prstGeom>
          <a:noFill/>
          <a:ln w="15875">
            <a:solidFill>
              <a:srgbClr val="3F86C8"/>
            </a:solidFill>
            <a:prstDash val="dash"/>
            <a:tailEnd type="triangle"/>
          </a:ln>
        </p:spPr>
      </p:sp>
      <p:sp>
        <p:nvSpPr>
          <p:cNvPr id="114" name="Text 97"/>
          <p:cNvSpPr txBox="1"/>
          <p:nvPr/>
        </p:nvSpPr>
        <p:spPr>
          <a:xfrm>
            <a:off x="4594860"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Triggers</a:t>
            </a:r>
            <a:endParaRPr lang="en-US" sz="900" dirty="0"/>
          </a:p>
        </p:txBody>
      </p:sp>
      <p:sp>
        <p:nvSpPr>
          <p:cNvPr id="115" name="Shape 98"/>
          <p:cNvSpPr/>
          <p:nvPr/>
        </p:nvSpPr>
        <p:spPr>
          <a:xfrm>
            <a:off x="7319772" y="3639312"/>
            <a:ext cx="0" cy="1005840"/>
          </a:xfrm>
          <a:prstGeom prst="line">
            <a:avLst/>
          </a:prstGeom>
          <a:noFill/>
          <a:ln w="15875">
            <a:solidFill>
              <a:srgbClr val="1E8A5A"/>
            </a:solidFill>
            <a:prstDash val="dash"/>
            <a:tailEnd type="triangle"/>
          </a:ln>
        </p:spPr>
      </p:sp>
      <p:sp>
        <p:nvSpPr>
          <p:cNvPr id="116" name="Text 99"/>
          <p:cNvSpPr txBox="1"/>
          <p:nvPr/>
        </p:nvSpPr>
        <p:spPr>
          <a:xfrm>
            <a:off x="7411212" y="4005072"/>
            <a:ext cx="868680" cy="274320"/>
          </a:xfrm>
          <a:prstGeom prst="rect">
            <a:avLst/>
          </a:prstGeom>
          <a:noFill/>
          <a:ln/>
        </p:spPr>
        <p:txBody>
          <a:bodyPr wrap="square" lIns="0" tIns="0" rIns="0" bIns="0" rtlCol="0" anchor="ctr"/>
          <a:lstStyle/>
          <a:p>
            <a:pPr indent="0" marL="0">
              <a:buNone/>
            </a:pPr>
            <a:r>
              <a:rPr lang="en-US" sz="900" dirty="0">
                <a:solidFill>
                  <a:srgbClr val="1F2D3D"/>
                </a:solidFill>
                <a:latin typeface="Calibri" pitchFamily="34" charset="0"/>
                <a:ea typeface="Calibri" pitchFamily="34" charset="-122"/>
                <a:cs typeface="Calibri" pitchFamily="34" charset="-120"/>
              </a:rPr>
              <a:t>Checks</a:t>
            </a:r>
            <a:endParaRPr lang="en-US" sz="900" dirty="0"/>
          </a:p>
        </p:txBody>
      </p:sp>
      <p:sp>
        <p:nvSpPr>
          <p:cNvPr id="117" name="Shape 100"/>
          <p:cNvSpPr/>
          <p:nvPr/>
        </p:nvSpPr>
        <p:spPr>
          <a:xfrm>
            <a:off x="9326880" y="3639312"/>
            <a:ext cx="0" cy="1005840"/>
          </a:xfrm>
          <a:prstGeom prst="line">
            <a:avLst/>
          </a:prstGeom>
          <a:noFill/>
          <a:ln w="19050">
            <a:solidFill>
              <a:srgbClr val="5B4FA8"/>
            </a:solidFill>
            <a:prstDash val="solid"/>
            <a:tailEnd type="triangle"/>
          </a:ln>
        </p:spPr>
      </p:sp>
      <p:sp>
        <p:nvSpPr>
          <p:cNvPr id="118" name="Shape 101"/>
          <p:cNvSpPr/>
          <p:nvPr/>
        </p:nvSpPr>
        <p:spPr>
          <a:xfrm>
            <a:off x="9418320" y="3840480"/>
            <a:ext cx="219456" cy="219456"/>
          </a:xfrm>
          <a:prstGeom prst="ellipse">
            <a:avLst/>
          </a:prstGeom>
          <a:solidFill>
            <a:srgbClr val="5B4FA8"/>
          </a:solidFill>
          <a:ln w="12700">
            <a:solidFill>
              <a:srgbClr val="5B4FA8"/>
            </a:solidFill>
            <a:prstDash val="solid"/>
          </a:ln>
        </p:spPr>
      </p:sp>
      <p:sp>
        <p:nvSpPr>
          <p:cNvPr id="119" name="Text 102"/>
          <p:cNvSpPr txBox="1"/>
          <p:nvPr/>
        </p:nvSpPr>
        <p:spPr>
          <a:xfrm>
            <a:off x="9418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20" name="Text 103"/>
          <p:cNvSpPr txBox="1"/>
          <p:nvPr/>
        </p:nvSpPr>
        <p:spPr>
          <a:xfrm>
            <a:off x="9418320" y="4087368"/>
            <a:ext cx="685800" cy="4572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Fetch data</a:t>
            </a:r>
            <a:endParaRPr lang="en-US" sz="900" dirty="0"/>
          </a:p>
        </p:txBody>
      </p:sp>
      <p:sp>
        <p:nvSpPr>
          <p:cNvPr id="121" name="Shape 104"/>
          <p:cNvSpPr/>
          <p:nvPr/>
        </p:nvSpPr>
        <p:spPr>
          <a:xfrm>
            <a:off x="10469880" y="3639312"/>
            <a:ext cx="0" cy="1005840"/>
          </a:xfrm>
          <a:prstGeom prst="line">
            <a:avLst/>
          </a:prstGeom>
          <a:noFill/>
          <a:ln w="19050">
            <a:solidFill>
              <a:srgbClr val="C0392B"/>
            </a:solidFill>
            <a:prstDash val="solid"/>
            <a:tailEnd type="triangle"/>
          </a:ln>
        </p:spPr>
      </p:sp>
      <p:sp>
        <p:nvSpPr>
          <p:cNvPr id="122" name="Shape 105"/>
          <p:cNvSpPr/>
          <p:nvPr/>
        </p:nvSpPr>
        <p:spPr>
          <a:xfrm>
            <a:off x="10561320" y="3840480"/>
            <a:ext cx="219456" cy="219456"/>
          </a:xfrm>
          <a:prstGeom prst="ellipse">
            <a:avLst/>
          </a:prstGeom>
          <a:solidFill>
            <a:srgbClr val="C0392B"/>
          </a:solidFill>
          <a:ln w="12700">
            <a:solidFill>
              <a:srgbClr val="C0392B"/>
            </a:solidFill>
            <a:prstDash val="solid"/>
          </a:ln>
        </p:spPr>
      </p:sp>
      <p:sp>
        <p:nvSpPr>
          <p:cNvPr id="123" name="Text 106"/>
          <p:cNvSpPr txBox="1"/>
          <p:nvPr/>
        </p:nvSpPr>
        <p:spPr>
          <a:xfrm>
            <a:off x="10561320"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8</a:t>
            </a:r>
            <a:endParaRPr lang="en-US" sz="900" dirty="0"/>
          </a:p>
        </p:txBody>
      </p:sp>
      <p:sp>
        <p:nvSpPr>
          <p:cNvPr id="124" name="Text 107"/>
          <p:cNvSpPr txBox="1"/>
          <p:nvPr/>
        </p:nvSpPr>
        <p:spPr>
          <a:xfrm>
            <a:off x="10561320" y="4087368"/>
            <a:ext cx="713232" cy="50292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Apply approved revoke</a:t>
            </a:r>
            <a:endParaRPr lang="en-US" sz="900" dirty="0"/>
          </a:p>
        </p:txBody>
      </p:sp>
      <p:sp>
        <p:nvSpPr>
          <p:cNvPr id="125" name="Shape 108"/>
          <p:cNvSpPr/>
          <p:nvPr/>
        </p:nvSpPr>
        <p:spPr>
          <a:xfrm>
            <a:off x="12934188" y="3639312"/>
            <a:ext cx="0" cy="1005840"/>
          </a:xfrm>
          <a:prstGeom prst="line">
            <a:avLst/>
          </a:prstGeom>
          <a:noFill/>
          <a:ln w="19050">
            <a:solidFill>
              <a:srgbClr val="1F6FB5"/>
            </a:solidFill>
            <a:prstDash val="solid"/>
            <a:headEnd type="triangle"/>
          </a:ln>
        </p:spPr>
      </p:sp>
      <p:sp>
        <p:nvSpPr>
          <p:cNvPr id="126" name="Shape 109"/>
          <p:cNvSpPr/>
          <p:nvPr/>
        </p:nvSpPr>
        <p:spPr>
          <a:xfrm>
            <a:off x="13043916" y="3840480"/>
            <a:ext cx="219456" cy="219456"/>
          </a:xfrm>
          <a:prstGeom prst="ellipse">
            <a:avLst/>
          </a:prstGeom>
          <a:solidFill>
            <a:srgbClr val="1F6FB5"/>
          </a:solidFill>
          <a:ln w="12700">
            <a:solidFill>
              <a:srgbClr val="1F6FB5"/>
            </a:solidFill>
            <a:prstDash val="solid"/>
          </a:ln>
        </p:spPr>
      </p:sp>
      <p:sp>
        <p:nvSpPr>
          <p:cNvPr id="127" name="Text 110"/>
          <p:cNvSpPr txBox="1"/>
          <p:nvPr/>
        </p:nvSpPr>
        <p:spPr>
          <a:xfrm>
            <a:off x="13043916" y="3840480"/>
            <a:ext cx="2194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6</a:t>
            </a:r>
            <a:endParaRPr lang="en-US" sz="900" dirty="0"/>
          </a:p>
        </p:txBody>
      </p:sp>
      <p:sp>
        <p:nvSpPr>
          <p:cNvPr id="128" name="Text 111"/>
          <p:cNvSpPr txBox="1"/>
          <p:nvPr/>
        </p:nvSpPr>
        <p:spPr>
          <a:xfrm>
            <a:off x="13318236" y="3767328"/>
            <a:ext cx="822960" cy="685800"/>
          </a:xfrm>
          <a:prstGeom prst="rect">
            <a:avLst/>
          </a:prstGeom>
          <a:noFill/>
          <a:ln/>
        </p:spPr>
        <p:txBody>
          <a:bodyPr wrap="square" lIns="0" tIns="0" rIns="0" bIns="0" rtlCol="0" anchor="t"/>
          <a:lstStyle/>
          <a:p>
            <a:pPr indent="0" marL="0">
              <a:buNone/>
            </a:pPr>
            <a:r>
              <a:rPr lang="en-US" sz="900" dirty="0">
                <a:solidFill>
                  <a:srgbClr val="1F2D3D"/>
                </a:solidFill>
                <a:latin typeface="Calibri" pitchFamily="34" charset="0"/>
                <a:ea typeface="Calibri" pitchFamily="34" charset="-122"/>
                <a:cs typeface="Calibri" pitchFamily="34" charset="-120"/>
              </a:rPr>
              <a:t>Review, ask, certify</a:t>
            </a:r>
            <a:endParaRPr lang="en-US" sz="900" dirty="0"/>
          </a:p>
        </p:txBody>
      </p:sp>
      <p:sp>
        <p:nvSpPr>
          <p:cNvPr id="129" name="Shape 112"/>
          <p:cNvSpPr/>
          <p:nvPr/>
        </p:nvSpPr>
        <p:spPr>
          <a:xfrm>
            <a:off x="512064" y="6473952"/>
            <a:ext cx="5166360" cy="1234440"/>
          </a:xfrm>
          <a:prstGeom prst="roundRect">
            <a:avLst>
              <a:gd name="adj" fmla="val 4444"/>
            </a:avLst>
          </a:prstGeom>
          <a:solidFill>
            <a:srgbClr val="F1F4F8"/>
          </a:solidFill>
          <a:ln w="12700">
            <a:solidFill>
              <a:srgbClr val="6B7C93"/>
            </a:solidFill>
            <a:prstDash val="dash"/>
          </a:ln>
        </p:spPr>
      </p:sp>
      <p:sp>
        <p:nvSpPr>
          <p:cNvPr id="130" name="Text 113"/>
          <p:cNvSpPr txBox="1"/>
          <p:nvPr/>
        </p:nvSpPr>
        <p:spPr>
          <a:xfrm>
            <a:off x="630936" y="6547104"/>
            <a:ext cx="4892040"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31" name="Shape 114"/>
          <p:cNvSpPr/>
          <p:nvPr/>
        </p:nvSpPr>
        <p:spPr>
          <a:xfrm>
            <a:off x="630936" y="6812280"/>
            <a:ext cx="1783080" cy="795528"/>
          </a:xfrm>
          <a:prstGeom prst="roundRect">
            <a:avLst>
              <a:gd name="adj" fmla="val 9195"/>
            </a:avLst>
          </a:prstGeom>
          <a:solidFill>
            <a:srgbClr val="FFFFFF"/>
          </a:solidFill>
          <a:ln w="9525">
            <a:solidFill>
              <a:srgbClr val="C8D8EC"/>
            </a:solidFill>
            <a:prstDash val="solid"/>
          </a:ln>
        </p:spPr>
      </p:sp>
      <p:sp>
        <p:nvSpPr>
          <p:cNvPr id="132" name="Shape 115"/>
          <p:cNvSpPr/>
          <p:nvPr/>
        </p:nvSpPr>
        <p:spPr>
          <a:xfrm>
            <a:off x="740664" y="6949440"/>
            <a:ext cx="457200" cy="457200"/>
          </a:xfrm>
          <a:prstGeom prst="roundRect">
            <a:avLst>
              <a:gd name="adj" fmla="val 20000"/>
            </a:avLst>
          </a:prstGeom>
          <a:solidFill>
            <a:srgbClr val="5A6B82"/>
          </a:solidFill>
          <a:ln w="12700">
            <a:solidFill>
              <a:srgbClr val="5A6B82"/>
            </a:solidFill>
            <a:prstDash val="solid"/>
          </a:ln>
        </p:spPr>
      </p:sp>
      <p:pic>
        <p:nvPicPr>
          <p:cNvPr id="133" name="Image 15" descr="preencoded.png">    </p:cNvPr>
          <p:cNvPicPr>
            <a:picLocks noChangeAspect="1"/>
          </p:cNvPicPr>
          <p:nvPr/>
        </p:nvPicPr>
        <p:blipFill>
          <a:blip r:embed="rId16"/>
          <a:stretch>
            <a:fillRect/>
          </a:stretch>
        </p:blipFill>
        <p:spPr>
          <a:xfrm>
            <a:off x="841248" y="7050024"/>
            <a:ext cx="256032" cy="256032"/>
          </a:xfrm>
          <a:prstGeom prst="rect">
            <a:avLst/>
          </a:prstGeom>
        </p:spPr>
      </p:pic>
      <p:sp>
        <p:nvSpPr>
          <p:cNvPr id="134" name="Text 116"/>
          <p:cNvSpPr txBox="1"/>
          <p:nvPr/>
        </p:nvSpPr>
        <p:spPr>
          <a:xfrm>
            <a:off x="1271016"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App Audit</a:t>
            </a:r>
            <a:endParaRPr lang="en-US" sz="1100" dirty="0"/>
          </a:p>
        </p:txBody>
      </p:sp>
      <p:sp>
        <p:nvSpPr>
          <p:cNvPr id="135" name="Text 117"/>
          <p:cNvSpPr txBox="1"/>
          <p:nvPr/>
        </p:nvSpPr>
        <p:spPr>
          <a:xfrm>
            <a:off x="1271016"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Entitlement System (_AUD)</a:t>
            </a:r>
            <a:endParaRPr lang="en-US" sz="850" dirty="0"/>
          </a:p>
        </p:txBody>
      </p:sp>
      <p:sp>
        <p:nvSpPr>
          <p:cNvPr id="136" name="Shape 118"/>
          <p:cNvSpPr/>
          <p:nvPr/>
        </p:nvSpPr>
        <p:spPr>
          <a:xfrm>
            <a:off x="2551176" y="6812280"/>
            <a:ext cx="3008376" cy="338328"/>
          </a:xfrm>
          <a:prstGeom prst="roundRect">
            <a:avLst>
              <a:gd name="adj" fmla="val 40541"/>
            </a:avLst>
          </a:prstGeom>
          <a:solidFill>
            <a:srgbClr val="FFFFFF"/>
          </a:solidFill>
          <a:ln w="9525">
            <a:solidFill>
              <a:srgbClr val="C8D8EC"/>
            </a:solidFill>
            <a:prstDash val="solid"/>
          </a:ln>
        </p:spPr>
      </p:sp>
      <p:pic>
        <p:nvPicPr>
          <p:cNvPr id="137" name="Image 16" descr="preencoded.png">    </p:cNvPr>
          <p:cNvPicPr>
            <a:picLocks noChangeAspect="1"/>
          </p:cNvPicPr>
          <p:nvPr/>
        </p:nvPicPr>
        <p:blipFill>
          <a:blip r:embed="rId17"/>
          <a:stretch>
            <a:fillRect/>
          </a:stretch>
        </p:blipFill>
        <p:spPr>
          <a:xfrm>
            <a:off x="2679192" y="6908292"/>
            <a:ext cx="146304" cy="146304"/>
          </a:xfrm>
          <a:prstGeom prst="rect">
            <a:avLst/>
          </a:prstGeom>
        </p:spPr>
      </p:pic>
      <p:sp>
        <p:nvSpPr>
          <p:cNvPr id="138" name="Text 119"/>
          <p:cNvSpPr txBox="1"/>
          <p:nvPr/>
        </p:nvSpPr>
        <p:spPr>
          <a:xfrm>
            <a:off x="2916936" y="6812280"/>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Grant &amp; change history</a:t>
            </a:r>
            <a:endParaRPr lang="en-US" sz="950" dirty="0"/>
          </a:p>
        </p:txBody>
      </p:sp>
      <p:sp>
        <p:nvSpPr>
          <p:cNvPr id="139" name="Shape 120"/>
          <p:cNvSpPr/>
          <p:nvPr/>
        </p:nvSpPr>
        <p:spPr>
          <a:xfrm>
            <a:off x="2551176" y="7242048"/>
            <a:ext cx="3008376" cy="338328"/>
          </a:xfrm>
          <a:prstGeom prst="roundRect">
            <a:avLst>
              <a:gd name="adj" fmla="val 40541"/>
            </a:avLst>
          </a:prstGeom>
          <a:solidFill>
            <a:srgbClr val="FFFFFF"/>
          </a:solidFill>
          <a:ln w="9525">
            <a:solidFill>
              <a:srgbClr val="C8D8EC"/>
            </a:solidFill>
            <a:prstDash val="solid"/>
          </a:ln>
        </p:spPr>
      </p:sp>
      <p:pic>
        <p:nvPicPr>
          <p:cNvPr id="140" name="Image 17" descr="preencoded.png">    </p:cNvPr>
          <p:cNvPicPr>
            <a:picLocks noChangeAspect="1"/>
          </p:cNvPicPr>
          <p:nvPr/>
        </p:nvPicPr>
        <p:blipFill>
          <a:blip r:embed="rId18"/>
          <a:stretch>
            <a:fillRect/>
          </a:stretch>
        </p:blipFill>
        <p:spPr>
          <a:xfrm>
            <a:off x="2679192" y="7338060"/>
            <a:ext cx="146304" cy="146304"/>
          </a:xfrm>
          <a:prstGeom prst="rect">
            <a:avLst/>
          </a:prstGeom>
        </p:spPr>
      </p:pic>
      <p:sp>
        <p:nvSpPr>
          <p:cNvPr id="141" name="Text 121"/>
          <p:cNvSpPr txBox="1"/>
          <p:nvPr/>
        </p:nvSpPr>
        <p:spPr>
          <a:xfrm>
            <a:off x="2916936" y="7242048"/>
            <a:ext cx="2596896"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Campaign status changes</a:t>
            </a:r>
            <a:endParaRPr lang="en-US" sz="950" dirty="0"/>
          </a:p>
        </p:txBody>
      </p:sp>
      <p:sp>
        <p:nvSpPr>
          <p:cNvPr id="142" name="Shape 122"/>
          <p:cNvSpPr/>
          <p:nvPr/>
        </p:nvSpPr>
        <p:spPr>
          <a:xfrm>
            <a:off x="6117336" y="6473952"/>
            <a:ext cx="5184648" cy="1234440"/>
          </a:xfrm>
          <a:prstGeom prst="roundRect">
            <a:avLst>
              <a:gd name="adj" fmla="val 4444"/>
            </a:avLst>
          </a:prstGeom>
          <a:solidFill>
            <a:srgbClr val="F3F1FB"/>
          </a:solidFill>
          <a:ln w="12700">
            <a:solidFill>
              <a:srgbClr val="5B4FA8"/>
            </a:solidFill>
            <a:prstDash val="dash"/>
          </a:ln>
        </p:spPr>
      </p:sp>
      <p:sp>
        <p:nvSpPr>
          <p:cNvPr id="143" name="Text 123"/>
          <p:cNvSpPr txBox="1"/>
          <p:nvPr/>
        </p:nvSpPr>
        <p:spPr>
          <a:xfrm>
            <a:off x="6236208" y="6547104"/>
            <a:ext cx="4910328" cy="182880"/>
          </a:xfrm>
          <a:prstGeom prst="rect">
            <a:avLst/>
          </a:prstGeom>
          <a:noFill/>
          <a:ln/>
        </p:spPr>
        <p:txBody>
          <a:bodyPr wrap="square" lIns="0" tIns="0" rIns="0" bIns="0" rtlCol="0" anchor="ctr"/>
          <a:lstStyle/>
          <a:p>
            <a:pPr indent="0" marL="0">
              <a:buNone/>
            </a:pPr>
            <a:r>
              <a:rPr lang="en-US" sz="900" b="1" spc="100" kern="0" dirty="0">
                <a:solidFill>
                  <a:srgbClr val="5B4FA8"/>
                </a:solidFill>
                <a:latin typeface="Calibri" pitchFamily="34" charset="0"/>
                <a:ea typeface="Calibri" pitchFamily="34" charset="-122"/>
                <a:cs typeface="Calibri" pitchFamily="34" charset="-120"/>
              </a:rPr>
              <a:t>AI OBSERVABILITY</a:t>
            </a:r>
            <a:endParaRPr lang="en-US" sz="900" dirty="0"/>
          </a:p>
        </p:txBody>
      </p:sp>
      <p:sp>
        <p:nvSpPr>
          <p:cNvPr id="144" name="Shape 124"/>
          <p:cNvSpPr/>
          <p:nvPr/>
        </p:nvSpPr>
        <p:spPr>
          <a:xfrm>
            <a:off x="6236208" y="6812280"/>
            <a:ext cx="1783080" cy="795528"/>
          </a:xfrm>
          <a:prstGeom prst="roundRect">
            <a:avLst>
              <a:gd name="adj" fmla="val 9195"/>
            </a:avLst>
          </a:prstGeom>
          <a:solidFill>
            <a:srgbClr val="FFFFFF"/>
          </a:solidFill>
          <a:ln w="9525">
            <a:solidFill>
              <a:srgbClr val="C8D8EC"/>
            </a:solidFill>
            <a:prstDash val="solid"/>
          </a:ln>
        </p:spPr>
      </p:sp>
      <p:sp>
        <p:nvSpPr>
          <p:cNvPr id="145" name="Shape 125"/>
          <p:cNvSpPr/>
          <p:nvPr/>
        </p:nvSpPr>
        <p:spPr>
          <a:xfrm>
            <a:off x="6345936" y="6949440"/>
            <a:ext cx="457200" cy="457200"/>
          </a:xfrm>
          <a:prstGeom prst="roundRect">
            <a:avLst>
              <a:gd name="adj" fmla="val 20000"/>
            </a:avLst>
          </a:prstGeom>
          <a:solidFill>
            <a:srgbClr val="0B2E5E"/>
          </a:solidFill>
          <a:ln w="12700">
            <a:solidFill>
              <a:srgbClr val="0B2E5E"/>
            </a:solidFill>
            <a:prstDash val="solid"/>
          </a:ln>
        </p:spPr>
      </p:sp>
      <p:pic>
        <p:nvPicPr>
          <p:cNvPr id="146" name="Image 18" descr="preencoded.png">    </p:cNvPr>
          <p:cNvPicPr>
            <a:picLocks noChangeAspect="1"/>
          </p:cNvPicPr>
          <p:nvPr/>
        </p:nvPicPr>
        <p:blipFill>
          <a:blip r:embed="rId19"/>
          <a:stretch>
            <a:fillRect/>
          </a:stretch>
        </p:blipFill>
        <p:spPr>
          <a:xfrm>
            <a:off x="6446520" y="7050024"/>
            <a:ext cx="256032" cy="256032"/>
          </a:xfrm>
          <a:prstGeom prst="rect">
            <a:avLst/>
          </a:prstGeom>
        </p:spPr>
      </p:pic>
      <p:sp>
        <p:nvSpPr>
          <p:cNvPr id="147" name="Text 126"/>
          <p:cNvSpPr txBox="1"/>
          <p:nvPr/>
        </p:nvSpPr>
        <p:spPr>
          <a:xfrm>
            <a:off x="6876288" y="6903720"/>
            <a:ext cx="1097280" cy="256032"/>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Phoenix Eyes</a:t>
            </a:r>
            <a:endParaRPr lang="en-US" sz="1100" dirty="0"/>
          </a:p>
        </p:txBody>
      </p:sp>
      <p:sp>
        <p:nvSpPr>
          <p:cNvPr id="148" name="Text 127"/>
          <p:cNvSpPr txBox="1"/>
          <p:nvPr/>
        </p:nvSpPr>
        <p:spPr>
          <a:xfrm>
            <a:off x="6876288" y="7159752"/>
            <a:ext cx="1115568" cy="384048"/>
          </a:xfrm>
          <a:prstGeom prst="rect">
            <a:avLst/>
          </a:prstGeom>
          <a:noFill/>
          <a:ln/>
        </p:spPr>
        <p:txBody>
          <a:bodyPr wrap="square" lIns="0" tIns="0" rIns="0" bIns="0" rtlCol="0" anchor="t"/>
          <a:lstStyle/>
          <a:p>
            <a:pPr indent="0" marL="0">
              <a:buNone/>
            </a:pPr>
            <a:r>
              <a:rPr lang="en-US" sz="850" dirty="0">
                <a:solidFill>
                  <a:srgbClr val="4A5A6E"/>
                </a:solidFill>
                <a:latin typeface="Calibri" pitchFamily="34" charset="0"/>
                <a:ea typeface="Calibri" pitchFamily="34" charset="-122"/>
                <a:cs typeface="Calibri" pitchFamily="34" charset="-120"/>
              </a:rPr>
              <a:t>Review Agent and Agent One sessions</a:t>
            </a:r>
            <a:endParaRPr lang="en-US" sz="850" dirty="0"/>
          </a:p>
        </p:txBody>
      </p:sp>
      <p:sp>
        <p:nvSpPr>
          <p:cNvPr id="149" name="Shape 128"/>
          <p:cNvSpPr/>
          <p:nvPr/>
        </p:nvSpPr>
        <p:spPr>
          <a:xfrm>
            <a:off x="8156448" y="6812280"/>
            <a:ext cx="1458468" cy="338328"/>
          </a:xfrm>
          <a:prstGeom prst="roundRect">
            <a:avLst>
              <a:gd name="adj" fmla="val 40541"/>
            </a:avLst>
          </a:prstGeom>
          <a:solidFill>
            <a:srgbClr val="FFFFFF"/>
          </a:solidFill>
          <a:ln w="9525">
            <a:solidFill>
              <a:srgbClr val="C8D8EC"/>
            </a:solidFill>
            <a:prstDash val="solid"/>
          </a:ln>
        </p:spPr>
      </p:sp>
      <p:pic>
        <p:nvPicPr>
          <p:cNvPr id="150" name="Image 19" descr="preencoded.png">    </p:cNvPr>
          <p:cNvPicPr>
            <a:picLocks noChangeAspect="1"/>
          </p:cNvPicPr>
          <p:nvPr/>
        </p:nvPicPr>
        <p:blipFill>
          <a:blip r:embed="rId20"/>
          <a:stretch>
            <a:fillRect/>
          </a:stretch>
        </p:blipFill>
        <p:spPr>
          <a:xfrm>
            <a:off x="8284464" y="6908292"/>
            <a:ext cx="146304" cy="146304"/>
          </a:xfrm>
          <a:prstGeom prst="rect">
            <a:avLst/>
          </a:prstGeom>
        </p:spPr>
      </p:pic>
      <p:sp>
        <p:nvSpPr>
          <p:cNvPr id="151" name="Text 129"/>
          <p:cNvSpPr txBox="1"/>
          <p:nvPr/>
        </p:nvSpPr>
        <p:spPr>
          <a:xfrm>
            <a:off x="8522208"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AI session traces</a:t>
            </a:r>
            <a:endParaRPr lang="en-US" sz="950" dirty="0"/>
          </a:p>
        </p:txBody>
      </p:sp>
      <p:sp>
        <p:nvSpPr>
          <p:cNvPr id="152" name="Shape 130"/>
          <p:cNvSpPr/>
          <p:nvPr/>
        </p:nvSpPr>
        <p:spPr>
          <a:xfrm>
            <a:off x="9724644" y="6812280"/>
            <a:ext cx="1458468" cy="338328"/>
          </a:xfrm>
          <a:prstGeom prst="roundRect">
            <a:avLst>
              <a:gd name="adj" fmla="val 40541"/>
            </a:avLst>
          </a:prstGeom>
          <a:solidFill>
            <a:srgbClr val="FFFFFF"/>
          </a:solidFill>
          <a:ln w="9525">
            <a:solidFill>
              <a:srgbClr val="C8D8EC"/>
            </a:solidFill>
            <a:prstDash val="solid"/>
          </a:ln>
        </p:spPr>
      </p:sp>
      <p:pic>
        <p:nvPicPr>
          <p:cNvPr id="153" name="Image 20" descr="preencoded.png">    </p:cNvPr>
          <p:cNvPicPr>
            <a:picLocks noChangeAspect="1"/>
          </p:cNvPicPr>
          <p:nvPr/>
        </p:nvPicPr>
        <p:blipFill>
          <a:blip r:embed="rId21"/>
          <a:stretch>
            <a:fillRect/>
          </a:stretch>
        </p:blipFill>
        <p:spPr>
          <a:xfrm>
            <a:off x="9852660" y="6908292"/>
            <a:ext cx="146304" cy="146304"/>
          </a:xfrm>
          <a:prstGeom prst="rect">
            <a:avLst/>
          </a:prstGeom>
        </p:spPr>
      </p:pic>
      <p:sp>
        <p:nvSpPr>
          <p:cNvPr id="154" name="Text 131"/>
          <p:cNvSpPr txBox="1"/>
          <p:nvPr/>
        </p:nvSpPr>
        <p:spPr>
          <a:xfrm>
            <a:off x="10090404" y="6812280"/>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Prompts &amp; sources</a:t>
            </a:r>
            <a:endParaRPr lang="en-US" sz="950" dirty="0"/>
          </a:p>
        </p:txBody>
      </p:sp>
      <p:sp>
        <p:nvSpPr>
          <p:cNvPr id="155" name="Shape 132"/>
          <p:cNvSpPr/>
          <p:nvPr/>
        </p:nvSpPr>
        <p:spPr>
          <a:xfrm>
            <a:off x="8156448" y="7242048"/>
            <a:ext cx="1458468" cy="338328"/>
          </a:xfrm>
          <a:prstGeom prst="roundRect">
            <a:avLst>
              <a:gd name="adj" fmla="val 40541"/>
            </a:avLst>
          </a:prstGeom>
          <a:solidFill>
            <a:srgbClr val="FFFFFF"/>
          </a:solidFill>
          <a:ln w="9525">
            <a:solidFill>
              <a:srgbClr val="C8D8EC"/>
            </a:solidFill>
            <a:prstDash val="solid"/>
          </a:ln>
        </p:spPr>
      </p:sp>
      <p:pic>
        <p:nvPicPr>
          <p:cNvPr id="156" name="Image 21" descr="preencoded.png">    </p:cNvPr>
          <p:cNvPicPr>
            <a:picLocks noChangeAspect="1"/>
          </p:cNvPicPr>
          <p:nvPr/>
        </p:nvPicPr>
        <p:blipFill>
          <a:blip r:embed="rId22"/>
          <a:stretch>
            <a:fillRect/>
          </a:stretch>
        </p:blipFill>
        <p:spPr>
          <a:xfrm>
            <a:off x="8284464" y="7338060"/>
            <a:ext cx="146304" cy="146304"/>
          </a:xfrm>
          <a:prstGeom prst="rect">
            <a:avLst/>
          </a:prstGeom>
        </p:spPr>
      </p:pic>
      <p:sp>
        <p:nvSpPr>
          <p:cNvPr id="157" name="Text 133"/>
          <p:cNvSpPr txBox="1"/>
          <p:nvPr/>
        </p:nvSpPr>
        <p:spPr>
          <a:xfrm>
            <a:off x="8522208"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Skill gap analysis</a:t>
            </a:r>
            <a:endParaRPr lang="en-US" sz="950" dirty="0"/>
          </a:p>
        </p:txBody>
      </p:sp>
      <p:sp>
        <p:nvSpPr>
          <p:cNvPr id="158" name="Shape 134"/>
          <p:cNvSpPr/>
          <p:nvPr/>
        </p:nvSpPr>
        <p:spPr>
          <a:xfrm>
            <a:off x="9724644" y="7242048"/>
            <a:ext cx="1458468" cy="338328"/>
          </a:xfrm>
          <a:prstGeom prst="roundRect">
            <a:avLst>
              <a:gd name="adj" fmla="val 40541"/>
            </a:avLst>
          </a:prstGeom>
          <a:solidFill>
            <a:srgbClr val="FFFFFF"/>
          </a:solidFill>
          <a:ln w="9525">
            <a:solidFill>
              <a:srgbClr val="C8D8EC"/>
            </a:solidFill>
            <a:prstDash val="solid"/>
          </a:ln>
        </p:spPr>
      </p:sp>
      <p:pic>
        <p:nvPicPr>
          <p:cNvPr id="159" name="Image 22" descr="preencoded.png">    </p:cNvPr>
          <p:cNvPicPr>
            <a:picLocks noChangeAspect="1"/>
          </p:cNvPicPr>
          <p:nvPr/>
        </p:nvPicPr>
        <p:blipFill>
          <a:blip r:embed="rId23"/>
          <a:stretch>
            <a:fillRect/>
          </a:stretch>
        </p:blipFill>
        <p:spPr>
          <a:xfrm>
            <a:off x="9852660" y="7338060"/>
            <a:ext cx="146304" cy="146304"/>
          </a:xfrm>
          <a:prstGeom prst="rect">
            <a:avLst/>
          </a:prstGeom>
        </p:spPr>
      </p:pic>
      <p:sp>
        <p:nvSpPr>
          <p:cNvPr id="160" name="Text 135"/>
          <p:cNvSpPr txBox="1"/>
          <p:nvPr/>
        </p:nvSpPr>
        <p:spPr>
          <a:xfrm>
            <a:off x="10090404" y="7242048"/>
            <a:ext cx="1046988"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LLM perf &amp; health</a:t>
            </a:r>
            <a:endParaRPr lang="en-US" sz="950" dirty="0"/>
          </a:p>
        </p:txBody>
      </p:sp>
      <p:sp>
        <p:nvSpPr>
          <p:cNvPr id="161" name="Shape 136"/>
          <p:cNvSpPr/>
          <p:nvPr/>
        </p:nvSpPr>
        <p:spPr>
          <a:xfrm>
            <a:off x="11731752" y="6473952"/>
            <a:ext cx="2386584" cy="1234440"/>
          </a:xfrm>
          <a:prstGeom prst="roundRect">
            <a:avLst>
              <a:gd name="adj" fmla="val 4444"/>
            </a:avLst>
          </a:prstGeom>
          <a:solidFill>
            <a:srgbClr val="F1F4F8"/>
          </a:solidFill>
          <a:ln w="12700">
            <a:solidFill>
              <a:srgbClr val="6B7C93"/>
            </a:solidFill>
            <a:prstDash val="dash"/>
          </a:ln>
        </p:spPr>
      </p:sp>
      <p:sp>
        <p:nvSpPr>
          <p:cNvPr id="162" name="Text 137"/>
          <p:cNvSpPr txBox="1"/>
          <p:nvPr/>
        </p:nvSpPr>
        <p:spPr>
          <a:xfrm>
            <a:off x="11850624" y="6547104"/>
            <a:ext cx="2112264" cy="182880"/>
          </a:xfrm>
          <a:prstGeom prst="rect">
            <a:avLst/>
          </a:prstGeom>
          <a:noFill/>
          <a:ln/>
        </p:spPr>
        <p:txBody>
          <a:bodyPr wrap="square" lIns="0" tIns="0" rIns="0" bIns="0" rtlCol="0" anchor="ctr"/>
          <a:lstStyle/>
          <a:p>
            <a:pPr indent="0" marL="0">
              <a:buNone/>
            </a:pPr>
            <a:r>
              <a:rPr lang="en-US" sz="900" b="1" spc="100" kern="0" dirty="0">
                <a:solidFill>
                  <a:srgbClr val="5A6B82"/>
                </a:solidFill>
                <a:latin typeface="Calibri" pitchFamily="34" charset="0"/>
                <a:ea typeface="Calibri" pitchFamily="34" charset="-122"/>
                <a:cs typeface="Calibri" pitchFamily="34" charset="-120"/>
              </a:rPr>
              <a:t>APPLICATION AUDIT (EXISTING)</a:t>
            </a:r>
            <a:endParaRPr lang="en-US" sz="900" dirty="0"/>
          </a:p>
        </p:txBody>
      </p:sp>
      <p:sp>
        <p:nvSpPr>
          <p:cNvPr id="163" name="Shape 138"/>
          <p:cNvSpPr/>
          <p:nvPr/>
        </p:nvSpPr>
        <p:spPr>
          <a:xfrm>
            <a:off x="11850624" y="6812280"/>
            <a:ext cx="2148840" cy="338328"/>
          </a:xfrm>
          <a:prstGeom prst="roundRect">
            <a:avLst>
              <a:gd name="adj" fmla="val 40541"/>
            </a:avLst>
          </a:prstGeom>
          <a:solidFill>
            <a:srgbClr val="FFFFFF"/>
          </a:solidFill>
          <a:ln w="9525">
            <a:solidFill>
              <a:srgbClr val="C8D8EC"/>
            </a:solidFill>
            <a:prstDash val="solid"/>
          </a:ln>
        </p:spPr>
      </p:sp>
      <p:pic>
        <p:nvPicPr>
          <p:cNvPr id="164" name="Image 23" descr="preencoded.png">    </p:cNvPr>
          <p:cNvPicPr>
            <a:picLocks noChangeAspect="1"/>
          </p:cNvPicPr>
          <p:nvPr/>
        </p:nvPicPr>
        <p:blipFill>
          <a:blip r:embed="rId24"/>
          <a:stretch>
            <a:fillRect/>
          </a:stretch>
        </p:blipFill>
        <p:spPr>
          <a:xfrm>
            <a:off x="11978640" y="6908292"/>
            <a:ext cx="146304" cy="146304"/>
          </a:xfrm>
          <a:prstGeom prst="rect">
            <a:avLst/>
          </a:prstGeom>
        </p:spPr>
      </p:pic>
      <p:sp>
        <p:nvSpPr>
          <p:cNvPr id="165" name="Text 139"/>
          <p:cNvSpPr txBox="1"/>
          <p:nvPr/>
        </p:nvSpPr>
        <p:spPr>
          <a:xfrm>
            <a:off x="12216384" y="6812280"/>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Certify &amp; revoke decisions</a:t>
            </a:r>
            <a:endParaRPr lang="en-US" sz="950" dirty="0"/>
          </a:p>
        </p:txBody>
      </p:sp>
      <p:sp>
        <p:nvSpPr>
          <p:cNvPr id="166" name="Shape 140"/>
          <p:cNvSpPr/>
          <p:nvPr/>
        </p:nvSpPr>
        <p:spPr>
          <a:xfrm>
            <a:off x="11850624" y="7242048"/>
            <a:ext cx="2148840" cy="338328"/>
          </a:xfrm>
          <a:prstGeom prst="roundRect">
            <a:avLst>
              <a:gd name="adj" fmla="val 40541"/>
            </a:avLst>
          </a:prstGeom>
          <a:solidFill>
            <a:srgbClr val="FFFFFF"/>
          </a:solidFill>
          <a:ln w="9525">
            <a:solidFill>
              <a:srgbClr val="C8D8EC"/>
            </a:solidFill>
            <a:prstDash val="solid"/>
          </a:ln>
        </p:spPr>
      </p:sp>
      <p:pic>
        <p:nvPicPr>
          <p:cNvPr id="167" name="Image 24" descr="preencoded.png">    </p:cNvPr>
          <p:cNvPicPr>
            <a:picLocks noChangeAspect="1"/>
          </p:cNvPicPr>
          <p:nvPr/>
        </p:nvPicPr>
        <p:blipFill>
          <a:blip r:embed="rId25"/>
          <a:stretch>
            <a:fillRect/>
          </a:stretch>
        </p:blipFill>
        <p:spPr>
          <a:xfrm>
            <a:off x="11978640" y="7338060"/>
            <a:ext cx="146304" cy="146304"/>
          </a:xfrm>
          <a:prstGeom prst="rect">
            <a:avLst/>
          </a:prstGeom>
        </p:spPr>
      </p:pic>
      <p:sp>
        <p:nvSpPr>
          <p:cNvPr id="168" name="Text 141"/>
          <p:cNvSpPr txBox="1"/>
          <p:nvPr/>
        </p:nvSpPr>
        <p:spPr>
          <a:xfrm>
            <a:off x="12216384" y="7242048"/>
            <a:ext cx="1737360" cy="338328"/>
          </a:xfrm>
          <a:prstGeom prst="rect">
            <a:avLst/>
          </a:prstGeom>
          <a:noFill/>
          <a:ln/>
        </p:spPr>
        <p:txBody>
          <a:bodyPr wrap="square" lIns="0" tIns="0" rIns="0" bIns="0" rtlCol="0" anchor="ctr"/>
          <a:lstStyle/>
          <a:p>
            <a:pPr indent="0" marL="0">
              <a:buNone/>
            </a:pPr>
            <a:r>
              <a:rPr lang="en-US" sz="950" dirty="0">
                <a:solidFill>
                  <a:srgbClr val="1F2D3D"/>
                </a:solidFill>
                <a:latin typeface="Calibri" pitchFamily="34" charset="0"/>
                <a:ea typeface="Calibri" pitchFamily="34" charset="-122"/>
                <a:cs typeface="Calibri" pitchFamily="34" charset="-120"/>
              </a:rPr>
              <a:t>Access changes applied</a:t>
            </a:r>
            <a:endParaRPr lang="en-US" sz="950" dirty="0"/>
          </a:p>
        </p:txBody>
      </p:sp>
      <p:sp>
        <p:nvSpPr>
          <p:cNvPr id="169" name="Text 142"/>
          <p:cNvSpPr txBox="1"/>
          <p:nvPr/>
        </p:nvSpPr>
        <p:spPr>
          <a:xfrm>
            <a:off x="502920" y="7818120"/>
            <a:ext cx="2743200" cy="22860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Outcomes</a:t>
            </a:r>
            <a:endParaRPr lang="en-US" sz="1100" dirty="0"/>
          </a:p>
        </p:txBody>
      </p:sp>
      <p:sp>
        <p:nvSpPr>
          <p:cNvPr id="170" name="Shape 143"/>
          <p:cNvSpPr/>
          <p:nvPr/>
        </p:nvSpPr>
        <p:spPr>
          <a:xfrm>
            <a:off x="502920" y="8074152"/>
            <a:ext cx="3227832" cy="1005840"/>
          </a:xfrm>
          <a:prstGeom prst="roundRect">
            <a:avLst>
              <a:gd name="adj" fmla="val 7273"/>
            </a:avLst>
          </a:prstGeom>
          <a:solidFill>
            <a:srgbClr val="FFFFFF"/>
          </a:solidFill>
          <a:ln w="9525">
            <a:solidFill>
              <a:srgbClr val="C8D8EC"/>
            </a:solidFill>
            <a:prstDash val="solid"/>
          </a:ln>
        </p:spPr>
      </p:sp>
      <p:sp>
        <p:nvSpPr>
          <p:cNvPr id="171" name="Shape 144"/>
          <p:cNvSpPr/>
          <p:nvPr/>
        </p:nvSpPr>
        <p:spPr>
          <a:xfrm>
            <a:off x="667512" y="8321040"/>
            <a:ext cx="512064" cy="512064"/>
          </a:xfrm>
          <a:prstGeom prst="ellipse">
            <a:avLst/>
          </a:prstGeom>
          <a:solidFill>
            <a:srgbClr val="1E8A5A"/>
          </a:solidFill>
          <a:ln w="12700">
            <a:solidFill>
              <a:srgbClr val="1E8A5A"/>
            </a:solidFill>
            <a:prstDash val="solid"/>
          </a:ln>
        </p:spPr>
      </p:sp>
      <p:pic>
        <p:nvPicPr>
          <p:cNvPr id="172" name="Image 25" descr="preencoded.png">    </p:cNvPr>
          <p:cNvPicPr>
            <a:picLocks noChangeAspect="1"/>
          </p:cNvPicPr>
          <p:nvPr/>
        </p:nvPicPr>
        <p:blipFill>
          <a:blip r:embed="rId26"/>
          <a:stretch>
            <a:fillRect/>
          </a:stretch>
        </p:blipFill>
        <p:spPr>
          <a:xfrm>
            <a:off x="800649" y="8454177"/>
            <a:ext cx="245791" cy="245791"/>
          </a:xfrm>
          <a:prstGeom prst="rect">
            <a:avLst/>
          </a:prstGeom>
        </p:spPr>
      </p:pic>
      <p:sp>
        <p:nvSpPr>
          <p:cNvPr id="173" name="Text 145"/>
          <p:cNvSpPr txBox="1"/>
          <p:nvPr/>
        </p:nvSpPr>
        <p:spPr>
          <a:xfrm>
            <a:off x="1325880"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Faster certification</a:t>
            </a:r>
            <a:endParaRPr lang="en-US" sz="1200" dirty="0"/>
          </a:p>
        </p:txBody>
      </p:sp>
      <p:sp>
        <p:nvSpPr>
          <p:cNvPr id="174" name="Text 146"/>
          <p:cNvSpPr txBox="1"/>
          <p:nvPr/>
        </p:nvSpPr>
        <p:spPr>
          <a:xfrm>
            <a:off x="1325880"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Reviewers start from a pre-reviewed, risk-ranked list</a:t>
            </a:r>
            <a:endParaRPr lang="en-US" sz="950" dirty="0"/>
          </a:p>
        </p:txBody>
      </p:sp>
      <p:sp>
        <p:nvSpPr>
          <p:cNvPr id="175" name="Shape 147"/>
          <p:cNvSpPr/>
          <p:nvPr/>
        </p:nvSpPr>
        <p:spPr>
          <a:xfrm>
            <a:off x="3941064" y="8074152"/>
            <a:ext cx="3227832" cy="1005840"/>
          </a:xfrm>
          <a:prstGeom prst="roundRect">
            <a:avLst>
              <a:gd name="adj" fmla="val 7273"/>
            </a:avLst>
          </a:prstGeom>
          <a:solidFill>
            <a:srgbClr val="FFFFFF"/>
          </a:solidFill>
          <a:ln w="9525">
            <a:solidFill>
              <a:srgbClr val="C8D8EC"/>
            </a:solidFill>
            <a:prstDash val="solid"/>
          </a:ln>
        </p:spPr>
      </p:sp>
      <p:sp>
        <p:nvSpPr>
          <p:cNvPr id="176" name="Shape 148"/>
          <p:cNvSpPr/>
          <p:nvPr/>
        </p:nvSpPr>
        <p:spPr>
          <a:xfrm>
            <a:off x="4105656" y="8321040"/>
            <a:ext cx="512064" cy="512064"/>
          </a:xfrm>
          <a:prstGeom prst="ellipse">
            <a:avLst/>
          </a:prstGeom>
          <a:solidFill>
            <a:srgbClr val="2A6EBB"/>
          </a:solidFill>
          <a:ln w="12700">
            <a:solidFill>
              <a:srgbClr val="2A6EBB"/>
            </a:solidFill>
            <a:prstDash val="solid"/>
          </a:ln>
        </p:spPr>
      </p:sp>
      <p:pic>
        <p:nvPicPr>
          <p:cNvPr id="177" name="Image 26" descr="preencoded.png">    </p:cNvPr>
          <p:cNvPicPr>
            <a:picLocks noChangeAspect="1"/>
          </p:cNvPicPr>
          <p:nvPr/>
        </p:nvPicPr>
        <p:blipFill>
          <a:blip r:embed="rId27"/>
          <a:stretch>
            <a:fillRect/>
          </a:stretch>
        </p:blipFill>
        <p:spPr>
          <a:xfrm>
            <a:off x="4238793" y="8454177"/>
            <a:ext cx="245791" cy="245791"/>
          </a:xfrm>
          <a:prstGeom prst="rect">
            <a:avLst/>
          </a:prstGeom>
        </p:spPr>
      </p:pic>
      <p:sp>
        <p:nvSpPr>
          <p:cNvPr id="178" name="Text 149"/>
          <p:cNvSpPr txBox="1"/>
          <p:nvPr/>
        </p:nvSpPr>
        <p:spPr>
          <a:xfrm>
            <a:off x="4764024"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Human in the loop</a:t>
            </a:r>
            <a:endParaRPr lang="en-US" sz="1200" dirty="0"/>
          </a:p>
        </p:txBody>
      </p:sp>
      <p:sp>
        <p:nvSpPr>
          <p:cNvPr id="179" name="Text 150"/>
          <p:cNvSpPr txBox="1"/>
          <p:nvPr/>
        </p:nvSpPr>
        <p:spPr>
          <a:xfrm>
            <a:off x="4764024"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Approvers decide every certify or revoke</a:t>
            </a:r>
            <a:endParaRPr lang="en-US" sz="950" dirty="0"/>
          </a:p>
        </p:txBody>
      </p:sp>
      <p:sp>
        <p:nvSpPr>
          <p:cNvPr id="180" name="Shape 151"/>
          <p:cNvSpPr/>
          <p:nvPr/>
        </p:nvSpPr>
        <p:spPr>
          <a:xfrm>
            <a:off x="7379208" y="8074152"/>
            <a:ext cx="3227832" cy="1005840"/>
          </a:xfrm>
          <a:prstGeom prst="roundRect">
            <a:avLst>
              <a:gd name="adj" fmla="val 7273"/>
            </a:avLst>
          </a:prstGeom>
          <a:solidFill>
            <a:srgbClr val="FFFFFF"/>
          </a:solidFill>
          <a:ln w="9525">
            <a:solidFill>
              <a:srgbClr val="C8D8EC"/>
            </a:solidFill>
            <a:prstDash val="solid"/>
          </a:ln>
        </p:spPr>
      </p:sp>
      <p:sp>
        <p:nvSpPr>
          <p:cNvPr id="181" name="Shape 152"/>
          <p:cNvSpPr/>
          <p:nvPr/>
        </p:nvSpPr>
        <p:spPr>
          <a:xfrm>
            <a:off x="7543800" y="8321040"/>
            <a:ext cx="512064" cy="512064"/>
          </a:xfrm>
          <a:prstGeom prst="ellipse">
            <a:avLst/>
          </a:prstGeom>
          <a:solidFill>
            <a:srgbClr val="5B4FA8"/>
          </a:solidFill>
          <a:ln w="12700">
            <a:solidFill>
              <a:srgbClr val="5B4FA8"/>
            </a:solidFill>
            <a:prstDash val="solid"/>
          </a:ln>
        </p:spPr>
      </p:sp>
      <p:pic>
        <p:nvPicPr>
          <p:cNvPr id="182" name="Image 27" descr="preencoded.png">    </p:cNvPr>
          <p:cNvPicPr>
            <a:picLocks noChangeAspect="1"/>
          </p:cNvPicPr>
          <p:nvPr/>
        </p:nvPicPr>
        <p:blipFill>
          <a:blip r:embed="rId28"/>
          <a:stretch>
            <a:fillRect/>
          </a:stretch>
        </p:blipFill>
        <p:spPr>
          <a:xfrm>
            <a:off x="7676937" y="8454177"/>
            <a:ext cx="245791" cy="245791"/>
          </a:xfrm>
          <a:prstGeom prst="rect">
            <a:avLst/>
          </a:prstGeom>
        </p:spPr>
      </p:pic>
      <p:sp>
        <p:nvSpPr>
          <p:cNvPr id="183" name="Text 153"/>
          <p:cNvSpPr txBox="1"/>
          <p:nvPr/>
        </p:nvSpPr>
        <p:spPr>
          <a:xfrm>
            <a:off x="8202168"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Stronger SoD control</a:t>
            </a:r>
            <a:endParaRPr lang="en-US" sz="1200" dirty="0"/>
          </a:p>
        </p:txBody>
      </p:sp>
      <p:sp>
        <p:nvSpPr>
          <p:cNvPr id="184" name="Text 154"/>
          <p:cNvSpPr txBox="1"/>
          <p:nvPr/>
        </p:nvSpPr>
        <p:spPr>
          <a:xfrm>
            <a:off x="8202168"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Conflicts and stale access surfaced every cycle</a:t>
            </a:r>
            <a:endParaRPr lang="en-US" sz="950" dirty="0"/>
          </a:p>
        </p:txBody>
      </p:sp>
      <p:sp>
        <p:nvSpPr>
          <p:cNvPr id="185" name="Shape 155"/>
          <p:cNvSpPr/>
          <p:nvPr/>
        </p:nvSpPr>
        <p:spPr>
          <a:xfrm>
            <a:off x="10817352" y="8074152"/>
            <a:ext cx="3227832" cy="1005840"/>
          </a:xfrm>
          <a:prstGeom prst="roundRect">
            <a:avLst>
              <a:gd name="adj" fmla="val 7273"/>
            </a:avLst>
          </a:prstGeom>
          <a:solidFill>
            <a:srgbClr val="FFFFFF"/>
          </a:solidFill>
          <a:ln w="9525">
            <a:solidFill>
              <a:srgbClr val="C8D8EC"/>
            </a:solidFill>
            <a:prstDash val="solid"/>
          </a:ln>
        </p:spPr>
      </p:sp>
      <p:sp>
        <p:nvSpPr>
          <p:cNvPr id="186" name="Shape 156"/>
          <p:cNvSpPr/>
          <p:nvPr/>
        </p:nvSpPr>
        <p:spPr>
          <a:xfrm>
            <a:off x="10981944" y="8321040"/>
            <a:ext cx="512064" cy="512064"/>
          </a:xfrm>
          <a:prstGeom prst="ellipse">
            <a:avLst/>
          </a:prstGeom>
          <a:solidFill>
            <a:srgbClr val="1F4E8C"/>
          </a:solidFill>
          <a:ln w="12700">
            <a:solidFill>
              <a:srgbClr val="1F4E8C"/>
            </a:solidFill>
            <a:prstDash val="solid"/>
          </a:ln>
        </p:spPr>
      </p:sp>
      <p:pic>
        <p:nvPicPr>
          <p:cNvPr id="187" name="Image 28" descr="preencoded.png">    </p:cNvPr>
          <p:cNvPicPr>
            <a:picLocks noChangeAspect="1"/>
          </p:cNvPicPr>
          <p:nvPr/>
        </p:nvPicPr>
        <p:blipFill>
          <a:blip r:embed="rId29"/>
          <a:stretch>
            <a:fillRect/>
          </a:stretch>
        </p:blipFill>
        <p:spPr>
          <a:xfrm>
            <a:off x="11115081" y="8454177"/>
            <a:ext cx="245791" cy="245791"/>
          </a:xfrm>
          <a:prstGeom prst="rect">
            <a:avLst/>
          </a:prstGeom>
        </p:spPr>
      </p:pic>
      <p:sp>
        <p:nvSpPr>
          <p:cNvPr id="188" name="Text 157"/>
          <p:cNvSpPr txBox="1"/>
          <p:nvPr/>
        </p:nvSpPr>
        <p:spPr>
          <a:xfrm>
            <a:off x="11640312" y="8183880"/>
            <a:ext cx="2286000" cy="256032"/>
          </a:xfrm>
          <a:prstGeom prst="rect">
            <a:avLst/>
          </a:prstGeom>
          <a:noFill/>
          <a:ln/>
        </p:spPr>
        <p:txBody>
          <a:bodyPr wrap="square" lIns="0" tIns="0" rIns="0" bIns="0" rtlCol="0" anchor="ctr"/>
          <a:lstStyle/>
          <a:p>
            <a:pPr indent="0" marL="0">
              <a:buNone/>
            </a:pPr>
            <a:r>
              <a:rPr lang="en-US" sz="1200" b="1" dirty="0">
                <a:solidFill>
                  <a:srgbClr val="1F2D3D"/>
                </a:solidFill>
                <a:latin typeface="Calibri" pitchFamily="34" charset="0"/>
                <a:ea typeface="Calibri" pitchFamily="34" charset="-122"/>
                <a:cs typeface="Calibri" pitchFamily="34" charset="-120"/>
              </a:rPr>
              <a:t>Scales by application</a:t>
            </a:r>
            <a:endParaRPr lang="en-US" sz="1200" dirty="0"/>
          </a:p>
        </p:txBody>
      </p:sp>
      <p:sp>
        <p:nvSpPr>
          <p:cNvPr id="189" name="Text 158"/>
          <p:cNvSpPr txBox="1"/>
          <p:nvPr/>
        </p:nvSpPr>
        <p:spPr>
          <a:xfrm>
            <a:off x="11640312" y="8449056"/>
            <a:ext cx="2286000" cy="548640"/>
          </a:xfrm>
          <a:prstGeom prst="rect">
            <a:avLst/>
          </a:prstGeom>
          <a:noFill/>
          <a:ln/>
        </p:spPr>
        <p:txBody>
          <a:bodyPr wrap="square" lIns="0" tIns="0" rIns="0" bIns="0" rtlCol="0" anchor="t"/>
          <a:lstStyle/>
          <a:p>
            <a:pPr indent="0" marL="0">
              <a:buNone/>
            </a:pPr>
            <a:r>
              <a:rPr lang="en-US" sz="950" dirty="0">
                <a:solidFill>
                  <a:srgbClr val="4A5A6E"/>
                </a:solidFill>
                <a:latin typeface="Calibri" pitchFamily="34" charset="0"/>
                <a:ea typeface="Calibri" pitchFamily="34" charset="-122"/>
                <a:cs typeface="Calibri" pitchFamily="34" charset="-120"/>
              </a:rPr>
              <a:t>Add apps to campaigns by configuration</a:t>
            </a:r>
            <a:endParaRPr lang="en-US" sz="950" dirty="0"/>
          </a:p>
        </p:txBody>
      </p:sp>
      <p:sp>
        <p:nvSpPr>
          <p:cNvPr id="190" name="Shape 159"/>
          <p:cNvSpPr/>
          <p:nvPr/>
        </p:nvSpPr>
        <p:spPr>
          <a:xfrm>
            <a:off x="0" y="9272016"/>
            <a:ext cx="14630400" cy="484632"/>
          </a:xfrm>
          <a:prstGeom prst="rect">
            <a:avLst/>
          </a:prstGeom>
          <a:solidFill>
            <a:srgbClr val="0B2E5E"/>
          </a:solidFill>
          <a:ln w="12700">
            <a:solidFill>
              <a:srgbClr val="0B2E5E"/>
            </a:solidFill>
            <a:prstDash val="solid"/>
          </a:ln>
        </p:spPr>
      </p:sp>
      <p:sp>
        <p:nvSpPr>
          <p:cNvPr id="191" name="Text 160"/>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Access &amp; Workflow</a:t>
            </a:r>
            <a:pPr algn="ctr" indent="0" marL="0">
              <a:buNone/>
            </a:pPr>
            <a:r>
              <a:rPr lang="en-US" sz="1100" dirty="0">
                <a:solidFill>
                  <a:srgbClr val="FFFFFF"/>
                </a:solidFill>
                <a:latin typeface="Calibri" pitchFamily="34" charset="0"/>
                <a:ea typeface="Calibri" pitchFamily="34" charset="-122"/>
                <a:cs typeface="Calibri" pitchFamily="34" charset="-120"/>
              </a:rPr>
              <a:t>   |   Cleaner Access. Faster Reviews. Stronger Control.</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AFD"/>
        </a:solidFill>
      </p:bgPr>
    </p:bg>
    <p:spTree>
      <p:nvGrpSpPr>
        <p:cNvPr id="1" name=""/>
        <p:cNvGrpSpPr/>
        <p:nvPr/>
      </p:nvGrpSpPr>
      <p:grpSpPr>
        <a:xfrm>
          <a:off x="0" y="0"/>
          <a:ext cx="0" cy="0"/>
          <a:chOff x="0" y="0"/>
          <a:chExt cx="0" cy="0"/>
        </a:xfrm>
      </p:grpSpPr>
      <p:sp>
        <p:nvSpPr>
          <p:cNvPr id="2" name="Shape 0"/>
          <p:cNvSpPr/>
          <p:nvPr/>
        </p:nvSpPr>
        <p:spPr>
          <a:xfrm>
            <a:off x="0" y="0"/>
            <a:ext cx="14630400" cy="1024128"/>
          </a:xfrm>
          <a:prstGeom prst="rect">
            <a:avLst/>
          </a:prstGeom>
          <a:solidFill>
            <a:srgbClr val="0B2E5E"/>
          </a:solidFill>
          <a:ln w="12700">
            <a:solidFill>
              <a:srgbClr val="0B2E5E"/>
            </a:solidFill>
            <a:prstDash val="solid"/>
          </a:ln>
        </p:spPr>
      </p:sp>
      <p:sp>
        <p:nvSpPr>
          <p:cNvPr id="3" name="Text 1"/>
          <p:cNvSpPr txBox="1"/>
          <p:nvPr/>
        </p:nvSpPr>
        <p:spPr>
          <a:xfrm>
            <a:off x="301752" y="137160"/>
            <a:ext cx="11155680" cy="475488"/>
          </a:xfrm>
          <a:prstGeom prst="rect">
            <a:avLst/>
          </a:prstGeom>
          <a:noFill/>
          <a:ln/>
        </p:spPr>
        <p:txBody>
          <a:bodyPr wrap="square" lIns="0" tIns="0" rIns="0" bIns="0" rtlCol="0" anchor="ctr"/>
          <a:lstStyle/>
          <a:p>
            <a:pPr indent="0" marL="0">
              <a:buNone/>
            </a:pPr>
            <a:r>
              <a:rPr lang="en-US" sz="3000" b="1" dirty="0">
                <a:solidFill>
                  <a:srgbClr val="FFFFFF"/>
                </a:solidFill>
                <a:latin typeface="Calibri" pitchFamily="34" charset="0"/>
                <a:ea typeface="Calibri" pitchFamily="34" charset="-122"/>
                <a:cs typeface="Calibri" pitchFamily="34" charset="-120"/>
              </a:rPr>
              <a:t>Shared Agent Platform: Technology &amp; Governance</a:t>
            </a:r>
            <a:endParaRPr lang="en-US" sz="3000" dirty="0"/>
          </a:p>
        </p:txBody>
      </p:sp>
      <p:sp>
        <p:nvSpPr>
          <p:cNvPr id="4" name="Text 2"/>
          <p:cNvSpPr txBox="1"/>
          <p:nvPr/>
        </p:nvSpPr>
        <p:spPr>
          <a:xfrm>
            <a:off x="301752" y="612648"/>
            <a:ext cx="11155680" cy="301752"/>
          </a:xfrm>
          <a:prstGeom prst="rect">
            <a:avLst/>
          </a:prstGeom>
          <a:noFill/>
          <a:ln/>
        </p:spPr>
        <p:txBody>
          <a:bodyPr wrap="square" lIns="0" tIns="0" rIns="0" bIns="0" rtlCol="0" anchor="ctr"/>
          <a:lstStyle/>
          <a:p>
            <a:pPr indent="0" marL="0">
              <a:buNone/>
            </a:pPr>
            <a:r>
              <a:rPr lang="en-US" sz="1600" dirty="0">
                <a:solidFill>
                  <a:srgbClr val="DCE9F7"/>
                </a:solidFill>
                <a:latin typeface="Calibri" pitchFamily="34" charset="0"/>
                <a:ea typeface="Calibri" pitchFamily="34" charset="-122"/>
                <a:cs typeface="Calibri" pitchFamily="34" charset="-120"/>
              </a:rPr>
              <a:t>What every use case reuses, and how it stays in control</a:t>
            </a:r>
            <a:endParaRPr lang="en-US" sz="1600" dirty="0"/>
          </a:p>
        </p:txBody>
      </p:sp>
      <p:sp>
        <p:nvSpPr>
          <p:cNvPr id="5" name="Shape 3"/>
          <p:cNvSpPr/>
          <p:nvPr/>
        </p:nvSpPr>
        <p:spPr>
          <a:xfrm>
            <a:off x="11640312" y="192024"/>
            <a:ext cx="0" cy="649224"/>
          </a:xfrm>
          <a:prstGeom prst="line">
            <a:avLst/>
          </a:prstGeom>
          <a:noFill/>
          <a:ln w="12700">
            <a:solidFill>
              <a:srgbClr val="FFFFFF"/>
            </a:solidFill>
            <a:prstDash val="solid"/>
          </a:ln>
        </p:spPr>
      </p:sp>
      <p:sp>
        <p:nvSpPr>
          <p:cNvPr id="6" name="Text 4"/>
          <p:cNvSpPr txBox="1"/>
          <p:nvPr/>
        </p:nvSpPr>
        <p:spPr>
          <a:xfrm>
            <a:off x="11814048" y="265176"/>
            <a:ext cx="2715768" cy="493776"/>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Solutions Portfolio</a:t>
            </a:r>
            <a:endParaRPr lang="en-US" sz="2200" dirty="0"/>
          </a:p>
        </p:txBody>
      </p:sp>
      <p:sp>
        <p:nvSpPr>
          <p:cNvPr id="7" name="Shape 5"/>
          <p:cNvSpPr/>
          <p:nvPr/>
        </p:nvSpPr>
        <p:spPr>
          <a:xfrm>
            <a:off x="502920" y="1234440"/>
            <a:ext cx="13624560" cy="2240280"/>
          </a:xfrm>
          <a:prstGeom prst="roundRect">
            <a:avLst>
              <a:gd name="adj" fmla="val 2449"/>
            </a:avLst>
          </a:prstGeom>
          <a:solidFill>
            <a:srgbClr val="FFFFFF"/>
          </a:solidFill>
          <a:ln w="9525">
            <a:solidFill>
              <a:srgbClr val="C8D8EC"/>
            </a:solidFill>
            <a:prstDash val="solid"/>
          </a:ln>
        </p:spPr>
      </p:sp>
      <p:sp>
        <p:nvSpPr>
          <p:cNvPr id="8" name="Text 6"/>
          <p:cNvSpPr txBox="1"/>
          <p:nvPr/>
        </p:nvSpPr>
        <p:spPr>
          <a:xfrm>
            <a:off x="685800" y="1325880"/>
            <a:ext cx="4572000" cy="274320"/>
          </a:xfrm>
          <a:prstGeom prst="rect">
            <a:avLst/>
          </a:prstGeom>
          <a:noFill/>
          <a:ln/>
        </p:spPr>
        <p:txBody>
          <a:bodyPr wrap="square" lIns="0" tIns="0" rIns="0" bIns="0" rtlCol="0" anchor="ctr"/>
          <a:lstStyle/>
          <a:p>
            <a:pPr indent="0" marL="0">
              <a:buNone/>
            </a:pPr>
            <a:r>
              <a:rPr lang="en-US" sz="1300" b="1" dirty="0">
                <a:solidFill>
                  <a:srgbClr val="1F2D3D"/>
                </a:solidFill>
                <a:latin typeface="Calibri" pitchFamily="34" charset="0"/>
                <a:ea typeface="Calibri" pitchFamily="34" charset="-122"/>
                <a:cs typeface="Calibri" pitchFamily="34" charset="-120"/>
              </a:rPr>
              <a:t>Technology &amp; Data Flow</a:t>
            </a:r>
            <a:endParaRPr lang="en-US" sz="1300" dirty="0"/>
          </a:p>
        </p:txBody>
      </p:sp>
      <p:sp>
        <p:nvSpPr>
          <p:cNvPr id="9" name="Shape 7"/>
          <p:cNvSpPr/>
          <p:nvPr/>
        </p:nvSpPr>
        <p:spPr>
          <a:xfrm>
            <a:off x="1389888" y="1737360"/>
            <a:ext cx="548640" cy="548640"/>
          </a:xfrm>
          <a:prstGeom prst="roundRect">
            <a:avLst>
              <a:gd name="adj" fmla="val 16667"/>
            </a:avLst>
          </a:prstGeom>
          <a:solidFill>
            <a:srgbClr val="1B4F93"/>
          </a:solidFill>
          <a:ln w="12700">
            <a:solidFill>
              <a:srgbClr val="1B4F93"/>
            </a:solidFill>
            <a:prstDash val="solid"/>
          </a:ln>
        </p:spPr>
      </p:sp>
      <p:pic>
        <p:nvPicPr>
          <p:cNvPr id="10" name="Image 0" descr="preencoded.png">    </p:cNvPr>
          <p:cNvPicPr>
            <a:picLocks noChangeAspect="1"/>
          </p:cNvPicPr>
          <p:nvPr/>
        </p:nvPicPr>
        <p:blipFill>
          <a:blip r:embed="rId1"/>
          <a:stretch>
            <a:fillRect/>
          </a:stretch>
        </p:blipFill>
        <p:spPr>
          <a:xfrm>
            <a:off x="1510589" y="1858061"/>
            <a:ext cx="307238" cy="307238"/>
          </a:xfrm>
          <a:prstGeom prst="rect">
            <a:avLst/>
          </a:prstGeom>
        </p:spPr>
      </p:pic>
      <p:sp>
        <p:nvSpPr>
          <p:cNvPr id="11" name="Text 8"/>
          <p:cNvSpPr txBox="1"/>
          <p:nvPr/>
        </p:nvSpPr>
        <p:spPr>
          <a:xfrm>
            <a:off x="73152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Source Systems</a:t>
            </a:r>
            <a:endParaRPr lang="en-US" sz="1200" dirty="0"/>
          </a:p>
        </p:txBody>
      </p:sp>
      <p:sp>
        <p:nvSpPr>
          <p:cNvPr id="12" name="Text 9"/>
          <p:cNvSpPr txBox="1"/>
          <p:nvPr/>
        </p:nvSpPr>
        <p:spPr>
          <a:xfrm>
            <a:off x="73152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Ledgers, ETB, P&amp;L, recs, ref data</a:t>
            </a:r>
            <a:endParaRPr lang="en-US" sz="950" dirty="0"/>
          </a:p>
        </p:txBody>
      </p:sp>
      <p:sp>
        <p:nvSpPr>
          <p:cNvPr id="13" name="Shape 10"/>
          <p:cNvSpPr/>
          <p:nvPr/>
        </p:nvSpPr>
        <p:spPr>
          <a:xfrm>
            <a:off x="2103120" y="2011680"/>
            <a:ext cx="822960" cy="0"/>
          </a:xfrm>
          <a:prstGeom prst="line">
            <a:avLst/>
          </a:prstGeom>
          <a:noFill/>
          <a:ln w="19050">
            <a:solidFill>
              <a:srgbClr val="6B7C93"/>
            </a:solidFill>
            <a:prstDash val="solid"/>
            <a:tailEnd type="triangle"/>
          </a:ln>
        </p:spPr>
      </p:sp>
      <p:sp>
        <p:nvSpPr>
          <p:cNvPr id="14" name="Shape 11"/>
          <p:cNvSpPr/>
          <p:nvPr/>
        </p:nvSpPr>
        <p:spPr>
          <a:xfrm>
            <a:off x="3630168" y="1737360"/>
            <a:ext cx="548640" cy="548640"/>
          </a:xfrm>
          <a:prstGeom prst="roundRect">
            <a:avLst>
              <a:gd name="adj" fmla="val 16667"/>
            </a:avLst>
          </a:prstGeom>
          <a:solidFill>
            <a:srgbClr val="2A6EBB"/>
          </a:solidFill>
          <a:ln w="12700">
            <a:solidFill>
              <a:srgbClr val="2A6EBB"/>
            </a:solidFill>
            <a:prstDash val="solid"/>
          </a:ln>
        </p:spPr>
      </p:sp>
      <p:pic>
        <p:nvPicPr>
          <p:cNvPr id="15" name="Image 1" descr="preencoded.png">    </p:cNvPr>
          <p:cNvPicPr>
            <a:picLocks noChangeAspect="1"/>
          </p:cNvPicPr>
          <p:nvPr/>
        </p:nvPicPr>
        <p:blipFill>
          <a:blip r:embed="rId2"/>
          <a:stretch>
            <a:fillRect/>
          </a:stretch>
        </p:blipFill>
        <p:spPr>
          <a:xfrm>
            <a:off x="3750869" y="1858061"/>
            <a:ext cx="307238" cy="307238"/>
          </a:xfrm>
          <a:prstGeom prst="rect">
            <a:avLst/>
          </a:prstGeom>
        </p:spPr>
      </p:pic>
      <p:sp>
        <p:nvSpPr>
          <p:cNvPr id="16" name="Text 12"/>
          <p:cNvSpPr txBox="1"/>
          <p:nvPr/>
        </p:nvSpPr>
        <p:spPr>
          <a:xfrm>
            <a:off x="297180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One Fin UX</a:t>
            </a:r>
            <a:endParaRPr lang="en-US" sz="1200" dirty="0"/>
          </a:p>
        </p:txBody>
      </p:sp>
      <p:sp>
        <p:nvSpPr>
          <p:cNvPr id="17" name="Text 13"/>
          <p:cNvSpPr txBox="1"/>
          <p:nvPr/>
        </p:nvSpPr>
        <p:spPr>
          <a:xfrm>
            <a:off x="297180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Events and business outcome</a:t>
            </a:r>
            <a:endParaRPr lang="en-US" sz="950" dirty="0"/>
          </a:p>
        </p:txBody>
      </p:sp>
      <p:sp>
        <p:nvSpPr>
          <p:cNvPr id="18" name="Shape 14"/>
          <p:cNvSpPr/>
          <p:nvPr/>
        </p:nvSpPr>
        <p:spPr>
          <a:xfrm>
            <a:off x="4343400" y="2011680"/>
            <a:ext cx="822960" cy="0"/>
          </a:xfrm>
          <a:prstGeom prst="line">
            <a:avLst/>
          </a:prstGeom>
          <a:noFill/>
          <a:ln w="19050">
            <a:solidFill>
              <a:srgbClr val="6B7C93"/>
            </a:solidFill>
            <a:prstDash val="solid"/>
            <a:tailEnd type="triangle"/>
          </a:ln>
        </p:spPr>
      </p:sp>
      <p:sp>
        <p:nvSpPr>
          <p:cNvPr id="19" name="Shape 15"/>
          <p:cNvSpPr/>
          <p:nvPr/>
        </p:nvSpPr>
        <p:spPr>
          <a:xfrm>
            <a:off x="5870448" y="1737360"/>
            <a:ext cx="548640" cy="548640"/>
          </a:xfrm>
          <a:prstGeom prst="roundRect">
            <a:avLst>
              <a:gd name="adj" fmla="val 16667"/>
            </a:avLst>
          </a:prstGeom>
          <a:solidFill>
            <a:srgbClr val="1E8A5A"/>
          </a:solidFill>
          <a:ln w="12700">
            <a:solidFill>
              <a:srgbClr val="1E8A5A"/>
            </a:solidFill>
            <a:prstDash val="solid"/>
          </a:ln>
        </p:spPr>
      </p:sp>
      <p:pic>
        <p:nvPicPr>
          <p:cNvPr id="20" name="Image 2" descr="preencoded.png">    </p:cNvPr>
          <p:cNvPicPr>
            <a:picLocks noChangeAspect="1"/>
          </p:cNvPicPr>
          <p:nvPr/>
        </p:nvPicPr>
        <p:blipFill>
          <a:blip r:embed="rId3"/>
          <a:stretch>
            <a:fillRect/>
          </a:stretch>
        </p:blipFill>
        <p:spPr>
          <a:xfrm>
            <a:off x="5991149" y="1858061"/>
            <a:ext cx="307238" cy="307238"/>
          </a:xfrm>
          <a:prstGeom prst="rect">
            <a:avLst/>
          </a:prstGeom>
        </p:spPr>
      </p:pic>
      <p:sp>
        <p:nvSpPr>
          <p:cNvPr id="21" name="Text 16"/>
          <p:cNvSpPr txBox="1"/>
          <p:nvPr/>
        </p:nvSpPr>
        <p:spPr>
          <a:xfrm>
            <a:off x="521208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Solution Agent</a:t>
            </a:r>
            <a:endParaRPr lang="en-US" sz="1200" dirty="0"/>
          </a:p>
        </p:txBody>
      </p:sp>
      <p:sp>
        <p:nvSpPr>
          <p:cNvPr id="22" name="Text 17"/>
          <p:cNvSpPr txBox="1"/>
          <p:nvPr/>
        </p:nvSpPr>
        <p:spPr>
          <a:xfrm>
            <a:off x="521208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Helix, P&amp;L, Controls, Close...</a:t>
            </a:r>
            <a:endParaRPr lang="en-US" sz="950" dirty="0"/>
          </a:p>
        </p:txBody>
      </p:sp>
      <p:sp>
        <p:nvSpPr>
          <p:cNvPr id="23" name="Shape 18"/>
          <p:cNvSpPr/>
          <p:nvPr/>
        </p:nvSpPr>
        <p:spPr>
          <a:xfrm>
            <a:off x="6583680" y="2011680"/>
            <a:ext cx="822960" cy="0"/>
          </a:xfrm>
          <a:prstGeom prst="line">
            <a:avLst/>
          </a:prstGeom>
          <a:noFill/>
          <a:ln w="19050">
            <a:solidFill>
              <a:srgbClr val="6B7C93"/>
            </a:solidFill>
            <a:prstDash val="solid"/>
            <a:tailEnd type="triangle"/>
          </a:ln>
        </p:spPr>
      </p:sp>
      <p:sp>
        <p:nvSpPr>
          <p:cNvPr id="24" name="Shape 19"/>
          <p:cNvSpPr/>
          <p:nvPr/>
        </p:nvSpPr>
        <p:spPr>
          <a:xfrm>
            <a:off x="8110728" y="1737360"/>
            <a:ext cx="548640" cy="548640"/>
          </a:xfrm>
          <a:prstGeom prst="roundRect">
            <a:avLst>
              <a:gd name="adj" fmla="val 16667"/>
            </a:avLst>
          </a:prstGeom>
          <a:solidFill>
            <a:srgbClr val="5B4FA8"/>
          </a:solidFill>
          <a:ln w="12700">
            <a:solidFill>
              <a:srgbClr val="5B4FA8"/>
            </a:solidFill>
            <a:prstDash val="solid"/>
          </a:ln>
        </p:spPr>
      </p:sp>
      <p:pic>
        <p:nvPicPr>
          <p:cNvPr id="25" name="Image 3" descr="preencoded.png">    </p:cNvPr>
          <p:cNvPicPr>
            <a:picLocks noChangeAspect="1"/>
          </p:cNvPicPr>
          <p:nvPr/>
        </p:nvPicPr>
        <p:blipFill>
          <a:blip r:embed="rId4"/>
          <a:stretch>
            <a:fillRect/>
          </a:stretch>
        </p:blipFill>
        <p:spPr>
          <a:xfrm>
            <a:off x="8231429" y="1858061"/>
            <a:ext cx="307238" cy="307238"/>
          </a:xfrm>
          <a:prstGeom prst="rect">
            <a:avLst/>
          </a:prstGeom>
        </p:spPr>
      </p:pic>
      <p:sp>
        <p:nvSpPr>
          <p:cNvPr id="26" name="Text 20"/>
          <p:cNvSpPr txBox="1"/>
          <p:nvPr/>
        </p:nvSpPr>
        <p:spPr>
          <a:xfrm>
            <a:off x="745236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Agent One / LLM</a:t>
            </a:r>
            <a:endParaRPr lang="en-US" sz="1200" dirty="0"/>
          </a:p>
        </p:txBody>
      </p:sp>
      <p:sp>
        <p:nvSpPr>
          <p:cNvPr id="27" name="Text 21"/>
          <p:cNvSpPr txBox="1"/>
          <p:nvPr/>
        </p:nvSpPr>
        <p:spPr>
          <a:xfrm>
            <a:off x="745236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Skills, playbooks, sessions</a:t>
            </a:r>
            <a:endParaRPr lang="en-US" sz="950" dirty="0"/>
          </a:p>
        </p:txBody>
      </p:sp>
      <p:sp>
        <p:nvSpPr>
          <p:cNvPr id="28" name="Shape 22"/>
          <p:cNvSpPr/>
          <p:nvPr/>
        </p:nvSpPr>
        <p:spPr>
          <a:xfrm>
            <a:off x="8823960" y="2011680"/>
            <a:ext cx="822960" cy="0"/>
          </a:xfrm>
          <a:prstGeom prst="line">
            <a:avLst/>
          </a:prstGeom>
          <a:noFill/>
          <a:ln w="19050">
            <a:solidFill>
              <a:srgbClr val="6B7C93"/>
            </a:solidFill>
            <a:prstDash val="solid"/>
            <a:tailEnd type="triangle"/>
          </a:ln>
        </p:spPr>
      </p:sp>
      <p:sp>
        <p:nvSpPr>
          <p:cNvPr id="29" name="Shape 23"/>
          <p:cNvSpPr/>
          <p:nvPr/>
        </p:nvSpPr>
        <p:spPr>
          <a:xfrm>
            <a:off x="10351008" y="1737360"/>
            <a:ext cx="548640" cy="548640"/>
          </a:xfrm>
          <a:prstGeom prst="roundRect">
            <a:avLst>
              <a:gd name="adj" fmla="val 16667"/>
            </a:avLst>
          </a:prstGeom>
          <a:solidFill>
            <a:srgbClr val="C0392B"/>
          </a:solidFill>
          <a:ln w="12700">
            <a:solidFill>
              <a:srgbClr val="C0392B"/>
            </a:solidFill>
            <a:prstDash val="solid"/>
          </a:ln>
        </p:spPr>
      </p:sp>
      <p:pic>
        <p:nvPicPr>
          <p:cNvPr id="30" name="Image 4" descr="preencoded.png">    </p:cNvPr>
          <p:cNvPicPr>
            <a:picLocks noChangeAspect="1"/>
          </p:cNvPicPr>
          <p:nvPr/>
        </p:nvPicPr>
        <p:blipFill>
          <a:blip r:embed="rId5"/>
          <a:stretch>
            <a:fillRect/>
          </a:stretch>
        </p:blipFill>
        <p:spPr>
          <a:xfrm>
            <a:off x="10471709" y="1858061"/>
            <a:ext cx="307238" cy="307238"/>
          </a:xfrm>
          <a:prstGeom prst="rect">
            <a:avLst/>
          </a:prstGeom>
        </p:spPr>
      </p:pic>
      <p:sp>
        <p:nvSpPr>
          <p:cNvPr id="31" name="Text 24"/>
          <p:cNvSpPr txBox="1"/>
          <p:nvPr/>
        </p:nvSpPr>
        <p:spPr>
          <a:xfrm>
            <a:off x="969264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MCP Services</a:t>
            </a:r>
            <a:endParaRPr lang="en-US" sz="1200" dirty="0"/>
          </a:p>
        </p:txBody>
      </p:sp>
      <p:sp>
        <p:nvSpPr>
          <p:cNvPr id="32" name="Text 25"/>
          <p:cNvSpPr txBox="1"/>
          <p:nvPr/>
        </p:nvSpPr>
        <p:spPr>
          <a:xfrm>
            <a:off x="969264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Entitled fetch and posting</a:t>
            </a:r>
            <a:endParaRPr lang="en-US" sz="950" dirty="0"/>
          </a:p>
        </p:txBody>
      </p:sp>
      <p:sp>
        <p:nvSpPr>
          <p:cNvPr id="33" name="Shape 26"/>
          <p:cNvSpPr/>
          <p:nvPr/>
        </p:nvSpPr>
        <p:spPr>
          <a:xfrm>
            <a:off x="11064240" y="2011680"/>
            <a:ext cx="822960" cy="0"/>
          </a:xfrm>
          <a:prstGeom prst="line">
            <a:avLst/>
          </a:prstGeom>
          <a:noFill/>
          <a:ln w="19050">
            <a:solidFill>
              <a:srgbClr val="6B7C93"/>
            </a:solidFill>
            <a:prstDash val="solid"/>
            <a:tailEnd type="triangle"/>
          </a:ln>
        </p:spPr>
      </p:sp>
      <p:sp>
        <p:nvSpPr>
          <p:cNvPr id="34" name="Shape 27"/>
          <p:cNvSpPr/>
          <p:nvPr/>
        </p:nvSpPr>
        <p:spPr>
          <a:xfrm>
            <a:off x="12591288" y="1737360"/>
            <a:ext cx="548640" cy="548640"/>
          </a:xfrm>
          <a:prstGeom prst="roundRect">
            <a:avLst>
              <a:gd name="adj" fmla="val 16667"/>
            </a:avLst>
          </a:prstGeom>
          <a:solidFill>
            <a:srgbClr val="0B2E5E"/>
          </a:solidFill>
          <a:ln w="12700">
            <a:solidFill>
              <a:srgbClr val="0B2E5E"/>
            </a:solidFill>
            <a:prstDash val="solid"/>
          </a:ln>
        </p:spPr>
      </p:sp>
      <p:pic>
        <p:nvPicPr>
          <p:cNvPr id="35" name="Image 5" descr="preencoded.png">    </p:cNvPr>
          <p:cNvPicPr>
            <a:picLocks noChangeAspect="1"/>
          </p:cNvPicPr>
          <p:nvPr/>
        </p:nvPicPr>
        <p:blipFill>
          <a:blip r:embed="rId6"/>
          <a:stretch>
            <a:fillRect/>
          </a:stretch>
        </p:blipFill>
        <p:spPr>
          <a:xfrm>
            <a:off x="12711989" y="1858061"/>
            <a:ext cx="307238" cy="307238"/>
          </a:xfrm>
          <a:prstGeom prst="rect">
            <a:avLst/>
          </a:prstGeom>
        </p:spPr>
      </p:pic>
      <p:sp>
        <p:nvSpPr>
          <p:cNvPr id="36" name="Text 28"/>
          <p:cNvSpPr txBox="1"/>
          <p:nvPr/>
        </p:nvSpPr>
        <p:spPr>
          <a:xfrm>
            <a:off x="11932920" y="2377440"/>
            <a:ext cx="1874520" cy="274320"/>
          </a:xfrm>
          <a:prstGeom prst="rect">
            <a:avLst/>
          </a:prstGeom>
          <a:noFill/>
          <a:ln/>
        </p:spPr>
        <p:txBody>
          <a:bodyPr wrap="square" lIns="0" tIns="0" rIns="0" bIns="0" rtlCol="0" anchor="ctr"/>
          <a:lstStyle/>
          <a:p>
            <a:pPr algn="ctr" indent="0" marL="0">
              <a:buNone/>
            </a:pPr>
            <a:r>
              <a:rPr lang="en-US" sz="1200" b="1" dirty="0">
                <a:solidFill>
                  <a:srgbClr val="1F2D3D"/>
                </a:solidFill>
                <a:latin typeface="Calibri" pitchFamily="34" charset="0"/>
                <a:ea typeface="Calibri" pitchFamily="34" charset="-122"/>
                <a:cs typeface="Calibri" pitchFamily="34" charset="-120"/>
              </a:rPr>
              <a:t>Phoenix Eyes</a:t>
            </a:r>
            <a:endParaRPr lang="en-US" sz="1200" dirty="0"/>
          </a:p>
        </p:txBody>
      </p:sp>
      <p:sp>
        <p:nvSpPr>
          <p:cNvPr id="37" name="Text 29"/>
          <p:cNvSpPr txBox="1"/>
          <p:nvPr/>
        </p:nvSpPr>
        <p:spPr>
          <a:xfrm>
            <a:off x="11932920" y="2651760"/>
            <a:ext cx="1874520" cy="457200"/>
          </a:xfrm>
          <a:prstGeom prst="rect">
            <a:avLst/>
          </a:prstGeom>
          <a:noFill/>
          <a:ln/>
        </p:spPr>
        <p:txBody>
          <a:bodyPr wrap="square" lIns="0" tIns="0" rIns="0" bIns="0" rtlCol="0" anchor="t"/>
          <a:lstStyle/>
          <a:p>
            <a:pPr algn="ctr" indent="0" marL="0">
              <a:buNone/>
            </a:pPr>
            <a:r>
              <a:rPr lang="en-US" sz="950" dirty="0">
                <a:solidFill>
                  <a:srgbClr val="4A5A6E"/>
                </a:solidFill>
                <a:latin typeface="Calibri" pitchFamily="34" charset="0"/>
                <a:ea typeface="Calibri" pitchFamily="34" charset="-122"/>
                <a:cs typeface="Calibri" pitchFamily="34" charset="-120"/>
              </a:rPr>
              <a:t>AI observability and evals</a:t>
            </a:r>
            <a:endParaRPr lang="en-US" sz="950" dirty="0"/>
          </a:p>
        </p:txBody>
      </p:sp>
      <p:sp>
        <p:nvSpPr>
          <p:cNvPr id="38" name="Shape 30"/>
          <p:cNvSpPr/>
          <p:nvPr/>
        </p:nvSpPr>
        <p:spPr>
          <a:xfrm>
            <a:off x="502920" y="3749040"/>
            <a:ext cx="3227832" cy="2743200"/>
          </a:xfrm>
          <a:prstGeom prst="roundRect">
            <a:avLst>
              <a:gd name="adj" fmla="val 2667"/>
            </a:avLst>
          </a:prstGeom>
          <a:solidFill>
            <a:srgbClr val="FFFFFF"/>
          </a:solidFill>
          <a:ln w="9525">
            <a:solidFill>
              <a:srgbClr val="C8D8EC"/>
            </a:solidFill>
            <a:prstDash val="solid"/>
          </a:ln>
        </p:spPr>
      </p:sp>
      <p:sp>
        <p:nvSpPr>
          <p:cNvPr id="39" name="Shape 31"/>
          <p:cNvSpPr/>
          <p:nvPr/>
        </p:nvSpPr>
        <p:spPr>
          <a:xfrm>
            <a:off x="685800" y="3913632"/>
            <a:ext cx="457200" cy="457200"/>
          </a:xfrm>
          <a:prstGeom prst="ellipse">
            <a:avLst/>
          </a:prstGeom>
          <a:solidFill>
            <a:srgbClr val="1E8A5A"/>
          </a:solidFill>
          <a:ln w="12700">
            <a:solidFill>
              <a:srgbClr val="1E8A5A"/>
            </a:solidFill>
            <a:prstDash val="solid"/>
          </a:ln>
        </p:spPr>
      </p:sp>
      <p:pic>
        <p:nvPicPr>
          <p:cNvPr id="40" name="Image 6" descr="preencoded.png">    </p:cNvPr>
          <p:cNvPicPr>
            <a:picLocks noChangeAspect="1"/>
          </p:cNvPicPr>
          <p:nvPr/>
        </p:nvPicPr>
        <p:blipFill>
          <a:blip r:embed="rId7"/>
          <a:stretch>
            <a:fillRect/>
          </a:stretch>
        </p:blipFill>
        <p:spPr>
          <a:xfrm>
            <a:off x="804672" y="4032504"/>
            <a:ext cx="219456" cy="219456"/>
          </a:xfrm>
          <a:prstGeom prst="rect">
            <a:avLst/>
          </a:prstGeom>
        </p:spPr>
      </p:pic>
      <p:sp>
        <p:nvSpPr>
          <p:cNvPr id="41" name="Text 32"/>
          <p:cNvSpPr txBox="1"/>
          <p:nvPr/>
        </p:nvSpPr>
        <p:spPr>
          <a:xfrm>
            <a:off x="1252728"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Business Value</a:t>
            </a:r>
            <a:endParaRPr lang="en-US" sz="1400" dirty="0"/>
          </a:p>
        </p:txBody>
      </p:sp>
      <p:sp>
        <p:nvSpPr>
          <p:cNvPr id="42" name="Text 33"/>
          <p:cNvSpPr txBox="1"/>
          <p:nvPr/>
        </p:nvSpPr>
        <p:spPr>
          <a:xfrm>
            <a:off x="731520"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Work ready before the day starts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Less manual investigation</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Consistent, explained outcomes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Capacity released across streams</a:t>
            </a:r>
            <a:endParaRPr lang="en-US" sz="1300" dirty="0"/>
          </a:p>
        </p:txBody>
      </p:sp>
      <p:sp>
        <p:nvSpPr>
          <p:cNvPr id="43" name="Shape 34"/>
          <p:cNvSpPr/>
          <p:nvPr/>
        </p:nvSpPr>
        <p:spPr>
          <a:xfrm>
            <a:off x="3941064" y="3749040"/>
            <a:ext cx="3227832" cy="2743200"/>
          </a:xfrm>
          <a:prstGeom prst="roundRect">
            <a:avLst>
              <a:gd name="adj" fmla="val 2667"/>
            </a:avLst>
          </a:prstGeom>
          <a:solidFill>
            <a:srgbClr val="FFFFFF"/>
          </a:solidFill>
          <a:ln w="9525">
            <a:solidFill>
              <a:srgbClr val="C8D8EC"/>
            </a:solidFill>
            <a:prstDash val="solid"/>
          </a:ln>
        </p:spPr>
      </p:sp>
      <p:sp>
        <p:nvSpPr>
          <p:cNvPr id="44" name="Shape 35"/>
          <p:cNvSpPr/>
          <p:nvPr/>
        </p:nvSpPr>
        <p:spPr>
          <a:xfrm>
            <a:off x="4123944" y="3913632"/>
            <a:ext cx="457200" cy="457200"/>
          </a:xfrm>
          <a:prstGeom prst="ellipse">
            <a:avLst/>
          </a:prstGeom>
          <a:solidFill>
            <a:srgbClr val="2A6EBB"/>
          </a:solidFill>
          <a:ln w="12700">
            <a:solidFill>
              <a:srgbClr val="2A6EBB"/>
            </a:solidFill>
            <a:prstDash val="solid"/>
          </a:ln>
        </p:spPr>
      </p:sp>
      <p:pic>
        <p:nvPicPr>
          <p:cNvPr id="45" name="Image 7" descr="preencoded.png">    </p:cNvPr>
          <p:cNvPicPr>
            <a:picLocks noChangeAspect="1"/>
          </p:cNvPicPr>
          <p:nvPr/>
        </p:nvPicPr>
        <p:blipFill>
          <a:blip r:embed="rId8"/>
          <a:stretch>
            <a:fillRect/>
          </a:stretch>
        </p:blipFill>
        <p:spPr>
          <a:xfrm>
            <a:off x="4242816" y="4032504"/>
            <a:ext cx="219456" cy="219456"/>
          </a:xfrm>
          <a:prstGeom prst="rect">
            <a:avLst/>
          </a:prstGeom>
        </p:spPr>
      </p:pic>
      <p:sp>
        <p:nvSpPr>
          <p:cNvPr id="46" name="Text 36"/>
          <p:cNvSpPr txBox="1"/>
          <p:nvPr/>
        </p:nvSpPr>
        <p:spPr>
          <a:xfrm>
            <a:off x="4690872"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Key Capabilities</a:t>
            </a:r>
            <a:endParaRPr lang="en-US" sz="1400" dirty="0"/>
          </a:p>
        </p:txBody>
      </p:sp>
      <p:sp>
        <p:nvSpPr>
          <p:cNvPr id="47" name="Text 37"/>
          <p:cNvSpPr txBox="1"/>
          <p:nvPr/>
        </p:nvSpPr>
        <p:spPr>
          <a:xfrm>
            <a:off x="4169664"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Agent One skills and sessions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LangGraph orchestration, HITL</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MCP tools with entitlements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Bitemporal knowledge graph</a:t>
            </a:r>
            <a:endParaRPr lang="en-US" sz="1300" dirty="0"/>
          </a:p>
        </p:txBody>
      </p:sp>
      <p:sp>
        <p:nvSpPr>
          <p:cNvPr id="48" name="Shape 38"/>
          <p:cNvSpPr/>
          <p:nvPr/>
        </p:nvSpPr>
        <p:spPr>
          <a:xfrm>
            <a:off x="7379208" y="3749040"/>
            <a:ext cx="3227832" cy="2743200"/>
          </a:xfrm>
          <a:prstGeom prst="roundRect">
            <a:avLst>
              <a:gd name="adj" fmla="val 2667"/>
            </a:avLst>
          </a:prstGeom>
          <a:solidFill>
            <a:srgbClr val="FFFFFF"/>
          </a:solidFill>
          <a:ln w="9525">
            <a:solidFill>
              <a:srgbClr val="C8D8EC"/>
            </a:solidFill>
            <a:prstDash val="solid"/>
          </a:ln>
        </p:spPr>
      </p:sp>
      <p:sp>
        <p:nvSpPr>
          <p:cNvPr id="49" name="Shape 39"/>
          <p:cNvSpPr/>
          <p:nvPr/>
        </p:nvSpPr>
        <p:spPr>
          <a:xfrm>
            <a:off x="7562088" y="3913632"/>
            <a:ext cx="457200" cy="457200"/>
          </a:xfrm>
          <a:prstGeom prst="ellipse">
            <a:avLst/>
          </a:prstGeom>
          <a:solidFill>
            <a:srgbClr val="5B4FA8"/>
          </a:solidFill>
          <a:ln w="12700">
            <a:solidFill>
              <a:srgbClr val="5B4FA8"/>
            </a:solidFill>
            <a:prstDash val="solid"/>
          </a:ln>
        </p:spPr>
      </p:sp>
      <p:pic>
        <p:nvPicPr>
          <p:cNvPr id="50" name="Image 8" descr="preencoded.png">    </p:cNvPr>
          <p:cNvPicPr>
            <a:picLocks noChangeAspect="1"/>
          </p:cNvPicPr>
          <p:nvPr/>
        </p:nvPicPr>
        <p:blipFill>
          <a:blip r:embed="rId9"/>
          <a:stretch>
            <a:fillRect/>
          </a:stretch>
        </p:blipFill>
        <p:spPr>
          <a:xfrm>
            <a:off x="7680960" y="4032504"/>
            <a:ext cx="219456" cy="219456"/>
          </a:xfrm>
          <a:prstGeom prst="rect">
            <a:avLst/>
          </a:prstGeom>
        </p:spPr>
      </p:pic>
      <p:sp>
        <p:nvSpPr>
          <p:cNvPr id="51" name="Text 40"/>
          <p:cNvSpPr txBox="1"/>
          <p:nvPr/>
        </p:nvSpPr>
        <p:spPr>
          <a:xfrm>
            <a:off x="8129016"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Governance &amp; Risk</a:t>
            </a:r>
            <a:endParaRPr lang="en-US" sz="1400" dirty="0"/>
          </a:p>
        </p:txBody>
      </p:sp>
      <p:sp>
        <p:nvSpPr>
          <p:cNvPr id="52" name="Text 41"/>
          <p:cNvSpPr txBox="1"/>
          <p:nvPr/>
        </p:nvSpPr>
        <p:spPr>
          <a:xfrm>
            <a:off x="7607808"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Named owner approves every action</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Numbers from code, not the LLM</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AI traced in Phoenix</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Existing app audit unchanged</a:t>
            </a:r>
            <a:endParaRPr lang="en-US" sz="1300" dirty="0"/>
          </a:p>
        </p:txBody>
      </p:sp>
      <p:sp>
        <p:nvSpPr>
          <p:cNvPr id="53" name="Shape 42"/>
          <p:cNvSpPr/>
          <p:nvPr/>
        </p:nvSpPr>
        <p:spPr>
          <a:xfrm>
            <a:off x="10817352" y="3749040"/>
            <a:ext cx="3227832" cy="2743200"/>
          </a:xfrm>
          <a:prstGeom prst="roundRect">
            <a:avLst>
              <a:gd name="adj" fmla="val 2667"/>
            </a:avLst>
          </a:prstGeom>
          <a:solidFill>
            <a:srgbClr val="FFFFFF"/>
          </a:solidFill>
          <a:ln w="9525">
            <a:solidFill>
              <a:srgbClr val="C8D8EC"/>
            </a:solidFill>
            <a:prstDash val="solid"/>
          </a:ln>
        </p:spPr>
      </p:sp>
      <p:sp>
        <p:nvSpPr>
          <p:cNvPr id="54" name="Shape 43"/>
          <p:cNvSpPr/>
          <p:nvPr/>
        </p:nvSpPr>
        <p:spPr>
          <a:xfrm>
            <a:off x="11000232" y="3913632"/>
            <a:ext cx="457200" cy="457200"/>
          </a:xfrm>
          <a:prstGeom prst="ellipse">
            <a:avLst/>
          </a:prstGeom>
          <a:solidFill>
            <a:srgbClr val="1F4E8C"/>
          </a:solidFill>
          <a:ln w="12700">
            <a:solidFill>
              <a:srgbClr val="1F4E8C"/>
            </a:solidFill>
            <a:prstDash val="solid"/>
          </a:ln>
        </p:spPr>
      </p:sp>
      <p:pic>
        <p:nvPicPr>
          <p:cNvPr id="55" name="Image 9" descr="preencoded.png">    </p:cNvPr>
          <p:cNvPicPr>
            <a:picLocks noChangeAspect="1"/>
          </p:cNvPicPr>
          <p:nvPr/>
        </p:nvPicPr>
        <p:blipFill>
          <a:blip r:embed="rId10"/>
          <a:stretch>
            <a:fillRect/>
          </a:stretch>
        </p:blipFill>
        <p:spPr>
          <a:xfrm>
            <a:off x="11119104" y="4032504"/>
            <a:ext cx="219456" cy="219456"/>
          </a:xfrm>
          <a:prstGeom prst="rect">
            <a:avLst/>
          </a:prstGeom>
        </p:spPr>
      </p:pic>
      <p:sp>
        <p:nvSpPr>
          <p:cNvPr id="56" name="Text 44"/>
          <p:cNvSpPr txBox="1"/>
          <p:nvPr/>
        </p:nvSpPr>
        <p:spPr>
          <a:xfrm>
            <a:off x="11567160" y="3913632"/>
            <a:ext cx="2377440" cy="457200"/>
          </a:xfrm>
          <a:prstGeom prst="rect">
            <a:avLst/>
          </a:prstGeom>
          <a:noFill/>
          <a:ln/>
        </p:spPr>
        <p:txBody>
          <a:bodyPr wrap="square" lIns="0" tIns="0" rIns="0" bIns="0" rtlCol="0" anchor="ctr"/>
          <a:lstStyle/>
          <a:p>
            <a:pPr indent="0" marL="0">
              <a:buNone/>
            </a:pPr>
            <a:r>
              <a:rPr lang="en-US" sz="1400" b="1" dirty="0">
                <a:solidFill>
                  <a:srgbClr val="1F2D3D"/>
                </a:solidFill>
                <a:latin typeface="Calibri" pitchFamily="34" charset="0"/>
                <a:ea typeface="Calibri" pitchFamily="34" charset="-122"/>
                <a:cs typeface="Calibri" pitchFamily="34" charset="-120"/>
              </a:rPr>
              <a:t>Continuous Improvement</a:t>
            </a:r>
            <a:endParaRPr lang="en-US" sz="1400" dirty="0"/>
          </a:p>
        </p:txBody>
      </p:sp>
      <p:sp>
        <p:nvSpPr>
          <p:cNvPr id="57" name="Text 45"/>
          <p:cNvSpPr txBox="1"/>
          <p:nvPr/>
        </p:nvSpPr>
        <p:spPr>
          <a:xfrm>
            <a:off x="11045952" y="4553712"/>
            <a:ext cx="2834640" cy="1783080"/>
          </a:xfrm>
          <a:prstGeom prst="rect">
            <a:avLst/>
          </a:prstGeom>
          <a:noFill/>
          <a:ln/>
        </p:spPr>
        <p:txBody>
          <a:bodyPr wrap="square" lIns="0" tIns="0" rIns="0" bIns="0" rtlCol="0" anchor="t"/>
          <a:lstStyle/>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Eval gates before each release</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Skill gap analysis from traces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Feedback loop from reviewers</a:t>
            </a:r>
            <a:endParaRPr lang="en-US" sz="1300" dirty="0"/>
          </a:p>
          <a:p>
            <a:pPr marL="342900" indent="-342900">
              <a:spcAft>
                <a:spcPts val="1200"/>
              </a:spcAft>
              <a:buSzPct val="100000"/>
              <a:buChar char="•"/>
            </a:pPr>
            <a:r>
              <a:rPr lang="en-US" sz="1300" dirty="0">
                <a:solidFill>
                  <a:srgbClr val="4A5A6E"/>
                </a:solidFill>
                <a:latin typeface="Calibri" pitchFamily="34" charset="0"/>
                <a:ea typeface="Calibri" pitchFamily="34" charset="-122"/>
                <a:cs typeface="Calibri" pitchFamily="34" charset="-120"/>
              </a:rPr>
              <a:t>Governed learning loop</a:t>
            </a:r>
            <a:endParaRPr lang="en-US" sz="1300" dirty="0"/>
          </a:p>
        </p:txBody>
      </p:sp>
      <p:sp>
        <p:nvSpPr>
          <p:cNvPr id="58" name="Text 46"/>
          <p:cNvSpPr txBox="1"/>
          <p:nvPr/>
        </p:nvSpPr>
        <p:spPr>
          <a:xfrm>
            <a:off x="502920" y="6720840"/>
            <a:ext cx="3657600" cy="274320"/>
          </a:xfrm>
          <a:prstGeom prst="rect">
            <a:avLst/>
          </a:prstGeom>
          <a:noFill/>
          <a:ln/>
        </p:spPr>
        <p:txBody>
          <a:bodyPr wrap="square" lIns="0" tIns="0" rIns="0" bIns="0" rtlCol="0" anchor="ctr"/>
          <a:lstStyle/>
          <a:p>
            <a:pPr indent="0" marL="0">
              <a:buNone/>
            </a:pPr>
            <a:r>
              <a:rPr lang="en-US" sz="1100" b="1" dirty="0">
                <a:solidFill>
                  <a:srgbClr val="1F2D3D"/>
                </a:solidFill>
                <a:latin typeface="Calibri" pitchFamily="34" charset="0"/>
                <a:ea typeface="Calibri" pitchFamily="34" charset="-122"/>
                <a:cs typeface="Calibri" pitchFamily="34" charset="-120"/>
              </a:rPr>
              <a:t>Per new use case</a:t>
            </a:r>
            <a:endParaRPr lang="en-US" sz="1100" dirty="0"/>
          </a:p>
        </p:txBody>
      </p:sp>
      <p:sp>
        <p:nvSpPr>
          <p:cNvPr id="59" name="Shape 47"/>
          <p:cNvSpPr/>
          <p:nvPr/>
        </p:nvSpPr>
        <p:spPr>
          <a:xfrm>
            <a:off x="502920" y="7040880"/>
            <a:ext cx="6748272" cy="1097280"/>
          </a:xfrm>
          <a:prstGeom prst="roundRect">
            <a:avLst>
              <a:gd name="adj" fmla="val 6667"/>
            </a:avLst>
          </a:prstGeom>
          <a:solidFill>
            <a:srgbClr val="FFFFFF"/>
          </a:solidFill>
          <a:ln w="9525">
            <a:solidFill>
              <a:srgbClr val="C8D8EC"/>
            </a:solidFill>
            <a:prstDash val="solid"/>
          </a:ln>
        </p:spPr>
      </p:sp>
      <p:sp>
        <p:nvSpPr>
          <p:cNvPr id="60" name="Shape 48"/>
          <p:cNvSpPr/>
          <p:nvPr/>
        </p:nvSpPr>
        <p:spPr>
          <a:xfrm>
            <a:off x="685800" y="7223760"/>
            <a:ext cx="1737360" cy="310896"/>
          </a:xfrm>
          <a:prstGeom prst="roundRect">
            <a:avLst>
              <a:gd name="adj" fmla="val 50000"/>
            </a:avLst>
          </a:prstGeom>
          <a:solidFill>
            <a:srgbClr val="1E8A5A"/>
          </a:solidFill>
          <a:ln w="12700">
            <a:solidFill>
              <a:srgbClr val="1E8A5A"/>
            </a:solidFill>
            <a:prstDash val="solid"/>
          </a:ln>
        </p:spPr>
      </p:sp>
      <p:sp>
        <p:nvSpPr>
          <p:cNvPr id="61" name="Text 49"/>
          <p:cNvSpPr txBox="1"/>
          <p:nvPr/>
        </p:nvSpPr>
        <p:spPr>
          <a:xfrm>
            <a:off x="685800" y="72237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Reused as is</a:t>
            </a:r>
            <a:endParaRPr lang="en-US" sz="1050" dirty="0"/>
          </a:p>
        </p:txBody>
      </p:sp>
      <p:sp>
        <p:nvSpPr>
          <p:cNvPr id="62" name="Text 50"/>
          <p:cNvSpPr txBox="1"/>
          <p:nvPr/>
        </p:nvSpPr>
        <p:spPr>
          <a:xfrm>
            <a:off x="685800" y="7607808"/>
            <a:ext cx="6400800" cy="45720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One Fin UX events, orchestration pattern, Agent One harness, Phoenix Eyes, eval framework, audit model, workbench UI shell</a:t>
            </a:r>
            <a:endParaRPr lang="en-US" sz="1050" dirty="0"/>
          </a:p>
        </p:txBody>
      </p:sp>
      <p:sp>
        <p:nvSpPr>
          <p:cNvPr id="63" name="Shape 51"/>
          <p:cNvSpPr/>
          <p:nvPr/>
        </p:nvSpPr>
        <p:spPr>
          <a:xfrm>
            <a:off x="7379208" y="7040880"/>
            <a:ext cx="6748272" cy="1097280"/>
          </a:xfrm>
          <a:prstGeom prst="roundRect">
            <a:avLst>
              <a:gd name="adj" fmla="val 6667"/>
            </a:avLst>
          </a:prstGeom>
          <a:solidFill>
            <a:srgbClr val="FFFFFF"/>
          </a:solidFill>
          <a:ln w="9525">
            <a:solidFill>
              <a:srgbClr val="C8D8EC"/>
            </a:solidFill>
            <a:prstDash val="solid"/>
          </a:ln>
        </p:spPr>
      </p:sp>
      <p:sp>
        <p:nvSpPr>
          <p:cNvPr id="64" name="Shape 52"/>
          <p:cNvSpPr/>
          <p:nvPr/>
        </p:nvSpPr>
        <p:spPr>
          <a:xfrm>
            <a:off x="7562088" y="7223760"/>
            <a:ext cx="1737360" cy="310896"/>
          </a:xfrm>
          <a:prstGeom prst="roundRect">
            <a:avLst>
              <a:gd name="adj" fmla="val 50000"/>
            </a:avLst>
          </a:prstGeom>
          <a:solidFill>
            <a:srgbClr val="5B4FA8"/>
          </a:solidFill>
          <a:ln w="12700">
            <a:solidFill>
              <a:srgbClr val="5B4FA8"/>
            </a:solidFill>
            <a:prstDash val="solid"/>
          </a:ln>
        </p:spPr>
      </p:sp>
      <p:sp>
        <p:nvSpPr>
          <p:cNvPr id="65" name="Text 53"/>
          <p:cNvSpPr txBox="1"/>
          <p:nvPr/>
        </p:nvSpPr>
        <p:spPr>
          <a:xfrm>
            <a:off x="7562088" y="7223760"/>
            <a:ext cx="1737360" cy="310896"/>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Added per use case</a:t>
            </a:r>
            <a:endParaRPr lang="en-US" sz="1050" dirty="0"/>
          </a:p>
        </p:txBody>
      </p:sp>
      <p:sp>
        <p:nvSpPr>
          <p:cNvPr id="66" name="Text 54"/>
          <p:cNvSpPr txBox="1"/>
          <p:nvPr/>
        </p:nvSpPr>
        <p:spPr>
          <a:xfrm>
            <a:off x="7562088" y="7607808"/>
            <a:ext cx="6400800" cy="457200"/>
          </a:xfrm>
          <a:prstGeom prst="rect">
            <a:avLst/>
          </a:prstGeom>
          <a:noFill/>
          <a:ln/>
        </p:spPr>
        <p:txBody>
          <a:bodyPr wrap="square" lIns="0" tIns="0" rIns="0" bIns="0" rtlCol="0" anchor="t"/>
          <a:lstStyle/>
          <a:p>
            <a:pPr indent="0" marL="0">
              <a:buNone/>
            </a:pPr>
            <a:r>
              <a:rPr lang="en-US" sz="1050" dirty="0">
                <a:solidFill>
                  <a:srgbClr val="4A5A6E"/>
                </a:solidFill>
                <a:latin typeface="Calibri" pitchFamily="34" charset="0"/>
                <a:ea typeface="Calibri" pitchFamily="34" charset="-122"/>
                <a:cs typeface="Calibri" pitchFamily="34" charset="-120"/>
              </a:rPr>
              <a:t>Skills and playbooks, MCP tools for its systems, knowledge for its domain, workspace configuration, eval cases</a:t>
            </a:r>
            <a:endParaRPr lang="en-US" sz="1050" dirty="0"/>
          </a:p>
        </p:txBody>
      </p:sp>
      <p:sp>
        <p:nvSpPr>
          <p:cNvPr id="67" name="Shape 55"/>
          <p:cNvSpPr/>
          <p:nvPr/>
        </p:nvSpPr>
        <p:spPr>
          <a:xfrm>
            <a:off x="0" y="9272016"/>
            <a:ext cx="14630400" cy="484632"/>
          </a:xfrm>
          <a:prstGeom prst="rect">
            <a:avLst/>
          </a:prstGeom>
          <a:solidFill>
            <a:srgbClr val="0B2E5E"/>
          </a:solidFill>
          <a:ln w="12700">
            <a:solidFill>
              <a:srgbClr val="0B2E5E"/>
            </a:solidFill>
            <a:prstDash val="solid"/>
          </a:ln>
        </p:spPr>
      </p:sp>
      <p:sp>
        <p:nvSpPr>
          <p:cNvPr id="68" name="Text 56"/>
          <p:cNvSpPr txBox="1"/>
          <p:nvPr/>
        </p:nvSpPr>
        <p:spPr>
          <a:xfrm>
            <a:off x="0" y="9272016"/>
            <a:ext cx="14630400" cy="48463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Finance AI Solutions</a:t>
            </a:r>
            <a:pPr algn="ctr" indent="0" marL="0">
              <a:buNone/>
            </a:pPr>
            <a:r>
              <a:rPr lang="en-US" sz="1100" dirty="0">
                <a:solidFill>
                  <a:srgbClr val="FFFFFF"/>
                </a:solidFill>
                <a:latin typeface="Calibri" pitchFamily="34" charset="0"/>
                <a:ea typeface="Calibri" pitchFamily="34" charset="-122"/>
                <a:cs typeface="Calibri" pitchFamily="34" charset="-120"/>
              </a:rPr>
              <a:t>   |   Agents reason. Engines compute. People approve.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Finance AI Solutions Portfolio</dc:title>
  <dc:subject>PptxGenJS Presentation</dc:subject>
  <dc:creator>PptxGenJS</dc:creator>
  <cp:lastModifiedBy>PptxGenJS</cp:lastModifiedBy>
  <cp:revision>1</cp:revision>
  <dcterms:created xsi:type="dcterms:W3CDTF">2026-09-30T17:54:22Z</dcterms:created>
  <dcterms:modified xsi:type="dcterms:W3CDTF">2026-09-30T17:54:22Z</dcterms:modified>
</cp:coreProperties>
</file>