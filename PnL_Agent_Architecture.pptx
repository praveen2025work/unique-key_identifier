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DISCUSSION PREP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Workflow → Agent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design for fast-track, optimized, on-time P&amp;L delivery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3383280" cy="960120"/>
          </a:xfrm>
          <a:prstGeom prst="rect">
            <a:avLst/>
          </a:prstGeom>
          <a:solidFill>
            <a:srgbClr val="13315C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206240"/>
            <a:ext cx="54864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P&amp;Ls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4206240"/>
            <a:ext cx="3383280" cy="960120"/>
          </a:xfrm>
          <a:prstGeom prst="rect">
            <a:avLst/>
          </a:prstGeom>
          <a:solidFill>
            <a:srgbClr val="13315C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4206240"/>
            <a:ext cx="54864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humans at toll gates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4206240"/>
            <a:ext cx="3383280" cy="960120"/>
          </a:xfrm>
          <a:prstGeom prst="rect">
            <a:avLst/>
          </a:prstGeom>
          <a:solidFill>
            <a:srgbClr val="13315C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4206240"/>
            <a:ext cx="54864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cycle, same controls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Kumar Nandyala  ·  Finance Technology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today's P&amp;L workflow into an agent-driven flow that compresses cycle time without weakening controls.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206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rule-based stages without queueing. Trader-lane reconciles, AVP-lane adjusts and finalizes — in parallel, not in series.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57600" cy="4206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3657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35204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triage, P&amp;L explain, and commentary draft auto-generate. Controllers review exceptions instead of producing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657600" cy="4206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83080"/>
            <a:ext cx="3657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9536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95360" y="35204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EOD delivery. Schedulers replaced by event-driven agents that respond to book-open events from MOTIF in real time.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1539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Warlock principle: "If you can't describe an agent in one sentence, it is too complex."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Daily P&amp;L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end-of-day toll gates, mostly sequential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55448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1920240" y="1280160"/>
            <a:ext cx="201168" cy="1051560"/>
          </a:xfrm>
          <a:prstGeom prst="rtTriangl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417320"/>
            <a:ext cx="11887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75304" y="1417320"/>
            <a:ext cx="11887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Agreement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4024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10328" y="1417320"/>
            <a:ext cx="11887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 Alloc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9048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45352" y="1417320"/>
            <a:ext cx="11887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34072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0376" y="1417320"/>
            <a:ext cx="1188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Explain Brokers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69096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15400" y="1417320"/>
            <a:ext cx="1188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PnL Balance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04120" y="1805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50424" y="1417320"/>
            <a:ext cx="1188720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96144" y="1463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in Ctrl Expiries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667744" y="1536192"/>
            <a:ext cx="548640" cy="548640"/>
          </a:xfrm>
          <a:prstGeom prst="ellipse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67744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423160"/>
            <a:ext cx="1554480" cy="1051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Contributor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(AVP)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5400000">
            <a:off x="1920240" y="2423160"/>
            <a:ext cx="201168" cy="1051560"/>
          </a:xfrm>
          <a:prstGeom prst="rtTriangl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0280" y="2560320"/>
            <a:ext cx="118872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Account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2948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75304" y="2560320"/>
            <a:ext cx="118872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1024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64024" y="2948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910328" y="2560320"/>
            <a:ext cx="118872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99048" y="2948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45352" y="2560320"/>
            <a:ext cx="118872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Expenses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34072" y="2948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80376" y="2560320"/>
            <a:ext cx="118872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Control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97696" y="2679192"/>
            <a:ext cx="548640" cy="548640"/>
          </a:xfrm>
          <a:prstGeom prst="ellipse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97696" y="267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566160"/>
            <a:ext cx="1554480" cy="105156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 rot="5400000">
            <a:off x="1920240" y="3566160"/>
            <a:ext cx="201168" cy="1051560"/>
          </a:xfrm>
          <a:prstGeom prst="rtTriangle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40280" y="3703320"/>
            <a:ext cx="1188720" cy="7772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3749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Submit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29000" y="4091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575304" y="3703320"/>
            <a:ext cx="1188720" cy="7772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1024" y="3749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Flow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64024" y="4091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910328" y="3703320"/>
            <a:ext cx="1188720" cy="7772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3749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Bal Approval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27648" y="3822192"/>
            <a:ext cx="548640" cy="548640"/>
          </a:xfrm>
          <a:prstGeom prst="ellipse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4709160"/>
            <a:ext cx="1554480" cy="10515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892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5720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(VP)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 rot="5400000">
            <a:off x="1920240" y="4709160"/>
            <a:ext cx="201168" cy="1051560"/>
          </a:xfrm>
          <a:prstGeom prst="rtTriangle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40280" y="4846320"/>
            <a:ext cx="1188720" cy="77724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4892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Sign-off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429000" y="5234940"/>
            <a:ext cx="146304" cy="0"/>
          </a:xfrm>
          <a:prstGeom prst="line">
            <a:avLst/>
          </a:prstGeom>
          <a:noFill/>
          <a:ln w="127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575304" y="4846320"/>
            <a:ext cx="1188720" cy="77724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21024" y="4892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Unrealization Report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92624" y="50109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92624" y="5010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" y="5897880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" y="5870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/ automation-capable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0" y="5897880"/>
            <a:ext cx="164592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71800" y="5870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Exception-notification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029200" y="5897880"/>
            <a:ext cx="164592" cy="164592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57800" y="5870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reconciliation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315200" y="5897880"/>
            <a:ext cx="164592" cy="164592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43800" y="5870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scheduling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601200" y="5897880"/>
            <a:ext cx="164592" cy="164592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29800" y="5870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automation has the most leverage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workflow, classified by what an agent can confidently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owns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and rule-based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monitoring (MOTIF events)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Agreement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 Allocation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Inter-account / Flow checks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queries (GL → trade)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draft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5760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371600"/>
            <a:ext cx="365760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1719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journals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classification &amp; routing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Reclassification (FI Credit)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Expenses tie-out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Control checklist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triage above threshold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65760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71600"/>
            <a:ext cx="3657600" cy="5486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only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1719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gates stay manual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 of journals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PnL Balance Approval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Sign-off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variance override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Unrealization Reporting attestation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specialists, MCP tool layer, deterministic source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ln w="12700">
            <a:solidFill>
              <a:srgbClr val="8B95A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entitlement  ·  audit  ·  model risk  ·  four-eyes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916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cockpit  ·  ask · review · sign off · override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0" cy="182880"/>
          </a:xfrm>
          <a:prstGeom prst="line">
            <a:avLst/>
          </a:prstGeom>
          <a:noFill/>
          <a:ln w="1905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24231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423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 ·  routes work, owns end-to-end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926080"/>
            <a:ext cx="0" cy="182880"/>
          </a:xfrm>
          <a:prstGeom prst="line">
            <a:avLst/>
          </a:prstGeom>
          <a:noFill/>
          <a:ln w="1905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8600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84832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↔ BO recon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41064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41064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journals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97296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97296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route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53528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Prep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53528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desk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09760" y="32004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32735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narrative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4023360"/>
            <a:ext cx="0" cy="182880"/>
          </a:xfrm>
          <a:prstGeom prst="line">
            <a:avLst/>
          </a:prstGeom>
          <a:noFill/>
          <a:ln w="1905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371600" y="425196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42519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  ·  deterministic reads · controlled writes · no autonomous posts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80760" y="4754880"/>
            <a:ext cx="0" cy="182880"/>
          </a:xfrm>
          <a:prstGeom prst="line">
            <a:avLst/>
          </a:prstGeom>
          <a:noFill/>
          <a:ln w="1905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37744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9525">
            <a:solidFill>
              <a:srgbClr val="8B95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7744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50592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9525">
            <a:solidFill>
              <a:srgbClr val="8B95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BOFC / GL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50592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Sub-ledger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9525">
            <a:solidFill>
              <a:srgbClr val="8B95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Engine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63440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to market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76288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9525">
            <a:solidFill>
              <a:srgbClr val="8B95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Hub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7628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records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89136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9525">
            <a:solidFill>
              <a:srgbClr val="8B95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89136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089136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· humans post · everything logged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inventory — one sentence each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Peter's rule: if it doesn't fit in one line, the agent is too complex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292608" cy="29260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435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4356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work between specialists and owns end-to-end state per name PNL.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0025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002536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when books are ready in CFC and triggers downstream agents.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2432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24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5694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56946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front-office to back-office reconciliation and surfaces breaks.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91256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1363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1363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adjustment journals with policy citation; never posts.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93592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58184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58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7033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breaks, suggests resolution, routes to controller.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2511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2702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Prep agent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91840" y="42702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desk-level P&amp;L and reconciles to manual baseline.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727448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89204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92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48371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agent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91840" y="4837176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desk-head commentary in their voice from historical patterns.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294376"/>
            <a:ext cx="1133856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458968"/>
            <a:ext cx="292608" cy="292608"/>
          </a:xfrm>
          <a:prstGeom prst="ellipse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458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" y="54041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chase agent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91840" y="540410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attestation state, nudges laggards, escalates aging items.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 act, where humans stay — across the four toll gates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event from MOTIF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103120"/>
            <a:ext cx="36576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7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drills into agent's recon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+ flow + lineage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+ Lineage agents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36576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7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posts journal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journals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agent (proposes)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2103120"/>
            <a:ext cx="36576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7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 reviews variance commentary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523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P&amp;L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Prep + Commentary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89720" y="2103120"/>
            <a:ext cx="36576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4108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7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signs off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55548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4692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front office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554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chase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54480" y="4315968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4315968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toll gate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4297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exposes the upstream agents' inputs, outputs, and tool calls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937760"/>
            <a:ext cx="365760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 not post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" y="5394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adjustments and reclassifications. Humans authorize the GL write.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43400" y="4937760"/>
            <a:ext cx="365760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4937760"/>
            <a:ext cx="73152" cy="14630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Drill-back at every gate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0" y="5394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clicks any number → sees which agent produced it, with which prompt and tool calls.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0" y="4937760"/>
            <a:ext cx="3657600" cy="1463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4937760"/>
            <a:ext cx="73152" cy="146304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582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oversight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58200" y="5394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Above-threshold variance auto-routes to senior controller; below-threshold auto-resolves with audit.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— before &amp; after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compression for a single name P&amp;L (illustrative, to validate with real data)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hours from book-open to VP sign-off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auto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64592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exc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240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920240"/>
            <a:ext cx="2377440" cy="640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920240"/>
            <a:ext cx="2286000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1920240"/>
            <a:ext cx="914400" cy="64008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sign-off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92640" y="1920240"/>
            <a:ext cx="914400" cy="640080"/>
          </a:xfrm>
          <a:prstGeom prst="rect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Wait/queue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3836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hours — agents collapse parallel rule-based work, humans focus on toll gates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20116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(recon, FOBO, prep)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291840"/>
            <a:ext cx="91440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review @ gate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146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291840"/>
            <a:ext cx="13716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(adjust, explain)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611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137160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posts journals @ gate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611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291840"/>
            <a:ext cx="9144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assembly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3291840"/>
            <a:ext cx="1371600" cy="64008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sign-off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86600" y="3611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526280"/>
            <a:ext cx="3657600" cy="1554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617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00" dirty="0"/>
          </a:p>
        </p:txBody>
      </p:sp>
      <p:sp>
        <p:nvSpPr>
          <p:cNvPr id="46" name="Text 44"/>
          <p:cNvSpPr/>
          <p:nvPr/>
        </p:nvSpPr>
        <p:spPr>
          <a:xfrm>
            <a:off x="6400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reduction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4526280"/>
            <a:ext cx="3657600" cy="1554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4617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600" dirty="0"/>
          </a:p>
        </p:txBody>
      </p:sp>
      <p:sp>
        <p:nvSpPr>
          <p:cNvPr id="49" name="Text 47"/>
          <p:cNvSpPr/>
          <p:nvPr/>
        </p:nvSpPr>
        <p:spPr>
          <a:xfrm>
            <a:off x="45262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parallelism in trader lane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29600" y="4526280"/>
            <a:ext cx="3657600" cy="1554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46177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52" name="Text 50"/>
          <p:cNvSpPr/>
          <p:nvPr/>
        </p:nvSpPr>
        <p:spPr>
          <a:xfrm>
            <a:off x="84124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autonomous GL posts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illustrative — to be calibrated against current PNL workflow telemetry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for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Anthropic's design must account for, given Barclays context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influencing a number on the GL or reg report falls under SR 11-7 / PRA SS1/23. Validation pack, drift monitoring, override rates required from day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for numbers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reason; deterministic tools compute. Same inputs → same numbers at T+1. Snapshot prompt + tool outputs as audit record.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variation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Credit has FOBO removed (June '25); reclassification still runs. The agent layer must accommodate variants without forking.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97180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book vs name PNL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4747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drives orchestration: ~200 name PNLs to monitor. One orchestrator instance per name PNL, shared toolset.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1772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tool call, agent decision goes to immutable storage with hash chain. WORM-grade retrievability for MRM and Internal Audit.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577840" cy="1508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61772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to baseline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Agent-produced P&amp;L must reconcile to the manual baseline before any cut-over. Run in shadow mode for a full quarter.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Anthropic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their view on before we lock the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validate the agent layer for MRM (SR 11-7 / PRA equivalent) when LLMs introduce non-determinism?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40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human oversight: does PC review every step or only above threshold? What does the regulator expect?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pattern for ~200 name PNLs — one orchestrator instance per PNL, or shared with state isolation?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0332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modes: when an agent errors mid-flow, what is the rollback / human handoff pattern?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8056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61772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572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loop: how do we capture controller corrections to improve agents over time without retraining?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257800"/>
            <a:ext cx="73152" cy="640080"/>
          </a:xfrm>
          <a:prstGeom prst="rect">
            <a:avLst/>
          </a:prstGeom>
          <a:solidFill>
            <a:srgbClr val="C77F3F"/>
          </a:solidFill>
          <a:ln w="12700">
            <a:solidFill>
              <a:srgbClr val="C77F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build sequence: which agent ships first, and which is the last to be granted any write capability?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 — earn the right to write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ladder: every step earns the next. No autonomous GL posting, ever.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" y="2651760"/>
            <a:ext cx="10533888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2194560"/>
            <a:ext cx="914400" cy="91440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65176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Q&amp;A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" y="3657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P&amp;L, breaks. Zero write capability. Builds controller trust + audit corpus.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" y="5212080"/>
            <a:ext cx="14630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2194560"/>
            <a:ext cx="914400" cy="91440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624328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draft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3657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commentary draft. Controller edits and signs. 30-60 min/desk/day saved.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0088" y="5212080"/>
            <a:ext cx="14630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194560"/>
            <a:ext cx="914400" cy="91440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triage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3657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classifies and routes to Exception Hub. Human resolves. Cycle-time win.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5212080"/>
            <a:ext cx="14630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82712" y="2194560"/>
            <a:ext cx="914400" cy="91440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342632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proposal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3657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journal with policy citation. Human posts. Four-eyes enforced.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08392" y="5212080"/>
            <a:ext cx="14630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11-14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41864" y="2194560"/>
            <a:ext cx="914400" cy="91440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1864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9701784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micro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93224" y="3657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Sub-threshold breaks auto-resolve via controlled tool. First true agent write.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67544" y="5212080"/>
            <a:ext cx="14630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67544" y="5212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15-18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There is no Step 6 (autonomous posting). The marginal economic value is small relative to the regulatory exposure.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Architecture · Pilot for 3 P&amp;Ls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ANTHROPIC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Anthropic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for orchestrator + specialist pattern in regulated finance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Toll-gate design pattern for human-in-the-loop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Multi-PNL orchestration pattern (~200 name PNLs)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MRM-friendly audit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build sequence and risk gates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2331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JSON for the 3 pilot P&amp;Ls (stage names, toll gates)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Volumetrics: cycle times, exception rates, manual touch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contact and validation requirements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inventory: MOTIF, BOFC, GMS, Exception Hub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cohort for shadow-mode pilot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 from Monday: aligned principles, agreed pilot scope, dated next session.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P&amp;L Workflow → Agent Architecture</dc:title>
  <dc:subject>PptxGenJS Presentation</dc:subject>
  <dc:creator>Praveen Kumar Nandyala</dc:creator>
  <cp:lastModifiedBy>Praveen Kumar Nandyala</cp:lastModifiedBy>
  <cp:revision>1</cp:revision>
  <dcterms:created xsi:type="dcterms:W3CDTF">2026-05-08T19:14:22Z</dcterms:created>
  <dcterms:modified xsi:type="dcterms:W3CDTF">2026-05-08T19:14:22Z</dcterms:modified>
</cp:coreProperties>
</file>