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4630400" cy="9753905"/>
  <p:notesSz cx="9753905"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Recreates the Accounting Control &amp; Analytics functional architecture. Amber badges show which agent use case covers each function. Most manual (blue) steps are covered; system processes are touched only where an agent investigates their output (controls) or raises an approved instruction (adjustments). GL to SL true up is noted for discussion under use case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Helix is use case 1 of 8 and the reference build. Status chips show where each stands; next-wave items build on existing platforms (Exception Hub, One Fin UX PoC, BO consolidation, Entitlement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Helix is the reference row. Every other use case follows the same six lanes, so each one reuses the platform and the control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architecture. Every other use case uses the same five lanes, numbered flow and control strips.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Covers the FO and Finance Flash v Formal boxes plus PLEX Analysis and Reclassification. Builds on the P&amp;L Controller plugin for Agent One and the P&amp;L bridge model. Output feeds Trader Sign Off (UC5).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Control checks stay deterministic in the Exception Hub and ledgers. The agent reasons over unresolved breaks and ageing. Adjustments go through the existing Adjustments function as approved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Covers the Analysis &amp; Review boxes except PLEX (UC2) and Exceptions &amp; Break Analysis (UC1, UC3). Commentary Generation becomes a draft-and-approve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Builds on the One Finance UX event-driven business outcome PoC for readiness. Pulls outputs of UC1 to UC4 into one sign-off pack.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 consolidation platform (Java + BO SDK + Python ML clustering) reduces the estate first, which makes agent validation coverage practical.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Closes the loop shown on the functional view: Analytics Corrections and Data Correction Instructions flow back to Master / Reference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Uses the Central Enterprise Entitlement System (Spring Boot, Hibernate Envers, Oracle) as the source of truth. Campaign applications shown are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Mirrors the Helix technology and data flow slide, generalised across all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image" Target="../media/image-2-13.png"/><Relationship Id="rId14" Type="http://schemas.openxmlformats.org/officeDocument/2006/relationships/image" Target="../media/image-2-14.png"/><Relationship Id="rId15" Type="http://schemas.openxmlformats.org/officeDocument/2006/relationships/image" Target="../media/image-2-15.png"/><Relationship Id="rId16" Type="http://schemas.openxmlformats.org/officeDocument/2006/relationships/image" Target="../media/image-2-16.png"/><Relationship Id="rId17" Type="http://schemas.openxmlformats.org/officeDocument/2006/relationships/image" Target="../media/image-2-17.png"/><Relationship Id="rId18" Type="http://schemas.openxmlformats.org/officeDocument/2006/relationships/image" Target="../media/image-2-18.png"/><Relationship Id="rId19" Type="http://schemas.openxmlformats.org/officeDocument/2006/relationships/slideLayout" Target="../slideLayouts/slideLayout1.xml"/><Relationship Id="rId2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image" Target="../media/image-4-13.png"/><Relationship Id="rId14" Type="http://schemas.openxmlformats.org/officeDocument/2006/relationships/image" Target="../media/image-4-14.png"/><Relationship Id="rId15" Type="http://schemas.openxmlformats.org/officeDocument/2006/relationships/image" Target="../media/image-4-15.png"/><Relationship Id="rId16" Type="http://schemas.openxmlformats.org/officeDocument/2006/relationships/image" Target="../media/image-4-16.png"/><Relationship Id="rId17" Type="http://schemas.openxmlformats.org/officeDocument/2006/relationships/image" Target="../media/image-4-17.png"/><Relationship Id="rId18" Type="http://schemas.openxmlformats.org/officeDocument/2006/relationships/image" Target="../media/image-4-18.png"/><Relationship Id="rId19" Type="http://schemas.openxmlformats.org/officeDocument/2006/relationships/image" Target="../media/image-4-19.png"/><Relationship Id="rId20" Type="http://schemas.openxmlformats.org/officeDocument/2006/relationships/image" Target="../media/image-4-20.png"/><Relationship Id="rId21" Type="http://schemas.openxmlformats.org/officeDocument/2006/relationships/image" Target="../media/image-4-21.png"/><Relationship Id="rId22" Type="http://schemas.openxmlformats.org/officeDocument/2006/relationships/image" Target="../media/image-4-22.png"/><Relationship Id="rId23" Type="http://schemas.openxmlformats.org/officeDocument/2006/relationships/image" Target="../media/image-4-23.png"/><Relationship Id="rId24" Type="http://schemas.openxmlformats.org/officeDocument/2006/relationships/image" Target="../media/image-4-24.png"/><Relationship Id="rId25" Type="http://schemas.openxmlformats.org/officeDocument/2006/relationships/image" Target="../media/image-4-25.png"/><Relationship Id="rId26" Type="http://schemas.openxmlformats.org/officeDocument/2006/relationships/image" Target="../media/image-4-26.png"/><Relationship Id="rId27" Type="http://schemas.openxmlformats.org/officeDocument/2006/relationships/image" Target="../media/image-4-27.png"/><Relationship Id="rId28" Type="http://schemas.openxmlformats.org/officeDocument/2006/relationships/image" Target="../media/image-4-28.png"/><Relationship Id="rId29" Type="http://schemas.openxmlformats.org/officeDocument/2006/relationships/image" Target="../media/image-4-29.png"/><Relationship Id="rId30" Type="http://schemas.openxmlformats.org/officeDocument/2006/relationships/slideLayout" Target="../slideLayouts/slideLayout1.xml"/><Relationship Id="rId3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image" Target="../media/image-5-14.png"/><Relationship Id="rId15" Type="http://schemas.openxmlformats.org/officeDocument/2006/relationships/image" Target="../media/image-5-15.png"/><Relationship Id="rId16" Type="http://schemas.openxmlformats.org/officeDocument/2006/relationships/image" Target="../media/image-5-16.png"/><Relationship Id="rId17" Type="http://schemas.openxmlformats.org/officeDocument/2006/relationships/image" Target="../media/image-5-17.png"/><Relationship Id="rId18" Type="http://schemas.openxmlformats.org/officeDocument/2006/relationships/image" Target="../media/image-5-18.png"/><Relationship Id="rId19" Type="http://schemas.openxmlformats.org/officeDocument/2006/relationships/image" Target="../media/image-5-19.png"/><Relationship Id="rId20" Type="http://schemas.openxmlformats.org/officeDocument/2006/relationships/image" Target="../media/image-5-20.png"/><Relationship Id="rId21" Type="http://schemas.openxmlformats.org/officeDocument/2006/relationships/image" Target="../media/image-5-21.png"/><Relationship Id="rId22" Type="http://schemas.openxmlformats.org/officeDocument/2006/relationships/image" Target="../media/image-5-22.png"/><Relationship Id="rId23" Type="http://schemas.openxmlformats.org/officeDocument/2006/relationships/image" Target="../media/image-5-23.png"/><Relationship Id="rId24" Type="http://schemas.openxmlformats.org/officeDocument/2006/relationships/image" Target="../media/image-5-24.png"/><Relationship Id="rId25" Type="http://schemas.openxmlformats.org/officeDocument/2006/relationships/image" Target="../media/image-5-25.png"/><Relationship Id="rId26" Type="http://schemas.openxmlformats.org/officeDocument/2006/relationships/image" Target="../media/image-5-26.png"/><Relationship Id="rId27" Type="http://schemas.openxmlformats.org/officeDocument/2006/relationships/image" Target="../media/image-5-27.png"/><Relationship Id="rId28" Type="http://schemas.openxmlformats.org/officeDocument/2006/relationships/image" Target="../media/image-5-28.png"/><Relationship Id="rId29" Type="http://schemas.openxmlformats.org/officeDocument/2006/relationships/image" Target="../media/image-5-29.png"/><Relationship Id="rId30" Type="http://schemas.openxmlformats.org/officeDocument/2006/relationships/slideLayout" Target="../slideLayouts/slideLayout1.xml"/><Relationship Id="rId3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image" Target="../media/image-6-13.png"/><Relationship Id="rId14" Type="http://schemas.openxmlformats.org/officeDocument/2006/relationships/image" Target="../media/image-6-14.png"/><Relationship Id="rId15" Type="http://schemas.openxmlformats.org/officeDocument/2006/relationships/image" Target="../media/image-6-15.png"/><Relationship Id="rId16" Type="http://schemas.openxmlformats.org/officeDocument/2006/relationships/image" Target="../media/image-6-16.png"/><Relationship Id="rId17" Type="http://schemas.openxmlformats.org/officeDocument/2006/relationships/image" Target="../media/image-6-17.png"/><Relationship Id="rId18" Type="http://schemas.openxmlformats.org/officeDocument/2006/relationships/image" Target="../media/image-6-18.png"/><Relationship Id="rId19" Type="http://schemas.openxmlformats.org/officeDocument/2006/relationships/image" Target="../media/image-6-19.png"/><Relationship Id="rId20" Type="http://schemas.openxmlformats.org/officeDocument/2006/relationships/image" Target="../media/image-6-20.png"/><Relationship Id="rId21" Type="http://schemas.openxmlformats.org/officeDocument/2006/relationships/image" Target="../media/image-6-21.png"/><Relationship Id="rId22" Type="http://schemas.openxmlformats.org/officeDocument/2006/relationships/image" Target="../media/image-6-22.png"/><Relationship Id="rId23" Type="http://schemas.openxmlformats.org/officeDocument/2006/relationships/image" Target="../media/image-6-23.png"/><Relationship Id="rId24" Type="http://schemas.openxmlformats.org/officeDocument/2006/relationships/image" Target="../media/image-6-24.png"/><Relationship Id="rId25" Type="http://schemas.openxmlformats.org/officeDocument/2006/relationships/image" Target="../media/image-6-25.png"/><Relationship Id="rId26" Type="http://schemas.openxmlformats.org/officeDocument/2006/relationships/image" Target="../media/image-6-26.png"/><Relationship Id="rId27" Type="http://schemas.openxmlformats.org/officeDocument/2006/relationships/image" Target="../media/image-6-27.png"/><Relationship Id="rId28" Type="http://schemas.openxmlformats.org/officeDocument/2006/relationships/image" Target="../media/image-6-28.png"/><Relationship Id="rId29" Type="http://schemas.openxmlformats.org/officeDocument/2006/relationships/image" Target="../media/image-6-29.png"/><Relationship Id="rId30" Type="http://schemas.openxmlformats.org/officeDocument/2006/relationships/slideLayout" Target="../slideLayouts/slideLayout1.xml"/><Relationship Id="rId3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image" Target="../media/image-7-13.png"/><Relationship Id="rId14" Type="http://schemas.openxmlformats.org/officeDocument/2006/relationships/image" Target="../media/image-7-14.png"/><Relationship Id="rId15" Type="http://schemas.openxmlformats.org/officeDocument/2006/relationships/image" Target="../media/image-7-15.png"/><Relationship Id="rId16" Type="http://schemas.openxmlformats.org/officeDocument/2006/relationships/image" Target="../media/image-7-16.png"/><Relationship Id="rId17" Type="http://schemas.openxmlformats.org/officeDocument/2006/relationships/image" Target="../media/image-7-17.png"/><Relationship Id="rId18" Type="http://schemas.openxmlformats.org/officeDocument/2006/relationships/image" Target="../media/image-7-18.png"/><Relationship Id="rId19" Type="http://schemas.openxmlformats.org/officeDocument/2006/relationships/image" Target="../media/image-7-19.png"/><Relationship Id="rId20" Type="http://schemas.openxmlformats.org/officeDocument/2006/relationships/image" Target="../media/image-7-20.png"/><Relationship Id="rId21" Type="http://schemas.openxmlformats.org/officeDocument/2006/relationships/image" Target="../media/image-7-21.png"/><Relationship Id="rId22" Type="http://schemas.openxmlformats.org/officeDocument/2006/relationships/image" Target="../media/image-7-22.png"/><Relationship Id="rId23" Type="http://schemas.openxmlformats.org/officeDocument/2006/relationships/image" Target="../media/image-7-23.png"/><Relationship Id="rId24" Type="http://schemas.openxmlformats.org/officeDocument/2006/relationships/image" Target="../media/image-7-24.png"/><Relationship Id="rId25" Type="http://schemas.openxmlformats.org/officeDocument/2006/relationships/image" Target="../media/image-7-25.png"/><Relationship Id="rId26" Type="http://schemas.openxmlformats.org/officeDocument/2006/relationships/image" Target="../media/image-7-26.png"/><Relationship Id="rId27" Type="http://schemas.openxmlformats.org/officeDocument/2006/relationships/image" Target="../media/image-7-27.png"/><Relationship Id="rId28" Type="http://schemas.openxmlformats.org/officeDocument/2006/relationships/image" Target="../media/image-7-28.png"/><Relationship Id="rId29" Type="http://schemas.openxmlformats.org/officeDocument/2006/relationships/image" Target="../media/image-7-29.png"/><Relationship Id="rId30" Type="http://schemas.openxmlformats.org/officeDocument/2006/relationships/slideLayout" Target="../slideLayouts/slideLayout1.xml"/><Relationship Id="rId3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image" Target="../media/image-8-13.png"/><Relationship Id="rId14" Type="http://schemas.openxmlformats.org/officeDocument/2006/relationships/image" Target="../media/image-8-14.png"/><Relationship Id="rId15" Type="http://schemas.openxmlformats.org/officeDocument/2006/relationships/image" Target="../media/image-8-15.png"/><Relationship Id="rId16" Type="http://schemas.openxmlformats.org/officeDocument/2006/relationships/image" Target="../media/image-8-16.png"/><Relationship Id="rId17" Type="http://schemas.openxmlformats.org/officeDocument/2006/relationships/image" Target="../media/image-8-17.png"/><Relationship Id="rId18" Type="http://schemas.openxmlformats.org/officeDocument/2006/relationships/image" Target="../media/image-8-18.png"/><Relationship Id="rId19" Type="http://schemas.openxmlformats.org/officeDocument/2006/relationships/image" Target="../media/image-8-19.png"/><Relationship Id="rId20" Type="http://schemas.openxmlformats.org/officeDocument/2006/relationships/image" Target="../media/image-8-20.png"/><Relationship Id="rId21" Type="http://schemas.openxmlformats.org/officeDocument/2006/relationships/image" Target="../media/image-8-21.png"/><Relationship Id="rId22" Type="http://schemas.openxmlformats.org/officeDocument/2006/relationships/image" Target="../media/image-8-22.png"/><Relationship Id="rId23" Type="http://schemas.openxmlformats.org/officeDocument/2006/relationships/image" Target="../media/image-8-23.png"/><Relationship Id="rId24" Type="http://schemas.openxmlformats.org/officeDocument/2006/relationships/image" Target="../media/image-8-24.png"/><Relationship Id="rId25" Type="http://schemas.openxmlformats.org/officeDocument/2006/relationships/image" Target="../media/image-8-25.png"/><Relationship Id="rId26" Type="http://schemas.openxmlformats.org/officeDocument/2006/relationships/image" Target="../media/image-8-26.png"/><Relationship Id="rId27" Type="http://schemas.openxmlformats.org/officeDocument/2006/relationships/image" Target="../media/image-8-27.png"/><Relationship Id="rId28" Type="http://schemas.openxmlformats.org/officeDocument/2006/relationships/image" Target="../media/image-8-28.png"/><Relationship Id="rId29" Type="http://schemas.openxmlformats.org/officeDocument/2006/relationships/image" Target="../media/image-8-29.png"/><Relationship Id="rId30" Type="http://schemas.openxmlformats.org/officeDocument/2006/relationships/slideLayout" Target="../slideLayouts/slideLayout1.xml"/><Relationship Id="rId3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png"/><Relationship Id="rId13" Type="http://schemas.openxmlformats.org/officeDocument/2006/relationships/image" Target="../media/image-9-13.png"/><Relationship Id="rId14" Type="http://schemas.openxmlformats.org/officeDocument/2006/relationships/image" Target="../media/image-9-14.png"/><Relationship Id="rId15" Type="http://schemas.openxmlformats.org/officeDocument/2006/relationships/image" Target="../media/image-9-15.png"/><Relationship Id="rId16" Type="http://schemas.openxmlformats.org/officeDocument/2006/relationships/image" Target="../media/image-9-16.png"/><Relationship Id="rId17" Type="http://schemas.openxmlformats.org/officeDocument/2006/relationships/image" Target="../media/image-9-17.png"/><Relationship Id="rId18" Type="http://schemas.openxmlformats.org/officeDocument/2006/relationships/image" Target="../media/image-9-18.png"/><Relationship Id="rId19" Type="http://schemas.openxmlformats.org/officeDocument/2006/relationships/image" Target="../media/image-9-19.png"/><Relationship Id="rId20" Type="http://schemas.openxmlformats.org/officeDocument/2006/relationships/image" Target="../media/image-9-20.png"/><Relationship Id="rId21" Type="http://schemas.openxmlformats.org/officeDocument/2006/relationships/image" Target="../media/image-9-21.png"/><Relationship Id="rId22" Type="http://schemas.openxmlformats.org/officeDocument/2006/relationships/image" Target="../media/image-9-22.png"/><Relationship Id="rId23" Type="http://schemas.openxmlformats.org/officeDocument/2006/relationships/image" Target="../media/image-9-23.png"/><Relationship Id="rId24" Type="http://schemas.openxmlformats.org/officeDocument/2006/relationships/image" Target="../media/image-9-24.png"/><Relationship Id="rId25" Type="http://schemas.openxmlformats.org/officeDocument/2006/relationships/image" Target="../media/image-9-25.png"/><Relationship Id="rId26" Type="http://schemas.openxmlformats.org/officeDocument/2006/relationships/image" Target="../media/image-9-26.png"/><Relationship Id="rId27" Type="http://schemas.openxmlformats.org/officeDocument/2006/relationships/image" Target="../media/image-9-27.png"/><Relationship Id="rId28" Type="http://schemas.openxmlformats.org/officeDocument/2006/relationships/image" Target="../media/image-9-28.png"/><Relationship Id="rId29" Type="http://schemas.openxmlformats.org/officeDocument/2006/relationships/image" Target="../media/image-9-29.png"/><Relationship Id="rId30" Type="http://schemas.openxmlformats.org/officeDocument/2006/relationships/slideLayout" Target="../slideLayouts/slideLayout1.xml"/><Relationship Id="rId3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image" Target="../media/image-10-12.png"/><Relationship Id="rId13" Type="http://schemas.openxmlformats.org/officeDocument/2006/relationships/image" Target="../media/image-10-13.png"/><Relationship Id="rId14" Type="http://schemas.openxmlformats.org/officeDocument/2006/relationships/image" Target="../media/image-10-14.png"/><Relationship Id="rId15" Type="http://schemas.openxmlformats.org/officeDocument/2006/relationships/image" Target="../media/image-10-15.png"/><Relationship Id="rId16" Type="http://schemas.openxmlformats.org/officeDocument/2006/relationships/image" Target="../media/image-10-16.png"/><Relationship Id="rId17" Type="http://schemas.openxmlformats.org/officeDocument/2006/relationships/image" Target="../media/image-10-17.png"/><Relationship Id="rId18" Type="http://schemas.openxmlformats.org/officeDocument/2006/relationships/image" Target="../media/image-10-18.png"/><Relationship Id="rId19" Type="http://schemas.openxmlformats.org/officeDocument/2006/relationships/image" Target="../media/image-10-19.png"/><Relationship Id="rId20" Type="http://schemas.openxmlformats.org/officeDocument/2006/relationships/image" Target="../media/image-10-20.png"/><Relationship Id="rId21" Type="http://schemas.openxmlformats.org/officeDocument/2006/relationships/image" Target="../media/image-10-21.png"/><Relationship Id="rId22" Type="http://schemas.openxmlformats.org/officeDocument/2006/relationships/image" Target="../media/image-10-22.png"/><Relationship Id="rId23" Type="http://schemas.openxmlformats.org/officeDocument/2006/relationships/image" Target="../media/image-10-23.png"/><Relationship Id="rId24" Type="http://schemas.openxmlformats.org/officeDocument/2006/relationships/image" Target="../media/image-10-24.png"/><Relationship Id="rId25" Type="http://schemas.openxmlformats.org/officeDocument/2006/relationships/image" Target="../media/image-10-25.png"/><Relationship Id="rId26" Type="http://schemas.openxmlformats.org/officeDocument/2006/relationships/image" Target="../media/image-10-26.png"/><Relationship Id="rId27" Type="http://schemas.openxmlformats.org/officeDocument/2006/relationships/image" Target="../media/image-10-27.png"/><Relationship Id="rId28" Type="http://schemas.openxmlformats.org/officeDocument/2006/relationships/image" Target="../media/image-10-28.png"/><Relationship Id="rId29" Type="http://schemas.openxmlformats.org/officeDocument/2006/relationships/image" Target="../media/image-10-29.png"/><Relationship Id="rId30" Type="http://schemas.openxmlformats.org/officeDocument/2006/relationships/slideLayout" Target="../slideLayouts/slideLayout1.xml"/><Relationship Id="rId31"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image" Target="../media/image-11-12.png"/><Relationship Id="rId13" Type="http://schemas.openxmlformats.org/officeDocument/2006/relationships/image" Target="../media/image-11-13.png"/><Relationship Id="rId14" Type="http://schemas.openxmlformats.org/officeDocument/2006/relationships/image" Target="../media/image-11-14.png"/><Relationship Id="rId15" Type="http://schemas.openxmlformats.org/officeDocument/2006/relationships/image" Target="../media/image-11-15.png"/><Relationship Id="rId16" Type="http://schemas.openxmlformats.org/officeDocument/2006/relationships/image" Target="../media/image-11-16.png"/><Relationship Id="rId17" Type="http://schemas.openxmlformats.org/officeDocument/2006/relationships/image" Target="../media/image-11-17.png"/><Relationship Id="rId18" Type="http://schemas.openxmlformats.org/officeDocument/2006/relationships/image" Target="../media/image-11-18.png"/><Relationship Id="rId19" Type="http://schemas.openxmlformats.org/officeDocument/2006/relationships/image" Target="../media/image-11-19.png"/><Relationship Id="rId20" Type="http://schemas.openxmlformats.org/officeDocument/2006/relationships/image" Target="../media/image-11-20.png"/><Relationship Id="rId21" Type="http://schemas.openxmlformats.org/officeDocument/2006/relationships/image" Target="../media/image-11-21.png"/><Relationship Id="rId22" Type="http://schemas.openxmlformats.org/officeDocument/2006/relationships/image" Target="../media/image-11-22.png"/><Relationship Id="rId23" Type="http://schemas.openxmlformats.org/officeDocument/2006/relationships/image" Target="../media/image-11-23.png"/><Relationship Id="rId24" Type="http://schemas.openxmlformats.org/officeDocument/2006/relationships/image" Target="../media/image-11-24.png"/><Relationship Id="rId25" Type="http://schemas.openxmlformats.org/officeDocument/2006/relationships/image" Target="../media/image-11-25.png"/><Relationship Id="rId26" Type="http://schemas.openxmlformats.org/officeDocument/2006/relationships/image" Target="../media/image-11-26.png"/><Relationship Id="rId27" Type="http://schemas.openxmlformats.org/officeDocument/2006/relationships/image" Target="../media/image-11-27.png"/><Relationship Id="rId28" Type="http://schemas.openxmlformats.org/officeDocument/2006/relationships/image" Target="../media/image-11-28.png"/><Relationship Id="rId29" Type="http://schemas.openxmlformats.org/officeDocument/2006/relationships/image" Target="../media/image-11-29.png"/><Relationship Id="rId30" Type="http://schemas.openxmlformats.org/officeDocument/2006/relationships/slideLayout" Target="../slideLayouts/slideLayout1.xml"/><Relationship Id="rId31"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slideLayout" Target="../slideLayouts/slideLayout1.xml"/><Relationship Id="rId1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AFD"/>
        </a:solidFill>
      </p:bgPr>
    </p:bg>
    <p:spTree>
      <p:nvGrpSpPr>
        <p:cNvPr id="1" name=""/>
        <p:cNvGrpSpPr/>
        <p:nvPr/>
      </p:nvGrpSpPr>
      <p:grpSpPr>
        <a:xfrm>
          <a:off x="0" y="0"/>
          <a:ext cx="0" cy="0"/>
          <a:chOff x="0" y="0"/>
          <a:chExt cx="0" cy="0"/>
        </a:xfrm>
      </p:grpSpPr>
      <p:sp>
        <p:nvSpPr>
          <p:cNvPr id="2" name="Shape 0"/>
          <p:cNvSpPr/>
          <p:nvPr/>
        </p:nvSpPr>
        <p:spPr>
          <a:xfrm>
            <a:off x="0" y="0"/>
            <a:ext cx="14630400" cy="1024128"/>
          </a:xfrm>
          <a:prstGeom prst="rect">
            <a:avLst/>
          </a:prstGeom>
          <a:solidFill>
            <a:srgbClr val="0B2E5E"/>
          </a:solidFill>
          <a:ln w="12700">
            <a:solidFill>
              <a:srgbClr val="0B2E5E"/>
            </a:solidFill>
            <a:prstDash val="solid"/>
          </a:ln>
        </p:spPr>
      </p:sp>
      <p:sp>
        <p:nvSpPr>
          <p:cNvPr id="3" name="Text 1"/>
          <p:cNvSpPr txBox="1"/>
          <p:nvPr/>
        </p:nvSpPr>
        <p:spPr>
          <a:xfrm>
            <a:off x="301752" y="137160"/>
            <a:ext cx="11155680" cy="475488"/>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Functional Architecture: Where AI Agents Fit</a:t>
            </a:r>
            <a:endParaRPr lang="en-US" sz="3000" dirty="0"/>
          </a:p>
        </p:txBody>
      </p:sp>
      <p:sp>
        <p:nvSpPr>
          <p:cNvPr id="4" name="Text 2"/>
          <p:cNvSpPr txBox="1"/>
          <p:nvPr/>
        </p:nvSpPr>
        <p:spPr>
          <a:xfrm>
            <a:off x="301752" y="612648"/>
            <a:ext cx="11155680" cy="301752"/>
          </a:xfrm>
          <a:prstGeom prst="rect">
            <a:avLst/>
          </a:prstGeom>
          <a:noFill/>
          <a:ln/>
        </p:spPr>
        <p:txBody>
          <a:bodyPr wrap="square" lIns="0" tIns="0" rIns="0" bIns="0" rtlCol="0" anchor="ctr"/>
          <a:lstStyle/>
          <a:p>
            <a:pPr indent="0" marL="0">
              <a:buNone/>
            </a:pPr>
            <a:r>
              <a:rPr lang="en-US" sz="1600" dirty="0">
                <a:solidFill>
                  <a:srgbClr val="DCE9F7"/>
                </a:solidFill>
                <a:latin typeface="Calibri" pitchFamily="34" charset="0"/>
                <a:ea typeface="Calibri" pitchFamily="34" charset="-122"/>
                <a:cs typeface="Calibri" pitchFamily="34" charset="-120"/>
              </a:rPr>
              <a:t>Accounting Control &amp; Analytics, agent use cases mapped to the functions they serve</a:t>
            </a:r>
            <a:endParaRPr lang="en-US" sz="1600" dirty="0"/>
          </a:p>
        </p:txBody>
      </p:sp>
      <p:sp>
        <p:nvSpPr>
          <p:cNvPr id="5" name="Shape 3"/>
          <p:cNvSpPr/>
          <p:nvPr/>
        </p:nvSpPr>
        <p:spPr>
          <a:xfrm>
            <a:off x="11640312" y="192024"/>
            <a:ext cx="0" cy="649224"/>
          </a:xfrm>
          <a:prstGeom prst="line">
            <a:avLst/>
          </a:prstGeom>
          <a:noFill/>
          <a:ln w="12700">
            <a:solidFill>
              <a:srgbClr val="FFFFFF"/>
            </a:solidFill>
            <a:prstDash val="solid"/>
          </a:ln>
        </p:spPr>
      </p:sp>
      <p:sp>
        <p:nvSpPr>
          <p:cNvPr id="6" name="Text 4"/>
          <p:cNvSpPr txBox="1"/>
          <p:nvPr/>
        </p:nvSpPr>
        <p:spPr>
          <a:xfrm>
            <a:off x="11814048" y="265176"/>
            <a:ext cx="2715768"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Functional View</a:t>
            </a:r>
            <a:endParaRPr lang="en-US" sz="2200" dirty="0"/>
          </a:p>
        </p:txBody>
      </p:sp>
      <p:sp>
        <p:nvSpPr>
          <p:cNvPr id="7" name="Shape 5"/>
          <p:cNvSpPr/>
          <p:nvPr/>
        </p:nvSpPr>
        <p:spPr>
          <a:xfrm>
            <a:off x="502920" y="1188720"/>
            <a:ext cx="3977640" cy="1828800"/>
          </a:xfrm>
          <a:prstGeom prst="roundRect">
            <a:avLst>
              <a:gd name="adj" fmla="val 2500"/>
            </a:avLst>
          </a:prstGeom>
          <a:solidFill>
            <a:srgbClr val="EEF4FB"/>
          </a:solidFill>
          <a:ln w="12700">
            <a:solidFill>
              <a:srgbClr val="2A6EBB"/>
            </a:solidFill>
            <a:prstDash val="dash"/>
          </a:ln>
        </p:spPr>
      </p:sp>
      <p:sp>
        <p:nvSpPr>
          <p:cNvPr id="8" name="Text 6"/>
          <p:cNvSpPr txBox="1"/>
          <p:nvPr/>
        </p:nvSpPr>
        <p:spPr>
          <a:xfrm>
            <a:off x="612648" y="1252728"/>
            <a:ext cx="3758184" cy="182880"/>
          </a:xfrm>
          <a:prstGeom prst="rect">
            <a:avLst/>
          </a:prstGeom>
          <a:noFill/>
          <a:ln/>
        </p:spPr>
        <p:txBody>
          <a:bodyPr wrap="square" lIns="0" tIns="0" rIns="0" bIns="0" rtlCol="0" anchor="ctr"/>
          <a:lstStyle/>
          <a:p>
            <a:pPr indent="0" marL="0">
              <a:buNone/>
            </a:pPr>
            <a:r>
              <a:rPr lang="en-US" sz="900" b="1" spc="100" kern="0" dirty="0">
                <a:solidFill>
                  <a:srgbClr val="1B4F93"/>
                </a:solidFill>
                <a:latin typeface="Calibri" pitchFamily="34" charset="0"/>
                <a:ea typeface="Calibri" pitchFamily="34" charset="-122"/>
                <a:cs typeface="Calibri" pitchFamily="34" charset="-120"/>
              </a:rPr>
              <a:t>FO / RISK / COST / FINANCE FUNCTIONS</a:t>
            </a:r>
            <a:endParaRPr lang="en-US" sz="900" dirty="0"/>
          </a:p>
        </p:txBody>
      </p:sp>
      <p:sp>
        <p:nvSpPr>
          <p:cNvPr id="9" name="Shape 7"/>
          <p:cNvSpPr/>
          <p:nvPr/>
        </p:nvSpPr>
        <p:spPr>
          <a:xfrm>
            <a:off x="640080" y="1508760"/>
            <a:ext cx="1783080" cy="548640"/>
          </a:xfrm>
          <a:prstGeom prst="roundRect">
            <a:avLst>
              <a:gd name="adj" fmla="val 8333"/>
            </a:avLst>
          </a:prstGeom>
          <a:solidFill>
            <a:srgbClr val="FFFFFF"/>
          </a:solidFill>
          <a:ln w="9525">
            <a:solidFill>
              <a:srgbClr val="C8D8EC"/>
            </a:solidFill>
            <a:prstDash val="solid"/>
          </a:ln>
        </p:spPr>
      </p:sp>
      <p:sp>
        <p:nvSpPr>
          <p:cNvPr id="10" name="Text 8"/>
          <p:cNvSpPr txBox="1"/>
          <p:nvPr/>
        </p:nvSpPr>
        <p:spPr>
          <a:xfrm>
            <a:off x="694944" y="1508760"/>
            <a:ext cx="1673352" cy="548640"/>
          </a:xfrm>
          <a:prstGeom prst="rect">
            <a:avLst/>
          </a:prstGeom>
          <a:noFill/>
          <a:ln/>
        </p:spPr>
        <p:txBody>
          <a:bodyPr wrap="square" lIns="0" tIns="0" rIns="0" bIns="0" rtlCol="0" anchor="ctr"/>
          <a:lstStyle/>
          <a:p>
            <a:pPr algn="ctr" indent="0" marL="0">
              <a:buNone/>
            </a:pPr>
            <a:r>
              <a:rPr lang="en-US" sz="950" b="1" dirty="0">
                <a:solidFill>
                  <a:srgbClr val="1F2D3D"/>
                </a:solidFill>
                <a:latin typeface="Calibri" pitchFamily="34" charset="0"/>
                <a:ea typeface="Calibri" pitchFamily="34" charset="-122"/>
                <a:cs typeface="Calibri" pitchFamily="34" charset="-120"/>
              </a:rPr>
              <a:t>Trades / Transactions &amp; Events Generation</a:t>
            </a:r>
            <a:endParaRPr lang="en-US" sz="950" dirty="0"/>
          </a:p>
        </p:txBody>
      </p:sp>
      <p:sp>
        <p:nvSpPr>
          <p:cNvPr id="11" name="Shape 9"/>
          <p:cNvSpPr/>
          <p:nvPr/>
        </p:nvSpPr>
        <p:spPr>
          <a:xfrm>
            <a:off x="640080" y="2286000"/>
            <a:ext cx="1783080" cy="548640"/>
          </a:xfrm>
          <a:prstGeom prst="roundRect">
            <a:avLst>
              <a:gd name="adj" fmla="val 8333"/>
            </a:avLst>
          </a:prstGeom>
          <a:solidFill>
            <a:srgbClr val="FFFFFF"/>
          </a:solidFill>
          <a:ln w="9525">
            <a:solidFill>
              <a:srgbClr val="C8D8EC"/>
            </a:solidFill>
            <a:prstDash val="solid"/>
          </a:ln>
        </p:spPr>
      </p:sp>
      <p:sp>
        <p:nvSpPr>
          <p:cNvPr id="12" name="Text 10"/>
          <p:cNvSpPr txBox="1"/>
          <p:nvPr/>
        </p:nvSpPr>
        <p:spPr>
          <a:xfrm>
            <a:off x="694944" y="2286000"/>
            <a:ext cx="1673352" cy="548640"/>
          </a:xfrm>
          <a:prstGeom prst="rect">
            <a:avLst/>
          </a:prstGeom>
          <a:noFill/>
          <a:ln/>
        </p:spPr>
        <p:txBody>
          <a:bodyPr wrap="square" lIns="0" tIns="0" rIns="0" bIns="0" rtlCol="0" anchor="ctr"/>
          <a:lstStyle/>
          <a:p>
            <a:pPr algn="ctr" indent="0" marL="0">
              <a:buNone/>
            </a:pPr>
            <a:r>
              <a:rPr lang="en-US" sz="950" b="1" dirty="0">
                <a:solidFill>
                  <a:srgbClr val="1F2D3D"/>
                </a:solidFill>
                <a:latin typeface="Calibri" pitchFamily="34" charset="0"/>
                <a:ea typeface="Calibri" pitchFamily="34" charset="-122"/>
                <a:cs typeface="Calibri" pitchFamily="34" charset="-120"/>
              </a:rPr>
              <a:t>Trader Flash P&amp;L Generation</a:t>
            </a:r>
            <a:endParaRPr lang="en-US" sz="950" dirty="0"/>
          </a:p>
        </p:txBody>
      </p:sp>
      <p:sp>
        <p:nvSpPr>
          <p:cNvPr id="13" name="Shape 11"/>
          <p:cNvSpPr/>
          <p:nvPr/>
        </p:nvSpPr>
        <p:spPr>
          <a:xfrm>
            <a:off x="2560320" y="1737360"/>
            <a:ext cx="1783080" cy="868680"/>
          </a:xfrm>
          <a:prstGeom prst="roundRect">
            <a:avLst>
              <a:gd name="adj" fmla="val 5263"/>
            </a:avLst>
          </a:prstGeom>
          <a:solidFill>
            <a:srgbClr val="1F56C3"/>
          </a:solidFill>
          <a:ln w="12700">
            <a:solidFill>
              <a:srgbClr val="1F56C3"/>
            </a:solidFill>
            <a:prstDash val="solid"/>
          </a:ln>
        </p:spPr>
      </p:sp>
      <p:sp>
        <p:nvSpPr>
          <p:cNvPr id="14" name="Text 12"/>
          <p:cNvSpPr txBox="1"/>
          <p:nvPr/>
        </p:nvSpPr>
        <p:spPr>
          <a:xfrm>
            <a:off x="2615184" y="1737360"/>
            <a:ext cx="1673352" cy="86868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FO P&amp;L Explains: Flash v Formal Analysis, PLEX</a:t>
            </a:r>
            <a:endParaRPr lang="en-US" sz="950" dirty="0"/>
          </a:p>
        </p:txBody>
      </p:sp>
      <p:sp>
        <p:nvSpPr>
          <p:cNvPr id="15" name="Shape 13"/>
          <p:cNvSpPr/>
          <p:nvPr/>
        </p:nvSpPr>
        <p:spPr>
          <a:xfrm>
            <a:off x="4160520" y="1645920"/>
            <a:ext cx="274320" cy="274320"/>
          </a:xfrm>
          <a:prstGeom prst="ellipse">
            <a:avLst/>
          </a:prstGeom>
          <a:solidFill>
            <a:srgbClr val="F2A900"/>
          </a:solidFill>
          <a:ln w="12700">
            <a:solidFill>
              <a:srgbClr val="FFFFFF"/>
            </a:solidFill>
            <a:prstDash val="solid"/>
          </a:ln>
        </p:spPr>
      </p:sp>
      <p:sp>
        <p:nvSpPr>
          <p:cNvPr id="16" name="Text 14"/>
          <p:cNvSpPr txBox="1"/>
          <p:nvPr/>
        </p:nvSpPr>
        <p:spPr>
          <a:xfrm>
            <a:off x="4160520" y="1645920"/>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2</a:t>
            </a:r>
            <a:endParaRPr lang="en-US" sz="950" dirty="0"/>
          </a:p>
        </p:txBody>
      </p:sp>
      <p:sp>
        <p:nvSpPr>
          <p:cNvPr id="17" name="Shape 15"/>
          <p:cNvSpPr/>
          <p:nvPr/>
        </p:nvSpPr>
        <p:spPr>
          <a:xfrm>
            <a:off x="4663440" y="1188720"/>
            <a:ext cx="5989320" cy="1828800"/>
          </a:xfrm>
          <a:prstGeom prst="roundRect">
            <a:avLst>
              <a:gd name="adj" fmla="val 2500"/>
            </a:avLst>
          </a:prstGeom>
          <a:solidFill>
            <a:srgbClr val="EEF4FB"/>
          </a:solidFill>
          <a:ln w="12700">
            <a:solidFill>
              <a:srgbClr val="2A6EBB"/>
            </a:solidFill>
            <a:prstDash val="dash"/>
          </a:ln>
        </p:spPr>
      </p:sp>
      <p:sp>
        <p:nvSpPr>
          <p:cNvPr id="18" name="Text 16"/>
          <p:cNvSpPr txBox="1"/>
          <p:nvPr/>
        </p:nvSpPr>
        <p:spPr>
          <a:xfrm>
            <a:off x="4773168" y="1252728"/>
            <a:ext cx="5769864" cy="182880"/>
          </a:xfrm>
          <a:prstGeom prst="rect">
            <a:avLst/>
          </a:prstGeom>
          <a:noFill/>
          <a:ln/>
        </p:spPr>
        <p:txBody>
          <a:bodyPr wrap="square" lIns="0" tIns="0" rIns="0" bIns="0" rtlCol="0" anchor="ctr"/>
          <a:lstStyle/>
          <a:p>
            <a:pPr indent="0" marL="0">
              <a:buNone/>
            </a:pPr>
            <a:r>
              <a:rPr lang="en-US" sz="900" b="1" spc="100" kern="0" dirty="0">
                <a:solidFill>
                  <a:srgbClr val="1B4F93"/>
                </a:solidFill>
                <a:latin typeface="Calibri" pitchFamily="34" charset="0"/>
                <a:ea typeface="Calibri" pitchFamily="34" charset="-122"/>
                <a:cs typeface="Calibri" pitchFamily="34" charset="-120"/>
              </a:rPr>
              <a:t>GROUP ACCOUNTING</a:t>
            </a:r>
            <a:endParaRPr lang="en-US" sz="900" dirty="0"/>
          </a:p>
        </p:txBody>
      </p:sp>
      <p:sp>
        <p:nvSpPr>
          <p:cNvPr id="19" name="Shape 17"/>
          <p:cNvSpPr/>
          <p:nvPr/>
        </p:nvSpPr>
        <p:spPr>
          <a:xfrm>
            <a:off x="4800600" y="1508760"/>
            <a:ext cx="1828800" cy="548640"/>
          </a:xfrm>
          <a:prstGeom prst="roundRect">
            <a:avLst>
              <a:gd name="adj" fmla="val 8333"/>
            </a:avLst>
          </a:prstGeom>
          <a:solidFill>
            <a:srgbClr val="1E4D5C"/>
          </a:solidFill>
          <a:ln w="12700">
            <a:solidFill>
              <a:srgbClr val="1E4D5C"/>
            </a:solidFill>
            <a:prstDash val="solid"/>
          </a:ln>
        </p:spPr>
      </p:sp>
      <p:sp>
        <p:nvSpPr>
          <p:cNvPr id="20" name="Text 18"/>
          <p:cNvSpPr txBox="1"/>
          <p:nvPr/>
        </p:nvSpPr>
        <p:spPr>
          <a:xfrm>
            <a:off x="4855464" y="1508760"/>
            <a:ext cx="171907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Sub Ledger Accounting</a:t>
            </a:r>
            <a:endParaRPr lang="en-US" sz="950" dirty="0"/>
          </a:p>
        </p:txBody>
      </p:sp>
      <p:sp>
        <p:nvSpPr>
          <p:cNvPr id="21" name="Shape 19"/>
          <p:cNvSpPr/>
          <p:nvPr/>
        </p:nvSpPr>
        <p:spPr>
          <a:xfrm>
            <a:off x="6720840" y="1508760"/>
            <a:ext cx="1828800" cy="548640"/>
          </a:xfrm>
          <a:prstGeom prst="roundRect">
            <a:avLst>
              <a:gd name="adj" fmla="val 8333"/>
            </a:avLst>
          </a:prstGeom>
          <a:solidFill>
            <a:srgbClr val="1E4D5C"/>
          </a:solidFill>
          <a:ln w="12700">
            <a:solidFill>
              <a:srgbClr val="1E4D5C"/>
            </a:solidFill>
            <a:prstDash val="solid"/>
          </a:ln>
        </p:spPr>
      </p:sp>
      <p:sp>
        <p:nvSpPr>
          <p:cNvPr id="22" name="Text 20"/>
          <p:cNvSpPr txBox="1"/>
          <p:nvPr/>
        </p:nvSpPr>
        <p:spPr>
          <a:xfrm>
            <a:off x="6775704" y="1508760"/>
            <a:ext cx="171907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General Ledger Accounting</a:t>
            </a:r>
            <a:endParaRPr lang="en-US" sz="950" dirty="0"/>
          </a:p>
        </p:txBody>
      </p:sp>
      <p:sp>
        <p:nvSpPr>
          <p:cNvPr id="23" name="Shape 21"/>
          <p:cNvSpPr/>
          <p:nvPr/>
        </p:nvSpPr>
        <p:spPr>
          <a:xfrm>
            <a:off x="8641080" y="1508760"/>
            <a:ext cx="1874520" cy="548640"/>
          </a:xfrm>
          <a:prstGeom prst="roundRect">
            <a:avLst>
              <a:gd name="adj" fmla="val 8333"/>
            </a:avLst>
          </a:prstGeom>
          <a:solidFill>
            <a:srgbClr val="1E4D5C"/>
          </a:solidFill>
          <a:ln w="12700">
            <a:solidFill>
              <a:srgbClr val="1E4D5C"/>
            </a:solidFill>
            <a:prstDash val="solid"/>
          </a:ln>
        </p:spPr>
      </p:sp>
      <p:sp>
        <p:nvSpPr>
          <p:cNvPr id="24" name="Text 22"/>
          <p:cNvSpPr txBox="1"/>
          <p:nvPr/>
        </p:nvSpPr>
        <p:spPr>
          <a:xfrm>
            <a:off x="8695944" y="1508760"/>
            <a:ext cx="176479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Consolidation Accounting</a:t>
            </a:r>
            <a:endParaRPr lang="en-US" sz="950" dirty="0"/>
          </a:p>
        </p:txBody>
      </p:sp>
      <p:sp>
        <p:nvSpPr>
          <p:cNvPr id="25" name="Shape 23"/>
          <p:cNvSpPr/>
          <p:nvPr/>
        </p:nvSpPr>
        <p:spPr>
          <a:xfrm>
            <a:off x="4800600" y="2286000"/>
            <a:ext cx="5715000" cy="548640"/>
          </a:xfrm>
          <a:prstGeom prst="roundRect">
            <a:avLst>
              <a:gd name="adj" fmla="val 8333"/>
            </a:avLst>
          </a:prstGeom>
          <a:solidFill>
            <a:srgbClr val="1E4D5C"/>
          </a:solidFill>
          <a:ln w="12700">
            <a:solidFill>
              <a:srgbClr val="1E4D5C"/>
            </a:solidFill>
            <a:prstDash val="solid"/>
          </a:ln>
        </p:spPr>
      </p:sp>
      <p:sp>
        <p:nvSpPr>
          <p:cNvPr id="26" name="Text 24"/>
          <p:cNvSpPr txBox="1"/>
          <p:nvPr/>
        </p:nvSpPr>
        <p:spPr>
          <a:xfrm>
            <a:off x="4855464" y="2286000"/>
            <a:ext cx="560527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Enterprise Trial Balance Generation</a:t>
            </a:r>
            <a:endParaRPr lang="en-US" sz="950" dirty="0"/>
          </a:p>
        </p:txBody>
      </p:sp>
      <p:sp>
        <p:nvSpPr>
          <p:cNvPr id="27" name="Shape 25"/>
          <p:cNvSpPr/>
          <p:nvPr/>
        </p:nvSpPr>
        <p:spPr>
          <a:xfrm>
            <a:off x="10835640" y="1188720"/>
            <a:ext cx="3291840" cy="1828800"/>
          </a:xfrm>
          <a:prstGeom prst="roundRect">
            <a:avLst>
              <a:gd name="adj" fmla="val 2500"/>
            </a:avLst>
          </a:prstGeom>
          <a:solidFill>
            <a:srgbClr val="EEF4FB"/>
          </a:solidFill>
          <a:ln w="12700">
            <a:solidFill>
              <a:srgbClr val="2A6EBB"/>
            </a:solidFill>
            <a:prstDash val="dash"/>
          </a:ln>
        </p:spPr>
      </p:sp>
      <p:sp>
        <p:nvSpPr>
          <p:cNvPr id="28" name="Text 26"/>
          <p:cNvSpPr txBox="1"/>
          <p:nvPr/>
        </p:nvSpPr>
        <p:spPr>
          <a:xfrm>
            <a:off x="10945368" y="1252728"/>
            <a:ext cx="3072384" cy="182880"/>
          </a:xfrm>
          <a:prstGeom prst="rect">
            <a:avLst/>
          </a:prstGeom>
          <a:noFill/>
          <a:ln/>
        </p:spPr>
        <p:txBody>
          <a:bodyPr wrap="square" lIns="0" tIns="0" rIns="0" bIns="0" rtlCol="0" anchor="ctr"/>
          <a:lstStyle/>
          <a:p>
            <a:pPr indent="0" marL="0">
              <a:buNone/>
            </a:pPr>
            <a:r>
              <a:rPr lang="en-US" sz="900" b="1" spc="100" kern="0" dirty="0">
                <a:solidFill>
                  <a:srgbClr val="1B4F93"/>
                </a:solidFill>
                <a:latin typeface="Calibri" pitchFamily="34" charset="0"/>
                <a:ea typeface="Calibri" pitchFamily="34" charset="-122"/>
                <a:cs typeface="Calibri" pitchFamily="34" charset="-120"/>
              </a:rPr>
              <a:t>MASTER / REFERENCE DATA</a:t>
            </a:r>
            <a:endParaRPr lang="en-US" sz="900" dirty="0"/>
          </a:p>
        </p:txBody>
      </p:sp>
      <p:sp>
        <p:nvSpPr>
          <p:cNvPr id="29" name="Shape 27"/>
          <p:cNvSpPr/>
          <p:nvPr/>
        </p:nvSpPr>
        <p:spPr>
          <a:xfrm>
            <a:off x="10972800" y="1737360"/>
            <a:ext cx="3017520" cy="868680"/>
          </a:xfrm>
          <a:prstGeom prst="roundRect">
            <a:avLst>
              <a:gd name="adj" fmla="val 5263"/>
            </a:avLst>
          </a:prstGeom>
          <a:solidFill>
            <a:srgbClr val="1F56C3"/>
          </a:solidFill>
          <a:ln w="12700">
            <a:solidFill>
              <a:srgbClr val="1F56C3"/>
            </a:solidFill>
            <a:prstDash val="solid"/>
          </a:ln>
        </p:spPr>
      </p:sp>
      <p:sp>
        <p:nvSpPr>
          <p:cNvPr id="30" name="Text 28"/>
          <p:cNvSpPr txBox="1"/>
          <p:nvPr/>
        </p:nvSpPr>
        <p:spPr>
          <a:xfrm>
            <a:off x="11027664" y="1737360"/>
            <a:ext cx="2907792" cy="86868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Master / Reference Data Corrections</a:t>
            </a:r>
            <a:endParaRPr lang="en-US" sz="950" dirty="0"/>
          </a:p>
        </p:txBody>
      </p:sp>
      <p:sp>
        <p:nvSpPr>
          <p:cNvPr id="31" name="Shape 29"/>
          <p:cNvSpPr/>
          <p:nvPr/>
        </p:nvSpPr>
        <p:spPr>
          <a:xfrm>
            <a:off x="13807440" y="1645920"/>
            <a:ext cx="274320" cy="274320"/>
          </a:xfrm>
          <a:prstGeom prst="ellipse">
            <a:avLst/>
          </a:prstGeom>
          <a:solidFill>
            <a:srgbClr val="F2A900"/>
          </a:solidFill>
          <a:ln w="12700">
            <a:solidFill>
              <a:srgbClr val="FFFFFF"/>
            </a:solidFill>
            <a:prstDash val="solid"/>
          </a:ln>
        </p:spPr>
      </p:sp>
      <p:sp>
        <p:nvSpPr>
          <p:cNvPr id="32" name="Text 30"/>
          <p:cNvSpPr txBox="1"/>
          <p:nvPr/>
        </p:nvSpPr>
        <p:spPr>
          <a:xfrm>
            <a:off x="13807440" y="1645920"/>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7</a:t>
            </a:r>
            <a:endParaRPr lang="en-US" sz="950" dirty="0"/>
          </a:p>
        </p:txBody>
      </p:sp>
      <p:sp>
        <p:nvSpPr>
          <p:cNvPr id="33" name="Shape 31"/>
          <p:cNvSpPr/>
          <p:nvPr/>
        </p:nvSpPr>
        <p:spPr>
          <a:xfrm>
            <a:off x="502920" y="3200400"/>
            <a:ext cx="1828800" cy="4754880"/>
          </a:xfrm>
          <a:prstGeom prst="roundRect">
            <a:avLst>
              <a:gd name="adj" fmla="val 2500"/>
            </a:avLst>
          </a:prstGeom>
          <a:solidFill>
            <a:srgbClr val="EEF4FB"/>
          </a:solidFill>
          <a:ln w="12700">
            <a:solidFill>
              <a:srgbClr val="2A6EBB"/>
            </a:solidFill>
            <a:prstDash val="dash"/>
          </a:ln>
        </p:spPr>
      </p:sp>
      <p:sp>
        <p:nvSpPr>
          <p:cNvPr id="34" name="Text 32"/>
          <p:cNvSpPr txBox="1"/>
          <p:nvPr/>
        </p:nvSpPr>
        <p:spPr>
          <a:xfrm>
            <a:off x="612648" y="3264408"/>
            <a:ext cx="1609344" cy="182880"/>
          </a:xfrm>
          <a:prstGeom prst="rect">
            <a:avLst/>
          </a:prstGeom>
          <a:noFill/>
          <a:ln/>
        </p:spPr>
        <p:txBody>
          <a:bodyPr wrap="square" lIns="0" tIns="0" rIns="0" bIns="0" rtlCol="0" anchor="ctr"/>
          <a:lstStyle/>
          <a:p>
            <a:pPr indent="0" marL="0">
              <a:buNone/>
            </a:pPr>
            <a:r>
              <a:rPr lang="en-US" sz="900" b="1" spc="100" kern="0" dirty="0">
                <a:solidFill>
                  <a:srgbClr val="1B4F93"/>
                </a:solidFill>
                <a:latin typeface="Calibri" pitchFamily="34" charset="0"/>
                <a:ea typeface="Calibri" pitchFamily="34" charset="-122"/>
                <a:cs typeface="Calibri" pitchFamily="34" charset="-120"/>
              </a:rPr>
              <a:t>ENTITLEMENTS &amp; WORKFLOW</a:t>
            </a:r>
            <a:endParaRPr lang="en-US" sz="900" dirty="0"/>
          </a:p>
        </p:txBody>
      </p:sp>
      <p:sp>
        <p:nvSpPr>
          <p:cNvPr id="35" name="Shape 33"/>
          <p:cNvSpPr/>
          <p:nvPr/>
        </p:nvSpPr>
        <p:spPr>
          <a:xfrm>
            <a:off x="640080" y="3657600"/>
            <a:ext cx="1554480" cy="1097280"/>
          </a:xfrm>
          <a:prstGeom prst="roundRect">
            <a:avLst>
              <a:gd name="adj" fmla="val 4167"/>
            </a:avLst>
          </a:prstGeom>
          <a:solidFill>
            <a:srgbClr val="FFFFFF"/>
          </a:solidFill>
          <a:ln w="9525">
            <a:solidFill>
              <a:srgbClr val="C8D8EC"/>
            </a:solidFill>
            <a:prstDash val="solid"/>
          </a:ln>
        </p:spPr>
      </p:sp>
      <p:sp>
        <p:nvSpPr>
          <p:cNvPr id="36" name="Text 34"/>
          <p:cNvSpPr txBox="1"/>
          <p:nvPr/>
        </p:nvSpPr>
        <p:spPr>
          <a:xfrm>
            <a:off x="694944" y="3657600"/>
            <a:ext cx="1444752" cy="1097280"/>
          </a:xfrm>
          <a:prstGeom prst="rect">
            <a:avLst/>
          </a:prstGeom>
          <a:noFill/>
          <a:ln/>
        </p:spPr>
        <p:txBody>
          <a:bodyPr wrap="square" lIns="0" tIns="0" rIns="0" bIns="0" rtlCol="0" anchor="ctr"/>
          <a:lstStyle/>
          <a:p>
            <a:pPr algn="ctr" indent="0" marL="0">
              <a:buNone/>
            </a:pPr>
            <a:r>
              <a:rPr lang="en-US" sz="950" b="1" dirty="0">
                <a:solidFill>
                  <a:srgbClr val="1F2D3D"/>
                </a:solidFill>
                <a:latin typeface="Calibri" pitchFamily="34" charset="0"/>
                <a:ea typeface="Calibri" pitchFamily="34" charset="-122"/>
                <a:cs typeface="Calibri" pitchFamily="34" charset="-120"/>
              </a:rPr>
              <a:t>Entitlements Definition</a:t>
            </a:r>
            <a:endParaRPr lang="en-US" sz="950" dirty="0"/>
          </a:p>
        </p:txBody>
      </p:sp>
      <p:sp>
        <p:nvSpPr>
          <p:cNvPr id="37" name="Shape 35"/>
          <p:cNvSpPr/>
          <p:nvPr/>
        </p:nvSpPr>
        <p:spPr>
          <a:xfrm>
            <a:off x="2011680" y="3566160"/>
            <a:ext cx="274320" cy="274320"/>
          </a:xfrm>
          <a:prstGeom prst="ellipse">
            <a:avLst/>
          </a:prstGeom>
          <a:solidFill>
            <a:srgbClr val="F2A900"/>
          </a:solidFill>
          <a:ln w="12700">
            <a:solidFill>
              <a:srgbClr val="FFFFFF"/>
            </a:solidFill>
            <a:prstDash val="solid"/>
          </a:ln>
        </p:spPr>
      </p:sp>
      <p:sp>
        <p:nvSpPr>
          <p:cNvPr id="38" name="Text 36"/>
          <p:cNvSpPr txBox="1"/>
          <p:nvPr/>
        </p:nvSpPr>
        <p:spPr>
          <a:xfrm>
            <a:off x="2011680" y="3566160"/>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8</a:t>
            </a:r>
            <a:endParaRPr lang="en-US" sz="950" dirty="0"/>
          </a:p>
        </p:txBody>
      </p:sp>
      <p:sp>
        <p:nvSpPr>
          <p:cNvPr id="39" name="Shape 37"/>
          <p:cNvSpPr/>
          <p:nvPr/>
        </p:nvSpPr>
        <p:spPr>
          <a:xfrm>
            <a:off x="640080" y="5577840"/>
            <a:ext cx="1554480" cy="1097280"/>
          </a:xfrm>
          <a:prstGeom prst="roundRect">
            <a:avLst>
              <a:gd name="adj" fmla="val 4167"/>
            </a:avLst>
          </a:prstGeom>
          <a:solidFill>
            <a:srgbClr val="FFFFFF"/>
          </a:solidFill>
          <a:ln w="9525">
            <a:solidFill>
              <a:srgbClr val="C8D8EC"/>
            </a:solidFill>
            <a:prstDash val="solid"/>
          </a:ln>
        </p:spPr>
      </p:sp>
      <p:sp>
        <p:nvSpPr>
          <p:cNvPr id="40" name="Text 38"/>
          <p:cNvSpPr txBox="1"/>
          <p:nvPr/>
        </p:nvSpPr>
        <p:spPr>
          <a:xfrm>
            <a:off x="694944" y="5577840"/>
            <a:ext cx="1444752" cy="1097280"/>
          </a:xfrm>
          <a:prstGeom prst="rect">
            <a:avLst/>
          </a:prstGeom>
          <a:noFill/>
          <a:ln/>
        </p:spPr>
        <p:txBody>
          <a:bodyPr wrap="square" lIns="0" tIns="0" rIns="0" bIns="0" rtlCol="0" anchor="ctr"/>
          <a:lstStyle/>
          <a:p>
            <a:pPr algn="ctr" indent="0" marL="0">
              <a:buNone/>
            </a:pPr>
            <a:r>
              <a:rPr lang="en-US" sz="950" b="1" dirty="0">
                <a:solidFill>
                  <a:srgbClr val="1F2D3D"/>
                </a:solidFill>
                <a:latin typeface="Calibri" pitchFamily="34" charset="0"/>
                <a:ea typeface="Calibri" pitchFamily="34" charset="-122"/>
                <a:cs typeface="Calibri" pitchFamily="34" charset="-120"/>
              </a:rPr>
              <a:t>Workflow Definition</a:t>
            </a:r>
            <a:endParaRPr lang="en-US" sz="950" dirty="0"/>
          </a:p>
        </p:txBody>
      </p:sp>
      <p:sp>
        <p:nvSpPr>
          <p:cNvPr id="41" name="Shape 39"/>
          <p:cNvSpPr/>
          <p:nvPr/>
        </p:nvSpPr>
        <p:spPr>
          <a:xfrm>
            <a:off x="2011680" y="5486400"/>
            <a:ext cx="274320" cy="274320"/>
          </a:xfrm>
          <a:prstGeom prst="ellipse">
            <a:avLst/>
          </a:prstGeom>
          <a:solidFill>
            <a:srgbClr val="F2A900"/>
          </a:solidFill>
          <a:ln w="12700">
            <a:solidFill>
              <a:srgbClr val="FFFFFF"/>
            </a:solidFill>
            <a:prstDash val="solid"/>
          </a:ln>
        </p:spPr>
      </p:sp>
      <p:sp>
        <p:nvSpPr>
          <p:cNvPr id="42" name="Text 40"/>
          <p:cNvSpPr txBox="1"/>
          <p:nvPr/>
        </p:nvSpPr>
        <p:spPr>
          <a:xfrm>
            <a:off x="2011680" y="5486400"/>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8</a:t>
            </a:r>
            <a:endParaRPr lang="en-US" sz="950" dirty="0"/>
          </a:p>
        </p:txBody>
      </p:sp>
      <p:sp>
        <p:nvSpPr>
          <p:cNvPr id="43" name="Shape 41"/>
          <p:cNvSpPr/>
          <p:nvPr/>
        </p:nvSpPr>
        <p:spPr>
          <a:xfrm>
            <a:off x="2514600" y="3200400"/>
            <a:ext cx="6400800" cy="1691640"/>
          </a:xfrm>
          <a:prstGeom prst="roundRect">
            <a:avLst>
              <a:gd name="adj" fmla="val 2703"/>
            </a:avLst>
          </a:prstGeom>
          <a:solidFill>
            <a:srgbClr val="EEF4FB"/>
          </a:solidFill>
          <a:ln w="12700">
            <a:solidFill>
              <a:srgbClr val="2A6EBB"/>
            </a:solidFill>
            <a:prstDash val="dash"/>
          </a:ln>
        </p:spPr>
      </p:sp>
      <p:sp>
        <p:nvSpPr>
          <p:cNvPr id="44" name="Text 42"/>
          <p:cNvSpPr txBox="1"/>
          <p:nvPr/>
        </p:nvSpPr>
        <p:spPr>
          <a:xfrm>
            <a:off x="2624328" y="3264408"/>
            <a:ext cx="6181344" cy="182880"/>
          </a:xfrm>
          <a:prstGeom prst="rect">
            <a:avLst/>
          </a:prstGeom>
          <a:noFill/>
          <a:ln/>
        </p:spPr>
        <p:txBody>
          <a:bodyPr wrap="square" lIns="0" tIns="0" rIns="0" bIns="0" rtlCol="0" anchor="ctr"/>
          <a:lstStyle/>
          <a:p>
            <a:pPr indent="0" marL="0">
              <a:buNone/>
            </a:pPr>
            <a:r>
              <a:rPr lang="en-US" sz="900" b="1" spc="100" kern="0" dirty="0">
                <a:solidFill>
                  <a:srgbClr val="1B4F93"/>
                </a:solidFill>
                <a:latin typeface="Calibri" pitchFamily="34" charset="0"/>
                <a:ea typeface="Calibri" pitchFamily="34" charset="-122"/>
                <a:cs typeface="Calibri" pitchFamily="34" charset="-120"/>
              </a:rPr>
              <a:t>RECONCILIATIONS &amp; CONTROLS</a:t>
            </a:r>
            <a:endParaRPr lang="en-US" sz="900" dirty="0"/>
          </a:p>
        </p:txBody>
      </p:sp>
      <p:sp>
        <p:nvSpPr>
          <p:cNvPr id="45" name="Shape 43"/>
          <p:cNvSpPr/>
          <p:nvPr/>
        </p:nvSpPr>
        <p:spPr>
          <a:xfrm>
            <a:off x="2651760" y="3520440"/>
            <a:ext cx="1920240" cy="1234440"/>
          </a:xfrm>
          <a:prstGeom prst="roundRect">
            <a:avLst>
              <a:gd name="adj" fmla="val 3704"/>
            </a:avLst>
          </a:prstGeom>
          <a:solidFill>
            <a:srgbClr val="1F56C3"/>
          </a:solidFill>
          <a:ln w="12700">
            <a:solidFill>
              <a:srgbClr val="1F56C3"/>
            </a:solidFill>
            <a:prstDash val="solid"/>
          </a:ln>
        </p:spPr>
      </p:sp>
      <p:sp>
        <p:nvSpPr>
          <p:cNvPr id="46" name="Text 44"/>
          <p:cNvSpPr txBox="1"/>
          <p:nvPr/>
        </p:nvSpPr>
        <p:spPr>
          <a:xfrm>
            <a:off x="2706624" y="3520440"/>
            <a:ext cx="1810512" cy="12344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Finance Flash v Formal P&amp;L Analysis</a:t>
            </a:r>
            <a:endParaRPr lang="en-US" sz="950" dirty="0"/>
          </a:p>
        </p:txBody>
      </p:sp>
      <p:sp>
        <p:nvSpPr>
          <p:cNvPr id="47" name="Shape 45"/>
          <p:cNvSpPr/>
          <p:nvPr/>
        </p:nvSpPr>
        <p:spPr>
          <a:xfrm>
            <a:off x="4389120" y="3429000"/>
            <a:ext cx="274320" cy="274320"/>
          </a:xfrm>
          <a:prstGeom prst="ellipse">
            <a:avLst/>
          </a:prstGeom>
          <a:solidFill>
            <a:srgbClr val="F2A900"/>
          </a:solidFill>
          <a:ln w="12700">
            <a:solidFill>
              <a:srgbClr val="FFFFFF"/>
            </a:solidFill>
            <a:prstDash val="solid"/>
          </a:ln>
        </p:spPr>
      </p:sp>
      <p:sp>
        <p:nvSpPr>
          <p:cNvPr id="48" name="Text 46"/>
          <p:cNvSpPr txBox="1"/>
          <p:nvPr/>
        </p:nvSpPr>
        <p:spPr>
          <a:xfrm>
            <a:off x="4389120" y="3429000"/>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2</a:t>
            </a:r>
            <a:endParaRPr lang="en-US" sz="950" dirty="0"/>
          </a:p>
        </p:txBody>
      </p:sp>
      <p:sp>
        <p:nvSpPr>
          <p:cNvPr id="49" name="Shape 47"/>
          <p:cNvSpPr/>
          <p:nvPr/>
        </p:nvSpPr>
        <p:spPr>
          <a:xfrm>
            <a:off x="4709160" y="3520440"/>
            <a:ext cx="2011680" cy="548640"/>
          </a:xfrm>
          <a:prstGeom prst="roundRect">
            <a:avLst>
              <a:gd name="adj" fmla="val 8333"/>
            </a:avLst>
          </a:prstGeom>
          <a:solidFill>
            <a:srgbClr val="1E4D5C"/>
          </a:solidFill>
          <a:ln w="12700">
            <a:solidFill>
              <a:srgbClr val="1E4D5C"/>
            </a:solidFill>
            <a:prstDash val="solid"/>
          </a:ln>
        </p:spPr>
      </p:sp>
      <p:sp>
        <p:nvSpPr>
          <p:cNvPr id="50" name="Text 48"/>
          <p:cNvSpPr txBox="1"/>
          <p:nvPr/>
        </p:nvSpPr>
        <p:spPr>
          <a:xfrm>
            <a:off x="4764024" y="3520440"/>
            <a:ext cx="190195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Source to Ledger Controls</a:t>
            </a:r>
            <a:endParaRPr lang="en-US" sz="950" dirty="0"/>
          </a:p>
        </p:txBody>
      </p:sp>
      <p:sp>
        <p:nvSpPr>
          <p:cNvPr id="51" name="Shape 49"/>
          <p:cNvSpPr/>
          <p:nvPr/>
        </p:nvSpPr>
        <p:spPr>
          <a:xfrm>
            <a:off x="6537960" y="3429000"/>
            <a:ext cx="274320" cy="274320"/>
          </a:xfrm>
          <a:prstGeom prst="ellipse">
            <a:avLst/>
          </a:prstGeom>
          <a:solidFill>
            <a:srgbClr val="F2A900"/>
          </a:solidFill>
          <a:ln w="12700">
            <a:solidFill>
              <a:srgbClr val="FFFFFF"/>
            </a:solidFill>
            <a:prstDash val="solid"/>
          </a:ln>
        </p:spPr>
      </p:sp>
      <p:sp>
        <p:nvSpPr>
          <p:cNvPr id="52" name="Text 50"/>
          <p:cNvSpPr txBox="1"/>
          <p:nvPr/>
        </p:nvSpPr>
        <p:spPr>
          <a:xfrm>
            <a:off x="6537960" y="3429000"/>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1</a:t>
            </a:r>
            <a:endParaRPr lang="en-US" sz="950" dirty="0"/>
          </a:p>
        </p:txBody>
      </p:sp>
      <p:sp>
        <p:nvSpPr>
          <p:cNvPr id="53" name="Shape 51"/>
          <p:cNvSpPr/>
          <p:nvPr/>
        </p:nvSpPr>
        <p:spPr>
          <a:xfrm>
            <a:off x="6812280" y="3520440"/>
            <a:ext cx="1965960" cy="548640"/>
          </a:xfrm>
          <a:prstGeom prst="roundRect">
            <a:avLst>
              <a:gd name="adj" fmla="val 8333"/>
            </a:avLst>
          </a:prstGeom>
          <a:solidFill>
            <a:srgbClr val="1E4D5C"/>
          </a:solidFill>
          <a:ln w="12700">
            <a:solidFill>
              <a:srgbClr val="1E4D5C"/>
            </a:solidFill>
            <a:prstDash val="solid"/>
          </a:ln>
        </p:spPr>
      </p:sp>
      <p:sp>
        <p:nvSpPr>
          <p:cNvPr id="54" name="Text 52"/>
          <p:cNvSpPr txBox="1"/>
          <p:nvPr/>
        </p:nvSpPr>
        <p:spPr>
          <a:xfrm>
            <a:off x="6867144" y="3520440"/>
            <a:ext cx="185623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Inter Ledger Controls (S/L v G/L v C/L)</a:t>
            </a:r>
            <a:endParaRPr lang="en-US" sz="950" dirty="0"/>
          </a:p>
        </p:txBody>
      </p:sp>
      <p:sp>
        <p:nvSpPr>
          <p:cNvPr id="55" name="Shape 53"/>
          <p:cNvSpPr/>
          <p:nvPr/>
        </p:nvSpPr>
        <p:spPr>
          <a:xfrm>
            <a:off x="8595360" y="3429000"/>
            <a:ext cx="274320" cy="274320"/>
          </a:xfrm>
          <a:prstGeom prst="ellipse">
            <a:avLst/>
          </a:prstGeom>
          <a:solidFill>
            <a:srgbClr val="F2A900"/>
          </a:solidFill>
          <a:ln w="12700">
            <a:solidFill>
              <a:srgbClr val="FFFFFF"/>
            </a:solidFill>
            <a:prstDash val="solid"/>
          </a:ln>
        </p:spPr>
      </p:sp>
      <p:sp>
        <p:nvSpPr>
          <p:cNvPr id="56" name="Text 54"/>
          <p:cNvSpPr txBox="1"/>
          <p:nvPr/>
        </p:nvSpPr>
        <p:spPr>
          <a:xfrm>
            <a:off x="8595360" y="3429000"/>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3</a:t>
            </a:r>
            <a:endParaRPr lang="en-US" sz="950" dirty="0"/>
          </a:p>
        </p:txBody>
      </p:sp>
      <p:sp>
        <p:nvSpPr>
          <p:cNvPr id="57" name="Shape 55"/>
          <p:cNvSpPr/>
          <p:nvPr/>
        </p:nvSpPr>
        <p:spPr>
          <a:xfrm>
            <a:off x="4709160" y="4206240"/>
            <a:ext cx="2011680" cy="548640"/>
          </a:xfrm>
          <a:prstGeom prst="roundRect">
            <a:avLst>
              <a:gd name="adj" fmla="val 8333"/>
            </a:avLst>
          </a:prstGeom>
          <a:solidFill>
            <a:srgbClr val="1E4D5C"/>
          </a:solidFill>
          <a:ln w="12700">
            <a:solidFill>
              <a:srgbClr val="1E4D5C"/>
            </a:solidFill>
            <a:prstDash val="solid"/>
          </a:ln>
        </p:spPr>
      </p:sp>
      <p:sp>
        <p:nvSpPr>
          <p:cNvPr id="58" name="Text 56"/>
          <p:cNvSpPr txBox="1"/>
          <p:nvPr/>
        </p:nvSpPr>
        <p:spPr>
          <a:xfrm>
            <a:off x="4764024" y="4206240"/>
            <a:ext cx="190195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Operational Recs (Nostro etc.)</a:t>
            </a:r>
            <a:endParaRPr lang="en-US" sz="950" dirty="0"/>
          </a:p>
        </p:txBody>
      </p:sp>
      <p:sp>
        <p:nvSpPr>
          <p:cNvPr id="59" name="Shape 57"/>
          <p:cNvSpPr/>
          <p:nvPr/>
        </p:nvSpPr>
        <p:spPr>
          <a:xfrm>
            <a:off x="6537960" y="4114800"/>
            <a:ext cx="274320" cy="274320"/>
          </a:xfrm>
          <a:prstGeom prst="ellipse">
            <a:avLst/>
          </a:prstGeom>
          <a:solidFill>
            <a:srgbClr val="F2A900"/>
          </a:solidFill>
          <a:ln w="12700">
            <a:solidFill>
              <a:srgbClr val="FFFFFF"/>
            </a:solidFill>
            <a:prstDash val="solid"/>
          </a:ln>
        </p:spPr>
      </p:sp>
      <p:sp>
        <p:nvSpPr>
          <p:cNvPr id="60" name="Text 58"/>
          <p:cNvSpPr txBox="1"/>
          <p:nvPr/>
        </p:nvSpPr>
        <p:spPr>
          <a:xfrm>
            <a:off x="6537960" y="4114800"/>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3</a:t>
            </a:r>
            <a:endParaRPr lang="en-US" sz="950" dirty="0"/>
          </a:p>
        </p:txBody>
      </p:sp>
      <p:sp>
        <p:nvSpPr>
          <p:cNvPr id="61" name="Shape 59"/>
          <p:cNvSpPr/>
          <p:nvPr/>
        </p:nvSpPr>
        <p:spPr>
          <a:xfrm>
            <a:off x="6812280" y="4206240"/>
            <a:ext cx="1965960" cy="548640"/>
          </a:xfrm>
          <a:prstGeom prst="roundRect">
            <a:avLst>
              <a:gd name="adj" fmla="val 8333"/>
            </a:avLst>
          </a:prstGeom>
          <a:solidFill>
            <a:srgbClr val="1E4D5C"/>
          </a:solidFill>
          <a:ln w="12700">
            <a:solidFill>
              <a:srgbClr val="1E4D5C"/>
            </a:solidFill>
            <a:prstDash val="solid"/>
          </a:ln>
        </p:spPr>
      </p:sp>
      <p:sp>
        <p:nvSpPr>
          <p:cNvPr id="62" name="Text 60"/>
          <p:cNvSpPr txBox="1"/>
          <p:nvPr/>
        </p:nvSpPr>
        <p:spPr>
          <a:xfrm>
            <a:off x="6867144" y="4206240"/>
            <a:ext cx="185623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Exception Lifecycle (Ageing)</a:t>
            </a:r>
            <a:endParaRPr lang="en-US" sz="950" dirty="0"/>
          </a:p>
        </p:txBody>
      </p:sp>
      <p:sp>
        <p:nvSpPr>
          <p:cNvPr id="63" name="Shape 61"/>
          <p:cNvSpPr/>
          <p:nvPr/>
        </p:nvSpPr>
        <p:spPr>
          <a:xfrm>
            <a:off x="8595360" y="4114800"/>
            <a:ext cx="274320" cy="274320"/>
          </a:xfrm>
          <a:prstGeom prst="ellipse">
            <a:avLst/>
          </a:prstGeom>
          <a:solidFill>
            <a:srgbClr val="F2A900"/>
          </a:solidFill>
          <a:ln w="12700">
            <a:solidFill>
              <a:srgbClr val="FFFFFF"/>
            </a:solidFill>
            <a:prstDash val="solid"/>
          </a:ln>
        </p:spPr>
      </p:sp>
      <p:sp>
        <p:nvSpPr>
          <p:cNvPr id="64" name="Text 62"/>
          <p:cNvSpPr txBox="1"/>
          <p:nvPr/>
        </p:nvSpPr>
        <p:spPr>
          <a:xfrm>
            <a:off x="8595360" y="4114800"/>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3</a:t>
            </a:r>
            <a:endParaRPr lang="en-US" sz="950" dirty="0"/>
          </a:p>
        </p:txBody>
      </p:sp>
      <p:sp>
        <p:nvSpPr>
          <p:cNvPr id="65" name="Shape 63"/>
          <p:cNvSpPr/>
          <p:nvPr/>
        </p:nvSpPr>
        <p:spPr>
          <a:xfrm>
            <a:off x="9098280" y="3200400"/>
            <a:ext cx="5029200" cy="1691640"/>
          </a:xfrm>
          <a:prstGeom prst="roundRect">
            <a:avLst>
              <a:gd name="adj" fmla="val 2703"/>
            </a:avLst>
          </a:prstGeom>
          <a:solidFill>
            <a:srgbClr val="EEF4FB"/>
          </a:solidFill>
          <a:ln w="12700">
            <a:solidFill>
              <a:srgbClr val="2A6EBB"/>
            </a:solidFill>
            <a:prstDash val="dash"/>
          </a:ln>
        </p:spPr>
      </p:sp>
      <p:sp>
        <p:nvSpPr>
          <p:cNvPr id="66" name="Text 64"/>
          <p:cNvSpPr txBox="1"/>
          <p:nvPr/>
        </p:nvSpPr>
        <p:spPr>
          <a:xfrm>
            <a:off x="9208008" y="3264408"/>
            <a:ext cx="4809744" cy="182880"/>
          </a:xfrm>
          <a:prstGeom prst="rect">
            <a:avLst/>
          </a:prstGeom>
          <a:noFill/>
          <a:ln/>
        </p:spPr>
        <p:txBody>
          <a:bodyPr wrap="square" lIns="0" tIns="0" rIns="0" bIns="0" rtlCol="0" anchor="ctr"/>
          <a:lstStyle/>
          <a:p>
            <a:pPr indent="0" marL="0">
              <a:buNone/>
            </a:pPr>
            <a:r>
              <a:rPr lang="en-US" sz="900" b="1" spc="100" kern="0" dirty="0">
                <a:solidFill>
                  <a:srgbClr val="1B4F93"/>
                </a:solidFill>
                <a:latin typeface="Calibri" pitchFamily="34" charset="0"/>
                <a:ea typeface="Calibri" pitchFamily="34" charset="-122"/>
                <a:cs typeface="Calibri" pitchFamily="34" charset="-120"/>
              </a:rPr>
              <a:t>ADJUSTMENTS</a:t>
            </a:r>
            <a:endParaRPr lang="en-US" sz="900" dirty="0"/>
          </a:p>
        </p:txBody>
      </p:sp>
      <p:sp>
        <p:nvSpPr>
          <p:cNvPr id="67" name="Shape 65"/>
          <p:cNvSpPr/>
          <p:nvPr/>
        </p:nvSpPr>
        <p:spPr>
          <a:xfrm>
            <a:off x="9235440" y="3520440"/>
            <a:ext cx="2331720" cy="548640"/>
          </a:xfrm>
          <a:prstGeom prst="roundRect">
            <a:avLst>
              <a:gd name="adj" fmla="val 8333"/>
            </a:avLst>
          </a:prstGeom>
          <a:solidFill>
            <a:srgbClr val="1E4D5C"/>
          </a:solidFill>
          <a:ln w="12700">
            <a:solidFill>
              <a:srgbClr val="1E4D5C"/>
            </a:solidFill>
            <a:prstDash val="solid"/>
          </a:ln>
        </p:spPr>
      </p:sp>
      <p:sp>
        <p:nvSpPr>
          <p:cNvPr id="68" name="Text 66"/>
          <p:cNvSpPr txBox="1"/>
          <p:nvPr/>
        </p:nvSpPr>
        <p:spPr>
          <a:xfrm>
            <a:off x="9290304" y="3520440"/>
            <a:ext cx="222199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Accounting Adjustments</a:t>
            </a:r>
            <a:endParaRPr lang="en-US" sz="950" dirty="0"/>
          </a:p>
        </p:txBody>
      </p:sp>
      <p:sp>
        <p:nvSpPr>
          <p:cNvPr id="69" name="Shape 67"/>
          <p:cNvSpPr/>
          <p:nvPr/>
        </p:nvSpPr>
        <p:spPr>
          <a:xfrm>
            <a:off x="11384280" y="3429000"/>
            <a:ext cx="274320" cy="274320"/>
          </a:xfrm>
          <a:prstGeom prst="ellipse">
            <a:avLst/>
          </a:prstGeom>
          <a:solidFill>
            <a:srgbClr val="F2A900"/>
          </a:solidFill>
          <a:ln w="12700">
            <a:solidFill>
              <a:srgbClr val="FFFFFF"/>
            </a:solidFill>
            <a:prstDash val="solid"/>
          </a:ln>
        </p:spPr>
      </p:sp>
      <p:sp>
        <p:nvSpPr>
          <p:cNvPr id="70" name="Text 68"/>
          <p:cNvSpPr txBox="1"/>
          <p:nvPr/>
        </p:nvSpPr>
        <p:spPr>
          <a:xfrm>
            <a:off x="11384280" y="3429000"/>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1</a:t>
            </a:r>
            <a:endParaRPr lang="en-US" sz="950" dirty="0"/>
          </a:p>
        </p:txBody>
      </p:sp>
      <p:sp>
        <p:nvSpPr>
          <p:cNvPr id="71" name="Shape 69"/>
          <p:cNvSpPr/>
          <p:nvPr/>
        </p:nvSpPr>
        <p:spPr>
          <a:xfrm>
            <a:off x="11704320" y="3520440"/>
            <a:ext cx="2286000" cy="548640"/>
          </a:xfrm>
          <a:prstGeom prst="roundRect">
            <a:avLst>
              <a:gd name="adj" fmla="val 8333"/>
            </a:avLst>
          </a:prstGeom>
          <a:solidFill>
            <a:srgbClr val="1E4D5C"/>
          </a:solidFill>
          <a:ln w="12700">
            <a:solidFill>
              <a:srgbClr val="1E4D5C"/>
            </a:solidFill>
            <a:prstDash val="solid"/>
          </a:ln>
        </p:spPr>
      </p:sp>
      <p:sp>
        <p:nvSpPr>
          <p:cNvPr id="72" name="Text 70"/>
          <p:cNvSpPr txBox="1"/>
          <p:nvPr/>
        </p:nvSpPr>
        <p:spPr>
          <a:xfrm>
            <a:off x="11759184" y="3520440"/>
            <a:ext cx="217627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Restatement Adjustments</a:t>
            </a:r>
            <a:endParaRPr lang="en-US" sz="950" dirty="0"/>
          </a:p>
        </p:txBody>
      </p:sp>
      <p:sp>
        <p:nvSpPr>
          <p:cNvPr id="73" name="Shape 71"/>
          <p:cNvSpPr/>
          <p:nvPr/>
        </p:nvSpPr>
        <p:spPr>
          <a:xfrm>
            <a:off x="9235440" y="4206240"/>
            <a:ext cx="2331720" cy="548640"/>
          </a:xfrm>
          <a:prstGeom prst="roundRect">
            <a:avLst>
              <a:gd name="adj" fmla="val 8333"/>
            </a:avLst>
          </a:prstGeom>
          <a:solidFill>
            <a:srgbClr val="1E4D5C"/>
          </a:solidFill>
          <a:ln w="12700">
            <a:solidFill>
              <a:srgbClr val="1E4D5C"/>
            </a:solidFill>
            <a:prstDash val="solid"/>
          </a:ln>
        </p:spPr>
      </p:sp>
      <p:sp>
        <p:nvSpPr>
          <p:cNvPr id="74" name="Text 72"/>
          <p:cNvSpPr txBox="1"/>
          <p:nvPr/>
        </p:nvSpPr>
        <p:spPr>
          <a:xfrm>
            <a:off x="9290304" y="4206240"/>
            <a:ext cx="222199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Elimination Adjustments</a:t>
            </a:r>
            <a:endParaRPr lang="en-US" sz="950" dirty="0"/>
          </a:p>
        </p:txBody>
      </p:sp>
      <p:sp>
        <p:nvSpPr>
          <p:cNvPr id="75" name="Shape 73"/>
          <p:cNvSpPr/>
          <p:nvPr/>
        </p:nvSpPr>
        <p:spPr>
          <a:xfrm>
            <a:off x="2514600" y="5074920"/>
            <a:ext cx="11612880" cy="1691640"/>
          </a:xfrm>
          <a:prstGeom prst="roundRect">
            <a:avLst>
              <a:gd name="adj" fmla="val 2703"/>
            </a:avLst>
          </a:prstGeom>
          <a:solidFill>
            <a:srgbClr val="EEF4FB"/>
          </a:solidFill>
          <a:ln w="12700">
            <a:solidFill>
              <a:srgbClr val="2A6EBB"/>
            </a:solidFill>
            <a:prstDash val="dash"/>
          </a:ln>
        </p:spPr>
      </p:sp>
      <p:sp>
        <p:nvSpPr>
          <p:cNvPr id="76" name="Text 74"/>
          <p:cNvSpPr txBox="1"/>
          <p:nvPr/>
        </p:nvSpPr>
        <p:spPr>
          <a:xfrm>
            <a:off x="2624328" y="5138928"/>
            <a:ext cx="11393424" cy="182880"/>
          </a:xfrm>
          <a:prstGeom prst="rect">
            <a:avLst/>
          </a:prstGeom>
          <a:noFill/>
          <a:ln/>
        </p:spPr>
        <p:txBody>
          <a:bodyPr wrap="square" lIns="0" tIns="0" rIns="0" bIns="0" rtlCol="0" anchor="ctr"/>
          <a:lstStyle/>
          <a:p>
            <a:pPr indent="0" marL="0">
              <a:buNone/>
            </a:pPr>
            <a:r>
              <a:rPr lang="en-US" sz="900" b="1" spc="100" kern="0" dirty="0">
                <a:solidFill>
                  <a:srgbClr val="1B4F93"/>
                </a:solidFill>
                <a:latin typeface="Calibri" pitchFamily="34" charset="0"/>
                <a:ea typeface="Calibri" pitchFamily="34" charset="-122"/>
                <a:cs typeface="Calibri" pitchFamily="34" charset="-120"/>
              </a:rPr>
              <a:t>ANALYSIS &amp; REVIEW</a:t>
            </a:r>
            <a:endParaRPr lang="en-US" sz="900" dirty="0"/>
          </a:p>
        </p:txBody>
      </p:sp>
      <p:sp>
        <p:nvSpPr>
          <p:cNvPr id="77" name="Shape 75"/>
          <p:cNvSpPr/>
          <p:nvPr/>
        </p:nvSpPr>
        <p:spPr>
          <a:xfrm>
            <a:off x="2651760" y="5394960"/>
            <a:ext cx="2148840" cy="548640"/>
          </a:xfrm>
          <a:prstGeom prst="roundRect">
            <a:avLst>
              <a:gd name="adj" fmla="val 8333"/>
            </a:avLst>
          </a:prstGeom>
          <a:solidFill>
            <a:srgbClr val="1F56C3"/>
          </a:solidFill>
          <a:ln w="12700">
            <a:solidFill>
              <a:srgbClr val="1F56C3"/>
            </a:solidFill>
            <a:prstDash val="solid"/>
          </a:ln>
        </p:spPr>
      </p:sp>
      <p:sp>
        <p:nvSpPr>
          <p:cNvPr id="78" name="Text 76"/>
          <p:cNvSpPr txBox="1"/>
          <p:nvPr/>
        </p:nvSpPr>
        <p:spPr>
          <a:xfrm>
            <a:off x="2706624" y="5394960"/>
            <a:ext cx="203911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PLEX Analysis (Hypo v Clean)</a:t>
            </a:r>
            <a:endParaRPr lang="en-US" sz="950" dirty="0"/>
          </a:p>
        </p:txBody>
      </p:sp>
      <p:sp>
        <p:nvSpPr>
          <p:cNvPr id="79" name="Shape 77"/>
          <p:cNvSpPr/>
          <p:nvPr/>
        </p:nvSpPr>
        <p:spPr>
          <a:xfrm>
            <a:off x="4617720" y="5303520"/>
            <a:ext cx="274320" cy="274320"/>
          </a:xfrm>
          <a:prstGeom prst="ellipse">
            <a:avLst/>
          </a:prstGeom>
          <a:solidFill>
            <a:srgbClr val="F2A900"/>
          </a:solidFill>
          <a:ln w="12700">
            <a:solidFill>
              <a:srgbClr val="FFFFFF"/>
            </a:solidFill>
            <a:prstDash val="solid"/>
          </a:ln>
        </p:spPr>
      </p:sp>
      <p:sp>
        <p:nvSpPr>
          <p:cNvPr id="80" name="Text 78"/>
          <p:cNvSpPr txBox="1"/>
          <p:nvPr/>
        </p:nvSpPr>
        <p:spPr>
          <a:xfrm>
            <a:off x="4617720" y="5303520"/>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2</a:t>
            </a:r>
            <a:endParaRPr lang="en-US" sz="950" dirty="0"/>
          </a:p>
        </p:txBody>
      </p:sp>
      <p:sp>
        <p:nvSpPr>
          <p:cNvPr id="81" name="Shape 79"/>
          <p:cNvSpPr/>
          <p:nvPr/>
        </p:nvSpPr>
        <p:spPr>
          <a:xfrm>
            <a:off x="4937760" y="5394960"/>
            <a:ext cx="2148840" cy="548640"/>
          </a:xfrm>
          <a:prstGeom prst="roundRect">
            <a:avLst>
              <a:gd name="adj" fmla="val 8333"/>
            </a:avLst>
          </a:prstGeom>
          <a:solidFill>
            <a:srgbClr val="1F56C3"/>
          </a:solidFill>
          <a:ln w="12700">
            <a:solidFill>
              <a:srgbClr val="1F56C3"/>
            </a:solidFill>
            <a:prstDash val="solid"/>
          </a:ln>
        </p:spPr>
      </p:sp>
      <p:sp>
        <p:nvSpPr>
          <p:cNvPr id="82" name="Text 80"/>
          <p:cNvSpPr txBox="1"/>
          <p:nvPr/>
        </p:nvSpPr>
        <p:spPr>
          <a:xfrm>
            <a:off x="4992624" y="5394960"/>
            <a:ext cx="203911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Exceptions &amp; Break Analysis</a:t>
            </a:r>
            <a:endParaRPr lang="en-US" sz="950" dirty="0"/>
          </a:p>
        </p:txBody>
      </p:sp>
      <p:sp>
        <p:nvSpPr>
          <p:cNvPr id="83" name="Shape 81"/>
          <p:cNvSpPr/>
          <p:nvPr/>
        </p:nvSpPr>
        <p:spPr>
          <a:xfrm>
            <a:off x="6903720" y="5303520"/>
            <a:ext cx="274320" cy="274320"/>
          </a:xfrm>
          <a:prstGeom prst="ellipse">
            <a:avLst/>
          </a:prstGeom>
          <a:solidFill>
            <a:srgbClr val="F2A900"/>
          </a:solidFill>
          <a:ln w="12700">
            <a:solidFill>
              <a:srgbClr val="FFFFFF"/>
            </a:solidFill>
            <a:prstDash val="solid"/>
          </a:ln>
        </p:spPr>
      </p:sp>
      <p:sp>
        <p:nvSpPr>
          <p:cNvPr id="84" name="Text 82"/>
          <p:cNvSpPr txBox="1"/>
          <p:nvPr/>
        </p:nvSpPr>
        <p:spPr>
          <a:xfrm>
            <a:off x="6903720" y="5303520"/>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1</a:t>
            </a:r>
            <a:endParaRPr lang="en-US" sz="950" dirty="0"/>
          </a:p>
        </p:txBody>
      </p:sp>
      <p:sp>
        <p:nvSpPr>
          <p:cNvPr id="85" name="Shape 83"/>
          <p:cNvSpPr/>
          <p:nvPr/>
        </p:nvSpPr>
        <p:spPr>
          <a:xfrm>
            <a:off x="7223760" y="5394960"/>
            <a:ext cx="2148840" cy="548640"/>
          </a:xfrm>
          <a:prstGeom prst="roundRect">
            <a:avLst>
              <a:gd name="adj" fmla="val 8333"/>
            </a:avLst>
          </a:prstGeom>
          <a:solidFill>
            <a:srgbClr val="1F56C3"/>
          </a:solidFill>
          <a:ln w="12700">
            <a:solidFill>
              <a:srgbClr val="1F56C3"/>
            </a:solidFill>
            <a:prstDash val="solid"/>
          </a:ln>
        </p:spPr>
      </p:sp>
      <p:sp>
        <p:nvSpPr>
          <p:cNvPr id="86" name="Text 84"/>
          <p:cNvSpPr txBox="1"/>
          <p:nvPr/>
        </p:nvSpPr>
        <p:spPr>
          <a:xfrm>
            <a:off x="7278624" y="5394960"/>
            <a:ext cx="203911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Movements Analysis (MOT, Trend)</a:t>
            </a:r>
            <a:endParaRPr lang="en-US" sz="950" dirty="0"/>
          </a:p>
        </p:txBody>
      </p:sp>
      <p:sp>
        <p:nvSpPr>
          <p:cNvPr id="87" name="Shape 85"/>
          <p:cNvSpPr/>
          <p:nvPr/>
        </p:nvSpPr>
        <p:spPr>
          <a:xfrm>
            <a:off x="9189720" y="5303520"/>
            <a:ext cx="274320" cy="274320"/>
          </a:xfrm>
          <a:prstGeom prst="ellipse">
            <a:avLst/>
          </a:prstGeom>
          <a:solidFill>
            <a:srgbClr val="F2A900"/>
          </a:solidFill>
          <a:ln w="12700">
            <a:solidFill>
              <a:srgbClr val="FFFFFF"/>
            </a:solidFill>
            <a:prstDash val="solid"/>
          </a:ln>
        </p:spPr>
      </p:sp>
      <p:sp>
        <p:nvSpPr>
          <p:cNvPr id="88" name="Text 86"/>
          <p:cNvSpPr txBox="1"/>
          <p:nvPr/>
        </p:nvSpPr>
        <p:spPr>
          <a:xfrm>
            <a:off x="9189720" y="5303520"/>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4</a:t>
            </a:r>
            <a:endParaRPr lang="en-US" sz="950" dirty="0"/>
          </a:p>
        </p:txBody>
      </p:sp>
      <p:sp>
        <p:nvSpPr>
          <p:cNvPr id="89" name="Shape 87"/>
          <p:cNvSpPr/>
          <p:nvPr/>
        </p:nvSpPr>
        <p:spPr>
          <a:xfrm>
            <a:off x="9509760" y="5394960"/>
            <a:ext cx="2148840" cy="548640"/>
          </a:xfrm>
          <a:prstGeom prst="roundRect">
            <a:avLst>
              <a:gd name="adj" fmla="val 8333"/>
            </a:avLst>
          </a:prstGeom>
          <a:solidFill>
            <a:srgbClr val="1F56C3"/>
          </a:solidFill>
          <a:ln w="12700">
            <a:solidFill>
              <a:srgbClr val="1F56C3"/>
            </a:solidFill>
            <a:prstDash val="solid"/>
          </a:ln>
        </p:spPr>
      </p:sp>
      <p:sp>
        <p:nvSpPr>
          <p:cNvPr id="90" name="Text 88"/>
          <p:cNvSpPr txBox="1"/>
          <p:nvPr/>
        </p:nvSpPr>
        <p:spPr>
          <a:xfrm>
            <a:off x="9564624" y="5394960"/>
            <a:ext cx="203911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Cost Analysis</a:t>
            </a:r>
            <a:endParaRPr lang="en-US" sz="950" dirty="0"/>
          </a:p>
        </p:txBody>
      </p:sp>
      <p:sp>
        <p:nvSpPr>
          <p:cNvPr id="91" name="Shape 89"/>
          <p:cNvSpPr/>
          <p:nvPr/>
        </p:nvSpPr>
        <p:spPr>
          <a:xfrm>
            <a:off x="11475720" y="5303520"/>
            <a:ext cx="274320" cy="274320"/>
          </a:xfrm>
          <a:prstGeom prst="ellipse">
            <a:avLst/>
          </a:prstGeom>
          <a:solidFill>
            <a:srgbClr val="F2A900"/>
          </a:solidFill>
          <a:ln w="12700">
            <a:solidFill>
              <a:srgbClr val="FFFFFF"/>
            </a:solidFill>
            <a:prstDash val="solid"/>
          </a:ln>
        </p:spPr>
      </p:sp>
      <p:sp>
        <p:nvSpPr>
          <p:cNvPr id="92" name="Text 90"/>
          <p:cNvSpPr txBox="1"/>
          <p:nvPr/>
        </p:nvSpPr>
        <p:spPr>
          <a:xfrm>
            <a:off x="11475720" y="5303520"/>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4</a:t>
            </a:r>
            <a:endParaRPr lang="en-US" sz="950" dirty="0"/>
          </a:p>
        </p:txBody>
      </p:sp>
      <p:sp>
        <p:nvSpPr>
          <p:cNvPr id="93" name="Shape 91"/>
          <p:cNvSpPr/>
          <p:nvPr/>
        </p:nvSpPr>
        <p:spPr>
          <a:xfrm>
            <a:off x="11795760" y="5394960"/>
            <a:ext cx="2148840" cy="548640"/>
          </a:xfrm>
          <a:prstGeom prst="roundRect">
            <a:avLst>
              <a:gd name="adj" fmla="val 8333"/>
            </a:avLst>
          </a:prstGeom>
          <a:solidFill>
            <a:srgbClr val="1F56C3"/>
          </a:solidFill>
          <a:ln w="12700">
            <a:solidFill>
              <a:srgbClr val="1F56C3"/>
            </a:solidFill>
            <a:prstDash val="solid"/>
          </a:ln>
        </p:spPr>
      </p:sp>
      <p:sp>
        <p:nvSpPr>
          <p:cNvPr id="94" name="Text 92"/>
          <p:cNvSpPr txBox="1"/>
          <p:nvPr/>
        </p:nvSpPr>
        <p:spPr>
          <a:xfrm>
            <a:off x="11850624" y="5394960"/>
            <a:ext cx="203911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Variance Analysis</a:t>
            </a:r>
            <a:endParaRPr lang="en-US" sz="950" dirty="0"/>
          </a:p>
        </p:txBody>
      </p:sp>
      <p:sp>
        <p:nvSpPr>
          <p:cNvPr id="95" name="Shape 93"/>
          <p:cNvSpPr/>
          <p:nvPr/>
        </p:nvSpPr>
        <p:spPr>
          <a:xfrm>
            <a:off x="13761720" y="5303520"/>
            <a:ext cx="274320" cy="274320"/>
          </a:xfrm>
          <a:prstGeom prst="ellipse">
            <a:avLst/>
          </a:prstGeom>
          <a:solidFill>
            <a:srgbClr val="F2A900"/>
          </a:solidFill>
          <a:ln w="12700">
            <a:solidFill>
              <a:srgbClr val="FFFFFF"/>
            </a:solidFill>
            <a:prstDash val="solid"/>
          </a:ln>
        </p:spPr>
      </p:sp>
      <p:sp>
        <p:nvSpPr>
          <p:cNvPr id="96" name="Text 94"/>
          <p:cNvSpPr txBox="1"/>
          <p:nvPr/>
        </p:nvSpPr>
        <p:spPr>
          <a:xfrm>
            <a:off x="13761720" y="5303520"/>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4</a:t>
            </a:r>
            <a:endParaRPr lang="en-US" sz="950" dirty="0"/>
          </a:p>
        </p:txBody>
      </p:sp>
      <p:sp>
        <p:nvSpPr>
          <p:cNvPr id="97" name="Shape 95"/>
          <p:cNvSpPr/>
          <p:nvPr/>
        </p:nvSpPr>
        <p:spPr>
          <a:xfrm>
            <a:off x="2651760" y="6080760"/>
            <a:ext cx="2148840" cy="548640"/>
          </a:xfrm>
          <a:prstGeom prst="roundRect">
            <a:avLst>
              <a:gd name="adj" fmla="val 8333"/>
            </a:avLst>
          </a:prstGeom>
          <a:solidFill>
            <a:srgbClr val="1F56C3"/>
          </a:solidFill>
          <a:ln w="12700">
            <a:solidFill>
              <a:srgbClr val="1F56C3"/>
            </a:solidFill>
            <a:prstDash val="solid"/>
          </a:ln>
        </p:spPr>
      </p:sp>
      <p:sp>
        <p:nvSpPr>
          <p:cNvPr id="98" name="Text 96"/>
          <p:cNvSpPr txBox="1"/>
          <p:nvPr/>
        </p:nvSpPr>
        <p:spPr>
          <a:xfrm>
            <a:off x="2706624" y="6080760"/>
            <a:ext cx="203911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PLEX Reclassification</a:t>
            </a:r>
            <a:endParaRPr lang="en-US" sz="950" dirty="0"/>
          </a:p>
        </p:txBody>
      </p:sp>
      <p:sp>
        <p:nvSpPr>
          <p:cNvPr id="99" name="Shape 97"/>
          <p:cNvSpPr/>
          <p:nvPr/>
        </p:nvSpPr>
        <p:spPr>
          <a:xfrm>
            <a:off x="4617720" y="5989320"/>
            <a:ext cx="274320" cy="274320"/>
          </a:xfrm>
          <a:prstGeom prst="ellipse">
            <a:avLst/>
          </a:prstGeom>
          <a:solidFill>
            <a:srgbClr val="F2A900"/>
          </a:solidFill>
          <a:ln w="12700">
            <a:solidFill>
              <a:srgbClr val="FFFFFF"/>
            </a:solidFill>
            <a:prstDash val="solid"/>
          </a:ln>
        </p:spPr>
      </p:sp>
      <p:sp>
        <p:nvSpPr>
          <p:cNvPr id="100" name="Text 98"/>
          <p:cNvSpPr txBox="1"/>
          <p:nvPr/>
        </p:nvSpPr>
        <p:spPr>
          <a:xfrm>
            <a:off x="4617720" y="5989320"/>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2</a:t>
            </a:r>
            <a:endParaRPr lang="en-US" sz="950" dirty="0"/>
          </a:p>
        </p:txBody>
      </p:sp>
      <p:sp>
        <p:nvSpPr>
          <p:cNvPr id="101" name="Shape 99"/>
          <p:cNvSpPr/>
          <p:nvPr/>
        </p:nvSpPr>
        <p:spPr>
          <a:xfrm>
            <a:off x="4937760" y="6080760"/>
            <a:ext cx="2148840" cy="548640"/>
          </a:xfrm>
          <a:prstGeom prst="roundRect">
            <a:avLst>
              <a:gd name="adj" fmla="val 8333"/>
            </a:avLst>
          </a:prstGeom>
          <a:solidFill>
            <a:srgbClr val="1F56C3"/>
          </a:solidFill>
          <a:ln w="12700">
            <a:solidFill>
              <a:srgbClr val="1F56C3"/>
            </a:solidFill>
            <a:prstDash val="solid"/>
          </a:ln>
        </p:spPr>
      </p:sp>
      <p:sp>
        <p:nvSpPr>
          <p:cNvPr id="102" name="Text 100"/>
          <p:cNvSpPr txBox="1"/>
          <p:nvPr/>
        </p:nvSpPr>
        <p:spPr>
          <a:xfrm>
            <a:off x="4992624" y="6080760"/>
            <a:ext cx="203911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Average Balance Sheet Analysis</a:t>
            </a:r>
            <a:endParaRPr lang="en-US" sz="950" dirty="0"/>
          </a:p>
        </p:txBody>
      </p:sp>
      <p:sp>
        <p:nvSpPr>
          <p:cNvPr id="103" name="Shape 101"/>
          <p:cNvSpPr/>
          <p:nvPr/>
        </p:nvSpPr>
        <p:spPr>
          <a:xfrm>
            <a:off x="6903720" y="5989320"/>
            <a:ext cx="274320" cy="274320"/>
          </a:xfrm>
          <a:prstGeom prst="ellipse">
            <a:avLst/>
          </a:prstGeom>
          <a:solidFill>
            <a:srgbClr val="F2A900"/>
          </a:solidFill>
          <a:ln w="12700">
            <a:solidFill>
              <a:srgbClr val="FFFFFF"/>
            </a:solidFill>
            <a:prstDash val="solid"/>
          </a:ln>
        </p:spPr>
      </p:sp>
      <p:sp>
        <p:nvSpPr>
          <p:cNvPr id="104" name="Text 102"/>
          <p:cNvSpPr txBox="1"/>
          <p:nvPr/>
        </p:nvSpPr>
        <p:spPr>
          <a:xfrm>
            <a:off x="6903720" y="5989320"/>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4</a:t>
            </a:r>
            <a:endParaRPr lang="en-US" sz="950" dirty="0"/>
          </a:p>
        </p:txBody>
      </p:sp>
      <p:sp>
        <p:nvSpPr>
          <p:cNvPr id="105" name="Shape 103"/>
          <p:cNvSpPr/>
          <p:nvPr/>
        </p:nvSpPr>
        <p:spPr>
          <a:xfrm>
            <a:off x="7223760" y="6080760"/>
            <a:ext cx="2148840" cy="548640"/>
          </a:xfrm>
          <a:prstGeom prst="roundRect">
            <a:avLst>
              <a:gd name="adj" fmla="val 8333"/>
            </a:avLst>
          </a:prstGeom>
          <a:solidFill>
            <a:srgbClr val="1F56C3"/>
          </a:solidFill>
          <a:ln w="12700">
            <a:solidFill>
              <a:srgbClr val="1F56C3"/>
            </a:solidFill>
            <a:prstDash val="solid"/>
          </a:ln>
        </p:spPr>
      </p:sp>
      <p:sp>
        <p:nvSpPr>
          <p:cNvPr id="106" name="Text 104"/>
          <p:cNvSpPr txBox="1"/>
          <p:nvPr/>
        </p:nvSpPr>
        <p:spPr>
          <a:xfrm>
            <a:off x="7278624" y="6080760"/>
            <a:ext cx="203911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Presentation Currency View</a:t>
            </a:r>
            <a:endParaRPr lang="en-US" sz="950" dirty="0"/>
          </a:p>
        </p:txBody>
      </p:sp>
      <p:sp>
        <p:nvSpPr>
          <p:cNvPr id="107" name="Shape 105"/>
          <p:cNvSpPr/>
          <p:nvPr/>
        </p:nvSpPr>
        <p:spPr>
          <a:xfrm>
            <a:off x="9189720" y="5989320"/>
            <a:ext cx="274320" cy="274320"/>
          </a:xfrm>
          <a:prstGeom prst="ellipse">
            <a:avLst/>
          </a:prstGeom>
          <a:solidFill>
            <a:srgbClr val="F2A900"/>
          </a:solidFill>
          <a:ln w="12700">
            <a:solidFill>
              <a:srgbClr val="FFFFFF"/>
            </a:solidFill>
            <a:prstDash val="solid"/>
          </a:ln>
        </p:spPr>
      </p:sp>
      <p:sp>
        <p:nvSpPr>
          <p:cNvPr id="108" name="Text 106"/>
          <p:cNvSpPr txBox="1"/>
          <p:nvPr/>
        </p:nvSpPr>
        <p:spPr>
          <a:xfrm>
            <a:off x="9189720" y="5989320"/>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4</a:t>
            </a:r>
            <a:endParaRPr lang="en-US" sz="950" dirty="0"/>
          </a:p>
        </p:txBody>
      </p:sp>
      <p:sp>
        <p:nvSpPr>
          <p:cNvPr id="109" name="Shape 107"/>
          <p:cNvSpPr/>
          <p:nvPr/>
        </p:nvSpPr>
        <p:spPr>
          <a:xfrm>
            <a:off x="9509760" y="6080760"/>
            <a:ext cx="2148840" cy="548640"/>
          </a:xfrm>
          <a:prstGeom prst="roundRect">
            <a:avLst>
              <a:gd name="adj" fmla="val 8333"/>
            </a:avLst>
          </a:prstGeom>
          <a:solidFill>
            <a:srgbClr val="1F56C3"/>
          </a:solidFill>
          <a:ln w="12700">
            <a:solidFill>
              <a:srgbClr val="1F56C3"/>
            </a:solidFill>
            <a:prstDash val="solid"/>
          </a:ln>
        </p:spPr>
      </p:sp>
      <p:sp>
        <p:nvSpPr>
          <p:cNvPr id="110" name="Text 108"/>
          <p:cNvSpPr txBox="1"/>
          <p:nvPr/>
        </p:nvSpPr>
        <p:spPr>
          <a:xfrm>
            <a:off x="9564624" y="6080760"/>
            <a:ext cx="203911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Impairments Analysis</a:t>
            </a:r>
            <a:endParaRPr lang="en-US" sz="950" dirty="0"/>
          </a:p>
        </p:txBody>
      </p:sp>
      <p:sp>
        <p:nvSpPr>
          <p:cNvPr id="111" name="Shape 109"/>
          <p:cNvSpPr/>
          <p:nvPr/>
        </p:nvSpPr>
        <p:spPr>
          <a:xfrm>
            <a:off x="11475720" y="5989320"/>
            <a:ext cx="274320" cy="274320"/>
          </a:xfrm>
          <a:prstGeom prst="ellipse">
            <a:avLst/>
          </a:prstGeom>
          <a:solidFill>
            <a:srgbClr val="F2A900"/>
          </a:solidFill>
          <a:ln w="12700">
            <a:solidFill>
              <a:srgbClr val="FFFFFF"/>
            </a:solidFill>
            <a:prstDash val="solid"/>
          </a:ln>
        </p:spPr>
      </p:sp>
      <p:sp>
        <p:nvSpPr>
          <p:cNvPr id="112" name="Text 110"/>
          <p:cNvSpPr txBox="1"/>
          <p:nvPr/>
        </p:nvSpPr>
        <p:spPr>
          <a:xfrm>
            <a:off x="11475720" y="5989320"/>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4</a:t>
            </a:r>
            <a:endParaRPr lang="en-US" sz="950" dirty="0"/>
          </a:p>
        </p:txBody>
      </p:sp>
      <p:sp>
        <p:nvSpPr>
          <p:cNvPr id="113" name="Shape 111"/>
          <p:cNvSpPr/>
          <p:nvPr/>
        </p:nvSpPr>
        <p:spPr>
          <a:xfrm>
            <a:off x="11795760" y="6080760"/>
            <a:ext cx="2148840" cy="548640"/>
          </a:xfrm>
          <a:prstGeom prst="roundRect">
            <a:avLst>
              <a:gd name="adj" fmla="val 8333"/>
            </a:avLst>
          </a:prstGeom>
          <a:solidFill>
            <a:srgbClr val="1F56C3"/>
          </a:solidFill>
          <a:ln w="12700">
            <a:solidFill>
              <a:srgbClr val="1F56C3"/>
            </a:solidFill>
            <a:prstDash val="solid"/>
          </a:ln>
        </p:spPr>
      </p:sp>
      <p:sp>
        <p:nvSpPr>
          <p:cNvPr id="114" name="Text 112"/>
          <p:cNvSpPr txBox="1"/>
          <p:nvPr/>
        </p:nvSpPr>
        <p:spPr>
          <a:xfrm>
            <a:off x="11850624" y="6080760"/>
            <a:ext cx="203911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Commentary Generation</a:t>
            </a:r>
            <a:endParaRPr lang="en-US" sz="950" dirty="0"/>
          </a:p>
        </p:txBody>
      </p:sp>
      <p:sp>
        <p:nvSpPr>
          <p:cNvPr id="115" name="Shape 113"/>
          <p:cNvSpPr/>
          <p:nvPr/>
        </p:nvSpPr>
        <p:spPr>
          <a:xfrm>
            <a:off x="13761720" y="5989320"/>
            <a:ext cx="274320" cy="274320"/>
          </a:xfrm>
          <a:prstGeom prst="ellipse">
            <a:avLst/>
          </a:prstGeom>
          <a:solidFill>
            <a:srgbClr val="F2A900"/>
          </a:solidFill>
          <a:ln w="12700">
            <a:solidFill>
              <a:srgbClr val="FFFFFF"/>
            </a:solidFill>
            <a:prstDash val="solid"/>
          </a:ln>
        </p:spPr>
      </p:sp>
      <p:sp>
        <p:nvSpPr>
          <p:cNvPr id="116" name="Text 114"/>
          <p:cNvSpPr txBox="1"/>
          <p:nvPr/>
        </p:nvSpPr>
        <p:spPr>
          <a:xfrm>
            <a:off x="13761720" y="5989320"/>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4</a:t>
            </a:r>
            <a:endParaRPr lang="en-US" sz="950" dirty="0"/>
          </a:p>
        </p:txBody>
      </p:sp>
      <p:sp>
        <p:nvSpPr>
          <p:cNvPr id="117" name="Shape 115"/>
          <p:cNvSpPr/>
          <p:nvPr/>
        </p:nvSpPr>
        <p:spPr>
          <a:xfrm>
            <a:off x="2514600" y="6949440"/>
            <a:ext cx="6400800" cy="1005840"/>
          </a:xfrm>
          <a:prstGeom prst="roundRect">
            <a:avLst>
              <a:gd name="adj" fmla="val 4545"/>
            </a:avLst>
          </a:prstGeom>
          <a:solidFill>
            <a:srgbClr val="EEF4FB"/>
          </a:solidFill>
          <a:ln w="12700">
            <a:solidFill>
              <a:srgbClr val="2A6EBB"/>
            </a:solidFill>
            <a:prstDash val="dash"/>
          </a:ln>
        </p:spPr>
      </p:sp>
      <p:sp>
        <p:nvSpPr>
          <p:cNvPr id="118" name="Text 116"/>
          <p:cNvSpPr txBox="1"/>
          <p:nvPr/>
        </p:nvSpPr>
        <p:spPr>
          <a:xfrm>
            <a:off x="2624328" y="7013448"/>
            <a:ext cx="6181344" cy="182880"/>
          </a:xfrm>
          <a:prstGeom prst="rect">
            <a:avLst/>
          </a:prstGeom>
          <a:noFill/>
          <a:ln/>
        </p:spPr>
        <p:txBody>
          <a:bodyPr wrap="square" lIns="0" tIns="0" rIns="0" bIns="0" rtlCol="0" anchor="ctr"/>
          <a:lstStyle/>
          <a:p>
            <a:pPr indent="0" marL="0">
              <a:buNone/>
            </a:pPr>
            <a:r>
              <a:rPr lang="en-US" sz="900" b="1" spc="100" kern="0" dirty="0">
                <a:solidFill>
                  <a:srgbClr val="1B4F93"/>
                </a:solidFill>
                <a:latin typeface="Calibri" pitchFamily="34" charset="0"/>
                <a:ea typeface="Calibri" pitchFamily="34" charset="-122"/>
                <a:cs typeface="Calibri" pitchFamily="34" charset="-120"/>
              </a:rPr>
              <a:t>FINANCIAL CLOSE</a:t>
            </a:r>
            <a:endParaRPr lang="en-US" sz="900" dirty="0"/>
          </a:p>
        </p:txBody>
      </p:sp>
      <p:sp>
        <p:nvSpPr>
          <p:cNvPr id="119" name="Shape 117"/>
          <p:cNvSpPr/>
          <p:nvPr/>
        </p:nvSpPr>
        <p:spPr>
          <a:xfrm>
            <a:off x="2651760" y="7269480"/>
            <a:ext cx="1463040" cy="548640"/>
          </a:xfrm>
          <a:prstGeom prst="roundRect">
            <a:avLst>
              <a:gd name="adj" fmla="val 8333"/>
            </a:avLst>
          </a:prstGeom>
          <a:solidFill>
            <a:srgbClr val="1F56C3"/>
          </a:solidFill>
          <a:ln w="12700">
            <a:solidFill>
              <a:srgbClr val="1F56C3"/>
            </a:solidFill>
            <a:prstDash val="solid"/>
          </a:ln>
        </p:spPr>
      </p:sp>
      <p:sp>
        <p:nvSpPr>
          <p:cNvPr id="120" name="Text 118"/>
          <p:cNvSpPr txBox="1"/>
          <p:nvPr/>
        </p:nvSpPr>
        <p:spPr>
          <a:xfrm>
            <a:off x="2706624" y="7269480"/>
            <a:ext cx="135331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Substantiation &amp; Attestation</a:t>
            </a:r>
            <a:endParaRPr lang="en-US" sz="950" dirty="0"/>
          </a:p>
        </p:txBody>
      </p:sp>
      <p:sp>
        <p:nvSpPr>
          <p:cNvPr id="121" name="Shape 119"/>
          <p:cNvSpPr/>
          <p:nvPr/>
        </p:nvSpPr>
        <p:spPr>
          <a:xfrm>
            <a:off x="3931920" y="7178040"/>
            <a:ext cx="274320" cy="274320"/>
          </a:xfrm>
          <a:prstGeom prst="ellipse">
            <a:avLst/>
          </a:prstGeom>
          <a:solidFill>
            <a:srgbClr val="F2A900"/>
          </a:solidFill>
          <a:ln w="12700">
            <a:solidFill>
              <a:srgbClr val="FFFFFF"/>
            </a:solidFill>
            <a:prstDash val="solid"/>
          </a:ln>
        </p:spPr>
      </p:sp>
      <p:sp>
        <p:nvSpPr>
          <p:cNvPr id="122" name="Text 120"/>
          <p:cNvSpPr txBox="1"/>
          <p:nvPr/>
        </p:nvSpPr>
        <p:spPr>
          <a:xfrm>
            <a:off x="3931920" y="7178040"/>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5</a:t>
            </a:r>
            <a:endParaRPr lang="en-US" sz="950" dirty="0"/>
          </a:p>
        </p:txBody>
      </p:sp>
      <p:sp>
        <p:nvSpPr>
          <p:cNvPr id="123" name="Shape 121"/>
          <p:cNvSpPr/>
          <p:nvPr/>
        </p:nvSpPr>
        <p:spPr>
          <a:xfrm>
            <a:off x="4206240" y="7269480"/>
            <a:ext cx="1463040" cy="548640"/>
          </a:xfrm>
          <a:prstGeom prst="roundRect">
            <a:avLst>
              <a:gd name="adj" fmla="val 8333"/>
            </a:avLst>
          </a:prstGeom>
          <a:solidFill>
            <a:srgbClr val="1F56C3"/>
          </a:solidFill>
          <a:ln w="12700">
            <a:solidFill>
              <a:srgbClr val="1F56C3"/>
            </a:solidFill>
            <a:prstDash val="solid"/>
          </a:ln>
        </p:spPr>
      </p:sp>
      <p:sp>
        <p:nvSpPr>
          <p:cNvPr id="124" name="Text 122"/>
          <p:cNvSpPr txBox="1"/>
          <p:nvPr/>
        </p:nvSpPr>
        <p:spPr>
          <a:xfrm>
            <a:off x="4261104" y="7269480"/>
            <a:ext cx="135331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Trader Sign Off</a:t>
            </a:r>
            <a:endParaRPr lang="en-US" sz="950" dirty="0"/>
          </a:p>
        </p:txBody>
      </p:sp>
      <p:sp>
        <p:nvSpPr>
          <p:cNvPr id="125" name="Shape 123"/>
          <p:cNvSpPr/>
          <p:nvPr/>
        </p:nvSpPr>
        <p:spPr>
          <a:xfrm>
            <a:off x="5486400" y="7178040"/>
            <a:ext cx="274320" cy="274320"/>
          </a:xfrm>
          <a:prstGeom prst="ellipse">
            <a:avLst/>
          </a:prstGeom>
          <a:solidFill>
            <a:srgbClr val="F2A900"/>
          </a:solidFill>
          <a:ln w="12700">
            <a:solidFill>
              <a:srgbClr val="FFFFFF"/>
            </a:solidFill>
            <a:prstDash val="solid"/>
          </a:ln>
        </p:spPr>
      </p:sp>
      <p:sp>
        <p:nvSpPr>
          <p:cNvPr id="126" name="Text 124"/>
          <p:cNvSpPr txBox="1"/>
          <p:nvPr/>
        </p:nvSpPr>
        <p:spPr>
          <a:xfrm>
            <a:off x="5486400" y="7178040"/>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5</a:t>
            </a:r>
            <a:endParaRPr lang="en-US" sz="950" dirty="0"/>
          </a:p>
        </p:txBody>
      </p:sp>
      <p:sp>
        <p:nvSpPr>
          <p:cNvPr id="127" name="Shape 125"/>
          <p:cNvSpPr/>
          <p:nvPr/>
        </p:nvSpPr>
        <p:spPr>
          <a:xfrm>
            <a:off x="5760720" y="7269480"/>
            <a:ext cx="1463040" cy="548640"/>
          </a:xfrm>
          <a:prstGeom prst="roundRect">
            <a:avLst>
              <a:gd name="adj" fmla="val 8333"/>
            </a:avLst>
          </a:prstGeom>
          <a:solidFill>
            <a:srgbClr val="1F56C3"/>
          </a:solidFill>
          <a:ln w="12700">
            <a:solidFill>
              <a:srgbClr val="1F56C3"/>
            </a:solidFill>
            <a:prstDash val="solid"/>
          </a:ln>
        </p:spPr>
      </p:sp>
      <p:sp>
        <p:nvSpPr>
          <p:cNvPr id="128" name="Text 126"/>
          <p:cNvSpPr txBox="1"/>
          <p:nvPr/>
        </p:nvSpPr>
        <p:spPr>
          <a:xfrm>
            <a:off x="5815584" y="7269480"/>
            <a:ext cx="135331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Daily TB Sign Off</a:t>
            </a:r>
            <a:endParaRPr lang="en-US" sz="950" dirty="0"/>
          </a:p>
        </p:txBody>
      </p:sp>
      <p:sp>
        <p:nvSpPr>
          <p:cNvPr id="129" name="Shape 127"/>
          <p:cNvSpPr/>
          <p:nvPr/>
        </p:nvSpPr>
        <p:spPr>
          <a:xfrm>
            <a:off x="7040880" y="7178040"/>
            <a:ext cx="274320" cy="274320"/>
          </a:xfrm>
          <a:prstGeom prst="ellipse">
            <a:avLst/>
          </a:prstGeom>
          <a:solidFill>
            <a:srgbClr val="F2A900"/>
          </a:solidFill>
          <a:ln w="12700">
            <a:solidFill>
              <a:srgbClr val="FFFFFF"/>
            </a:solidFill>
            <a:prstDash val="solid"/>
          </a:ln>
        </p:spPr>
      </p:sp>
      <p:sp>
        <p:nvSpPr>
          <p:cNvPr id="130" name="Text 128"/>
          <p:cNvSpPr txBox="1"/>
          <p:nvPr/>
        </p:nvSpPr>
        <p:spPr>
          <a:xfrm>
            <a:off x="7040880" y="7178040"/>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5</a:t>
            </a:r>
            <a:endParaRPr lang="en-US" sz="950" dirty="0"/>
          </a:p>
        </p:txBody>
      </p:sp>
      <p:sp>
        <p:nvSpPr>
          <p:cNvPr id="131" name="Shape 129"/>
          <p:cNvSpPr/>
          <p:nvPr/>
        </p:nvSpPr>
        <p:spPr>
          <a:xfrm>
            <a:off x="7315200" y="7269480"/>
            <a:ext cx="1463040" cy="548640"/>
          </a:xfrm>
          <a:prstGeom prst="roundRect">
            <a:avLst>
              <a:gd name="adj" fmla="val 8333"/>
            </a:avLst>
          </a:prstGeom>
          <a:solidFill>
            <a:srgbClr val="1F56C3"/>
          </a:solidFill>
          <a:ln w="12700">
            <a:solidFill>
              <a:srgbClr val="1F56C3"/>
            </a:solidFill>
            <a:prstDash val="solid"/>
          </a:ln>
        </p:spPr>
      </p:sp>
      <p:sp>
        <p:nvSpPr>
          <p:cNvPr id="132" name="Text 130"/>
          <p:cNvSpPr txBox="1"/>
          <p:nvPr/>
        </p:nvSpPr>
        <p:spPr>
          <a:xfrm>
            <a:off x="7370064" y="7269480"/>
            <a:ext cx="135331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Legal Entity &amp; Group Sign Off</a:t>
            </a:r>
            <a:endParaRPr lang="en-US" sz="950" dirty="0"/>
          </a:p>
        </p:txBody>
      </p:sp>
      <p:sp>
        <p:nvSpPr>
          <p:cNvPr id="133" name="Shape 131"/>
          <p:cNvSpPr/>
          <p:nvPr/>
        </p:nvSpPr>
        <p:spPr>
          <a:xfrm>
            <a:off x="8595360" y="7178040"/>
            <a:ext cx="274320" cy="274320"/>
          </a:xfrm>
          <a:prstGeom prst="ellipse">
            <a:avLst/>
          </a:prstGeom>
          <a:solidFill>
            <a:srgbClr val="F2A900"/>
          </a:solidFill>
          <a:ln w="12700">
            <a:solidFill>
              <a:srgbClr val="FFFFFF"/>
            </a:solidFill>
            <a:prstDash val="solid"/>
          </a:ln>
        </p:spPr>
      </p:sp>
      <p:sp>
        <p:nvSpPr>
          <p:cNvPr id="134" name="Text 132"/>
          <p:cNvSpPr txBox="1"/>
          <p:nvPr/>
        </p:nvSpPr>
        <p:spPr>
          <a:xfrm>
            <a:off x="8595360" y="7178040"/>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5</a:t>
            </a:r>
            <a:endParaRPr lang="en-US" sz="950" dirty="0"/>
          </a:p>
        </p:txBody>
      </p:sp>
      <p:sp>
        <p:nvSpPr>
          <p:cNvPr id="135" name="Shape 133"/>
          <p:cNvSpPr/>
          <p:nvPr/>
        </p:nvSpPr>
        <p:spPr>
          <a:xfrm>
            <a:off x="9098280" y="6949440"/>
            <a:ext cx="5029200" cy="1005840"/>
          </a:xfrm>
          <a:prstGeom prst="roundRect">
            <a:avLst>
              <a:gd name="adj" fmla="val 4545"/>
            </a:avLst>
          </a:prstGeom>
          <a:solidFill>
            <a:srgbClr val="EEF4FB"/>
          </a:solidFill>
          <a:ln w="12700">
            <a:solidFill>
              <a:srgbClr val="2A6EBB"/>
            </a:solidFill>
            <a:prstDash val="dash"/>
          </a:ln>
        </p:spPr>
      </p:sp>
      <p:sp>
        <p:nvSpPr>
          <p:cNvPr id="136" name="Text 134"/>
          <p:cNvSpPr txBox="1"/>
          <p:nvPr/>
        </p:nvSpPr>
        <p:spPr>
          <a:xfrm>
            <a:off x="9208008" y="7013448"/>
            <a:ext cx="4809744" cy="182880"/>
          </a:xfrm>
          <a:prstGeom prst="rect">
            <a:avLst/>
          </a:prstGeom>
          <a:noFill/>
          <a:ln/>
        </p:spPr>
        <p:txBody>
          <a:bodyPr wrap="square" lIns="0" tIns="0" rIns="0" bIns="0" rtlCol="0" anchor="ctr"/>
          <a:lstStyle/>
          <a:p>
            <a:pPr indent="0" marL="0">
              <a:buNone/>
            </a:pPr>
            <a:r>
              <a:rPr lang="en-US" sz="900" b="1" spc="100" kern="0" dirty="0">
                <a:solidFill>
                  <a:srgbClr val="1B4F93"/>
                </a:solidFill>
                <a:latin typeface="Calibri" pitchFamily="34" charset="0"/>
                <a:ea typeface="Calibri" pitchFamily="34" charset="-122"/>
                <a:cs typeface="Calibri" pitchFamily="34" charset="-120"/>
              </a:rPr>
              <a:t>INTERNAL REPORTING</a:t>
            </a:r>
            <a:endParaRPr lang="en-US" sz="900" dirty="0"/>
          </a:p>
        </p:txBody>
      </p:sp>
      <p:sp>
        <p:nvSpPr>
          <p:cNvPr id="137" name="Shape 135"/>
          <p:cNvSpPr/>
          <p:nvPr/>
        </p:nvSpPr>
        <p:spPr>
          <a:xfrm>
            <a:off x="9235440" y="7269480"/>
            <a:ext cx="2331720" cy="548640"/>
          </a:xfrm>
          <a:prstGeom prst="roundRect">
            <a:avLst>
              <a:gd name="adj" fmla="val 8333"/>
            </a:avLst>
          </a:prstGeom>
          <a:solidFill>
            <a:srgbClr val="1F56C3"/>
          </a:solidFill>
          <a:ln w="12700">
            <a:solidFill>
              <a:srgbClr val="1F56C3"/>
            </a:solidFill>
            <a:prstDash val="solid"/>
          </a:ln>
        </p:spPr>
      </p:sp>
      <p:sp>
        <p:nvSpPr>
          <p:cNvPr id="138" name="Text 136"/>
          <p:cNvSpPr txBox="1"/>
          <p:nvPr/>
        </p:nvSpPr>
        <p:spPr>
          <a:xfrm>
            <a:off x="9290304" y="7269480"/>
            <a:ext cx="222199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Report Generation &amp; Validation</a:t>
            </a:r>
            <a:endParaRPr lang="en-US" sz="950" dirty="0"/>
          </a:p>
        </p:txBody>
      </p:sp>
      <p:sp>
        <p:nvSpPr>
          <p:cNvPr id="139" name="Shape 137"/>
          <p:cNvSpPr/>
          <p:nvPr/>
        </p:nvSpPr>
        <p:spPr>
          <a:xfrm>
            <a:off x="11384280" y="7178040"/>
            <a:ext cx="274320" cy="274320"/>
          </a:xfrm>
          <a:prstGeom prst="ellipse">
            <a:avLst/>
          </a:prstGeom>
          <a:solidFill>
            <a:srgbClr val="F2A900"/>
          </a:solidFill>
          <a:ln w="12700">
            <a:solidFill>
              <a:srgbClr val="FFFFFF"/>
            </a:solidFill>
            <a:prstDash val="solid"/>
          </a:ln>
        </p:spPr>
      </p:sp>
      <p:sp>
        <p:nvSpPr>
          <p:cNvPr id="140" name="Text 138"/>
          <p:cNvSpPr txBox="1"/>
          <p:nvPr/>
        </p:nvSpPr>
        <p:spPr>
          <a:xfrm>
            <a:off x="11384280" y="7178040"/>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6</a:t>
            </a:r>
            <a:endParaRPr lang="en-US" sz="950" dirty="0"/>
          </a:p>
        </p:txBody>
      </p:sp>
      <p:sp>
        <p:nvSpPr>
          <p:cNvPr id="141" name="Shape 139"/>
          <p:cNvSpPr/>
          <p:nvPr/>
        </p:nvSpPr>
        <p:spPr>
          <a:xfrm>
            <a:off x="11704320" y="7269480"/>
            <a:ext cx="2286000" cy="548640"/>
          </a:xfrm>
          <a:prstGeom prst="roundRect">
            <a:avLst>
              <a:gd name="adj" fmla="val 8333"/>
            </a:avLst>
          </a:prstGeom>
          <a:solidFill>
            <a:srgbClr val="1E4D5C"/>
          </a:solidFill>
          <a:ln w="12700">
            <a:solidFill>
              <a:srgbClr val="1E4D5C"/>
            </a:solidFill>
            <a:prstDash val="solid"/>
          </a:ln>
        </p:spPr>
      </p:sp>
      <p:sp>
        <p:nvSpPr>
          <p:cNvPr id="142" name="Text 140"/>
          <p:cNvSpPr txBox="1"/>
          <p:nvPr/>
        </p:nvSpPr>
        <p:spPr>
          <a:xfrm>
            <a:off x="11759184" y="7269480"/>
            <a:ext cx="217627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Report Publication</a:t>
            </a:r>
            <a:endParaRPr lang="en-US" sz="950" dirty="0"/>
          </a:p>
        </p:txBody>
      </p:sp>
      <p:sp>
        <p:nvSpPr>
          <p:cNvPr id="143" name="Shape 141"/>
          <p:cNvSpPr/>
          <p:nvPr/>
        </p:nvSpPr>
        <p:spPr>
          <a:xfrm>
            <a:off x="502920" y="8183880"/>
            <a:ext cx="411480" cy="219456"/>
          </a:xfrm>
          <a:prstGeom prst="roundRect">
            <a:avLst>
              <a:gd name="adj" fmla="val 16667"/>
            </a:avLst>
          </a:prstGeom>
          <a:solidFill>
            <a:srgbClr val="1F56C3"/>
          </a:solidFill>
          <a:ln w="12700">
            <a:solidFill>
              <a:srgbClr val="1F56C3"/>
            </a:solidFill>
            <a:prstDash val="solid"/>
          </a:ln>
        </p:spPr>
      </p:sp>
      <p:sp>
        <p:nvSpPr>
          <p:cNvPr id="144" name="Text 142"/>
          <p:cNvSpPr txBox="1"/>
          <p:nvPr/>
        </p:nvSpPr>
        <p:spPr>
          <a:xfrm>
            <a:off x="1005840" y="8165592"/>
            <a:ext cx="2194560" cy="256032"/>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Manual process</a:t>
            </a:r>
            <a:endParaRPr lang="en-US" sz="950" dirty="0"/>
          </a:p>
        </p:txBody>
      </p:sp>
      <p:sp>
        <p:nvSpPr>
          <p:cNvPr id="145" name="Shape 143"/>
          <p:cNvSpPr/>
          <p:nvPr/>
        </p:nvSpPr>
        <p:spPr>
          <a:xfrm>
            <a:off x="502920" y="8503920"/>
            <a:ext cx="411480" cy="219456"/>
          </a:xfrm>
          <a:prstGeom prst="roundRect">
            <a:avLst>
              <a:gd name="adj" fmla="val 16667"/>
            </a:avLst>
          </a:prstGeom>
          <a:solidFill>
            <a:srgbClr val="1E4D5C"/>
          </a:solidFill>
          <a:ln w="12700">
            <a:solidFill>
              <a:srgbClr val="1E4D5C"/>
            </a:solidFill>
            <a:prstDash val="solid"/>
          </a:ln>
        </p:spPr>
      </p:sp>
      <p:sp>
        <p:nvSpPr>
          <p:cNvPr id="146" name="Text 144"/>
          <p:cNvSpPr txBox="1"/>
          <p:nvPr/>
        </p:nvSpPr>
        <p:spPr>
          <a:xfrm>
            <a:off x="1005840" y="8485632"/>
            <a:ext cx="2194560" cy="256032"/>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System process / service</a:t>
            </a:r>
            <a:endParaRPr lang="en-US" sz="950" dirty="0"/>
          </a:p>
        </p:txBody>
      </p:sp>
      <p:sp>
        <p:nvSpPr>
          <p:cNvPr id="147" name="Shape 145"/>
          <p:cNvSpPr/>
          <p:nvPr/>
        </p:nvSpPr>
        <p:spPr>
          <a:xfrm>
            <a:off x="502920" y="8823960"/>
            <a:ext cx="411480" cy="219456"/>
          </a:xfrm>
          <a:prstGeom prst="roundRect">
            <a:avLst>
              <a:gd name="adj" fmla="val 16667"/>
            </a:avLst>
          </a:prstGeom>
          <a:solidFill>
            <a:srgbClr val="FFFFFF"/>
          </a:solidFill>
          <a:ln w="9525">
            <a:solidFill>
              <a:srgbClr val="C8D8EC"/>
            </a:solidFill>
            <a:prstDash val="solid"/>
          </a:ln>
        </p:spPr>
      </p:sp>
      <p:sp>
        <p:nvSpPr>
          <p:cNvPr id="148" name="Text 146"/>
          <p:cNvSpPr txBox="1"/>
          <p:nvPr/>
        </p:nvSpPr>
        <p:spPr>
          <a:xfrm>
            <a:off x="1005840" y="8805672"/>
            <a:ext cx="2194560" cy="256032"/>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Definition / upstream</a:t>
            </a:r>
            <a:endParaRPr lang="en-US" sz="950" dirty="0"/>
          </a:p>
        </p:txBody>
      </p:sp>
      <p:sp>
        <p:nvSpPr>
          <p:cNvPr id="149" name="Shape 147"/>
          <p:cNvSpPr/>
          <p:nvPr/>
        </p:nvSpPr>
        <p:spPr>
          <a:xfrm>
            <a:off x="3291840" y="8202168"/>
            <a:ext cx="274320" cy="274320"/>
          </a:xfrm>
          <a:prstGeom prst="ellipse">
            <a:avLst/>
          </a:prstGeom>
          <a:solidFill>
            <a:srgbClr val="F2A900"/>
          </a:solidFill>
          <a:ln w="12700">
            <a:solidFill>
              <a:srgbClr val="F2A900"/>
            </a:solidFill>
            <a:prstDash val="solid"/>
          </a:ln>
        </p:spPr>
      </p:sp>
      <p:sp>
        <p:nvSpPr>
          <p:cNvPr id="150" name="Text 148"/>
          <p:cNvSpPr txBox="1"/>
          <p:nvPr/>
        </p:nvSpPr>
        <p:spPr>
          <a:xfrm>
            <a:off x="3291840" y="8202168"/>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1</a:t>
            </a:r>
            <a:endParaRPr lang="en-US" sz="950" dirty="0"/>
          </a:p>
        </p:txBody>
      </p:sp>
      <p:sp>
        <p:nvSpPr>
          <p:cNvPr id="151" name="Text 149"/>
          <p:cNvSpPr txBox="1"/>
          <p:nvPr/>
        </p:nvSpPr>
        <p:spPr>
          <a:xfrm>
            <a:off x="3639312" y="8202168"/>
            <a:ext cx="2331720" cy="274320"/>
          </a:xfrm>
          <a:prstGeom prst="rect">
            <a:avLst/>
          </a:prstGeom>
          <a:noFill/>
          <a:ln/>
        </p:spPr>
        <p:txBody>
          <a:bodyPr wrap="square" lIns="0" tIns="0" rIns="0" bIns="0" rtlCol="0" anchor="ctr"/>
          <a:lstStyle/>
          <a:p>
            <a:pPr indent="0" marL="0">
              <a:buNone/>
            </a:pPr>
            <a:r>
              <a:rPr lang="en-US" sz="1000" b="1" dirty="0">
                <a:solidFill>
                  <a:srgbClr val="1F2D3D"/>
                </a:solidFill>
                <a:latin typeface="Calibri" pitchFamily="34" charset="0"/>
                <a:ea typeface="Calibri" pitchFamily="34" charset="-122"/>
                <a:cs typeface="Calibri" pitchFamily="34" charset="-120"/>
              </a:rPr>
              <a:t>Helix: FOBO Reconciliation</a:t>
            </a:r>
            <a:endParaRPr lang="en-US" sz="1000" dirty="0"/>
          </a:p>
        </p:txBody>
      </p:sp>
      <p:sp>
        <p:nvSpPr>
          <p:cNvPr id="152" name="Shape 150"/>
          <p:cNvSpPr/>
          <p:nvPr/>
        </p:nvSpPr>
        <p:spPr>
          <a:xfrm>
            <a:off x="6007608" y="8202168"/>
            <a:ext cx="274320" cy="274320"/>
          </a:xfrm>
          <a:prstGeom prst="ellipse">
            <a:avLst/>
          </a:prstGeom>
          <a:solidFill>
            <a:srgbClr val="F2A900"/>
          </a:solidFill>
          <a:ln w="12700">
            <a:solidFill>
              <a:srgbClr val="F2A900"/>
            </a:solidFill>
            <a:prstDash val="solid"/>
          </a:ln>
        </p:spPr>
      </p:sp>
      <p:sp>
        <p:nvSpPr>
          <p:cNvPr id="153" name="Text 151"/>
          <p:cNvSpPr txBox="1"/>
          <p:nvPr/>
        </p:nvSpPr>
        <p:spPr>
          <a:xfrm>
            <a:off x="6007608" y="8202168"/>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2</a:t>
            </a:r>
            <a:endParaRPr lang="en-US" sz="950" dirty="0"/>
          </a:p>
        </p:txBody>
      </p:sp>
      <p:sp>
        <p:nvSpPr>
          <p:cNvPr id="154" name="Text 152"/>
          <p:cNvSpPr txBox="1"/>
          <p:nvPr/>
        </p:nvSpPr>
        <p:spPr>
          <a:xfrm>
            <a:off x="6355080" y="8202168"/>
            <a:ext cx="2331720" cy="274320"/>
          </a:xfrm>
          <a:prstGeom prst="rect">
            <a:avLst/>
          </a:prstGeom>
          <a:noFill/>
          <a:ln/>
        </p:spPr>
        <p:txBody>
          <a:bodyPr wrap="square" lIns="0" tIns="0" rIns="0" bIns="0" rtlCol="0" anchor="ctr"/>
          <a:lstStyle/>
          <a:p>
            <a:pPr indent="0" marL="0">
              <a:buNone/>
            </a:pPr>
            <a:r>
              <a:rPr lang="en-US" sz="1000" dirty="0">
                <a:solidFill>
                  <a:srgbClr val="1F2D3D"/>
                </a:solidFill>
                <a:latin typeface="Calibri" pitchFamily="34" charset="0"/>
                <a:ea typeface="Calibri" pitchFamily="34" charset="-122"/>
                <a:cs typeface="Calibri" pitchFamily="34" charset="-120"/>
              </a:rPr>
              <a:t>Flash v Formal P&amp;L &amp; PLEX</a:t>
            </a:r>
            <a:endParaRPr lang="en-US" sz="1000" dirty="0"/>
          </a:p>
        </p:txBody>
      </p:sp>
      <p:sp>
        <p:nvSpPr>
          <p:cNvPr id="155" name="Shape 153"/>
          <p:cNvSpPr/>
          <p:nvPr/>
        </p:nvSpPr>
        <p:spPr>
          <a:xfrm>
            <a:off x="8723376" y="8202168"/>
            <a:ext cx="274320" cy="274320"/>
          </a:xfrm>
          <a:prstGeom prst="ellipse">
            <a:avLst/>
          </a:prstGeom>
          <a:solidFill>
            <a:srgbClr val="F2A900"/>
          </a:solidFill>
          <a:ln w="12700">
            <a:solidFill>
              <a:srgbClr val="F2A900"/>
            </a:solidFill>
            <a:prstDash val="solid"/>
          </a:ln>
        </p:spPr>
      </p:sp>
      <p:sp>
        <p:nvSpPr>
          <p:cNvPr id="156" name="Text 154"/>
          <p:cNvSpPr txBox="1"/>
          <p:nvPr/>
        </p:nvSpPr>
        <p:spPr>
          <a:xfrm>
            <a:off x="8723376" y="8202168"/>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3</a:t>
            </a:r>
            <a:endParaRPr lang="en-US" sz="950" dirty="0"/>
          </a:p>
        </p:txBody>
      </p:sp>
      <p:sp>
        <p:nvSpPr>
          <p:cNvPr id="157" name="Text 155"/>
          <p:cNvSpPr txBox="1"/>
          <p:nvPr/>
        </p:nvSpPr>
        <p:spPr>
          <a:xfrm>
            <a:off x="9070848" y="8202168"/>
            <a:ext cx="2331720" cy="274320"/>
          </a:xfrm>
          <a:prstGeom prst="rect">
            <a:avLst/>
          </a:prstGeom>
          <a:noFill/>
          <a:ln/>
        </p:spPr>
        <p:txBody>
          <a:bodyPr wrap="square" lIns="0" tIns="0" rIns="0" bIns="0" rtlCol="0" anchor="ctr"/>
          <a:lstStyle/>
          <a:p>
            <a:pPr indent="0" marL="0">
              <a:buNone/>
            </a:pPr>
            <a:r>
              <a:rPr lang="en-US" sz="1000" dirty="0">
                <a:solidFill>
                  <a:srgbClr val="1F2D3D"/>
                </a:solidFill>
                <a:latin typeface="Calibri" pitchFamily="34" charset="0"/>
                <a:ea typeface="Calibri" pitchFamily="34" charset="-122"/>
                <a:cs typeface="Calibri" pitchFamily="34" charset="-120"/>
              </a:rPr>
              <a:t>Ledger Controls &amp; Exceptions</a:t>
            </a:r>
            <a:endParaRPr lang="en-US" sz="1000" dirty="0"/>
          </a:p>
        </p:txBody>
      </p:sp>
      <p:sp>
        <p:nvSpPr>
          <p:cNvPr id="158" name="Shape 156"/>
          <p:cNvSpPr/>
          <p:nvPr/>
        </p:nvSpPr>
        <p:spPr>
          <a:xfrm>
            <a:off x="11439144" y="8202168"/>
            <a:ext cx="274320" cy="274320"/>
          </a:xfrm>
          <a:prstGeom prst="ellipse">
            <a:avLst/>
          </a:prstGeom>
          <a:solidFill>
            <a:srgbClr val="F2A900"/>
          </a:solidFill>
          <a:ln w="12700">
            <a:solidFill>
              <a:srgbClr val="F2A900"/>
            </a:solidFill>
            <a:prstDash val="solid"/>
          </a:ln>
        </p:spPr>
      </p:sp>
      <p:sp>
        <p:nvSpPr>
          <p:cNvPr id="159" name="Text 157"/>
          <p:cNvSpPr txBox="1"/>
          <p:nvPr/>
        </p:nvSpPr>
        <p:spPr>
          <a:xfrm>
            <a:off x="11439144" y="8202168"/>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4</a:t>
            </a:r>
            <a:endParaRPr lang="en-US" sz="950" dirty="0"/>
          </a:p>
        </p:txBody>
      </p:sp>
      <p:sp>
        <p:nvSpPr>
          <p:cNvPr id="160" name="Text 158"/>
          <p:cNvSpPr txBox="1"/>
          <p:nvPr/>
        </p:nvSpPr>
        <p:spPr>
          <a:xfrm>
            <a:off x="11786616" y="8202168"/>
            <a:ext cx="2331720" cy="274320"/>
          </a:xfrm>
          <a:prstGeom prst="rect">
            <a:avLst/>
          </a:prstGeom>
          <a:noFill/>
          <a:ln/>
        </p:spPr>
        <p:txBody>
          <a:bodyPr wrap="square" lIns="0" tIns="0" rIns="0" bIns="0" rtlCol="0" anchor="ctr"/>
          <a:lstStyle/>
          <a:p>
            <a:pPr indent="0" marL="0">
              <a:buNone/>
            </a:pPr>
            <a:r>
              <a:rPr lang="en-US" sz="1000" dirty="0">
                <a:solidFill>
                  <a:srgbClr val="1F2D3D"/>
                </a:solidFill>
                <a:latin typeface="Calibri" pitchFamily="34" charset="0"/>
                <a:ea typeface="Calibri" pitchFamily="34" charset="-122"/>
                <a:cs typeface="Calibri" pitchFamily="34" charset="-120"/>
              </a:rPr>
              <a:t>Analysis &amp; Commentary</a:t>
            </a:r>
            <a:endParaRPr lang="en-US" sz="1000" dirty="0"/>
          </a:p>
        </p:txBody>
      </p:sp>
      <p:sp>
        <p:nvSpPr>
          <p:cNvPr id="161" name="Shape 159"/>
          <p:cNvSpPr/>
          <p:nvPr/>
        </p:nvSpPr>
        <p:spPr>
          <a:xfrm>
            <a:off x="3291840" y="8613648"/>
            <a:ext cx="274320" cy="274320"/>
          </a:xfrm>
          <a:prstGeom prst="ellipse">
            <a:avLst/>
          </a:prstGeom>
          <a:solidFill>
            <a:srgbClr val="F2A900"/>
          </a:solidFill>
          <a:ln w="12700">
            <a:solidFill>
              <a:srgbClr val="F2A900"/>
            </a:solidFill>
            <a:prstDash val="solid"/>
          </a:ln>
        </p:spPr>
      </p:sp>
      <p:sp>
        <p:nvSpPr>
          <p:cNvPr id="162" name="Text 160"/>
          <p:cNvSpPr txBox="1"/>
          <p:nvPr/>
        </p:nvSpPr>
        <p:spPr>
          <a:xfrm>
            <a:off x="3291840" y="8613648"/>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5</a:t>
            </a:r>
            <a:endParaRPr lang="en-US" sz="950" dirty="0"/>
          </a:p>
        </p:txBody>
      </p:sp>
      <p:sp>
        <p:nvSpPr>
          <p:cNvPr id="163" name="Text 161"/>
          <p:cNvSpPr txBox="1"/>
          <p:nvPr/>
        </p:nvSpPr>
        <p:spPr>
          <a:xfrm>
            <a:off x="3639312" y="8613648"/>
            <a:ext cx="2331720" cy="274320"/>
          </a:xfrm>
          <a:prstGeom prst="rect">
            <a:avLst/>
          </a:prstGeom>
          <a:noFill/>
          <a:ln/>
        </p:spPr>
        <p:txBody>
          <a:bodyPr wrap="square" lIns="0" tIns="0" rIns="0" bIns="0" rtlCol="0" anchor="ctr"/>
          <a:lstStyle/>
          <a:p>
            <a:pPr indent="0" marL="0">
              <a:buNone/>
            </a:pPr>
            <a:r>
              <a:rPr lang="en-US" sz="1000" dirty="0">
                <a:solidFill>
                  <a:srgbClr val="1F2D3D"/>
                </a:solidFill>
                <a:latin typeface="Calibri" pitchFamily="34" charset="0"/>
                <a:ea typeface="Calibri" pitchFamily="34" charset="-122"/>
                <a:cs typeface="Calibri" pitchFamily="34" charset="-120"/>
              </a:rPr>
              <a:t>Close Sign-off &amp; Attestation</a:t>
            </a:r>
            <a:endParaRPr lang="en-US" sz="1000" dirty="0"/>
          </a:p>
        </p:txBody>
      </p:sp>
      <p:sp>
        <p:nvSpPr>
          <p:cNvPr id="164" name="Shape 162"/>
          <p:cNvSpPr/>
          <p:nvPr/>
        </p:nvSpPr>
        <p:spPr>
          <a:xfrm>
            <a:off x="6007608" y="8613648"/>
            <a:ext cx="274320" cy="274320"/>
          </a:xfrm>
          <a:prstGeom prst="ellipse">
            <a:avLst/>
          </a:prstGeom>
          <a:solidFill>
            <a:srgbClr val="F2A900"/>
          </a:solidFill>
          <a:ln w="12700">
            <a:solidFill>
              <a:srgbClr val="F2A900"/>
            </a:solidFill>
            <a:prstDash val="solid"/>
          </a:ln>
        </p:spPr>
      </p:sp>
      <p:sp>
        <p:nvSpPr>
          <p:cNvPr id="165" name="Text 163"/>
          <p:cNvSpPr txBox="1"/>
          <p:nvPr/>
        </p:nvSpPr>
        <p:spPr>
          <a:xfrm>
            <a:off x="6007608" y="8613648"/>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6</a:t>
            </a:r>
            <a:endParaRPr lang="en-US" sz="950" dirty="0"/>
          </a:p>
        </p:txBody>
      </p:sp>
      <p:sp>
        <p:nvSpPr>
          <p:cNvPr id="166" name="Text 164"/>
          <p:cNvSpPr txBox="1"/>
          <p:nvPr/>
        </p:nvSpPr>
        <p:spPr>
          <a:xfrm>
            <a:off x="6355080" y="8613648"/>
            <a:ext cx="2331720" cy="274320"/>
          </a:xfrm>
          <a:prstGeom prst="rect">
            <a:avLst/>
          </a:prstGeom>
          <a:noFill/>
          <a:ln/>
        </p:spPr>
        <p:txBody>
          <a:bodyPr wrap="square" lIns="0" tIns="0" rIns="0" bIns="0" rtlCol="0" anchor="ctr"/>
          <a:lstStyle/>
          <a:p>
            <a:pPr indent="0" marL="0">
              <a:buNone/>
            </a:pPr>
            <a:r>
              <a:rPr lang="en-US" sz="1000" dirty="0">
                <a:solidFill>
                  <a:srgbClr val="1F2D3D"/>
                </a:solidFill>
                <a:latin typeface="Calibri" pitchFamily="34" charset="0"/>
                <a:ea typeface="Calibri" pitchFamily="34" charset="-122"/>
                <a:cs typeface="Calibri" pitchFamily="34" charset="-120"/>
              </a:rPr>
              <a:t>Report Validation</a:t>
            </a:r>
            <a:endParaRPr lang="en-US" sz="1000" dirty="0"/>
          </a:p>
        </p:txBody>
      </p:sp>
      <p:sp>
        <p:nvSpPr>
          <p:cNvPr id="167" name="Shape 165"/>
          <p:cNvSpPr/>
          <p:nvPr/>
        </p:nvSpPr>
        <p:spPr>
          <a:xfrm>
            <a:off x="8723376" y="8613648"/>
            <a:ext cx="274320" cy="274320"/>
          </a:xfrm>
          <a:prstGeom prst="ellipse">
            <a:avLst/>
          </a:prstGeom>
          <a:solidFill>
            <a:srgbClr val="F2A900"/>
          </a:solidFill>
          <a:ln w="12700">
            <a:solidFill>
              <a:srgbClr val="F2A900"/>
            </a:solidFill>
            <a:prstDash val="solid"/>
          </a:ln>
        </p:spPr>
      </p:sp>
      <p:sp>
        <p:nvSpPr>
          <p:cNvPr id="168" name="Text 166"/>
          <p:cNvSpPr txBox="1"/>
          <p:nvPr/>
        </p:nvSpPr>
        <p:spPr>
          <a:xfrm>
            <a:off x="8723376" y="8613648"/>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7</a:t>
            </a:r>
            <a:endParaRPr lang="en-US" sz="950" dirty="0"/>
          </a:p>
        </p:txBody>
      </p:sp>
      <p:sp>
        <p:nvSpPr>
          <p:cNvPr id="169" name="Text 167"/>
          <p:cNvSpPr txBox="1"/>
          <p:nvPr/>
        </p:nvSpPr>
        <p:spPr>
          <a:xfrm>
            <a:off x="9070848" y="8613648"/>
            <a:ext cx="2331720" cy="274320"/>
          </a:xfrm>
          <a:prstGeom prst="rect">
            <a:avLst/>
          </a:prstGeom>
          <a:noFill/>
          <a:ln/>
        </p:spPr>
        <p:txBody>
          <a:bodyPr wrap="square" lIns="0" tIns="0" rIns="0" bIns="0" rtlCol="0" anchor="ctr"/>
          <a:lstStyle/>
          <a:p>
            <a:pPr indent="0" marL="0">
              <a:buNone/>
            </a:pPr>
            <a:r>
              <a:rPr lang="en-US" sz="1000" dirty="0">
                <a:solidFill>
                  <a:srgbClr val="1F2D3D"/>
                </a:solidFill>
                <a:latin typeface="Calibri" pitchFamily="34" charset="0"/>
                <a:ea typeface="Calibri" pitchFamily="34" charset="-122"/>
                <a:cs typeface="Calibri" pitchFamily="34" charset="-120"/>
              </a:rPr>
              <a:t>Reference Data Corrections</a:t>
            </a:r>
            <a:endParaRPr lang="en-US" sz="1000" dirty="0"/>
          </a:p>
        </p:txBody>
      </p:sp>
      <p:sp>
        <p:nvSpPr>
          <p:cNvPr id="170" name="Shape 168"/>
          <p:cNvSpPr/>
          <p:nvPr/>
        </p:nvSpPr>
        <p:spPr>
          <a:xfrm>
            <a:off x="11439144" y="8613648"/>
            <a:ext cx="274320" cy="274320"/>
          </a:xfrm>
          <a:prstGeom prst="ellipse">
            <a:avLst/>
          </a:prstGeom>
          <a:solidFill>
            <a:srgbClr val="F2A900"/>
          </a:solidFill>
          <a:ln w="12700">
            <a:solidFill>
              <a:srgbClr val="F2A900"/>
            </a:solidFill>
            <a:prstDash val="solid"/>
          </a:ln>
        </p:spPr>
      </p:sp>
      <p:sp>
        <p:nvSpPr>
          <p:cNvPr id="171" name="Text 169"/>
          <p:cNvSpPr txBox="1"/>
          <p:nvPr/>
        </p:nvSpPr>
        <p:spPr>
          <a:xfrm>
            <a:off x="11439144" y="8613648"/>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8</a:t>
            </a:r>
            <a:endParaRPr lang="en-US" sz="950" dirty="0"/>
          </a:p>
        </p:txBody>
      </p:sp>
      <p:sp>
        <p:nvSpPr>
          <p:cNvPr id="172" name="Text 170"/>
          <p:cNvSpPr txBox="1"/>
          <p:nvPr/>
        </p:nvSpPr>
        <p:spPr>
          <a:xfrm>
            <a:off x="11786616" y="8613648"/>
            <a:ext cx="2331720" cy="274320"/>
          </a:xfrm>
          <a:prstGeom prst="rect">
            <a:avLst/>
          </a:prstGeom>
          <a:noFill/>
          <a:ln/>
        </p:spPr>
        <p:txBody>
          <a:bodyPr wrap="square" lIns="0" tIns="0" rIns="0" bIns="0" rtlCol="0" anchor="ctr"/>
          <a:lstStyle/>
          <a:p>
            <a:pPr indent="0" marL="0">
              <a:buNone/>
            </a:pPr>
            <a:r>
              <a:rPr lang="en-US" sz="1000" dirty="0">
                <a:solidFill>
                  <a:srgbClr val="1F2D3D"/>
                </a:solidFill>
                <a:latin typeface="Calibri" pitchFamily="34" charset="0"/>
                <a:ea typeface="Calibri" pitchFamily="34" charset="-122"/>
                <a:cs typeface="Calibri" pitchFamily="34" charset="-120"/>
              </a:rPr>
              <a:t>Access &amp; Workflow Review</a:t>
            </a:r>
            <a:endParaRPr lang="en-US" sz="1000" dirty="0"/>
          </a:p>
        </p:txBody>
      </p:sp>
      <p:sp>
        <p:nvSpPr>
          <p:cNvPr id="173" name="Shape 171"/>
          <p:cNvSpPr/>
          <p:nvPr/>
        </p:nvSpPr>
        <p:spPr>
          <a:xfrm>
            <a:off x="0" y="9272016"/>
            <a:ext cx="14630400" cy="484632"/>
          </a:xfrm>
          <a:prstGeom prst="rect">
            <a:avLst/>
          </a:prstGeom>
          <a:solidFill>
            <a:srgbClr val="0B2E5E"/>
          </a:solidFill>
          <a:ln w="12700">
            <a:solidFill>
              <a:srgbClr val="0B2E5E"/>
            </a:solidFill>
            <a:prstDash val="solid"/>
          </a:ln>
        </p:spPr>
      </p:sp>
      <p:sp>
        <p:nvSpPr>
          <p:cNvPr id="174" name="Text 172"/>
          <p:cNvSpPr txBox="1"/>
          <p:nvPr/>
        </p:nvSpPr>
        <p:spPr>
          <a:xfrm>
            <a:off x="0" y="9272016"/>
            <a:ext cx="14630400" cy="4846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Finance AI Solutions</a:t>
            </a:r>
            <a:pPr algn="ctr" indent="0" marL="0">
              <a:buNone/>
            </a:pPr>
            <a:r>
              <a:rPr lang="en-US" sz="1100" dirty="0">
                <a:solidFill>
                  <a:srgbClr val="FFFFFF"/>
                </a:solidFill>
                <a:latin typeface="Calibri" pitchFamily="34" charset="0"/>
                <a:ea typeface="Calibri" pitchFamily="34" charset="-122"/>
                <a:cs typeface="Calibri" pitchFamily="34" charset="-120"/>
              </a:rPr>
              <a:t>   |   Agents on the manual steps. Systems stay the system of record.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D"/>
        </a:solidFill>
      </p:bgPr>
    </p:bg>
    <p:spTree>
      <p:nvGrpSpPr>
        <p:cNvPr id="1" name=""/>
        <p:cNvGrpSpPr/>
        <p:nvPr/>
      </p:nvGrpSpPr>
      <p:grpSpPr>
        <a:xfrm>
          <a:off x="0" y="0"/>
          <a:ext cx="0" cy="0"/>
          <a:chOff x="0" y="0"/>
          <a:chExt cx="0" cy="0"/>
        </a:xfrm>
      </p:grpSpPr>
      <p:sp>
        <p:nvSpPr>
          <p:cNvPr id="2" name="Shape 0"/>
          <p:cNvSpPr/>
          <p:nvPr/>
        </p:nvSpPr>
        <p:spPr>
          <a:xfrm>
            <a:off x="0" y="0"/>
            <a:ext cx="14630400" cy="1024128"/>
          </a:xfrm>
          <a:prstGeom prst="rect">
            <a:avLst/>
          </a:prstGeom>
          <a:solidFill>
            <a:srgbClr val="0B2E5E"/>
          </a:solidFill>
          <a:ln w="12700">
            <a:solidFill>
              <a:srgbClr val="0B2E5E"/>
            </a:solidFill>
            <a:prstDash val="solid"/>
          </a:ln>
        </p:spPr>
      </p:sp>
      <p:sp>
        <p:nvSpPr>
          <p:cNvPr id="3" name="Text 1"/>
          <p:cNvSpPr txBox="1"/>
          <p:nvPr/>
        </p:nvSpPr>
        <p:spPr>
          <a:xfrm>
            <a:off x="301752" y="137160"/>
            <a:ext cx="11155680" cy="475488"/>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Agent Use Cases Across Accounting Control &amp; Analytics</a:t>
            </a:r>
            <a:endParaRPr lang="en-US" sz="3000" dirty="0"/>
          </a:p>
        </p:txBody>
      </p:sp>
      <p:sp>
        <p:nvSpPr>
          <p:cNvPr id="4" name="Text 2"/>
          <p:cNvSpPr txBox="1"/>
          <p:nvPr/>
        </p:nvSpPr>
        <p:spPr>
          <a:xfrm>
            <a:off x="301752" y="612648"/>
            <a:ext cx="11155680" cy="301752"/>
          </a:xfrm>
          <a:prstGeom prst="rect">
            <a:avLst/>
          </a:prstGeom>
          <a:noFill/>
          <a:ln/>
        </p:spPr>
        <p:txBody>
          <a:bodyPr wrap="square" lIns="0" tIns="0" rIns="0" bIns="0" rtlCol="0" anchor="ctr"/>
          <a:lstStyle/>
          <a:p>
            <a:pPr indent="0" marL="0">
              <a:buNone/>
            </a:pPr>
            <a:r>
              <a:rPr lang="en-US" sz="1600" dirty="0">
                <a:solidFill>
                  <a:srgbClr val="DCE9F7"/>
                </a:solidFill>
                <a:latin typeface="Calibri" pitchFamily="34" charset="0"/>
                <a:ea typeface="Calibri" pitchFamily="34" charset="-122"/>
                <a:cs typeface="Calibri" pitchFamily="34" charset="-120"/>
              </a:rPr>
              <a:t>Eight use cases, one per functional area, on one shared agent platform</a:t>
            </a:r>
            <a:endParaRPr lang="en-US" sz="1600" dirty="0"/>
          </a:p>
        </p:txBody>
      </p:sp>
      <p:sp>
        <p:nvSpPr>
          <p:cNvPr id="5" name="Shape 3"/>
          <p:cNvSpPr/>
          <p:nvPr/>
        </p:nvSpPr>
        <p:spPr>
          <a:xfrm>
            <a:off x="11640312" y="192024"/>
            <a:ext cx="0" cy="649224"/>
          </a:xfrm>
          <a:prstGeom prst="line">
            <a:avLst/>
          </a:prstGeom>
          <a:noFill/>
          <a:ln w="12700">
            <a:solidFill>
              <a:srgbClr val="FFFFFF"/>
            </a:solidFill>
            <a:prstDash val="solid"/>
          </a:ln>
        </p:spPr>
      </p:sp>
      <p:sp>
        <p:nvSpPr>
          <p:cNvPr id="6" name="Text 4"/>
          <p:cNvSpPr txBox="1"/>
          <p:nvPr/>
        </p:nvSpPr>
        <p:spPr>
          <a:xfrm>
            <a:off x="11814048" y="265176"/>
            <a:ext cx="2715768"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Solutions Portfolio</a:t>
            </a:r>
            <a:endParaRPr lang="en-US" sz="2200" dirty="0"/>
          </a:p>
        </p:txBody>
      </p:sp>
      <p:sp>
        <p:nvSpPr>
          <p:cNvPr id="7" name="Text 5"/>
          <p:cNvSpPr txBox="1"/>
          <p:nvPr/>
        </p:nvSpPr>
        <p:spPr>
          <a:xfrm>
            <a:off x="502920" y="1188720"/>
            <a:ext cx="5486400" cy="274320"/>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Use cases (numbered as on the functional view)</a:t>
            </a:r>
            <a:endParaRPr lang="en-US" sz="1100" dirty="0"/>
          </a:p>
        </p:txBody>
      </p:sp>
      <p:sp>
        <p:nvSpPr>
          <p:cNvPr id="8" name="Text 6"/>
          <p:cNvSpPr txBox="1"/>
          <p:nvPr/>
        </p:nvSpPr>
        <p:spPr>
          <a:xfrm>
            <a:off x="8686800" y="1188720"/>
            <a:ext cx="5440680" cy="274320"/>
          </a:xfrm>
          <a:prstGeom prst="rect">
            <a:avLst/>
          </a:prstGeom>
          <a:noFill/>
          <a:ln/>
        </p:spPr>
        <p:txBody>
          <a:bodyPr wrap="square" lIns="0" tIns="0" rIns="0" bIns="0" rtlCol="0" anchor="ctr"/>
          <a:lstStyle/>
          <a:p>
            <a:pPr algn="r" indent="0" marL="0">
              <a:buNone/>
            </a:pPr>
            <a:r>
              <a:rPr lang="en-US" sz="950" i="1" dirty="0">
                <a:solidFill>
                  <a:srgbClr val="4A5A6E"/>
                </a:solidFill>
                <a:latin typeface="Calibri" pitchFamily="34" charset="0"/>
                <a:ea typeface="Calibri" pitchFamily="34" charset="-122"/>
                <a:cs typeface="Calibri" pitchFamily="34" charset="-120"/>
              </a:rPr>
              <a:t>Every use case keeps a named owner as the decision maker</a:t>
            </a:r>
            <a:endParaRPr lang="en-US" sz="950" dirty="0"/>
          </a:p>
        </p:txBody>
      </p:sp>
      <p:sp>
        <p:nvSpPr>
          <p:cNvPr id="9" name="Shape 7"/>
          <p:cNvSpPr/>
          <p:nvPr/>
        </p:nvSpPr>
        <p:spPr>
          <a:xfrm>
            <a:off x="502920" y="1554480"/>
            <a:ext cx="3227832" cy="2011680"/>
          </a:xfrm>
          <a:prstGeom prst="roundRect">
            <a:avLst>
              <a:gd name="adj" fmla="val 3636"/>
            </a:avLst>
          </a:prstGeom>
          <a:solidFill>
            <a:srgbClr val="FFFFFF"/>
          </a:solidFill>
          <a:ln w="9525">
            <a:solidFill>
              <a:srgbClr val="C8D8EC"/>
            </a:solidFill>
            <a:prstDash val="solid"/>
          </a:ln>
        </p:spPr>
      </p:sp>
      <p:sp>
        <p:nvSpPr>
          <p:cNvPr id="10" name="Shape 8"/>
          <p:cNvSpPr/>
          <p:nvPr/>
        </p:nvSpPr>
        <p:spPr>
          <a:xfrm>
            <a:off x="667512" y="1719072"/>
            <a:ext cx="530352" cy="530352"/>
          </a:xfrm>
          <a:prstGeom prst="roundRect">
            <a:avLst>
              <a:gd name="adj" fmla="val 17241"/>
            </a:avLst>
          </a:prstGeom>
          <a:solidFill>
            <a:srgbClr val="1B4F93"/>
          </a:solidFill>
          <a:ln w="12700">
            <a:solidFill>
              <a:srgbClr val="1B4F93"/>
            </a:solidFill>
            <a:prstDash val="solid"/>
          </a:ln>
        </p:spPr>
      </p:sp>
      <p:pic>
        <p:nvPicPr>
          <p:cNvPr id="11" name="Image 0" descr="preencoded.png">    </p:cNvPr>
          <p:cNvPicPr>
            <a:picLocks noChangeAspect="1"/>
          </p:cNvPicPr>
          <p:nvPr/>
        </p:nvPicPr>
        <p:blipFill>
          <a:blip r:embed="rId1"/>
          <a:stretch>
            <a:fillRect/>
          </a:stretch>
        </p:blipFill>
        <p:spPr>
          <a:xfrm>
            <a:off x="784189" y="1835749"/>
            <a:ext cx="296997" cy="296997"/>
          </a:xfrm>
          <a:prstGeom prst="rect">
            <a:avLst/>
          </a:prstGeom>
        </p:spPr>
      </p:pic>
      <p:sp>
        <p:nvSpPr>
          <p:cNvPr id="12" name="Shape 9"/>
          <p:cNvSpPr/>
          <p:nvPr/>
        </p:nvSpPr>
        <p:spPr>
          <a:xfrm>
            <a:off x="1069848" y="1627632"/>
            <a:ext cx="274320" cy="274320"/>
          </a:xfrm>
          <a:prstGeom prst="ellipse">
            <a:avLst/>
          </a:prstGeom>
          <a:solidFill>
            <a:srgbClr val="F2A900"/>
          </a:solidFill>
          <a:ln w="12700">
            <a:solidFill>
              <a:srgbClr val="FFFFFF"/>
            </a:solidFill>
            <a:prstDash val="solid"/>
          </a:ln>
        </p:spPr>
      </p:sp>
      <p:sp>
        <p:nvSpPr>
          <p:cNvPr id="13" name="Text 10"/>
          <p:cNvSpPr txBox="1"/>
          <p:nvPr/>
        </p:nvSpPr>
        <p:spPr>
          <a:xfrm>
            <a:off x="1069848" y="1627632"/>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1</a:t>
            </a:r>
            <a:endParaRPr lang="en-US" sz="950" dirty="0"/>
          </a:p>
        </p:txBody>
      </p:sp>
      <p:sp>
        <p:nvSpPr>
          <p:cNvPr id="14" name="Shape 11"/>
          <p:cNvSpPr/>
          <p:nvPr/>
        </p:nvSpPr>
        <p:spPr>
          <a:xfrm>
            <a:off x="2628900" y="1719072"/>
            <a:ext cx="937260" cy="237744"/>
          </a:xfrm>
          <a:prstGeom prst="roundRect">
            <a:avLst>
              <a:gd name="adj" fmla="val 50000"/>
            </a:avLst>
          </a:prstGeom>
          <a:solidFill>
            <a:srgbClr val="2A6EBB"/>
          </a:solidFill>
          <a:ln w="12700">
            <a:solidFill>
              <a:srgbClr val="2A6EBB"/>
            </a:solidFill>
            <a:prstDash val="solid"/>
          </a:ln>
        </p:spPr>
      </p:sp>
      <p:sp>
        <p:nvSpPr>
          <p:cNvPr id="15" name="Text 12"/>
          <p:cNvSpPr txBox="1"/>
          <p:nvPr/>
        </p:nvSpPr>
        <p:spPr>
          <a:xfrm>
            <a:off x="2628900" y="1719072"/>
            <a:ext cx="937260"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In delivery</a:t>
            </a:r>
            <a:endParaRPr lang="en-US" sz="900" dirty="0"/>
          </a:p>
        </p:txBody>
      </p:sp>
      <p:sp>
        <p:nvSpPr>
          <p:cNvPr id="16" name="Text 13"/>
          <p:cNvSpPr txBox="1"/>
          <p:nvPr/>
        </p:nvSpPr>
        <p:spPr>
          <a:xfrm>
            <a:off x="667512" y="2340864"/>
            <a:ext cx="2926080" cy="274320"/>
          </a:xfrm>
          <a:prstGeom prst="rect">
            <a:avLst/>
          </a:prstGeom>
          <a:noFill/>
          <a:ln/>
        </p:spPr>
        <p:txBody>
          <a:bodyPr wrap="square" lIns="0" tIns="0" rIns="0" bIns="0" rtlCol="0" anchor="ctr"/>
          <a:lstStyle/>
          <a:p>
            <a:pPr indent="0" marL="0">
              <a:buNone/>
            </a:pPr>
            <a:r>
              <a:rPr lang="en-US" sz="1300" b="1" dirty="0">
                <a:solidFill>
                  <a:srgbClr val="1F2D3D"/>
                </a:solidFill>
                <a:latin typeface="Calibri" pitchFamily="34" charset="0"/>
                <a:ea typeface="Calibri" pitchFamily="34" charset="-122"/>
                <a:cs typeface="Calibri" pitchFamily="34" charset="-120"/>
              </a:rPr>
              <a:t>Helix: FOBO Reconciliation</a:t>
            </a:r>
            <a:endParaRPr lang="en-US" sz="1300" dirty="0"/>
          </a:p>
        </p:txBody>
      </p:sp>
      <p:sp>
        <p:nvSpPr>
          <p:cNvPr id="17" name="Text 14"/>
          <p:cNvSpPr txBox="1"/>
          <p:nvPr/>
        </p:nvSpPr>
        <p:spPr>
          <a:xfrm>
            <a:off x="667512" y="2615184"/>
            <a:ext cx="2926080" cy="41148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Investigates CATS vs MOTIF breaks per L4, ready before desk time</a:t>
            </a:r>
            <a:endParaRPr lang="en-US" sz="950" dirty="0"/>
          </a:p>
        </p:txBody>
      </p:sp>
      <p:sp>
        <p:nvSpPr>
          <p:cNvPr id="18" name="Text 15"/>
          <p:cNvSpPr txBox="1"/>
          <p:nvPr/>
        </p:nvSpPr>
        <p:spPr>
          <a:xfrm>
            <a:off x="667512" y="3054096"/>
            <a:ext cx="2926080" cy="411480"/>
          </a:xfrm>
          <a:prstGeom prst="rect">
            <a:avLst/>
          </a:prstGeom>
          <a:noFill/>
          <a:ln/>
        </p:spPr>
        <p:txBody>
          <a:bodyPr wrap="square" lIns="0" tIns="0" rIns="0" bIns="0" rtlCol="0" anchor="t"/>
          <a:lstStyle/>
          <a:p>
            <a:pPr indent="0" marL="0">
              <a:buNone/>
            </a:pPr>
            <a:r>
              <a:rPr lang="en-US" sz="900" b="1" dirty="0">
                <a:solidFill>
                  <a:srgbClr val="1F2D3D"/>
                </a:solidFill>
                <a:latin typeface="Calibri" pitchFamily="34" charset="0"/>
                <a:ea typeface="Calibri" pitchFamily="34" charset="-122"/>
                <a:cs typeface="Calibri" pitchFamily="34" charset="-120"/>
              </a:rPr>
              <a:t>Area: </a:t>
            </a:r>
            <a:pPr indent="0" marL="0">
              <a:buNone/>
            </a:pPr>
            <a:r>
              <a:rPr lang="en-US" sz="900" dirty="0">
                <a:solidFill>
                  <a:srgbClr val="4A5A6E"/>
                </a:solidFill>
                <a:latin typeface="Calibri" pitchFamily="34" charset="0"/>
                <a:ea typeface="Calibri" pitchFamily="34" charset="-122"/>
                <a:cs typeface="Calibri" pitchFamily="34" charset="-120"/>
              </a:rPr>
              <a:t>Recs &amp; Controls | Analysis | Adjustments</a:t>
            </a:r>
            <a:endParaRPr lang="en-US" sz="900" dirty="0"/>
          </a:p>
          <a:p>
            <a:pPr indent="0" marL="0">
              <a:buNone/>
            </a:pPr>
            <a:r>
              <a:rPr lang="en-US" sz="900" b="1" dirty="0">
                <a:solidFill>
                  <a:srgbClr val="1F2D3D"/>
                </a:solidFill>
                <a:latin typeface="Calibri" pitchFamily="34" charset="0"/>
                <a:ea typeface="Calibri" pitchFamily="34" charset="-122"/>
                <a:cs typeface="Calibri" pitchFamily="34" charset="-120"/>
              </a:rPr>
              <a:t>Decision: </a:t>
            </a:r>
            <a:pPr indent="0" marL="0">
              <a:buNone/>
            </a:pPr>
            <a:r>
              <a:rPr lang="en-US" sz="900" dirty="0">
                <a:solidFill>
                  <a:srgbClr val="4A5A6E"/>
                </a:solidFill>
                <a:latin typeface="Calibri" pitchFamily="34" charset="0"/>
                <a:ea typeface="Calibri" pitchFamily="34" charset="-122"/>
                <a:cs typeface="Calibri" pitchFamily="34" charset="-120"/>
              </a:rPr>
              <a:t>Controller approves adjustments</a:t>
            </a:r>
            <a:endParaRPr lang="en-US" sz="900" dirty="0"/>
          </a:p>
        </p:txBody>
      </p:sp>
      <p:sp>
        <p:nvSpPr>
          <p:cNvPr id="19" name="Shape 16"/>
          <p:cNvSpPr/>
          <p:nvPr/>
        </p:nvSpPr>
        <p:spPr>
          <a:xfrm>
            <a:off x="3941064" y="1554480"/>
            <a:ext cx="3227832" cy="2011680"/>
          </a:xfrm>
          <a:prstGeom prst="roundRect">
            <a:avLst>
              <a:gd name="adj" fmla="val 3636"/>
            </a:avLst>
          </a:prstGeom>
          <a:solidFill>
            <a:srgbClr val="FFFFFF"/>
          </a:solidFill>
          <a:ln w="9525">
            <a:solidFill>
              <a:srgbClr val="C8D8EC"/>
            </a:solidFill>
            <a:prstDash val="solid"/>
          </a:ln>
        </p:spPr>
      </p:sp>
      <p:sp>
        <p:nvSpPr>
          <p:cNvPr id="20" name="Shape 17"/>
          <p:cNvSpPr/>
          <p:nvPr/>
        </p:nvSpPr>
        <p:spPr>
          <a:xfrm>
            <a:off x="4105656" y="1719072"/>
            <a:ext cx="530352" cy="530352"/>
          </a:xfrm>
          <a:prstGeom prst="roundRect">
            <a:avLst>
              <a:gd name="adj" fmla="val 17241"/>
            </a:avLst>
          </a:prstGeom>
          <a:solidFill>
            <a:srgbClr val="5B4FA8"/>
          </a:solidFill>
          <a:ln w="12700">
            <a:solidFill>
              <a:srgbClr val="5B4FA8"/>
            </a:solidFill>
            <a:prstDash val="solid"/>
          </a:ln>
        </p:spPr>
      </p:sp>
      <p:pic>
        <p:nvPicPr>
          <p:cNvPr id="21" name="Image 1" descr="preencoded.png">    </p:cNvPr>
          <p:cNvPicPr>
            <a:picLocks noChangeAspect="1"/>
          </p:cNvPicPr>
          <p:nvPr/>
        </p:nvPicPr>
        <p:blipFill>
          <a:blip r:embed="rId2"/>
          <a:stretch>
            <a:fillRect/>
          </a:stretch>
        </p:blipFill>
        <p:spPr>
          <a:xfrm>
            <a:off x="4222333" y="1835749"/>
            <a:ext cx="296997" cy="296997"/>
          </a:xfrm>
          <a:prstGeom prst="rect">
            <a:avLst/>
          </a:prstGeom>
        </p:spPr>
      </p:pic>
      <p:sp>
        <p:nvSpPr>
          <p:cNvPr id="22" name="Shape 18"/>
          <p:cNvSpPr/>
          <p:nvPr/>
        </p:nvSpPr>
        <p:spPr>
          <a:xfrm>
            <a:off x="4507992" y="1627632"/>
            <a:ext cx="274320" cy="274320"/>
          </a:xfrm>
          <a:prstGeom prst="ellipse">
            <a:avLst/>
          </a:prstGeom>
          <a:solidFill>
            <a:srgbClr val="F2A900"/>
          </a:solidFill>
          <a:ln w="12700">
            <a:solidFill>
              <a:srgbClr val="FFFFFF"/>
            </a:solidFill>
            <a:prstDash val="solid"/>
          </a:ln>
        </p:spPr>
      </p:sp>
      <p:sp>
        <p:nvSpPr>
          <p:cNvPr id="23" name="Text 19"/>
          <p:cNvSpPr txBox="1"/>
          <p:nvPr/>
        </p:nvSpPr>
        <p:spPr>
          <a:xfrm>
            <a:off x="4507992" y="1627632"/>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2</a:t>
            </a:r>
            <a:endParaRPr lang="en-US" sz="950" dirty="0"/>
          </a:p>
        </p:txBody>
      </p:sp>
      <p:sp>
        <p:nvSpPr>
          <p:cNvPr id="24" name="Shape 20"/>
          <p:cNvSpPr/>
          <p:nvPr/>
        </p:nvSpPr>
        <p:spPr>
          <a:xfrm>
            <a:off x="6272784" y="1719072"/>
            <a:ext cx="731520" cy="237744"/>
          </a:xfrm>
          <a:prstGeom prst="roundRect">
            <a:avLst>
              <a:gd name="adj" fmla="val 50000"/>
            </a:avLst>
          </a:prstGeom>
          <a:solidFill>
            <a:srgbClr val="1E8A5A"/>
          </a:solidFill>
          <a:ln w="12700">
            <a:solidFill>
              <a:srgbClr val="1E8A5A"/>
            </a:solidFill>
            <a:prstDash val="solid"/>
          </a:ln>
        </p:spPr>
      </p:sp>
      <p:sp>
        <p:nvSpPr>
          <p:cNvPr id="25" name="Text 21"/>
          <p:cNvSpPr txBox="1"/>
          <p:nvPr/>
        </p:nvSpPr>
        <p:spPr>
          <a:xfrm>
            <a:off x="6272784" y="1719072"/>
            <a:ext cx="731520"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In build</a:t>
            </a:r>
            <a:endParaRPr lang="en-US" sz="900" dirty="0"/>
          </a:p>
        </p:txBody>
      </p:sp>
      <p:sp>
        <p:nvSpPr>
          <p:cNvPr id="26" name="Text 22"/>
          <p:cNvSpPr txBox="1"/>
          <p:nvPr/>
        </p:nvSpPr>
        <p:spPr>
          <a:xfrm>
            <a:off x="4105656" y="2340864"/>
            <a:ext cx="2926080" cy="274320"/>
          </a:xfrm>
          <a:prstGeom prst="rect">
            <a:avLst/>
          </a:prstGeom>
          <a:noFill/>
          <a:ln/>
        </p:spPr>
        <p:txBody>
          <a:bodyPr wrap="square" lIns="0" tIns="0" rIns="0" bIns="0" rtlCol="0" anchor="ctr"/>
          <a:lstStyle/>
          <a:p>
            <a:pPr indent="0" marL="0">
              <a:buNone/>
            </a:pPr>
            <a:r>
              <a:rPr lang="en-US" sz="1300" b="1" dirty="0">
                <a:solidFill>
                  <a:srgbClr val="1F2D3D"/>
                </a:solidFill>
                <a:latin typeface="Calibri" pitchFamily="34" charset="0"/>
                <a:ea typeface="Calibri" pitchFamily="34" charset="-122"/>
                <a:cs typeface="Calibri" pitchFamily="34" charset="-120"/>
              </a:rPr>
              <a:t>Flash v Formal P&amp;L &amp; PLEX</a:t>
            </a:r>
            <a:endParaRPr lang="en-US" sz="1300" dirty="0"/>
          </a:p>
        </p:txBody>
      </p:sp>
      <p:sp>
        <p:nvSpPr>
          <p:cNvPr id="27" name="Text 23"/>
          <p:cNvSpPr txBox="1"/>
          <p:nvPr/>
        </p:nvSpPr>
        <p:spPr>
          <a:xfrm>
            <a:off x="4105656" y="2615184"/>
            <a:ext cx="2926080" cy="41148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Explains flash v formal differences, PLEX Hypo v Clean, proposes reclass</a:t>
            </a:r>
            <a:endParaRPr lang="en-US" sz="950" dirty="0"/>
          </a:p>
        </p:txBody>
      </p:sp>
      <p:sp>
        <p:nvSpPr>
          <p:cNvPr id="28" name="Text 24"/>
          <p:cNvSpPr txBox="1"/>
          <p:nvPr/>
        </p:nvSpPr>
        <p:spPr>
          <a:xfrm>
            <a:off x="4105656" y="3054096"/>
            <a:ext cx="2926080" cy="411480"/>
          </a:xfrm>
          <a:prstGeom prst="rect">
            <a:avLst/>
          </a:prstGeom>
          <a:noFill/>
          <a:ln/>
        </p:spPr>
        <p:txBody>
          <a:bodyPr wrap="square" lIns="0" tIns="0" rIns="0" bIns="0" rtlCol="0" anchor="t"/>
          <a:lstStyle/>
          <a:p>
            <a:pPr indent="0" marL="0">
              <a:buNone/>
            </a:pPr>
            <a:r>
              <a:rPr lang="en-US" sz="900" b="1" dirty="0">
                <a:solidFill>
                  <a:srgbClr val="1F2D3D"/>
                </a:solidFill>
                <a:latin typeface="Calibri" pitchFamily="34" charset="0"/>
                <a:ea typeface="Calibri" pitchFamily="34" charset="-122"/>
                <a:cs typeface="Calibri" pitchFamily="34" charset="-120"/>
              </a:rPr>
              <a:t>Area: </a:t>
            </a:r>
            <a:pPr indent="0" marL="0">
              <a:buNone/>
            </a:pPr>
            <a:r>
              <a:rPr lang="en-US" sz="900" dirty="0">
                <a:solidFill>
                  <a:srgbClr val="4A5A6E"/>
                </a:solidFill>
                <a:latin typeface="Calibri" pitchFamily="34" charset="0"/>
                <a:ea typeface="Calibri" pitchFamily="34" charset="-122"/>
                <a:cs typeface="Calibri" pitchFamily="34" charset="-120"/>
              </a:rPr>
              <a:t>FO / Finance P&amp;L | Analysis</a:t>
            </a:r>
            <a:endParaRPr lang="en-US" sz="900" dirty="0"/>
          </a:p>
          <a:p>
            <a:pPr indent="0" marL="0">
              <a:buNone/>
            </a:pPr>
            <a:r>
              <a:rPr lang="en-US" sz="900" b="1" dirty="0">
                <a:solidFill>
                  <a:srgbClr val="1F2D3D"/>
                </a:solidFill>
                <a:latin typeface="Calibri" pitchFamily="34" charset="0"/>
                <a:ea typeface="Calibri" pitchFamily="34" charset="-122"/>
                <a:cs typeface="Calibri" pitchFamily="34" charset="-120"/>
              </a:rPr>
              <a:t>Decision: </a:t>
            </a:r>
            <a:pPr indent="0" marL="0">
              <a:buNone/>
            </a:pPr>
            <a:r>
              <a:rPr lang="en-US" sz="900" dirty="0">
                <a:solidFill>
                  <a:srgbClr val="4A5A6E"/>
                </a:solidFill>
                <a:latin typeface="Calibri" pitchFamily="34" charset="0"/>
                <a:ea typeface="Calibri" pitchFamily="34" charset="-122"/>
                <a:cs typeface="Calibri" pitchFamily="34" charset="-120"/>
              </a:rPr>
              <a:t>Product Controller signs off</a:t>
            </a:r>
            <a:endParaRPr lang="en-US" sz="900" dirty="0"/>
          </a:p>
        </p:txBody>
      </p:sp>
      <p:sp>
        <p:nvSpPr>
          <p:cNvPr id="29" name="Shape 25"/>
          <p:cNvSpPr/>
          <p:nvPr/>
        </p:nvSpPr>
        <p:spPr>
          <a:xfrm>
            <a:off x="7379208" y="1554480"/>
            <a:ext cx="3227832" cy="2011680"/>
          </a:xfrm>
          <a:prstGeom prst="roundRect">
            <a:avLst>
              <a:gd name="adj" fmla="val 3636"/>
            </a:avLst>
          </a:prstGeom>
          <a:solidFill>
            <a:srgbClr val="FFFFFF"/>
          </a:solidFill>
          <a:ln w="9525">
            <a:solidFill>
              <a:srgbClr val="C8D8EC"/>
            </a:solidFill>
            <a:prstDash val="solid"/>
          </a:ln>
        </p:spPr>
      </p:sp>
      <p:sp>
        <p:nvSpPr>
          <p:cNvPr id="30" name="Shape 26"/>
          <p:cNvSpPr/>
          <p:nvPr/>
        </p:nvSpPr>
        <p:spPr>
          <a:xfrm>
            <a:off x="7543800" y="1719072"/>
            <a:ext cx="530352" cy="530352"/>
          </a:xfrm>
          <a:prstGeom prst="roundRect">
            <a:avLst>
              <a:gd name="adj" fmla="val 17241"/>
            </a:avLst>
          </a:prstGeom>
          <a:solidFill>
            <a:srgbClr val="2A6EBB"/>
          </a:solidFill>
          <a:ln w="12700">
            <a:solidFill>
              <a:srgbClr val="2A6EBB"/>
            </a:solidFill>
            <a:prstDash val="solid"/>
          </a:ln>
        </p:spPr>
      </p:sp>
      <p:pic>
        <p:nvPicPr>
          <p:cNvPr id="31" name="Image 2" descr="preencoded.png">    </p:cNvPr>
          <p:cNvPicPr>
            <a:picLocks noChangeAspect="1"/>
          </p:cNvPicPr>
          <p:nvPr/>
        </p:nvPicPr>
        <p:blipFill>
          <a:blip r:embed="rId3"/>
          <a:stretch>
            <a:fillRect/>
          </a:stretch>
        </p:blipFill>
        <p:spPr>
          <a:xfrm>
            <a:off x="7660477" y="1835749"/>
            <a:ext cx="296997" cy="296997"/>
          </a:xfrm>
          <a:prstGeom prst="rect">
            <a:avLst/>
          </a:prstGeom>
        </p:spPr>
      </p:pic>
      <p:sp>
        <p:nvSpPr>
          <p:cNvPr id="32" name="Shape 27"/>
          <p:cNvSpPr/>
          <p:nvPr/>
        </p:nvSpPr>
        <p:spPr>
          <a:xfrm>
            <a:off x="7946136" y="1627632"/>
            <a:ext cx="274320" cy="274320"/>
          </a:xfrm>
          <a:prstGeom prst="ellipse">
            <a:avLst/>
          </a:prstGeom>
          <a:solidFill>
            <a:srgbClr val="F2A900"/>
          </a:solidFill>
          <a:ln w="12700">
            <a:solidFill>
              <a:srgbClr val="FFFFFF"/>
            </a:solidFill>
            <a:prstDash val="solid"/>
          </a:ln>
        </p:spPr>
      </p:sp>
      <p:sp>
        <p:nvSpPr>
          <p:cNvPr id="33" name="Text 28"/>
          <p:cNvSpPr txBox="1"/>
          <p:nvPr/>
        </p:nvSpPr>
        <p:spPr>
          <a:xfrm>
            <a:off x="7946136" y="1627632"/>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3</a:t>
            </a:r>
            <a:endParaRPr lang="en-US" sz="950" dirty="0"/>
          </a:p>
        </p:txBody>
      </p:sp>
      <p:sp>
        <p:nvSpPr>
          <p:cNvPr id="34" name="Shape 29"/>
          <p:cNvSpPr/>
          <p:nvPr/>
        </p:nvSpPr>
        <p:spPr>
          <a:xfrm>
            <a:off x="9642348" y="1719072"/>
            <a:ext cx="800100" cy="237744"/>
          </a:xfrm>
          <a:prstGeom prst="roundRect">
            <a:avLst>
              <a:gd name="adj" fmla="val 50000"/>
            </a:avLst>
          </a:prstGeom>
          <a:solidFill>
            <a:srgbClr val="5B4FA8"/>
          </a:solidFill>
          <a:ln w="12700">
            <a:solidFill>
              <a:srgbClr val="5B4FA8"/>
            </a:solidFill>
            <a:prstDash val="solid"/>
          </a:ln>
        </p:spPr>
      </p:sp>
      <p:sp>
        <p:nvSpPr>
          <p:cNvPr id="35" name="Text 30"/>
          <p:cNvSpPr txBox="1"/>
          <p:nvPr/>
        </p:nvSpPr>
        <p:spPr>
          <a:xfrm>
            <a:off x="9642348" y="1719072"/>
            <a:ext cx="800100"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Next wave</a:t>
            </a:r>
            <a:endParaRPr lang="en-US" sz="900" dirty="0"/>
          </a:p>
        </p:txBody>
      </p:sp>
      <p:sp>
        <p:nvSpPr>
          <p:cNvPr id="36" name="Text 31"/>
          <p:cNvSpPr txBox="1"/>
          <p:nvPr/>
        </p:nvSpPr>
        <p:spPr>
          <a:xfrm>
            <a:off x="7543800" y="2340864"/>
            <a:ext cx="2926080" cy="274320"/>
          </a:xfrm>
          <a:prstGeom prst="rect">
            <a:avLst/>
          </a:prstGeom>
          <a:noFill/>
          <a:ln/>
        </p:spPr>
        <p:txBody>
          <a:bodyPr wrap="square" lIns="0" tIns="0" rIns="0" bIns="0" rtlCol="0" anchor="ctr"/>
          <a:lstStyle/>
          <a:p>
            <a:pPr indent="0" marL="0">
              <a:buNone/>
            </a:pPr>
            <a:r>
              <a:rPr lang="en-US" sz="1300" b="1" dirty="0">
                <a:solidFill>
                  <a:srgbClr val="1F2D3D"/>
                </a:solidFill>
                <a:latin typeface="Calibri" pitchFamily="34" charset="0"/>
                <a:ea typeface="Calibri" pitchFamily="34" charset="-122"/>
                <a:cs typeface="Calibri" pitchFamily="34" charset="-120"/>
              </a:rPr>
              <a:t>Ledger Controls &amp; Exceptions</a:t>
            </a:r>
            <a:endParaRPr lang="en-US" sz="1300" dirty="0"/>
          </a:p>
        </p:txBody>
      </p:sp>
      <p:sp>
        <p:nvSpPr>
          <p:cNvPr id="37" name="Text 32"/>
          <p:cNvSpPr txBox="1"/>
          <p:nvPr/>
        </p:nvSpPr>
        <p:spPr>
          <a:xfrm>
            <a:off x="7543800" y="2615184"/>
            <a:ext cx="2926080" cy="41148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Triage of inter-ledger, source-to-ledger and TB-BB breaks with ageing</a:t>
            </a:r>
            <a:endParaRPr lang="en-US" sz="950" dirty="0"/>
          </a:p>
        </p:txBody>
      </p:sp>
      <p:sp>
        <p:nvSpPr>
          <p:cNvPr id="38" name="Text 33"/>
          <p:cNvSpPr txBox="1"/>
          <p:nvPr/>
        </p:nvSpPr>
        <p:spPr>
          <a:xfrm>
            <a:off x="7543800" y="3054096"/>
            <a:ext cx="2926080" cy="411480"/>
          </a:xfrm>
          <a:prstGeom prst="rect">
            <a:avLst/>
          </a:prstGeom>
          <a:noFill/>
          <a:ln/>
        </p:spPr>
        <p:txBody>
          <a:bodyPr wrap="square" lIns="0" tIns="0" rIns="0" bIns="0" rtlCol="0" anchor="t"/>
          <a:lstStyle/>
          <a:p>
            <a:pPr indent="0" marL="0">
              <a:buNone/>
            </a:pPr>
            <a:r>
              <a:rPr lang="en-US" sz="900" b="1" dirty="0">
                <a:solidFill>
                  <a:srgbClr val="1F2D3D"/>
                </a:solidFill>
                <a:latin typeface="Calibri" pitchFamily="34" charset="0"/>
                <a:ea typeface="Calibri" pitchFamily="34" charset="-122"/>
                <a:cs typeface="Calibri" pitchFamily="34" charset="-120"/>
              </a:rPr>
              <a:t>Area: </a:t>
            </a:r>
            <a:pPr indent="0" marL="0">
              <a:buNone/>
            </a:pPr>
            <a:r>
              <a:rPr lang="en-US" sz="900" dirty="0">
                <a:solidFill>
                  <a:srgbClr val="4A5A6E"/>
                </a:solidFill>
                <a:latin typeface="Calibri" pitchFamily="34" charset="0"/>
                <a:ea typeface="Calibri" pitchFamily="34" charset="-122"/>
                <a:cs typeface="Calibri" pitchFamily="34" charset="-120"/>
              </a:rPr>
              <a:t>Recs &amp; Controls</a:t>
            </a:r>
            <a:endParaRPr lang="en-US" sz="900" dirty="0"/>
          </a:p>
          <a:p>
            <a:pPr indent="0" marL="0">
              <a:buNone/>
            </a:pPr>
            <a:r>
              <a:rPr lang="en-US" sz="900" b="1" dirty="0">
                <a:solidFill>
                  <a:srgbClr val="1F2D3D"/>
                </a:solidFill>
                <a:latin typeface="Calibri" pitchFamily="34" charset="0"/>
                <a:ea typeface="Calibri" pitchFamily="34" charset="-122"/>
                <a:cs typeface="Calibri" pitchFamily="34" charset="-120"/>
              </a:rPr>
              <a:t>Decision: </a:t>
            </a:r>
            <a:pPr indent="0" marL="0">
              <a:buNone/>
            </a:pPr>
            <a:r>
              <a:rPr lang="en-US" sz="900" dirty="0">
                <a:solidFill>
                  <a:srgbClr val="4A5A6E"/>
                </a:solidFill>
                <a:latin typeface="Calibri" pitchFamily="34" charset="0"/>
                <a:ea typeface="Calibri" pitchFamily="34" charset="-122"/>
                <a:cs typeface="Calibri" pitchFamily="34" charset="-120"/>
              </a:rPr>
              <a:t>Owner approves fix or closure</a:t>
            </a:r>
            <a:endParaRPr lang="en-US" sz="900" dirty="0"/>
          </a:p>
        </p:txBody>
      </p:sp>
      <p:sp>
        <p:nvSpPr>
          <p:cNvPr id="39" name="Shape 34"/>
          <p:cNvSpPr/>
          <p:nvPr/>
        </p:nvSpPr>
        <p:spPr>
          <a:xfrm>
            <a:off x="10817352" y="1554480"/>
            <a:ext cx="3227832" cy="2011680"/>
          </a:xfrm>
          <a:prstGeom prst="roundRect">
            <a:avLst>
              <a:gd name="adj" fmla="val 3636"/>
            </a:avLst>
          </a:prstGeom>
          <a:solidFill>
            <a:srgbClr val="FFFFFF"/>
          </a:solidFill>
          <a:ln w="9525">
            <a:solidFill>
              <a:srgbClr val="C8D8EC"/>
            </a:solidFill>
            <a:prstDash val="solid"/>
          </a:ln>
        </p:spPr>
      </p:sp>
      <p:sp>
        <p:nvSpPr>
          <p:cNvPr id="40" name="Shape 35"/>
          <p:cNvSpPr/>
          <p:nvPr/>
        </p:nvSpPr>
        <p:spPr>
          <a:xfrm>
            <a:off x="10981944" y="1719072"/>
            <a:ext cx="530352" cy="530352"/>
          </a:xfrm>
          <a:prstGeom prst="roundRect">
            <a:avLst>
              <a:gd name="adj" fmla="val 17241"/>
            </a:avLst>
          </a:prstGeom>
          <a:solidFill>
            <a:srgbClr val="1E8A5A"/>
          </a:solidFill>
          <a:ln w="12700">
            <a:solidFill>
              <a:srgbClr val="1E8A5A"/>
            </a:solidFill>
            <a:prstDash val="solid"/>
          </a:ln>
        </p:spPr>
      </p:sp>
      <p:pic>
        <p:nvPicPr>
          <p:cNvPr id="41" name="Image 3" descr="preencoded.png">    </p:cNvPr>
          <p:cNvPicPr>
            <a:picLocks noChangeAspect="1"/>
          </p:cNvPicPr>
          <p:nvPr/>
        </p:nvPicPr>
        <p:blipFill>
          <a:blip r:embed="rId4"/>
          <a:stretch>
            <a:fillRect/>
          </a:stretch>
        </p:blipFill>
        <p:spPr>
          <a:xfrm>
            <a:off x="11098621" y="1835749"/>
            <a:ext cx="296997" cy="296997"/>
          </a:xfrm>
          <a:prstGeom prst="rect">
            <a:avLst/>
          </a:prstGeom>
        </p:spPr>
      </p:pic>
      <p:sp>
        <p:nvSpPr>
          <p:cNvPr id="42" name="Shape 36"/>
          <p:cNvSpPr/>
          <p:nvPr/>
        </p:nvSpPr>
        <p:spPr>
          <a:xfrm>
            <a:off x="11384280" y="1627632"/>
            <a:ext cx="274320" cy="274320"/>
          </a:xfrm>
          <a:prstGeom prst="ellipse">
            <a:avLst/>
          </a:prstGeom>
          <a:solidFill>
            <a:srgbClr val="F2A900"/>
          </a:solidFill>
          <a:ln w="12700">
            <a:solidFill>
              <a:srgbClr val="FFFFFF"/>
            </a:solidFill>
            <a:prstDash val="solid"/>
          </a:ln>
        </p:spPr>
      </p:sp>
      <p:sp>
        <p:nvSpPr>
          <p:cNvPr id="43" name="Text 37"/>
          <p:cNvSpPr txBox="1"/>
          <p:nvPr/>
        </p:nvSpPr>
        <p:spPr>
          <a:xfrm>
            <a:off x="11384280" y="1627632"/>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4</a:t>
            </a:r>
            <a:endParaRPr lang="en-US" sz="950" dirty="0"/>
          </a:p>
        </p:txBody>
      </p:sp>
      <p:sp>
        <p:nvSpPr>
          <p:cNvPr id="44" name="Shape 38"/>
          <p:cNvSpPr/>
          <p:nvPr/>
        </p:nvSpPr>
        <p:spPr>
          <a:xfrm>
            <a:off x="13080492" y="1719072"/>
            <a:ext cx="800100" cy="237744"/>
          </a:xfrm>
          <a:prstGeom prst="roundRect">
            <a:avLst>
              <a:gd name="adj" fmla="val 50000"/>
            </a:avLst>
          </a:prstGeom>
          <a:solidFill>
            <a:srgbClr val="5B4FA8"/>
          </a:solidFill>
          <a:ln w="12700">
            <a:solidFill>
              <a:srgbClr val="5B4FA8"/>
            </a:solidFill>
            <a:prstDash val="solid"/>
          </a:ln>
        </p:spPr>
      </p:sp>
      <p:sp>
        <p:nvSpPr>
          <p:cNvPr id="45" name="Text 39"/>
          <p:cNvSpPr txBox="1"/>
          <p:nvPr/>
        </p:nvSpPr>
        <p:spPr>
          <a:xfrm>
            <a:off x="13080492" y="1719072"/>
            <a:ext cx="800100"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Next wave</a:t>
            </a:r>
            <a:endParaRPr lang="en-US" sz="900" dirty="0"/>
          </a:p>
        </p:txBody>
      </p:sp>
      <p:sp>
        <p:nvSpPr>
          <p:cNvPr id="46" name="Text 40"/>
          <p:cNvSpPr txBox="1"/>
          <p:nvPr/>
        </p:nvSpPr>
        <p:spPr>
          <a:xfrm>
            <a:off x="10981944" y="2340864"/>
            <a:ext cx="2926080" cy="274320"/>
          </a:xfrm>
          <a:prstGeom prst="rect">
            <a:avLst/>
          </a:prstGeom>
          <a:noFill/>
          <a:ln/>
        </p:spPr>
        <p:txBody>
          <a:bodyPr wrap="square" lIns="0" tIns="0" rIns="0" bIns="0" rtlCol="0" anchor="ctr"/>
          <a:lstStyle/>
          <a:p>
            <a:pPr indent="0" marL="0">
              <a:buNone/>
            </a:pPr>
            <a:r>
              <a:rPr lang="en-US" sz="1300" b="1" dirty="0">
                <a:solidFill>
                  <a:srgbClr val="1F2D3D"/>
                </a:solidFill>
                <a:latin typeface="Calibri" pitchFamily="34" charset="0"/>
                <a:ea typeface="Calibri" pitchFamily="34" charset="-122"/>
                <a:cs typeface="Calibri" pitchFamily="34" charset="-120"/>
              </a:rPr>
              <a:t>Analysis &amp; Commentary</a:t>
            </a:r>
            <a:endParaRPr lang="en-US" sz="1300" dirty="0"/>
          </a:p>
        </p:txBody>
      </p:sp>
      <p:sp>
        <p:nvSpPr>
          <p:cNvPr id="47" name="Text 41"/>
          <p:cNvSpPr txBox="1"/>
          <p:nvPr/>
        </p:nvSpPr>
        <p:spPr>
          <a:xfrm>
            <a:off x="10981944" y="2615184"/>
            <a:ext cx="2926080" cy="41148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Explains movements and variances, drafts commentary across packs</a:t>
            </a:r>
            <a:endParaRPr lang="en-US" sz="950" dirty="0"/>
          </a:p>
        </p:txBody>
      </p:sp>
      <p:sp>
        <p:nvSpPr>
          <p:cNvPr id="48" name="Text 42"/>
          <p:cNvSpPr txBox="1"/>
          <p:nvPr/>
        </p:nvSpPr>
        <p:spPr>
          <a:xfrm>
            <a:off x="10981944" y="3054096"/>
            <a:ext cx="2926080" cy="411480"/>
          </a:xfrm>
          <a:prstGeom prst="rect">
            <a:avLst/>
          </a:prstGeom>
          <a:noFill/>
          <a:ln/>
        </p:spPr>
        <p:txBody>
          <a:bodyPr wrap="square" lIns="0" tIns="0" rIns="0" bIns="0" rtlCol="0" anchor="t"/>
          <a:lstStyle/>
          <a:p>
            <a:pPr indent="0" marL="0">
              <a:buNone/>
            </a:pPr>
            <a:r>
              <a:rPr lang="en-US" sz="900" b="1" dirty="0">
                <a:solidFill>
                  <a:srgbClr val="1F2D3D"/>
                </a:solidFill>
                <a:latin typeface="Calibri" pitchFamily="34" charset="0"/>
                <a:ea typeface="Calibri" pitchFamily="34" charset="-122"/>
                <a:cs typeface="Calibri" pitchFamily="34" charset="-120"/>
              </a:rPr>
              <a:t>Area: </a:t>
            </a:r>
            <a:pPr indent="0" marL="0">
              <a:buNone/>
            </a:pPr>
            <a:r>
              <a:rPr lang="en-US" sz="900" dirty="0">
                <a:solidFill>
                  <a:srgbClr val="4A5A6E"/>
                </a:solidFill>
                <a:latin typeface="Calibri" pitchFamily="34" charset="0"/>
                <a:ea typeface="Calibri" pitchFamily="34" charset="-122"/>
                <a:cs typeface="Calibri" pitchFamily="34" charset="-120"/>
              </a:rPr>
              <a:t>Analysis &amp; Review</a:t>
            </a:r>
            <a:endParaRPr lang="en-US" sz="900" dirty="0"/>
          </a:p>
          <a:p>
            <a:pPr indent="0" marL="0">
              <a:buNone/>
            </a:pPr>
            <a:r>
              <a:rPr lang="en-US" sz="900" b="1" dirty="0">
                <a:solidFill>
                  <a:srgbClr val="1F2D3D"/>
                </a:solidFill>
                <a:latin typeface="Calibri" pitchFamily="34" charset="0"/>
                <a:ea typeface="Calibri" pitchFamily="34" charset="-122"/>
                <a:cs typeface="Calibri" pitchFamily="34" charset="-120"/>
              </a:rPr>
              <a:t>Decision: </a:t>
            </a:r>
            <a:pPr indent="0" marL="0">
              <a:buNone/>
            </a:pPr>
            <a:r>
              <a:rPr lang="en-US" sz="900" dirty="0">
                <a:solidFill>
                  <a:srgbClr val="4A5A6E"/>
                </a:solidFill>
                <a:latin typeface="Calibri" pitchFamily="34" charset="0"/>
                <a:ea typeface="Calibri" pitchFamily="34" charset="-122"/>
                <a:cs typeface="Calibri" pitchFamily="34" charset="-120"/>
              </a:rPr>
              <a:t>Controller approves commentary</a:t>
            </a:r>
            <a:endParaRPr lang="en-US" sz="900" dirty="0"/>
          </a:p>
        </p:txBody>
      </p:sp>
      <p:sp>
        <p:nvSpPr>
          <p:cNvPr id="49" name="Shape 43"/>
          <p:cNvSpPr/>
          <p:nvPr/>
        </p:nvSpPr>
        <p:spPr>
          <a:xfrm>
            <a:off x="502920" y="3703320"/>
            <a:ext cx="3227832" cy="2011680"/>
          </a:xfrm>
          <a:prstGeom prst="roundRect">
            <a:avLst>
              <a:gd name="adj" fmla="val 3636"/>
            </a:avLst>
          </a:prstGeom>
          <a:solidFill>
            <a:srgbClr val="FFFFFF"/>
          </a:solidFill>
          <a:ln w="9525">
            <a:solidFill>
              <a:srgbClr val="C8D8EC"/>
            </a:solidFill>
            <a:prstDash val="solid"/>
          </a:ln>
        </p:spPr>
      </p:sp>
      <p:sp>
        <p:nvSpPr>
          <p:cNvPr id="50" name="Shape 44"/>
          <p:cNvSpPr/>
          <p:nvPr/>
        </p:nvSpPr>
        <p:spPr>
          <a:xfrm>
            <a:off x="667512" y="3867912"/>
            <a:ext cx="530352" cy="530352"/>
          </a:xfrm>
          <a:prstGeom prst="roundRect">
            <a:avLst>
              <a:gd name="adj" fmla="val 17241"/>
            </a:avLst>
          </a:prstGeom>
          <a:solidFill>
            <a:srgbClr val="1F4E8C"/>
          </a:solidFill>
          <a:ln w="12700">
            <a:solidFill>
              <a:srgbClr val="1F4E8C"/>
            </a:solidFill>
            <a:prstDash val="solid"/>
          </a:ln>
        </p:spPr>
      </p:sp>
      <p:pic>
        <p:nvPicPr>
          <p:cNvPr id="51" name="Image 4" descr="preencoded.png">    </p:cNvPr>
          <p:cNvPicPr>
            <a:picLocks noChangeAspect="1"/>
          </p:cNvPicPr>
          <p:nvPr/>
        </p:nvPicPr>
        <p:blipFill>
          <a:blip r:embed="rId5"/>
          <a:stretch>
            <a:fillRect/>
          </a:stretch>
        </p:blipFill>
        <p:spPr>
          <a:xfrm>
            <a:off x="784189" y="3984589"/>
            <a:ext cx="296997" cy="296997"/>
          </a:xfrm>
          <a:prstGeom prst="rect">
            <a:avLst/>
          </a:prstGeom>
        </p:spPr>
      </p:pic>
      <p:sp>
        <p:nvSpPr>
          <p:cNvPr id="52" name="Shape 45"/>
          <p:cNvSpPr/>
          <p:nvPr/>
        </p:nvSpPr>
        <p:spPr>
          <a:xfrm>
            <a:off x="1069848" y="3776472"/>
            <a:ext cx="274320" cy="274320"/>
          </a:xfrm>
          <a:prstGeom prst="ellipse">
            <a:avLst/>
          </a:prstGeom>
          <a:solidFill>
            <a:srgbClr val="F2A900"/>
          </a:solidFill>
          <a:ln w="12700">
            <a:solidFill>
              <a:srgbClr val="FFFFFF"/>
            </a:solidFill>
            <a:prstDash val="solid"/>
          </a:ln>
        </p:spPr>
      </p:sp>
      <p:sp>
        <p:nvSpPr>
          <p:cNvPr id="53" name="Text 46"/>
          <p:cNvSpPr txBox="1"/>
          <p:nvPr/>
        </p:nvSpPr>
        <p:spPr>
          <a:xfrm>
            <a:off x="1069848" y="3776472"/>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5</a:t>
            </a:r>
            <a:endParaRPr lang="en-US" sz="950" dirty="0"/>
          </a:p>
        </p:txBody>
      </p:sp>
      <p:sp>
        <p:nvSpPr>
          <p:cNvPr id="54" name="Shape 47"/>
          <p:cNvSpPr/>
          <p:nvPr/>
        </p:nvSpPr>
        <p:spPr>
          <a:xfrm>
            <a:off x="2766060" y="3867912"/>
            <a:ext cx="800100" cy="237744"/>
          </a:xfrm>
          <a:prstGeom prst="roundRect">
            <a:avLst>
              <a:gd name="adj" fmla="val 50000"/>
            </a:avLst>
          </a:prstGeom>
          <a:solidFill>
            <a:srgbClr val="5B4FA8"/>
          </a:solidFill>
          <a:ln w="12700">
            <a:solidFill>
              <a:srgbClr val="5B4FA8"/>
            </a:solidFill>
            <a:prstDash val="solid"/>
          </a:ln>
        </p:spPr>
      </p:sp>
      <p:sp>
        <p:nvSpPr>
          <p:cNvPr id="55" name="Text 48"/>
          <p:cNvSpPr txBox="1"/>
          <p:nvPr/>
        </p:nvSpPr>
        <p:spPr>
          <a:xfrm>
            <a:off x="2766060" y="3867912"/>
            <a:ext cx="800100"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Next wave</a:t>
            </a:r>
            <a:endParaRPr lang="en-US" sz="900" dirty="0"/>
          </a:p>
        </p:txBody>
      </p:sp>
      <p:sp>
        <p:nvSpPr>
          <p:cNvPr id="56" name="Text 49"/>
          <p:cNvSpPr txBox="1"/>
          <p:nvPr/>
        </p:nvSpPr>
        <p:spPr>
          <a:xfrm>
            <a:off x="667512" y="4489704"/>
            <a:ext cx="2926080" cy="274320"/>
          </a:xfrm>
          <a:prstGeom prst="rect">
            <a:avLst/>
          </a:prstGeom>
          <a:noFill/>
          <a:ln/>
        </p:spPr>
        <p:txBody>
          <a:bodyPr wrap="square" lIns="0" tIns="0" rIns="0" bIns="0" rtlCol="0" anchor="ctr"/>
          <a:lstStyle/>
          <a:p>
            <a:pPr indent="0" marL="0">
              <a:buNone/>
            </a:pPr>
            <a:r>
              <a:rPr lang="en-US" sz="1300" b="1" dirty="0">
                <a:solidFill>
                  <a:srgbClr val="1F2D3D"/>
                </a:solidFill>
                <a:latin typeface="Calibri" pitchFamily="34" charset="0"/>
                <a:ea typeface="Calibri" pitchFamily="34" charset="-122"/>
                <a:cs typeface="Calibri" pitchFamily="34" charset="-120"/>
              </a:rPr>
              <a:t>Close Sign-off &amp; Attestation</a:t>
            </a:r>
            <a:endParaRPr lang="en-US" sz="1300" dirty="0"/>
          </a:p>
        </p:txBody>
      </p:sp>
      <p:sp>
        <p:nvSpPr>
          <p:cNvPr id="57" name="Text 50"/>
          <p:cNvSpPr txBox="1"/>
          <p:nvPr/>
        </p:nvSpPr>
        <p:spPr>
          <a:xfrm>
            <a:off x="667512" y="4764024"/>
            <a:ext cx="2926080" cy="41148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Builds sign-off packs: open items, evidence, risks per milestone</a:t>
            </a:r>
            <a:endParaRPr lang="en-US" sz="950" dirty="0"/>
          </a:p>
        </p:txBody>
      </p:sp>
      <p:sp>
        <p:nvSpPr>
          <p:cNvPr id="58" name="Text 51"/>
          <p:cNvSpPr txBox="1"/>
          <p:nvPr/>
        </p:nvSpPr>
        <p:spPr>
          <a:xfrm>
            <a:off x="667512" y="5202936"/>
            <a:ext cx="2926080" cy="411480"/>
          </a:xfrm>
          <a:prstGeom prst="rect">
            <a:avLst/>
          </a:prstGeom>
          <a:noFill/>
          <a:ln/>
        </p:spPr>
        <p:txBody>
          <a:bodyPr wrap="square" lIns="0" tIns="0" rIns="0" bIns="0" rtlCol="0" anchor="t"/>
          <a:lstStyle/>
          <a:p>
            <a:pPr indent="0" marL="0">
              <a:buNone/>
            </a:pPr>
            <a:r>
              <a:rPr lang="en-US" sz="900" b="1" dirty="0">
                <a:solidFill>
                  <a:srgbClr val="1F2D3D"/>
                </a:solidFill>
                <a:latin typeface="Calibri" pitchFamily="34" charset="0"/>
                <a:ea typeface="Calibri" pitchFamily="34" charset="-122"/>
                <a:cs typeface="Calibri" pitchFamily="34" charset="-120"/>
              </a:rPr>
              <a:t>Area: </a:t>
            </a:r>
            <a:pPr indent="0" marL="0">
              <a:buNone/>
            </a:pPr>
            <a:r>
              <a:rPr lang="en-US" sz="900" dirty="0">
                <a:solidFill>
                  <a:srgbClr val="4A5A6E"/>
                </a:solidFill>
                <a:latin typeface="Calibri" pitchFamily="34" charset="0"/>
                <a:ea typeface="Calibri" pitchFamily="34" charset="-122"/>
                <a:cs typeface="Calibri" pitchFamily="34" charset="-120"/>
              </a:rPr>
              <a:t>Financial Close</a:t>
            </a:r>
            <a:endParaRPr lang="en-US" sz="900" dirty="0"/>
          </a:p>
          <a:p>
            <a:pPr indent="0" marL="0">
              <a:buNone/>
            </a:pPr>
            <a:r>
              <a:rPr lang="en-US" sz="900" b="1" dirty="0">
                <a:solidFill>
                  <a:srgbClr val="1F2D3D"/>
                </a:solidFill>
                <a:latin typeface="Calibri" pitchFamily="34" charset="0"/>
                <a:ea typeface="Calibri" pitchFamily="34" charset="-122"/>
                <a:cs typeface="Calibri" pitchFamily="34" charset="-120"/>
              </a:rPr>
              <a:t>Decision: </a:t>
            </a:r>
            <a:pPr indent="0" marL="0">
              <a:buNone/>
            </a:pPr>
            <a:r>
              <a:rPr lang="en-US" sz="900" dirty="0">
                <a:solidFill>
                  <a:srgbClr val="4A5A6E"/>
                </a:solidFill>
                <a:latin typeface="Calibri" pitchFamily="34" charset="0"/>
                <a:ea typeface="Calibri" pitchFamily="34" charset="-122"/>
                <a:cs typeface="Calibri" pitchFamily="34" charset="-120"/>
              </a:rPr>
              <a:t>Signatory signs off</a:t>
            </a:r>
            <a:endParaRPr lang="en-US" sz="900" dirty="0"/>
          </a:p>
        </p:txBody>
      </p:sp>
      <p:sp>
        <p:nvSpPr>
          <p:cNvPr id="59" name="Shape 52"/>
          <p:cNvSpPr/>
          <p:nvPr/>
        </p:nvSpPr>
        <p:spPr>
          <a:xfrm>
            <a:off x="3941064" y="3703320"/>
            <a:ext cx="3227832" cy="2011680"/>
          </a:xfrm>
          <a:prstGeom prst="roundRect">
            <a:avLst>
              <a:gd name="adj" fmla="val 3636"/>
            </a:avLst>
          </a:prstGeom>
          <a:solidFill>
            <a:srgbClr val="FFFFFF"/>
          </a:solidFill>
          <a:ln w="9525">
            <a:solidFill>
              <a:srgbClr val="C8D8EC"/>
            </a:solidFill>
            <a:prstDash val="solid"/>
          </a:ln>
        </p:spPr>
      </p:sp>
      <p:sp>
        <p:nvSpPr>
          <p:cNvPr id="60" name="Shape 53"/>
          <p:cNvSpPr/>
          <p:nvPr/>
        </p:nvSpPr>
        <p:spPr>
          <a:xfrm>
            <a:off x="4105656" y="3867912"/>
            <a:ext cx="530352" cy="530352"/>
          </a:xfrm>
          <a:prstGeom prst="roundRect">
            <a:avLst>
              <a:gd name="adj" fmla="val 17241"/>
            </a:avLst>
          </a:prstGeom>
          <a:solidFill>
            <a:srgbClr val="1F6FB5"/>
          </a:solidFill>
          <a:ln w="12700">
            <a:solidFill>
              <a:srgbClr val="1F6FB5"/>
            </a:solidFill>
            <a:prstDash val="solid"/>
          </a:ln>
        </p:spPr>
      </p:sp>
      <p:pic>
        <p:nvPicPr>
          <p:cNvPr id="61" name="Image 5" descr="preencoded.png">    </p:cNvPr>
          <p:cNvPicPr>
            <a:picLocks noChangeAspect="1"/>
          </p:cNvPicPr>
          <p:nvPr/>
        </p:nvPicPr>
        <p:blipFill>
          <a:blip r:embed="rId6"/>
          <a:stretch>
            <a:fillRect/>
          </a:stretch>
        </p:blipFill>
        <p:spPr>
          <a:xfrm>
            <a:off x="4222333" y="3984589"/>
            <a:ext cx="296997" cy="296997"/>
          </a:xfrm>
          <a:prstGeom prst="rect">
            <a:avLst/>
          </a:prstGeom>
        </p:spPr>
      </p:pic>
      <p:sp>
        <p:nvSpPr>
          <p:cNvPr id="62" name="Shape 54"/>
          <p:cNvSpPr/>
          <p:nvPr/>
        </p:nvSpPr>
        <p:spPr>
          <a:xfrm>
            <a:off x="4507992" y="3776472"/>
            <a:ext cx="274320" cy="274320"/>
          </a:xfrm>
          <a:prstGeom prst="ellipse">
            <a:avLst/>
          </a:prstGeom>
          <a:solidFill>
            <a:srgbClr val="F2A900"/>
          </a:solidFill>
          <a:ln w="12700">
            <a:solidFill>
              <a:srgbClr val="FFFFFF"/>
            </a:solidFill>
            <a:prstDash val="solid"/>
          </a:ln>
        </p:spPr>
      </p:sp>
      <p:sp>
        <p:nvSpPr>
          <p:cNvPr id="63" name="Text 55"/>
          <p:cNvSpPr txBox="1"/>
          <p:nvPr/>
        </p:nvSpPr>
        <p:spPr>
          <a:xfrm>
            <a:off x="4507992" y="3776472"/>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6</a:t>
            </a:r>
            <a:endParaRPr lang="en-US" sz="950" dirty="0"/>
          </a:p>
        </p:txBody>
      </p:sp>
      <p:sp>
        <p:nvSpPr>
          <p:cNvPr id="64" name="Shape 56"/>
          <p:cNvSpPr/>
          <p:nvPr/>
        </p:nvSpPr>
        <p:spPr>
          <a:xfrm>
            <a:off x="6204204" y="3867912"/>
            <a:ext cx="800100" cy="237744"/>
          </a:xfrm>
          <a:prstGeom prst="roundRect">
            <a:avLst>
              <a:gd name="adj" fmla="val 50000"/>
            </a:avLst>
          </a:prstGeom>
          <a:solidFill>
            <a:srgbClr val="5B4FA8"/>
          </a:solidFill>
          <a:ln w="12700">
            <a:solidFill>
              <a:srgbClr val="5B4FA8"/>
            </a:solidFill>
            <a:prstDash val="solid"/>
          </a:ln>
        </p:spPr>
      </p:sp>
      <p:sp>
        <p:nvSpPr>
          <p:cNvPr id="65" name="Text 57"/>
          <p:cNvSpPr txBox="1"/>
          <p:nvPr/>
        </p:nvSpPr>
        <p:spPr>
          <a:xfrm>
            <a:off x="6204204" y="3867912"/>
            <a:ext cx="800100"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Next wave</a:t>
            </a:r>
            <a:endParaRPr lang="en-US" sz="900" dirty="0"/>
          </a:p>
        </p:txBody>
      </p:sp>
      <p:sp>
        <p:nvSpPr>
          <p:cNvPr id="66" name="Text 58"/>
          <p:cNvSpPr txBox="1"/>
          <p:nvPr/>
        </p:nvSpPr>
        <p:spPr>
          <a:xfrm>
            <a:off x="4105656" y="4489704"/>
            <a:ext cx="2926080" cy="274320"/>
          </a:xfrm>
          <a:prstGeom prst="rect">
            <a:avLst/>
          </a:prstGeom>
          <a:noFill/>
          <a:ln/>
        </p:spPr>
        <p:txBody>
          <a:bodyPr wrap="square" lIns="0" tIns="0" rIns="0" bIns="0" rtlCol="0" anchor="ctr"/>
          <a:lstStyle/>
          <a:p>
            <a:pPr indent="0" marL="0">
              <a:buNone/>
            </a:pPr>
            <a:r>
              <a:rPr lang="en-US" sz="1300" b="1" dirty="0">
                <a:solidFill>
                  <a:srgbClr val="1F2D3D"/>
                </a:solidFill>
                <a:latin typeface="Calibri" pitchFamily="34" charset="0"/>
                <a:ea typeface="Calibri" pitchFamily="34" charset="-122"/>
                <a:cs typeface="Calibri" pitchFamily="34" charset="-120"/>
              </a:rPr>
              <a:t>Report Validation</a:t>
            </a:r>
            <a:endParaRPr lang="en-US" sz="1300" dirty="0"/>
          </a:p>
        </p:txBody>
      </p:sp>
      <p:sp>
        <p:nvSpPr>
          <p:cNvPr id="67" name="Text 59"/>
          <p:cNvSpPr txBox="1"/>
          <p:nvPr/>
        </p:nvSpPr>
        <p:spPr>
          <a:xfrm>
            <a:off x="4105656" y="4764024"/>
            <a:ext cx="2926080" cy="41148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Checks reports against TB and prior runs before publication</a:t>
            </a:r>
            <a:endParaRPr lang="en-US" sz="950" dirty="0"/>
          </a:p>
        </p:txBody>
      </p:sp>
      <p:sp>
        <p:nvSpPr>
          <p:cNvPr id="68" name="Text 60"/>
          <p:cNvSpPr txBox="1"/>
          <p:nvPr/>
        </p:nvSpPr>
        <p:spPr>
          <a:xfrm>
            <a:off x="4105656" y="5202936"/>
            <a:ext cx="2926080" cy="411480"/>
          </a:xfrm>
          <a:prstGeom prst="rect">
            <a:avLst/>
          </a:prstGeom>
          <a:noFill/>
          <a:ln/>
        </p:spPr>
        <p:txBody>
          <a:bodyPr wrap="square" lIns="0" tIns="0" rIns="0" bIns="0" rtlCol="0" anchor="t"/>
          <a:lstStyle/>
          <a:p>
            <a:pPr indent="0" marL="0">
              <a:buNone/>
            </a:pPr>
            <a:r>
              <a:rPr lang="en-US" sz="900" b="1" dirty="0">
                <a:solidFill>
                  <a:srgbClr val="1F2D3D"/>
                </a:solidFill>
                <a:latin typeface="Calibri" pitchFamily="34" charset="0"/>
                <a:ea typeface="Calibri" pitchFamily="34" charset="-122"/>
                <a:cs typeface="Calibri" pitchFamily="34" charset="-120"/>
              </a:rPr>
              <a:t>Area: </a:t>
            </a:r>
            <a:pPr indent="0" marL="0">
              <a:buNone/>
            </a:pPr>
            <a:r>
              <a:rPr lang="en-US" sz="900" dirty="0">
                <a:solidFill>
                  <a:srgbClr val="4A5A6E"/>
                </a:solidFill>
                <a:latin typeface="Calibri" pitchFamily="34" charset="0"/>
                <a:ea typeface="Calibri" pitchFamily="34" charset="-122"/>
                <a:cs typeface="Calibri" pitchFamily="34" charset="-120"/>
              </a:rPr>
              <a:t>Internal Reporting</a:t>
            </a:r>
            <a:endParaRPr lang="en-US" sz="900" dirty="0"/>
          </a:p>
          <a:p>
            <a:pPr indent="0" marL="0">
              <a:buNone/>
            </a:pPr>
            <a:r>
              <a:rPr lang="en-US" sz="900" b="1" dirty="0">
                <a:solidFill>
                  <a:srgbClr val="1F2D3D"/>
                </a:solidFill>
                <a:latin typeface="Calibri" pitchFamily="34" charset="0"/>
                <a:ea typeface="Calibri" pitchFamily="34" charset="-122"/>
                <a:cs typeface="Calibri" pitchFamily="34" charset="-120"/>
              </a:rPr>
              <a:t>Decision: </a:t>
            </a:r>
            <a:pPr indent="0" marL="0">
              <a:buNone/>
            </a:pPr>
            <a:r>
              <a:rPr lang="en-US" sz="900" dirty="0">
                <a:solidFill>
                  <a:srgbClr val="4A5A6E"/>
                </a:solidFill>
                <a:latin typeface="Calibri" pitchFamily="34" charset="0"/>
                <a:ea typeface="Calibri" pitchFamily="34" charset="-122"/>
                <a:cs typeface="Calibri" pitchFamily="34" charset="-120"/>
              </a:rPr>
              <a:t>Report Owner releases</a:t>
            </a:r>
            <a:endParaRPr lang="en-US" sz="900" dirty="0"/>
          </a:p>
        </p:txBody>
      </p:sp>
      <p:sp>
        <p:nvSpPr>
          <p:cNvPr id="69" name="Shape 61"/>
          <p:cNvSpPr/>
          <p:nvPr/>
        </p:nvSpPr>
        <p:spPr>
          <a:xfrm>
            <a:off x="7379208" y="3703320"/>
            <a:ext cx="3227832" cy="2011680"/>
          </a:xfrm>
          <a:prstGeom prst="roundRect">
            <a:avLst>
              <a:gd name="adj" fmla="val 3636"/>
            </a:avLst>
          </a:prstGeom>
          <a:solidFill>
            <a:srgbClr val="FFFFFF"/>
          </a:solidFill>
          <a:ln w="9525">
            <a:solidFill>
              <a:srgbClr val="C8D8EC"/>
            </a:solidFill>
            <a:prstDash val="solid"/>
          </a:ln>
        </p:spPr>
      </p:sp>
      <p:sp>
        <p:nvSpPr>
          <p:cNvPr id="70" name="Shape 62"/>
          <p:cNvSpPr/>
          <p:nvPr/>
        </p:nvSpPr>
        <p:spPr>
          <a:xfrm>
            <a:off x="7543800" y="3867912"/>
            <a:ext cx="530352" cy="530352"/>
          </a:xfrm>
          <a:prstGeom prst="roundRect">
            <a:avLst>
              <a:gd name="adj" fmla="val 17241"/>
            </a:avLst>
          </a:prstGeom>
          <a:solidFill>
            <a:srgbClr val="1B4F93"/>
          </a:solidFill>
          <a:ln w="12700">
            <a:solidFill>
              <a:srgbClr val="1B4F93"/>
            </a:solidFill>
            <a:prstDash val="solid"/>
          </a:ln>
        </p:spPr>
      </p:sp>
      <p:pic>
        <p:nvPicPr>
          <p:cNvPr id="71" name="Image 6" descr="preencoded.png">    </p:cNvPr>
          <p:cNvPicPr>
            <a:picLocks noChangeAspect="1"/>
          </p:cNvPicPr>
          <p:nvPr/>
        </p:nvPicPr>
        <p:blipFill>
          <a:blip r:embed="rId7"/>
          <a:stretch>
            <a:fillRect/>
          </a:stretch>
        </p:blipFill>
        <p:spPr>
          <a:xfrm>
            <a:off x="7660477" y="3984589"/>
            <a:ext cx="296997" cy="296997"/>
          </a:xfrm>
          <a:prstGeom prst="rect">
            <a:avLst/>
          </a:prstGeom>
        </p:spPr>
      </p:pic>
      <p:sp>
        <p:nvSpPr>
          <p:cNvPr id="72" name="Shape 63"/>
          <p:cNvSpPr/>
          <p:nvPr/>
        </p:nvSpPr>
        <p:spPr>
          <a:xfrm>
            <a:off x="7946136" y="3776472"/>
            <a:ext cx="274320" cy="274320"/>
          </a:xfrm>
          <a:prstGeom prst="ellipse">
            <a:avLst/>
          </a:prstGeom>
          <a:solidFill>
            <a:srgbClr val="F2A900"/>
          </a:solidFill>
          <a:ln w="12700">
            <a:solidFill>
              <a:srgbClr val="FFFFFF"/>
            </a:solidFill>
            <a:prstDash val="solid"/>
          </a:ln>
        </p:spPr>
      </p:sp>
      <p:sp>
        <p:nvSpPr>
          <p:cNvPr id="73" name="Text 64"/>
          <p:cNvSpPr txBox="1"/>
          <p:nvPr/>
        </p:nvSpPr>
        <p:spPr>
          <a:xfrm>
            <a:off x="7946136" y="3776472"/>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7</a:t>
            </a:r>
            <a:endParaRPr lang="en-US" sz="950" dirty="0"/>
          </a:p>
        </p:txBody>
      </p:sp>
      <p:sp>
        <p:nvSpPr>
          <p:cNvPr id="74" name="Shape 65"/>
          <p:cNvSpPr/>
          <p:nvPr/>
        </p:nvSpPr>
        <p:spPr>
          <a:xfrm>
            <a:off x="9642348" y="3867912"/>
            <a:ext cx="800100" cy="237744"/>
          </a:xfrm>
          <a:prstGeom prst="roundRect">
            <a:avLst>
              <a:gd name="adj" fmla="val 50000"/>
            </a:avLst>
          </a:prstGeom>
          <a:solidFill>
            <a:srgbClr val="5B4FA8"/>
          </a:solidFill>
          <a:ln w="12700">
            <a:solidFill>
              <a:srgbClr val="5B4FA8"/>
            </a:solidFill>
            <a:prstDash val="solid"/>
          </a:ln>
        </p:spPr>
      </p:sp>
      <p:sp>
        <p:nvSpPr>
          <p:cNvPr id="75" name="Text 66"/>
          <p:cNvSpPr txBox="1"/>
          <p:nvPr/>
        </p:nvSpPr>
        <p:spPr>
          <a:xfrm>
            <a:off x="9642348" y="3867912"/>
            <a:ext cx="800100"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Next wave</a:t>
            </a:r>
            <a:endParaRPr lang="en-US" sz="900" dirty="0"/>
          </a:p>
        </p:txBody>
      </p:sp>
      <p:sp>
        <p:nvSpPr>
          <p:cNvPr id="76" name="Text 67"/>
          <p:cNvSpPr txBox="1"/>
          <p:nvPr/>
        </p:nvSpPr>
        <p:spPr>
          <a:xfrm>
            <a:off x="7543800" y="4489704"/>
            <a:ext cx="2926080" cy="274320"/>
          </a:xfrm>
          <a:prstGeom prst="rect">
            <a:avLst/>
          </a:prstGeom>
          <a:noFill/>
          <a:ln/>
        </p:spPr>
        <p:txBody>
          <a:bodyPr wrap="square" lIns="0" tIns="0" rIns="0" bIns="0" rtlCol="0" anchor="ctr"/>
          <a:lstStyle/>
          <a:p>
            <a:pPr indent="0" marL="0">
              <a:buNone/>
            </a:pPr>
            <a:r>
              <a:rPr lang="en-US" sz="1300" b="1" dirty="0">
                <a:solidFill>
                  <a:srgbClr val="1F2D3D"/>
                </a:solidFill>
                <a:latin typeface="Calibri" pitchFamily="34" charset="0"/>
                <a:ea typeface="Calibri" pitchFamily="34" charset="-122"/>
                <a:cs typeface="Calibri" pitchFamily="34" charset="-120"/>
              </a:rPr>
              <a:t>Reference Data Corrections</a:t>
            </a:r>
            <a:endParaRPr lang="en-US" sz="1300" dirty="0"/>
          </a:p>
        </p:txBody>
      </p:sp>
      <p:sp>
        <p:nvSpPr>
          <p:cNvPr id="77" name="Text 68"/>
          <p:cNvSpPr txBox="1"/>
          <p:nvPr/>
        </p:nvSpPr>
        <p:spPr>
          <a:xfrm>
            <a:off x="7543800" y="4764024"/>
            <a:ext cx="2926080" cy="41148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Traces breaks to data causes, drafts correction instructions</a:t>
            </a:r>
            <a:endParaRPr lang="en-US" sz="950" dirty="0"/>
          </a:p>
        </p:txBody>
      </p:sp>
      <p:sp>
        <p:nvSpPr>
          <p:cNvPr id="78" name="Text 69"/>
          <p:cNvSpPr txBox="1"/>
          <p:nvPr/>
        </p:nvSpPr>
        <p:spPr>
          <a:xfrm>
            <a:off x="7543800" y="5202936"/>
            <a:ext cx="2926080" cy="411480"/>
          </a:xfrm>
          <a:prstGeom prst="rect">
            <a:avLst/>
          </a:prstGeom>
          <a:noFill/>
          <a:ln/>
        </p:spPr>
        <p:txBody>
          <a:bodyPr wrap="square" lIns="0" tIns="0" rIns="0" bIns="0" rtlCol="0" anchor="t"/>
          <a:lstStyle/>
          <a:p>
            <a:pPr indent="0" marL="0">
              <a:buNone/>
            </a:pPr>
            <a:r>
              <a:rPr lang="en-US" sz="900" b="1" dirty="0">
                <a:solidFill>
                  <a:srgbClr val="1F2D3D"/>
                </a:solidFill>
                <a:latin typeface="Calibri" pitchFamily="34" charset="0"/>
                <a:ea typeface="Calibri" pitchFamily="34" charset="-122"/>
                <a:cs typeface="Calibri" pitchFamily="34" charset="-120"/>
              </a:rPr>
              <a:t>Area: </a:t>
            </a:r>
            <a:pPr indent="0" marL="0">
              <a:buNone/>
            </a:pPr>
            <a:r>
              <a:rPr lang="en-US" sz="900" dirty="0">
                <a:solidFill>
                  <a:srgbClr val="4A5A6E"/>
                </a:solidFill>
                <a:latin typeface="Calibri" pitchFamily="34" charset="0"/>
                <a:ea typeface="Calibri" pitchFamily="34" charset="-122"/>
                <a:cs typeface="Calibri" pitchFamily="34" charset="-120"/>
              </a:rPr>
              <a:t>Master / Reference Data</a:t>
            </a:r>
            <a:endParaRPr lang="en-US" sz="900" dirty="0"/>
          </a:p>
          <a:p>
            <a:pPr indent="0" marL="0">
              <a:buNone/>
            </a:pPr>
            <a:r>
              <a:rPr lang="en-US" sz="900" b="1" dirty="0">
                <a:solidFill>
                  <a:srgbClr val="1F2D3D"/>
                </a:solidFill>
                <a:latin typeface="Calibri" pitchFamily="34" charset="0"/>
                <a:ea typeface="Calibri" pitchFamily="34" charset="-122"/>
                <a:cs typeface="Calibri" pitchFamily="34" charset="-120"/>
              </a:rPr>
              <a:t>Decision: </a:t>
            </a:r>
            <a:pPr indent="0" marL="0">
              <a:buNone/>
            </a:pPr>
            <a:r>
              <a:rPr lang="en-US" sz="900" dirty="0">
                <a:solidFill>
                  <a:srgbClr val="4A5A6E"/>
                </a:solidFill>
                <a:latin typeface="Calibri" pitchFamily="34" charset="0"/>
                <a:ea typeface="Calibri" pitchFamily="34" charset="-122"/>
                <a:cs typeface="Calibri" pitchFamily="34" charset="-120"/>
              </a:rPr>
              <a:t>Data Owner approves correction</a:t>
            </a:r>
            <a:endParaRPr lang="en-US" sz="900" dirty="0"/>
          </a:p>
        </p:txBody>
      </p:sp>
      <p:sp>
        <p:nvSpPr>
          <p:cNvPr id="79" name="Shape 70"/>
          <p:cNvSpPr/>
          <p:nvPr/>
        </p:nvSpPr>
        <p:spPr>
          <a:xfrm>
            <a:off x="10817352" y="3703320"/>
            <a:ext cx="3227832" cy="2011680"/>
          </a:xfrm>
          <a:prstGeom prst="roundRect">
            <a:avLst>
              <a:gd name="adj" fmla="val 3636"/>
            </a:avLst>
          </a:prstGeom>
          <a:solidFill>
            <a:srgbClr val="FFFFFF"/>
          </a:solidFill>
          <a:ln w="9525">
            <a:solidFill>
              <a:srgbClr val="C8D8EC"/>
            </a:solidFill>
            <a:prstDash val="solid"/>
          </a:ln>
        </p:spPr>
      </p:sp>
      <p:sp>
        <p:nvSpPr>
          <p:cNvPr id="80" name="Shape 71"/>
          <p:cNvSpPr/>
          <p:nvPr/>
        </p:nvSpPr>
        <p:spPr>
          <a:xfrm>
            <a:off x="10981944" y="3867912"/>
            <a:ext cx="530352" cy="530352"/>
          </a:xfrm>
          <a:prstGeom prst="roundRect">
            <a:avLst>
              <a:gd name="adj" fmla="val 17241"/>
            </a:avLst>
          </a:prstGeom>
          <a:solidFill>
            <a:srgbClr val="1E8A5A"/>
          </a:solidFill>
          <a:ln w="12700">
            <a:solidFill>
              <a:srgbClr val="1E8A5A"/>
            </a:solidFill>
            <a:prstDash val="solid"/>
          </a:ln>
        </p:spPr>
      </p:sp>
      <p:pic>
        <p:nvPicPr>
          <p:cNvPr id="81" name="Image 7" descr="preencoded.png">    </p:cNvPr>
          <p:cNvPicPr>
            <a:picLocks noChangeAspect="1"/>
          </p:cNvPicPr>
          <p:nvPr/>
        </p:nvPicPr>
        <p:blipFill>
          <a:blip r:embed="rId8"/>
          <a:stretch>
            <a:fillRect/>
          </a:stretch>
        </p:blipFill>
        <p:spPr>
          <a:xfrm>
            <a:off x="11098621" y="3984589"/>
            <a:ext cx="296997" cy="296997"/>
          </a:xfrm>
          <a:prstGeom prst="rect">
            <a:avLst/>
          </a:prstGeom>
        </p:spPr>
      </p:pic>
      <p:sp>
        <p:nvSpPr>
          <p:cNvPr id="82" name="Shape 72"/>
          <p:cNvSpPr/>
          <p:nvPr/>
        </p:nvSpPr>
        <p:spPr>
          <a:xfrm>
            <a:off x="11384280" y="3776472"/>
            <a:ext cx="274320" cy="274320"/>
          </a:xfrm>
          <a:prstGeom prst="ellipse">
            <a:avLst/>
          </a:prstGeom>
          <a:solidFill>
            <a:srgbClr val="F2A900"/>
          </a:solidFill>
          <a:ln w="12700">
            <a:solidFill>
              <a:srgbClr val="FFFFFF"/>
            </a:solidFill>
            <a:prstDash val="solid"/>
          </a:ln>
        </p:spPr>
      </p:sp>
      <p:sp>
        <p:nvSpPr>
          <p:cNvPr id="83" name="Text 73"/>
          <p:cNvSpPr txBox="1"/>
          <p:nvPr/>
        </p:nvSpPr>
        <p:spPr>
          <a:xfrm>
            <a:off x="11384280" y="3776472"/>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8</a:t>
            </a:r>
            <a:endParaRPr lang="en-US" sz="950" dirty="0"/>
          </a:p>
        </p:txBody>
      </p:sp>
      <p:sp>
        <p:nvSpPr>
          <p:cNvPr id="84" name="Shape 74"/>
          <p:cNvSpPr/>
          <p:nvPr/>
        </p:nvSpPr>
        <p:spPr>
          <a:xfrm>
            <a:off x="13080492" y="3867912"/>
            <a:ext cx="800100" cy="237744"/>
          </a:xfrm>
          <a:prstGeom prst="roundRect">
            <a:avLst>
              <a:gd name="adj" fmla="val 50000"/>
            </a:avLst>
          </a:prstGeom>
          <a:solidFill>
            <a:srgbClr val="5B4FA8"/>
          </a:solidFill>
          <a:ln w="12700">
            <a:solidFill>
              <a:srgbClr val="5B4FA8"/>
            </a:solidFill>
            <a:prstDash val="solid"/>
          </a:ln>
        </p:spPr>
      </p:sp>
      <p:sp>
        <p:nvSpPr>
          <p:cNvPr id="85" name="Text 75"/>
          <p:cNvSpPr txBox="1"/>
          <p:nvPr/>
        </p:nvSpPr>
        <p:spPr>
          <a:xfrm>
            <a:off x="13080492" y="3867912"/>
            <a:ext cx="800100"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Next wave</a:t>
            </a:r>
            <a:endParaRPr lang="en-US" sz="900" dirty="0"/>
          </a:p>
        </p:txBody>
      </p:sp>
      <p:sp>
        <p:nvSpPr>
          <p:cNvPr id="86" name="Text 76"/>
          <p:cNvSpPr txBox="1"/>
          <p:nvPr/>
        </p:nvSpPr>
        <p:spPr>
          <a:xfrm>
            <a:off x="10981944" y="4489704"/>
            <a:ext cx="2926080" cy="274320"/>
          </a:xfrm>
          <a:prstGeom prst="rect">
            <a:avLst/>
          </a:prstGeom>
          <a:noFill/>
          <a:ln/>
        </p:spPr>
        <p:txBody>
          <a:bodyPr wrap="square" lIns="0" tIns="0" rIns="0" bIns="0" rtlCol="0" anchor="ctr"/>
          <a:lstStyle/>
          <a:p>
            <a:pPr indent="0" marL="0">
              <a:buNone/>
            </a:pPr>
            <a:r>
              <a:rPr lang="en-US" sz="1300" b="1" dirty="0">
                <a:solidFill>
                  <a:srgbClr val="1F2D3D"/>
                </a:solidFill>
                <a:latin typeface="Calibri" pitchFamily="34" charset="0"/>
                <a:ea typeface="Calibri" pitchFamily="34" charset="-122"/>
                <a:cs typeface="Calibri" pitchFamily="34" charset="-120"/>
              </a:rPr>
              <a:t>Access &amp; Workflow Review</a:t>
            </a:r>
            <a:endParaRPr lang="en-US" sz="1300" dirty="0"/>
          </a:p>
        </p:txBody>
      </p:sp>
      <p:sp>
        <p:nvSpPr>
          <p:cNvPr id="87" name="Text 77"/>
          <p:cNvSpPr txBox="1"/>
          <p:nvPr/>
        </p:nvSpPr>
        <p:spPr>
          <a:xfrm>
            <a:off x="10981944" y="4764024"/>
            <a:ext cx="2926080" cy="41148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Pre-reviews access, flags SoD conflicts and stale entitlements</a:t>
            </a:r>
            <a:endParaRPr lang="en-US" sz="950" dirty="0"/>
          </a:p>
        </p:txBody>
      </p:sp>
      <p:sp>
        <p:nvSpPr>
          <p:cNvPr id="88" name="Text 78"/>
          <p:cNvSpPr txBox="1"/>
          <p:nvPr/>
        </p:nvSpPr>
        <p:spPr>
          <a:xfrm>
            <a:off x="10981944" y="5202936"/>
            <a:ext cx="2926080" cy="411480"/>
          </a:xfrm>
          <a:prstGeom prst="rect">
            <a:avLst/>
          </a:prstGeom>
          <a:noFill/>
          <a:ln/>
        </p:spPr>
        <p:txBody>
          <a:bodyPr wrap="square" lIns="0" tIns="0" rIns="0" bIns="0" rtlCol="0" anchor="t"/>
          <a:lstStyle/>
          <a:p>
            <a:pPr indent="0" marL="0">
              <a:buNone/>
            </a:pPr>
            <a:r>
              <a:rPr lang="en-US" sz="900" b="1" dirty="0">
                <a:solidFill>
                  <a:srgbClr val="1F2D3D"/>
                </a:solidFill>
                <a:latin typeface="Calibri" pitchFamily="34" charset="0"/>
                <a:ea typeface="Calibri" pitchFamily="34" charset="-122"/>
                <a:cs typeface="Calibri" pitchFamily="34" charset="-120"/>
              </a:rPr>
              <a:t>Area: </a:t>
            </a:r>
            <a:pPr indent="0" marL="0">
              <a:buNone/>
            </a:pPr>
            <a:r>
              <a:rPr lang="en-US" sz="900" dirty="0">
                <a:solidFill>
                  <a:srgbClr val="4A5A6E"/>
                </a:solidFill>
                <a:latin typeface="Calibri" pitchFamily="34" charset="0"/>
                <a:ea typeface="Calibri" pitchFamily="34" charset="-122"/>
                <a:cs typeface="Calibri" pitchFamily="34" charset="-120"/>
              </a:rPr>
              <a:t>Entitlements &amp; Workflow</a:t>
            </a:r>
            <a:endParaRPr lang="en-US" sz="900" dirty="0"/>
          </a:p>
          <a:p>
            <a:pPr indent="0" marL="0">
              <a:buNone/>
            </a:pPr>
            <a:r>
              <a:rPr lang="en-US" sz="900" b="1" dirty="0">
                <a:solidFill>
                  <a:srgbClr val="1F2D3D"/>
                </a:solidFill>
                <a:latin typeface="Calibri" pitchFamily="34" charset="0"/>
                <a:ea typeface="Calibri" pitchFamily="34" charset="-122"/>
                <a:cs typeface="Calibri" pitchFamily="34" charset="-120"/>
              </a:rPr>
              <a:t>Decision: </a:t>
            </a:r>
            <a:pPr indent="0" marL="0">
              <a:buNone/>
            </a:pPr>
            <a:r>
              <a:rPr lang="en-US" sz="900" dirty="0">
                <a:solidFill>
                  <a:srgbClr val="4A5A6E"/>
                </a:solidFill>
                <a:latin typeface="Calibri" pitchFamily="34" charset="0"/>
                <a:ea typeface="Calibri" pitchFamily="34" charset="-122"/>
                <a:cs typeface="Calibri" pitchFamily="34" charset="-120"/>
              </a:rPr>
              <a:t>Approver certifies or revokes</a:t>
            </a:r>
            <a:endParaRPr lang="en-US" sz="900" dirty="0"/>
          </a:p>
        </p:txBody>
      </p:sp>
      <p:sp>
        <p:nvSpPr>
          <p:cNvPr id="89" name="Shape 79"/>
          <p:cNvSpPr/>
          <p:nvPr/>
        </p:nvSpPr>
        <p:spPr>
          <a:xfrm>
            <a:off x="502920" y="5897880"/>
            <a:ext cx="13624560" cy="1783080"/>
          </a:xfrm>
          <a:prstGeom prst="roundRect">
            <a:avLst>
              <a:gd name="adj" fmla="val 3077"/>
            </a:avLst>
          </a:prstGeom>
          <a:solidFill>
            <a:srgbClr val="F3F1FB"/>
          </a:solidFill>
          <a:ln w="12700">
            <a:solidFill>
              <a:srgbClr val="5B4FA8"/>
            </a:solidFill>
            <a:prstDash val="dash"/>
          </a:ln>
        </p:spPr>
      </p:sp>
      <p:sp>
        <p:nvSpPr>
          <p:cNvPr id="90" name="Text 80"/>
          <p:cNvSpPr txBox="1"/>
          <p:nvPr/>
        </p:nvSpPr>
        <p:spPr>
          <a:xfrm>
            <a:off x="640080" y="5971032"/>
            <a:ext cx="9144000" cy="201168"/>
          </a:xfrm>
          <a:prstGeom prst="rect">
            <a:avLst/>
          </a:prstGeom>
          <a:noFill/>
          <a:ln/>
        </p:spPr>
        <p:txBody>
          <a:bodyPr wrap="square" lIns="0" tIns="0" rIns="0" bIns="0" rtlCol="0" anchor="ctr"/>
          <a:lstStyle/>
          <a:p>
            <a:pPr indent="0" marL="0">
              <a:buNone/>
            </a:pPr>
            <a:r>
              <a:rPr lang="en-US" sz="900" b="1" spc="100" kern="0" dirty="0">
                <a:solidFill>
                  <a:srgbClr val="5B4FA8"/>
                </a:solidFill>
                <a:latin typeface="Calibri" pitchFamily="34" charset="0"/>
                <a:ea typeface="Calibri" pitchFamily="34" charset="-122"/>
                <a:cs typeface="Calibri" pitchFamily="34" charset="-120"/>
              </a:rPr>
              <a:t>SHARED AGENT PLATFORM (REUSED BY EVERY USE CASE)</a:t>
            </a:r>
            <a:endParaRPr lang="en-US" sz="900" dirty="0"/>
          </a:p>
        </p:txBody>
      </p:sp>
      <p:sp>
        <p:nvSpPr>
          <p:cNvPr id="91" name="Shape 81"/>
          <p:cNvSpPr/>
          <p:nvPr/>
        </p:nvSpPr>
        <p:spPr>
          <a:xfrm>
            <a:off x="640080" y="6309360"/>
            <a:ext cx="2103120" cy="1234440"/>
          </a:xfrm>
          <a:prstGeom prst="roundRect">
            <a:avLst>
              <a:gd name="adj" fmla="val 5926"/>
            </a:avLst>
          </a:prstGeom>
          <a:solidFill>
            <a:srgbClr val="FFFFFF"/>
          </a:solidFill>
          <a:ln w="9525">
            <a:solidFill>
              <a:srgbClr val="C8D8EC"/>
            </a:solidFill>
            <a:prstDash val="solid"/>
          </a:ln>
        </p:spPr>
      </p:sp>
      <p:sp>
        <p:nvSpPr>
          <p:cNvPr id="92" name="Shape 82"/>
          <p:cNvSpPr/>
          <p:nvPr/>
        </p:nvSpPr>
        <p:spPr>
          <a:xfrm>
            <a:off x="1426464" y="6400800"/>
            <a:ext cx="502920" cy="502920"/>
          </a:xfrm>
          <a:prstGeom prst="roundRect">
            <a:avLst>
              <a:gd name="adj" fmla="val 18182"/>
            </a:avLst>
          </a:prstGeom>
          <a:solidFill>
            <a:srgbClr val="2A6EBB"/>
          </a:solidFill>
          <a:ln w="12700">
            <a:solidFill>
              <a:srgbClr val="2A6EBB"/>
            </a:solidFill>
            <a:prstDash val="solid"/>
          </a:ln>
        </p:spPr>
      </p:sp>
      <p:pic>
        <p:nvPicPr>
          <p:cNvPr id="93" name="Image 8" descr="preencoded.png">    </p:cNvPr>
          <p:cNvPicPr>
            <a:picLocks noChangeAspect="1"/>
          </p:cNvPicPr>
          <p:nvPr/>
        </p:nvPicPr>
        <p:blipFill>
          <a:blip r:embed="rId9"/>
          <a:stretch>
            <a:fillRect/>
          </a:stretch>
        </p:blipFill>
        <p:spPr>
          <a:xfrm>
            <a:off x="1537106" y="6511442"/>
            <a:ext cx="281635" cy="281635"/>
          </a:xfrm>
          <a:prstGeom prst="rect">
            <a:avLst/>
          </a:prstGeom>
        </p:spPr>
      </p:pic>
      <p:sp>
        <p:nvSpPr>
          <p:cNvPr id="94" name="Text 83"/>
          <p:cNvSpPr txBox="1"/>
          <p:nvPr/>
        </p:nvSpPr>
        <p:spPr>
          <a:xfrm>
            <a:off x="685800" y="6949440"/>
            <a:ext cx="2011680" cy="228600"/>
          </a:xfrm>
          <a:prstGeom prst="rect">
            <a:avLst/>
          </a:prstGeom>
          <a:noFill/>
          <a:ln/>
        </p:spPr>
        <p:txBody>
          <a:bodyPr wrap="square" lIns="0" tIns="0" rIns="0" bIns="0" rtlCol="0" anchor="ctr"/>
          <a:lstStyle/>
          <a:p>
            <a:pPr algn="ctr" indent="0" marL="0">
              <a:buNone/>
            </a:pPr>
            <a:r>
              <a:rPr lang="en-US" sz="1150" b="1" dirty="0">
                <a:solidFill>
                  <a:srgbClr val="1F2D3D"/>
                </a:solidFill>
                <a:latin typeface="Calibri" pitchFamily="34" charset="0"/>
                <a:ea typeface="Calibri" pitchFamily="34" charset="-122"/>
                <a:cs typeface="Calibri" pitchFamily="34" charset="-120"/>
              </a:rPr>
              <a:t>One Fin UX</a:t>
            </a:r>
            <a:endParaRPr lang="en-US" sz="1150" dirty="0"/>
          </a:p>
        </p:txBody>
      </p:sp>
      <p:sp>
        <p:nvSpPr>
          <p:cNvPr id="95" name="Text 84"/>
          <p:cNvSpPr txBox="1"/>
          <p:nvPr/>
        </p:nvSpPr>
        <p:spPr>
          <a:xfrm>
            <a:off x="731520" y="7187184"/>
            <a:ext cx="1920240" cy="292608"/>
          </a:xfrm>
          <a:prstGeom prst="rect">
            <a:avLst/>
          </a:prstGeom>
          <a:noFill/>
          <a:ln/>
        </p:spPr>
        <p:txBody>
          <a:bodyPr wrap="square" lIns="0" tIns="0" rIns="0" bIns="0" rtlCol="0" anchor="ctr"/>
          <a:lstStyle/>
          <a:p>
            <a:pPr algn="ctr" indent="0" marL="0">
              <a:buNone/>
            </a:pPr>
            <a:r>
              <a:rPr lang="en-US" sz="900" dirty="0">
                <a:solidFill>
                  <a:srgbClr val="4A5A6E"/>
                </a:solidFill>
                <a:latin typeface="Calibri" pitchFamily="34" charset="0"/>
                <a:ea typeface="Calibri" pitchFamily="34" charset="-122"/>
                <a:cs typeface="Calibri" pitchFamily="34" charset="-120"/>
              </a:rPr>
              <a:t>Events and readiness per workspace</a:t>
            </a:r>
            <a:endParaRPr lang="en-US" sz="900" dirty="0"/>
          </a:p>
        </p:txBody>
      </p:sp>
      <p:sp>
        <p:nvSpPr>
          <p:cNvPr id="96" name="Shape 85"/>
          <p:cNvSpPr/>
          <p:nvPr/>
        </p:nvSpPr>
        <p:spPr>
          <a:xfrm>
            <a:off x="2889504" y="6309360"/>
            <a:ext cx="2103120" cy="1234440"/>
          </a:xfrm>
          <a:prstGeom prst="roundRect">
            <a:avLst>
              <a:gd name="adj" fmla="val 5926"/>
            </a:avLst>
          </a:prstGeom>
          <a:solidFill>
            <a:srgbClr val="FFFFFF"/>
          </a:solidFill>
          <a:ln w="9525">
            <a:solidFill>
              <a:srgbClr val="C8D8EC"/>
            </a:solidFill>
            <a:prstDash val="solid"/>
          </a:ln>
        </p:spPr>
      </p:sp>
      <p:sp>
        <p:nvSpPr>
          <p:cNvPr id="97" name="Shape 86"/>
          <p:cNvSpPr/>
          <p:nvPr/>
        </p:nvSpPr>
        <p:spPr>
          <a:xfrm>
            <a:off x="3675888" y="6400800"/>
            <a:ext cx="502920" cy="502920"/>
          </a:xfrm>
          <a:prstGeom prst="roundRect">
            <a:avLst>
              <a:gd name="adj" fmla="val 18182"/>
            </a:avLst>
          </a:prstGeom>
          <a:solidFill>
            <a:srgbClr val="1E8A5A"/>
          </a:solidFill>
          <a:ln w="12700">
            <a:solidFill>
              <a:srgbClr val="1E8A5A"/>
            </a:solidFill>
            <a:prstDash val="solid"/>
          </a:ln>
        </p:spPr>
      </p:sp>
      <p:pic>
        <p:nvPicPr>
          <p:cNvPr id="98" name="Image 9" descr="preencoded.png">    </p:cNvPr>
          <p:cNvPicPr>
            <a:picLocks noChangeAspect="1"/>
          </p:cNvPicPr>
          <p:nvPr/>
        </p:nvPicPr>
        <p:blipFill>
          <a:blip r:embed="rId10"/>
          <a:stretch>
            <a:fillRect/>
          </a:stretch>
        </p:blipFill>
        <p:spPr>
          <a:xfrm>
            <a:off x="3786530" y="6511442"/>
            <a:ext cx="281635" cy="281635"/>
          </a:xfrm>
          <a:prstGeom prst="rect">
            <a:avLst/>
          </a:prstGeom>
        </p:spPr>
      </p:pic>
      <p:sp>
        <p:nvSpPr>
          <p:cNvPr id="99" name="Text 87"/>
          <p:cNvSpPr txBox="1"/>
          <p:nvPr/>
        </p:nvSpPr>
        <p:spPr>
          <a:xfrm>
            <a:off x="2935224" y="6949440"/>
            <a:ext cx="2011680" cy="228600"/>
          </a:xfrm>
          <a:prstGeom prst="rect">
            <a:avLst/>
          </a:prstGeom>
          <a:noFill/>
          <a:ln/>
        </p:spPr>
        <p:txBody>
          <a:bodyPr wrap="square" lIns="0" tIns="0" rIns="0" bIns="0" rtlCol="0" anchor="ctr"/>
          <a:lstStyle/>
          <a:p>
            <a:pPr algn="ctr" indent="0" marL="0">
              <a:buNone/>
            </a:pPr>
            <a:r>
              <a:rPr lang="en-US" sz="1150" b="1" dirty="0">
                <a:solidFill>
                  <a:srgbClr val="1F2D3D"/>
                </a:solidFill>
                <a:latin typeface="Calibri" pitchFamily="34" charset="0"/>
                <a:ea typeface="Calibri" pitchFamily="34" charset="-122"/>
                <a:cs typeface="Calibri" pitchFamily="34" charset="-120"/>
              </a:rPr>
              <a:t>Orchestration</a:t>
            </a:r>
            <a:endParaRPr lang="en-US" sz="1150" dirty="0"/>
          </a:p>
        </p:txBody>
      </p:sp>
      <p:sp>
        <p:nvSpPr>
          <p:cNvPr id="100" name="Text 88"/>
          <p:cNvSpPr txBox="1"/>
          <p:nvPr/>
        </p:nvSpPr>
        <p:spPr>
          <a:xfrm>
            <a:off x="2980944" y="7187184"/>
            <a:ext cx="1920240" cy="292608"/>
          </a:xfrm>
          <a:prstGeom prst="rect">
            <a:avLst/>
          </a:prstGeom>
          <a:noFill/>
          <a:ln/>
        </p:spPr>
        <p:txBody>
          <a:bodyPr wrap="square" lIns="0" tIns="0" rIns="0" bIns="0" rtlCol="0" anchor="ctr"/>
          <a:lstStyle/>
          <a:p>
            <a:pPr algn="ctr" indent="0" marL="0">
              <a:buNone/>
            </a:pPr>
            <a:r>
              <a:rPr lang="en-US" sz="900" dirty="0">
                <a:solidFill>
                  <a:srgbClr val="4A5A6E"/>
                </a:solidFill>
                <a:latin typeface="Calibri" pitchFamily="34" charset="0"/>
                <a:ea typeface="Calibri" pitchFamily="34" charset="-122"/>
                <a:cs typeface="Calibri" pitchFamily="34" charset="-120"/>
              </a:rPr>
              <a:t>LangGraph workflows, HITL pauses</a:t>
            </a:r>
            <a:endParaRPr lang="en-US" sz="900" dirty="0"/>
          </a:p>
        </p:txBody>
      </p:sp>
      <p:sp>
        <p:nvSpPr>
          <p:cNvPr id="101" name="Shape 89"/>
          <p:cNvSpPr/>
          <p:nvPr/>
        </p:nvSpPr>
        <p:spPr>
          <a:xfrm>
            <a:off x="5138928" y="6309360"/>
            <a:ext cx="2103120" cy="1234440"/>
          </a:xfrm>
          <a:prstGeom prst="roundRect">
            <a:avLst>
              <a:gd name="adj" fmla="val 5926"/>
            </a:avLst>
          </a:prstGeom>
          <a:solidFill>
            <a:srgbClr val="FFFFFF"/>
          </a:solidFill>
          <a:ln w="9525">
            <a:solidFill>
              <a:srgbClr val="C8D8EC"/>
            </a:solidFill>
            <a:prstDash val="solid"/>
          </a:ln>
        </p:spPr>
      </p:sp>
      <p:sp>
        <p:nvSpPr>
          <p:cNvPr id="102" name="Shape 90"/>
          <p:cNvSpPr/>
          <p:nvPr/>
        </p:nvSpPr>
        <p:spPr>
          <a:xfrm>
            <a:off x="5925312" y="6400800"/>
            <a:ext cx="502920" cy="502920"/>
          </a:xfrm>
          <a:prstGeom prst="roundRect">
            <a:avLst>
              <a:gd name="adj" fmla="val 18182"/>
            </a:avLst>
          </a:prstGeom>
          <a:solidFill>
            <a:srgbClr val="5B4FA8"/>
          </a:solidFill>
          <a:ln w="12700">
            <a:solidFill>
              <a:srgbClr val="5B4FA8"/>
            </a:solidFill>
            <a:prstDash val="solid"/>
          </a:ln>
        </p:spPr>
      </p:sp>
      <p:pic>
        <p:nvPicPr>
          <p:cNvPr id="103" name="Image 10" descr="preencoded.png">    </p:cNvPr>
          <p:cNvPicPr>
            <a:picLocks noChangeAspect="1"/>
          </p:cNvPicPr>
          <p:nvPr/>
        </p:nvPicPr>
        <p:blipFill>
          <a:blip r:embed="rId11"/>
          <a:stretch>
            <a:fillRect/>
          </a:stretch>
        </p:blipFill>
        <p:spPr>
          <a:xfrm>
            <a:off x="6035954" y="6511442"/>
            <a:ext cx="281635" cy="281635"/>
          </a:xfrm>
          <a:prstGeom prst="rect">
            <a:avLst/>
          </a:prstGeom>
        </p:spPr>
      </p:pic>
      <p:sp>
        <p:nvSpPr>
          <p:cNvPr id="104" name="Text 91"/>
          <p:cNvSpPr txBox="1"/>
          <p:nvPr/>
        </p:nvSpPr>
        <p:spPr>
          <a:xfrm>
            <a:off x="5184648" y="6949440"/>
            <a:ext cx="2011680" cy="228600"/>
          </a:xfrm>
          <a:prstGeom prst="rect">
            <a:avLst/>
          </a:prstGeom>
          <a:noFill/>
          <a:ln/>
        </p:spPr>
        <p:txBody>
          <a:bodyPr wrap="square" lIns="0" tIns="0" rIns="0" bIns="0" rtlCol="0" anchor="ctr"/>
          <a:lstStyle/>
          <a:p>
            <a:pPr algn="ctr" indent="0" marL="0">
              <a:buNone/>
            </a:pPr>
            <a:r>
              <a:rPr lang="en-US" sz="1150" b="1" dirty="0">
                <a:solidFill>
                  <a:srgbClr val="1F2D3D"/>
                </a:solidFill>
                <a:latin typeface="Calibri" pitchFamily="34" charset="0"/>
                <a:ea typeface="Calibri" pitchFamily="34" charset="-122"/>
                <a:cs typeface="Calibri" pitchFamily="34" charset="-120"/>
              </a:rPr>
              <a:t>Agent One</a:t>
            </a:r>
            <a:endParaRPr lang="en-US" sz="1150" dirty="0"/>
          </a:p>
        </p:txBody>
      </p:sp>
      <p:sp>
        <p:nvSpPr>
          <p:cNvPr id="105" name="Text 92"/>
          <p:cNvSpPr txBox="1"/>
          <p:nvPr/>
        </p:nvSpPr>
        <p:spPr>
          <a:xfrm>
            <a:off x="5230368" y="7187184"/>
            <a:ext cx="1920240" cy="292608"/>
          </a:xfrm>
          <a:prstGeom prst="rect">
            <a:avLst/>
          </a:prstGeom>
          <a:noFill/>
          <a:ln/>
        </p:spPr>
        <p:txBody>
          <a:bodyPr wrap="square" lIns="0" tIns="0" rIns="0" bIns="0" rtlCol="0" anchor="ctr"/>
          <a:lstStyle/>
          <a:p>
            <a:pPr algn="ctr" indent="0" marL="0">
              <a:buNone/>
            </a:pPr>
            <a:r>
              <a:rPr lang="en-US" sz="900" dirty="0">
                <a:solidFill>
                  <a:srgbClr val="4A5A6E"/>
                </a:solidFill>
                <a:latin typeface="Calibri" pitchFamily="34" charset="0"/>
                <a:ea typeface="Calibri" pitchFamily="34" charset="-122"/>
                <a:cs typeface="Calibri" pitchFamily="34" charset="-120"/>
              </a:rPr>
              <a:t>Skills, playbooks, sessions</a:t>
            </a:r>
            <a:endParaRPr lang="en-US" sz="900" dirty="0"/>
          </a:p>
        </p:txBody>
      </p:sp>
      <p:sp>
        <p:nvSpPr>
          <p:cNvPr id="106" name="Shape 93"/>
          <p:cNvSpPr/>
          <p:nvPr/>
        </p:nvSpPr>
        <p:spPr>
          <a:xfrm>
            <a:off x="7388352" y="6309360"/>
            <a:ext cx="2103120" cy="1234440"/>
          </a:xfrm>
          <a:prstGeom prst="roundRect">
            <a:avLst>
              <a:gd name="adj" fmla="val 5926"/>
            </a:avLst>
          </a:prstGeom>
          <a:solidFill>
            <a:srgbClr val="FFFFFF"/>
          </a:solidFill>
          <a:ln w="9525">
            <a:solidFill>
              <a:srgbClr val="C8D8EC"/>
            </a:solidFill>
            <a:prstDash val="solid"/>
          </a:ln>
        </p:spPr>
      </p:sp>
      <p:sp>
        <p:nvSpPr>
          <p:cNvPr id="107" name="Shape 94"/>
          <p:cNvSpPr/>
          <p:nvPr/>
        </p:nvSpPr>
        <p:spPr>
          <a:xfrm>
            <a:off x="8174736" y="6400800"/>
            <a:ext cx="502920" cy="502920"/>
          </a:xfrm>
          <a:prstGeom prst="roundRect">
            <a:avLst>
              <a:gd name="adj" fmla="val 18182"/>
            </a:avLst>
          </a:prstGeom>
          <a:solidFill>
            <a:srgbClr val="C0392B"/>
          </a:solidFill>
          <a:ln w="12700">
            <a:solidFill>
              <a:srgbClr val="C0392B"/>
            </a:solidFill>
            <a:prstDash val="solid"/>
          </a:ln>
        </p:spPr>
      </p:sp>
      <p:pic>
        <p:nvPicPr>
          <p:cNvPr id="108" name="Image 11" descr="preencoded.png">    </p:cNvPr>
          <p:cNvPicPr>
            <a:picLocks noChangeAspect="1"/>
          </p:cNvPicPr>
          <p:nvPr/>
        </p:nvPicPr>
        <p:blipFill>
          <a:blip r:embed="rId12"/>
          <a:stretch>
            <a:fillRect/>
          </a:stretch>
        </p:blipFill>
        <p:spPr>
          <a:xfrm>
            <a:off x="8285378" y="6511442"/>
            <a:ext cx="281635" cy="281635"/>
          </a:xfrm>
          <a:prstGeom prst="rect">
            <a:avLst/>
          </a:prstGeom>
        </p:spPr>
      </p:pic>
      <p:sp>
        <p:nvSpPr>
          <p:cNvPr id="109" name="Text 95"/>
          <p:cNvSpPr txBox="1"/>
          <p:nvPr/>
        </p:nvSpPr>
        <p:spPr>
          <a:xfrm>
            <a:off x="7434072" y="6949440"/>
            <a:ext cx="2011680" cy="228600"/>
          </a:xfrm>
          <a:prstGeom prst="rect">
            <a:avLst/>
          </a:prstGeom>
          <a:noFill/>
          <a:ln/>
        </p:spPr>
        <p:txBody>
          <a:bodyPr wrap="square" lIns="0" tIns="0" rIns="0" bIns="0" rtlCol="0" anchor="ctr"/>
          <a:lstStyle/>
          <a:p>
            <a:pPr algn="ctr" indent="0" marL="0">
              <a:buNone/>
            </a:pPr>
            <a:r>
              <a:rPr lang="en-US" sz="1150" b="1" dirty="0">
                <a:solidFill>
                  <a:srgbClr val="1F2D3D"/>
                </a:solidFill>
                <a:latin typeface="Calibri" pitchFamily="34" charset="0"/>
                <a:ea typeface="Calibri" pitchFamily="34" charset="-122"/>
                <a:cs typeface="Calibri" pitchFamily="34" charset="-120"/>
              </a:rPr>
              <a:t>MCP Tools</a:t>
            </a:r>
            <a:endParaRPr lang="en-US" sz="1150" dirty="0"/>
          </a:p>
        </p:txBody>
      </p:sp>
      <p:sp>
        <p:nvSpPr>
          <p:cNvPr id="110" name="Text 96"/>
          <p:cNvSpPr txBox="1"/>
          <p:nvPr/>
        </p:nvSpPr>
        <p:spPr>
          <a:xfrm>
            <a:off x="7479792" y="7187184"/>
            <a:ext cx="1920240" cy="292608"/>
          </a:xfrm>
          <a:prstGeom prst="rect">
            <a:avLst/>
          </a:prstGeom>
          <a:noFill/>
          <a:ln/>
        </p:spPr>
        <p:txBody>
          <a:bodyPr wrap="square" lIns="0" tIns="0" rIns="0" bIns="0" rtlCol="0" anchor="ctr"/>
          <a:lstStyle/>
          <a:p>
            <a:pPr algn="ctr" indent="0" marL="0">
              <a:buNone/>
            </a:pPr>
            <a:r>
              <a:rPr lang="en-US" sz="900" dirty="0">
                <a:solidFill>
                  <a:srgbClr val="4A5A6E"/>
                </a:solidFill>
                <a:latin typeface="Calibri" pitchFamily="34" charset="0"/>
                <a:ea typeface="Calibri" pitchFamily="34" charset="-122"/>
                <a:cs typeface="Calibri" pitchFamily="34" charset="-120"/>
              </a:rPr>
              <a:t>Entitled data fetch and instructions</a:t>
            </a:r>
            <a:endParaRPr lang="en-US" sz="900" dirty="0"/>
          </a:p>
        </p:txBody>
      </p:sp>
      <p:sp>
        <p:nvSpPr>
          <p:cNvPr id="111" name="Shape 97"/>
          <p:cNvSpPr/>
          <p:nvPr/>
        </p:nvSpPr>
        <p:spPr>
          <a:xfrm>
            <a:off x="9637776" y="6309360"/>
            <a:ext cx="2103120" cy="1234440"/>
          </a:xfrm>
          <a:prstGeom prst="roundRect">
            <a:avLst>
              <a:gd name="adj" fmla="val 5926"/>
            </a:avLst>
          </a:prstGeom>
          <a:solidFill>
            <a:srgbClr val="FFFFFF"/>
          </a:solidFill>
          <a:ln w="9525">
            <a:solidFill>
              <a:srgbClr val="C8D8EC"/>
            </a:solidFill>
            <a:prstDash val="solid"/>
          </a:ln>
        </p:spPr>
      </p:sp>
      <p:sp>
        <p:nvSpPr>
          <p:cNvPr id="112" name="Shape 98"/>
          <p:cNvSpPr/>
          <p:nvPr/>
        </p:nvSpPr>
        <p:spPr>
          <a:xfrm>
            <a:off x="10424160" y="6400800"/>
            <a:ext cx="502920" cy="502920"/>
          </a:xfrm>
          <a:prstGeom prst="roundRect">
            <a:avLst>
              <a:gd name="adj" fmla="val 18182"/>
            </a:avLst>
          </a:prstGeom>
          <a:solidFill>
            <a:srgbClr val="1F4E8C"/>
          </a:solidFill>
          <a:ln w="12700">
            <a:solidFill>
              <a:srgbClr val="1F4E8C"/>
            </a:solidFill>
            <a:prstDash val="solid"/>
          </a:ln>
        </p:spPr>
      </p:sp>
      <p:pic>
        <p:nvPicPr>
          <p:cNvPr id="113" name="Image 12" descr="preencoded.png">    </p:cNvPr>
          <p:cNvPicPr>
            <a:picLocks noChangeAspect="1"/>
          </p:cNvPicPr>
          <p:nvPr/>
        </p:nvPicPr>
        <p:blipFill>
          <a:blip r:embed="rId13"/>
          <a:stretch>
            <a:fillRect/>
          </a:stretch>
        </p:blipFill>
        <p:spPr>
          <a:xfrm>
            <a:off x="10534802" y="6511442"/>
            <a:ext cx="281635" cy="281635"/>
          </a:xfrm>
          <a:prstGeom prst="rect">
            <a:avLst/>
          </a:prstGeom>
        </p:spPr>
      </p:pic>
      <p:sp>
        <p:nvSpPr>
          <p:cNvPr id="114" name="Text 99"/>
          <p:cNvSpPr txBox="1"/>
          <p:nvPr/>
        </p:nvSpPr>
        <p:spPr>
          <a:xfrm>
            <a:off x="9683496" y="6949440"/>
            <a:ext cx="2011680" cy="228600"/>
          </a:xfrm>
          <a:prstGeom prst="rect">
            <a:avLst/>
          </a:prstGeom>
          <a:noFill/>
          <a:ln/>
        </p:spPr>
        <p:txBody>
          <a:bodyPr wrap="square" lIns="0" tIns="0" rIns="0" bIns="0" rtlCol="0" anchor="ctr"/>
          <a:lstStyle/>
          <a:p>
            <a:pPr algn="ctr" indent="0" marL="0">
              <a:buNone/>
            </a:pPr>
            <a:r>
              <a:rPr lang="en-US" sz="1150" b="1" dirty="0">
                <a:solidFill>
                  <a:srgbClr val="1F2D3D"/>
                </a:solidFill>
                <a:latin typeface="Calibri" pitchFamily="34" charset="0"/>
                <a:ea typeface="Calibri" pitchFamily="34" charset="-122"/>
                <a:cs typeface="Calibri" pitchFamily="34" charset="-120"/>
              </a:rPr>
              <a:t>Knowledge Graph</a:t>
            </a:r>
            <a:endParaRPr lang="en-US" sz="1150" dirty="0"/>
          </a:p>
        </p:txBody>
      </p:sp>
      <p:sp>
        <p:nvSpPr>
          <p:cNvPr id="115" name="Text 100"/>
          <p:cNvSpPr txBox="1"/>
          <p:nvPr/>
        </p:nvSpPr>
        <p:spPr>
          <a:xfrm>
            <a:off x="9729216" y="7187184"/>
            <a:ext cx="1920240" cy="292608"/>
          </a:xfrm>
          <a:prstGeom prst="rect">
            <a:avLst/>
          </a:prstGeom>
          <a:noFill/>
          <a:ln/>
        </p:spPr>
        <p:txBody>
          <a:bodyPr wrap="square" lIns="0" tIns="0" rIns="0" bIns="0" rtlCol="0" anchor="ctr"/>
          <a:lstStyle/>
          <a:p>
            <a:pPr algn="ctr" indent="0" marL="0">
              <a:buNone/>
            </a:pPr>
            <a:r>
              <a:rPr lang="en-US" sz="900" dirty="0">
                <a:solidFill>
                  <a:srgbClr val="4A5A6E"/>
                </a:solidFill>
                <a:latin typeface="Calibri" pitchFamily="34" charset="0"/>
                <a:ea typeface="Calibri" pitchFamily="34" charset="-122"/>
                <a:cs typeface="Calibri" pitchFamily="34" charset="-120"/>
              </a:rPr>
              <a:t>Books, ledgers, rules, history</a:t>
            </a:r>
            <a:endParaRPr lang="en-US" sz="900" dirty="0"/>
          </a:p>
        </p:txBody>
      </p:sp>
      <p:sp>
        <p:nvSpPr>
          <p:cNvPr id="116" name="Shape 101"/>
          <p:cNvSpPr/>
          <p:nvPr/>
        </p:nvSpPr>
        <p:spPr>
          <a:xfrm>
            <a:off x="11887200" y="6309360"/>
            <a:ext cx="2103120" cy="1234440"/>
          </a:xfrm>
          <a:prstGeom prst="roundRect">
            <a:avLst>
              <a:gd name="adj" fmla="val 5926"/>
            </a:avLst>
          </a:prstGeom>
          <a:solidFill>
            <a:srgbClr val="FFFFFF"/>
          </a:solidFill>
          <a:ln w="9525">
            <a:solidFill>
              <a:srgbClr val="C8D8EC"/>
            </a:solidFill>
            <a:prstDash val="solid"/>
          </a:ln>
        </p:spPr>
      </p:sp>
      <p:sp>
        <p:nvSpPr>
          <p:cNvPr id="117" name="Shape 102"/>
          <p:cNvSpPr/>
          <p:nvPr/>
        </p:nvSpPr>
        <p:spPr>
          <a:xfrm>
            <a:off x="12673584" y="6400800"/>
            <a:ext cx="502920" cy="502920"/>
          </a:xfrm>
          <a:prstGeom prst="roundRect">
            <a:avLst>
              <a:gd name="adj" fmla="val 18182"/>
            </a:avLst>
          </a:prstGeom>
          <a:solidFill>
            <a:srgbClr val="0B2E5E"/>
          </a:solidFill>
          <a:ln w="12700">
            <a:solidFill>
              <a:srgbClr val="0B2E5E"/>
            </a:solidFill>
            <a:prstDash val="solid"/>
          </a:ln>
        </p:spPr>
      </p:sp>
      <p:pic>
        <p:nvPicPr>
          <p:cNvPr id="118" name="Image 13" descr="preencoded.png">    </p:cNvPr>
          <p:cNvPicPr>
            <a:picLocks noChangeAspect="1"/>
          </p:cNvPicPr>
          <p:nvPr/>
        </p:nvPicPr>
        <p:blipFill>
          <a:blip r:embed="rId14"/>
          <a:stretch>
            <a:fillRect/>
          </a:stretch>
        </p:blipFill>
        <p:spPr>
          <a:xfrm>
            <a:off x="12784226" y="6511442"/>
            <a:ext cx="281635" cy="281635"/>
          </a:xfrm>
          <a:prstGeom prst="rect">
            <a:avLst/>
          </a:prstGeom>
        </p:spPr>
      </p:pic>
      <p:sp>
        <p:nvSpPr>
          <p:cNvPr id="119" name="Text 103"/>
          <p:cNvSpPr txBox="1"/>
          <p:nvPr/>
        </p:nvSpPr>
        <p:spPr>
          <a:xfrm>
            <a:off x="11932920" y="6949440"/>
            <a:ext cx="2011680" cy="228600"/>
          </a:xfrm>
          <a:prstGeom prst="rect">
            <a:avLst/>
          </a:prstGeom>
          <a:noFill/>
          <a:ln/>
        </p:spPr>
        <p:txBody>
          <a:bodyPr wrap="square" lIns="0" tIns="0" rIns="0" bIns="0" rtlCol="0" anchor="ctr"/>
          <a:lstStyle/>
          <a:p>
            <a:pPr algn="ctr" indent="0" marL="0">
              <a:buNone/>
            </a:pPr>
            <a:r>
              <a:rPr lang="en-US" sz="1150" b="1" dirty="0">
                <a:solidFill>
                  <a:srgbClr val="1F2D3D"/>
                </a:solidFill>
                <a:latin typeface="Calibri" pitchFamily="34" charset="0"/>
                <a:ea typeface="Calibri" pitchFamily="34" charset="-122"/>
                <a:cs typeface="Calibri" pitchFamily="34" charset="-120"/>
              </a:rPr>
              <a:t>Phoenix Eyes</a:t>
            </a:r>
            <a:endParaRPr lang="en-US" sz="1150" dirty="0"/>
          </a:p>
        </p:txBody>
      </p:sp>
      <p:sp>
        <p:nvSpPr>
          <p:cNvPr id="120" name="Text 104"/>
          <p:cNvSpPr txBox="1"/>
          <p:nvPr/>
        </p:nvSpPr>
        <p:spPr>
          <a:xfrm>
            <a:off x="11978640" y="7187184"/>
            <a:ext cx="1920240" cy="292608"/>
          </a:xfrm>
          <a:prstGeom prst="rect">
            <a:avLst/>
          </a:prstGeom>
          <a:noFill/>
          <a:ln/>
        </p:spPr>
        <p:txBody>
          <a:bodyPr wrap="square" lIns="0" tIns="0" rIns="0" bIns="0" rtlCol="0" anchor="ctr"/>
          <a:lstStyle/>
          <a:p>
            <a:pPr algn="ctr" indent="0" marL="0">
              <a:buNone/>
            </a:pPr>
            <a:r>
              <a:rPr lang="en-US" sz="900" dirty="0">
                <a:solidFill>
                  <a:srgbClr val="4A5A6E"/>
                </a:solidFill>
                <a:latin typeface="Calibri" pitchFamily="34" charset="0"/>
                <a:ea typeface="Calibri" pitchFamily="34" charset="-122"/>
                <a:cs typeface="Calibri" pitchFamily="34" charset="-120"/>
              </a:rPr>
              <a:t>Traces, evals, LLM health</a:t>
            </a:r>
            <a:endParaRPr lang="en-US" sz="900" dirty="0"/>
          </a:p>
        </p:txBody>
      </p:sp>
      <p:sp>
        <p:nvSpPr>
          <p:cNvPr id="121" name="Text 105"/>
          <p:cNvSpPr txBox="1"/>
          <p:nvPr/>
        </p:nvSpPr>
        <p:spPr>
          <a:xfrm>
            <a:off x="502920" y="7818120"/>
            <a:ext cx="2743200" cy="228600"/>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Outcomes</a:t>
            </a:r>
            <a:endParaRPr lang="en-US" sz="1100" dirty="0"/>
          </a:p>
        </p:txBody>
      </p:sp>
      <p:sp>
        <p:nvSpPr>
          <p:cNvPr id="122" name="Shape 106"/>
          <p:cNvSpPr/>
          <p:nvPr/>
        </p:nvSpPr>
        <p:spPr>
          <a:xfrm>
            <a:off x="502920" y="8074152"/>
            <a:ext cx="3227832" cy="1005840"/>
          </a:xfrm>
          <a:prstGeom prst="roundRect">
            <a:avLst>
              <a:gd name="adj" fmla="val 7273"/>
            </a:avLst>
          </a:prstGeom>
          <a:solidFill>
            <a:srgbClr val="FFFFFF"/>
          </a:solidFill>
          <a:ln w="9525">
            <a:solidFill>
              <a:srgbClr val="C8D8EC"/>
            </a:solidFill>
            <a:prstDash val="solid"/>
          </a:ln>
        </p:spPr>
      </p:sp>
      <p:sp>
        <p:nvSpPr>
          <p:cNvPr id="123" name="Shape 107"/>
          <p:cNvSpPr/>
          <p:nvPr/>
        </p:nvSpPr>
        <p:spPr>
          <a:xfrm>
            <a:off x="667512" y="8321040"/>
            <a:ext cx="512064" cy="512064"/>
          </a:xfrm>
          <a:prstGeom prst="ellipse">
            <a:avLst/>
          </a:prstGeom>
          <a:solidFill>
            <a:srgbClr val="1E8A5A"/>
          </a:solidFill>
          <a:ln w="12700">
            <a:solidFill>
              <a:srgbClr val="1E8A5A"/>
            </a:solidFill>
            <a:prstDash val="solid"/>
          </a:ln>
        </p:spPr>
      </p:sp>
      <p:pic>
        <p:nvPicPr>
          <p:cNvPr id="124" name="Image 14" descr="preencoded.png">    </p:cNvPr>
          <p:cNvPicPr>
            <a:picLocks noChangeAspect="1"/>
          </p:cNvPicPr>
          <p:nvPr/>
        </p:nvPicPr>
        <p:blipFill>
          <a:blip r:embed="rId15"/>
          <a:stretch>
            <a:fillRect/>
          </a:stretch>
        </p:blipFill>
        <p:spPr>
          <a:xfrm>
            <a:off x="800649" y="8454177"/>
            <a:ext cx="245791" cy="245791"/>
          </a:xfrm>
          <a:prstGeom prst="rect">
            <a:avLst/>
          </a:prstGeom>
        </p:spPr>
      </p:pic>
      <p:sp>
        <p:nvSpPr>
          <p:cNvPr id="125" name="Text 108"/>
          <p:cNvSpPr txBox="1"/>
          <p:nvPr/>
        </p:nvSpPr>
        <p:spPr>
          <a:xfrm>
            <a:off x="1325880"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Work ready before the day starts</a:t>
            </a:r>
            <a:endParaRPr lang="en-US" sz="1200" dirty="0"/>
          </a:p>
        </p:txBody>
      </p:sp>
      <p:sp>
        <p:nvSpPr>
          <p:cNvPr id="126" name="Text 109"/>
          <p:cNvSpPr txBox="1"/>
          <p:nvPr/>
        </p:nvSpPr>
        <p:spPr>
          <a:xfrm>
            <a:off x="1325880"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Agents run when data is ready, not when people arrive</a:t>
            </a:r>
            <a:endParaRPr lang="en-US" sz="950" dirty="0"/>
          </a:p>
        </p:txBody>
      </p:sp>
      <p:sp>
        <p:nvSpPr>
          <p:cNvPr id="127" name="Shape 110"/>
          <p:cNvSpPr/>
          <p:nvPr/>
        </p:nvSpPr>
        <p:spPr>
          <a:xfrm>
            <a:off x="3941064" y="8074152"/>
            <a:ext cx="3227832" cy="1005840"/>
          </a:xfrm>
          <a:prstGeom prst="roundRect">
            <a:avLst>
              <a:gd name="adj" fmla="val 7273"/>
            </a:avLst>
          </a:prstGeom>
          <a:solidFill>
            <a:srgbClr val="FFFFFF"/>
          </a:solidFill>
          <a:ln w="9525">
            <a:solidFill>
              <a:srgbClr val="C8D8EC"/>
            </a:solidFill>
            <a:prstDash val="solid"/>
          </a:ln>
        </p:spPr>
      </p:sp>
      <p:sp>
        <p:nvSpPr>
          <p:cNvPr id="128" name="Shape 111"/>
          <p:cNvSpPr/>
          <p:nvPr/>
        </p:nvSpPr>
        <p:spPr>
          <a:xfrm>
            <a:off x="4105656" y="8321040"/>
            <a:ext cx="512064" cy="512064"/>
          </a:xfrm>
          <a:prstGeom prst="ellipse">
            <a:avLst/>
          </a:prstGeom>
          <a:solidFill>
            <a:srgbClr val="2A6EBB"/>
          </a:solidFill>
          <a:ln w="12700">
            <a:solidFill>
              <a:srgbClr val="2A6EBB"/>
            </a:solidFill>
            <a:prstDash val="solid"/>
          </a:ln>
        </p:spPr>
      </p:sp>
      <p:pic>
        <p:nvPicPr>
          <p:cNvPr id="129" name="Image 15" descr="preencoded.png">    </p:cNvPr>
          <p:cNvPicPr>
            <a:picLocks noChangeAspect="1"/>
          </p:cNvPicPr>
          <p:nvPr/>
        </p:nvPicPr>
        <p:blipFill>
          <a:blip r:embed="rId16"/>
          <a:stretch>
            <a:fillRect/>
          </a:stretch>
        </p:blipFill>
        <p:spPr>
          <a:xfrm>
            <a:off x="4238793" y="8454177"/>
            <a:ext cx="245791" cy="245791"/>
          </a:xfrm>
          <a:prstGeom prst="rect">
            <a:avLst/>
          </a:prstGeom>
        </p:spPr>
      </p:pic>
      <p:sp>
        <p:nvSpPr>
          <p:cNvPr id="130" name="Text 112"/>
          <p:cNvSpPr txBox="1"/>
          <p:nvPr/>
        </p:nvSpPr>
        <p:spPr>
          <a:xfrm>
            <a:off x="4764024"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Human in the loop</a:t>
            </a:r>
            <a:endParaRPr lang="en-US" sz="1200" dirty="0"/>
          </a:p>
        </p:txBody>
      </p:sp>
      <p:sp>
        <p:nvSpPr>
          <p:cNvPr id="131" name="Text 113"/>
          <p:cNvSpPr txBox="1"/>
          <p:nvPr/>
        </p:nvSpPr>
        <p:spPr>
          <a:xfrm>
            <a:off x="4764024"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Every adjustment, sign-off or correction approved by a named owner</a:t>
            </a:r>
            <a:endParaRPr lang="en-US" sz="950" dirty="0"/>
          </a:p>
        </p:txBody>
      </p:sp>
      <p:sp>
        <p:nvSpPr>
          <p:cNvPr id="132" name="Shape 114"/>
          <p:cNvSpPr/>
          <p:nvPr/>
        </p:nvSpPr>
        <p:spPr>
          <a:xfrm>
            <a:off x="7379208" y="8074152"/>
            <a:ext cx="3227832" cy="1005840"/>
          </a:xfrm>
          <a:prstGeom prst="roundRect">
            <a:avLst>
              <a:gd name="adj" fmla="val 7273"/>
            </a:avLst>
          </a:prstGeom>
          <a:solidFill>
            <a:srgbClr val="FFFFFF"/>
          </a:solidFill>
          <a:ln w="9525">
            <a:solidFill>
              <a:srgbClr val="C8D8EC"/>
            </a:solidFill>
            <a:prstDash val="solid"/>
          </a:ln>
        </p:spPr>
      </p:sp>
      <p:sp>
        <p:nvSpPr>
          <p:cNvPr id="133" name="Shape 115"/>
          <p:cNvSpPr/>
          <p:nvPr/>
        </p:nvSpPr>
        <p:spPr>
          <a:xfrm>
            <a:off x="7543800" y="8321040"/>
            <a:ext cx="512064" cy="512064"/>
          </a:xfrm>
          <a:prstGeom prst="ellipse">
            <a:avLst/>
          </a:prstGeom>
          <a:solidFill>
            <a:srgbClr val="5B4FA8"/>
          </a:solidFill>
          <a:ln w="12700">
            <a:solidFill>
              <a:srgbClr val="5B4FA8"/>
            </a:solidFill>
            <a:prstDash val="solid"/>
          </a:ln>
        </p:spPr>
      </p:sp>
      <p:pic>
        <p:nvPicPr>
          <p:cNvPr id="134" name="Image 16" descr="preencoded.png">    </p:cNvPr>
          <p:cNvPicPr>
            <a:picLocks noChangeAspect="1"/>
          </p:cNvPicPr>
          <p:nvPr/>
        </p:nvPicPr>
        <p:blipFill>
          <a:blip r:embed="rId17"/>
          <a:stretch>
            <a:fillRect/>
          </a:stretch>
        </p:blipFill>
        <p:spPr>
          <a:xfrm>
            <a:off x="7676937" y="8454177"/>
            <a:ext cx="245791" cy="245791"/>
          </a:xfrm>
          <a:prstGeom prst="rect">
            <a:avLst/>
          </a:prstGeom>
        </p:spPr>
      </p:pic>
      <p:sp>
        <p:nvSpPr>
          <p:cNvPr id="135" name="Text 116"/>
          <p:cNvSpPr txBox="1"/>
          <p:nvPr/>
        </p:nvSpPr>
        <p:spPr>
          <a:xfrm>
            <a:off x="8202168"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One control model</a:t>
            </a:r>
            <a:endParaRPr lang="en-US" sz="1200" dirty="0"/>
          </a:p>
        </p:txBody>
      </p:sp>
      <p:sp>
        <p:nvSpPr>
          <p:cNvPr id="136" name="Text 117"/>
          <p:cNvSpPr txBox="1"/>
          <p:nvPr/>
        </p:nvSpPr>
        <p:spPr>
          <a:xfrm>
            <a:off x="8202168"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Same audit, observability and eval gates for every use case</a:t>
            </a:r>
            <a:endParaRPr lang="en-US" sz="950" dirty="0"/>
          </a:p>
        </p:txBody>
      </p:sp>
      <p:sp>
        <p:nvSpPr>
          <p:cNvPr id="137" name="Shape 118"/>
          <p:cNvSpPr/>
          <p:nvPr/>
        </p:nvSpPr>
        <p:spPr>
          <a:xfrm>
            <a:off x="10817352" y="8074152"/>
            <a:ext cx="3227832" cy="1005840"/>
          </a:xfrm>
          <a:prstGeom prst="roundRect">
            <a:avLst>
              <a:gd name="adj" fmla="val 7273"/>
            </a:avLst>
          </a:prstGeom>
          <a:solidFill>
            <a:srgbClr val="FFFFFF"/>
          </a:solidFill>
          <a:ln w="9525">
            <a:solidFill>
              <a:srgbClr val="C8D8EC"/>
            </a:solidFill>
            <a:prstDash val="solid"/>
          </a:ln>
        </p:spPr>
      </p:sp>
      <p:sp>
        <p:nvSpPr>
          <p:cNvPr id="138" name="Shape 119"/>
          <p:cNvSpPr/>
          <p:nvPr/>
        </p:nvSpPr>
        <p:spPr>
          <a:xfrm>
            <a:off x="10981944" y="8321040"/>
            <a:ext cx="512064" cy="512064"/>
          </a:xfrm>
          <a:prstGeom prst="ellipse">
            <a:avLst/>
          </a:prstGeom>
          <a:solidFill>
            <a:srgbClr val="1F4E8C"/>
          </a:solidFill>
          <a:ln w="12700">
            <a:solidFill>
              <a:srgbClr val="1F4E8C"/>
            </a:solidFill>
            <a:prstDash val="solid"/>
          </a:ln>
        </p:spPr>
      </p:sp>
      <p:pic>
        <p:nvPicPr>
          <p:cNvPr id="139" name="Image 17" descr="preencoded.png">    </p:cNvPr>
          <p:cNvPicPr>
            <a:picLocks noChangeAspect="1"/>
          </p:cNvPicPr>
          <p:nvPr/>
        </p:nvPicPr>
        <p:blipFill>
          <a:blip r:embed="rId18"/>
          <a:stretch>
            <a:fillRect/>
          </a:stretch>
        </p:blipFill>
        <p:spPr>
          <a:xfrm>
            <a:off x="11115081" y="8454177"/>
            <a:ext cx="245791" cy="245791"/>
          </a:xfrm>
          <a:prstGeom prst="rect">
            <a:avLst/>
          </a:prstGeom>
        </p:spPr>
      </p:pic>
      <p:sp>
        <p:nvSpPr>
          <p:cNvPr id="140" name="Text 120"/>
          <p:cNvSpPr txBox="1"/>
          <p:nvPr/>
        </p:nvSpPr>
        <p:spPr>
          <a:xfrm>
            <a:off x="11640312"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Scales by configuration</a:t>
            </a:r>
            <a:endParaRPr lang="en-US" sz="1200" dirty="0"/>
          </a:p>
        </p:txBody>
      </p:sp>
      <p:sp>
        <p:nvSpPr>
          <p:cNvPr id="141" name="Text 121"/>
          <p:cNvSpPr txBox="1"/>
          <p:nvPr/>
        </p:nvSpPr>
        <p:spPr>
          <a:xfrm>
            <a:off x="11640312"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New areas add skills and tools, not new platforms</a:t>
            </a:r>
            <a:endParaRPr lang="en-US" sz="950" dirty="0"/>
          </a:p>
        </p:txBody>
      </p:sp>
      <p:sp>
        <p:nvSpPr>
          <p:cNvPr id="142" name="Shape 122"/>
          <p:cNvSpPr/>
          <p:nvPr/>
        </p:nvSpPr>
        <p:spPr>
          <a:xfrm>
            <a:off x="0" y="9272016"/>
            <a:ext cx="14630400" cy="484632"/>
          </a:xfrm>
          <a:prstGeom prst="rect">
            <a:avLst/>
          </a:prstGeom>
          <a:solidFill>
            <a:srgbClr val="0B2E5E"/>
          </a:solidFill>
          <a:ln w="12700">
            <a:solidFill>
              <a:srgbClr val="0B2E5E"/>
            </a:solidFill>
            <a:prstDash val="solid"/>
          </a:ln>
        </p:spPr>
      </p:sp>
      <p:sp>
        <p:nvSpPr>
          <p:cNvPr id="143" name="Text 123"/>
          <p:cNvSpPr txBox="1"/>
          <p:nvPr/>
        </p:nvSpPr>
        <p:spPr>
          <a:xfrm>
            <a:off x="0" y="9272016"/>
            <a:ext cx="14630400" cy="4846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Finance AI Solutions</a:t>
            </a:r>
            <a:pPr algn="ctr" indent="0" marL="0">
              <a:buNone/>
            </a:pPr>
            <a:r>
              <a:rPr lang="en-US" sz="1100" dirty="0">
                <a:solidFill>
                  <a:srgbClr val="FFFFFF"/>
                </a:solidFill>
                <a:latin typeface="Calibri" pitchFamily="34" charset="0"/>
                <a:ea typeface="Calibri" pitchFamily="34" charset="-122"/>
                <a:cs typeface="Calibri" pitchFamily="34" charset="-120"/>
              </a:rPr>
              <a:t>   |   One platform. Every function. Human in control.</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D"/>
        </a:solidFill>
      </p:bgPr>
    </p:bg>
    <p:spTree>
      <p:nvGrpSpPr>
        <p:cNvPr id="1" name=""/>
        <p:cNvGrpSpPr/>
        <p:nvPr/>
      </p:nvGrpSpPr>
      <p:grpSpPr>
        <a:xfrm>
          <a:off x="0" y="0"/>
          <a:ext cx="0" cy="0"/>
          <a:chOff x="0" y="0"/>
          <a:chExt cx="0" cy="0"/>
        </a:xfrm>
      </p:grpSpPr>
      <p:sp>
        <p:nvSpPr>
          <p:cNvPr id="2" name="Shape 0"/>
          <p:cNvSpPr/>
          <p:nvPr/>
        </p:nvSpPr>
        <p:spPr>
          <a:xfrm>
            <a:off x="0" y="0"/>
            <a:ext cx="14630400" cy="1024128"/>
          </a:xfrm>
          <a:prstGeom prst="rect">
            <a:avLst/>
          </a:prstGeom>
          <a:solidFill>
            <a:srgbClr val="0B2E5E"/>
          </a:solidFill>
          <a:ln w="12700">
            <a:solidFill>
              <a:srgbClr val="0B2E5E"/>
            </a:solidFill>
            <a:prstDash val="solid"/>
          </a:ln>
        </p:spPr>
      </p:sp>
      <p:sp>
        <p:nvSpPr>
          <p:cNvPr id="3" name="Text 1"/>
          <p:cNvSpPr txBox="1"/>
          <p:nvPr/>
        </p:nvSpPr>
        <p:spPr>
          <a:xfrm>
            <a:off x="301752" y="137160"/>
            <a:ext cx="11155680" cy="475488"/>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One Pattern, Every Function</a:t>
            </a:r>
            <a:endParaRPr lang="en-US" sz="3000" dirty="0"/>
          </a:p>
        </p:txBody>
      </p:sp>
      <p:sp>
        <p:nvSpPr>
          <p:cNvPr id="4" name="Text 2"/>
          <p:cNvSpPr txBox="1"/>
          <p:nvPr/>
        </p:nvSpPr>
        <p:spPr>
          <a:xfrm>
            <a:off x="301752" y="612648"/>
            <a:ext cx="11155680" cy="301752"/>
          </a:xfrm>
          <a:prstGeom prst="rect">
            <a:avLst/>
          </a:prstGeom>
          <a:noFill/>
          <a:ln/>
        </p:spPr>
        <p:txBody>
          <a:bodyPr wrap="square" lIns="0" tIns="0" rIns="0" bIns="0" rtlCol="0" anchor="ctr"/>
          <a:lstStyle/>
          <a:p>
            <a:pPr indent="0" marL="0">
              <a:buNone/>
            </a:pPr>
            <a:r>
              <a:rPr lang="en-US" sz="1600" dirty="0">
                <a:solidFill>
                  <a:srgbClr val="DCE9F7"/>
                </a:solidFill>
                <a:latin typeface="Calibri" pitchFamily="34" charset="0"/>
                <a:ea typeface="Calibri" pitchFamily="34" charset="-122"/>
                <a:cs typeface="Calibri" pitchFamily="34" charset="-120"/>
              </a:rPr>
              <a:t>How each use case maps to the Helix architecture lanes</a:t>
            </a:r>
            <a:endParaRPr lang="en-US" sz="1600" dirty="0"/>
          </a:p>
        </p:txBody>
      </p:sp>
      <p:sp>
        <p:nvSpPr>
          <p:cNvPr id="5" name="Shape 3"/>
          <p:cNvSpPr/>
          <p:nvPr/>
        </p:nvSpPr>
        <p:spPr>
          <a:xfrm>
            <a:off x="11640312" y="192024"/>
            <a:ext cx="0" cy="649224"/>
          </a:xfrm>
          <a:prstGeom prst="line">
            <a:avLst/>
          </a:prstGeom>
          <a:noFill/>
          <a:ln w="12700">
            <a:solidFill>
              <a:srgbClr val="FFFFFF"/>
            </a:solidFill>
            <a:prstDash val="solid"/>
          </a:ln>
        </p:spPr>
      </p:sp>
      <p:sp>
        <p:nvSpPr>
          <p:cNvPr id="6" name="Text 4"/>
          <p:cNvSpPr txBox="1"/>
          <p:nvPr/>
        </p:nvSpPr>
        <p:spPr>
          <a:xfrm>
            <a:off x="11814048" y="265176"/>
            <a:ext cx="2715768"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Solutions Portfolio</a:t>
            </a:r>
            <a:endParaRPr lang="en-US" sz="2200" dirty="0"/>
          </a:p>
        </p:txBody>
      </p:sp>
      <p:sp>
        <p:nvSpPr>
          <p:cNvPr id="7" name="Text 5"/>
          <p:cNvSpPr txBox="1"/>
          <p:nvPr/>
        </p:nvSpPr>
        <p:spPr>
          <a:xfrm>
            <a:off x="502920" y="1234440"/>
            <a:ext cx="2011680" cy="320040"/>
          </a:xfrm>
          <a:prstGeom prst="rect">
            <a:avLst/>
          </a:prstGeom>
          <a:noFill/>
          <a:ln/>
        </p:spPr>
        <p:txBody>
          <a:bodyPr wrap="square" lIns="0" tIns="0" rIns="0" bIns="0" rtlCol="0" anchor="ctr"/>
          <a:lstStyle/>
          <a:p>
            <a:pPr indent="0" marL="0">
              <a:buNone/>
            </a:pPr>
            <a:r>
              <a:rPr lang="en-US" sz="900" b="1" spc="100" kern="0" dirty="0">
                <a:solidFill>
                  <a:srgbClr val="5A6B82"/>
                </a:solidFill>
                <a:latin typeface="Calibri" pitchFamily="34" charset="0"/>
                <a:ea typeface="Calibri" pitchFamily="34" charset="-122"/>
                <a:cs typeface="Calibri" pitchFamily="34" charset="-120"/>
              </a:rPr>
              <a:t>USE CASE</a:t>
            </a:r>
            <a:endParaRPr lang="en-US" sz="900" dirty="0"/>
          </a:p>
        </p:txBody>
      </p:sp>
      <p:sp>
        <p:nvSpPr>
          <p:cNvPr id="8" name="Shape 6"/>
          <p:cNvSpPr/>
          <p:nvPr/>
        </p:nvSpPr>
        <p:spPr>
          <a:xfrm>
            <a:off x="2606040" y="1234440"/>
            <a:ext cx="1874520" cy="320040"/>
          </a:xfrm>
          <a:prstGeom prst="roundRect">
            <a:avLst>
              <a:gd name="adj" fmla="val 14286"/>
            </a:avLst>
          </a:prstGeom>
          <a:solidFill>
            <a:srgbClr val="1B4F93"/>
          </a:solidFill>
          <a:ln w="12700">
            <a:solidFill>
              <a:srgbClr val="1B4F93"/>
            </a:solidFill>
            <a:prstDash val="solid"/>
          </a:ln>
        </p:spPr>
      </p:sp>
      <p:sp>
        <p:nvSpPr>
          <p:cNvPr id="9" name="Text 7"/>
          <p:cNvSpPr txBox="1"/>
          <p:nvPr/>
        </p:nvSpPr>
        <p:spPr>
          <a:xfrm>
            <a:off x="2606040" y="1234440"/>
            <a:ext cx="1874520" cy="32004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SOURCE PROCESSING</a:t>
            </a:r>
            <a:endParaRPr lang="en-US" sz="900" dirty="0"/>
          </a:p>
        </p:txBody>
      </p:sp>
      <p:sp>
        <p:nvSpPr>
          <p:cNvPr id="10" name="Shape 8"/>
          <p:cNvSpPr/>
          <p:nvPr/>
        </p:nvSpPr>
        <p:spPr>
          <a:xfrm>
            <a:off x="4526280" y="1234440"/>
            <a:ext cx="1874520" cy="320040"/>
          </a:xfrm>
          <a:prstGeom prst="roundRect">
            <a:avLst>
              <a:gd name="adj" fmla="val 14286"/>
            </a:avLst>
          </a:prstGeom>
          <a:solidFill>
            <a:srgbClr val="2A6EBB"/>
          </a:solidFill>
          <a:ln w="12700">
            <a:solidFill>
              <a:srgbClr val="2A6EBB"/>
            </a:solidFill>
            <a:prstDash val="solid"/>
          </a:ln>
        </p:spPr>
      </p:sp>
      <p:sp>
        <p:nvSpPr>
          <p:cNvPr id="11" name="Text 9"/>
          <p:cNvSpPr txBox="1"/>
          <p:nvPr/>
        </p:nvSpPr>
        <p:spPr>
          <a:xfrm>
            <a:off x="4526280" y="1234440"/>
            <a:ext cx="1874520" cy="32004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EVENTS &amp; READINESS</a:t>
            </a:r>
            <a:endParaRPr lang="en-US" sz="900" dirty="0"/>
          </a:p>
        </p:txBody>
      </p:sp>
      <p:sp>
        <p:nvSpPr>
          <p:cNvPr id="12" name="Shape 10"/>
          <p:cNvSpPr/>
          <p:nvPr/>
        </p:nvSpPr>
        <p:spPr>
          <a:xfrm>
            <a:off x="6446520" y="1234440"/>
            <a:ext cx="1874520" cy="320040"/>
          </a:xfrm>
          <a:prstGeom prst="roundRect">
            <a:avLst>
              <a:gd name="adj" fmla="val 14286"/>
            </a:avLst>
          </a:prstGeom>
          <a:solidFill>
            <a:srgbClr val="1E8A5A"/>
          </a:solidFill>
          <a:ln w="12700">
            <a:solidFill>
              <a:srgbClr val="1E8A5A"/>
            </a:solidFill>
            <a:prstDash val="solid"/>
          </a:ln>
        </p:spPr>
      </p:sp>
      <p:sp>
        <p:nvSpPr>
          <p:cNvPr id="13" name="Text 11"/>
          <p:cNvSpPr txBox="1"/>
          <p:nvPr/>
        </p:nvSpPr>
        <p:spPr>
          <a:xfrm>
            <a:off x="6446520" y="1234440"/>
            <a:ext cx="1874520" cy="32004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ORCHESTRATION</a:t>
            </a:r>
            <a:endParaRPr lang="en-US" sz="900" dirty="0"/>
          </a:p>
        </p:txBody>
      </p:sp>
      <p:sp>
        <p:nvSpPr>
          <p:cNvPr id="14" name="Shape 12"/>
          <p:cNvSpPr/>
          <p:nvPr/>
        </p:nvSpPr>
        <p:spPr>
          <a:xfrm>
            <a:off x="8366760" y="1234440"/>
            <a:ext cx="1874520" cy="320040"/>
          </a:xfrm>
          <a:prstGeom prst="roundRect">
            <a:avLst>
              <a:gd name="adj" fmla="val 14286"/>
            </a:avLst>
          </a:prstGeom>
          <a:solidFill>
            <a:srgbClr val="5B4FA8"/>
          </a:solidFill>
          <a:ln w="12700">
            <a:solidFill>
              <a:srgbClr val="5B4FA8"/>
            </a:solidFill>
            <a:prstDash val="solid"/>
          </a:ln>
        </p:spPr>
      </p:sp>
      <p:sp>
        <p:nvSpPr>
          <p:cNvPr id="15" name="Text 13"/>
          <p:cNvSpPr txBox="1"/>
          <p:nvPr/>
        </p:nvSpPr>
        <p:spPr>
          <a:xfrm>
            <a:off x="8366760" y="1234440"/>
            <a:ext cx="1874520" cy="32004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AI REASONING</a:t>
            </a:r>
            <a:endParaRPr lang="en-US" sz="900" dirty="0"/>
          </a:p>
        </p:txBody>
      </p:sp>
      <p:sp>
        <p:nvSpPr>
          <p:cNvPr id="16" name="Shape 14"/>
          <p:cNvSpPr/>
          <p:nvPr/>
        </p:nvSpPr>
        <p:spPr>
          <a:xfrm>
            <a:off x="10287000" y="1234440"/>
            <a:ext cx="1874520" cy="320040"/>
          </a:xfrm>
          <a:prstGeom prst="roundRect">
            <a:avLst>
              <a:gd name="adj" fmla="val 14286"/>
            </a:avLst>
          </a:prstGeom>
          <a:solidFill>
            <a:srgbClr val="1F6FB5"/>
          </a:solidFill>
          <a:ln w="12700">
            <a:solidFill>
              <a:srgbClr val="1F6FB5"/>
            </a:solidFill>
            <a:prstDash val="solid"/>
          </a:ln>
        </p:spPr>
      </p:sp>
      <p:sp>
        <p:nvSpPr>
          <p:cNvPr id="17" name="Text 15"/>
          <p:cNvSpPr txBox="1"/>
          <p:nvPr/>
        </p:nvSpPr>
        <p:spPr>
          <a:xfrm>
            <a:off x="10287000" y="1234440"/>
            <a:ext cx="1874520" cy="32004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HUMAN DECISION</a:t>
            </a:r>
            <a:endParaRPr lang="en-US" sz="900" dirty="0"/>
          </a:p>
        </p:txBody>
      </p:sp>
      <p:sp>
        <p:nvSpPr>
          <p:cNvPr id="18" name="Shape 16"/>
          <p:cNvSpPr/>
          <p:nvPr/>
        </p:nvSpPr>
        <p:spPr>
          <a:xfrm>
            <a:off x="12207240" y="1234440"/>
            <a:ext cx="1874520" cy="320040"/>
          </a:xfrm>
          <a:prstGeom prst="roundRect">
            <a:avLst>
              <a:gd name="adj" fmla="val 14286"/>
            </a:avLst>
          </a:prstGeom>
          <a:solidFill>
            <a:srgbClr val="C0392B"/>
          </a:solidFill>
          <a:ln w="12700">
            <a:solidFill>
              <a:srgbClr val="C0392B"/>
            </a:solidFill>
            <a:prstDash val="solid"/>
          </a:ln>
        </p:spPr>
      </p:sp>
      <p:sp>
        <p:nvSpPr>
          <p:cNvPr id="19" name="Text 17"/>
          <p:cNvSpPr txBox="1"/>
          <p:nvPr/>
        </p:nvSpPr>
        <p:spPr>
          <a:xfrm>
            <a:off x="12207240" y="1234440"/>
            <a:ext cx="1874520" cy="32004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ACTION (VIA MCP)</a:t>
            </a:r>
            <a:endParaRPr lang="en-US" sz="900" dirty="0"/>
          </a:p>
        </p:txBody>
      </p:sp>
      <p:sp>
        <p:nvSpPr>
          <p:cNvPr id="20" name="Shape 18"/>
          <p:cNvSpPr/>
          <p:nvPr/>
        </p:nvSpPr>
        <p:spPr>
          <a:xfrm>
            <a:off x="502920" y="1691640"/>
            <a:ext cx="2011680" cy="713232"/>
          </a:xfrm>
          <a:prstGeom prst="roundRect">
            <a:avLst>
              <a:gd name="adj" fmla="val 10256"/>
            </a:avLst>
          </a:prstGeom>
          <a:solidFill>
            <a:srgbClr val="FFFFFF"/>
          </a:solidFill>
          <a:ln w="9525">
            <a:solidFill>
              <a:srgbClr val="C8D8EC"/>
            </a:solidFill>
            <a:prstDash val="solid"/>
          </a:ln>
        </p:spPr>
      </p:sp>
      <p:sp>
        <p:nvSpPr>
          <p:cNvPr id="21" name="Text 19"/>
          <p:cNvSpPr txBox="1"/>
          <p:nvPr/>
        </p:nvSpPr>
        <p:spPr>
          <a:xfrm>
            <a:off x="640080" y="1691640"/>
            <a:ext cx="1828800" cy="713232"/>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1  Helix: FOBO Rec</a:t>
            </a:r>
            <a:endParaRPr lang="en-US" sz="1100" dirty="0"/>
          </a:p>
        </p:txBody>
      </p:sp>
      <p:sp>
        <p:nvSpPr>
          <p:cNvPr id="22" name="Shape 20"/>
          <p:cNvSpPr/>
          <p:nvPr/>
        </p:nvSpPr>
        <p:spPr>
          <a:xfrm>
            <a:off x="2606040" y="1691640"/>
            <a:ext cx="1874520" cy="713232"/>
          </a:xfrm>
          <a:prstGeom prst="roundRect">
            <a:avLst>
              <a:gd name="adj" fmla="val 6410"/>
            </a:avLst>
          </a:prstGeom>
          <a:solidFill>
            <a:srgbClr val="EEF4FB"/>
          </a:solidFill>
          <a:ln w="9525">
            <a:solidFill>
              <a:srgbClr val="C8D8EC"/>
            </a:solidFill>
            <a:prstDash val="solid"/>
          </a:ln>
        </p:spPr>
      </p:sp>
      <p:sp>
        <p:nvSpPr>
          <p:cNvPr id="23" name="Text 21"/>
          <p:cNvSpPr txBox="1"/>
          <p:nvPr/>
        </p:nvSpPr>
        <p:spPr>
          <a:xfrm>
            <a:off x="2697480" y="1691640"/>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MBREC master-book rec</a:t>
            </a:r>
            <a:endParaRPr lang="en-US" sz="1000" dirty="0"/>
          </a:p>
        </p:txBody>
      </p:sp>
      <p:sp>
        <p:nvSpPr>
          <p:cNvPr id="24" name="Shape 22"/>
          <p:cNvSpPr/>
          <p:nvPr/>
        </p:nvSpPr>
        <p:spPr>
          <a:xfrm>
            <a:off x="4526280" y="1691640"/>
            <a:ext cx="1874520" cy="713232"/>
          </a:xfrm>
          <a:prstGeom prst="roundRect">
            <a:avLst>
              <a:gd name="adj" fmla="val 6410"/>
            </a:avLst>
          </a:prstGeom>
          <a:solidFill>
            <a:srgbClr val="EEF4FB"/>
          </a:solidFill>
          <a:ln w="9525">
            <a:solidFill>
              <a:srgbClr val="C8D8EC"/>
            </a:solidFill>
            <a:prstDash val="solid"/>
          </a:ln>
        </p:spPr>
      </p:sp>
      <p:sp>
        <p:nvSpPr>
          <p:cNvPr id="25" name="Text 23"/>
          <p:cNvSpPr txBox="1"/>
          <p:nvPr/>
        </p:nvSpPr>
        <p:spPr>
          <a:xfrm>
            <a:off x="4617720" y="1691640"/>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Book availability, final Ready</a:t>
            </a:r>
            <a:endParaRPr lang="en-US" sz="1000" dirty="0"/>
          </a:p>
        </p:txBody>
      </p:sp>
      <p:sp>
        <p:nvSpPr>
          <p:cNvPr id="26" name="Shape 24"/>
          <p:cNvSpPr/>
          <p:nvPr/>
        </p:nvSpPr>
        <p:spPr>
          <a:xfrm>
            <a:off x="6446520" y="1691640"/>
            <a:ext cx="1874520" cy="713232"/>
          </a:xfrm>
          <a:prstGeom prst="roundRect">
            <a:avLst>
              <a:gd name="adj" fmla="val 6410"/>
            </a:avLst>
          </a:prstGeom>
          <a:solidFill>
            <a:srgbClr val="EDF7F2"/>
          </a:solidFill>
          <a:ln w="9525">
            <a:solidFill>
              <a:srgbClr val="C8D8EC"/>
            </a:solidFill>
            <a:prstDash val="solid"/>
          </a:ln>
        </p:spPr>
      </p:sp>
      <p:sp>
        <p:nvSpPr>
          <p:cNvPr id="27" name="Text 25"/>
          <p:cNvSpPr txBox="1"/>
          <p:nvPr/>
        </p:nvSpPr>
        <p:spPr>
          <a:xfrm>
            <a:off x="6537960" y="1691640"/>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Helix Agent session</a:t>
            </a:r>
            <a:endParaRPr lang="en-US" sz="1000" dirty="0"/>
          </a:p>
        </p:txBody>
      </p:sp>
      <p:sp>
        <p:nvSpPr>
          <p:cNvPr id="28" name="Shape 26"/>
          <p:cNvSpPr/>
          <p:nvPr/>
        </p:nvSpPr>
        <p:spPr>
          <a:xfrm>
            <a:off x="8366760" y="1691640"/>
            <a:ext cx="1874520" cy="713232"/>
          </a:xfrm>
          <a:prstGeom prst="roundRect">
            <a:avLst>
              <a:gd name="adj" fmla="val 6410"/>
            </a:avLst>
          </a:prstGeom>
          <a:solidFill>
            <a:srgbClr val="F3F1FB"/>
          </a:solidFill>
          <a:ln w="9525">
            <a:solidFill>
              <a:srgbClr val="C8D8EC"/>
            </a:solidFill>
            <a:prstDash val="solid"/>
          </a:ln>
        </p:spPr>
      </p:sp>
      <p:sp>
        <p:nvSpPr>
          <p:cNvPr id="29" name="Text 27"/>
          <p:cNvSpPr txBox="1"/>
          <p:nvPr/>
        </p:nvSpPr>
        <p:spPr>
          <a:xfrm>
            <a:off x="8458200" y="1691640"/>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Classify, explain, recommend</a:t>
            </a:r>
            <a:endParaRPr lang="en-US" sz="1000" dirty="0"/>
          </a:p>
        </p:txBody>
      </p:sp>
      <p:sp>
        <p:nvSpPr>
          <p:cNvPr id="30" name="Shape 28"/>
          <p:cNvSpPr/>
          <p:nvPr/>
        </p:nvSpPr>
        <p:spPr>
          <a:xfrm>
            <a:off x="10287000" y="1691640"/>
            <a:ext cx="1874520" cy="713232"/>
          </a:xfrm>
          <a:prstGeom prst="roundRect">
            <a:avLst>
              <a:gd name="adj" fmla="val 6410"/>
            </a:avLst>
          </a:prstGeom>
          <a:solidFill>
            <a:srgbClr val="EEF4FB"/>
          </a:solidFill>
          <a:ln w="9525">
            <a:solidFill>
              <a:srgbClr val="C8D8EC"/>
            </a:solidFill>
            <a:prstDash val="solid"/>
          </a:ln>
        </p:spPr>
      </p:sp>
      <p:sp>
        <p:nvSpPr>
          <p:cNvPr id="31" name="Text 29"/>
          <p:cNvSpPr txBox="1"/>
          <p:nvPr/>
        </p:nvSpPr>
        <p:spPr>
          <a:xfrm>
            <a:off x="10378440" y="1691640"/>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Controller approves</a:t>
            </a:r>
            <a:endParaRPr lang="en-US" sz="1000" dirty="0"/>
          </a:p>
        </p:txBody>
      </p:sp>
      <p:sp>
        <p:nvSpPr>
          <p:cNvPr id="32" name="Shape 30"/>
          <p:cNvSpPr/>
          <p:nvPr/>
        </p:nvSpPr>
        <p:spPr>
          <a:xfrm>
            <a:off x="12207240" y="1691640"/>
            <a:ext cx="1874520" cy="713232"/>
          </a:xfrm>
          <a:prstGeom prst="roundRect">
            <a:avLst>
              <a:gd name="adj" fmla="val 6410"/>
            </a:avLst>
          </a:prstGeom>
          <a:solidFill>
            <a:srgbClr val="FBEFEE"/>
          </a:solidFill>
          <a:ln w="9525">
            <a:solidFill>
              <a:srgbClr val="C8D8EC"/>
            </a:solidFill>
            <a:prstDash val="solid"/>
          </a:ln>
        </p:spPr>
      </p:sp>
      <p:sp>
        <p:nvSpPr>
          <p:cNvPr id="33" name="Text 31"/>
          <p:cNvSpPr txBox="1"/>
          <p:nvPr/>
        </p:nvSpPr>
        <p:spPr>
          <a:xfrm>
            <a:off x="12298680" y="1691640"/>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FAS posts to MOTIF</a:t>
            </a:r>
            <a:endParaRPr lang="en-US" sz="1000" dirty="0"/>
          </a:p>
        </p:txBody>
      </p:sp>
      <p:sp>
        <p:nvSpPr>
          <p:cNvPr id="34" name="Shape 32"/>
          <p:cNvSpPr/>
          <p:nvPr/>
        </p:nvSpPr>
        <p:spPr>
          <a:xfrm>
            <a:off x="502920" y="2487168"/>
            <a:ext cx="2011680" cy="713232"/>
          </a:xfrm>
          <a:prstGeom prst="roundRect">
            <a:avLst>
              <a:gd name="adj" fmla="val 10256"/>
            </a:avLst>
          </a:prstGeom>
          <a:solidFill>
            <a:srgbClr val="FFFFFF"/>
          </a:solidFill>
          <a:ln w="9525">
            <a:solidFill>
              <a:srgbClr val="C8D8EC"/>
            </a:solidFill>
            <a:prstDash val="solid"/>
          </a:ln>
        </p:spPr>
      </p:sp>
      <p:sp>
        <p:nvSpPr>
          <p:cNvPr id="35" name="Text 33"/>
          <p:cNvSpPr txBox="1"/>
          <p:nvPr/>
        </p:nvSpPr>
        <p:spPr>
          <a:xfrm>
            <a:off x="640080" y="2487168"/>
            <a:ext cx="1828800" cy="713232"/>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2  Flash v Formal &amp; PLEX</a:t>
            </a:r>
            <a:endParaRPr lang="en-US" sz="1100" dirty="0"/>
          </a:p>
        </p:txBody>
      </p:sp>
      <p:sp>
        <p:nvSpPr>
          <p:cNvPr id="36" name="Shape 34"/>
          <p:cNvSpPr/>
          <p:nvPr/>
        </p:nvSpPr>
        <p:spPr>
          <a:xfrm>
            <a:off x="2606040" y="2487168"/>
            <a:ext cx="1874520" cy="713232"/>
          </a:xfrm>
          <a:prstGeom prst="roundRect">
            <a:avLst>
              <a:gd name="adj" fmla="val 6410"/>
            </a:avLst>
          </a:prstGeom>
          <a:solidFill>
            <a:srgbClr val="EEF4FB"/>
          </a:solidFill>
          <a:ln w="9525">
            <a:solidFill>
              <a:srgbClr val="C8D8EC"/>
            </a:solidFill>
            <a:prstDash val="solid"/>
          </a:ln>
        </p:spPr>
      </p:sp>
      <p:sp>
        <p:nvSpPr>
          <p:cNvPr id="37" name="Text 35"/>
          <p:cNvSpPr txBox="1"/>
          <p:nvPr/>
        </p:nvSpPr>
        <p:spPr>
          <a:xfrm>
            <a:off x="2697480" y="2487168"/>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Flash, formal P&amp;L, PLEX</a:t>
            </a:r>
            <a:endParaRPr lang="en-US" sz="1000" dirty="0"/>
          </a:p>
        </p:txBody>
      </p:sp>
      <p:sp>
        <p:nvSpPr>
          <p:cNvPr id="38" name="Shape 36"/>
          <p:cNvSpPr/>
          <p:nvPr/>
        </p:nvSpPr>
        <p:spPr>
          <a:xfrm>
            <a:off x="4526280" y="2487168"/>
            <a:ext cx="1874520" cy="713232"/>
          </a:xfrm>
          <a:prstGeom prst="roundRect">
            <a:avLst>
              <a:gd name="adj" fmla="val 6410"/>
            </a:avLst>
          </a:prstGeom>
          <a:solidFill>
            <a:srgbClr val="EEF4FB"/>
          </a:solidFill>
          <a:ln w="9525">
            <a:solidFill>
              <a:srgbClr val="C8D8EC"/>
            </a:solidFill>
            <a:prstDash val="solid"/>
          </a:ln>
        </p:spPr>
      </p:sp>
      <p:sp>
        <p:nvSpPr>
          <p:cNvPr id="39" name="Text 37"/>
          <p:cNvSpPr txBox="1"/>
          <p:nvPr/>
        </p:nvSpPr>
        <p:spPr>
          <a:xfrm>
            <a:off x="4617720" y="2487168"/>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Formal P&amp;L ready per desk</a:t>
            </a:r>
            <a:endParaRPr lang="en-US" sz="1000" dirty="0"/>
          </a:p>
        </p:txBody>
      </p:sp>
      <p:sp>
        <p:nvSpPr>
          <p:cNvPr id="40" name="Shape 38"/>
          <p:cNvSpPr/>
          <p:nvPr/>
        </p:nvSpPr>
        <p:spPr>
          <a:xfrm>
            <a:off x="6446520" y="2487168"/>
            <a:ext cx="1874520" cy="713232"/>
          </a:xfrm>
          <a:prstGeom prst="roundRect">
            <a:avLst>
              <a:gd name="adj" fmla="val 6410"/>
            </a:avLst>
          </a:prstGeom>
          <a:solidFill>
            <a:srgbClr val="EDF7F2"/>
          </a:solidFill>
          <a:ln w="9525">
            <a:solidFill>
              <a:srgbClr val="C8D8EC"/>
            </a:solidFill>
            <a:prstDash val="solid"/>
          </a:ln>
        </p:spPr>
      </p:sp>
      <p:sp>
        <p:nvSpPr>
          <p:cNvPr id="41" name="Text 39"/>
          <p:cNvSpPr txBox="1"/>
          <p:nvPr/>
        </p:nvSpPr>
        <p:spPr>
          <a:xfrm>
            <a:off x="6537960" y="2487168"/>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P&amp;L Agent session</a:t>
            </a:r>
            <a:endParaRPr lang="en-US" sz="1000" dirty="0"/>
          </a:p>
        </p:txBody>
      </p:sp>
      <p:sp>
        <p:nvSpPr>
          <p:cNvPr id="42" name="Shape 40"/>
          <p:cNvSpPr/>
          <p:nvPr/>
        </p:nvSpPr>
        <p:spPr>
          <a:xfrm>
            <a:off x="8366760" y="2487168"/>
            <a:ext cx="1874520" cy="713232"/>
          </a:xfrm>
          <a:prstGeom prst="roundRect">
            <a:avLst>
              <a:gd name="adj" fmla="val 6410"/>
            </a:avLst>
          </a:prstGeom>
          <a:solidFill>
            <a:srgbClr val="F3F1FB"/>
          </a:solidFill>
          <a:ln w="9525">
            <a:solidFill>
              <a:srgbClr val="C8D8EC"/>
            </a:solidFill>
            <a:prstDash val="solid"/>
          </a:ln>
        </p:spPr>
      </p:sp>
      <p:sp>
        <p:nvSpPr>
          <p:cNvPr id="43" name="Text 41"/>
          <p:cNvSpPr txBox="1"/>
          <p:nvPr/>
        </p:nvSpPr>
        <p:spPr>
          <a:xfrm>
            <a:off x="8458200" y="2487168"/>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Explain gaps, Hypo v Clean</a:t>
            </a:r>
            <a:endParaRPr lang="en-US" sz="1000" dirty="0"/>
          </a:p>
        </p:txBody>
      </p:sp>
      <p:sp>
        <p:nvSpPr>
          <p:cNvPr id="44" name="Shape 42"/>
          <p:cNvSpPr/>
          <p:nvPr/>
        </p:nvSpPr>
        <p:spPr>
          <a:xfrm>
            <a:off x="10287000" y="2487168"/>
            <a:ext cx="1874520" cy="713232"/>
          </a:xfrm>
          <a:prstGeom prst="roundRect">
            <a:avLst>
              <a:gd name="adj" fmla="val 6410"/>
            </a:avLst>
          </a:prstGeom>
          <a:solidFill>
            <a:srgbClr val="EEF4FB"/>
          </a:solidFill>
          <a:ln w="9525">
            <a:solidFill>
              <a:srgbClr val="C8D8EC"/>
            </a:solidFill>
            <a:prstDash val="solid"/>
          </a:ln>
        </p:spPr>
      </p:sp>
      <p:sp>
        <p:nvSpPr>
          <p:cNvPr id="45" name="Text 43"/>
          <p:cNvSpPr txBox="1"/>
          <p:nvPr/>
        </p:nvSpPr>
        <p:spPr>
          <a:xfrm>
            <a:off x="10378440" y="2487168"/>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Product Controller signs off</a:t>
            </a:r>
            <a:endParaRPr lang="en-US" sz="1000" dirty="0"/>
          </a:p>
        </p:txBody>
      </p:sp>
      <p:sp>
        <p:nvSpPr>
          <p:cNvPr id="46" name="Shape 44"/>
          <p:cNvSpPr/>
          <p:nvPr/>
        </p:nvSpPr>
        <p:spPr>
          <a:xfrm>
            <a:off x="12207240" y="2487168"/>
            <a:ext cx="1874520" cy="713232"/>
          </a:xfrm>
          <a:prstGeom prst="roundRect">
            <a:avLst>
              <a:gd name="adj" fmla="val 6410"/>
            </a:avLst>
          </a:prstGeom>
          <a:solidFill>
            <a:srgbClr val="FBEFEE"/>
          </a:solidFill>
          <a:ln w="9525">
            <a:solidFill>
              <a:srgbClr val="C8D8EC"/>
            </a:solidFill>
            <a:prstDash val="solid"/>
          </a:ln>
        </p:spPr>
      </p:sp>
      <p:sp>
        <p:nvSpPr>
          <p:cNvPr id="47" name="Text 45"/>
          <p:cNvSpPr txBox="1"/>
          <p:nvPr/>
        </p:nvSpPr>
        <p:spPr>
          <a:xfrm>
            <a:off x="12298680" y="2487168"/>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Approved reclass, commentary</a:t>
            </a:r>
            <a:endParaRPr lang="en-US" sz="1000" dirty="0"/>
          </a:p>
        </p:txBody>
      </p:sp>
      <p:sp>
        <p:nvSpPr>
          <p:cNvPr id="48" name="Shape 46"/>
          <p:cNvSpPr/>
          <p:nvPr/>
        </p:nvSpPr>
        <p:spPr>
          <a:xfrm>
            <a:off x="502920" y="3282696"/>
            <a:ext cx="2011680" cy="713232"/>
          </a:xfrm>
          <a:prstGeom prst="roundRect">
            <a:avLst>
              <a:gd name="adj" fmla="val 10256"/>
            </a:avLst>
          </a:prstGeom>
          <a:solidFill>
            <a:srgbClr val="FFFFFF"/>
          </a:solidFill>
          <a:ln w="9525">
            <a:solidFill>
              <a:srgbClr val="C8D8EC"/>
            </a:solidFill>
            <a:prstDash val="solid"/>
          </a:ln>
        </p:spPr>
      </p:sp>
      <p:sp>
        <p:nvSpPr>
          <p:cNvPr id="49" name="Text 47"/>
          <p:cNvSpPr txBox="1"/>
          <p:nvPr/>
        </p:nvSpPr>
        <p:spPr>
          <a:xfrm>
            <a:off x="640080" y="3282696"/>
            <a:ext cx="1828800" cy="713232"/>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3  Ledger Controls</a:t>
            </a:r>
            <a:endParaRPr lang="en-US" sz="1100" dirty="0"/>
          </a:p>
        </p:txBody>
      </p:sp>
      <p:sp>
        <p:nvSpPr>
          <p:cNvPr id="50" name="Shape 48"/>
          <p:cNvSpPr/>
          <p:nvPr/>
        </p:nvSpPr>
        <p:spPr>
          <a:xfrm>
            <a:off x="2606040" y="3282696"/>
            <a:ext cx="1874520" cy="713232"/>
          </a:xfrm>
          <a:prstGeom prst="roundRect">
            <a:avLst>
              <a:gd name="adj" fmla="val 6410"/>
            </a:avLst>
          </a:prstGeom>
          <a:solidFill>
            <a:srgbClr val="EEF4FB"/>
          </a:solidFill>
          <a:ln w="9525">
            <a:solidFill>
              <a:srgbClr val="C8D8EC"/>
            </a:solidFill>
            <a:prstDash val="solid"/>
          </a:ln>
        </p:spPr>
      </p:sp>
      <p:sp>
        <p:nvSpPr>
          <p:cNvPr id="51" name="Text 49"/>
          <p:cNvSpPr txBox="1"/>
          <p:nvPr/>
        </p:nvSpPr>
        <p:spPr>
          <a:xfrm>
            <a:off x="2697480" y="3282696"/>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Exception Hub, S/L, G/L, C/L</a:t>
            </a:r>
            <a:endParaRPr lang="en-US" sz="1000" dirty="0"/>
          </a:p>
        </p:txBody>
      </p:sp>
      <p:sp>
        <p:nvSpPr>
          <p:cNvPr id="52" name="Shape 50"/>
          <p:cNvSpPr/>
          <p:nvPr/>
        </p:nvSpPr>
        <p:spPr>
          <a:xfrm>
            <a:off x="4526280" y="3282696"/>
            <a:ext cx="1874520" cy="713232"/>
          </a:xfrm>
          <a:prstGeom prst="roundRect">
            <a:avLst>
              <a:gd name="adj" fmla="val 6410"/>
            </a:avLst>
          </a:prstGeom>
          <a:solidFill>
            <a:srgbClr val="EEF4FB"/>
          </a:solidFill>
          <a:ln w="9525">
            <a:solidFill>
              <a:srgbClr val="C8D8EC"/>
            </a:solidFill>
            <a:prstDash val="solid"/>
          </a:ln>
        </p:spPr>
      </p:sp>
      <p:sp>
        <p:nvSpPr>
          <p:cNvPr id="53" name="Text 51"/>
          <p:cNvSpPr txBox="1"/>
          <p:nvPr/>
        </p:nvSpPr>
        <p:spPr>
          <a:xfrm>
            <a:off x="4617720" y="3282696"/>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Control run complete</a:t>
            </a:r>
            <a:endParaRPr lang="en-US" sz="1000" dirty="0"/>
          </a:p>
        </p:txBody>
      </p:sp>
      <p:sp>
        <p:nvSpPr>
          <p:cNvPr id="54" name="Shape 52"/>
          <p:cNvSpPr/>
          <p:nvPr/>
        </p:nvSpPr>
        <p:spPr>
          <a:xfrm>
            <a:off x="6446520" y="3282696"/>
            <a:ext cx="1874520" cy="713232"/>
          </a:xfrm>
          <a:prstGeom prst="roundRect">
            <a:avLst>
              <a:gd name="adj" fmla="val 6410"/>
            </a:avLst>
          </a:prstGeom>
          <a:solidFill>
            <a:srgbClr val="EDF7F2"/>
          </a:solidFill>
          <a:ln w="9525">
            <a:solidFill>
              <a:srgbClr val="C8D8EC"/>
            </a:solidFill>
            <a:prstDash val="solid"/>
          </a:ln>
        </p:spPr>
      </p:sp>
      <p:sp>
        <p:nvSpPr>
          <p:cNvPr id="55" name="Text 53"/>
          <p:cNvSpPr txBox="1"/>
          <p:nvPr/>
        </p:nvSpPr>
        <p:spPr>
          <a:xfrm>
            <a:off x="6537960" y="3282696"/>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Controls Agent session</a:t>
            </a:r>
            <a:endParaRPr lang="en-US" sz="1000" dirty="0"/>
          </a:p>
        </p:txBody>
      </p:sp>
      <p:sp>
        <p:nvSpPr>
          <p:cNvPr id="56" name="Shape 54"/>
          <p:cNvSpPr/>
          <p:nvPr/>
        </p:nvSpPr>
        <p:spPr>
          <a:xfrm>
            <a:off x="8366760" y="3282696"/>
            <a:ext cx="1874520" cy="713232"/>
          </a:xfrm>
          <a:prstGeom prst="roundRect">
            <a:avLst>
              <a:gd name="adj" fmla="val 6410"/>
            </a:avLst>
          </a:prstGeom>
          <a:solidFill>
            <a:srgbClr val="F3F1FB"/>
          </a:solidFill>
          <a:ln w="9525">
            <a:solidFill>
              <a:srgbClr val="C8D8EC"/>
            </a:solidFill>
            <a:prstDash val="solid"/>
          </a:ln>
        </p:spPr>
      </p:sp>
      <p:sp>
        <p:nvSpPr>
          <p:cNvPr id="57" name="Text 55"/>
          <p:cNvSpPr txBox="1"/>
          <p:nvPr/>
        </p:nvSpPr>
        <p:spPr>
          <a:xfrm>
            <a:off x="8458200" y="3282696"/>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Root cause, ageing risk, fix</a:t>
            </a:r>
            <a:endParaRPr lang="en-US" sz="1000" dirty="0"/>
          </a:p>
        </p:txBody>
      </p:sp>
      <p:sp>
        <p:nvSpPr>
          <p:cNvPr id="58" name="Shape 56"/>
          <p:cNvSpPr/>
          <p:nvPr/>
        </p:nvSpPr>
        <p:spPr>
          <a:xfrm>
            <a:off x="10287000" y="3282696"/>
            <a:ext cx="1874520" cy="713232"/>
          </a:xfrm>
          <a:prstGeom prst="roundRect">
            <a:avLst>
              <a:gd name="adj" fmla="val 6410"/>
            </a:avLst>
          </a:prstGeom>
          <a:solidFill>
            <a:srgbClr val="EEF4FB"/>
          </a:solidFill>
          <a:ln w="9525">
            <a:solidFill>
              <a:srgbClr val="C8D8EC"/>
            </a:solidFill>
            <a:prstDash val="solid"/>
          </a:ln>
        </p:spPr>
      </p:sp>
      <p:sp>
        <p:nvSpPr>
          <p:cNvPr id="59" name="Text 57"/>
          <p:cNvSpPr txBox="1"/>
          <p:nvPr/>
        </p:nvSpPr>
        <p:spPr>
          <a:xfrm>
            <a:off x="10378440" y="3282696"/>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Owner approves</a:t>
            </a:r>
            <a:endParaRPr lang="en-US" sz="1000" dirty="0"/>
          </a:p>
        </p:txBody>
      </p:sp>
      <p:sp>
        <p:nvSpPr>
          <p:cNvPr id="60" name="Shape 58"/>
          <p:cNvSpPr/>
          <p:nvPr/>
        </p:nvSpPr>
        <p:spPr>
          <a:xfrm>
            <a:off x="12207240" y="3282696"/>
            <a:ext cx="1874520" cy="713232"/>
          </a:xfrm>
          <a:prstGeom prst="roundRect">
            <a:avLst>
              <a:gd name="adj" fmla="val 6410"/>
            </a:avLst>
          </a:prstGeom>
          <a:solidFill>
            <a:srgbClr val="FBEFEE"/>
          </a:solidFill>
          <a:ln w="9525">
            <a:solidFill>
              <a:srgbClr val="C8D8EC"/>
            </a:solidFill>
            <a:prstDash val="solid"/>
          </a:ln>
        </p:spPr>
      </p:sp>
      <p:sp>
        <p:nvSpPr>
          <p:cNvPr id="61" name="Text 59"/>
          <p:cNvSpPr txBox="1"/>
          <p:nvPr/>
        </p:nvSpPr>
        <p:spPr>
          <a:xfrm>
            <a:off x="12298680" y="3282696"/>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Adjustment instruction</a:t>
            </a:r>
            <a:endParaRPr lang="en-US" sz="1000" dirty="0"/>
          </a:p>
        </p:txBody>
      </p:sp>
      <p:sp>
        <p:nvSpPr>
          <p:cNvPr id="62" name="Shape 60"/>
          <p:cNvSpPr/>
          <p:nvPr/>
        </p:nvSpPr>
        <p:spPr>
          <a:xfrm>
            <a:off x="502920" y="4078224"/>
            <a:ext cx="2011680" cy="713232"/>
          </a:xfrm>
          <a:prstGeom prst="roundRect">
            <a:avLst>
              <a:gd name="adj" fmla="val 10256"/>
            </a:avLst>
          </a:prstGeom>
          <a:solidFill>
            <a:srgbClr val="FFFFFF"/>
          </a:solidFill>
          <a:ln w="9525">
            <a:solidFill>
              <a:srgbClr val="C8D8EC"/>
            </a:solidFill>
            <a:prstDash val="solid"/>
          </a:ln>
        </p:spPr>
      </p:sp>
      <p:sp>
        <p:nvSpPr>
          <p:cNvPr id="63" name="Text 61"/>
          <p:cNvSpPr txBox="1"/>
          <p:nvPr/>
        </p:nvSpPr>
        <p:spPr>
          <a:xfrm>
            <a:off x="640080" y="4078224"/>
            <a:ext cx="1828800" cy="713232"/>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4  Analysis &amp; Commentary</a:t>
            </a:r>
            <a:endParaRPr lang="en-US" sz="1100" dirty="0"/>
          </a:p>
        </p:txBody>
      </p:sp>
      <p:sp>
        <p:nvSpPr>
          <p:cNvPr id="64" name="Shape 62"/>
          <p:cNvSpPr/>
          <p:nvPr/>
        </p:nvSpPr>
        <p:spPr>
          <a:xfrm>
            <a:off x="2606040" y="4078224"/>
            <a:ext cx="1874520" cy="713232"/>
          </a:xfrm>
          <a:prstGeom prst="roundRect">
            <a:avLst>
              <a:gd name="adj" fmla="val 6410"/>
            </a:avLst>
          </a:prstGeom>
          <a:solidFill>
            <a:srgbClr val="EEF4FB"/>
          </a:solidFill>
          <a:ln w="9525">
            <a:solidFill>
              <a:srgbClr val="C8D8EC"/>
            </a:solidFill>
            <a:prstDash val="solid"/>
          </a:ln>
        </p:spPr>
      </p:sp>
      <p:sp>
        <p:nvSpPr>
          <p:cNvPr id="65" name="Text 63"/>
          <p:cNvSpPr txBox="1"/>
          <p:nvPr/>
        </p:nvSpPr>
        <p:spPr>
          <a:xfrm>
            <a:off x="2697480" y="4078224"/>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ETB, balances, cost</a:t>
            </a:r>
            <a:endParaRPr lang="en-US" sz="1000" dirty="0"/>
          </a:p>
        </p:txBody>
      </p:sp>
      <p:sp>
        <p:nvSpPr>
          <p:cNvPr id="66" name="Shape 64"/>
          <p:cNvSpPr/>
          <p:nvPr/>
        </p:nvSpPr>
        <p:spPr>
          <a:xfrm>
            <a:off x="4526280" y="4078224"/>
            <a:ext cx="1874520" cy="713232"/>
          </a:xfrm>
          <a:prstGeom prst="roundRect">
            <a:avLst>
              <a:gd name="adj" fmla="val 6410"/>
            </a:avLst>
          </a:prstGeom>
          <a:solidFill>
            <a:srgbClr val="EEF4FB"/>
          </a:solidFill>
          <a:ln w="9525">
            <a:solidFill>
              <a:srgbClr val="C8D8EC"/>
            </a:solidFill>
            <a:prstDash val="solid"/>
          </a:ln>
        </p:spPr>
      </p:sp>
      <p:sp>
        <p:nvSpPr>
          <p:cNvPr id="67" name="Text 65"/>
          <p:cNvSpPr txBox="1"/>
          <p:nvPr/>
        </p:nvSpPr>
        <p:spPr>
          <a:xfrm>
            <a:off x="4617720" y="4078224"/>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TB published per entity</a:t>
            </a:r>
            <a:endParaRPr lang="en-US" sz="1000" dirty="0"/>
          </a:p>
        </p:txBody>
      </p:sp>
      <p:sp>
        <p:nvSpPr>
          <p:cNvPr id="68" name="Shape 66"/>
          <p:cNvSpPr/>
          <p:nvPr/>
        </p:nvSpPr>
        <p:spPr>
          <a:xfrm>
            <a:off x="6446520" y="4078224"/>
            <a:ext cx="1874520" cy="713232"/>
          </a:xfrm>
          <a:prstGeom prst="roundRect">
            <a:avLst>
              <a:gd name="adj" fmla="val 6410"/>
            </a:avLst>
          </a:prstGeom>
          <a:solidFill>
            <a:srgbClr val="EDF7F2"/>
          </a:solidFill>
          <a:ln w="9525">
            <a:solidFill>
              <a:srgbClr val="C8D8EC"/>
            </a:solidFill>
            <a:prstDash val="solid"/>
          </a:ln>
        </p:spPr>
      </p:sp>
      <p:sp>
        <p:nvSpPr>
          <p:cNvPr id="69" name="Text 67"/>
          <p:cNvSpPr txBox="1"/>
          <p:nvPr/>
        </p:nvSpPr>
        <p:spPr>
          <a:xfrm>
            <a:off x="6537960" y="4078224"/>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Analysis Agent session</a:t>
            </a:r>
            <a:endParaRPr lang="en-US" sz="1000" dirty="0"/>
          </a:p>
        </p:txBody>
      </p:sp>
      <p:sp>
        <p:nvSpPr>
          <p:cNvPr id="70" name="Shape 68"/>
          <p:cNvSpPr/>
          <p:nvPr/>
        </p:nvSpPr>
        <p:spPr>
          <a:xfrm>
            <a:off x="8366760" y="4078224"/>
            <a:ext cx="1874520" cy="713232"/>
          </a:xfrm>
          <a:prstGeom prst="roundRect">
            <a:avLst>
              <a:gd name="adj" fmla="val 6410"/>
            </a:avLst>
          </a:prstGeom>
          <a:solidFill>
            <a:srgbClr val="F3F1FB"/>
          </a:solidFill>
          <a:ln w="9525">
            <a:solidFill>
              <a:srgbClr val="C8D8EC"/>
            </a:solidFill>
            <a:prstDash val="solid"/>
          </a:ln>
        </p:spPr>
      </p:sp>
      <p:sp>
        <p:nvSpPr>
          <p:cNvPr id="71" name="Text 69"/>
          <p:cNvSpPr txBox="1"/>
          <p:nvPr/>
        </p:nvSpPr>
        <p:spPr>
          <a:xfrm>
            <a:off x="8458200" y="4078224"/>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Explain MOT and variance</a:t>
            </a:r>
            <a:endParaRPr lang="en-US" sz="1000" dirty="0"/>
          </a:p>
        </p:txBody>
      </p:sp>
      <p:sp>
        <p:nvSpPr>
          <p:cNvPr id="72" name="Shape 70"/>
          <p:cNvSpPr/>
          <p:nvPr/>
        </p:nvSpPr>
        <p:spPr>
          <a:xfrm>
            <a:off x="10287000" y="4078224"/>
            <a:ext cx="1874520" cy="713232"/>
          </a:xfrm>
          <a:prstGeom prst="roundRect">
            <a:avLst>
              <a:gd name="adj" fmla="val 6410"/>
            </a:avLst>
          </a:prstGeom>
          <a:solidFill>
            <a:srgbClr val="EEF4FB"/>
          </a:solidFill>
          <a:ln w="9525">
            <a:solidFill>
              <a:srgbClr val="C8D8EC"/>
            </a:solidFill>
            <a:prstDash val="solid"/>
          </a:ln>
        </p:spPr>
      </p:sp>
      <p:sp>
        <p:nvSpPr>
          <p:cNvPr id="73" name="Text 71"/>
          <p:cNvSpPr txBox="1"/>
          <p:nvPr/>
        </p:nvSpPr>
        <p:spPr>
          <a:xfrm>
            <a:off x="10378440" y="4078224"/>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Controller approves</a:t>
            </a:r>
            <a:endParaRPr lang="en-US" sz="1000" dirty="0"/>
          </a:p>
        </p:txBody>
      </p:sp>
      <p:sp>
        <p:nvSpPr>
          <p:cNvPr id="74" name="Shape 72"/>
          <p:cNvSpPr/>
          <p:nvPr/>
        </p:nvSpPr>
        <p:spPr>
          <a:xfrm>
            <a:off x="12207240" y="4078224"/>
            <a:ext cx="1874520" cy="713232"/>
          </a:xfrm>
          <a:prstGeom prst="roundRect">
            <a:avLst>
              <a:gd name="adj" fmla="val 6410"/>
            </a:avLst>
          </a:prstGeom>
          <a:solidFill>
            <a:srgbClr val="FBEFEE"/>
          </a:solidFill>
          <a:ln w="9525">
            <a:solidFill>
              <a:srgbClr val="C8D8EC"/>
            </a:solidFill>
            <a:prstDash val="solid"/>
          </a:ln>
        </p:spPr>
      </p:sp>
      <p:sp>
        <p:nvSpPr>
          <p:cNvPr id="75" name="Text 73"/>
          <p:cNvSpPr txBox="1"/>
          <p:nvPr/>
        </p:nvSpPr>
        <p:spPr>
          <a:xfrm>
            <a:off x="12298680" y="4078224"/>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Commentary published</a:t>
            </a:r>
            <a:endParaRPr lang="en-US" sz="1000" dirty="0"/>
          </a:p>
        </p:txBody>
      </p:sp>
      <p:sp>
        <p:nvSpPr>
          <p:cNvPr id="76" name="Shape 74"/>
          <p:cNvSpPr/>
          <p:nvPr/>
        </p:nvSpPr>
        <p:spPr>
          <a:xfrm>
            <a:off x="502920" y="4873752"/>
            <a:ext cx="2011680" cy="713232"/>
          </a:xfrm>
          <a:prstGeom prst="roundRect">
            <a:avLst>
              <a:gd name="adj" fmla="val 10256"/>
            </a:avLst>
          </a:prstGeom>
          <a:solidFill>
            <a:srgbClr val="FFFFFF"/>
          </a:solidFill>
          <a:ln w="9525">
            <a:solidFill>
              <a:srgbClr val="C8D8EC"/>
            </a:solidFill>
            <a:prstDash val="solid"/>
          </a:ln>
        </p:spPr>
      </p:sp>
      <p:sp>
        <p:nvSpPr>
          <p:cNvPr id="77" name="Text 75"/>
          <p:cNvSpPr txBox="1"/>
          <p:nvPr/>
        </p:nvSpPr>
        <p:spPr>
          <a:xfrm>
            <a:off x="640080" y="4873752"/>
            <a:ext cx="1828800" cy="713232"/>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5  Close Sign-off</a:t>
            </a:r>
            <a:endParaRPr lang="en-US" sz="1100" dirty="0"/>
          </a:p>
        </p:txBody>
      </p:sp>
      <p:sp>
        <p:nvSpPr>
          <p:cNvPr id="78" name="Shape 76"/>
          <p:cNvSpPr/>
          <p:nvPr/>
        </p:nvSpPr>
        <p:spPr>
          <a:xfrm>
            <a:off x="2606040" y="4873752"/>
            <a:ext cx="1874520" cy="713232"/>
          </a:xfrm>
          <a:prstGeom prst="roundRect">
            <a:avLst>
              <a:gd name="adj" fmla="val 6410"/>
            </a:avLst>
          </a:prstGeom>
          <a:solidFill>
            <a:srgbClr val="EEF4FB"/>
          </a:solidFill>
          <a:ln w="9525">
            <a:solidFill>
              <a:srgbClr val="C8D8EC"/>
            </a:solidFill>
            <a:prstDash val="solid"/>
          </a:ln>
        </p:spPr>
      </p:sp>
      <p:sp>
        <p:nvSpPr>
          <p:cNvPr id="79" name="Text 77"/>
          <p:cNvSpPr txBox="1"/>
          <p:nvPr/>
        </p:nvSpPr>
        <p:spPr>
          <a:xfrm>
            <a:off x="2697480" y="4873752"/>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Rec, control, TB results</a:t>
            </a:r>
            <a:endParaRPr lang="en-US" sz="1000" dirty="0"/>
          </a:p>
        </p:txBody>
      </p:sp>
      <p:sp>
        <p:nvSpPr>
          <p:cNvPr id="80" name="Shape 78"/>
          <p:cNvSpPr/>
          <p:nvPr/>
        </p:nvSpPr>
        <p:spPr>
          <a:xfrm>
            <a:off x="4526280" y="4873752"/>
            <a:ext cx="1874520" cy="713232"/>
          </a:xfrm>
          <a:prstGeom prst="roundRect">
            <a:avLst>
              <a:gd name="adj" fmla="val 6410"/>
            </a:avLst>
          </a:prstGeom>
          <a:solidFill>
            <a:srgbClr val="EEF4FB"/>
          </a:solidFill>
          <a:ln w="9525">
            <a:solidFill>
              <a:srgbClr val="C8D8EC"/>
            </a:solidFill>
            <a:prstDash val="solid"/>
          </a:ln>
        </p:spPr>
      </p:sp>
      <p:sp>
        <p:nvSpPr>
          <p:cNvPr id="81" name="Text 79"/>
          <p:cNvSpPr txBox="1"/>
          <p:nvPr/>
        </p:nvSpPr>
        <p:spPr>
          <a:xfrm>
            <a:off x="4617720" y="4873752"/>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Milestone readiness</a:t>
            </a:r>
            <a:endParaRPr lang="en-US" sz="1000" dirty="0"/>
          </a:p>
        </p:txBody>
      </p:sp>
      <p:sp>
        <p:nvSpPr>
          <p:cNvPr id="82" name="Shape 80"/>
          <p:cNvSpPr/>
          <p:nvPr/>
        </p:nvSpPr>
        <p:spPr>
          <a:xfrm>
            <a:off x="6446520" y="4873752"/>
            <a:ext cx="1874520" cy="713232"/>
          </a:xfrm>
          <a:prstGeom prst="roundRect">
            <a:avLst>
              <a:gd name="adj" fmla="val 6410"/>
            </a:avLst>
          </a:prstGeom>
          <a:solidFill>
            <a:srgbClr val="EDF7F2"/>
          </a:solidFill>
          <a:ln w="9525">
            <a:solidFill>
              <a:srgbClr val="C8D8EC"/>
            </a:solidFill>
            <a:prstDash val="solid"/>
          </a:ln>
        </p:spPr>
      </p:sp>
      <p:sp>
        <p:nvSpPr>
          <p:cNvPr id="83" name="Text 81"/>
          <p:cNvSpPr txBox="1"/>
          <p:nvPr/>
        </p:nvSpPr>
        <p:spPr>
          <a:xfrm>
            <a:off x="6537960" y="4873752"/>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Close Agent builds pack</a:t>
            </a:r>
            <a:endParaRPr lang="en-US" sz="1000" dirty="0"/>
          </a:p>
        </p:txBody>
      </p:sp>
      <p:sp>
        <p:nvSpPr>
          <p:cNvPr id="84" name="Shape 82"/>
          <p:cNvSpPr/>
          <p:nvPr/>
        </p:nvSpPr>
        <p:spPr>
          <a:xfrm>
            <a:off x="8366760" y="4873752"/>
            <a:ext cx="1874520" cy="713232"/>
          </a:xfrm>
          <a:prstGeom prst="roundRect">
            <a:avLst>
              <a:gd name="adj" fmla="val 6410"/>
            </a:avLst>
          </a:prstGeom>
          <a:solidFill>
            <a:srgbClr val="F3F1FB"/>
          </a:solidFill>
          <a:ln w="9525">
            <a:solidFill>
              <a:srgbClr val="C8D8EC"/>
            </a:solidFill>
            <a:prstDash val="solid"/>
          </a:ln>
        </p:spPr>
      </p:sp>
      <p:sp>
        <p:nvSpPr>
          <p:cNvPr id="85" name="Text 83"/>
          <p:cNvSpPr txBox="1"/>
          <p:nvPr/>
        </p:nvSpPr>
        <p:spPr>
          <a:xfrm>
            <a:off x="8458200" y="4873752"/>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Open items, evidence, risk</a:t>
            </a:r>
            <a:endParaRPr lang="en-US" sz="1000" dirty="0"/>
          </a:p>
        </p:txBody>
      </p:sp>
      <p:sp>
        <p:nvSpPr>
          <p:cNvPr id="86" name="Shape 84"/>
          <p:cNvSpPr/>
          <p:nvPr/>
        </p:nvSpPr>
        <p:spPr>
          <a:xfrm>
            <a:off x="10287000" y="4873752"/>
            <a:ext cx="1874520" cy="713232"/>
          </a:xfrm>
          <a:prstGeom prst="roundRect">
            <a:avLst>
              <a:gd name="adj" fmla="val 6410"/>
            </a:avLst>
          </a:prstGeom>
          <a:solidFill>
            <a:srgbClr val="EEF4FB"/>
          </a:solidFill>
          <a:ln w="9525">
            <a:solidFill>
              <a:srgbClr val="C8D8EC"/>
            </a:solidFill>
            <a:prstDash val="solid"/>
          </a:ln>
        </p:spPr>
      </p:sp>
      <p:sp>
        <p:nvSpPr>
          <p:cNvPr id="87" name="Text 85"/>
          <p:cNvSpPr txBox="1"/>
          <p:nvPr/>
        </p:nvSpPr>
        <p:spPr>
          <a:xfrm>
            <a:off x="10378440" y="4873752"/>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Signatory signs off</a:t>
            </a:r>
            <a:endParaRPr lang="en-US" sz="1000" dirty="0"/>
          </a:p>
        </p:txBody>
      </p:sp>
      <p:sp>
        <p:nvSpPr>
          <p:cNvPr id="88" name="Shape 86"/>
          <p:cNvSpPr/>
          <p:nvPr/>
        </p:nvSpPr>
        <p:spPr>
          <a:xfrm>
            <a:off x="12207240" y="4873752"/>
            <a:ext cx="1874520" cy="713232"/>
          </a:xfrm>
          <a:prstGeom prst="roundRect">
            <a:avLst>
              <a:gd name="adj" fmla="val 6410"/>
            </a:avLst>
          </a:prstGeom>
          <a:solidFill>
            <a:srgbClr val="FBEFEE"/>
          </a:solidFill>
          <a:ln w="9525">
            <a:solidFill>
              <a:srgbClr val="C8D8EC"/>
            </a:solidFill>
            <a:prstDash val="solid"/>
          </a:ln>
        </p:spPr>
      </p:sp>
      <p:sp>
        <p:nvSpPr>
          <p:cNvPr id="89" name="Text 87"/>
          <p:cNvSpPr txBox="1"/>
          <p:nvPr/>
        </p:nvSpPr>
        <p:spPr>
          <a:xfrm>
            <a:off x="12298680" y="4873752"/>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Sign-off record</a:t>
            </a:r>
            <a:endParaRPr lang="en-US" sz="1000" dirty="0"/>
          </a:p>
        </p:txBody>
      </p:sp>
      <p:sp>
        <p:nvSpPr>
          <p:cNvPr id="90" name="Shape 88"/>
          <p:cNvSpPr/>
          <p:nvPr/>
        </p:nvSpPr>
        <p:spPr>
          <a:xfrm>
            <a:off x="502920" y="5669280"/>
            <a:ext cx="2011680" cy="713232"/>
          </a:xfrm>
          <a:prstGeom prst="roundRect">
            <a:avLst>
              <a:gd name="adj" fmla="val 10256"/>
            </a:avLst>
          </a:prstGeom>
          <a:solidFill>
            <a:srgbClr val="FFFFFF"/>
          </a:solidFill>
          <a:ln w="9525">
            <a:solidFill>
              <a:srgbClr val="C8D8EC"/>
            </a:solidFill>
            <a:prstDash val="solid"/>
          </a:ln>
        </p:spPr>
      </p:sp>
      <p:sp>
        <p:nvSpPr>
          <p:cNvPr id="91" name="Text 89"/>
          <p:cNvSpPr txBox="1"/>
          <p:nvPr/>
        </p:nvSpPr>
        <p:spPr>
          <a:xfrm>
            <a:off x="640080" y="5669280"/>
            <a:ext cx="1828800" cy="713232"/>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6  Report Validation</a:t>
            </a:r>
            <a:endParaRPr lang="en-US" sz="1100" dirty="0"/>
          </a:p>
        </p:txBody>
      </p:sp>
      <p:sp>
        <p:nvSpPr>
          <p:cNvPr id="92" name="Shape 90"/>
          <p:cNvSpPr/>
          <p:nvPr/>
        </p:nvSpPr>
        <p:spPr>
          <a:xfrm>
            <a:off x="2606040" y="5669280"/>
            <a:ext cx="1874520" cy="713232"/>
          </a:xfrm>
          <a:prstGeom prst="roundRect">
            <a:avLst>
              <a:gd name="adj" fmla="val 6410"/>
            </a:avLst>
          </a:prstGeom>
          <a:solidFill>
            <a:srgbClr val="EEF4FB"/>
          </a:solidFill>
          <a:ln w="9525">
            <a:solidFill>
              <a:srgbClr val="C8D8EC"/>
            </a:solidFill>
            <a:prstDash val="solid"/>
          </a:ln>
        </p:spPr>
      </p:sp>
      <p:sp>
        <p:nvSpPr>
          <p:cNvPr id="93" name="Text 91"/>
          <p:cNvSpPr txBox="1"/>
          <p:nvPr/>
        </p:nvSpPr>
        <p:spPr>
          <a:xfrm>
            <a:off x="2697480" y="5669280"/>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Generated reports</a:t>
            </a:r>
            <a:endParaRPr lang="en-US" sz="1000" dirty="0"/>
          </a:p>
        </p:txBody>
      </p:sp>
      <p:sp>
        <p:nvSpPr>
          <p:cNvPr id="94" name="Shape 92"/>
          <p:cNvSpPr/>
          <p:nvPr/>
        </p:nvSpPr>
        <p:spPr>
          <a:xfrm>
            <a:off x="4526280" y="5669280"/>
            <a:ext cx="1874520" cy="713232"/>
          </a:xfrm>
          <a:prstGeom prst="roundRect">
            <a:avLst>
              <a:gd name="adj" fmla="val 6410"/>
            </a:avLst>
          </a:prstGeom>
          <a:solidFill>
            <a:srgbClr val="EEF4FB"/>
          </a:solidFill>
          <a:ln w="9525">
            <a:solidFill>
              <a:srgbClr val="C8D8EC"/>
            </a:solidFill>
            <a:prstDash val="solid"/>
          </a:ln>
        </p:spPr>
      </p:sp>
      <p:sp>
        <p:nvSpPr>
          <p:cNvPr id="95" name="Text 93"/>
          <p:cNvSpPr txBox="1"/>
          <p:nvPr/>
        </p:nvSpPr>
        <p:spPr>
          <a:xfrm>
            <a:off x="4617720" y="5669280"/>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Report run complete</a:t>
            </a:r>
            <a:endParaRPr lang="en-US" sz="1000" dirty="0"/>
          </a:p>
        </p:txBody>
      </p:sp>
      <p:sp>
        <p:nvSpPr>
          <p:cNvPr id="96" name="Shape 94"/>
          <p:cNvSpPr/>
          <p:nvPr/>
        </p:nvSpPr>
        <p:spPr>
          <a:xfrm>
            <a:off x="6446520" y="5669280"/>
            <a:ext cx="1874520" cy="713232"/>
          </a:xfrm>
          <a:prstGeom prst="roundRect">
            <a:avLst>
              <a:gd name="adj" fmla="val 6410"/>
            </a:avLst>
          </a:prstGeom>
          <a:solidFill>
            <a:srgbClr val="EDF7F2"/>
          </a:solidFill>
          <a:ln w="9525">
            <a:solidFill>
              <a:srgbClr val="C8D8EC"/>
            </a:solidFill>
            <a:prstDash val="solid"/>
          </a:ln>
        </p:spPr>
      </p:sp>
      <p:sp>
        <p:nvSpPr>
          <p:cNvPr id="97" name="Text 95"/>
          <p:cNvSpPr txBox="1"/>
          <p:nvPr/>
        </p:nvSpPr>
        <p:spPr>
          <a:xfrm>
            <a:off x="6537960" y="5669280"/>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Validation Agent session</a:t>
            </a:r>
            <a:endParaRPr lang="en-US" sz="1000" dirty="0"/>
          </a:p>
        </p:txBody>
      </p:sp>
      <p:sp>
        <p:nvSpPr>
          <p:cNvPr id="98" name="Shape 96"/>
          <p:cNvSpPr/>
          <p:nvPr/>
        </p:nvSpPr>
        <p:spPr>
          <a:xfrm>
            <a:off x="8366760" y="5669280"/>
            <a:ext cx="1874520" cy="713232"/>
          </a:xfrm>
          <a:prstGeom prst="roundRect">
            <a:avLst>
              <a:gd name="adj" fmla="val 6410"/>
            </a:avLst>
          </a:prstGeom>
          <a:solidFill>
            <a:srgbClr val="F3F1FB"/>
          </a:solidFill>
          <a:ln w="9525">
            <a:solidFill>
              <a:srgbClr val="C8D8EC"/>
            </a:solidFill>
            <a:prstDash val="solid"/>
          </a:ln>
        </p:spPr>
      </p:sp>
      <p:sp>
        <p:nvSpPr>
          <p:cNvPr id="99" name="Text 97"/>
          <p:cNvSpPr txBox="1"/>
          <p:nvPr/>
        </p:nvSpPr>
        <p:spPr>
          <a:xfrm>
            <a:off x="8458200" y="5669280"/>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Tie-out, anomalies, explain</a:t>
            </a:r>
            <a:endParaRPr lang="en-US" sz="1000" dirty="0"/>
          </a:p>
        </p:txBody>
      </p:sp>
      <p:sp>
        <p:nvSpPr>
          <p:cNvPr id="100" name="Shape 98"/>
          <p:cNvSpPr/>
          <p:nvPr/>
        </p:nvSpPr>
        <p:spPr>
          <a:xfrm>
            <a:off x="10287000" y="5669280"/>
            <a:ext cx="1874520" cy="713232"/>
          </a:xfrm>
          <a:prstGeom prst="roundRect">
            <a:avLst>
              <a:gd name="adj" fmla="val 6410"/>
            </a:avLst>
          </a:prstGeom>
          <a:solidFill>
            <a:srgbClr val="EEF4FB"/>
          </a:solidFill>
          <a:ln w="9525">
            <a:solidFill>
              <a:srgbClr val="C8D8EC"/>
            </a:solidFill>
            <a:prstDash val="solid"/>
          </a:ln>
        </p:spPr>
      </p:sp>
      <p:sp>
        <p:nvSpPr>
          <p:cNvPr id="101" name="Text 99"/>
          <p:cNvSpPr txBox="1"/>
          <p:nvPr/>
        </p:nvSpPr>
        <p:spPr>
          <a:xfrm>
            <a:off x="10378440" y="5669280"/>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Report Owner releases</a:t>
            </a:r>
            <a:endParaRPr lang="en-US" sz="1000" dirty="0"/>
          </a:p>
        </p:txBody>
      </p:sp>
      <p:sp>
        <p:nvSpPr>
          <p:cNvPr id="102" name="Shape 100"/>
          <p:cNvSpPr/>
          <p:nvPr/>
        </p:nvSpPr>
        <p:spPr>
          <a:xfrm>
            <a:off x="12207240" y="5669280"/>
            <a:ext cx="1874520" cy="713232"/>
          </a:xfrm>
          <a:prstGeom prst="roundRect">
            <a:avLst>
              <a:gd name="adj" fmla="val 6410"/>
            </a:avLst>
          </a:prstGeom>
          <a:solidFill>
            <a:srgbClr val="FBEFEE"/>
          </a:solidFill>
          <a:ln w="9525">
            <a:solidFill>
              <a:srgbClr val="C8D8EC"/>
            </a:solidFill>
            <a:prstDash val="solid"/>
          </a:ln>
        </p:spPr>
      </p:sp>
      <p:sp>
        <p:nvSpPr>
          <p:cNvPr id="103" name="Text 101"/>
          <p:cNvSpPr txBox="1"/>
          <p:nvPr/>
        </p:nvSpPr>
        <p:spPr>
          <a:xfrm>
            <a:off x="12298680" y="5669280"/>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Report publication</a:t>
            </a:r>
            <a:endParaRPr lang="en-US" sz="1000" dirty="0"/>
          </a:p>
        </p:txBody>
      </p:sp>
      <p:sp>
        <p:nvSpPr>
          <p:cNvPr id="104" name="Shape 102"/>
          <p:cNvSpPr/>
          <p:nvPr/>
        </p:nvSpPr>
        <p:spPr>
          <a:xfrm>
            <a:off x="502920" y="6464808"/>
            <a:ext cx="2011680" cy="713232"/>
          </a:xfrm>
          <a:prstGeom prst="roundRect">
            <a:avLst>
              <a:gd name="adj" fmla="val 10256"/>
            </a:avLst>
          </a:prstGeom>
          <a:solidFill>
            <a:srgbClr val="FFFFFF"/>
          </a:solidFill>
          <a:ln w="9525">
            <a:solidFill>
              <a:srgbClr val="C8D8EC"/>
            </a:solidFill>
            <a:prstDash val="solid"/>
          </a:ln>
        </p:spPr>
      </p:sp>
      <p:sp>
        <p:nvSpPr>
          <p:cNvPr id="105" name="Text 103"/>
          <p:cNvSpPr txBox="1"/>
          <p:nvPr/>
        </p:nvSpPr>
        <p:spPr>
          <a:xfrm>
            <a:off x="640080" y="6464808"/>
            <a:ext cx="1828800" cy="713232"/>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7  Ref Data Corrections</a:t>
            </a:r>
            <a:endParaRPr lang="en-US" sz="1100" dirty="0"/>
          </a:p>
        </p:txBody>
      </p:sp>
      <p:sp>
        <p:nvSpPr>
          <p:cNvPr id="106" name="Shape 104"/>
          <p:cNvSpPr/>
          <p:nvPr/>
        </p:nvSpPr>
        <p:spPr>
          <a:xfrm>
            <a:off x="2606040" y="6464808"/>
            <a:ext cx="1874520" cy="713232"/>
          </a:xfrm>
          <a:prstGeom prst="roundRect">
            <a:avLst>
              <a:gd name="adj" fmla="val 6410"/>
            </a:avLst>
          </a:prstGeom>
          <a:solidFill>
            <a:srgbClr val="EEF4FB"/>
          </a:solidFill>
          <a:ln w="9525">
            <a:solidFill>
              <a:srgbClr val="C8D8EC"/>
            </a:solidFill>
            <a:prstDash val="solid"/>
          </a:ln>
        </p:spPr>
      </p:sp>
      <p:sp>
        <p:nvSpPr>
          <p:cNvPr id="107" name="Text 105"/>
          <p:cNvSpPr txBox="1"/>
          <p:nvPr/>
        </p:nvSpPr>
        <p:spPr>
          <a:xfrm>
            <a:off x="2697480" y="6464808"/>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Breaks from recs and analysis</a:t>
            </a:r>
            <a:endParaRPr lang="en-US" sz="1000" dirty="0"/>
          </a:p>
        </p:txBody>
      </p:sp>
      <p:sp>
        <p:nvSpPr>
          <p:cNvPr id="108" name="Shape 106"/>
          <p:cNvSpPr/>
          <p:nvPr/>
        </p:nvSpPr>
        <p:spPr>
          <a:xfrm>
            <a:off x="4526280" y="6464808"/>
            <a:ext cx="1874520" cy="713232"/>
          </a:xfrm>
          <a:prstGeom prst="roundRect">
            <a:avLst>
              <a:gd name="adj" fmla="val 6410"/>
            </a:avLst>
          </a:prstGeom>
          <a:solidFill>
            <a:srgbClr val="EEF4FB"/>
          </a:solidFill>
          <a:ln w="9525">
            <a:solidFill>
              <a:srgbClr val="C8D8EC"/>
            </a:solidFill>
            <a:prstDash val="solid"/>
          </a:ln>
        </p:spPr>
      </p:sp>
      <p:sp>
        <p:nvSpPr>
          <p:cNvPr id="109" name="Text 107"/>
          <p:cNvSpPr txBox="1"/>
          <p:nvPr/>
        </p:nvSpPr>
        <p:spPr>
          <a:xfrm>
            <a:off x="4617720" y="6464808"/>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Data issue raised</a:t>
            </a:r>
            <a:endParaRPr lang="en-US" sz="1000" dirty="0"/>
          </a:p>
        </p:txBody>
      </p:sp>
      <p:sp>
        <p:nvSpPr>
          <p:cNvPr id="110" name="Shape 108"/>
          <p:cNvSpPr/>
          <p:nvPr/>
        </p:nvSpPr>
        <p:spPr>
          <a:xfrm>
            <a:off x="6446520" y="6464808"/>
            <a:ext cx="1874520" cy="713232"/>
          </a:xfrm>
          <a:prstGeom prst="roundRect">
            <a:avLst>
              <a:gd name="adj" fmla="val 6410"/>
            </a:avLst>
          </a:prstGeom>
          <a:solidFill>
            <a:srgbClr val="EDF7F2"/>
          </a:solidFill>
          <a:ln w="9525">
            <a:solidFill>
              <a:srgbClr val="C8D8EC"/>
            </a:solidFill>
            <a:prstDash val="solid"/>
          </a:ln>
        </p:spPr>
      </p:sp>
      <p:sp>
        <p:nvSpPr>
          <p:cNvPr id="111" name="Text 109"/>
          <p:cNvSpPr txBox="1"/>
          <p:nvPr/>
        </p:nvSpPr>
        <p:spPr>
          <a:xfrm>
            <a:off x="6537960" y="6464808"/>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Data Agent session</a:t>
            </a:r>
            <a:endParaRPr lang="en-US" sz="1000" dirty="0"/>
          </a:p>
        </p:txBody>
      </p:sp>
      <p:sp>
        <p:nvSpPr>
          <p:cNvPr id="112" name="Shape 110"/>
          <p:cNvSpPr/>
          <p:nvPr/>
        </p:nvSpPr>
        <p:spPr>
          <a:xfrm>
            <a:off x="8366760" y="6464808"/>
            <a:ext cx="1874520" cy="713232"/>
          </a:xfrm>
          <a:prstGeom prst="roundRect">
            <a:avLst>
              <a:gd name="adj" fmla="val 6410"/>
            </a:avLst>
          </a:prstGeom>
          <a:solidFill>
            <a:srgbClr val="F3F1FB"/>
          </a:solidFill>
          <a:ln w="9525">
            <a:solidFill>
              <a:srgbClr val="C8D8EC"/>
            </a:solidFill>
            <a:prstDash val="solid"/>
          </a:ln>
        </p:spPr>
      </p:sp>
      <p:sp>
        <p:nvSpPr>
          <p:cNvPr id="113" name="Text 111"/>
          <p:cNvSpPr txBox="1"/>
          <p:nvPr/>
        </p:nvSpPr>
        <p:spPr>
          <a:xfrm>
            <a:off x="8458200" y="6464808"/>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Trace root data cause</a:t>
            </a:r>
            <a:endParaRPr lang="en-US" sz="1000" dirty="0"/>
          </a:p>
        </p:txBody>
      </p:sp>
      <p:sp>
        <p:nvSpPr>
          <p:cNvPr id="114" name="Shape 112"/>
          <p:cNvSpPr/>
          <p:nvPr/>
        </p:nvSpPr>
        <p:spPr>
          <a:xfrm>
            <a:off x="10287000" y="6464808"/>
            <a:ext cx="1874520" cy="713232"/>
          </a:xfrm>
          <a:prstGeom prst="roundRect">
            <a:avLst>
              <a:gd name="adj" fmla="val 6410"/>
            </a:avLst>
          </a:prstGeom>
          <a:solidFill>
            <a:srgbClr val="EEF4FB"/>
          </a:solidFill>
          <a:ln w="9525">
            <a:solidFill>
              <a:srgbClr val="C8D8EC"/>
            </a:solidFill>
            <a:prstDash val="solid"/>
          </a:ln>
        </p:spPr>
      </p:sp>
      <p:sp>
        <p:nvSpPr>
          <p:cNvPr id="115" name="Text 113"/>
          <p:cNvSpPr txBox="1"/>
          <p:nvPr/>
        </p:nvSpPr>
        <p:spPr>
          <a:xfrm>
            <a:off x="10378440" y="6464808"/>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Data Owner approves</a:t>
            </a:r>
            <a:endParaRPr lang="en-US" sz="1000" dirty="0"/>
          </a:p>
        </p:txBody>
      </p:sp>
      <p:sp>
        <p:nvSpPr>
          <p:cNvPr id="116" name="Shape 114"/>
          <p:cNvSpPr/>
          <p:nvPr/>
        </p:nvSpPr>
        <p:spPr>
          <a:xfrm>
            <a:off x="12207240" y="6464808"/>
            <a:ext cx="1874520" cy="713232"/>
          </a:xfrm>
          <a:prstGeom prst="roundRect">
            <a:avLst>
              <a:gd name="adj" fmla="val 6410"/>
            </a:avLst>
          </a:prstGeom>
          <a:solidFill>
            <a:srgbClr val="FBEFEE"/>
          </a:solidFill>
          <a:ln w="9525">
            <a:solidFill>
              <a:srgbClr val="C8D8EC"/>
            </a:solidFill>
            <a:prstDash val="solid"/>
          </a:ln>
        </p:spPr>
      </p:sp>
      <p:sp>
        <p:nvSpPr>
          <p:cNvPr id="117" name="Text 115"/>
          <p:cNvSpPr txBox="1"/>
          <p:nvPr/>
        </p:nvSpPr>
        <p:spPr>
          <a:xfrm>
            <a:off x="12298680" y="6464808"/>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Correction instruction</a:t>
            </a:r>
            <a:endParaRPr lang="en-US" sz="1000" dirty="0"/>
          </a:p>
        </p:txBody>
      </p:sp>
      <p:sp>
        <p:nvSpPr>
          <p:cNvPr id="118" name="Shape 116"/>
          <p:cNvSpPr/>
          <p:nvPr/>
        </p:nvSpPr>
        <p:spPr>
          <a:xfrm>
            <a:off x="502920" y="7260336"/>
            <a:ext cx="2011680" cy="713232"/>
          </a:xfrm>
          <a:prstGeom prst="roundRect">
            <a:avLst>
              <a:gd name="adj" fmla="val 10256"/>
            </a:avLst>
          </a:prstGeom>
          <a:solidFill>
            <a:srgbClr val="FFFFFF"/>
          </a:solidFill>
          <a:ln w="9525">
            <a:solidFill>
              <a:srgbClr val="C8D8EC"/>
            </a:solidFill>
            <a:prstDash val="solid"/>
          </a:ln>
        </p:spPr>
      </p:sp>
      <p:sp>
        <p:nvSpPr>
          <p:cNvPr id="119" name="Text 117"/>
          <p:cNvSpPr txBox="1"/>
          <p:nvPr/>
        </p:nvSpPr>
        <p:spPr>
          <a:xfrm>
            <a:off x="640080" y="7260336"/>
            <a:ext cx="1828800" cy="713232"/>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8  Access &amp; Workflow</a:t>
            </a:r>
            <a:endParaRPr lang="en-US" sz="1100" dirty="0"/>
          </a:p>
        </p:txBody>
      </p:sp>
      <p:sp>
        <p:nvSpPr>
          <p:cNvPr id="120" name="Shape 118"/>
          <p:cNvSpPr/>
          <p:nvPr/>
        </p:nvSpPr>
        <p:spPr>
          <a:xfrm>
            <a:off x="2606040" y="7260336"/>
            <a:ext cx="1874520" cy="713232"/>
          </a:xfrm>
          <a:prstGeom prst="roundRect">
            <a:avLst>
              <a:gd name="adj" fmla="val 6410"/>
            </a:avLst>
          </a:prstGeom>
          <a:solidFill>
            <a:srgbClr val="EEF4FB"/>
          </a:solidFill>
          <a:ln w="9525">
            <a:solidFill>
              <a:srgbClr val="C8D8EC"/>
            </a:solidFill>
            <a:prstDash val="solid"/>
          </a:ln>
        </p:spPr>
      </p:sp>
      <p:sp>
        <p:nvSpPr>
          <p:cNvPr id="121" name="Text 119"/>
          <p:cNvSpPr txBox="1"/>
          <p:nvPr/>
        </p:nvSpPr>
        <p:spPr>
          <a:xfrm>
            <a:off x="2697480" y="7260336"/>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Central Entitlement System</a:t>
            </a:r>
            <a:endParaRPr lang="en-US" sz="1000" dirty="0"/>
          </a:p>
        </p:txBody>
      </p:sp>
      <p:sp>
        <p:nvSpPr>
          <p:cNvPr id="122" name="Shape 120"/>
          <p:cNvSpPr/>
          <p:nvPr/>
        </p:nvSpPr>
        <p:spPr>
          <a:xfrm>
            <a:off x="4526280" y="7260336"/>
            <a:ext cx="1874520" cy="713232"/>
          </a:xfrm>
          <a:prstGeom prst="roundRect">
            <a:avLst>
              <a:gd name="adj" fmla="val 6410"/>
            </a:avLst>
          </a:prstGeom>
          <a:solidFill>
            <a:srgbClr val="EEF4FB"/>
          </a:solidFill>
          <a:ln w="9525">
            <a:solidFill>
              <a:srgbClr val="C8D8EC"/>
            </a:solidFill>
            <a:prstDash val="solid"/>
          </a:ln>
        </p:spPr>
      </p:sp>
      <p:sp>
        <p:nvSpPr>
          <p:cNvPr id="123" name="Text 121"/>
          <p:cNvSpPr txBox="1"/>
          <p:nvPr/>
        </p:nvSpPr>
        <p:spPr>
          <a:xfrm>
            <a:off x="4617720" y="7260336"/>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Review cycle, JML events</a:t>
            </a:r>
            <a:endParaRPr lang="en-US" sz="1000" dirty="0"/>
          </a:p>
        </p:txBody>
      </p:sp>
      <p:sp>
        <p:nvSpPr>
          <p:cNvPr id="124" name="Shape 122"/>
          <p:cNvSpPr/>
          <p:nvPr/>
        </p:nvSpPr>
        <p:spPr>
          <a:xfrm>
            <a:off x="6446520" y="7260336"/>
            <a:ext cx="1874520" cy="713232"/>
          </a:xfrm>
          <a:prstGeom prst="roundRect">
            <a:avLst>
              <a:gd name="adj" fmla="val 6410"/>
            </a:avLst>
          </a:prstGeom>
          <a:solidFill>
            <a:srgbClr val="EDF7F2"/>
          </a:solidFill>
          <a:ln w="9525">
            <a:solidFill>
              <a:srgbClr val="C8D8EC"/>
            </a:solidFill>
            <a:prstDash val="solid"/>
          </a:ln>
        </p:spPr>
      </p:sp>
      <p:sp>
        <p:nvSpPr>
          <p:cNvPr id="125" name="Text 123"/>
          <p:cNvSpPr txBox="1"/>
          <p:nvPr/>
        </p:nvSpPr>
        <p:spPr>
          <a:xfrm>
            <a:off x="6537960" y="7260336"/>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Review Agent per campaign</a:t>
            </a:r>
            <a:endParaRPr lang="en-US" sz="1000" dirty="0"/>
          </a:p>
        </p:txBody>
      </p:sp>
      <p:sp>
        <p:nvSpPr>
          <p:cNvPr id="126" name="Shape 124"/>
          <p:cNvSpPr/>
          <p:nvPr/>
        </p:nvSpPr>
        <p:spPr>
          <a:xfrm>
            <a:off x="8366760" y="7260336"/>
            <a:ext cx="1874520" cy="713232"/>
          </a:xfrm>
          <a:prstGeom prst="roundRect">
            <a:avLst>
              <a:gd name="adj" fmla="val 6410"/>
            </a:avLst>
          </a:prstGeom>
          <a:solidFill>
            <a:srgbClr val="F3F1FB"/>
          </a:solidFill>
          <a:ln w="9525">
            <a:solidFill>
              <a:srgbClr val="C8D8EC"/>
            </a:solidFill>
            <a:prstDash val="solid"/>
          </a:ln>
        </p:spPr>
      </p:sp>
      <p:sp>
        <p:nvSpPr>
          <p:cNvPr id="127" name="Text 125"/>
          <p:cNvSpPr txBox="1"/>
          <p:nvPr/>
        </p:nvSpPr>
        <p:spPr>
          <a:xfrm>
            <a:off x="8458200" y="7260336"/>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SoD, stale, excess access</a:t>
            </a:r>
            <a:endParaRPr lang="en-US" sz="1000" dirty="0"/>
          </a:p>
        </p:txBody>
      </p:sp>
      <p:sp>
        <p:nvSpPr>
          <p:cNvPr id="128" name="Shape 126"/>
          <p:cNvSpPr/>
          <p:nvPr/>
        </p:nvSpPr>
        <p:spPr>
          <a:xfrm>
            <a:off x="10287000" y="7260336"/>
            <a:ext cx="1874520" cy="713232"/>
          </a:xfrm>
          <a:prstGeom prst="roundRect">
            <a:avLst>
              <a:gd name="adj" fmla="val 6410"/>
            </a:avLst>
          </a:prstGeom>
          <a:solidFill>
            <a:srgbClr val="EEF4FB"/>
          </a:solidFill>
          <a:ln w="9525">
            <a:solidFill>
              <a:srgbClr val="C8D8EC"/>
            </a:solidFill>
            <a:prstDash val="solid"/>
          </a:ln>
        </p:spPr>
      </p:sp>
      <p:sp>
        <p:nvSpPr>
          <p:cNvPr id="129" name="Text 127"/>
          <p:cNvSpPr txBox="1"/>
          <p:nvPr/>
        </p:nvSpPr>
        <p:spPr>
          <a:xfrm>
            <a:off x="10378440" y="7260336"/>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Approver certifies</a:t>
            </a:r>
            <a:endParaRPr lang="en-US" sz="1000" dirty="0"/>
          </a:p>
        </p:txBody>
      </p:sp>
      <p:sp>
        <p:nvSpPr>
          <p:cNvPr id="130" name="Shape 128"/>
          <p:cNvSpPr/>
          <p:nvPr/>
        </p:nvSpPr>
        <p:spPr>
          <a:xfrm>
            <a:off x="12207240" y="7260336"/>
            <a:ext cx="1874520" cy="713232"/>
          </a:xfrm>
          <a:prstGeom prst="roundRect">
            <a:avLst>
              <a:gd name="adj" fmla="val 6410"/>
            </a:avLst>
          </a:prstGeom>
          <a:solidFill>
            <a:srgbClr val="FBEFEE"/>
          </a:solidFill>
          <a:ln w="9525">
            <a:solidFill>
              <a:srgbClr val="C8D8EC"/>
            </a:solidFill>
            <a:prstDash val="solid"/>
          </a:ln>
        </p:spPr>
      </p:sp>
      <p:sp>
        <p:nvSpPr>
          <p:cNvPr id="131" name="Text 129"/>
          <p:cNvSpPr txBox="1"/>
          <p:nvPr/>
        </p:nvSpPr>
        <p:spPr>
          <a:xfrm>
            <a:off x="12298680" y="7260336"/>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Entitlement API revoke</a:t>
            </a:r>
            <a:endParaRPr lang="en-US" sz="1000" dirty="0"/>
          </a:p>
        </p:txBody>
      </p:sp>
      <p:sp>
        <p:nvSpPr>
          <p:cNvPr id="132" name="Text 130"/>
          <p:cNvSpPr txBox="1"/>
          <p:nvPr/>
        </p:nvSpPr>
        <p:spPr>
          <a:xfrm>
            <a:off x="502920" y="8138160"/>
            <a:ext cx="2743200" cy="274320"/>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Key controls (every row)</a:t>
            </a:r>
            <a:endParaRPr lang="en-US" sz="1100" dirty="0"/>
          </a:p>
        </p:txBody>
      </p:sp>
      <p:sp>
        <p:nvSpPr>
          <p:cNvPr id="133" name="Shape 131"/>
          <p:cNvSpPr/>
          <p:nvPr/>
        </p:nvSpPr>
        <p:spPr>
          <a:xfrm>
            <a:off x="502920" y="8503920"/>
            <a:ext cx="3227832" cy="457200"/>
          </a:xfrm>
          <a:prstGeom prst="roundRect">
            <a:avLst>
              <a:gd name="adj" fmla="val 30000"/>
            </a:avLst>
          </a:prstGeom>
          <a:solidFill>
            <a:srgbClr val="FFFFFF"/>
          </a:solidFill>
          <a:ln w="9525">
            <a:solidFill>
              <a:srgbClr val="C8D8EC"/>
            </a:solidFill>
            <a:prstDash val="solid"/>
          </a:ln>
        </p:spPr>
      </p:sp>
      <p:pic>
        <p:nvPicPr>
          <p:cNvPr id="134" name="Image 0" descr="preencoded.png">    </p:cNvPr>
          <p:cNvPicPr>
            <a:picLocks noChangeAspect="1"/>
          </p:cNvPicPr>
          <p:nvPr/>
        </p:nvPicPr>
        <p:blipFill>
          <a:blip r:embed="rId1"/>
          <a:stretch>
            <a:fillRect/>
          </a:stretch>
        </p:blipFill>
        <p:spPr>
          <a:xfrm>
            <a:off x="630936" y="8659368"/>
            <a:ext cx="146304" cy="146304"/>
          </a:xfrm>
          <a:prstGeom prst="rect">
            <a:avLst/>
          </a:prstGeom>
        </p:spPr>
      </p:pic>
      <p:sp>
        <p:nvSpPr>
          <p:cNvPr id="135" name="Text 132"/>
          <p:cNvSpPr txBox="1"/>
          <p:nvPr/>
        </p:nvSpPr>
        <p:spPr>
          <a:xfrm>
            <a:off x="868680" y="8503920"/>
            <a:ext cx="2816352" cy="457200"/>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Evidence checked first</a:t>
            </a:r>
            <a:endParaRPr lang="en-US" sz="950" dirty="0"/>
          </a:p>
        </p:txBody>
      </p:sp>
      <p:sp>
        <p:nvSpPr>
          <p:cNvPr id="136" name="Shape 133"/>
          <p:cNvSpPr/>
          <p:nvPr/>
        </p:nvSpPr>
        <p:spPr>
          <a:xfrm>
            <a:off x="3941064" y="8503920"/>
            <a:ext cx="3227832" cy="457200"/>
          </a:xfrm>
          <a:prstGeom prst="roundRect">
            <a:avLst>
              <a:gd name="adj" fmla="val 30000"/>
            </a:avLst>
          </a:prstGeom>
          <a:solidFill>
            <a:srgbClr val="FFFFFF"/>
          </a:solidFill>
          <a:ln w="9525">
            <a:solidFill>
              <a:srgbClr val="C8D8EC"/>
            </a:solidFill>
            <a:prstDash val="solid"/>
          </a:ln>
        </p:spPr>
      </p:sp>
      <p:pic>
        <p:nvPicPr>
          <p:cNvPr id="137" name="Image 1" descr="preencoded.png">    </p:cNvPr>
          <p:cNvPicPr>
            <a:picLocks noChangeAspect="1"/>
          </p:cNvPicPr>
          <p:nvPr/>
        </p:nvPicPr>
        <p:blipFill>
          <a:blip r:embed="rId2"/>
          <a:stretch>
            <a:fillRect/>
          </a:stretch>
        </p:blipFill>
        <p:spPr>
          <a:xfrm>
            <a:off x="4069080" y="8659368"/>
            <a:ext cx="146304" cy="146304"/>
          </a:xfrm>
          <a:prstGeom prst="rect">
            <a:avLst/>
          </a:prstGeom>
        </p:spPr>
      </p:pic>
      <p:sp>
        <p:nvSpPr>
          <p:cNvPr id="138" name="Text 134"/>
          <p:cNvSpPr txBox="1"/>
          <p:nvPr/>
        </p:nvSpPr>
        <p:spPr>
          <a:xfrm>
            <a:off x="4306824" y="8503920"/>
            <a:ext cx="2816352" cy="457200"/>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Numbers from code, not the LLM</a:t>
            </a:r>
            <a:endParaRPr lang="en-US" sz="950" dirty="0"/>
          </a:p>
        </p:txBody>
      </p:sp>
      <p:sp>
        <p:nvSpPr>
          <p:cNvPr id="139" name="Shape 135"/>
          <p:cNvSpPr/>
          <p:nvPr/>
        </p:nvSpPr>
        <p:spPr>
          <a:xfrm>
            <a:off x="7379208" y="8503920"/>
            <a:ext cx="3227832" cy="457200"/>
          </a:xfrm>
          <a:prstGeom prst="roundRect">
            <a:avLst>
              <a:gd name="adj" fmla="val 30000"/>
            </a:avLst>
          </a:prstGeom>
          <a:solidFill>
            <a:srgbClr val="FFFFFF"/>
          </a:solidFill>
          <a:ln w="9525">
            <a:solidFill>
              <a:srgbClr val="C8D8EC"/>
            </a:solidFill>
            <a:prstDash val="solid"/>
          </a:ln>
        </p:spPr>
      </p:sp>
      <p:pic>
        <p:nvPicPr>
          <p:cNvPr id="140" name="Image 2" descr="preencoded.png">    </p:cNvPr>
          <p:cNvPicPr>
            <a:picLocks noChangeAspect="1"/>
          </p:cNvPicPr>
          <p:nvPr/>
        </p:nvPicPr>
        <p:blipFill>
          <a:blip r:embed="rId3"/>
          <a:stretch>
            <a:fillRect/>
          </a:stretch>
        </p:blipFill>
        <p:spPr>
          <a:xfrm>
            <a:off x="7507224" y="8659368"/>
            <a:ext cx="146304" cy="146304"/>
          </a:xfrm>
          <a:prstGeom prst="rect">
            <a:avLst/>
          </a:prstGeom>
        </p:spPr>
      </p:pic>
      <p:sp>
        <p:nvSpPr>
          <p:cNvPr id="141" name="Text 136"/>
          <p:cNvSpPr txBox="1"/>
          <p:nvPr/>
        </p:nvSpPr>
        <p:spPr>
          <a:xfrm>
            <a:off x="7744968" y="8503920"/>
            <a:ext cx="2816352" cy="457200"/>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Named owner approves every action</a:t>
            </a:r>
            <a:endParaRPr lang="en-US" sz="950" dirty="0"/>
          </a:p>
        </p:txBody>
      </p:sp>
      <p:sp>
        <p:nvSpPr>
          <p:cNvPr id="142" name="Shape 137"/>
          <p:cNvSpPr/>
          <p:nvPr/>
        </p:nvSpPr>
        <p:spPr>
          <a:xfrm>
            <a:off x="10817352" y="8503920"/>
            <a:ext cx="3227832" cy="457200"/>
          </a:xfrm>
          <a:prstGeom prst="roundRect">
            <a:avLst>
              <a:gd name="adj" fmla="val 30000"/>
            </a:avLst>
          </a:prstGeom>
          <a:solidFill>
            <a:srgbClr val="FFFFFF"/>
          </a:solidFill>
          <a:ln w="9525">
            <a:solidFill>
              <a:srgbClr val="C8D8EC"/>
            </a:solidFill>
            <a:prstDash val="solid"/>
          </a:ln>
        </p:spPr>
      </p:sp>
      <p:pic>
        <p:nvPicPr>
          <p:cNvPr id="143" name="Image 3" descr="preencoded.png">    </p:cNvPr>
          <p:cNvPicPr>
            <a:picLocks noChangeAspect="1"/>
          </p:cNvPicPr>
          <p:nvPr/>
        </p:nvPicPr>
        <p:blipFill>
          <a:blip r:embed="rId4"/>
          <a:stretch>
            <a:fillRect/>
          </a:stretch>
        </p:blipFill>
        <p:spPr>
          <a:xfrm>
            <a:off x="10945368" y="8659368"/>
            <a:ext cx="146304" cy="146304"/>
          </a:xfrm>
          <a:prstGeom prst="rect">
            <a:avLst/>
          </a:prstGeom>
        </p:spPr>
      </p:pic>
      <p:sp>
        <p:nvSpPr>
          <p:cNvPr id="144" name="Text 138"/>
          <p:cNvSpPr txBox="1"/>
          <p:nvPr/>
        </p:nvSpPr>
        <p:spPr>
          <a:xfrm>
            <a:off x="11183112" y="8503920"/>
            <a:ext cx="2816352" cy="457200"/>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AI traced in Phoenix, actions in app audit</a:t>
            </a:r>
            <a:endParaRPr lang="en-US" sz="950" dirty="0"/>
          </a:p>
        </p:txBody>
      </p:sp>
      <p:sp>
        <p:nvSpPr>
          <p:cNvPr id="145" name="Shape 139"/>
          <p:cNvSpPr/>
          <p:nvPr/>
        </p:nvSpPr>
        <p:spPr>
          <a:xfrm>
            <a:off x="0" y="9272016"/>
            <a:ext cx="14630400" cy="484632"/>
          </a:xfrm>
          <a:prstGeom prst="rect">
            <a:avLst/>
          </a:prstGeom>
          <a:solidFill>
            <a:srgbClr val="0B2E5E"/>
          </a:solidFill>
          <a:ln w="12700">
            <a:solidFill>
              <a:srgbClr val="0B2E5E"/>
            </a:solidFill>
            <a:prstDash val="solid"/>
          </a:ln>
        </p:spPr>
      </p:sp>
      <p:sp>
        <p:nvSpPr>
          <p:cNvPr id="146" name="Text 140"/>
          <p:cNvSpPr txBox="1"/>
          <p:nvPr/>
        </p:nvSpPr>
        <p:spPr>
          <a:xfrm>
            <a:off x="0" y="9272016"/>
            <a:ext cx="14630400" cy="4846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Finance AI Solutions</a:t>
            </a:r>
            <a:pPr algn="ctr" indent="0" marL="0">
              <a:buNone/>
            </a:pPr>
            <a:r>
              <a:rPr lang="en-US" sz="1100" dirty="0">
                <a:solidFill>
                  <a:srgbClr val="FFFFFF"/>
                </a:solidFill>
                <a:latin typeface="Calibri" pitchFamily="34" charset="0"/>
                <a:ea typeface="Calibri" pitchFamily="34" charset="-122"/>
                <a:cs typeface="Calibri" pitchFamily="34" charset="-120"/>
              </a:rPr>
              <a:t>   |   One pattern. Same controls. Different functions.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D"/>
        </a:solidFill>
      </p:bgPr>
    </p:bg>
    <p:spTree>
      <p:nvGrpSpPr>
        <p:cNvPr id="1" name=""/>
        <p:cNvGrpSpPr/>
        <p:nvPr/>
      </p:nvGrpSpPr>
      <p:grpSpPr>
        <a:xfrm>
          <a:off x="0" y="0"/>
          <a:ext cx="0" cy="0"/>
          <a:chOff x="0" y="0"/>
          <a:chExt cx="0" cy="0"/>
        </a:xfrm>
      </p:grpSpPr>
      <p:sp>
        <p:nvSpPr>
          <p:cNvPr id="2" name="Shape 0"/>
          <p:cNvSpPr/>
          <p:nvPr/>
        </p:nvSpPr>
        <p:spPr>
          <a:xfrm>
            <a:off x="0" y="0"/>
            <a:ext cx="14630400" cy="1024128"/>
          </a:xfrm>
          <a:prstGeom prst="rect">
            <a:avLst/>
          </a:prstGeom>
          <a:solidFill>
            <a:srgbClr val="0B2E5E"/>
          </a:solidFill>
          <a:ln w="12700">
            <a:solidFill>
              <a:srgbClr val="0B2E5E"/>
            </a:solidFill>
            <a:prstDash val="solid"/>
          </a:ln>
        </p:spPr>
      </p:sp>
      <p:sp>
        <p:nvSpPr>
          <p:cNvPr id="3" name="Text 1"/>
          <p:cNvSpPr txBox="1"/>
          <p:nvPr/>
        </p:nvSpPr>
        <p:spPr>
          <a:xfrm>
            <a:off x="301752" y="137160"/>
            <a:ext cx="11155680" cy="475488"/>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UC1 Helix: AI-Powered FOBO Reconciliation</a:t>
            </a:r>
            <a:endParaRPr lang="en-US" sz="3000" dirty="0"/>
          </a:p>
        </p:txBody>
      </p:sp>
      <p:sp>
        <p:nvSpPr>
          <p:cNvPr id="4" name="Text 2"/>
          <p:cNvSpPr txBox="1"/>
          <p:nvPr/>
        </p:nvSpPr>
        <p:spPr>
          <a:xfrm>
            <a:off x="301752" y="612648"/>
            <a:ext cx="11155680" cy="301752"/>
          </a:xfrm>
          <a:prstGeom prst="rect">
            <a:avLst/>
          </a:prstGeom>
          <a:noFill/>
          <a:ln/>
        </p:spPr>
        <p:txBody>
          <a:bodyPr wrap="square" lIns="0" tIns="0" rIns="0" bIns="0" rtlCol="0" anchor="ctr"/>
          <a:lstStyle/>
          <a:p>
            <a:pPr indent="0" marL="0">
              <a:buNone/>
            </a:pPr>
            <a:r>
              <a:rPr lang="en-US" sz="1600" dirty="0">
                <a:solidFill>
                  <a:srgbClr val="DCE9F7"/>
                </a:solidFill>
                <a:latin typeface="Calibri" pitchFamily="34" charset="0"/>
                <a:ea typeface="Calibri" pitchFamily="34" charset="-122"/>
                <a:cs typeface="Calibri" pitchFamily="34" charset="-120"/>
              </a:rPr>
              <a:t>Recs &amp; Controls, Exceptions &amp; Break Analysis, Accounting Adjustments</a:t>
            </a:r>
            <a:endParaRPr lang="en-US" sz="1600" dirty="0"/>
          </a:p>
        </p:txBody>
      </p:sp>
      <p:sp>
        <p:nvSpPr>
          <p:cNvPr id="5" name="Shape 3"/>
          <p:cNvSpPr/>
          <p:nvPr/>
        </p:nvSpPr>
        <p:spPr>
          <a:xfrm>
            <a:off x="11640312" y="192024"/>
            <a:ext cx="0" cy="649224"/>
          </a:xfrm>
          <a:prstGeom prst="line">
            <a:avLst/>
          </a:prstGeom>
          <a:noFill/>
          <a:ln w="12700">
            <a:solidFill>
              <a:srgbClr val="FFFFFF"/>
            </a:solidFill>
            <a:prstDash val="solid"/>
          </a:ln>
        </p:spPr>
      </p:sp>
      <p:sp>
        <p:nvSpPr>
          <p:cNvPr id="6" name="Text 4"/>
          <p:cNvSpPr txBox="1"/>
          <p:nvPr/>
        </p:nvSpPr>
        <p:spPr>
          <a:xfrm>
            <a:off x="11814048" y="265176"/>
            <a:ext cx="2715768"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Helix Architecture</a:t>
            </a:r>
            <a:endParaRPr lang="en-US" sz="2200" dirty="0"/>
          </a:p>
        </p:txBody>
      </p:sp>
      <p:sp>
        <p:nvSpPr>
          <p:cNvPr id="7" name="Text 5"/>
          <p:cNvSpPr txBox="1"/>
          <p:nvPr/>
        </p:nvSpPr>
        <p:spPr>
          <a:xfrm>
            <a:off x="502920" y="1216152"/>
            <a:ext cx="1920240" cy="347472"/>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Workspaces (one per L4)</a:t>
            </a:r>
            <a:endParaRPr lang="en-US" sz="1100" dirty="0"/>
          </a:p>
        </p:txBody>
      </p:sp>
      <p:sp>
        <p:nvSpPr>
          <p:cNvPr id="8" name="Shape 6"/>
          <p:cNvSpPr/>
          <p:nvPr/>
        </p:nvSpPr>
        <p:spPr>
          <a:xfrm>
            <a:off x="2496312" y="1243584"/>
            <a:ext cx="2075688" cy="283464"/>
          </a:xfrm>
          <a:prstGeom prst="roundRect">
            <a:avLst>
              <a:gd name="adj" fmla="val 48387"/>
            </a:avLst>
          </a:prstGeom>
          <a:solidFill>
            <a:srgbClr val="DCE9F7"/>
          </a:solidFill>
          <a:ln w="9525">
            <a:solidFill>
              <a:srgbClr val="C8D8EC"/>
            </a:solidFill>
            <a:prstDash val="solid"/>
          </a:ln>
        </p:spPr>
      </p:sp>
      <p:pic>
        <p:nvPicPr>
          <p:cNvPr id="9" name="Image 0" descr="preencoded.png">    </p:cNvPr>
          <p:cNvPicPr>
            <a:picLocks noChangeAspect="1"/>
          </p:cNvPicPr>
          <p:nvPr/>
        </p:nvPicPr>
        <p:blipFill>
          <a:blip r:embed="rId1"/>
          <a:stretch>
            <a:fillRect/>
          </a:stretch>
        </p:blipFill>
        <p:spPr>
          <a:xfrm>
            <a:off x="2606040" y="1316736"/>
            <a:ext cx="137160" cy="137160"/>
          </a:xfrm>
          <a:prstGeom prst="rect">
            <a:avLst/>
          </a:prstGeom>
        </p:spPr>
      </p:pic>
      <p:sp>
        <p:nvSpPr>
          <p:cNvPr id="10" name="Text 7"/>
          <p:cNvSpPr txBox="1"/>
          <p:nvPr/>
        </p:nvSpPr>
        <p:spPr>
          <a:xfrm>
            <a:off x="2798064" y="1243584"/>
            <a:ext cx="1737360" cy="283464"/>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CATS vs MOTIF - FI Credit</a:t>
            </a:r>
            <a:endParaRPr lang="en-US" sz="950" dirty="0"/>
          </a:p>
        </p:txBody>
      </p:sp>
      <p:sp>
        <p:nvSpPr>
          <p:cNvPr id="11" name="Shape 8"/>
          <p:cNvSpPr/>
          <p:nvPr/>
        </p:nvSpPr>
        <p:spPr>
          <a:xfrm>
            <a:off x="4709160" y="1243584"/>
            <a:ext cx="2075688" cy="283464"/>
          </a:xfrm>
          <a:prstGeom prst="roundRect">
            <a:avLst>
              <a:gd name="adj" fmla="val 48387"/>
            </a:avLst>
          </a:prstGeom>
          <a:solidFill>
            <a:srgbClr val="DCE9F7"/>
          </a:solidFill>
          <a:ln w="9525">
            <a:solidFill>
              <a:srgbClr val="C8D8EC"/>
            </a:solidFill>
            <a:prstDash val="solid"/>
          </a:ln>
        </p:spPr>
      </p:sp>
      <p:pic>
        <p:nvPicPr>
          <p:cNvPr id="12" name="Image 1" descr="preencoded.png">    </p:cNvPr>
          <p:cNvPicPr>
            <a:picLocks noChangeAspect="1"/>
          </p:cNvPicPr>
          <p:nvPr/>
        </p:nvPicPr>
        <p:blipFill>
          <a:blip r:embed="rId2"/>
          <a:stretch>
            <a:fillRect/>
          </a:stretch>
        </p:blipFill>
        <p:spPr>
          <a:xfrm>
            <a:off x="4818888" y="1316736"/>
            <a:ext cx="137160" cy="137160"/>
          </a:xfrm>
          <a:prstGeom prst="rect">
            <a:avLst/>
          </a:prstGeom>
        </p:spPr>
      </p:pic>
      <p:sp>
        <p:nvSpPr>
          <p:cNvPr id="13" name="Text 9"/>
          <p:cNvSpPr txBox="1"/>
          <p:nvPr/>
        </p:nvSpPr>
        <p:spPr>
          <a:xfrm>
            <a:off x="5010912" y="1243584"/>
            <a:ext cx="1737360" cy="283464"/>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CATS vs MOTIF - Rates</a:t>
            </a:r>
            <a:endParaRPr lang="en-US" sz="950" dirty="0"/>
          </a:p>
        </p:txBody>
      </p:sp>
      <p:sp>
        <p:nvSpPr>
          <p:cNvPr id="14" name="Shape 10"/>
          <p:cNvSpPr/>
          <p:nvPr/>
        </p:nvSpPr>
        <p:spPr>
          <a:xfrm>
            <a:off x="6922008" y="1243584"/>
            <a:ext cx="2075688" cy="283464"/>
          </a:xfrm>
          <a:prstGeom prst="roundRect">
            <a:avLst>
              <a:gd name="adj" fmla="val 48387"/>
            </a:avLst>
          </a:prstGeom>
          <a:solidFill>
            <a:srgbClr val="DCE9F7"/>
          </a:solidFill>
          <a:ln w="9525">
            <a:solidFill>
              <a:srgbClr val="C8D8EC"/>
            </a:solidFill>
            <a:prstDash val="solid"/>
          </a:ln>
        </p:spPr>
      </p:sp>
      <p:pic>
        <p:nvPicPr>
          <p:cNvPr id="15" name="Image 2" descr="preencoded.png">    </p:cNvPr>
          <p:cNvPicPr>
            <a:picLocks noChangeAspect="1"/>
          </p:cNvPicPr>
          <p:nvPr/>
        </p:nvPicPr>
        <p:blipFill>
          <a:blip r:embed="rId3"/>
          <a:stretch>
            <a:fillRect/>
          </a:stretch>
        </p:blipFill>
        <p:spPr>
          <a:xfrm>
            <a:off x="7031736" y="1316736"/>
            <a:ext cx="137160" cy="137160"/>
          </a:xfrm>
          <a:prstGeom prst="rect">
            <a:avLst/>
          </a:prstGeom>
        </p:spPr>
      </p:pic>
      <p:sp>
        <p:nvSpPr>
          <p:cNvPr id="16" name="Text 11"/>
          <p:cNvSpPr txBox="1"/>
          <p:nvPr/>
        </p:nvSpPr>
        <p:spPr>
          <a:xfrm>
            <a:off x="7223760" y="1243584"/>
            <a:ext cx="1737360" cy="283464"/>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CATS vs MOTIF - Prime</a:t>
            </a:r>
            <a:endParaRPr lang="en-US" sz="950" dirty="0"/>
          </a:p>
        </p:txBody>
      </p:sp>
      <p:sp>
        <p:nvSpPr>
          <p:cNvPr id="17" name="Shape 12"/>
          <p:cNvSpPr/>
          <p:nvPr/>
        </p:nvSpPr>
        <p:spPr>
          <a:xfrm>
            <a:off x="9134856" y="1243584"/>
            <a:ext cx="2075688" cy="283464"/>
          </a:xfrm>
          <a:prstGeom prst="roundRect">
            <a:avLst>
              <a:gd name="adj" fmla="val 48387"/>
            </a:avLst>
          </a:prstGeom>
          <a:solidFill>
            <a:srgbClr val="FFFFFF"/>
          </a:solidFill>
          <a:ln w="9525">
            <a:solidFill>
              <a:srgbClr val="C8D8EC"/>
            </a:solidFill>
            <a:prstDash val="solid"/>
          </a:ln>
        </p:spPr>
      </p:sp>
      <p:pic>
        <p:nvPicPr>
          <p:cNvPr id="18" name="Image 3" descr="preencoded.png">    </p:cNvPr>
          <p:cNvPicPr>
            <a:picLocks noChangeAspect="1"/>
          </p:cNvPicPr>
          <p:nvPr/>
        </p:nvPicPr>
        <p:blipFill>
          <a:blip r:embed="rId4"/>
          <a:stretch>
            <a:fillRect/>
          </a:stretch>
        </p:blipFill>
        <p:spPr>
          <a:xfrm>
            <a:off x="9244584" y="1316736"/>
            <a:ext cx="137160" cy="137160"/>
          </a:xfrm>
          <a:prstGeom prst="rect">
            <a:avLst/>
          </a:prstGeom>
        </p:spPr>
      </p:pic>
      <p:sp>
        <p:nvSpPr>
          <p:cNvPr id="19" name="Text 13"/>
          <p:cNvSpPr txBox="1"/>
          <p:nvPr/>
        </p:nvSpPr>
        <p:spPr>
          <a:xfrm>
            <a:off x="9436608" y="1243584"/>
            <a:ext cx="1737360" cy="283464"/>
          </a:xfrm>
          <a:prstGeom prst="rect">
            <a:avLst/>
          </a:prstGeom>
          <a:noFill/>
          <a:ln/>
        </p:spPr>
        <p:txBody>
          <a:bodyPr wrap="square" lIns="0" tIns="0" rIns="0" bIns="0" rtlCol="0" anchor="ctr"/>
          <a:lstStyle/>
          <a:p>
            <a:pPr indent="0" marL="0">
              <a:buNone/>
            </a:pPr>
            <a:r>
              <a:rPr lang="en-US" sz="950" i="1" dirty="0">
                <a:solidFill>
                  <a:srgbClr val="1F2D3D"/>
                </a:solidFill>
                <a:latin typeface="Calibri" pitchFamily="34" charset="0"/>
                <a:ea typeface="Calibri" pitchFamily="34" charset="-122"/>
                <a:cs typeface="Calibri" pitchFamily="34" charset="-120"/>
              </a:rPr>
              <a:t>More L4 workspaces</a:t>
            </a:r>
            <a:endParaRPr lang="en-US" sz="950" dirty="0"/>
          </a:p>
        </p:txBody>
      </p:sp>
      <p:sp>
        <p:nvSpPr>
          <p:cNvPr id="20" name="Text 14"/>
          <p:cNvSpPr txBox="1"/>
          <p:nvPr/>
        </p:nvSpPr>
        <p:spPr>
          <a:xfrm>
            <a:off x="11338560" y="1216152"/>
            <a:ext cx="2852928" cy="347472"/>
          </a:xfrm>
          <a:prstGeom prst="rect">
            <a:avLst/>
          </a:prstGeom>
          <a:noFill/>
          <a:ln/>
        </p:spPr>
        <p:txBody>
          <a:bodyPr wrap="square" lIns="0" tIns="0" rIns="0" bIns="0" rtlCol="0" anchor="ctr"/>
          <a:lstStyle/>
          <a:p>
            <a:pPr indent="0" marL="0">
              <a:buNone/>
            </a:pPr>
            <a:r>
              <a:rPr lang="en-US" sz="950" i="1" dirty="0">
                <a:solidFill>
                  <a:srgbClr val="4A5A6E"/>
                </a:solidFill>
                <a:latin typeface="Calibri" pitchFamily="34" charset="0"/>
                <a:ea typeface="Calibri" pitchFamily="34" charset="-122"/>
                <a:cs typeface="Calibri" pitchFamily="34" charset="-120"/>
              </a:rPr>
              <a:t>Status: In delivery, go-live 5 Feb 2027</a:t>
            </a:r>
            <a:endParaRPr lang="en-US" sz="950" dirty="0"/>
          </a:p>
        </p:txBody>
      </p:sp>
      <p:sp>
        <p:nvSpPr>
          <p:cNvPr id="21" name="Shape 15"/>
          <p:cNvSpPr/>
          <p:nvPr/>
        </p:nvSpPr>
        <p:spPr>
          <a:xfrm>
            <a:off x="502920" y="1737360"/>
            <a:ext cx="2377440" cy="4480560"/>
          </a:xfrm>
          <a:prstGeom prst="roundRect">
            <a:avLst>
              <a:gd name="adj" fmla="val 2308"/>
            </a:avLst>
          </a:prstGeom>
          <a:solidFill>
            <a:srgbClr val="EEF4FB"/>
          </a:solidFill>
          <a:ln w="12700">
            <a:solidFill>
              <a:srgbClr val="1B4F93"/>
            </a:solidFill>
            <a:prstDash val="dash"/>
          </a:ln>
        </p:spPr>
      </p:sp>
      <p:sp>
        <p:nvSpPr>
          <p:cNvPr id="22" name="Text 16"/>
          <p:cNvSpPr txBox="1"/>
          <p:nvPr/>
        </p:nvSpPr>
        <p:spPr>
          <a:xfrm>
            <a:off x="621792" y="1810512"/>
            <a:ext cx="2148840" cy="192024"/>
          </a:xfrm>
          <a:prstGeom prst="rect">
            <a:avLst/>
          </a:prstGeom>
          <a:noFill/>
          <a:ln/>
        </p:spPr>
        <p:txBody>
          <a:bodyPr wrap="square" lIns="0" tIns="0" rIns="0" bIns="0" rtlCol="0" anchor="ctr"/>
          <a:lstStyle/>
          <a:p>
            <a:pPr indent="0" marL="0">
              <a:buNone/>
            </a:pPr>
            <a:r>
              <a:rPr lang="en-US" sz="900" b="1" spc="100" kern="0" dirty="0">
                <a:solidFill>
                  <a:srgbClr val="1B4F93"/>
                </a:solidFill>
                <a:latin typeface="Calibri" pitchFamily="34" charset="0"/>
                <a:ea typeface="Calibri" pitchFamily="34" charset="-122"/>
                <a:cs typeface="Calibri" pitchFamily="34" charset="-120"/>
              </a:rPr>
              <a:t>REC PROCESSING</a:t>
            </a:r>
            <a:endParaRPr lang="en-US" sz="900" dirty="0"/>
          </a:p>
        </p:txBody>
      </p:sp>
      <p:sp>
        <p:nvSpPr>
          <p:cNvPr id="23" name="Shape 17"/>
          <p:cNvSpPr/>
          <p:nvPr/>
        </p:nvSpPr>
        <p:spPr>
          <a:xfrm>
            <a:off x="1691640" y="6236208"/>
            <a:ext cx="0" cy="219456"/>
          </a:xfrm>
          <a:prstGeom prst="line">
            <a:avLst/>
          </a:prstGeom>
          <a:noFill/>
          <a:ln w="15875">
            <a:solidFill>
              <a:srgbClr val="6B7C93"/>
            </a:solidFill>
            <a:prstDash val="dash"/>
            <a:tailEnd type="triangle"/>
          </a:ln>
        </p:spPr>
      </p:sp>
      <p:sp>
        <p:nvSpPr>
          <p:cNvPr id="24" name="Shape 18"/>
          <p:cNvSpPr/>
          <p:nvPr/>
        </p:nvSpPr>
        <p:spPr>
          <a:xfrm>
            <a:off x="3310128" y="1737360"/>
            <a:ext cx="2377440" cy="4480560"/>
          </a:xfrm>
          <a:prstGeom prst="roundRect">
            <a:avLst>
              <a:gd name="adj" fmla="val 2308"/>
            </a:avLst>
          </a:prstGeom>
          <a:solidFill>
            <a:srgbClr val="EEF4FB"/>
          </a:solidFill>
          <a:ln w="12700">
            <a:solidFill>
              <a:srgbClr val="2A6EBB"/>
            </a:solidFill>
            <a:prstDash val="dash"/>
          </a:ln>
        </p:spPr>
      </p:sp>
      <p:sp>
        <p:nvSpPr>
          <p:cNvPr id="25" name="Text 19"/>
          <p:cNvSpPr txBox="1"/>
          <p:nvPr/>
        </p:nvSpPr>
        <p:spPr>
          <a:xfrm>
            <a:off x="3429000" y="1810512"/>
            <a:ext cx="2148840" cy="192024"/>
          </a:xfrm>
          <a:prstGeom prst="rect">
            <a:avLst/>
          </a:prstGeom>
          <a:noFill/>
          <a:ln/>
        </p:spPr>
        <p:txBody>
          <a:bodyPr wrap="square" lIns="0" tIns="0" rIns="0" bIns="0" rtlCol="0" anchor="ctr"/>
          <a:lstStyle/>
          <a:p>
            <a:pPr indent="0" marL="0">
              <a:buNone/>
            </a:pPr>
            <a:r>
              <a:rPr lang="en-US" sz="900" b="1" spc="100" kern="0" dirty="0">
                <a:solidFill>
                  <a:srgbClr val="2A6EBB"/>
                </a:solidFill>
                <a:latin typeface="Calibri" pitchFamily="34" charset="0"/>
                <a:ea typeface="Calibri" pitchFamily="34" charset="-122"/>
                <a:cs typeface="Calibri" pitchFamily="34" charset="-120"/>
              </a:rPr>
              <a:t>EVENTS &amp; READINESS</a:t>
            </a:r>
            <a:endParaRPr lang="en-US" sz="900" dirty="0"/>
          </a:p>
        </p:txBody>
      </p:sp>
      <p:sp>
        <p:nvSpPr>
          <p:cNvPr id="26" name="Shape 20"/>
          <p:cNvSpPr/>
          <p:nvPr/>
        </p:nvSpPr>
        <p:spPr>
          <a:xfrm>
            <a:off x="4498848" y="6236208"/>
            <a:ext cx="0" cy="219456"/>
          </a:xfrm>
          <a:prstGeom prst="line">
            <a:avLst/>
          </a:prstGeom>
          <a:noFill/>
          <a:ln w="15875">
            <a:solidFill>
              <a:srgbClr val="6B7C93"/>
            </a:solidFill>
            <a:prstDash val="dash"/>
            <a:tailEnd type="triangle"/>
          </a:ln>
        </p:spPr>
      </p:sp>
      <p:sp>
        <p:nvSpPr>
          <p:cNvPr id="27" name="Shape 21"/>
          <p:cNvSpPr/>
          <p:nvPr/>
        </p:nvSpPr>
        <p:spPr>
          <a:xfrm>
            <a:off x="6126480" y="1737360"/>
            <a:ext cx="2377440" cy="4480560"/>
          </a:xfrm>
          <a:prstGeom prst="roundRect">
            <a:avLst>
              <a:gd name="adj" fmla="val 2308"/>
            </a:avLst>
          </a:prstGeom>
          <a:solidFill>
            <a:srgbClr val="EDF7F2"/>
          </a:solidFill>
          <a:ln w="12700">
            <a:solidFill>
              <a:srgbClr val="1E8A5A"/>
            </a:solidFill>
            <a:prstDash val="dash"/>
          </a:ln>
        </p:spPr>
      </p:sp>
      <p:sp>
        <p:nvSpPr>
          <p:cNvPr id="28" name="Text 22"/>
          <p:cNvSpPr txBox="1"/>
          <p:nvPr/>
        </p:nvSpPr>
        <p:spPr>
          <a:xfrm>
            <a:off x="6245352" y="1810512"/>
            <a:ext cx="2148840" cy="192024"/>
          </a:xfrm>
          <a:prstGeom prst="rect">
            <a:avLst/>
          </a:prstGeom>
          <a:noFill/>
          <a:ln/>
        </p:spPr>
        <p:txBody>
          <a:bodyPr wrap="square" lIns="0" tIns="0" rIns="0" bIns="0" rtlCol="0" anchor="ctr"/>
          <a:lstStyle/>
          <a:p>
            <a:pPr indent="0" marL="0">
              <a:buNone/>
            </a:pPr>
            <a:r>
              <a:rPr lang="en-US" sz="900" b="1" spc="100" kern="0" dirty="0">
                <a:solidFill>
                  <a:srgbClr val="1E8A5A"/>
                </a:solidFill>
                <a:latin typeface="Calibri" pitchFamily="34" charset="0"/>
                <a:ea typeface="Calibri" pitchFamily="34" charset="-122"/>
                <a:cs typeface="Calibri" pitchFamily="34" charset="-120"/>
              </a:rPr>
              <a:t>ORCHESTRATION</a:t>
            </a:r>
            <a:endParaRPr lang="en-US" sz="900" dirty="0"/>
          </a:p>
        </p:txBody>
      </p:sp>
      <p:sp>
        <p:nvSpPr>
          <p:cNvPr id="29" name="Shape 23"/>
          <p:cNvSpPr/>
          <p:nvPr/>
        </p:nvSpPr>
        <p:spPr>
          <a:xfrm>
            <a:off x="7315200" y="6236208"/>
            <a:ext cx="0" cy="219456"/>
          </a:xfrm>
          <a:prstGeom prst="line">
            <a:avLst/>
          </a:prstGeom>
          <a:noFill/>
          <a:ln w="15875">
            <a:solidFill>
              <a:srgbClr val="6B7C93"/>
            </a:solidFill>
            <a:prstDash val="dash"/>
            <a:tailEnd type="triangle"/>
          </a:ln>
        </p:spPr>
      </p:sp>
      <p:sp>
        <p:nvSpPr>
          <p:cNvPr id="30" name="Shape 24"/>
          <p:cNvSpPr/>
          <p:nvPr/>
        </p:nvSpPr>
        <p:spPr>
          <a:xfrm>
            <a:off x="8933688" y="1737360"/>
            <a:ext cx="2377440" cy="4480560"/>
          </a:xfrm>
          <a:prstGeom prst="roundRect">
            <a:avLst>
              <a:gd name="adj" fmla="val 2308"/>
            </a:avLst>
          </a:prstGeom>
          <a:solidFill>
            <a:srgbClr val="F3F1FB"/>
          </a:solidFill>
          <a:ln w="12700">
            <a:solidFill>
              <a:srgbClr val="5B4FA8"/>
            </a:solidFill>
            <a:prstDash val="dash"/>
          </a:ln>
        </p:spPr>
      </p:sp>
      <p:sp>
        <p:nvSpPr>
          <p:cNvPr id="31" name="Text 25"/>
          <p:cNvSpPr txBox="1"/>
          <p:nvPr/>
        </p:nvSpPr>
        <p:spPr>
          <a:xfrm>
            <a:off x="9052560" y="1810512"/>
            <a:ext cx="2148840" cy="192024"/>
          </a:xfrm>
          <a:prstGeom prst="rect">
            <a:avLst/>
          </a:prstGeom>
          <a:noFill/>
          <a:ln/>
        </p:spPr>
        <p:txBody>
          <a:bodyPr wrap="square" lIns="0" tIns="0" rIns="0" bIns="0" rtlCol="0" anchor="ctr"/>
          <a:lstStyle/>
          <a:p>
            <a:pPr indent="0" marL="0">
              <a:buNone/>
            </a:pPr>
            <a:r>
              <a:rPr lang="en-US" sz="900" b="1" spc="100" kern="0" dirty="0">
                <a:solidFill>
                  <a:srgbClr val="5B4FA8"/>
                </a:solidFill>
                <a:latin typeface="Calibri" pitchFamily="34" charset="0"/>
                <a:ea typeface="Calibri" pitchFamily="34" charset="-122"/>
                <a:cs typeface="Calibri" pitchFamily="34" charset="-120"/>
              </a:rPr>
              <a:t>AI REASONING</a:t>
            </a:r>
            <a:endParaRPr lang="en-US" sz="900" dirty="0"/>
          </a:p>
        </p:txBody>
      </p:sp>
      <p:sp>
        <p:nvSpPr>
          <p:cNvPr id="32" name="Shape 26"/>
          <p:cNvSpPr/>
          <p:nvPr/>
        </p:nvSpPr>
        <p:spPr>
          <a:xfrm>
            <a:off x="10122408" y="6236208"/>
            <a:ext cx="0" cy="219456"/>
          </a:xfrm>
          <a:prstGeom prst="line">
            <a:avLst/>
          </a:prstGeom>
          <a:noFill/>
          <a:ln w="15875">
            <a:solidFill>
              <a:srgbClr val="6B7C93"/>
            </a:solidFill>
            <a:prstDash val="dash"/>
            <a:tailEnd type="triangle"/>
          </a:ln>
        </p:spPr>
      </p:sp>
      <p:sp>
        <p:nvSpPr>
          <p:cNvPr id="33" name="Shape 27"/>
          <p:cNvSpPr/>
          <p:nvPr/>
        </p:nvSpPr>
        <p:spPr>
          <a:xfrm>
            <a:off x="11740896" y="1737360"/>
            <a:ext cx="2377440" cy="4480560"/>
          </a:xfrm>
          <a:prstGeom prst="roundRect">
            <a:avLst>
              <a:gd name="adj" fmla="val 2308"/>
            </a:avLst>
          </a:prstGeom>
          <a:solidFill>
            <a:srgbClr val="EEF4FB"/>
          </a:solidFill>
          <a:ln w="12700">
            <a:solidFill>
              <a:srgbClr val="1F6FB5"/>
            </a:solidFill>
            <a:prstDash val="dash"/>
          </a:ln>
        </p:spPr>
      </p:sp>
      <p:sp>
        <p:nvSpPr>
          <p:cNvPr id="34" name="Text 28"/>
          <p:cNvSpPr txBox="1"/>
          <p:nvPr/>
        </p:nvSpPr>
        <p:spPr>
          <a:xfrm>
            <a:off x="11859768" y="1810512"/>
            <a:ext cx="2148840" cy="192024"/>
          </a:xfrm>
          <a:prstGeom prst="rect">
            <a:avLst/>
          </a:prstGeom>
          <a:noFill/>
          <a:ln/>
        </p:spPr>
        <p:txBody>
          <a:bodyPr wrap="square" lIns="0" tIns="0" rIns="0" bIns="0" rtlCol="0" anchor="ctr"/>
          <a:lstStyle/>
          <a:p>
            <a:pPr indent="0" marL="0">
              <a:buNone/>
            </a:pPr>
            <a:r>
              <a:rPr lang="en-US" sz="900" b="1" spc="100" kern="0" dirty="0">
                <a:solidFill>
                  <a:srgbClr val="1F6FB5"/>
                </a:solidFill>
                <a:latin typeface="Calibri" pitchFamily="34" charset="0"/>
                <a:ea typeface="Calibri" pitchFamily="34" charset="-122"/>
                <a:cs typeface="Calibri" pitchFamily="34" charset="-120"/>
              </a:rPr>
              <a:t>CONTROLLER EXPERIENCE</a:t>
            </a:r>
            <a:endParaRPr lang="en-US" sz="900" dirty="0"/>
          </a:p>
        </p:txBody>
      </p:sp>
      <p:sp>
        <p:nvSpPr>
          <p:cNvPr id="35" name="Shape 29"/>
          <p:cNvSpPr/>
          <p:nvPr/>
        </p:nvSpPr>
        <p:spPr>
          <a:xfrm>
            <a:off x="12929616" y="6236208"/>
            <a:ext cx="0" cy="219456"/>
          </a:xfrm>
          <a:prstGeom prst="line">
            <a:avLst/>
          </a:prstGeom>
          <a:noFill/>
          <a:ln w="15875">
            <a:solidFill>
              <a:srgbClr val="6B7C93"/>
            </a:solidFill>
            <a:prstDash val="dash"/>
            <a:tailEnd type="triangle"/>
          </a:ln>
        </p:spPr>
      </p:sp>
      <p:sp>
        <p:nvSpPr>
          <p:cNvPr id="36" name="Shape 30"/>
          <p:cNvSpPr/>
          <p:nvPr/>
        </p:nvSpPr>
        <p:spPr>
          <a:xfrm>
            <a:off x="932688" y="2212848"/>
            <a:ext cx="1527048" cy="1426464"/>
          </a:xfrm>
          <a:prstGeom prst="roundRect">
            <a:avLst>
              <a:gd name="adj" fmla="val 5128"/>
            </a:avLst>
          </a:prstGeom>
          <a:solidFill>
            <a:srgbClr val="FFFFFF"/>
          </a:solidFill>
          <a:ln w="9525">
            <a:solidFill>
              <a:srgbClr val="C8D8EC"/>
            </a:solidFill>
            <a:prstDash val="solid"/>
          </a:ln>
        </p:spPr>
      </p:sp>
      <p:sp>
        <p:nvSpPr>
          <p:cNvPr id="37" name="Shape 31"/>
          <p:cNvSpPr/>
          <p:nvPr/>
        </p:nvSpPr>
        <p:spPr>
          <a:xfrm>
            <a:off x="1431036" y="2322576"/>
            <a:ext cx="530352" cy="530352"/>
          </a:xfrm>
          <a:prstGeom prst="roundRect">
            <a:avLst>
              <a:gd name="adj" fmla="val 17241"/>
            </a:avLst>
          </a:prstGeom>
          <a:solidFill>
            <a:srgbClr val="1B4F93"/>
          </a:solidFill>
          <a:ln w="12700">
            <a:solidFill>
              <a:srgbClr val="1B4F93"/>
            </a:solidFill>
            <a:prstDash val="solid"/>
          </a:ln>
        </p:spPr>
      </p:sp>
      <p:pic>
        <p:nvPicPr>
          <p:cNvPr id="38" name="Image 4" descr="preencoded.png">    </p:cNvPr>
          <p:cNvPicPr>
            <a:picLocks noChangeAspect="1"/>
          </p:cNvPicPr>
          <p:nvPr/>
        </p:nvPicPr>
        <p:blipFill>
          <a:blip r:embed="rId5"/>
          <a:stretch>
            <a:fillRect/>
          </a:stretch>
        </p:blipFill>
        <p:spPr>
          <a:xfrm>
            <a:off x="1547713" y="2439253"/>
            <a:ext cx="296997" cy="296997"/>
          </a:xfrm>
          <a:prstGeom prst="rect">
            <a:avLst/>
          </a:prstGeom>
        </p:spPr>
      </p:pic>
      <p:sp>
        <p:nvSpPr>
          <p:cNvPr id="39" name="Text 32"/>
          <p:cNvSpPr txBox="1"/>
          <p:nvPr/>
        </p:nvSpPr>
        <p:spPr>
          <a:xfrm>
            <a:off x="978408"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MBREC</a:t>
            </a:r>
            <a:endParaRPr lang="en-US" sz="1200" dirty="0"/>
          </a:p>
        </p:txBody>
      </p:sp>
      <p:sp>
        <p:nvSpPr>
          <p:cNvPr id="40" name="Text 33"/>
          <p:cNvSpPr txBox="1"/>
          <p:nvPr/>
        </p:nvSpPr>
        <p:spPr>
          <a:xfrm>
            <a:off x="1005840"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Master-book reconciliation of CATS vs MOTIF</a:t>
            </a:r>
            <a:endParaRPr lang="en-US" sz="900" dirty="0"/>
          </a:p>
        </p:txBody>
      </p:sp>
      <p:sp>
        <p:nvSpPr>
          <p:cNvPr id="41" name="Shape 34"/>
          <p:cNvSpPr/>
          <p:nvPr/>
        </p:nvSpPr>
        <p:spPr>
          <a:xfrm>
            <a:off x="3739896" y="2212848"/>
            <a:ext cx="1527048" cy="1426464"/>
          </a:xfrm>
          <a:prstGeom prst="roundRect">
            <a:avLst>
              <a:gd name="adj" fmla="val 5128"/>
            </a:avLst>
          </a:prstGeom>
          <a:solidFill>
            <a:srgbClr val="FFFFFF"/>
          </a:solidFill>
          <a:ln w="9525">
            <a:solidFill>
              <a:srgbClr val="C8D8EC"/>
            </a:solidFill>
            <a:prstDash val="solid"/>
          </a:ln>
        </p:spPr>
      </p:sp>
      <p:sp>
        <p:nvSpPr>
          <p:cNvPr id="42" name="Shape 35"/>
          <p:cNvSpPr/>
          <p:nvPr/>
        </p:nvSpPr>
        <p:spPr>
          <a:xfrm>
            <a:off x="4238244" y="2322576"/>
            <a:ext cx="530352" cy="530352"/>
          </a:xfrm>
          <a:prstGeom prst="roundRect">
            <a:avLst>
              <a:gd name="adj" fmla="val 17241"/>
            </a:avLst>
          </a:prstGeom>
          <a:solidFill>
            <a:srgbClr val="2A6EBB"/>
          </a:solidFill>
          <a:ln w="12700">
            <a:solidFill>
              <a:srgbClr val="2A6EBB"/>
            </a:solidFill>
            <a:prstDash val="solid"/>
          </a:ln>
        </p:spPr>
      </p:sp>
      <p:pic>
        <p:nvPicPr>
          <p:cNvPr id="43" name="Image 5" descr="preencoded.png">    </p:cNvPr>
          <p:cNvPicPr>
            <a:picLocks noChangeAspect="1"/>
          </p:cNvPicPr>
          <p:nvPr/>
        </p:nvPicPr>
        <p:blipFill>
          <a:blip r:embed="rId6"/>
          <a:stretch>
            <a:fillRect/>
          </a:stretch>
        </p:blipFill>
        <p:spPr>
          <a:xfrm>
            <a:off x="4354921" y="2439253"/>
            <a:ext cx="296997" cy="296997"/>
          </a:xfrm>
          <a:prstGeom prst="rect">
            <a:avLst/>
          </a:prstGeom>
        </p:spPr>
      </p:pic>
      <p:sp>
        <p:nvSpPr>
          <p:cNvPr id="44" name="Text 36"/>
          <p:cNvSpPr txBox="1"/>
          <p:nvPr/>
        </p:nvSpPr>
        <p:spPr>
          <a:xfrm>
            <a:off x="3785616"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One Fin UX</a:t>
            </a:r>
            <a:endParaRPr lang="en-US" sz="1200" dirty="0"/>
          </a:p>
        </p:txBody>
      </p:sp>
      <p:sp>
        <p:nvSpPr>
          <p:cNvPr id="45" name="Text 37"/>
          <p:cNvSpPr txBox="1"/>
          <p:nvPr/>
        </p:nvSpPr>
        <p:spPr>
          <a:xfrm>
            <a:off x="3813048"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Event hub and business outcome per workspace</a:t>
            </a:r>
            <a:endParaRPr lang="en-US" sz="900" dirty="0"/>
          </a:p>
        </p:txBody>
      </p:sp>
      <p:sp>
        <p:nvSpPr>
          <p:cNvPr id="46" name="Shape 38"/>
          <p:cNvSpPr/>
          <p:nvPr/>
        </p:nvSpPr>
        <p:spPr>
          <a:xfrm>
            <a:off x="6556248" y="2212848"/>
            <a:ext cx="1527048" cy="1426464"/>
          </a:xfrm>
          <a:prstGeom prst="roundRect">
            <a:avLst>
              <a:gd name="adj" fmla="val 5128"/>
            </a:avLst>
          </a:prstGeom>
          <a:solidFill>
            <a:srgbClr val="FFFFFF"/>
          </a:solidFill>
          <a:ln w="9525">
            <a:solidFill>
              <a:srgbClr val="C8D8EC"/>
            </a:solidFill>
            <a:prstDash val="solid"/>
          </a:ln>
        </p:spPr>
      </p:sp>
      <p:sp>
        <p:nvSpPr>
          <p:cNvPr id="47" name="Shape 39"/>
          <p:cNvSpPr/>
          <p:nvPr/>
        </p:nvSpPr>
        <p:spPr>
          <a:xfrm>
            <a:off x="7054596" y="2322576"/>
            <a:ext cx="530352" cy="530352"/>
          </a:xfrm>
          <a:prstGeom prst="roundRect">
            <a:avLst>
              <a:gd name="adj" fmla="val 17241"/>
            </a:avLst>
          </a:prstGeom>
          <a:solidFill>
            <a:srgbClr val="1E8A5A"/>
          </a:solidFill>
          <a:ln w="12700">
            <a:solidFill>
              <a:srgbClr val="1E8A5A"/>
            </a:solidFill>
            <a:prstDash val="solid"/>
          </a:ln>
        </p:spPr>
      </p:sp>
      <p:pic>
        <p:nvPicPr>
          <p:cNvPr id="48" name="Image 6" descr="preencoded.png">    </p:cNvPr>
          <p:cNvPicPr>
            <a:picLocks noChangeAspect="1"/>
          </p:cNvPicPr>
          <p:nvPr/>
        </p:nvPicPr>
        <p:blipFill>
          <a:blip r:embed="rId7"/>
          <a:stretch>
            <a:fillRect/>
          </a:stretch>
        </p:blipFill>
        <p:spPr>
          <a:xfrm>
            <a:off x="7171273" y="2439253"/>
            <a:ext cx="296997" cy="296997"/>
          </a:xfrm>
          <a:prstGeom prst="rect">
            <a:avLst/>
          </a:prstGeom>
        </p:spPr>
      </p:pic>
      <p:sp>
        <p:nvSpPr>
          <p:cNvPr id="49" name="Text 40"/>
          <p:cNvSpPr txBox="1"/>
          <p:nvPr/>
        </p:nvSpPr>
        <p:spPr>
          <a:xfrm>
            <a:off x="6601968"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Helix Agent</a:t>
            </a:r>
            <a:endParaRPr lang="en-US" sz="1200" dirty="0"/>
          </a:p>
        </p:txBody>
      </p:sp>
      <p:sp>
        <p:nvSpPr>
          <p:cNvPr id="50" name="Text 41"/>
          <p:cNvSpPr txBox="1"/>
          <p:nvPr/>
        </p:nvSpPr>
        <p:spPr>
          <a:xfrm>
            <a:off x="6629400"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Orchestrates automated sessions</a:t>
            </a:r>
            <a:endParaRPr lang="en-US" sz="900" dirty="0"/>
          </a:p>
        </p:txBody>
      </p:sp>
      <p:sp>
        <p:nvSpPr>
          <p:cNvPr id="51" name="Shape 42"/>
          <p:cNvSpPr/>
          <p:nvPr/>
        </p:nvSpPr>
        <p:spPr>
          <a:xfrm>
            <a:off x="9363456" y="2212848"/>
            <a:ext cx="1527048" cy="1426464"/>
          </a:xfrm>
          <a:prstGeom prst="roundRect">
            <a:avLst>
              <a:gd name="adj" fmla="val 5128"/>
            </a:avLst>
          </a:prstGeom>
          <a:solidFill>
            <a:srgbClr val="FFFFFF"/>
          </a:solidFill>
          <a:ln w="9525">
            <a:solidFill>
              <a:srgbClr val="C8D8EC"/>
            </a:solidFill>
            <a:prstDash val="solid"/>
          </a:ln>
        </p:spPr>
      </p:sp>
      <p:sp>
        <p:nvSpPr>
          <p:cNvPr id="52" name="Shape 43"/>
          <p:cNvSpPr/>
          <p:nvPr/>
        </p:nvSpPr>
        <p:spPr>
          <a:xfrm>
            <a:off x="9861804" y="2322576"/>
            <a:ext cx="530352" cy="530352"/>
          </a:xfrm>
          <a:prstGeom prst="roundRect">
            <a:avLst>
              <a:gd name="adj" fmla="val 17241"/>
            </a:avLst>
          </a:prstGeom>
          <a:solidFill>
            <a:srgbClr val="5B4FA8"/>
          </a:solidFill>
          <a:ln w="12700">
            <a:solidFill>
              <a:srgbClr val="5B4FA8"/>
            </a:solidFill>
            <a:prstDash val="solid"/>
          </a:ln>
        </p:spPr>
      </p:sp>
      <p:pic>
        <p:nvPicPr>
          <p:cNvPr id="53" name="Image 7" descr="preencoded.png">    </p:cNvPr>
          <p:cNvPicPr>
            <a:picLocks noChangeAspect="1"/>
          </p:cNvPicPr>
          <p:nvPr/>
        </p:nvPicPr>
        <p:blipFill>
          <a:blip r:embed="rId8"/>
          <a:stretch>
            <a:fillRect/>
          </a:stretch>
        </p:blipFill>
        <p:spPr>
          <a:xfrm>
            <a:off x="9978481" y="2439253"/>
            <a:ext cx="296997" cy="296997"/>
          </a:xfrm>
          <a:prstGeom prst="rect">
            <a:avLst/>
          </a:prstGeom>
        </p:spPr>
      </p:pic>
      <p:sp>
        <p:nvSpPr>
          <p:cNvPr id="54" name="Text 44"/>
          <p:cNvSpPr txBox="1"/>
          <p:nvPr/>
        </p:nvSpPr>
        <p:spPr>
          <a:xfrm>
            <a:off x="9409176"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Agent One</a:t>
            </a:r>
            <a:endParaRPr lang="en-US" sz="1200" dirty="0"/>
          </a:p>
        </p:txBody>
      </p:sp>
      <p:sp>
        <p:nvSpPr>
          <p:cNvPr id="55" name="Text 45"/>
          <p:cNvSpPr txBox="1"/>
          <p:nvPr/>
        </p:nvSpPr>
        <p:spPr>
          <a:xfrm>
            <a:off x="9436608"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Skill-based investigation: classify, explain, recommend</a:t>
            </a:r>
            <a:endParaRPr lang="en-US" sz="900" dirty="0"/>
          </a:p>
        </p:txBody>
      </p:sp>
      <p:sp>
        <p:nvSpPr>
          <p:cNvPr id="56" name="Shape 46"/>
          <p:cNvSpPr/>
          <p:nvPr/>
        </p:nvSpPr>
        <p:spPr>
          <a:xfrm>
            <a:off x="12170664" y="2212848"/>
            <a:ext cx="1527048" cy="1426464"/>
          </a:xfrm>
          <a:prstGeom prst="roundRect">
            <a:avLst>
              <a:gd name="adj" fmla="val 5128"/>
            </a:avLst>
          </a:prstGeom>
          <a:solidFill>
            <a:srgbClr val="FFFFFF"/>
          </a:solidFill>
          <a:ln w="9525">
            <a:solidFill>
              <a:srgbClr val="C8D8EC"/>
            </a:solidFill>
            <a:prstDash val="solid"/>
          </a:ln>
        </p:spPr>
      </p:sp>
      <p:sp>
        <p:nvSpPr>
          <p:cNvPr id="57" name="Shape 47"/>
          <p:cNvSpPr/>
          <p:nvPr/>
        </p:nvSpPr>
        <p:spPr>
          <a:xfrm>
            <a:off x="12669012" y="2322576"/>
            <a:ext cx="530352" cy="530352"/>
          </a:xfrm>
          <a:prstGeom prst="roundRect">
            <a:avLst>
              <a:gd name="adj" fmla="val 17241"/>
            </a:avLst>
          </a:prstGeom>
          <a:solidFill>
            <a:srgbClr val="1F6FB5"/>
          </a:solidFill>
          <a:ln w="12700">
            <a:solidFill>
              <a:srgbClr val="1F6FB5"/>
            </a:solidFill>
            <a:prstDash val="solid"/>
          </a:ln>
        </p:spPr>
      </p:sp>
      <p:pic>
        <p:nvPicPr>
          <p:cNvPr id="58" name="Image 8" descr="preencoded.png">    </p:cNvPr>
          <p:cNvPicPr>
            <a:picLocks noChangeAspect="1"/>
          </p:cNvPicPr>
          <p:nvPr/>
        </p:nvPicPr>
        <p:blipFill>
          <a:blip r:embed="rId9"/>
          <a:stretch>
            <a:fillRect/>
          </a:stretch>
        </p:blipFill>
        <p:spPr>
          <a:xfrm>
            <a:off x="12785689" y="2439253"/>
            <a:ext cx="296997" cy="296997"/>
          </a:xfrm>
          <a:prstGeom prst="rect">
            <a:avLst/>
          </a:prstGeom>
        </p:spPr>
      </p:pic>
      <p:sp>
        <p:nvSpPr>
          <p:cNvPr id="59" name="Text 48"/>
          <p:cNvSpPr txBox="1"/>
          <p:nvPr/>
        </p:nvSpPr>
        <p:spPr>
          <a:xfrm>
            <a:off x="12216384"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Helix UI</a:t>
            </a:r>
            <a:endParaRPr lang="en-US" sz="1200" dirty="0"/>
          </a:p>
        </p:txBody>
      </p:sp>
      <p:sp>
        <p:nvSpPr>
          <p:cNvPr id="60" name="Text 49"/>
          <p:cNvSpPr txBox="1"/>
          <p:nvPr/>
        </p:nvSpPr>
        <p:spPr>
          <a:xfrm>
            <a:off x="12243816"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Session analysis and chat per workspace</a:t>
            </a:r>
            <a:endParaRPr lang="en-US" sz="900" dirty="0"/>
          </a:p>
        </p:txBody>
      </p:sp>
      <p:sp>
        <p:nvSpPr>
          <p:cNvPr id="61" name="Shape 50"/>
          <p:cNvSpPr/>
          <p:nvPr/>
        </p:nvSpPr>
        <p:spPr>
          <a:xfrm>
            <a:off x="932688" y="4645152"/>
            <a:ext cx="1527048" cy="1261872"/>
          </a:xfrm>
          <a:prstGeom prst="roundRect">
            <a:avLst>
              <a:gd name="adj" fmla="val 5797"/>
            </a:avLst>
          </a:prstGeom>
          <a:solidFill>
            <a:srgbClr val="FFFFFF"/>
          </a:solidFill>
          <a:ln w="9525">
            <a:solidFill>
              <a:srgbClr val="C8D8EC"/>
            </a:solidFill>
            <a:prstDash val="solid"/>
          </a:ln>
        </p:spPr>
      </p:sp>
      <p:sp>
        <p:nvSpPr>
          <p:cNvPr id="62" name="Shape 51"/>
          <p:cNvSpPr/>
          <p:nvPr/>
        </p:nvSpPr>
        <p:spPr>
          <a:xfrm>
            <a:off x="1431036" y="4754880"/>
            <a:ext cx="530352" cy="530352"/>
          </a:xfrm>
          <a:prstGeom prst="roundRect">
            <a:avLst>
              <a:gd name="adj" fmla="val 17241"/>
            </a:avLst>
          </a:prstGeom>
          <a:solidFill>
            <a:srgbClr val="4F7BB5"/>
          </a:solidFill>
          <a:ln w="12700">
            <a:solidFill>
              <a:srgbClr val="4F7BB5"/>
            </a:solidFill>
            <a:prstDash val="solid"/>
          </a:ln>
        </p:spPr>
      </p:sp>
      <p:pic>
        <p:nvPicPr>
          <p:cNvPr id="63" name="Image 9" descr="preencoded.png">    </p:cNvPr>
          <p:cNvPicPr>
            <a:picLocks noChangeAspect="1"/>
          </p:cNvPicPr>
          <p:nvPr/>
        </p:nvPicPr>
        <p:blipFill>
          <a:blip r:embed="rId10"/>
          <a:stretch>
            <a:fillRect/>
          </a:stretch>
        </p:blipFill>
        <p:spPr>
          <a:xfrm>
            <a:off x="1547713" y="4871557"/>
            <a:ext cx="296997" cy="296997"/>
          </a:xfrm>
          <a:prstGeom prst="rect">
            <a:avLst/>
          </a:prstGeom>
        </p:spPr>
      </p:pic>
      <p:sp>
        <p:nvSpPr>
          <p:cNvPr id="64" name="Text 52"/>
          <p:cNvSpPr txBox="1"/>
          <p:nvPr/>
        </p:nvSpPr>
        <p:spPr>
          <a:xfrm>
            <a:off x="978408" y="5349240"/>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Master Books</a:t>
            </a:r>
            <a:endParaRPr lang="en-US" sz="1200" dirty="0"/>
          </a:p>
        </p:txBody>
      </p:sp>
      <p:sp>
        <p:nvSpPr>
          <p:cNvPr id="65" name="Text 53"/>
          <p:cNvSpPr txBox="1"/>
          <p:nvPr/>
        </p:nvSpPr>
        <p:spPr>
          <a:xfrm>
            <a:off x="1005840" y="5559552"/>
            <a:ext cx="1380744"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X books per workspace (FO, BO, other)</a:t>
            </a:r>
            <a:endParaRPr lang="en-US" sz="900" dirty="0"/>
          </a:p>
        </p:txBody>
      </p:sp>
      <p:sp>
        <p:nvSpPr>
          <p:cNvPr id="66" name="Shape 54"/>
          <p:cNvSpPr/>
          <p:nvPr/>
        </p:nvSpPr>
        <p:spPr>
          <a:xfrm>
            <a:off x="3739896" y="4645152"/>
            <a:ext cx="1527048" cy="1261872"/>
          </a:xfrm>
          <a:prstGeom prst="roundRect">
            <a:avLst>
              <a:gd name="adj" fmla="val 5797"/>
            </a:avLst>
          </a:prstGeom>
          <a:solidFill>
            <a:srgbClr val="FFFFFF"/>
          </a:solidFill>
          <a:ln w="9525">
            <a:solidFill>
              <a:srgbClr val="C8D8EC"/>
            </a:solidFill>
            <a:prstDash val="solid"/>
          </a:ln>
        </p:spPr>
      </p:sp>
      <p:sp>
        <p:nvSpPr>
          <p:cNvPr id="67" name="Shape 55"/>
          <p:cNvSpPr/>
          <p:nvPr/>
        </p:nvSpPr>
        <p:spPr>
          <a:xfrm>
            <a:off x="4238244" y="4754880"/>
            <a:ext cx="530352" cy="530352"/>
          </a:xfrm>
          <a:prstGeom prst="roundRect">
            <a:avLst>
              <a:gd name="adj" fmla="val 17241"/>
            </a:avLst>
          </a:prstGeom>
          <a:solidFill>
            <a:srgbClr val="3F86C8"/>
          </a:solidFill>
          <a:ln w="12700">
            <a:solidFill>
              <a:srgbClr val="3F86C8"/>
            </a:solidFill>
            <a:prstDash val="solid"/>
          </a:ln>
        </p:spPr>
      </p:sp>
      <p:pic>
        <p:nvPicPr>
          <p:cNvPr id="68" name="Image 10" descr="preencoded.png">    </p:cNvPr>
          <p:cNvPicPr>
            <a:picLocks noChangeAspect="1"/>
          </p:cNvPicPr>
          <p:nvPr/>
        </p:nvPicPr>
        <p:blipFill>
          <a:blip r:embed="rId11"/>
          <a:stretch>
            <a:fillRect/>
          </a:stretch>
        </p:blipFill>
        <p:spPr>
          <a:xfrm>
            <a:off x="4354921" y="4871557"/>
            <a:ext cx="296997" cy="296997"/>
          </a:xfrm>
          <a:prstGeom prst="rect">
            <a:avLst/>
          </a:prstGeom>
        </p:spPr>
      </p:pic>
      <p:sp>
        <p:nvSpPr>
          <p:cNvPr id="69" name="Text 56"/>
          <p:cNvSpPr txBox="1"/>
          <p:nvPr/>
        </p:nvSpPr>
        <p:spPr>
          <a:xfrm>
            <a:off x="3785616" y="5349240"/>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Business Outcome</a:t>
            </a:r>
            <a:endParaRPr lang="en-US" sz="1200" dirty="0"/>
          </a:p>
        </p:txBody>
      </p:sp>
      <p:sp>
        <p:nvSpPr>
          <p:cNvPr id="70" name="Text 57"/>
          <p:cNvSpPr txBox="1"/>
          <p:nvPr/>
        </p:nvSpPr>
        <p:spPr>
          <a:xfrm>
            <a:off x="3813048" y="5559552"/>
            <a:ext cx="1380744"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Ready when all X books are available</a:t>
            </a:r>
            <a:endParaRPr lang="en-US" sz="900" dirty="0"/>
          </a:p>
        </p:txBody>
      </p:sp>
      <p:sp>
        <p:nvSpPr>
          <p:cNvPr id="71" name="Shape 58"/>
          <p:cNvSpPr/>
          <p:nvPr/>
        </p:nvSpPr>
        <p:spPr>
          <a:xfrm>
            <a:off x="6556248" y="4645152"/>
            <a:ext cx="1527048" cy="1261872"/>
          </a:xfrm>
          <a:prstGeom prst="roundRect">
            <a:avLst>
              <a:gd name="adj" fmla="val 5797"/>
            </a:avLst>
          </a:prstGeom>
          <a:solidFill>
            <a:srgbClr val="FFFFFF"/>
          </a:solidFill>
          <a:ln w="9525">
            <a:solidFill>
              <a:srgbClr val="C8D8EC"/>
            </a:solidFill>
            <a:prstDash val="solid"/>
          </a:ln>
        </p:spPr>
      </p:sp>
      <p:sp>
        <p:nvSpPr>
          <p:cNvPr id="72" name="Shape 59"/>
          <p:cNvSpPr/>
          <p:nvPr/>
        </p:nvSpPr>
        <p:spPr>
          <a:xfrm>
            <a:off x="7054596" y="4754880"/>
            <a:ext cx="530352" cy="530352"/>
          </a:xfrm>
          <a:prstGeom prst="roundRect">
            <a:avLst>
              <a:gd name="adj" fmla="val 17241"/>
            </a:avLst>
          </a:prstGeom>
          <a:solidFill>
            <a:srgbClr val="1E8A5A"/>
          </a:solidFill>
          <a:ln w="12700">
            <a:solidFill>
              <a:srgbClr val="1E8A5A"/>
            </a:solidFill>
            <a:prstDash val="solid"/>
          </a:ln>
        </p:spPr>
      </p:sp>
      <p:pic>
        <p:nvPicPr>
          <p:cNvPr id="73" name="Image 11" descr="preencoded.png">    </p:cNvPr>
          <p:cNvPicPr>
            <a:picLocks noChangeAspect="1"/>
          </p:cNvPicPr>
          <p:nvPr/>
        </p:nvPicPr>
        <p:blipFill>
          <a:blip r:embed="rId12"/>
          <a:stretch>
            <a:fillRect/>
          </a:stretch>
        </p:blipFill>
        <p:spPr>
          <a:xfrm>
            <a:off x="7171273" y="4871557"/>
            <a:ext cx="296997" cy="296997"/>
          </a:xfrm>
          <a:prstGeom prst="rect">
            <a:avLst/>
          </a:prstGeom>
        </p:spPr>
      </p:pic>
      <p:sp>
        <p:nvSpPr>
          <p:cNvPr id="74" name="Text 60"/>
          <p:cNvSpPr txBox="1"/>
          <p:nvPr/>
        </p:nvSpPr>
        <p:spPr>
          <a:xfrm>
            <a:off x="6601968" y="5349240"/>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Readiness Check</a:t>
            </a:r>
            <a:endParaRPr lang="en-US" sz="1200" dirty="0"/>
          </a:p>
        </p:txBody>
      </p:sp>
      <p:sp>
        <p:nvSpPr>
          <p:cNvPr id="75" name="Text 61"/>
          <p:cNvSpPr txBox="1"/>
          <p:nvPr/>
        </p:nvSpPr>
        <p:spPr>
          <a:xfrm>
            <a:off x="6629400" y="5559552"/>
            <a:ext cx="1380744"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Validates workspace before session start</a:t>
            </a:r>
            <a:endParaRPr lang="en-US" sz="900" dirty="0"/>
          </a:p>
        </p:txBody>
      </p:sp>
      <p:sp>
        <p:nvSpPr>
          <p:cNvPr id="76" name="Shape 62"/>
          <p:cNvSpPr/>
          <p:nvPr/>
        </p:nvSpPr>
        <p:spPr>
          <a:xfrm>
            <a:off x="9015984" y="4645152"/>
            <a:ext cx="1051560" cy="1261872"/>
          </a:xfrm>
          <a:prstGeom prst="roundRect">
            <a:avLst>
              <a:gd name="adj" fmla="val 6957"/>
            </a:avLst>
          </a:prstGeom>
          <a:solidFill>
            <a:srgbClr val="FFFFFF"/>
          </a:solidFill>
          <a:ln w="9525">
            <a:solidFill>
              <a:srgbClr val="C8D8EC"/>
            </a:solidFill>
            <a:prstDash val="solid"/>
          </a:ln>
        </p:spPr>
      </p:sp>
      <p:sp>
        <p:nvSpPr>
          <p:cNvPr id="77" name="Shape 63"/>
          <p:cNvSpPr/>
          <p:nvPr/>
        </p:nvSpPr>
        <p:spPr>
          <a:xfrm>
            <a:off x="9276588" y="4754880"/>
            <a:ext cx="530352" cy="530352"/>
          </a:xfrm>
          <a:prstGeom prst="roundRect">
            <a:avLst>
              <a:gd name="adj" fmla="val 17241"/>
            </a:avLst>
          </a:prstGeom>
          <a:solidFill>
            <a:srgbClr val="5B4FA8"/>
          </a:solidFill>
          <a:ln w="12700">
            <a:solidFill>
              <a:srgbClr val="5B4FA8"/>
            </a:solidFill>
            <a:prstDash val="solid"/>
          </a:ln>
        </p:spPr>
      </p:sp>
      <p:pic>
        <p:nvPicPr>
          <p:cNvPr id="78" name="Image 12" descr="preencoded.png">    </p:cNvPr>
          <p:cNvPicPr>
            <a:picLocks noChangeAspect="1"/>
          </p:cNvPicPr>
          <p:nvPr/>
        </p:nvPicPr>
        <p:blipFill>
          <a:blip r:embed="rId13"/>
          <a:stretch>
            <a:fillRect/>
          </a:stretch>
        </p:blipFill>
        <p:spPr>
          <a:xfrm>
            <a:off x="9393265" y="4871557"/>
            <a:ext cx="296997" cy="296997"/>
          </a:xfrm>
          <a:prstGeom prst="rect">
            <a:avLst/>
          </a:prstGeom>
        </p:spPr>
      </p:pic>
      <p:sp>
        <p:nvSpPr>
          <p:cNvPr id="79" name="Text 64"/>
          <p:cNvSpPr txBox="1"/>
          <p:nvPr/>
        </p:nvSpPr>
        <p:spPr>
          <a:xfrm>
            <a:off x="9061704" y="5349240"/>
            <a:ext cx="960120" cy="210312"/>
          </a:xfrm>
          <a:prstGeom prst="rect">
            <a:avLst/>
          </a:prstGeom>
          <a:noFill/>
          <a:ln/>
        </p:spPr>
        <p:txBody>
          <a:bodyPr wrap="square" lIns="0" tIns="0" rIns="0" bIns="0" rtlCol="0" anchor="ctr"/>
          <a:lstStyle/>
          <a:p>
            <a:pPr algn="ctr" indent="0" marL="0">
              <a:buNone/>
            </a:pPr>
            <a:r>
              <a:rPr lang="en-US" sz="1050" b="1" dirty="0">
                <a:solidFill>
                  <a:srgbClr val="1F2D3D"/>
                </a:solidFill>
                <a:latin typeface="Calibri" pitchFamily="34" charset="0"/>
                <a:ea typeface="Calibri" pitchFamily="34" charset="-122"/>
                <a:cs typeface="Calibri" pitchFamily="34" charset="-120"/>
              </a:rPr>
              <a:t>Data (MCP)</a:t>
            </a:r>
            <a:endParaRPr lang="en-US" sz="1050" dirty="0"/>
          </a:p>
        </p:txBody>
      </p:sp>
      <p:sp>
        <p:nvSpPr>
          <p:cNvPr id="80" name="Text 65"/>
          <p:cNvSpPr txBox="1"/>
          <p:nvPr/>
        </p:nvSpPr>
        <p:spPr>
          <a:xfrm>
            <a:off x="9089136" y="5559552"/>
            <a:ext cx="905256"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MB Rec and other data</a:t>
            </a:r>
            <a:endParaRPr lang="en-US" sz="900" dirty="0"/>
          </a:p>
        </p:txBody>
      </p:sp>
      <p:sp>
        <p:nvSpPr>
          <p:cNvPr id="81" name="Shape 66"/>
          <p:cNvSpPr/>
          <p:nvPr/>
        </p:nvSpPr>
        <p:spPr>
          <a:xfrm>
            <a:off x="10149840" y="4645152"/>
            <a:ext cx="1051560" cy="1261872"/>
          </a:xfrm>
          <a:prstGeom prst="roundRect">
            <a:avLst>
              <a:gd name="adj" fmla="val 6957"/>
            </a:avLst>
          </a:prstGeom>
          <a:solidFill>
            <a:srgbClr val="FFFFFF"/>
          </a:solidFill>
          <a:ln w="9525">
            <a:solidFill>
              <a:srgbClr val="C8D8EC"/>
            </a:solidFill>
            <a:prstDash val="solid"/>
          </a:ln>
        </p:spPr>
      </p:sp>
      <p:sp>
        <p:nvSpPr>
          <p:cNvPr id="82" name="Shape 67"/>
          <p:cNvSpPr/>
          <p:nvPr/>
        </p:nvSpPr>
        <p:spPr>
          <a:xfrm>
            <a:off x="10410444" y="4754880"/>
            <a:ext cx="530352" cy="530352"/>
          </a:xfrm>
          <a:prstGeom prst="roundRect">
            <a:avLst>
              <a:gd name="adj" fmla="val 17241"/>
            </a:avLst>
          </a:prstGeom>
          <a:solidFill>
            <a:srgbClr val="C0392B"/>
          </a:solidFill>
          <a:ln w="12700">
            <a:solidFill>
              <a:srgbClr val="C0392B"/>
            </a:solidFill>
            <a:prstDash val="solid"/>
          </a:ln>
        </p:spPr>
      </p:sp>
      <p:pic>
        <p:nvPicPr>
          <p:cNvPr id="83" name="Image 13" descr="preencoded.png">    </p:cNvPr>
          <p:cNvPicPr>
            <a:picLocks noChangeAspect="1"/>
          </p:cNvPicPr>
          <p:nvPr/>
        </p:nvPicPr>
        <p:blipFill>
          <a:blip r:embed="rId14"/>
          <a:stretch>
            <a:fillRect/>
          </a:stretch>
        </p:blipFill>
        <p:spPr>
          <a:xfrm>
            <a:off x="10527121" y="4871557"/>
            <a:ext cx="296997" cy="296997"/>
          </a:xfrm>
          <a:prstGeom prst="rect">
            <a:avLst/>
          </a:prstGeom>
        </p:spPr>
      </p:pic>
      <p:sp>
        <p:nvSpPr>
          <p:cNvPr id="84" name="Text 68"/>
          <p:cNvSpPr txBox="1"/>
          <p:nvPr/>
        </p:nvSpPr>
        <p:spPr>
          <a:xfrm>
            <a:off x="10195560" y="5349240"/>
            <a:ext cx="960120" cy="210312"/>
          </a:xfrm>
          <a:prstGeom prst="rect">
            <a:avLst/>
          </a:prstGeom>
          <a:noFill/>
          <a:ln/>
        </p:spPr>
        <p:txBody>
          <a:bodyPr wrap="square" lIns="0" tIns="0" rIns="0" bIns="0" rtlCol="0" anchor="ctr"/>
          <a:lstStyle/>
          <a:p>
            <a:pPr algn="ctr" indent="0" marL="0">
              <a:buNone/>
            </a:pPr>
            <a:r>
              <a:rPr lang="en-US" sz="1050" b="1" dirty="0">
                <a:solidFill>
                  <a:srgbClr val="1F2D3D"/>
                </a:solidFill>
                <a:latin typeface="Calibri" pitchFamily="34" charset="0"/>
                <a:ea typeface="Calibri" pitchFamily="34" charset="-122"/>
                <a:cs typeface="Calibri" pitchFamily="34" charset="-120"/>
              </a:rPr>
              <a:t>FAS Services</a:t>
            </a:r>
            <a:endParaRPr lang="en-US" sz="1050" dirty="0"/>
          </a:p>
        </p:txBody>
      </p:sp>
      <p:sp>
        <p:nvSpPr>
          <p:cNvPr id="85" name="Text 69"/>
          <p:cNvSpPr txBox="1"/>
          <p:nvPr/>
        </p:nvSpPr>
        <p:spPr>
          <a:xfrm>
            <a:off x="10222992" y="5559552"/>
            <a:ext cx="905256"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Posts adjustments to MOTIF</a:t>
            </a:r>
            <a:endParaRPr lang="en-US" sz="900" dirty="0"/>
          </a:p>
        </p:txBody>
      </p:sp>
      <p:sp>
        <p:nvSpPr>
          <p:cNvPr id="86" name="Shape 70"/>
          <p:cNvSpPr/>
          <p:nvPr/>
        </p:nvSpPr>
        <p:spPr>
          <a:xfrm>
            <a:off x="12170664" y="4645152"/>
            <a:ext cx="1527048" cy="1261872"/>
          </a:xfrm>
          <a:prstGeom prst="roundRect">
            <a:avLst>
              <a:gd name="adj" fmla="val 5797"/>
            </a:avLst>
          </a:prstGeom>
          <a:solidFill>
            <a:srgbClr val="FFFFFF"/>
          </a:solidFill>
          <a:ln w="9525">
            <a:solidFill>
              <a:srgbClr val="C8D8EC"/>
            </a:solidFill>
            <a:prstDash val="solid"/>
          </a:ln>
        </p:spPr>
      </p:sp>
      <p:sp>
        <p:nvSpPr>
          <p:cNvPr id="87" name="Shape 71"/>
          <p:cNvSpPr/>
          <p:nvPr/>
        </p:nvSpPr>
        <p:spPr>
          <a:xfrm>
            <a:off x="12669012" y="4754880"/>
            <a:ext cx="530352" cy="530352"/>
          </a:xfrm>
          <a:prstGeom prst="roundRect">
            <a:avLst>
              <a:gd name="adj" fmla="val 17241"/>
            </a:avLst>
          </a:prstGeom>
          <a:solidFill>
            <a:srgbClr val="1F6FB5"/>
          </a:solidFill>
          <a:ln w="12700">
            <a:solidFill>
              <a:srgbClr val="1F6FB5"/>
            </a:solidFill>
            <a:prstDash val="solid"/>
          </a:ln>
        </p:spPr>
      </p:sp>
      <p:pic>
        <p:nvPicPr>
          <p:cNvPr id="88" name="Image 14" descr="preencoded.png">    </p:cNvPr>
          <p:cNvPicPr>
            <a:picLocks noChangeAspect="1"/>
          </p:cNvPicPr>
          <p:nvPr/>
        </p:nvPicPr>
        <p:blipFill>
          <a:blip r:embed="rId15"/>
          <a:stretch>
            <a:fillRect/>
          </a:stretch>
        </p:blipFill>
        <p:spPr>
          <a:xfrm>
            <a:off x="12785689" y="4871557"/>
            <a:ext cx="296997" cy="296997"/>
          </a:xfrm>
          <a:prstGeom prst="rect">
            <a:avLst/>
          </a:prstGeom>
        </p:spPr>
      </p:pic>
      <p:sp>
        <p:nvSpPr>
          <p:cNvPr id="89" name="Text 72"/>
          <p:cNvSpPr txBox="1"/>
          <p:nvPr/>
        </p:nvSpPr>
        <p:spPr>
          <a:xfrm>
            <a:off x="12216384" y="5349240"/>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Controller</a:t>
            </a:r>
            <a:endParaRPr lang="en-US" sz="1200" dirty="0"/>
          </a:p>
        </p:txBody>
      </p:sp>
      <p:sp>
        <p:nvSpPr>
          <p:cNvPr id="90" name="Text 73"/>
          <p:cNvSpPr txBox="1"/>
          <p:nvPr/>
        </p:nvSpPr>
        <p:spPr>
          <a:xfrm>
            <a:off x="12243816" y="5559552"/>
            <a:ext cx="1380744"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Arrives at desk time, approves adjustments</a:t>
            </a:r>
            <a:endParaRPr lang="en-US" sz="900" dirty="0"/>
          </a:p>
        </p:txBody>
      </p:sp>
      <p:sp>
        <p:nvSpPr>
          <p:cNvPr id="91" name="Shape 74"/>
          <p:cNvSpPr/>
          <p:nvPr/>
        </p:nvSpPr>
        <p:spPr>
          <a:xfrm>
            <a:off x="2459736" y="2615184"/>
            <a:ext cx="1280160" cy="0"/>
          </a:xfrm>
          <a:prstGeom prst="line">
            <a:avLst/>
          </a:prstGeom>
          <a:noFill/>
          <a:ln w="19050">
            <a:solidFill>
              <a:srgbClr val="1F4E8C"/>
            </a:solidFill>
            <a:prstDash val="solid"/>
            <a:tailEnd type="triangle"/>
          </a:ln>
        </p:spPr>
      </p:sp>
      <p:sp>
        <p:nvSpPr>
          <p:cNvPr id="92" name="Shape 75"/>
          <p:cNvSpPr/>
          <p:nvPr/>
        </p:nvSpPr>
        <p:spPr>
          <a:xfrm>
            <a:off x="2532888" y="2286000"/>
            <a:ext cx="219456" cy="219456"/>
          </a:xfrm>
          <a:prstGeom prst="ellipse">
            <a:avLst/>
          </a:prstGeom>
          <a:solidFill>
            <a:srgbClr val="1F4E8C"/>
          </a:solidFill>
          <a:ln w="12700">
            <a:solidFill>
              <a:srgbClr val="1F4E8C"/>
            </a:solidFill>
            <a:prstDash val="solid"/>
          </a:ln>
        </p:spPr>
      </p:sp>
      <p:sp>
        <p:nvSpPr>
          <p:cNvPr id="93" name="Text 76"/>
          <p:cNvSpPr txBox="1"/>
          <p:nvPr/>
        </p:nvSpPr>
        <p:spPr>
          <a:xfrm>
            <a:off x="2532888" y="228600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94" name="Text 77"/>
          <p:cNvSpPr txBox="1"/>
          <p:nvPr/>
        </p:nvSpPr>
        <p:spPr>
          <a:xfrm>
            <a:off x="2788920" y="2029968"/>
            <a:ext cx="914400" cy="365760"/>
          </a:xfrm>
          <a:prstGeom prst="rect">
            <a:avLst/>
          </a:prstGeom>
          <a:solidFill>
            <a:srgbClr val="FFFFFF">
              <a:alpha val="0"/>
            </a:srgbClr>
          </a:solidFill>
          <a:ln/>
        </p:spPr>
        <p:txBody>
          <a:bodyPr wrap="square" lIns="0" tIns="0" rIns="0" bIns="0" rtlCol="0" anchor="b"/>
          <a:lstStyle/>
          <a:p>
            <a:pPr indent="0" marL="0">
              <a:buNone/>
            </a:pPr>
            <a:r>
              <a:rPr lang="en-US" sz="900" dirty="0">
                <a:solidFill>
                  <a:srgbClr val="1F2D3D"/>
                </a:solidFill>
                <a:latin typeface="Calibri" pitchFamily="34" charset="0"/>
                <a:ea typeface="Calibri" pitchFamily="34" charset="-122"/>
                <a:cs typeface="Calibri" pitchFamily="34" charset="-120"/>
              </a:rPr>
              <a:t>Book availability events</a:t>
            </a:r>
            <a:endParaRPr lang="en-US" sz="900" dirty="0"/>
          </a:p>
        </p:txBody>
      </p:sp>
      <p:sp>
        <p:nvSpPr>
          <p:cNvPr id="95" name="Shape 78"/>
          <p:cNvSpPr/>
          <p:nvPr/>
        </p:nvSpPr>
        <p:spPr>
          <a:xfrm>
            <a:off x="5266944" y="2615184"/>
            <a:ext cx="1289304" cy="0"/>
          </a:xfrm>
          <a:prstGeom prst="line">
            <a:avLst/>
          </a:prstGeom>
          <a:noFill/>
          <a:ln w="19050">
            <a:solidFill>
              <a:srgbClr val="2A6EBB"/>
            </a:solidFill>
            <a:prstDash val="solid"/>
            <a:tailEnd type="triangle"/>
          </a:ln>
        </p:spPr>
      </p:sp>
      <p:sp>
        <p:nvSpPr>
          <p:cNvPr id="96" name="Shape 79"/>
          <p:cNvSpPr/>
          <p:nvPr/>
        </p:nvSpPr>
        <p:spPr>
          <a:xfrm>
            <a:off x="5340096" y="2286000"/>
            <a:ext cx="219456" cy="219456"/>
          </a:xfrm>
          <a:prstGeom prst="ellipse">
            <a:avLst/>
          </a:prstGeom>
          <a:solidFill>
            <a:srgbClr val="2A6EBB"/>
          </a:solidFill>
          <a:ln w="12700">
            <a:solidFill>
              <a:srgbClr val="2A6EBB"/>
            </a:solidFill>
            <a:prstDash val="solid"/>
          </a:ln>
        </p:spPr>
      </p:sp>
      <p:sp>
        <p:nvSpPr>
          <p:cNvPr id="97" name="Text 80"/>
          <p:cNvSpPr txBox="1"/>
          <p:nvPr/>
        </p:nvSpPr>
        <p:spPr>
          <a:xfrm>
            <a:off x="5340096" y="228600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98" name="Text 81"/>
          <p:cNvSpPr txBox="1"/>
          <p:nvPr/>
        </p:nvSpPr>
        <p:spPr>
          <a:xfrm>
            <a:off x="5596128" y="2029968"/>
            <a:ext cx="923544" cy="365760"/>
          </a:xfrm>
          <a:prstGeom prst="rect">
            <a:avLst/>
          </a:prstGeom>
          <a:solidFill>
            <a:srgbClr val="FFFFFF">
              <a:alpha val="0"/>
            </a:srgbClr>
          </a:solidFill>
          <a:ln/>
        </p:spPr>
        <p:txBody>
          <a:bodyPr wrap="square" lIns="0" tIns="0" rIns="0" bIns="0" rtlCol="0" anchor="b"/>
          <a:lstStyle/>
          <a:p>
            <a:pPr indent="0" marL="0">
              <a:buNone/>
            </a:pPr>
            <a:r>
              <a:rPr lang="en-US" sz="900" dirty="0">
                <a:solidFill>
                  <a:srgbClr val="1F2D3D"/>
                </a:solidFill>
                <a:latin typeface="Calibri" pitchFamily="34" charset="0"/>
                <a:ea typeface="Calibri" pitchFamily="34" charset="-122"/>
                <a:cs typeface="Calibri" pitchFamily="34" charset="-120"/>
              </a:rPr>
              <a:t>Final Ready event</a:t>
            </a:r>
            <a:endParaRPr lang="en-US" sz="900" dirty="0"/>
          </a:p>
        </p:txBody>
      </p:sp>
      <p:sp>
        <p:nvSpPr>
          <p:cNvPr id="99" name="Shape 82"/>
          <p:cNvSpPr/>
          <p:nvPr/>
        </p:nvSpPr>
        <p:spPr>
          <a:xfrm>
            <a:off x="8083296" y="2615184"/>
            <a:ext cx="1280160" cy="0"/>
          </a:xfrm>
          <a:prstGeom prst="line">
            <a:avLst/>
          </a:prstGeom>
          <a:noFill/>
          <a:ln w="19050">
            <a:solidFill>
              <a:srgbClr val="1E8A5A"/>
            </a:solidFill>
            <a:prstDash val="solid"/>
            <a:tailEnd type="triangle"/>
          </a:ln>
        </p:spPr>
      </p:sp>
      <p:sp>
        <p:nvSpPr>
          <p:cNvPr id="100" name="Shape 83"/>
          <p:cNvSpPr/>
          <p:nvPr/>
        </p:nvSpPr>
        <p:spPr>
          <a:xfrm>
            <a:off x="8156448" y="2286000"/>
            <a:ext cx="219456" cy="219456"/>
          </a:xfrm>
          <a:prstGeom prst="ellipse">
            <a:avLst/>
          </a:prstGeom>
          <a:solidFill>
            <a:srgbClr val="1E8A5A"/>
          </a:solidFill>
          <a:ln w="12700">
            <a:solidFill>
              <a:srgbClr val="1E8A5A"/>
            </a:solidFill>
            <a:prstDash val="solid"/>
          </a:ln>
        </p:spPr>
      </p:sp>
      <p:sp>
        <p:nvSpPr>
          <p:cNvPr id="101" name="Text 84"/>
          <p:cNvSpPr txBox="1"/>
          <p:nvPr/>
        </p:nvSpPr>
        <p:spPr>
          <a:xfrm>
            <a:off x="8156448" y="228600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02" name="Text 85"/>
          <p:cNvSpPr txBox="1"/>
          <p:nvPr/>
        </p:nvSpPr>
        <p:spPr>
          <a:xfrm>
            <a:off x="8412480" y="2029968"/>
            <a:ext cx="914400" cy="365760"/>
          </a:xfrm>
          <a:prstGeom prst="rect">
            <a:avLst/>
          </a:prstGeom>
          <a:solidFill>
            <a:srgbClr val="FFFFFF">
              <a:alpha val="0"/>
            </a:srgbClr>
          </a:solidFill>
          <a:ln/>
        </p:spPr>
        <p:txBody>
          <a:bodyPr wrap="square" lIns="0" tIns="0" rIns="0" bIns="0" rtlCol="0" anchor="b"/>
          <a:lstStyle/>
          <a:p>
            <a:pPr indent="0" marL="0">
              <a:buNone/>
            </a:pPr>
            <a:r>
              <a:rPr lang="en-US" sz="900" dirty="0">
                <a:solidFill>
                  <a:srgbClr val="1F2D3D"/>
                </a:solidFill>
                <a:latin typeface="Calibri" pitchFamily="34" charset="0"/>
                <a:ea typeface="Calibri" pitchFamily="34" charset="-122"/>
                <a:cs typeface="Calibri" pitchFamily="34" charset="-120"/>
              </a:rPr>
              <a:t>Start automated session</a:t>
            </a:r>
            <a:endParaRPr lang="en-US" sz="900" dirty="0"/>
          </a:p>
        </p:txBody>
      </p:sp>
      <p:sp>
        <p:nvSpPr>
          <p:cNvPr id="103" name="Shape 86"/>
          <p:cNvSpPr/>
          <p:nvPr/>
        </p:nvSpPr>
        <p:spPr>
          <a:xfrm>
            <a:off x="10890504" y="2615184"/>
            <a:ext cx="1280160" cy="0"/>
          </a:xfrm>
          <a:prstGeom prst="line">
            <a:avLst/>
          </a:prstGeom>
          <a:noFill/>
          <a:ln w="19050">
            <a:solidFill>
              <a:srgbClr val="5B4FA8"/>
            </a:solidFill>
            <a:prstDash val="solid"/>
            <a:tailEnd type="triangle"/>
          </a:ln>
        </p:spPr>
      </p:sp>
      <p:sp>
        <p:nvSpPr>
          <p:cNvPr id="104" name="Shape 87"/>
          <p:cNvSpPr/>
          <p:nvPr/>
        </p:nvSpPr>
        <p:spPr>
          <a:xfrm>
            <a:off x="10963656" y="2286000"/>
            <a:ext cx="219456" cy="219456"/>
          </a:xfrm>
          <a:prstGeom prst="ellipse">
            <a:avLst/>
          </a:prstGeom>
          <a:solidFill>
            <a:srgbClr val="5B4FA8"/>
          </a:solidFill>
          <a:ln w="12700">
            <a:solidFill>
              <a:srgbClr val="5B4FA8"/>
            </a:solidFill>
            <a:prstDash val="solid"/>
          </a:ln>
        </p:spPr>
      </p:sp>
      <p:sp>
        <p:nvSpPr>
          <p:cNvPr id="105" name="Text 88"/>
          <p:cNvSpPr txBox="1"/>
          <p:nvPr/>
        </p:nvSpPr>
        <p:spPr>
          <a:xfrm>
            <a:off x="10963656" y="228600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106" name="Text 89"/>
          <p:cNvSpPr txBox="1"/>
          <p:nvPr/>
        </p:nvSpPr>
        <p:spPr>
          <a:xfrm>
            <a:off x="11219688" y="2029968"/>
            <a:ext cx="914400" cy="365760"/>
          </a:xfrm>
          <a:prstGeom prst="rect">
            <a:avLst/>
          </a:prstGeom>
          <a:solidFill>
            <a:srgbClr val="FFFFFF">
              <a:alpha val="0"/>
            </a:srgbClr>
          </a:solidFill>
          <a:ln/>
        </p:spPr>
        <p:txBody>
          <a:bodyPr wrap="square" lIns="0" tIns="0" rIns="0" bIns="0" rtlCol="0" anchor="b"/>
          <a:lstStyle/>
          <a:p>
            <a:pPr indent="0" marL="0">
              <a:buNone/>
            </a:pPr>
            <a:r>
              <a:rPr lang="en-US" sz="900" dirty="0">
                <a:solidFill>
                  <a:srgbClr val="1F2D3D"/>
                </a:solidFill>
                <a:latin typeface="Calibri" pitchFamily="34" charset="0"/>
                <a:ea typeface="Calibri" pitchFamily="34" charset="-122"/>
                <a:cs typeface="Calibri" pitchFamily="34" charset="-120"/>
              </a:rPr>
              <a:t>Session analysis published</a:t>
            </a:r>
            <a:endParaRPr lang="en-US" sz="900" dirty="0"/>
          </a:p>
        </p:txBody>
      </p:sp>
      <p:sp>
        <p:nvSpPr>
          <p:cNvPr id="107" name="Shape 90"/>
          <p:cNvSpPr/>
          <p:nvPr/>
        </p:nvSpPr>
        <p:spPr>
          <a:xfrm>
            <a:off x="10890504" y="3218688"/>
            <a:ext cx="1280160" cy="0"/>
          </a:xfrm>
          <a:prstGeom prst="line">
            <a:avLst/>
          </a:prstGeom>
          <a:noFill/>
          <a:ln w="19050">
            <a:solidFill>
              <a:srgbClr val="1F6FB5"/>
            </a:solidFill>
            <a:prstDash val="solid"/>
            <a:headEnd type="triangle"/>
          </a:ln>
        </p:spPr>
      </p:sp>
      <p:sp>
        <p:nvSpPr>
          <p:cNvPr id="108" name="Shape 91"/>
          <p:cNvSpPr/>
          <p:nvPr/>
        </p:nvSpPr>
        <p:spPr>
          <a:xfrm>
            <a:off x="10963656" y="3291840"/>
            <a:ext cx="219456" cy="219456"/>
          </a:xfrm>
          <a:prstGeom prst="ellipse">
            <a:avLst/>
          </a:prstGeom>
          <a:solidFill>
            <a:srgbClr val="1F6FB5"/>
          </a:solidFill>
          <a:ln w="12700">
            <a:solidFill>
              <a:srgbClr val="1F6FB5"/>
            </a:solidFill>
            <a:prstDash val="solid"/>
          </a:ln>
        </p:spPr>
      </p:sp>
      <p:sp>
        <p:nvSpPr>
          <p:cNvPr id="109" name="Text 92"/>
          <p:cNvSpPr txBox="1"/>
          <p:nvPr/>
        </p:nvSpPr>
        <p:spPr>
          <a:xfrm>
            <a:off x="10963656" y="329184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7</a:t>
            </a:r>
            <a:endParaRPr lang="en-US" sz="900" dirty="0"/>
          </a:p>
        </p:txBody>
      </p:sp>
      <p:sp>
        <p:nvSpPr>
          <p:cNvPr id="110" name="Text 93"/>
          <p:cNvSpPr txBox="1"/>
          <p:nvPr/>
        </p:nvSpPr>
        <p:spPr>
          <a:xfrm>
            <a:off x="11219688" y="3273552"/>
            <a:ext cx="914400" cy="365760"/>
          </a:xfrm>
          <a:prstGeom prst="rect">
            <a:avLst/>
          </a:prstGeom>
          <a:noFill/>
          <a:ln/>
        </p:spPr>
        <p:txBody>
          <a:bodyPr wrap="square" lIns="0" tIns="0" rIns="0" bIns="0" rtlCol="0" anchor="t"/>
          <a:lstStyle/>
          <a:p>
            <a:pPr indent="0" marL="0">
              <a:buNone/>
            </a:pPr>
            <a:r>
              <a:rPr lang="en-US" sz="900" dirty="0">
                <a:solidFill>
                  <a:srgbClr val="1F2D3D"/>
                </a:solidFill>
                <a:latin typeface="Calibri" pitchFamily="34" charset="0"/>
                <a:ea typeface="Calibri" pitchFamily="34" charset="-122"/>
                <a:cs typeface="Calibri" pitchFamily="34" charset="-120"/>
              </a:rPr>
              <a:t>Q&amp;A and approval</a:t>
            </a:r>
            <a:endParaRPr lang="en-US" sz="900" dirty="0"/>
          </a:p>
        </p:txBody>
      </p:sp>
      <p:sp>
        <p:nvSpPr>
          <p:cNvPr id="111" name="Shape 94"/>
          <p:cNvSpPr/>
          <p:nvPr/>
        </p:nvSpPr>
        <p:spPr>
          <a:xfrm>
            <a:off x="1696212" y="3639312"/>
            <a:ext cx="0" cy="1005840"/>
          </a:xfrm>
          <a:prstGeom prst="line">
            <a:avLst/>
          </a:prstGeom>
          <a:noFill/>
          <a:ln w="15875">
            <a:solidFill>
              <a:srgbClr val="4F7BB5"/>
            </a:solidFill>
            <a:prstDash val="dash"/>
            <a:headEnd type="triangle"/>
          </a:ln>
        </p:spPr>
      </p:sp>
      <p:sp>
        <p:nvSpPr>
          <p:cNvPr id="112" name="Text 95"/>
          <p:cNvSpPr txBox="1"/>
          <p:nvPr/>
        </p:nvSpPr>
        <p:spPr>
          <a:xfrm>
            <a:off x="1787652" y="4005072"/>
            <a:ext cx="868680" cy="274320"/>
          </a:xfrm>
          <a:prstGeom prst="rect">
            <a:avLst/>
          </a:prstGeom>
          <a:noFill/>
          <a:ln/>
        </p:spPr>
        <p:txBody>
          <a:bodyPr wrap="square" lIns="0" tIns="0" rIns="0" bIns="0" rtlCol="0" anchor="ctr"/>
          <a:lstStyle/>
          <a:p>
            <a:pPr indent="0" marL="0">
              <a:buNone/>
            </a:pPr>
            <a:r>
              <a:rPr lang="en-US" sz="900" dirty="0">
                <a:solidFill>
                  <a:srgbClr val="1F2D3D"/>
                </a:solidFill>
                <a:latin typeface="Calibri" pitchFamily="34" charset="0"/>
                <a:ea typeface="Calibri" pitchFamily="34" charset="-122"/>
                <a:cs typeface="Calibri" pitchFamily="34" charset="-120"/>
              </a:rPr>
              <a:t>Rec data</a:t>
            </a:r>
            <a:endParaRPr lang="en-US" sz="900" dirty="0"/>
          </a:p>
        </p:txBody>
      </p:sp>
      <p:sp>
        <p:nvSpPr>
          <p:cNvPr id="113" name="Shape 96"/>
          <p:cNvSpPr/>
          <p:nvPr/>
        </p:nvSpPr>
        <p:spPr>
          <a:xfrm>
            <a:off x="4503420" y="3639312"/>
            <a:ext cx="0" cy="1005840"/>
          </a:xfrm>
          <a:prstGeom prst="line">
            <a:avLst/>
          </a:prstGeom>
          <a:noFill/>
          <a:ln w="15875">
            <a:solidFill>
              <a:srgbClr val="3F86C8"/>
            </a:solidFill>
            <a:prstDash val="dash"/>
            <a:tailEnd type="triangle"/>
          </a:ln>
        </p:spPr>
      </p:sp>
      <p:sp>
        <p:nvSpPr>
          <p:cNvPr id="114" name="Text 97"/>
          <p:cNvSpPr txBox="1"/>
          <p:nvPr/>
        </p:nvSpPr>
        <p:spPr>
          <a:xfrm>
            <a:off x="4594860" y="4005072"/>
            <a:ext cx="868680" cy="274320"/>
          </a:xfrm>
          <a:prstGeom prst="rect">
            <a:avLst/>
          </a:prstGeom>
          <a:noFill/>
          <a:ln/>
        </p:spPr>
        <p:txBody>
          <a:bodyPr wrap="square" lIns="0" tIns="0" rIns="0" bIns="0" rtlCol="0" anchor="ctr"/>
          <a:lstStyle/>
          <a:p>
            <a:pPr indent="0" marL="0">
              <a:buNone/>
            </a:pPr>
            <a:r>
              <a:rPr lang="en-US" sz="900" dirty="0">
                <a:solidFill>
                  <a:srgbClr val="1F2D3D"/>
                </a:solidFill>
                <a:latin typeface="Calibri" pitchFamily="34" charset="0"/>
                <a:ea typeface="Calibri" pitchFamily="34" charset="-122"/>
                <a:cs typeface="Calibri" pitchFamily="34" charset="-120"/>
              </a:rPr>
              <a:t>Evaluates</a:t>
            </a:r>
            <a:endParaRPr lang="en-US" sz="900" dirty="0"/>
          </a:p>
        </p:txBody>
      </p:sp>
      <p:sp>
        <p:nvSpPr>
          <p:cNvPr id="115" name="Shape 98"/>
          <p:cNvSpPr/>
          <p:nvPr/>
        </p:nvSpPr>
        <p:spPr>
          <a:xfrm>
            <a:off x="7319772" y="3639312"/>
            <a:ext cx="0" cy="1005840"/>
          </a:xfrm>
          <a:prstGeom prst="line">
            <a:avLst/>
          </a:prstGeom>
          <a:noFill/>
          <a:ln w="15875">
            <a:solidFill>
              <a:srgbClr val="1E8A5A"/>
            </a:solidFill>
            <a:prstDash val="dash"/>
            <a:tailEnd type="triangle"/>
          </a:ln>
        </p:spPr>
      </p:sp>
      <p:sp>
        <p:nvSpPr>
          <p:cNvPr id="116" name="Text 99"/>
          <p:cNvSpPr txBox="1"/>
          <p:nvPr/>
        </p:nvSpPr>
        <p:spPr>
          <a:xfrm>
            <a:off x="7411212" y="4005072"/>
            <a:ext cx="868680" cy="274320"/>
          </a:xfrm>
          <a:prstGeom prst="rect">
            <a:avLst/>
          </a:prstGeom>
          <a:noFill/>
          <a:ln/>
        </p:spPr>
        <p:txBody>
          <a:bodyPr wrap="square" lIns="0" tIns="0" rIns="0" bIns="0" rtlCol="0" anchor="ctr"/>
          <a:lstStyle/>
          <a:p>
            <a:pPr indent="0" marL="0">
              <a:buNone/>
            </a:pPr>
            <a:r>
              <a:rPr lang="en-US" sz="900" dirty="0">
                <a:solidFill>
                  <a:srgbClr val="1F2D3D"/>
                </a:solidFill>
                <a:latin typeface="Calibri" pitchFamily="34" charset="0"/>
                <a:ea typeface="Calibri" pitchFamily="34" charset="-122"/>
                <a:cs typeface="Calibri" pitchFamily="34" charset="-120"/>
              </a:rPr>
              <a:t>Checks</a:t>
            </a:r>
            <a:endParaRPr lang="en-US" sz="900" dirty="0"/>
          </a:p>
        </p:txBody>
      </p:sp>
      <p:sp>
        <p:nvSpPr>
          <p:cNvPr id="117" name="Shape 100"/>
          <p:cNvSpPr/>
          <p:nvPr/>
        </p:nvSpPr>
        <p:spPr>
          <a:xfrm>
            <a:off x="9326880" y="3639312"/>
            <a:ext cx="0" cy="1005840"/>
          </a:xfrm>
          <a:prstGeom prst="line">
            <a:avLst/>
          </a:prstGeom>
          <a:noFill/>
          <a:ln w="19050">
            <a:solidFill>
              <a:srgbClr val="5B4FA8"/>
            </a:solidFill>
            <a:prstDash val="solid"/>
            <a:tailEnd type="triangle"/>
          </a:ln>
        </p:spPr>
      </p:sp>
      <p:sp>
        <p:nvSpPr>
          <p:cNvPr id="118" name="Shape 101"/>
          <p:cNvSpPr/>
          <p:nvPr/>
        </p:nvSpPr>
        <p:spPr>
          <a:xfrm>
            <a:off x="9418320" y="3840480"/>
            <a:ext cx="219456" cy="219456"/>
          </a:xfrm>
          <a:prstGeom prst="ellipse">
            <a:avLst/>
          </a:prstGeom>
          <a:solidFill>
            <a:srgbClr val="5B4FA8"/>
          </a:solidFill>
          <a:ln w="12700">
            <a:solidFill>
              <a:srgbClr val="5B4FA8"/>
            </a:solidFill>
            <a:prstDash val="solid"/>
          </a:ln>
        </p:spPr>
      </p:sp>
      <p:sp>
        <p:nvSpPr>
          <p:cNvPr id="119" name="Text 102"/>
          <p:cNvSpPr txBox="1"/>
          <p:nvPr/>
        </p:nvSpPr>
        <p:spPr>
          <a:xfrm>
            <a:off x="9418320" y="384048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120" name="Text 103"/>
          <p:cNvSpPr txBox="1"/>
          <p:nvPr/>
        </p:nvSpPr>
        <p:spPr>
          <a:xfrm>
            <a:off x="9418320" y="4087368"/>
            <a:ext cx="685800" cy="457200"/>
          </a:xfrm>
          <a:prstGeom prst="rect">
            <a:avLst/>
          </a:prstGeom>
          <a:noFill/>
          <a:ln/>
        </p:spPr>
        <p:txBody>
          <a:bodyPr wrap="square" lIns="0" tIns="0" rIns="0" bIns="0" rtlCol="0" anchor="t"/>
          <a:lstStyle/>
          <a:p>
            <a:pPr indent="0" marL="0">
              <a:buNone/>
            </a:pPr>
            <a:r>
              <a:rPr lang="en-US" sz="900" dirty="0">
                <a:solidFill>
                  <a:srgbClr val="1F2D3D"/>
                </a:solidFill>
                <a:latin typeface="Calibri" pitchFamily="34" charset="0"/>
                <a:ea typeface="Calibri" pitchFamily="34" charset="-122"/>
                <a:cs typeface="Calibri" pitchFamily="34" charset="-120"/>
              </a:rPr>
              <a:t>Fetch data</a:t>
            </a:r>
            <a:endParaRPr lang="en-US" sz="900" dirty="0"/>
          </a:p>
        </p:txBody>
      </p:sp>
      <p:sp>
        <p:nvSpPr>
          <p:cNvPr id="121" name="Shape 104"/>
          <p:cNvSpPr/>
          <p:nvPr/>
        </p:nvSpPr>
        <p:spPr>
          <a:xfrm>
            <a:off x="10469880" y="3639312"/>
            <a:ext cx="0" cy="1005840"/>
          </a:xfrm>
          <a:prstGeom prst="line">
            <a:avLst/>
          </a:prstGeom>
          <a:noFill/>
          <a:ln w="19050">
            <a:solidFill>
              <a:srgbClr val="C0392B"/>
            </a:solidFill>
            <a:prstDash val="solid"/>
            <a:tailEnd type="triangle"/>
          </a:ln>
        </p:spPr>
      </p:sp>
      <p:sp>
        <p:nvSpPr>
          <p:cNvPr id="122" name="Shape 105"/>
          <p:cNvSpPr/>
          <p:nvPr/>
        </p:nvSpPr>
        <p:spPr>
          <a:xfrm>
            <a:off x="10561320" y="3840480"/>
            <a:ext cx="219456" cy="219456"/>
          </a:xfrm>
          <a:prstGeom prst="ellipse">
            <a:avLst/>
          </a:prstGeom>
          <a:solidFill>
            <a:srgbClr val="C0392B"/>
          </a:solidFill>
          <a:ln w="12700">
            <a:solidFill>
              <a:srgbClr val="C0392B"/>
            </a:solidFill>
            <a:prstDash val="solid"/>
          </a:ln>
        </p:spPr>
      </p:sp>
      <p:sp>
        <p:nvSpPr>
          <p:cNvPr id="123" name="Text 106"/>
          <p:cNvSpPr txBox="1"/>
          <p:nvPr/>
        </p:nvSpPr>
        <p:spPr>
          <a:xfrm>
            <a:off x="10561320" y="384048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8</a:t>
            </a:r>
            <a:endParaRPr lang="en-US" sz="900" dirty="0"/>
          </a:p>
        </p:txBody>
      </p:sp>
      <p:sp>
        <p:nvSpPr>
          <p:cNvPr id="124" name="Text 107"/>
          <p:cNvSpPr txBox="1"/>
          <p:nvPr/>
        </p:nvSpPr>
        <p:spPr>
          <a:xfrm>
            <a:off x="10561320" y="4087368"/>
            <a:ext cx="713232" cy="502920"/>
          </a:xfrm>
          <a:prstGeom prst="rect">
            <a:avLst/>
          </a:prstGeom>
          <a:noFill/>
          <a:ln/>
        </p:spPr>
        <p:txBody>
          <a:bodyPr wrap="square" lIns="0" tIns="0" rIns="0" bIns="0" rtlCol="0" anchor="t"/>
          <a:lstStyle/>
          <a:p>
            <a:pPr indent="0" marL="0">
              <a:buNone/>
            </a:pPr>
            <a:r>
              <a:rPr lang="en-US" sz="900" dirty="0">
                <a:solidFill>
                  <a:srgbClr val="1F2D3D"/>
                </a:solidFill>
                <a:latin typeface="Calibri" pitchFamily="34" charset="0"/>
                <a:ea typeface="Calibri" pitchFamily="34" charset="-122"/>
                <a:cs typeface="Calibri" pitchFamily="34" charset="-120"/>
              </a:rPr>
              <a:t>Post approved adjustment</a:t>
            </a:r>
            <a:endParaRPr lang="en-US" sz="900" dirty="0"/>
          </a:p>
        </p:txBody>
      </p:sp>
      <p:sp>
        <p:nvSpPr>
          <p:cNvPr id="125" name="Shape 108"/>
          <p:cNvSpPr/>
          <p:nvPr/>
        </p:nvSpPr>
        <p:spPr>
          <a:xfrm>
            <a:off x="12934188" y="3639312"/>
            <a:ext cx="0" cy="1005840"/>
          </a:xfrm>
          <a:prstGeom prst="line">
            <a:avLst/>
          </a:prstGeom>
          <a:noFill/>
          <a:ln w="19050">
            <a:solidFill>
              <a:srgbClr val="1F6FB5"/>
            </a:solidFill>
            <a:prstDash val="solid"/>
            <a:headEnd type="triangle"/>
          </a:ln>
        </p:spPr>
      </p:sp>
      <p:sp>
        <p:nvSpPr>
          <p:cNvPr id="126" name="Shape 109"/>
          <p:cNvSpPr/>
          <p:nvPr/>
        </p:nvSpPr>
        <p:spPr>
          <a:xfrm>
            <a:off x="13043916" y="3840480"/>
            <a:ext cx="219456" cy="219456"/>
          </a:xfrm>
          <a:prstGeom prst="ellipse">
            <a:avLst/>
          </a:prstGeom>
          <a:solidFill>
            <a:srgbClr val="1F6FB5"/>
          </a:solidFill>
          <a:ln w="12700">
            <a:solidFill>
              <a:srgbClr val="1F6FB5"/>
            </a:solidFill>
            <a:prstDash val="solid"/>
          </a:ln>
        </p:spPr>
      </p:sp>
      <p:sp>
        <p:nvSpPr>
          <p:cNvPr id="127" name="Text 110"/>
          <p:cNvSpPr txBox="1"/>
          <p:nvPr/>
        </p:nvSpPr>
        <p:spPr>
          <a:xfrm>
            <a:off x="13043916" y="384048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128" name="Text 111"/>
          <p:cNvSpPr txBox="1"/>
          <p:nvPr/>
        </p:nvSpPr>
        <p:spPr>
          <a:xfrm>
            <a:off x="13318236" y="3767328"/>
            <a:ext cx="822960" cy="685800"/>
          </a:xfrm>
          <a:prstGeom prst="rect">
            <a:avLst/>
          </a:prstGeom>
          <a:noFill/>
          <a:ln/>
        </p:spPr>
        <p:txBody>
          <a:bodyPr wrap="square" lIns="0" tIns="0" rIns="0" bIns="0" rtlCol="0" anchor="t"/>
          <a:lstStyle/>
          <a:p>
            <a:pPr indent="0" marL="0">
              <a:buNone/>
            </a:pPr>
            <a:r>
              <a:rPr lang="en-US" sz="900" dirty="0">
                <a:solidFill>
                  <a:srgbClr val="1F2D3D"/>
                </a:solidFill>
                <a:latin typeface="Calibri" pitchFamily="34" charset="0"/>
                <a:ea typeface="Calibri" pitchFamily="34" charset="-122"/>
                <a:cs typeface="Calibri" pitchFamily="34" charset="-120"/>
              </a:rPr>
              <a:t>After X time: review, ask, approve</a:t>
            </a:r>
            <a:endParaRPr lang="en-US" sz="900" dirty="0"/>
          </a:p>
        </p:txBody>
      </p:sp>
      <p:sp>
        <p:nvSpPr>
          <p:cNvPr id="129" name="Shape 112"/>
          <p:cNvSpPr/>
          <p:nvPr/>
        </p:nvSpPr>
        <p:spPr>
          <a:xfrm>
            <a:off x="512064" y="6473952"/>
            <a:ext cx="5166360" cy="1234440"/>
          </a:xfrm>
          <a:prstGeom prst="roundRect">
            <a:avLst>
              <a:gd name="adj" fmla="val 4444"/>
            </a:avLst>
          </a:prstGeom>
          <a:solidFill>
            <a:srgbClr val="F1F4F8"/>
          </a:solidFill>
          <a:ln w="12700">
            <a:solidFill>
              <a:srgbClr val="6B7C93"/>
            </a:solidFill>
            <a:prstDash val="dash"/>
          </a:ln>
        </p:spPr>
      </p:sp>
      <p:sp>
        <p:nvSpPr>
          <p:cNvPr id="130" name="Text 113"/>
          <p:cNvSpPr txBox="1"/>
          <p:nvPr/>
        </p:nvSpPr>
        <p:spPr>
          <a:xfrm>
            <a:off x="630936" y="6547104"/>
            <a:ext cx="4892040" cy="182880"/>
          </a:xfrm>
          <a:prstGeom prst="rect">
            <a:avLst/>
          </a:prstGeom>
          <a:noFill/>
          <a:ln/>
        </p:spPr>
        <p:txBody>
          <a:bodyPr wrap="square" lIns="0" tIns="0" rIns="0" bIns="0" rtlCol="0" anchor="ctr"/>
          <a:lstStyle/>
          <a:p>
            <a:pPr indent="0" marL="0">
              <a:buNone/>
            </a:pPr>
            <a:r>
              <a:rPr lang="en-US" sz="900" b="1" spc="100" kern="0" dirty="0">
                <a:solidFill>
                  <a:srgbClr val="5A6B82"/>
                </a:solidFill>
                <a:latin typeface="Calibri" pitchFamily="34" charset="0"/>
                <a:ea typeface="Calibri" pitchFamily="34" charset="-122"/>
                <a:cs typeface="Calibri" pitchFamily="34" charset="-120"/>
              </a:rPr>
              <a:t>APPLICATION AUDIT (EXISTING)</a:t>
            </a:r>
            <a:endParaRPr lang="en-US" sz="900" dirty="0"/>
          </a:p>
        </p:txBody>
      </p:sp>
      <p:sp>
        <p:nvSpPr>
          <p:cNvPr id="131" name="Shape 114"/>
          <p:cNvSpPr/>
          <p:nvPr/>
        </p:nvSpPr>
        <p:spPr>
          <a:xfrm>
            <a:off x="630936" y="6812280"/>
            <a:ext cx="1783080" cy="795528"/>
          </a:xfrm>
          <a:prstGeom prst="roundRect">
            <a:avLst>
              <a:gd name="adj" fmla="val 9195"/>
            </a:avLst>
          </a:prstGeom>
          <a:solidFill>
            <a:srgbClr val="FFFFFF"/>
          </a:solidFill>
          <a:ln w="9525">
            <a:solidFill>
              <a:srgbClr val="C8D8EC"/>
            </a:solidFill>
            <a:prstDash val="solid"/>
          </a:ln>
        </p:spPr>
      </p:sp>
      <p:sp>
        <p:nvSpPr>
          <p:cNvPr id="132" name="Shape 115"/>
          <p:cNvSpPr/>
          <p:nvPr/>
        </p:nvSpPr>
        <p:spPr>
          <a:xfrm>
            <a:off x="740664" y="6949440"/>
            <a:ext cx="457200" cy="457200"/>
          </a:xfrm>
          <a:prstGeom prst="roundRect">
            <a:avLst>
              <a:gd name="adj" fmla="val 20000"/>
            </a:avLst>
          </a:prstGeom>
          <a:solidFill>
            <a:srgbClr val="5A6B82"/>
          </a:solidFill>
          <a:ln w="12700">
            <a:solidFill>
              <a:srgbClr val="5A6B82"/>
            </a:solidFill>
            <a:prstDash val="solid"/>
          </a:ln>
        </p:spPr>
      </p:sp>
      <p:pic>
        <p:nvPicPr>
          <p:cNvPr id="133" name="Image 15" descr="preencoded.png">    </p:cNvPr>
          <p:cNvPicPr>
            <a:picLocks noChangeAspect="1"/>
          </p:cNvPicPr>
          <p:nvPr/>
        </p:nvPicPr>
        <p:blipFill>
          <a:blip r:embed="rId16"/>
          <a:stretch>
            <a:fillRect/>
          </a:stretch>
        </p:blipFill>
        <p:spPr>
          <a:xfrm>
            <a:off x="841248" y="7050024"/>
            <a:ext cx="256032" cy="256032"/>
          </a:xfrm>
          <a:prstGeom prst="rect">
            <a:avLst/>
          </a:prstGeom>
        </p:spPr>
      </p:pic>
      <p:sp>
        <p:nvSpPr>
          <p:cNvPr id="134" name="Text 116"/>
          <p:cNvSpPr txBox="1"/>
          <p:nvPr/>
        </p:nvSpPr>
        <p:spPr>
          <a:xfrm>
            <a:off x="1271016" y="6903720"/>
            <a:ext cx="1097280" cy="256032"/>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App Audit</a:t>
            </a:r>
            <a:endParaRPr lang="en-US" sz="1100" dirty="0"/>
          </a:p>
        </p:txBody>
      </p:sp>
      <p:sp>
        <p:nvSpPr>
          <p:cNvPr id="135" name="Text 117"/>
          <p:cNvSpPr txBox="1"/>
          <p:nvPr/>
        </p:nvSpPr>
        <p:spPr>
          <a:xfrm>
            <a:off x="1271016" y="7159752"/>
            <a:ext cx="1115568" cy="384048"/>
          </a:xfrm>
          <a:prstGeom prst="rect">
            <a:avLst/>
          </a:prstGeom>
          <a:noFill/>
          <a:ln/>
        </p:spPr>
        <p:txBody>
          <a:bodyPr wrap="square" lIns="0" tIns="0" rIns="0" bIns="0" rtlCol="0" anchor="t"/>
          <a:lstStyle/>
          <a:p>
            <a:pPr indent="0" marL="0">
              <a:buNone/>
            </a:pPr>
            <a:r>
              <a:rPr lang="en-US" sz="850" dirty="0">
                <a:solidFill>
                  <a:srgbClr val="4A5A6E"/>
                </a:solidFill>
                <a:latin typeface="Calibri" pitchFamily="34" charset="0"/>
                <a:ea typeface="Calibri" pitchFamily="34" charset="-122"/>
                <a:cs typeface="Calibri" pitchFamily="34" charset="-120"/>
              </a:rPr>
              <a:t>MBREC and One Fin UX</a:t>
            </a:r>
            <a:endParaRPr lang="en-US" sz="850" dirty="0"/>
          </a:p>
        </p:txBody>
      </p:sp>
      <p:sp>
        <p:nvSpPr>
          <p:cNvPr id="136" name="Shape 118"/>
          <p:cNvSpPr/>
          <p:nvPr/>
        </p:nvSpPr>
        <p:spPr>
          <a:xfrm>
            <a:off x="2551176" y="6812280"/>
            <a:ext cx="3008376" cy="338328"/>
          </a:xfrm>
          <a:prstGeom prst="roundRect">
            <a:avLst>
              <a:gd name="adj" fmla="val 40541"/>
            </a:avLst>
          </a:prstGeom>
          <a:solidFill>
            <a:srgbClr val="FFFFFF"/>
          </a:solidFill>
          <a:ln w="9525">
            <a:solidFill>
              <a:srgbClr val="C8D8EC"/>
            </a:solidFill>
            <a:prstDash val="solid"/>
          </a:ln>
        </p:spPr>
      </p:sp>
      <p:pic>
        <p:nvPicPr>
          <p:cNvPr id="137" name="Image 16" descr="preencoded.png">    </p:cNvPr>
          <p:cNvPicPr>
            <a:picLocks noChangeAspect="1"/>
          </p:cNvPicPr>
          <p:nvPr/>
        </p:nvPicPr>
        <p:blipFill>
          <a:blip r:embed="rId17"/>
          <a:stretch>
            <a:fillRect/>
          </a:stretch>
        </p:blipFill>
        <p:spPr>
          <a:xfrm>
            <a:off x="2679192" y="6908292"/>
            <a:ext cx="146304" cy="146304"/>
          </a:xfrm>
          <a:prstGeom prst="rect">
            <a:avLst/>
          </a:prstGeom>
        </p:spPr>
      </p:pic>
      <p:sp>
        <p:nvSpPr>
          <p:cNvPr id="138" name="Text 119"/>
          <p:cNvSpPr txBox="1"/>
          <p:nvPr/>
        </p:nvSpPr>
        <p:spPr>
          <a:xfrm>
            <a:off x="2916936" y="6812280"/>
            <a:ext cx="2596896"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Book availability &amp; event history</a:t>
            </a:r>
            <a:endParaRPr lang="en-US" sz="950" dirty="0"/>
          </a:p>
        </p:txBody>
      </p:sp>
      <p:sp>
        <p:nvSpPr>
          <p:cNvPr id="139" name="Shape 120"/>
          <p:cNvSpPr/>
          <p:nvPr/>
        </p:nvSpPr>
        <p:spPr>
          <a:xfrm>
            <a:off x="2551176" y="7242048"/>
            <a:ext cx="3008376" cy="338328"/>
          </a:xfrm>
          <a:prstGeom prst="roundRect">
            <a:avLst>
              <a:gd name="adj" fmla="val 40541"/>
            </a:avLst>
          </a:prstGeom>
          <a:solidFill>
            <a:srgbClr val="FFFFFF"/>
          </a:solidFill>
          <a:ln w="9525">
            <a:solidFill>
              <a:srgbClr val="C8D8EC"/>
            </a:solidFill>
            <a:prstDash val="solid"/>
          </a:ln>
        </p:spPr>
      </p:sp>
      <p:pic>
        <p:nvPicPr>
          <p:cNvPr id="140" name="Image 17" descr="preencoded.png">    </p:cNvPr>
          <p:cNvPicPr>
            <a:picLocks noChangeAspect="1"/>
          </p:cNvPicPr>
          <p:nvPr/>
        </p:nvPicPr>
        <p:blipFill>
          <a:blip r:embed="rId18"/>
          <a:stretch>
            <a:fillRect/>
          </a:stretch>
        </p:blipFill>
        <p:spPr>
          <a:xfrm>
            <a:off x="2679192" y="7338060"/>
            <a:ext cx="146304" cy="146304"/>
          </a:xfrm>
          <a:prstGeom prst="rect">
            <a:avLst/>
          </a:prstGeom>
        </p:spPr>
      </p:pic>
      <p:sp>
        <p:nvSpPr>
          <p:cNvPr id="141" name="Text 121"/>
          <p:cNvSpPr txBox="1"/>
          <p:nvPr/>
        </p:nvSpPr>
        <p:spPr>
          <a:xfrm>
            <a:off x="2916936" y="7242048"/>
            <a:ext cx="2596896"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Workspace readiness status changes</a:t>
            </a:r>
            <a:endParaRPr lang="en-US" sz="950" dirty="0"/>
          </a:p>
        </p:txBody>
      </p:sp>
      <p:sp>
        <p:nvSpPr>
          <p:cNvPr id="142" name="Shape 122"/>
          <p:cNvSpPr/>
          <p:nvPr/>
        </p:nvSpPr>
        <p:spPr>
          <a:xfrm>
            <a:off x="6117336" y="6473952"/>
            <a:ext cx="5184648" cy="1234440"/>
          </a:xfrm>
          <a:prstGeom prst="roundRect">
            <a:avLst>
              <a:gd name="adj" fmla="val 4444"/>
            </a:avLst>
          </a:prstGeom>
          <a:solidFill>
            <a:srgbClr val="F3F1FB"/>
          </a:solidFill>
          <a:ln w="12700">
            <a:solidFill>
              <a:srgbClr val="5B4FA8"/>
            </a:solidFill>
            <a:prstDash val="dash"/>
          </a:ln>
        </p:spPr>
      </p:sp>
      <p:sp>
        <p:nvSpPr>
          <p:cNvPr id="143" name="Text 123"/>
          <p:cNvSpPr txBox="1"/>
          <p:nvPr/>
        </p:nvSpPr>
        <p:spPr>
          <a:xfrm>
            <a:off x="6236208" y="6547104"/>
            <a:ext cx="4910328" cy="182880"/>
          </a:xfrm>
          <a:prstGeom prst="rect">
            <a:avLst/>
          </a:prstGeom>
          <a:noFill/>
          <a:ln/>
        </p:spPr>
        <p:txBody>
          <a:bodyPr wrap="square" lIns="0" tIns="0" rIns="0" bIns="0" rtlCol="0" anchor="ctr"/>
          <a:lstStyle/>
          <a:p>
            <a:pPr indent="0" marL="0">
              <a:buNone/>
            </a:pPr>
            <a:r>
              <a:rPr lang="en-US" sz="900" b="1" spc="100" kern="0" dirty="0">
                <a:solidFill>
                  <a:srgbClr val="5B4FA8"/>
                </a:solidFill>
                <a:latin typeface="Calibri" pitchFamily="34" charset="0"/>
                <a:ea typeface="Calibri" pitchFamily="34" charset="-122"/>
                <a:cs typeface="Calibri" pitchFamily="34" charset="-120"/>
              </a:rPr>
              <a:t>AI OBSERVABILITY</a:t>
            </a:r>
            <a:endParaRPr lang="en-US" sz="900" dirty="0"/>
          </a:p>
        </p:txBody>
      </p:sp>
      <p:sp>
        <p:nvSpPr>
          <p:cNvPr id="144" name="Shape 124"/>
          <p:cNvSpPr/>
          <p:nvPr/>
        </p:nvSpPr>
        <p:spPr>
          <a:xfrm>
            <a:off x="6236208" y="6812280"/>
            <a:ext cx="1783080" cy="795528"/>
          </a:xfrm>
          <a:prstGeom prst="roundRect">
            <a:avLst>
              <a:gd name="adj" fmla="val 9195"/>
            </a:avLst>
          </a:prstGeom>
          <a:solidFill>
            <a:srgbClr val="FFFFFF"/>
          </a:solidFill>
          <a:ln w="9525">
            <a:solidFill>
              <a:srgbClr val="C8D8EC"/>
            </a:solidFill>
            <a:prstDash val="solid"/>
          </a:ln>
        </p:spPr>
      </p:sp>
      <p:sp>
        <p:nvSpPr>
          <p:cNvPr id="145" name="Shape 125"/>
          <p:cNvSpPr/>
          <p:nvPr/>
        </p:nvSpPr>
        <p:spPr>
          <a:xfrm>
            <a:off x="6345936" y="6949440"/>
            <a:ext cx="457200" cy="457200"/>
          </a:xfrm>
          <a:prstGeom prst="roundRect">
            <a:avLst>
              <a:gd name="adj" fmla="val 20000"/>
            </a:avLst>
          </a:prstGeom>
          <a:solidFill>
            <a:srgbClr val="0B2E5E"/>
          </a:solidFill>
          <a:ln w="12700">
            <a:solidFill>
              <a:srgbClr val="0B2E5E"/>
            </a:solidFill>
            <a:prstDash val="solid"/>
          </a:ln>
        </p:spPr>
      </p:sp>
      <p:pic>
        <p:nvPicPr>
          <p:cNvPr id="146" name="Image 18" descr="preencoded.png">    </p:cNvPr>
          <p:cNvPicPr>
            <a:picLocks noChangeAspect="1"/>
          </p:cNvPicPr>
          <p:nvPr/>
        </p:nvPicPr>
        <p:blipFill>
          <a:blip r:embed="rId19"/>
          <a:stretch>
            <a:fillRect/>
          </a:stretch>
        </p:blipFill>
        <p:spPr>
          <a:xfrm>
            <a:off x="6446520" y="7050024"/>
            <a:ext cx="256032" cy="256032"/>
          </a:xfrm>
          <a:prstGeom prst="rect">
            <a:avLst/>
          </a:prstGeom>
        </p:spPr>
      </p:pic>
      <p:sp>
        <p:nvSpPr>
          <p:cNvPr id="147" name="Text 126"/>
          <p:cNvSpPr txBox="1"/>
          <p:nvPr/>
        </p:nvSpPr>
        <p:spPr>
          <a:xfrm>
            <a:off x="6876288" y="6903720"/>
            <a:ext cx="1097280" cy="256032"/>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Phoenix Eyes</a:t>
            </a:r>
            <a:endParaRPr lang="en-US" sz="1100" dirty="0"/>
          </a:p>
        </p:txBody>
      </p:sp>
      <p:sp>
        <p:nvSpPr>
          <p:cNvPr id="148" name="Text 127"/>
          <p:cNvSpPr txBox="1"/>
          <p:nvPr/>
        </p:nvSpPr>
        <p:spPr>
          <a:xfrm>
            <a:off x="6876288" y="7159752"/>
            <a:ext cx="1115568" cy="384048"/>
          </a:xfrm>
          <a:prstGeom prst="rect">
            <a:avLst/>
          </a:prstGeom>
          <a:noFill/>
          <a:ln/>
        </p:spPr>
        <p:txBody>
          <a:bodyPr wrap="square" lIns="0" tIns="0" rIns="0" bIns="0" rtlCol="0" anchor="t"/>
          <a:lstStyle/>
          <a:p>
            <a:pPr indent="0" marL="0">
              <a:buNone/>
            </a:pPr>
            <a:r>
              <a:rPr lang="en-US" sz="850" dirty="0">
                <a:solidFill>
                  <a:srgbClr val="4A5A6E"/>
                </a:solidFill>
                <a:latin typeface="Calibri" pitchFamily="34" charset="0"/>
                <a:ea typeface="Calibri" pitchFamily="34" charset="-122"/>
                <a:cs typeface="Calibri" pitchFamily="34" charset="-120"/>
              </a:rPr>
              <a:t>Helix Agent and Agent One sessions</a:t>
            </a:r>
            <a:endParaRPr lang="en-US" sz="850" dirty="0"/>
          </a:p>
        </p:txBody>
      </p:sp>
      <p:sp>
        <p:nvSpPr>
          <p:cNvPr id="149" name="Shape 128"/>
          <p:cNvSpPr/>
          <p:nvPr/>
        </p:nvSpPr>
        <p:spPr>
          <a:xfrm>
            <a:off x="8156448" y="6812280"/>
            <a:ext cx="1458468" cy="338328"/>
          </a:xfrm>
          <a:prstGeom prst="roundRect">
            <a:avLst>
              <a:gd name="adj" fmla="val 40541"/>
            </a:avLst>
          </a:prstGeom>
          <a:solidFill>
            <a:srgbClr val="FFFFFF"/>
          </a:solidFill>
          <a:ln w="9525">
            <a:solidFill>
              <a:srgbClr val="C8D8EC"/>
            </a:solidFill>
            <a:prstDash val="solid"/>
          </a:ln>
        </p:spPr>
      </p:sp>
      <p:pic>
        <p:nvPicPr>
          <p:cNvPr id="150" name="Image 19" descr="preencoded.png">    </p:cNvPr>
          <p:cNvPicPr>
            <a:picLocks noChangeAspect="1"/>
          </p:cNvPicPr>
          <p:nvPr/>
        </p:nvPicPr>
        <p:blipFill>
          <a:blip r:embed="rId20"/>
          <a:stretch>
            <a:fillRect/>
          </a:stretch>
        </p:blipFill>
        <p:spPr>
          <a:xfrm>
            <a:off x="8284464" y="6908292"/>
            <a:ext cx="146304" cy="146304"/>
          </a:xfrm>
          <a:prstGeom prst="rect">
            <a:avLst/>
          </a:prstGeom>
        </p:spPr>
      </p:pic>
      <p:sp>
        <p:nvSpPr>
          <p:cNvPr id="151" name="Text 129"/>
          <p:cNvSpPr txBox="1"/>
          <p:nvPr/>
        </p:nvSpPr>
        <p:spPr>
          <a:xfrm>
            <a:off x="8522208" y="6812280"/>
            <a:ext cx="1046988"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AI session traces</a:t>
            </a:r>
            <a:endParaRPr lang="en-US" sz="950" dirty="0"/>
          </a:p>
        </p:txBody>
      </p:sp>
      <p:sp>
        <p:nvSpPr>
          <p:cNvPr id="152" name="Shape 130"/>
          <p:cNvSpPr/>
          <p:nvPr/>
        </p:nvSpPr>
        <p:spPr>
          <a:xfrm>
            <a:off x="9724644" y="6812280"/>
            <a:ext cx="1458468" cy="338328"/>
          </a:xfrm>
          <a:prstGeom prst="roundRect">
            <a:avLst>
              <a:gd name="adj" fmla="val 40541"/>
            </a:avLst>
          </a:prstGeom>
          <a:solidFill>
            <a:srgbClr val="FFFFFF"/>
          </a:solidFill>
          <a:ln w="9525">
            <a:solidFill>
              <a:srgbClr val="C8D8EC"/>
            </a:solidFill>
            <a:prstDash val="solid"/>
          </a:ln>
        </p:spPr>
      </p:sp>
      <p:pic>
        <p:nvPicPr>
          <p:cNvPr id="153" name="Image 20" descr="preencoded.png">    </p:cNvPr>
          <p:cNvPicPr>
            <a:picLocks noChangeAspect="1"/>
          </p:cNvPicPr>
          <p:nvPr/>
        </p:nvPicPr>
        <p:blipFill>
          <a:blip r:embed="rId21"/>
          <a:stretch>
            <a:fillRect/>
          </a:stretch>
        </p:blipFill>
        <p:spPr>
          <a:xfrm>
            <a:off x="9852660" y="6908292"/>
            <a:ext cx="146304" cy="146304"/>
          </a:xfrm>
          <a:prstGeom prst="rect">
            <a:avLst/>
          </a:prstGeom>
        </p:spPr>
      </p:pic>
      <p:sp>
        <p:nvSpPr>
          <p:cNvPr id="154" name="Text 131"/>
          <p:cNvSpPr txBox="1"/>
          <p:nvPr/>
        </p:nvSpPr>
        <p:spPr>
          <a:xfrm>
            <a:off x="10090404" y="6812280"/>
            <a:ext cx="1046988"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Prompts &amp; sources</a:t>
            </a:r>
            <a:endParaRPr lang="en-US" sz="950" dirty="0"/>
          </a:p>
        </p:txBody>
      </p:sp>
      <p:sp>
        <p:nvSpPr>
          <p:cNvPr id="155" name="Shape 132"/>
          <p:cNvSpPr/>
          <p:nvPr/>
        </p:nvSpPr>
        <p:spPr>
          <a:xfrm>
            <a:off x="8156448" y="7242048"/>
            <a:ext cx="1458468" cy="338328"/>
          </a:xfrm>
          <a:prstGeom prst="roundRect">
            <a:avLst>
              <a:gd name="adj" fmla="val 40541"/>
            </a:avLst>
          </a:prstGeom>
          <a:solidFill>
            <a:srgbClr val="FFFFFF"/>
          </a:solidFill>
          <a:ln w="9525">
            <a:solidFill>
              <a:srgbClr val="C8D8EC"/>
            </a:solidFill>
            <a:prstDash val="solid"/>
          </a:ln>
        </p:spPr>
      </p:sp>
      <p:pic>
        <p:nvPicPr>
          <p:cNvPr id="156" name="Image 21" descr="preencoded.png">    </p:cNvPr>
          <p:cNvPicPr>
            <a:picLocks noChangeAspect="1"/>
          </p:cNvPicPr>
          <p:nvPr/>
        </p:nvPicPr>
        <p:blipFill>
          <a:blip r:embed="rId22"/>
          <a:stretch>
            <a:fillRect/>
          </a:stretch>
        </p:blipFill>
        <p:spPr>
          <a:xfrm>
            <a:off x="8284464" y="7338060"/>
            <a:ext cx="146304" cy="146304"/>
          </a:xfrm>
          <a:prstGeom prst="rect">
            <a:avLst/>
          </a:prstGeom>
        </p:spPr>
      </p:pic>
      <p:sp>
        <p:nvSpPr>
          <p:cNvPr id="157" name="Text 133"/>
          <p:cNvSpPr txBox="1"/>
          <p:nvPr/>
        </p:nvSpPr>
        <p:spPr>
          <a:xfrm>
            <a:off x="8522208" y="7242048"/>
            <a:ext cx="1046988"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Skill gap analysis</a:t>
            </a:r>
            <a:endParaRPr lang="en-US" sz="950" dirty="0"/>
          </a:p>
        </p:txBody>
      </p:sp>
      <p:sp>
        <p:nvSpPr>
          <p:cNvPr id="158" name="Shape 134"/>
          <p:cNvSpPr/>
          <p:nvPr/>
        </p:nvSpPr>
        <p:spPr>
          <a:xfrm>
            <a:off x="9724644" y="7242048"/>
            <a:ext cx="1458468" cy="338328"/>
          </a:xfrm>
          <a:prstGeom prst="roundRect">
            <a:avLst>
              <a:gd name="adj" fmla="val 40541"/>
            </a:avLst>
          </a:prstGeom>
          <a:solidFill>
            <a:srgbClr val="FFFFFF"/>
          </a:solidFill>
          <a:ln w="9525">
            <a:solidFill>
              <a:srgbClr val="C8D8EC"/>
            </a:solidFill>
            <a:prstDash val="solid"/>
          </a:ln>
        </p:spPr>
      </p:sp>
      <p:pic>
        <p:nvPicPr>
          <p:cNvPr id="159" name="Image 22" descr="preencoded.png">    </p:cNvPr>
          <p:cNvPicPr>
            <a:picLocks noChangeAspect="1"/>
          </p:cNvPicPr>
          <p:nvPr/>
        </p:nvPicPr>
        <p:blipFill>
          <a:blip r:embed="rId23"/>
          <a:stretch>
            <a:fillRect/>
          </a:stretch>
        </p:blipFill>
        <p:spPr>
          <a:xfrm>
            <a:off x="9852660" y="7338060"/>
            <a:ext cx="146304" cy="146304"/>
          </a:xfrm>
          <a:prstGeom prst="rect">
            <a:avLst/>
          </a:prstGeom>
        </p:spPr>
      </p:pic>
      <p:sp>
        <p:nvSpPr>
          <p:cNvPr id="160" name="Text 135"/>
          <p:cNvSpPr txBox="1"/>
          <p:nvPr/>
        </p:nvSpPr>
        <p:spPr>
          <a:xfrm>
            <a:off x="10090404" y="7242048"/>
            <a:ext cx="1046988"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LLM perf &amp; health</a:t>
            </a:r>
            <a:endParaRPr lang="en-US" sz="950" dirty="0"/>
          </a:p>
        </p:txBody>
      </p:sp>
      <p:sp>
        <p:nvSpPr>
          <p:cNvPr id="161" name="Shape 136"/>
          <p:cNvSpPr/>
          <p:nvPr/>
        </p:nvSpPr>
        <p:spPr>
          <a:xfrm>
            <a:off x="11731752" y="6473952"/>
            <a:ext cx="2386584" cy="1234440"/>
          </a:xfrm>
          <a:prstGeom prst="roundRect">
            <a:avLst>
              <a:gd name="adj" fmla="val 4444"/>
            </a:avLst>
          </a:prstGeom>
          <a:solidFill>
            <a:srgbClr val="F1F4F8"/>
          </a:solidFill>
          <a:ln w="12700">
            <a:solidFill>
              <a:srgbClr val="6B7C93"/>
            </a:solidFill>
            <a:prstDash val="dash"/>
          </a:ln>
        </p:spPr>
      </p:sp>
      <p:sp>
        <p:nvSpPr>
          <p:cNvPr id="162" name="Text 137"/>
          <p:cNvSpPr txBox="1"/>
          <p:nvPr/>
        </p:nvSpPr>
        <p:spPr>
          <a:xfrm>
            <a:off x="11850624" y="6547104"/>
            <a:ext cx="2112264" cy="182880"/>
          </a:xfrm>
          <a:prstGeom prst="rect">
            <a:avLst/>
          </a:prstGeom>
          <a:noFill/>
          <a:ln/>
        </p:spPr>
        <p:txBody>
          <a:bodyPr wrap="square" lIns="0" tIns="0" rIns="0" bIns="0" rtlCol="0" anchor="ctr"/>
          <a:lstStyle/>
          <a:p>
            <a:pPr indent="0" marL="0">
              <a:buNone/>
            </a:pPr>
            <a:r>
              <a:rPr lang="en-US" sz="900" b="1" spc="100" kern="0" dirty="0">
                <a:solidFill>
                  <a:srgbClr val="5A6B82"/>
                </a:solidFill>
                <a:latin typeface="Calibri" pitchFamily="34" charset="0"/>
                <a:ea typeface="Calibri" pitchFamily="34" charset="-122"/>
                <a:cs typeface="Calibri" pitchFamily="34" charset="-120"/>
              </a:rPr>
              <a:t>APPLICATION AUDIT (EXISTING)</a:t>
            </a:r>
            <a:endParaRPr lang="en-US" sz="900" dirty="0"/>
          </a:p>
        </p:txBody>
      </p:sp>
      <p:sp>
        <p:nvSpPr>
          <p:cNvPr id="163" name="Shape 138"/>
          <p:cNvSpPr/>
          <p:nvPr/>
        </p:nvSpPr>
        <p:spPr>
          <a:xfrm>
            <a:off x="11850624" y="6812280"/>
            <a:ext cx="2148840" cy="338328"/>
          </a:xfrm>
          <a:prstGeom prst="roundRect">
            <a:avLst>
              <a:gd name="adj" fmla="val 40541"/>
            </a:avLst>
          </a:prstGeom>
          <a:solidFill>
            <a:srgbClr val="FFFFFF"/>
          </a:solidFill>
          <a:ln w="9525">
            <a:solidFill>
              <a:srgbClr val="C8D8EC"/>
            </a:solidFill>
            <a:prstDash val="solid"/>
          </a:ln>
        </p:spPr>
      </p:sp>
      <p:pic>
        <p:nvPicPr>
          <p:cNvPr id="164" name="Image 23" descr="preencoded.png">    </p:cNvPr>
          <p:cNvPicPr>
            <a:picLocks noChangeAspect="1"/>
          </p:cNvPicPr>
          <p:nvPr/>
        </p:nvPicPr>
        <p:blipFill>
          <a:blip r:embed="rId24"/>
          <a:stretch>
            <a:fillRect/>
          </a:stretch>
        </p:blipFill>
        <p:spPr>
          <a:xfrm>
            <a:off x="11978640" y="6908292"/>
            <a:ext cx="146304" cy="146304"/>
          </a:xfrm>
          <a:prstGeom prst="rect">
            <a:avLst/>
          </a:prstGeom>
        </p:spPr>
      </p:pic>
      <p:sp>
        <p:nvSpPr>
          <p:cNvPr id="165" name="Text 139"/>
          <p:cNvSpPr txBox="1"/>
          <p:nvPr/>
        </p:nvSpPr>
        <p:spPr>
          <a:xfrm>
            <a:off x="12216384" y="6812280"/>
            <a:ext cx="1737360"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User actions &amp; approvals</a:t>
            </a:r>
            <a:endParaRPr lang="en-US" sz="950" dirty="0"/>
          </a:p>
        </p:txBody>
      </p:sp>
      <p:sp>
        <p:nvSpPr>
          <p:cNvPr id="166" name="Shape 140"/>
          <p:cNvSpPr/>
          <p:nvPr/>
        </p:nvSpPr>
        <p:spPr>
          <a:xfrm>
            <a:off x="11850624" y="7242048"/>
            <a:ext cx="2148840" cy="338328"/>
          </a:xfrm>
          <a:prstGeom prst="roundRect">
            <a:avLst>
              <a:gd name="adj" fmla="val 40541"/>
            </a:avLst>
          </a:prstGeom>
          <a:solidFill>
            <a:srgbClr val="FFFFFF"/>
          </a:solidFill>
          <a:ln w="9525">
            <a:solidFill>
              <a:srgbClr val="C8D8EC"/>
            </a:solidFill>
            <a:prstDash val="solid"/>
          </a:ln>
        </p:spPr>
      </p:sp>
      <p:pic>
        <p:nvPicPr>
          <p:cNvPr id="167" name="Image 24" descr="preencoded.png">    </p:cNvPr>
          <p:cNvPicPr>
            <a:picLocks noChangeAspect="1"/>
          </p:cNvPicPr>
          <p:nvPr/>
        </p:nvPicPr>
        <p:blipFill>
          <a:blip r:embed="rId25"/>
          <a:stretch>
            <a:fillRect/>
          </a:stretch>
        </p:blipFill>
        <p:spPr>
          <a:xfrm>
            <a:off x="11978640" y="7338060"/>
            <a:ext cx="146304" cy="146304"/>
          </a:xfrm>
          <a:prstGeom prst="rect">
            <a:avLst/>
          </a:prstGeom>
        </p:spPr>
      </p:pic>
      <p:sp>
        <p:nvSpPr>
          <p:cNvPr id="168" name="Text 141"/>
          <p:cNvSpPr txBox="1"/>
          <p:nvPr/>
        </p:nvSpPr>
        <p:spPr>
          <a:xfrm>
            <a:off x="12216384" y="7242048"/>
            <a:ext cx="1737360"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Adjustment approvals</a:t>
            </a:r>
            <a:endParaRPr lang="en-US" sz="950" dirty="0"/>
          </a:p>
        </p:txBody>
      </p:sp>
      <p:sp>
        <p:nvSpPr>
          <p:cNvPr id="169" name="Text 142"/>
          <p:cNvSpPr txBox="1"/>
          <p:nvPr/>
        </p:nvSpPr>
        <p:spPr>
          <a:xfrm>
            <a:off x="502920" y="7818120"/>
            <a:ext cx="2743200" cy="228600"/>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Outcomes</a:t>
            </a:r>
            <a:endParaRPr lang="en-US" sz="1100" dirty="0"/>
          </a:p>
        </p:txBody>
      </p:sp>
      <p:sp>
        <p:nvSpPr>
          <p:cNvPr id="170" name="Shape 143"/>
          <p:cNvSpPr/>
          <p:nvPr/>
        </p:nvSpPr>
        <p:spPr>
          <a:xfrm>
            <a:off x="502920" y="8074152"/>
            <a:ext cx="3227832" cy="1005840"/>
          </a:xfrm>
          <a:prstGeom prst="roundRect">
            <a:avLst>
              <a:gd name="adj" fmla="val 7273"/>
            </a:avLst>
          </a:prstGeom>
          <a:solidFill>
            <a:srgbClr val="FFFFFF"/>
          </a:solidFill>
          <a:ln w="9525">
            <a:solidFill>
              <a:srgbClr val="C8D8EC"/>
            </a:solidFill>
            <a:prstDash val="solid"/>
          </a:ln>
        </p:spPr>
      </p:sp>
      <p:sp>
        <p:nvSpPr>
          <p:cNvPr id="171" name="Shape 144"/>
          <p:cNvSpPr/>
          <p:nvPr/>
        </p:nvSpPr>
        <p:spPr>
          <a:xfrm>
            <a:off x="667512" y="8321040"/>
            <a:ext cx="512064" cy="512064"/>
          </a:xfrm>
          <a:prstGeom prst="ellipse">
            <a:avLst/>
          </a:prstGeom>
          <a:solidFill>
            <a:srgbClr val="1E8A5A"/>
          </a:solidFill>
          <a:ln w="12700">
            <a:solidFill>
              <a:srgbClr val="1E8A5A"/>
            </a:solidFill>
            <a:prstDash val="solid"/>
          </a:ln>
        </p:spPr>
      </p:sp>
      <p:pic>
        <p:nvPicPr>
          <p:cNvPr id="172" name="Image 25" descr="preencoded.png">    </p:cNvPr>
          <p:cNvPicPr>
            <a:picLocks noChangeAspect="1"/>
          </p:cNvPicPr>
          <p:nvPr/>
        </p:nvPicPr>
        <p:blipFill>
          <a:blip r:embed="rId26"/>
          <a:stretch>
            <a:fillRect/>
          </a:stretch>
        </p:blipFill>
        <p:spPr>
          <a:xfrm>
            <a:off x="800649" y="8454177"/>
            <a:ext cx="245791" cy="245791"/>
          </a:xfrm>
          <a:prstGeom prst="rect">
            <a:avLst/>
          </a:prstGeom>
        </p:spPr>
      </p:pic>
      <p:sp>
        <p:nvSpPr>
          <p:cNvPr id="173" name="Text 145"/>
          <p:cNvSpPr txBox="1"/>
          <p:nvPr/>
        </p:nvSpPr>
        <p:spPr>
          <a:xfrm>
            <a:off x="1325880"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Analysis ready before desk time</a:t>
            </a:r>
            <a:endParaRPr lang="en-US" sz="1200" dirty="0"/>
          </a:p>
        </p:txBody>
      </p:sp>
      <p:sp>
        <p:nvSpPr>
          <p:cNvPr id="174" name="Text 146"/>
          <p:cNvSpPr txBox="1"/>
          <p:nvPr/>
        </p:nvSpPr>
        <p:spPr>
          <a:xfrm>
            <a:off x="1325880"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Sessions run automatically once books are available</a:t>
            </a:r>
            <a:endParaRPr lang="en-US" sz="950" dirty="0"/>
          </a:p>
        </p:txBody>
      </p:sp>
      <p:sp>
        <p:nvSpPr>
          <p:cNvPr id="175" name="Shape 147"/>
          <p:cNvSpPr/>
          <p:nvPr/>
        </p:nvSpPr>
        <p:spPr>
          <a:xfrm>
            <a:off x="3941064" y="8074152"/>
            <a:ext cx="3227832" cy="1005840"/>
          </a:xfrm>
          <a:prstGeom prst="roundRect">
            <a:avLst>
              <a:gd name="adj" fmla="val 7273"/>
            </a:avLst>
          </a:prstGeom>
          <a:solidFill>
            <a:srgbClr val="FFFFFF"/>
          </a:solidFill>
          <a:ln w="9525">
            <a:solidFill>
              <a:srgbClr val="C8D8EC"/>
            </a:solidFill>
            <a:prstDash val="solid"/>
          </a:ln>
        </p:spPr>
      </p:sp>
      <p:sp>
        <p:nvSpPr>
          <p:cNvPr id="176" name="Shape 148"/>
          <p:cNvSpPr/>
          <p:nvPr/>
        </p:nvSpPr>
        <p:spPr>
          <a:xfrm>
            <a:off x="4105656" y="8321040"/>
            <a:ext cx="512064" cy="512064"/>
          </a:xfrm>
          <a:prstGeom prst="ellipse">
            <a:avLst/>
          </a:prstGeom>
          <a:solidFill>
            <a:srgbClr val="2A6EBB"/>
          </a:solidFill>
          <a:ln w="12700">
            <a:solidFill>
              <a:srgbClr val="2A6EBB"/>
            </a:solidFill>
            <a:prstDash val="solid"/>
          </a:ln>
        </p:spPr>
      </p:sp>
      <p:pic>
        <p:nvPicPr>
          <p:cNvPr id="177" name="Image 26" descr="preencoded.png">    </p:cNvPr>
          <p:cNvPicPr>
            <a:picLocks noChangeAspect="1"/>
          </p:cNvPicPr>
          <p:nvPr/>
        </p:nvPicPr>
        <p:blipFill>
          <a:blip r:embed="rId27"/>
          <a:stretch>
            <a:fillRect/>
          </a:stretch>
        </p:blipFill>
        <p:spPr>
          <a:xfrm>
            <a:off x="4238793" y="8454177"/>
            <a:ext cx="245791" cy="245791"/>
          </a:xfrm>
          <a:prstGeom prst="rect">
            <a:avLst/>
          </a:prstGeom>
        </p:spPr>
      </p:pic>
      <p:sp>
        <p:nvSpPr>
          <p:cNvPr id="178" name="Text 149"/>
          <p:cNvSpPr txBox="1"/>
          <p:nvPr/>
        </p:nvSpPr>
        <p:spPr>
          <a:xfrm>
            <a:off x="4764024"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Human in the loop</a:t>
            </a:r>
            <a:endParaRPr lang="en-US" sz="1200" dirty="0"/>
          </a:p>
        </p:txBody>
      </p:sp>
      <p:sp>
        <p:nvSpPr>
          <p:cNvPr id="179" name="Text 150"/>
          <p:cNvSpPr txBox="1"/>
          <p:nvPr/>
        </p:nvSpPr>
        <p:spPr>
          <a:xfrm>
            <a:off x="4764024"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Controllers approve every adjustment before FAS posts it</a:t>
            </a:r>
            <a:endParaRPr lang="en-US" sz="950" dirty="0"/>
          </a:p>
        </p:txBody>
      </p:sp>
      <p:sp>
        <p:nvSpPr>
          <p:cNvPr id="180" name="Shape 151"/>
          <p:cNvSpPr/>
          <p:nvPr/>
        </p:nvSpPr>
        <p:spPr>
          <a:xfrm>
            <a:off x="7379208" y="8074152"/>
            <a:ext cx="3227832" cy="1005840"/>
          </a:xfrm>
          <a:prstGeom prst="roundRect">
            <a:avLst>
              <a:gd name="adj" fmla="val 7273"/>
            </a:avLst>
          </a:prstGeom>
          <a:solidFill>
            <a:srgbClr val="FFFFFF"/>
          </a:solidFill>
          <a:ln w="9525">
            <a:solidFill>
              <a:srgbClr val="C8D8EC"/>
            </a:solidFill>
            <a:prstDash val="solid"/>
          </a:ln>
        </p:spPr>
      </p:sp>
      <p:sp>
        <p:nvSpPr>
          <p:cNvPr id="181" name="Shape 152"/>
          <p:cNvSpPr/>
          <p:nvPr/>
        </p:nvSpPr>
        <p:spPr>
          <a:xfrm>
            <a:off x="7543800" y="8321040"/>
            <a:ext cx="512064" cy="512064"/>
          </a:xfrm>
          <a:prstGeom prst="ellipse">
            <a:avLst/>
          </a:prstGeom>
          <a:solidFill>
            <a:srgbClr val="5B4FA8"/>
          </a:solidFill>
          <a:ln w="12700">
            <a:solidFill>
              <a:srgbClr val="5B4FA8"/>
            </a:solidFill>
            <a:prstDash val="solid"/>
          </a:ln>
        </p:spPr>
      </p:sp>
      <p:pic>
        <p:nvPicPr>
          <p:cNvPr id="182" name="Image 27" descr="preencoded.png">    </p:cNvPr>
          <p:cNvPicPr>
            <a:picLocks noChangeAspect="1"/>
          </p:cNvPicPr>
          <p:nvPr/>
        </p:nvPicPr>
        <p:blipFill>
          <a:blip r:embed="rId28"/>
          <a:stretch>
            <a:fillRect/>
          </a:stretch>
        </p:blipFill>
        <p:spPr>
          <a:xfrm>
            <a:off x="7676937" y="8454177"/>
            <a:ext cx="245791" cy="245791"/>
          </a:xfrm>
          <a:prstGeom prst="rect">
            <a:avLst/>
          </a:prstGeom>
        </p:spPr>
      </p:pic>
      <p:sp>
        <p:nvSpPr>
          <p:cNvPr id="183" name="Text 153"/>
          <p:cNvSpPr txBox="1"/>
          <p:nvPr/>
        </p:nvSpPr>
        <p:spPr>
          <a:xfrm>
            <a:off x="8202168"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Full audit trail</a:t>
            </a:r>
            <a:endParaRPr lang="en-US" sz="1200" dirty="0"/>
          </a:p>
        </p:txBody>
      </p:sp>
      <p:sp>
        <p:nvSpPr>
          <p:cNvPr id="184" name="Text 154"/>
          <p:cNvSpPr txBox="1"/>
          <p:nvPr/>
        </p:nvSpPr>
        <p:spPr>
          <a:xfrm>
            <a:off x="8202168"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AI traced in Phoenix, user and event actions in app audit</a:t>
            </a:r>
            <a:endParaRPr lang="en-US" sz="950" dirty="0"/>
          </a:p>
        </p:txBody>
      </p:sp>
      <p:sp>
        <p:nvSpPr>
          <p:cNvPr id="185" name="Shape 155"/>
          <p:cNvSpPr/>
          <p:nvPr/>
        </p:nvSpPr>
        <p:spPr>
          <a:xfrm>
            <a:off x="10817352" y="8074152"/>
            <a:ext cx="3227832" cy="1005840"/>
          </a:xfrm>
          <a:prstGeom prst="roundRect">
            <a:avLst>
              <a:gd name="adj" fmla="val 7273"/>
            </a:avLst>
          </a:prstGeom>
          <a:solidFill>
            <a:srgbClr val="FFFFFF"/>
          </a:solidFill>
          <a:ln w="9525">
            <a:solidFill>
              <a:srgbClr val="C8D8EC"/>
            </a:solidFill>
            <a:prstDash val="solid"/>
          </a:ln>
        </p:spPr>
      </p:sp>
      <p:sp>
        <p:nvSpPr>
          <p:cNvPr id="186" name="Shape 156"/>
          <p:cNvSpPr/>
          <p:nvPr/>
        </p:nvSpPr>
        <p:spPr>
          <a:xfrm>
            <a:off x="10981944" y="8321040"/>
            <a:ext cx="512064" cy="512064"/>
          </a:xfrm>
          <a:prstGeom prst="ellipse">
            <a:avLst/>
          </a:prstGeom>
          <a:solidFill>
            <a:srgbClr val="1F4E8C"/>
          </a:solidFill>
          <a:ln w="12700">
            <a:solidFill>
              <a:srgbClr val="1F4E8C"/>
            </a:solidFill>
            <a:prstDash val="solid"/>
          </a:ln>
        </p:spPr>
      </p:sp>
      <p:pic>
        <p:nvPicPr>
          <p:cNvPr id="187" name="Image 28" descr="preencoded.png">    </p:cNvPr>
          <p:cNvPicPr>
            <a:picLocks noChangeAspect="1"/>
          </p:cNvPicPr>
          <p:nvPr/>
        </p:nvPicPr>
        <p:blipFill>
          <a:blip r:embed="rId29"/>
          <a:stretch>
            <a:fillRect/>
          </a:stretch>
        </p:blipFill>
        <p:spPr>
          <a:xfrm>
            <a:off x="11115081" y="8454177"/>
            <a:ext cx="245791" cy="245791"/>
          </a:xfrm>
          <a:prstGeom prst="rect">
            <a:avLst/>
          </a:prstGeom>
        </p:spPr>
      </p:pic>
      <p:sp>
        <p:nvSpPr>
          <p:cNvPr id="188" name="Text 157"/>
          <p:cNvSpPr txBox="1"/>
          <p:nvPr/>
        </p:nvSpPr>
        <p:spPr>
          <a:xfrm>
            <a:off x="11640312"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Scales by workspace</a:t>
            </a:r>
            <a:endParaRPr lang="en-US" sz="1200" dirty="0"/>
          </a:p>
        </p:txBody>
      </p:sp>
      <p:sp>
        <p:nvSpPr>
          <p:cNvPr id="189" name="Text 158"/>
          <p:cNvSpPr txBox="1"/>
          <p:nvPr/>
        </p:nvSpPr>
        <p:spPr>
          <a:xfrm>
            <a:off x="11640312"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Add new L4 workspaces without new builds</a:t>
            </a:r>
            <a:endParaRPr lang="en-US" sz="950" dirty="0"/>
          </a:p>
        </p:txBody>
      </p:sp>
      <p:sp>
        <p:nvSpPr>
          <p:cNvPr id="190" name="Shape 159"/>
          <p:cNvSpPr/>
          <p:nvPr/>
        </p:nvSpPr>
        <p:spPr>
          <a:xfrm>
            <a:off x="0" y="9272016"/>
            <a:ext cx="14630400" cy="484632"/>
          </a:xfrm>
          <a:prstGeom prst="rect">
            <a:avLst/>
          </a:prstGeom>
          <a:solidFill>
            <a:srgbClr val="0B2E5E"/>
          </a:solidFill>
          <a:ln w="12700">
            <a:solidFill>
              <a:srgbClr val="0B2E5E"/>
            </a:solidFill>
            <a:prstDash val="solid"/>
          </a:ln>
        </p:spPr>
      </p:sp>
      <p:sp>
        <p:nvSpPr>
          <p:cNvPr id="191" name="Text 160"/>
          <p:cNvSpPr txBox="1"/>
          <p:nvPr/>
        </p:nvSpPr>
        <p:spPr>
          <a:xfrm>
            <a:off x="0" y="9272016"/>
            <a:ext cx="14630400" cy="4846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Helix Architecture</a:t>
            </a:r>
            <a:pPr algn="ctr" indent="0" marL="0">
              <a:buNone/>
            </a:pPr>
            <a:r>
              <a:rPr lang="en-US" sz="1100" dirty="0">
                <a:solidFill>
                  <a:srgbClr val="FFFFFF"/>
                </a:solidFill>
                <a:latin typeface="Calibri" pitchFamily="34" charset="0"/>
                <a:ea typeface="Calibri" pitchFamily="34" charset="-122"/>
                <a:cs typeface="Calibri" pitchFamily="34" charset="-120"/>
              </a:rPr>
              <a:t>   |   Smarter Reconciliation. Stronger Control. Greater Insight.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D"/>
        </a:solidFill>
      </p:bgPr>
    </p:bg>
    <p:spTree>
      <p:nvGrpSpPr>
        <p:cNvPr id="1" name=""/>
        <p:cNvGrpSpPr/>
        <p:nvPr/>
      </p:nvGrpSpPr>
      <p:grpSpPr>
        <a:xfrm>
          <a:off x="0" y="0"/>
          <a:ext cx="0" cy="0"/>
          <a:chOff x="0" y="0"/>
          <a:chExt cx="0" cy="0"/>
        </a:xfrm>
      </p:grpSpPr>
      <p:sp>
        <p:nvSpPr>
          <p:cNvPr id="2" name="Shape 0"/>
          <p:cNvSpPr/>
          <p:nvPr/>
        </p:nvSpPr>
        <p:spPr>
          <a:xfrm>
            <a:off x="0" y="0"/>
            <a:ext cx="14630400" cy="1024128"/>
          </a:xfrm>
          <a:prstGeom prst="rect">
            <a:avLst/>
          </a:prstGeom>
          <a:solidFill>
            <a:srgbClr val="0B2E5E"/>
          </a:solidFill>
          <a:ln w="12700">
            <a:solidFill>
              <a:srgbClr val="0B2E5E"/>
            </a:solidFill>
            <a:prstDash val="solid"/>
          </a:ln>
        </p:spPr>
      </p:sp>
      <p:sp>
        <p:nvSpPr>
          <p:cNvPr id="3" name="Text 1"/>
          <p:cNvSpPr txBox="1"/>
          <p:nvPr/>
        </p:nvSpPr>
        <p:spPr>
          <a:xfrm>
            <a:off x="301752" y="137160"/>
            <a:ext cx="11155680" cy="475488"/>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UC2 Flash v Formal P&amp;L &amp; PLEX Explain</a:t>
            </a:r>
            <a:endParaRPr lang="en-US" sz="3000" dirty="0"/>
          </a:p>
        </p:txBody>
      </p:sp>
      <p:sp>
        <p:nvSpPr>
          <p:cNvPr id="4" name="Text 2"/>
          <p:cNvSpPr txBox="1"/>
          <p:nvPr/>
        </p:nvSpPr>
        <p:spPr>
          <a:xfrm>
            <a:off x="301752" y="612648"/>
            <a:ext cx="11155680" cy="301752"/>
          </a:xfrm>
          <a:prstGeom prst="rect">
            <a:avLst/>
          </a:prstGeom>
          <a:noFill/>
          <a:ln/>
        </p:spPr>
        <p:txBody>
          <a:bodyPr wrap="square" lIns="0" tIns="0" rIns="0" bIns="0" rtlCol="0" anchor="ctr"/>
          <a:lstStyle/>
          <a:p>
            <a:pPr indent="0" marL="0">
              <a:buNone/>
            </a:pPr>
            <a:r>
              <a:rPr lang="en-US" sz="1600" dirty="0">
                <a:solidFill>
                  <a:srgbClr val="DCE9F7"/>
                </a:solidFill>
                <a:latin typeface="Calibri" pitchFamily="34" charset="0"/>
                <a:ea typeface="Calibri" pitchFamily="34" charset="-122"/>
                <a:cs typeface="Calibri" pitchFamily="34" charset="-120"/>
              </a:rPr>
              <a:t>FO / Finance P&amp;L Explains, PLEX Analysis (Hypo v Clean), PLEX Reclassification</a:t>
            </a:r>
            <a:endParaRPr lang="en-US" sz="1600" dirty="0"/>
          </a:p>
        </p:txBody>
      </p:sp>
      <p:sp>
        <p:nvSpPr>
          <p:cNvPr id="5" name="Shape 3"/>
          <p:cNvSpPr/>
          <p:nvPr/>
        </p:nvSpPr>
        <p:spPr>
          <a:xfrm>
            <a:off x="11640312" y="192024"/>
            <a:ext cx="0" cy="649224"/>
          </a:xfrm>
          <a:prstGeom prst="line">
            <a:avLst/>
          </a:prstGeom>
          <a:noFill/>
          <a:ln w="12700">
            <a:solidFill>
              <a:srgbClr val="FFFFFF"/>
            </a:solidFill>
            <a:prstDash val="solid"/>
          </a:ln>
        </p:spPr>
      </p:sp>
      <p:sp>
        <p:nvSpPr>
          <p:cNvPr id="6" name="Text 4"/>
          <p:cNvSpPr txBox="1"/>
          <p:nvPr/>
        </p:nvSpPr>
        <p:spPr>
          <a:xfrm>
            <a:off x="11814048" y="265176"/>
            <a:ext cx="2715768"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P&amp;L Explain</a:t>
            </a:r>
            <a:endParaRPr lang="en-US" sz="2200" dirty="0"/>
          </a:p>
        </p:txBody>
      </p:sp>
      <p:sp>
        <p:nvSpPr>
          <p:cNvPr id="7" name="Text 5"/>
          <p:cNvSpPr txBox="1"/>
          <p:nvPr/>
        </p:nvSpPr>
        <p:spPr>
          <a:xfrm>
            <a:off x="502920" y="1216152"/>
            <a:ext cx="1920240" cy="347472"/>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Workspaces (one per desk)</a:t>
            </a:r>
            <a:endParaRPr lang="en-US" sz="1100" dirty="0"/>
          </a:p>
        </p:txBody>
      </p:sp>
      <p:sp>
        <p:nvSpPr>
          <p:cNvPr id="8" name="Shape 6"/>
          <p:cNvSpPr/>
          <p:nvPr/>
        </p:nvSpPr>
        <p:spPr>
          <a:xfrm>
            <a:off x="2496312" y="1243584"/>
            <a:ext cx="2075688" cy="283464"/>
          </a:xfrm>
          <a:prstGeom prst="roundRect">
            <a:avLst>
              <a:gd name="adj" fmla="val 48387"/>
            </a:avLst>
          </a:prstGeom>
          <a:solidFill>
            <a:srgbClr val="DCE9F7"/>
          </a:solidFill>
          <a:ln w="9525">
            <a:solidFill>
              <a:srgbClr val="C8D8EC"/>
            </a:solidFill>
            <a:prstDash val="solid"/>
          </a:ln>
        </p:spPr>
      </p:sp>
      <p:pic>
        <p:nvPicPr>
          <p:cNvPr id="9" name="Image 0" descr="preencoded.png">    </p:cNvPr>
          <p:cNvPicPr>
            <a:picLocks noChangeAspect="1"/>
          </p:cNvPicPr>
          <p:nvPr/>
        </p:nvPicPr>
        <p:blipFill>
          <a:blip r:embed="rId1"/>
          <a:stretch>
            <a:fillRect/>
          </a:stretch>
        </p:blipFill>
        <p:spPr>
          <a:xfrm>
            <a:off x="2606040" y="1316736"/>
            <a:ext cx="137160" cy="137160"/>
          </a:xfrm>
          <a:prstGeom prst="rect">
            <a:avLst/>
          </a:prstGeom>
        </p:spPr>
      </p:pic>
      <p:sp>
        <p:nvSpPr>
          <p:cNvPr id="10" name="Text 7"/>
          <p:cNvSpPr txBox="1"/>
          <p:nvPr/>
        </p:nvSpPr>
        <p:spPr>
          <a:xfrm>
            <a:off x="2798064" y="1243584"/>
            <a:ext cx="1737360" cy="283464"/>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Rates desk</a:t>
            </a:r>
            <a:endParaRPr lang="en-US" sz="950" dirty="0"/>
          </a:p>
        </p:txBody>
      </p:sp>
      <p:sp>
        <p:nvSpPr>
          <p:cNvPr id="11" name="Shape 8"/>
          <p:cNvSpPr/>
          <p:nvPr/>
        </p:nvSpPr>
        <p:spPr>
          <a:xfrm>
            <a:off x="4709160" y="1243584"/>
            <a:ext cx="2075688" cy="283464"/>
          </a:xfrm>
          <a:prstGeom prst="roundRect">
            <a:avLst>
              <a:gd name="adj" fmla="val 48387"/>
            </a:avLst>
          </a:prstGeom>
          <a:solidFill>
            <a:srgbClr val="DCE9F7"/>
          </a:solidFill>
          <a:ln w="9525">
            <a:solidFill>
              <a:srgbClr val="C8D8EC"/>
            </a:solidFill>
            <a:prstDash val="solid"/>
          </a:ln>
        </p:spPr>
      </p:sp>
      <p:pic>
        <p:nvPicPr>
          <p:cNvPr id="12" name="Image 1" descr="preencoded.png">    </p:cNvPr>
          <p:cNvPicPr>
            <a:picLocks noChangeAspect="1"/>
          </p:cNvPicPr>
          <p:nvPr/>
        </p:nvPicPr>
        <p:blipFill>
          <a:blip r:embed="rId2"/>
          <a:stretch>
            <a:fillRect/>
          </a:stretch>
        </p:blipFill>
        <p:spPr>
          <a:xfrm>
            <a:off x="4818888" y="1316736"/>
            <a:ext cx="137160" cy="137160"/>
          </a:xfrm>
          <a:prstGeom prst="rect">
            <a:avLst/>
          </a:prstGeom>
        </p:spPr>
      </p:pic>
      <p:sp>
        <p:nvSpPr>
          <p:cNvPr id="13" name="Text 9"/>
          <p:cNvSpPr txBox="1"/>
          <p:nvPr/>
        </p:nvSpPr>
        <p:spPr>
          <a:xfrm>
            <a:off x="5010912" y="1243584"/>
            <a:ext cx="1737360" cy="283464"/>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Credit desk</a:t>
            </a:r>
            <a:endParaRPr lang="en-US" sz="950" dirty="0"/>
          </a:p>
        </p:txBody>
      </p:sp>
      <p:sp>
        <p:nvSpPr>
          <p:cNvPr id="14" name="Shape 10"/>
          <p:cNvSpPr/>
          <p:nvPr/>
        </p:nvSpPr>
        <p:spPr>
          <a:xfrm>
            <a:off x="6922008" y="1243584"/>
            <a:ext cx="2075688" cy="283464"/>
          </a:xfrm>
          <a:prstGeom prst="roundRect">
            <a:avLst>
              <a:gd name="adj" fmla="val 48387"/>
            </a:avLst>
          </a:prstGeom>
          <a:solidFill>
            <a:srgbClr val="DCE9F7"/>
          </a:solidFill>
          <a:ln w="9525">
            <a:solidFill>
              <a:srgbClr val="C8D8EC"/>
            </a:solidFill>
            <a:prstDash val="solid"/>
          </a:ln>
        </p:spPr>
      </p:sp>
      <p:pic>
        <p:nvPicPr>
          <p:cNvPr id="15" name="Image 2" descr="preencoded.png">    </p:cNvPr>
          <p:cNvPicPr>
            <a:picLocks noChangeAspect="1"/>
          </p:cNvPicPr>
          <p:nvPr/>
        </p:nvPicPr>
        <p:blipFill>
          <a:blip r:embed="rId3"/>
          <a:stretch>
            <a:fillRect/>
          </a:stretch>
        </p:blipFill>
        <p:spPr>
          <a:xfrm>
            <a:off x="7031736" y="1316736"/>
            <a:ext cx="137160" cy="137160"/>
          </a:xfrm>
          <a:prstGeom prst="rect">
            <a:avLst/>
          </a:prstGeom>
        </p:spPr>
      </p:pic>
      <p:sp>
        <p:nvSpPr>
          <p:cNvPr id="16" name="Text 11"/>
          <p:cNvSpPr txBox="1"/>
          <p:nvPr/>
        </p:nvSpPr>
        <p:spPr>
          <a:xfrm>
            <a:off x="7223760" y="1243584"/>
            <a:ext cx="1737360" cy="283464"/>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Prime desk</a:t>
            </a:r>
            <a:endParaRPr lang="en-US" sz="950" dirty="0"/>
          </a:p>
        </p:txBody>
      </p:sp>
      <p:sp>
        <p:nvSpPr>
          <p:cNvPr id="17" name="Shape 12"/>
          <p:cNvSpPr/>
          <p:nvPr/>
        </p:nvSpPr>
        <p:spPr>
          <a:xfrm>
            <a:off x="9134856" y="1243584"/>
            <a:ext cx="2075688" cy="283464"/>
          </a:xfrm>
          <a:prstGeom prst="roundRect">
            <a:avLst>
              <a:gd name="adj" fmla="val 48387"/>
            </a:avLst>
          </a:prstGeom>
          <a:solidFill>
            <a:srgbClr val="FFFFFF"/>
          </a:solidFill>
          <a:ln w="9525">
            <a:solidFill>
              <a:srgbClr val="C8D8EC"/>
            </a:solidFill>
            <a:prstDash val="solid"/>
          </a:ln>
        </p:spPr>
      </p:sp>
      <p:pic>
        <p:nvPicPr>
          <p:cNvPr id="18" name="Image 3" descr="preencoded.png">    </p:cNvPr>
          <p:cNvPicPr>
            <a:picLocks noChangeAspect="1"/>
          </p:cNvPicPr>
          <p:nvPr/>
        </p:nvPicPr>
        <p:blipFill>
          <a:blip r:embed="rId4"/>
          <a:stretch>
            <a:fillRect/>
          </a:stretch>
        </p:blipFill>
        <p:spPr>
          <a:xfrm>
            <a:off x="9244584" y="1316736"/>
            <a:ext cx="137160" cy="137160"/>
          </a:xfrm>
          <a:prstGeom prst="rect">
            <a:avLst/>
          </a:prstGeom>
        </p:spPr>
      </p:pic>
      <p:sp>
        <p:nvSpPr>
          <p:cNvPr id="19" name="Text 13"/>
          <p:cNvSpPr txBox="1"/>
          <p:nvPr/>
        </p:nvSpPr>
        <p:spPr>
          <a:xfrm>
            <a:off x="9436608" y="1243584"/>
            <a:ext cx="1737360" cy="283464"/>
          </a:xfrm>
          <a:prstGeom prst="rect">
            <a:avLst/>
          </a:prstGeom>
          <a:noFill/>
          <a:ln/>
        </p:spPr>
        <p:txBody>
          <a:bodyPr wrap="square" lIns="0" tIns="0" rIns="0" bIns="0" rtlCol="0" anchor="ctr"/>
          <a:lstStyle/>
          <a:p>
            <a:pPr indent="0" marL="0">
              <a:buNone/>
            </a:pPr>
            <a:r>
              <a:rPr lang="en-US" sz="950" i="1" dirty="0">
                <a:solidFill>
                  <a:srgbClr val="1F2D3D"/>
                </a:solidFill>
                <a:latin typeface="Calibri" pitchFamily="34" charset="0"/>
                <a:ea typeface="Calibri" pitchFamily="34" charset="-122"/>
                <a:cs typeface="Calibri" pitchFamily="34" charset="-120"/>
              </a:rPr>
              <a:t>More desks</a:t>
            </a:r>
            <a:endParaRPr lang="en-US" sz="950" dirty="0"/>
          </a:p>
        </p:txBody>
      </p:sp>
      <p:sp>
        <p:nvSpPr>
          <p:cNvPr id="20" name="Text 14"/>
          <p:cNvSpPr txBox="1"/>
          <p:nvPr/>
        </p:nvSpPr>
        <p:spPr>
          <a:xfrm>
            <a:off x="11338560" y="1216152"/>
            <a:ext cx="2852928" cy="347472"/>
          </a:xfrm>
          <a:prstGeom prst="rect">
            <a:avLst/>
          </a:prstGeom>
          <a:noFill/>
          <a:ln/>
        </p:spPr>
        <p:txBody>
          <a:bodyPr wrap="square" lIns="0" tIns="0" rIns="0" bIns="0" rtlCol="0" anchor="ctr"/>
          <a:lstStyle/>
          <a:p>
            <a:pPr indent="0" marL="0">
              <a:buNone/>
            </a:pPr>
            <a:r>
              <a:rPr lang="en-US" sz="950" i="1" dirty="0">
                <a:solidFill>
                  <a:srgbClr val="4A5A6E"/>
                </a:solidFill>
                <a:latin typeface="Calibri" pitchFamily="34" charset="0"/>
                <a:ea typeface="Calibri" pitchFamily="34" charset="-122"/>
                <a:cs typeface="Calibri" pitchFamily="34" charset="-120"/>
              </a:rPr>
              <a:t>Status: In build (P&amp;L Controller plugin)</a:t>
            </a:r>
            <a:endParaRPr lang="en-US" sz="950" dirty="0"/>
          </a:p>
        </p:txBody>
      </p:sp>
      <p:sp>
        <p:nvSpPr>
          <p:cNvPr id="21" name="Shape 15"/>
          <p:cNvSpPr/>
          <p:nvPr/>
        </p:nvSpPr>
        <p:spPr>
          <a:xfrm>
            <a:off x="502920" y="1737360"/>
            <a:ext cx="2377440" cy="4480560"/>
          </a:xfrm>
          <a:prstGeom prst="roundRect">
            <a:avLst>
              <a:gd name="adj" fmla="val 2308"/>
            </a:avLst>
          </a:prstGeom>
          <a:solidFill>
            <a:srgbClr val="EEF4FB"/>
          </a:solidFill>
          <a:ln w="12700">
            <a:solidFill>
              <a:srgbClr val="1B4F93"/>
            </a:solidFill>
            <a:prstDash val="dash"/>
          </a:ln>
        </p:spPr>
      </p:sp>
      <p:sp>
        <p:nvSpPr>
          <p:cNvPr id="22" name="Text 16"/>
          <p:cNvSpPr txBox="1"/>
          <p:nvPr/>
        </p:nvSpPr>
        <p:spPr>
          <a:xfrm>
            <a:off x="621792" y="1810512"/>
            <a:ext cx="2148840" cy="192024"/>
          </a:xfrm>
          <a:prstGeom prst="rect">
            <a:avLst/>
          </a:prstGeom>
          <a:noFill/>
          <a:ln/>
        </p:spPr>
        <p:txBody>
          <a:bodyPr wrap="square" lIns="0" tIns="0" rIns="0" bIns="0" rtlCol="0" anchor="ctr"/>
          <a:lstStyle/>
          <a:p>
            <a:pPr indent="0" marL="0">
              <a:buNone/>
            </a:pPr>
            <a:r>
              <a:rPr lang="en-US" sz="900" b="1" spc="100" kern="0" dirty="0">
                <a:solidFill>
                  <a:srgbClr val="1B4F93"/>
                </a:solidFill>
                <a:latin typeface="Calibri" pitchFamily="34" charset="0"/>
                <a:ea typeface="Calibri" pitchFamily="34" charset="-122"/>
                <a:cs typeface="Calibri" pitchFamily="34" charset="-120"/>
              </a:rPr>
              <a:t>P&amp;L PROCESSING</a:t>
            </a:r>
            <a:endParaRPr lang="en-US" sz="900" dirty="0"/>
          </a:p>
        </p:txBody>
      </p:sp>
      <p:sp>
        <p:nvSpPr>
          <p:cNvPr id="23" name="Shape 17"/>
          <p:cNvSpPr/>
          <p:nvPr/>
        </p:nvSpPr>
        <p:spPr>
          <a:xfrm>
            <a:off x="1691640" y="6236208"/>
            <a:ext cx="0" cy="219456"/>
          </a:xfrm>
          <a:prstGeom prst="line">
            <a:avLst/>
          </a:prstGeom>
          <a:noFill/>
          <a:ln w="15875">
            <a:solidFill>
              <a:srgbClr val="6B7C93"/>
            </a:solidFill>
            <a:prstDash val="dash"/>
            <a:tailEnd type="triangle"/>
          </a:ln>
        </p:spPr>
      </p:sp>
      <p:sp>
        <p:nvSpPr>
          <p:cNvPr id="24" name="Shape 18"/>
          <p:cNvSpPr/>
          <p:nvPr/>
        </p:nvSpPr>
        <p:spPr>
          <a:xfrm>
            <a:off x="3310128" y="1737360"/>
            <a:ext cx="2377440" cy="4480560"/>
          </a:xfrm>
          <a:prstGeom prst="roundRect">
            <a:avLst>
              <a:gd name="adj" fmla="val 2308"/>
            </a:avLst>
          </a:prstGeom>
          <a:solidFill>
            <a:srgbClr val="EEF4FB"/>
          </a:solidFill>
          <a:ln w="12700">
            <a:solidFill>
              <a:srgbClr val="2A6EBB"/>
            </a:solidFill>
            <a:prstDash val="dash"/>
          </a:ln>
        </p:spPr>
      </p:sp>
      <p:sp>
        <p:nvSpPr>
          <p:cNvPr id="25" name="Text 19"/>
          <p:cNvSpPr txBox="1"/>
          <p:nvPr/>
        </p:nvSpPr>
        <p:spPr>
          <a:xfrm>
            <a:off x="3429000" y="1810512"/>
            <a:ext cx="2148840" cy="192024"/>
          </a:xfrm>
          <a:prstGeom prst="rect">
            <a:avLst/>
          </a:prstGeom>
          <a:noFill/>
          <a:ln/>
        </p:spPr>
        <p:txBody>
          <a:bodyPr wrap="square" lIns="0" tIns="0" rIns="0" bIns="0" rtlCol="0" anchor="ctr"/>
          <a:lstStyle/>
          <a:p>
            <a:pPr indent="0" marL="0">
              <a:buNone/>
            </a:pPr>
            <a:r>
              <a:rPr lang="en-US" sz="900" b="1" spc="100" kern="0" dirty="0">
                <a:solidFill>
                  <a:srgbClr val="2A6EBB"/>
                </a:solidFill>
                <a:latin typeface="Calibri" pitchFamily="34" charset="0"/>
                <a:ea typeface="Calibri" pitchFamily="34" charset="-122"/>
                <a:cs typeface="Calibri" pitchFamily="34" charset="-120"/>
              </a:rPr>
              <a:t>EVENTS &amp; READINESS</a:t>
            </a:r>
            <a:endParaRPr lang="en-US" sz="900" dirty="0"/>
          </a:p>
        </p:txBody>
      </p:sp>
      <p:sp>
        <p:nvSpPr>
          <p:cNvPr id="26" name="Shape 20"/>
          <p:cNvSpPr/>
          <p:nvPr/>
        </p:nvSpPr>
        <p:spPr>
          <a:xfrm>
            <a:off x="4498848" y="6236208"/>
            <a:ext cx="0" cy="219456"/>
          </a:xfrm>
          <a:prstGeom prst="line">
            <a:avLst/>
          </a:prstGeom>
          <a:noFill/>
          <a:ln w="15875">
            <a:solidFill>
              <a:srgbClr val="6B7C93"/>
            </a:solidFill>
            <a:prstDash val="dash"/>
            <a:tailEnd type="triangle"/>
          </a:ln>
        </p:spPr>
      </p:sp>
      <p:sp>
        <p:nvSpPr>
          <p:cNvPr id="27" name="Shape 21"/>
          <p:cNvSpPr/>
          <p:nvPr/>
        </p:nvSpPr>
        <p:spPr>
          <a:xfrm>
            <a:off x="6126480" y="1737360"/>
            <a:ext cx="2377440" cy="4480560"/>
          </a:xfrm>
          <a:prstGeom prst="roundRect">
            <a:avLst>
              <a:gd name="adj" fmla="val 2308"/>
            </a:avLst>
          </a:prstGeom>
          <a:solidFill>
            <a:srgbClr val="EDF7F2"/>
          </a:solidFill>
          <a:ln w="12700">
            <a:solidFill>
              <a:srgbClr val="1E8A5A"/>
            </a:solidFill>
            <a:prstDash val="dash"/>
          </a:ln>
        </p:spPr>
      </p:sp>
      <p:sp>
        <p:nvSpPr>
          <p:cNvPr id="28" name="Text 22"/>
          <p:cNvSpPr txBox="1"/>
          <p:nvPr/>
        </p:nvSpPr>
        <p:spPr>
          <a:xfrm>
            <a:off x="6245352" y="1810512"/>
            <a:ext cx="2148840" cy="192024"/>
          </a:xfrm>
          <a:prstGeom prst="rect">
            <a:avLst/>
          </a:prstGeom>
          <a:noFill/>
          <a:ln/>
        </p:spPr>
        <p:txBody>
          <a:bodyPr wrap="square" lIns="0" tIns="0" rIns="0" bIns="0" rtlCol="0" anchor="ctr"/>
          <a:lstStyle/>
          <a:p>
            <a:pPr indent="0" marL="0">
              <a:buNone/>
            </a:pPr>
            <a:r>
              <a:rPr lang="en-US" sz="900" b="1" spc="100" kern="0" dirty="0">
                <a:solidFill>
                  <a:srgbClr val="1E8A5A"/>
                </a:solidFill>
                <a:latin typeface="Calibri" pitchFamily="34" charset="0"/>
                <a:ea typeface="Calibri" pitchFamily="34" charset="-122"/>
                <a:cs typeface="Calibri" pitchFamily="34" charset="-120"/>
              </a:rPr>
              <a:t>ORCHESTRATION</a:t>
            </a:r>
            <a:endParaRPr lang="en-US" sz="900" dirty="0"/>
          </a:p>
        </p:txBody>
      </p:sp>
      <p:sp>
        <p:nvSpPr>
          <p:cNvPr id="29" name="Shape 23"/>
          <p:cNvSpPr/>
          <p:nvPr/>
        </p:nvSpPr>
        <p:spPr>
          <a:xfrm>
            <a:off x="7315200" y="6236208"/>
            <a:ext cx="0" cy="219456"/>
          </a:xfrm>
          <a:prstGeom prst="line">
            <a:avLst/>
          </a:prstGeom>
          <a:noFill/>
          <a:ln w="15875">
            <a:solidFill>
              <a:srgbClr val="6B7C93"/>
            </a:solidFill>
            <a:prstDash val="dash"/>
            <a:tailEnd type="triangle"/>
          </a:ln>
        </p:spPr>
      </p:sp>
      <p:sp>
        <p:nvSpPr>
          <p:cNvPr id="30" name="Shape 24"/>
          <p:cNvSpPr/>
          <p:nvPr/>
        </p:nvSpPr>
        <p:spPr>
          <a:xfrm>
            <a:off x="8933688" y="1737360"/>
            <a:ext cx="2377440" cy="4480560"/>
          </a:xfrm>
          <a:prstGeom prst="roundRect">
            <a:avLst>
              <a:gd name="adj" fmla="val 2308"/>
            </a:avLst>
          </a:prstGeom>
          <a:solidFill>
            <a:srgbClr val="F3F1FB"/>
          </a:solidFill>
          <a:ln w="12700">
            <a:solidFill>
              <a:srgbClr val="5B4FA8"/>
            </a:solidFill>
            <a:prstDash val="dash"/>
          </a:ln>
        </p:spPr>
      </p:sp>
      <p:sp>
        <p:nvSpPr>
          <p:cNvPr id="31" name="Text 25"/>
          <p:cNvSpPr txBox="1"/>
          <p:nvPr/>
        </p:nvSpPr>
        <p:spPr>
          <a:xfrm>
            <a:off x="9052560" y="1810512"/>
            <a:ext cx="2148840" cy="192024"/>
          </a:xfrm>
          <a:prstGeom prst="rect">
            <a:avLst/>
          </a:prstGeom>
          <a:noFill/>
          <a:ln/>
        </p:spPr>
        <p:txBody>
          <a:bodyPr wrap="square" lIns="0" tIns="0" rIns="0" bIns="0" rtlCol="0" anchor="ctr"/>
          <a:lstStyle/>
          <a:p>
            <a:pPr indent="0" marL="0">
              <a:buNone/>
            </a:pPr>
            <a:r>
              <a:rPr lang="en-US" sz="900" b="1" spc="100" kern="0" dirty="0">
                <a:solidFill>
                  <a:srgbClr val="5B4FA8"/>
                </a:solidFill>
                <a:latin typeface="Calibri" pitchFamily="34" charset="0"/>
                <a:ea typeface="Calibri" pitchFamily="34" charset="-122"/>
                <a:cs typeface="Calibri" pitchFamily="34" charset="-120"/>
              </a:rPr>
              <a:t>AI REASONING</a:t>
            </a:r>
            <a:endParaRPr lang="en-US" sz="900" dirty="0"/>
          </a:p>
        </p:txBody>
      </p:sp>
      <p:sp>
        <p:nvSpPr>
          <p:cNvPr id="32" name="Shape 26"/>
          <p:cNvSpPr/>
          <p:nvPr/>
        </p:nvSpPr>
        <p:spPr>
          <a:xfrm>
            <a:off x="10122408" y="6236208"/>
            <a:ext cx="0" cy="219456"/>
          </a:xfrm>
          <a:prstGeom prst="line">
            <a:avLst/>
          </a:prstGeom>
          <a:noFill/>
          <a:ln w="15875">
            <a:solidFill>
              <a:srgbClr val="6B7C93"/>
            </a:solidFill>
            <a:prstDash val="dash"/>
            <a:tailEnd type="triangle"/>
          </a:ln>
        </p:spPr>
      </p:sp>
      <p:sp>
        <p:nvSpPr>
          <p:cNvPr id="33" name="Shape 27"/>
          <p:cNvSpPr/>
          <p:nvPr/>
        </p:nvSpPr>
        <p:spPr>
          <a:xfrm>
            <a:off x="11740896" y="1737360"/>
            <a:ext cx="2377440" cy="4480560"/>
          </a:xfrm>
          <a:prstGeom prst="roundRect">
            <a:avLst>
              <a:gd name="adj" fmla="val 2308"/>
            </a:avLst>
          </a:prstGeom>
          <a:solidFill>
            <a:srgbClr val="EEF4FB"/>
          </a:solidFill>
          <a:ln w="12700">
            <a:solidFill>
              <a:srgbClr val="1F6FB5"/>
            </a:solidFill>
            <a:prstDash val="dash"/>
          </a:ln>
        </p:spPr>
      </p:sp>
      <p:sp>
        <p:nvSpPr>
          <p:cNvPr id="34" name="Text 28"/>
          <p:cNvSpPr txBox="1"/>
          <p:nvPr/>
        </p:nvSpPr>
        <p:spPr>
          <a:xfrm>
            <a:off x="11859768" y="1810512"/>
            <a:ext cx="2148840" cy="192024"/>
          </a:xfrm>
          <a:prstGeom prst="rect">
            <a:avLst/>
          </a:prstGeom>
          <a:noFill/>
          <a:ln/>
        </p:spPr>
        <p:txBody>
          <a:bodyPr wrap="square" lIns="0" tIns="0" rIns="0" bIns="0" rtlCol="0" anchor="ctr"/>
          <a:lstStyle/>
          <a:p>
            <a:pPr indent="0" marL="0">
              <a:buNone/>
            </a:pPr>
            <a:r>
              <a:rPr lang="en-US" sz="900" b="1" spc="100" kern="0" dirty="0">
                <a:solidFill>
                  <a:srgbClr val="1F6FB5"/>
                </a:solidFill>
                <a:latin typeface="Calibri" pitchFamily="34" charset="0"/>
                <a:ea typeface="Calibri" pitchFamily="34" charset="-122"/>
                <a:cs typeface="Calibri" pitchFamily="34" charset="-120"/>
              </a:rPr>
              <a:t>CONTROLLER EXPERIENCE</a:t>
            </a:r>
            <a:endParaRPr lang="en-US" sz="900" dirty="0"/>
          </a:p>
        </p:txBody>
      </p:sp>
      <p:sp>
        <p:nvSpPr>
          <p:cNvPr id="35" name="Shape 29"/>
          <p:cNvSpPr/>
          <p:nvPr/>
        </p:nvSpPr>
        <p:spPr>
          <a:xfrm>
            <a:off x="12929616" y="6236208"/>
            <a:ext cx="0" cy="219456"/>
          </a:xfrm>
          <a:prstGeom prst="line">
            <a:avLst/>
          </a:prstGeom>
          <a:noFill/>
          <a:ln w="15875">
            <a:solidFill>
              <a:srgbClr val="6B7C93"/>
            </a:solidFill>
            <a:prstDash val="dash"/>
            <a:tailEnd type="triangle"/>
          </a:ln>
        </p:spPr>
      </p:sp>
      <p:sp>
        <p:nvSpPr>
          <p:cNvPr id="36" name="Shape 30"/>
          <p:cNvSpPr/>
          <p:nvPr/>
        </p:nvSpPr>
        <p:spPr>
          <a:xfrm>
            <a:off x="932688" y="2212848"/>
            <a:ext cx="1527048" cy="1426464"/>
          </a:xfrm>
          <a:prstGeom prst="roundRect">
            <a:avLst>
              <a:gd name="adj" fmla="val 5128"/>
            </a:avLst>
          </a:prstGeom>
          <a:solidFill>
            <a:srgbClr val="FFFFFF"/>
          </a:solidFill>
          <a:ln w="9525">
            <a:solidFill>
              <a:srgbClr val="C8D8EC"/>
            </a:solidFill>
            <a:prstDash val="solid"/>
          </a:ln>
        </p:spPr>
      </p:sp>
      <p:sp>
        <p:nvSpPr>
          <p:cNvPr id="37" name="Shape 31"/>
          <p:cNvSpPr/>
          <p:nvPr/>
        </p:nvSpPr>
        <p:spPr>
          <a:xfrm>
            <a:off x="1431036" y="2322576"/>
            <a:ext cx="530352" cy="530352"/>
          </a:xfrm>
          <a:prstGeom prst="roundRect">
            <a:avLst>
              <a:gd name="adj" fmla="val 17241"/>
            </a:avLst>
          </a:prstGeom>
          <a:solidFill>
            <a:srgbClr val="1B4F93"/>
          </a:solidFill>
          <a:ln w="12700">
            <a:solidFill>
              <a:srgbClr val="1B4F93"/>
            </a:solidFill>
            <a:prstDash val="solid"/>
          </a:ln>
        </p:spPr>
      </p:sp>
      <p:pic>
        <p:nvPicPr>
          <p:cNvPr id="38" name="Image 4" descr="preencoded.png">    </p:cNvPr>
          <p:cNvPicPr>
            <a:picLocks noChangeAspect="1"/>
          </p:cNvPicPr>
          <p:nvPr/>
        </p:nvPicPr>
        <p:blipFill>
          <a:blip r:embed="rId5"/>
          <a:stretch>
            <a:fillRect/>
          </a:stretch>
        </p:blipFill>
        <p:spPr>
          <a:xfrm>
            <a:off x="1547713" y="2439253"/>
            <a:ext cx="296997" cy="296997"/>
          </a:xfrm>
          <a:prstGeom prst="rect">
            <a:avLst/>
          </a:prstGeom>
        </p:spPr>
      </p:pic>
      <p:sp>
        <p:nvSpPr>
          <p:cNvPr id="39" name="Text 32"/>
          <p:cNvSpPr txBox="1"/>
          <p:nvPr/>
        </p:nvSpPr>
        <p:spPr>
          <a:xfrm>
            <a:off x="978408"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Flash &amp; Formal P&amp;L</a:t>
            </a:r>
            <a:endParaRPr lang="en-US" sz="1200" dirty="0"/>
          </a:p>
        </p:txBody>
      </p:sp>
      <p:sp>
        <p:nvSpPr>
          <p:cNvPr id="40" name="Text 33"/>
          <p:cNvSpPr txBox="1"/>
          <p:nvPr/>
        </p:nvSpPr>
        <p:spPr>
          <a:xfrm>
            <a:off x="1005840"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Trader flash and finance formal P&amp;L per desk</a:t>
            </a:r>
            <a:endParaRPr lang="en-US" sz="900" dirty="0"/>
          </a:p>
        </p:txBody>
      </p:sp>
      <p:sp>
        <p:nvSpPr>
          <p:cNvPr id="41" name="Shape 34"/>
          <p:cNvSpPr/>
          <p:nvPr/>
        </p:nvSpPr>
        <p:spPr>
          <a:xfrm>
            <a:off x="3739896" y="2212848"/>
            <a:ext cx="1527048" cy="1426464"/>
          </a:xfrm>
          <a:prstGeom prst="roundRect">
            <a:avLst>
              <a:gd name="adj" fmla="val 5128"/>
            </a:avLst>
          </a:prstGeom>
          <a:solidFill>
            <a:srgbClr val="FFFFFF"/>
          </a:solidFill>
          <a:ln w="9525">
            <a:solidFill>
              <a:srgbClr val="C8D8EC"/>
            </a:solidFill>
            <a:prstDash val="solid"/>
          </a:ln>
        </p:spPr>
      </p:sp>
      <p:sp>
        <p:nvSpPr>
          <p:cNvPr id="42" name="Shape 35"/>
          <p:cNvSpPr/>
          <p:nvPr/>
        </p:nvSpPr>
        <p:spPr>
          <a:xfrm>
            <a:off x="4238244" y="2322576"/>
            <a:ext cx="530352" cy="530352"/>
          </a:xfrm>
          <a:prstGeom prst="roundRect">
            <a:avLst>
              <a:gd name="adj" fmla="val 17241"/>
            </a:avLst>
          </a:prstGeom>
          <a:solidFill>
            <a:srgbClr val="2A6EBB"/>
          </a:solidFill>
          <a:ln w="12700">
            <a:solidFill>
              <a:srgbClr val="2A6EBB"/>
            </a:solidFill>
            <a:prstDash val="solid"/>
          </a:ln>
        </p:spPr>
      </p:sp>
      <p:pic>
        <p:nvPicPr>
          <p:cNvPr id="43" name="Image 5" descr="preencoded.png">    </p:cNvPr>
          <p:cNvPicPr>
            <a:picLocks noChangeAspect="1"/>
          </p:cNvPicPr>
          <p:nvPr/>
        </p:nvPicPr>
        <p:blipFill>
          <a:blip r:embed="rId6"/>
          <a:stretch>
            <a:fillRect/>
          </a:stretch>
        </p:blipFill>
        <p:spPr>
          <a:xfrm>
            <a:off x="4354921" y="2439253"/>
            <a:ext cx="296997" cy="296997"/>
          </a:xfrm>
          <a:prstGeom prst="rect">
            <a:avLst/>
          </a:prstGeom>
        </p:spPr>
      </p:pic>
      <p:sp>
        <p:nvSpPr>
          <p:cNvPr id="44" name="Text 36"/>
          <p:cNvSpPr txBox="1"/>
          <p:nvPr/>
        </p:nvSpPr>
        <p:spPr>
          <a:xfrm>
            <a:off x="3785616"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One Fin UX</a:t>
            </a:r>
            <a:endParaRPr lang="en-US" sz="1200" dirty="0"/>
          </a:p>
        </p:txBody>
      </p:sp>
      <p:sp>
        <p:nvSpPr>
          <p:cNvPr id="45" name="Text 37"/>
          <p:cNvSpPr txBox="1"/>
          <p:nvPr/>
        </p:nvSpPr>
        <p:spPr>
          <a:xfrm>
            <a:off x="3813048"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Event hub and business outcome per desk</a:t>
            </a:r>
            <a:endParaRPr lang="en-US" sz="900" dirty="0"/>
          </a:p>
        </p:txBody>
      </p:sp>
      <p:sp>
        <p:nvSpPr>
          <p:cNvPr id="46" name="Shape 38"/>
          <p:cNvSpPr/>
          <p:nvPr/>
        </p:nvSpPr>
        <p:spPr>
          <a:xfrm>
            <a:off x="6556248" y="2212848"/>
            <a:ext cx="1527048" cy="1426464"/>
          </a:xfrm>
          <a:prstGeom prst="roundRect">
            <a:avLst>
              <a:gd name="adj" fmla="val 5128"/>
            </a:avLst>
          </a:prstGeom>
          <a:solidFill>
            <a:srgbClr val="FFFFFF"/>
          </a:solidFill>
          <a:ln w="9525">
            <a:solidFill>
              <a:srgbClr val="C8D8EC"/>
            </a:solidFill>
            <a:prstDash val="solid"/>
          </a:ln>
        </p:spPr>
      </p:sp>
      <p:sp>
        <p:nvSpPr>
          <p:cNvPr id="47" name="Shape 39"/>
          <p:cNvSpPr/>
          <p:nvPr/>
        </p:nvSpPr>
        <p:spPr>
          <a:xfrm>
            <a:off x="7054596" y="2322576"/>
            <a:ext cx="530352" cy="530352"/>
          </a:xfrm>
          <a:prstGeom prst="roundRect">
            <a:avLst>
              <a:gd name="adj" fmla="val 17241"/>
            </a:avLst>
          </a:prstGeom>
          <a:solidFill>
            <a:srgbClr val="1E8A5A"/>
          </a:solidFill>
          <a:ln w="12700">
            <a:solidFill>
              <a:srgbClr val="1E8A5A"/>
            </a:solidFill>
            <a:prstDash val="solid"/>
          </a:ln>
        </p:spPr>
      </p:sp>
      <p:pic>
        <p:nvPicPr>
          <p:cNvPr id="48" name="Image 6" descr="preencoded.png">    </p:cNvPr>
          <p:cNvPicPr>
            <a:picLocks noChangeAspect="1"/>
          </p:cNvPicPr>
          <p:nvPr/>
        </p:nvPicPr>
        <p:blipFill>
          <a:blip r:embed="rId7"/>
          <a:stretch>
            <a:fillRect/>
          </a:stretch>
        </p:blipFill>
        <p:spPr>
          <a:xfrm>
            <a:off x="7171273" y="2439253"/>
            <a:ext cx="296997" cy="296997"/>
          </a:xfrm>
          <a:prstGeom prst="rect">
            <a:avLst/>
          </a:prstGeom>
        </p:spPr>
      </p:pic>
      <p:sp>
        <p:nvSpPr>
          <p:cNvPr id="49" name="Text 40"/>
          <p:cNvSpPr txBox="1"/>
          <p:nvPr/>
        </p:nvSpPr>
        <p:spPr>
          <a:xfrm>
            <a:off x="6601968"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P&amp;L Agent</a:t>
            </a:r>
            <a:endParaRPr lang="en-US" sz="1200" dirty="0"/>
          </a:p>
        </p:txBody>
      </p:sp>
      <p:sp>
        <p:nvSpPr>
          <p:cNvPr id="50" name="Text 41"/>
          <p:cNvSpPr txBox="1"/>
          <p:nvPr/>
        </p:nvSpPr>
        <p:spPr>
          <a:xfrm>
            <a:off x="6629400"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Orchestrates flash v formal sessions</a:t>
            </a:r>
            <a:endParaRPr lang="en-US" sz="900" dirty="0"/>
          </a:p>
        </p:txBody>
      </p:sp>
      <p:sp>
        <p:nvSpPr>
          <p:cNvPr id="51" name="Shape 42"/>
          <p:cNvSpPr/>
          <p:nvPr/>
        </p:nvSpPr>
        <p:spPr>
          <a:xfrm>
            <a:off x="9363456" y="2212848"/>
            <a:ext cx="1527048" cy="1426464"/>
          </a:xfrm>
          <a:prstGeom prst="roundRect">
            <a:avLst>
              <a:gd name="adj" fmla="val 5128"/>
            </a:avLst>
          </a:prstGeom>
          <a:solidFill>
            <a:srgbClr val="FFFFFF"/>
          </a:solidFill>
          <a:ln w="9525">
            <a:solidFill>
              <a:srgbClr val="C8D8EC"/>
            </a:solidFill>
            <a:prstDash val="solid"/>
          </a:ln>
        </p:spPr>
      </p:sp>
      <p:sp>
        <p:nvSpPr>
          <p:cNvPr id="52" name="Shape 43"/>
          <p:cNvSpPr/>
          <p:nvPr/>
        </p:nvSpPr>
        <p:spPr>
          <a:xfrm>
            <a:off x="9861804" y="2322576"/>
            <a:ext cx="530352" cy="530352"/>
          </a:xfrm>
          <a:prstGeom prst="roundRect">
            <a:avLst>
              <a:gd name="adj" fmla="val 17241"/>
            </a:avLst>
          </a:prstGeom>
          <a:solidFill>
            <a:srgbClr val="5B4FA8"/>
          </a:solidFill>
          <a:ln w="12700">
            <a:solidFill>
              <a:srgbClr val="5B4FA8"/>
            </a:solidFill>
            <a:prstDash val="solid"/>
          </a:ln>
        </p:spPr>
      </p:sp>
      <p:pic>
        <p:nvPicPr>
          <p:cNvPr id="53" name="Image 7" descr="preencoded.png">    </p:cNvPr>
          <p:cNvPicPr>
            <a:picLocks noChangeAspect="1"/>
          </p:cNvPicPr>
          <p:nvPr/>
        </p:nvPicPr>
        <p:blipFill>
          <a:blip r:embed="rId8"/>
          <a:stretch>
            <a:fillRect/>
          </a:stretch>
        </p:blipFill>
        <p:spPr>
          <a:xfrm>
            <a:off x="9978481" y="2439253"/>
            <a:ext cx="296997" cy="296997"/>
          </a:xfrm>
          <a:prstGeom prst="rect">
            <a:avLst/>
          </a:prstGeom>
        </p:spPr>
      </p:pic>
      <p:sp>
        <p:nvSpPr>
          <p:cNvPr id="54" name="Text 44"/>
          <p:cNvSpPr txBox="1"/>
          <p:nvPr/>
        </p:nvSpPr>
        <p:spPr>
          <a:xfrm>
            <a:off x="9409176"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Agent One</a:t>
            </a:r>
            <a:endParaRPr lang="en-US" sz="1200" dirty="0"/>
          </a:p>
        </p:txBody>
      </p:sp>
      <p:sp>
        <p:nvSpPr>
          <p:cNvPr id="55" name="Text 45"/>
          <p:cNvSpPr txBox="1"/>
          <p:nvPr/>
        </p:nvSpPr>
        <p:spPr>
          <a:xfrm>
            <a:off x="9436608"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Explain gaps, PLEX Hypo v Clean, reclass</a:t>
            </a:r>
            <a:endParaRPr lang="en-US" sz="900" dirty="0"/>
          </a:p>
        </p:txBody>
      </p:sp>
      <p:sp>
        <p:nvSpPr>
          <p:cNvPr id="56" name="Shape 46"/>
          <p:cNvSpPr/>
          <p:nvPr/>
        </p:nvSpPr>
        <p:spPr>
          <a:xfrm>
            <a:off x="12170664" y="2212848"/>
            <a:ext cx="1527048" cy="1426464"/>
          </a:xfrm>
          <a:prstGeom prst="roundRect">
            <a:avLst>
              <a:gd name="adj" fmla="val 5128"/>
            </a:avLst>
          </a:prstGeom>
          <a:solidFill>
            <a:srgbClr val="FFFFFF"/>
          </a:solidFill>
          <a:ln w="9525">
            <a:solidFill>
              <a:srgbClr val="C8D8EC"/>
            </a:solidFill>
            <a:prstDash val="solid"/>
          </a:ln>
        </p:spPr>
      </p:sp>
      <p:sp>
        <p:nvSpPr>
          <p:cNvPr id="57" name="Shape 47"/>
          <p:cNvSpPr/>
          <p:nvPr/>
        </p:nvSpPr>
        <p:spPr>
          <a:xfrm>
            <a:off x="12669012" y="2322576"/>
            <a:ext cx="530352" cy="530352"/>
          </a:xfrm>
          <a:prstGeom prst="roundRect">
            <a:avLst>
              <a:gd name="adj" fmla="val 17241"/>
            </a:avLst>
          </a:prstGeom>
          <a:solidFill>
            <a:srgbClr val="1F6FB5"/>
          </a:solidFill>
          <a:ln w="12700">
            <a:solidFill>
              <a:srgbClr val="1F6FB5"/>
            </a:solidFill>
            <a:prstDash val="solid"/>
          </a:ln>
        </p:spPr>
      </p:sp>
      <p:pic>
        <p:nvPicPr>
          <p:cNvPr id="58" name="Image 8" descr="preencoded.png">    </p:cNvPr>
          <p:cNvPicPr>
            <a:picLocks noChangeAspect="1"/>
          </p:cNvPicPr>
          <p:nvPr/>
        </p:nvPicPr>
        <p:blipFill>
          <a:blip r:embed="rId9"/>
          <a:stretch>
            <a:fillRect/>
          </a:stretch>
        </p:blipFill>
        <p:spPr>
          <a:xfrm>
            <a:off x="12785689" y="2439253"/>
            <a:ext cx="296997" cy="296997"/>
          </a:xfrm>
          <a:prstGeom prst="rect">
            <a:avLst/>
          </a:prstGeom>
        </p:spPr>
      </p:pic>
      <p:sp>
        <p:nvSpPr>
          <p:cNvPr id="59" name="Text 48"/>
          <p:cNvSpPr txBox="1"/>
          <p:nvPr/>
        </p:nvSpPr>
        <p:spPr>
          <a:xfrm>
            <a:off x="12216384"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P&amp;L Explain UI</a:t>
            </a:r>
            <a:endParaRPr lang="en-US" sz="1200" dirty="0"/>
          </a:p>
        </p:txBody>
      </p:sp>
      <p:sp>
        <p:nvSpPr>
          <p:cNvPr id="60" name="Text 49"/>
          <p:cNvSpPr txBox="1"/>
          <p:nvPr/>
        </p:nvSpPr>
        <p:spPr>
          <a:xfrm>
            <a:off x="12243816"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Explain, reclass and chat per desk</a:t>
            </a:r>
            <a:endParaRPr lang="en-US" sz="900" dirty="0"/>
          </a:p>
        </p:txBody>
      </p:sp>
      <p:sp>
        <p:nvSpPr>
          <p:cNvPr id="61" name="Shape 50"/>
          <p:cNvSpPr/>
          <p:nvPr/>
        </p:nvSpPr>
        <p:spPr>
          <a:xfrm>
            <a:off x="932688" y="4645152"/>
            <a:ext cx="1527048" cy="1261872"/>
          </a:xfrm>
          <a:prstGeom prst="roundRect">
            <a:avLst>
              <a:gd name="adj" fmla="val 5797"/>
            </a:avLst>
          </a:prstGeom>
          <a:solidFill>
            <a:srgbClr val="FFFFFF"/>
          </a:solidFill>
          <a:ln w="9525">
            <a:solidFill>
              <a:srgbClr val="C8D8EC"/>
            </a:solidFill>
            <a:prstDash val="solid"/>
          </a:ln>
        </p:spPr>
      </p:sp>
      <p:sp>
        <p:nvSpPr>
          <p:cNvPr id="62" name="Shape 51"/>
          <p:cNvSpPr/>
          <p:nvPr/>
        </p:nvSpPr>
        <p:spPr>
          <a:xfrm>
            <a:off x="1431036" y="4754880"/>
            <a:ext cx="530352" cy="530352"/>
          </a:xfrm>
          <a:prstGeom prst="roundRect">
            <a:avLst>
              <a:gd name="adj" fmla="val 17241"/>
            </a:avLst>
          </a:prstGeom>
          <a:solidFill>
            <a:srgbClr val="4F7BB5"/>
          </a:solidFill>
          <a:ln w="12700">
            <a:solidFill>
              <a:srgbClr val="4F7BB5"/>
            </a:solidFill>
            <a:prstDash val="solid"/>
          </a:ln>
        </p:spPr>
      </p:sp>
      <p:pic>
        <p:nvPicPr>
          <p:cNvPr id="63" name="Image 9" descr="preencoded.png">    </p:cNvPr>
          <p:cNvPicPr>
            <a:picLocks noChangeAspect="1"/>
          </p:cNvPicPr>
          <p:nvPr/>
        </p:nvPicPr>
        <p:blipFill>
          <a:blip r:embed="rId10"/>
          <a:stretch>
            <a:fillRect/>
          </a:stretch>
        </p:blipFill>
        <p:spPr>
          <a:xfrm>
            <a:off x="1547713" y="4871557"/>
            <a:ext cx="296997" cy="296997"/>
          </a:xfrm>
          <a:prstGeom prst="rect">
            <a:avLst/>
          </a:prstGeom>
        </p:spPr>
      </p:pic>
      <p:sp>
        <p:nvSpPr>
          <p:cNvPr id="64" name="Text 52"/>
          <p:cNvSpPr txBox="1"/>
          <p:nvPr/>
        </p:nvSpPr>
        <p:spPr>
          <a:xfrm>
            <a:off x="978408" y="5349240"/>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PLEX &amp; Lineage</a:t>
            </a:r>
            <a:endParaRPr lang="en-US" sz="1200" dirty="0"/>
          </a:p>
        </p:txBody>
      </p:sp>
      <p:sp>
        <p:nvSpPr>
          <p:cNvPr id="65" name="Text 53"/>
          <p:cNvSpPr txBox="1"/>
          <p:nvPr/>
        </p:nvSpPr>
        <p:spPr>
          <a:xfrm>
            <a:off x="1005840" y="5559552"/>
            <a:ext cx="1380744"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P&amp;L explains and P&amp;L Lineage per book</a:t>
            </a:r>
            <a:endParaRPr lang="en-US" sz="900" dirty="0"/>
          </a:p>
        </p:txBody>
      </p:sp>
      <p:sp>
        <p:nvSpPr>
          <p:cNvPr id="66" name="Shape 54"/>
          <p:cNvSpPr/>
          <p:nvPr/>
        </p:nvSpPr>
        <p:spPr>
          <a:xfrm>
            <a:off x="3739896" y="4645152"/>
            <a:ext cx="1527048" cy="1261872"/>
          </a:xfrm>
          <a:prstGeom prst="roundRect">
            <a:avLst>
              <a:gd name="adj" fmla="val 5797"/>
            </a:avLst>
          </a:prstGeom>
          <a:solidFill>
            <a:srgbClr val="FFFFFF"/>
          </a:solidFill>
          <a:ln w="9525">
            <a:solidFill>
              <a:srgbClr val="C8D8EC"/>
            </a:solidFill>
            <a:prstDash val="solid"/>
          </a:ln>
        </p:spPr>
      </p:sp>
      <p:sp>
        <p:nvSpPr>
          <p:cNvPr id="67" name="Shape 55"/>
          <p:cNvSpPr/>
          <p:nvPr/>
        </p:nvSpPr>
        <p:spPr>
          <a:xfrm>
            <a:off x="4238244" y="4754880"/>
            <a:ext cx="530352" cy="530352"/>
          </a:xfrm>
          <a:prstGeom prst="roundRect">
            <a:avLst>
              <a:gd name="adj" fmla="val 17241"/>
            </a:avLst>
          </a:prstGeom>
          <a:solidFill>
            <a:srgbClr val="3F86C8"/>
          </a:solidFill>
          <a:ln w="12700">
            <a:solidFill>
              <a:srgbClr val="3F86C8"/>
            </a:solidFill>
            <a:prstDash val="solid"/>
          </a:ln>
        </p:spPr>
      </p:sp>
      <p:pic>
        <p:nvPicPr>
          <p:cNvPr id="68" name="Image 10" descr="preencoded.png">    </p:cNvPr>
          <p:cNvPicPr>
            <a:picLocks noChangeAspect="1"/>
          </p:cNvPicPr>
          <p:nvPr/>
        </p:nvPicPr>
        <p:blipFill>
          <a:blip r:embed="rId11"/>
          <a:stretch>
            <a:fillRect/>
          </a:stretch>
        </p:blipFill>
        <p:spPr>
          <a:xfrm>
            <a:off x="4354921" y="4871557"/>
            <a:ext cx="296997" cy="296997"/>
          </a:xfrm>
          <a:prstGeom prst="rect">
            <a:avLst/>
          </a:prstGeom>
        </p:spPr>
      </p:pic>
      <p:sp>
        <p:nvSpPr>
          <p:cNvPr id="69" name="Text 56"/>
          <p:cNvSpPr txBox="1"/>
          <p:nvPr/>
        </p:nvSpPr>
        <p:spPr>
          <a:xfrm>
            <a:off x="3785616" y="5349240"/>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Business Outcome</a:t>
            </a:r>
            <a:endParaRPr lang="en-US" sz="1200" dirty="0"/>
          </a:p>
        </p:txBody>
      </p:sp>
      <p:sp>
        <p:nvSpPr>
          <p:cNvPr id="70" name="Text 57"/>
          <p:cNvSpPr txBox="1"/>
          <p:nvPr/>
        </p:nvSpPr>
        <p:spPr>
          <a:xfrm>
            <a:off x="3813048" y="5559552"/>
            <a:ext cx="1380744"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Ready when formal P&amp;L is loaded</a:t>
            </a:r>
            <a:endParaRPr lang="en-US" sz="900" dirty="0"/>
          </a:p>
        </p:txBody>
      </p:sp>
      <p:sp>
        <p:nvSpPr>
          <p:cNvPr id="71" name="Shape 58"/>
          <p:cNvSpPr/>
          <p:nvPr/>
        </p:nvSpPr>
        <p:spPr>
          <a:xfrm>
            <a:off x="6556248" y="4645152"/>
            <a:ext cx="1527048" cy="1261872"/>
          </a:xfrm>
          <a:prstGeom prst="roundRect">
            <a:avLst>
              <a:gd name="adj" fmla="val 5797"/>
            </a:avLst>
          </a:prstGeom>
          <a:solidFill>
            <a:srgbClr val="FFFFFF"/>
          </a:solidFill>
          <a:ln w="9525">
            <a:solidFill>
              <a:srgbClr val="C8D8EC"/>
            </a:solidFill>
            <a:prstDash val="solid"/>
          </a:ln>
        </p:spPr>
      </p:sp>
      <p:sp>
        <p:nvSpPr>
          <p:cNvPr id="72" name="Shape 59"/>
          <p:cNvSpPr/>
          <p:nvPr/>
        </p:nvSpPr>
        <p:spPr>
          <a:xfrm>
            <a:off x="7054596" y="4754880"/>
            <a:ext cx="530352" cy="530352"/>
          </a:xfrm>
          <a:prstGeom prst="roundRect">
            <a:avLst>
              <a:gd name="adj" fmla="val 17241"/>
            </a:avLst>
          </a:prstGeom>
          <a:solidFill>
            <a:srgbClr val="1E8A5A"/>
          </a:solidFill>
          <a:ln w="12700">
            <a:solidFill>
              <a:srgbClr val="1E8A5A"/>
            </a:solidFill>
            <a:prstDash val="solid"/>
          </a:ln>
        </p:spPr>
      </p:sp>
      <p:pic>
        <p:nvPicPr>
          <p:cNvPr id="73" name="Image 11" descr="preencoded.png">    </p:cNvPr>
          <p:cNvPicPr>
            <a:picLocks noChangeAspect="1"/>
          </p:cNvPicPr>
          <p:nvPr/>
        </p:nvPicPr>
        <p:blipFill>
          <a:blip r:embed="rId12"/>
          <a:stretch>
            <a:fillRect/>
          </a:stretch>
        </p:blipFill>
        <p:spPr>
          <a:xfrm>
            <a:off x="7171273" y="4871557"/>
            <a:ext cx="296997" cy="296997"/>
          </a:xfrm>
          <a:prstGeom prst="rect">
            <a:avLst/>
          </a:prstGeom>
        </p:spPr>
      </p:pic>
      <p:sp>
        <p:nvSpPr>
          <p:cNvPr id="74" name="Text 60"/>
          <p:cNvSpPr txBox="1"/>
          <p:nvPr/>
        </p:nvSpPr>
        <p:spPr>
          <a:xfrm>
            <a:off x="6601968" y="5349240"/>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Readiness Check</a:t>
            </a:r>
            <a:endParaRPr lang="en-US" sz="1200" dirty="0"/>
          </a:p>
        </p:txBody>
      </p:sp>
      <p:sp>
        <p:nvSpPr>
          <p:cNvPr id="75" name="Text 61"/>
          <p:cNvSpPr txBox="1"/>
          <p:nvPr/>
        </p:nvSpPr>
        <p:spPr>
          <a:xfrm>
            <a:off x="6629400" y="5559552"/>
            <a:ext cx="1380744"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Validates desk before session start</a:t>
            </a:r>
            <a:endParaRPr lang="en-US" sz="900" dirty="0"/>
          </a:p>
        </p:txBody>
      </p:sp>
      <p:sp>
        <p:nvSpPr>
          <p:cNvPr id="76" name="Shape 62"/>
          <p:cNvSpPr/>
          <p:nvPr/>
        </p:nvSpPr>
        <p:spPr>
          <a:xfrm>
            <a:off x="9015984" y="4645152"/>
            <a:ext cx="1051560" cy="1261872"/>
          </a:xfrm>
          <a:prstGeom prst="roundRect">
            <a:avLst>
              <a:gd name="adj" fmla="val 6957"/>
            </a:avLst>
          </a:prstGeom>
          <a:solidFill>
            <a:srgbClr val="FFFFFF"/>
          </a:solidFill>
          <a:ln w="9525">
            <a:solidFill>
              <a:srgbClr val="C8D8EC"/>
            </a:solidFill>
            <a:prstDash val="solid"/>
          </a:ln>
        </p:spPr>
      </p:sp>
      <p:sp>
        <p:nvSpPr>
          <p:cNvPr id="77" name="Shape 63"/>
          <p:cNvSpPr/>
          <p:nvPr/>
        </p:nvSpPr>
        <p:spPr>
          <a:xfrm>
            <a:off x="9276588" y="4754880"/>
            <a:ext cx="530352" cy="530352"/>
          </a:xfrm>
          <a:prstGeom prst="roundRect">
            <a:avLst>
              <a:gd name="adj" fmla="val 17241"/>
            </a:avLst>
          </a:prstGeom>
          <a:solidFill>
            <a:srgbClr val="5B4FA8"/>
          </a:solidFill>
          <a:ln w="12700">
            <a:solidFill>
              <a:srgbClr val="5B4FA8"/>
            </a:solidFill>
            <a:prstDash val="solid"/>
          </a:ln>
        </p:spPr>
      </p:sp>
      <p:pic>
        <p:nvPicPr>
          <p:cNvPr id="78" name="Image 12" descr="preencoded.png">    </p:cNvPr>
          <p:cNvPicPr>
            <a:picLocks noChangeAspect="1"/>
          </p:cNvPicPr>
          <p:nvPr/>
        </p:nvPicPr>
        <p:blipFill>
          <a:blip r:embed="rId13"/>
          <a:stretch>
            <a:fillRect/>
          </a:stretch>
        </p:blipFill>
        <p:spPr>
          <a:xfrm>
            <a:off x="9393265" y="4871557"/>
            <a:ext cx="296997" cy="296997"/>
          </a:xfrm>
          <a:prstGeom prst="rect">
            <a:avLst/>
          </a:prstGeom>
        </p:spPr>
      </p:pic>
      <p:sp>
        <p:nvSpPr>
          <p:cNvPr id="79" name="Text 64"/>
          <p:cNvSpPr txBox="1"/>
          <p:nvPr/>
        </p:nvSpPr>
        <p:spPr>
          <a:xfrm>
            <a:off x="9061704" y="5349240"/>
            <a:ext cx="960120" cy="210312"/>
          </a:xfrm>
          <a:prstGeom prst="rect">
            <a:avLst/>
          </a:prstGeom>
          <a:noFill/>
          <a:ln/>
        </p:spPr>
        <p:txBody>
          <a:bodyPr wrap="square" lIns="0" tIns="0" rIns="0" bIns="0" rtlCol="0" anchor="ctr"/>
          <a:lstStyle/>
          <a:p>
            <a:pPr algn="ctr" indent="0" marL="0">
              <a:buNone/>
            </a:pPr>
            <a:r>
              <a:rPr lang="en-US" sz="1050" b="1" dirty="0">
                <a:solidFill>
                  <a:srgbClr val="1F2D3D"/>
                </a:solidFill>
                <a:latin typeface="Calibri" pitchFamily="34" charset="0"/>
                <a:ea typeface="Calibri" pitchFamily="34" charset="-122"/>
                <a:cs typeface="Calibri" pitchFamily="34" charset="-120"/>
              </a:rPr>
              <a:t>Data (MCP)</a:t>
            </a:r>
            <a:endParaRPr lang="en-US" sz="1050" dirty="0"/>
          </a:p>
        </p:txBody>
      </p:sp>
      <p:sp>
        <p:nvSpPr>
          <p:cNvPr id="80" name="Text 65"/>
          <p:cNvSpPr txBox="1"/>
          <p:nvPr/>
        </p:nvSpPr>
        <p:spPr>
          <a:xfrm>
            <a:off x="9089136" y="5559552"/>
            <a:ext cx="905256"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P&amp;L, PLEX, positions</a:t>
            </a:r>
            <a:endParaRPr lang="en-US" sz="900" dirty="0"/>
          </a:p>
        </p:txBody>
      </p:sp>
      <p:sp>
        <p:nvSpPr>
          <p:cNvPr id="81" name="Shape 66"/>
          <p:cNvSpPr/>
          <p:nvPr/>
        </p:nvSpPr>
        <p:spPr>
          <a:xfrm>
            <a:off x="10149840" y="4645152"/>
            <a:ext cx="1051560" cy="1261872"/>
          </a:xfrm>
          <a:prstGeom prst="roundRect">
            <a:avLst>
              <a:gd name="adj" fmla="val 6957"/>
            </a:avLst>
          </a:prstGeom>
          <a:solidFill>
            <a:srgbClr val="FFFFFF"/>
          </a:solidFill>
          <a:ln w="9525">
            <a:solidFill>
              <a:srgbClr val="C8D8EC"/>
            </a:solidFill>
            <a:prstDash val="solid"/>
          </a:ln>
        </p:spPr>
      </p:sp>
      <p:sp>
        <p:nvSpPr>
          <p:cNvPr id="82" name="Shape 67"/>
          <p:cNvSpPr/>
          <p:nvPr/>
        </p:nvSpPr>
        <p:spPr>
          <a:xfrm>
            <a:off x="10410444" y="4754880"/>
            <a:ext cx="530352" cy="530352"/>
          </a:xfrm>
          <a:prstGeom prst="roundRect">
            <a:avLst>
              <a:gd name="adj" fmla="val 17241"/>
            </a:avLst>
          </a:prstGeom>
          <a:solidFill>
            <a:srgbClr val="C0392B"/>
          </a:solidFill>
          <a:ln w="12700">
            <a:solidFill>
              <a:srgbClr val="C0392B"/>
            </a:solidFill>
            <a:prstDash val="solid"/>
          </a:ln>
        </p:spPr>
      </p:sp>
      <p:pic>
        <p:nvPicPr>
          <p:cNvPr id="83" name="Image 13" descr="preencoded.png">    </p:cNvPr>
          <p:cNvPicPr>
            <a:picLocks noChangeAspect="1"/>
          </p:cNvPicPr>
          <p:nvPr/>
        </p:nvPicPr>
        <p:blipFill>
          <a:blip r:embed="rId14"/>
          <a:stretch>
            <a:fillRect/>
          </a:stretch>
        </p:blipFill>
        <p:spPr>
          <a:xfrm>
            <a:off x="10527121" y="4871557"/>
            <a:ext cx="296997" cy="296997"/>
          </a:xfrm>
          <a:prstGeom prst="rect">
            <a:avLst/>
          </a:prstGeom>
        </p:spPr>
      </p:pic>
      <p:sp>
        <p:nvSpPr>
          <p:cNvPr id="84" name="Text 68"/>
          <p:cNvSpPr txBox="1"/>
          <p:nvPr/>
        </p:nvSpPr>
        <p:spPr>
          <a:xfrm>
            <a:off x="10195560" y="5349240"/>
            <a:ext cx="960120" cy="210312"/>
          </a:xfrm>
          <a:prstGeom prst="rect">
            <a:avLst/>
          </a:prstGeom>
          <a:noFill/>
          <a:ln/>
        </p:spPr>
        <p:txBody>
          <a:bodyPr wrap="square" lIns="0" tIns="0" rIns="0" bIns="0" rtlCol="0" anchor="ctr"/>
          <a:lstStyle/>
          <a:p>
            <a:pPr algn="ctr" indent="0" marL="0">
              <a:buNone/>
            </a:pPr>
            <a:r>
              <a:rPr lang="en-US" sz="1050" b="1" dirty="0">
                <a:solidFill>
                  <a:srgbClr val="1F2D3D"/>
                </a:solidFill>
                <a:latin typeface="Calibri" pitchFamily="34" charset="0"/>
                <a:ea typeface="Calibri" pitchFamily="34" charset="-122"/>
                <a:cs typeface="Calibri" pitchFamily="34" charset="-120"/>
              </a:rPr>
              <a:t>Reclass</a:t>
            </a:r>
            <a:endParaRPr lang="en-US" sz="1050" dirty="0"/>
          </a:p>
        </p:txBody>
      </p:sp>
      <p:sp>
        <p:nvSpPr>
          <p:cNvPr id="85" name="Text 69"/>
          <p:cNvSpPr txBox="1"/>
          <p:nvPr/>
        </p:nvSpPr>
        <p:spPr>
          <a:xfrm>
            <a:off x="10222992" y="5559552"/>
            <a:ext cx="905256"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Applies approved PLEX reclass</a:t>
            </a:r>
            <a:endParaRPr lang="en-US" sz="900" dirty="0"/>
          </a:p>
        </p:txBody>
      </p:sp>
      <p:sp>
        <p:nvSpPr>
          <p:cNvPr id="86" name="Shape 70"/>
          <p:cNvSpPr/>
          <p:nvPr/>
        </p:nvSpPr>
        <p:spPr>
          <a:xfrm>
            <a:off x="12170664" y="4645152"/>
            <a:ext cx="1527048" cy="1261872"/>
          </a:xfrm>
          <a:prstGeom prst="roundRect">
            <a:avLst>
              <a:gd name="adj" fmla="val 5797"/>
            </a:avLst>
          </a:prstGeom>
          <a:solidFill>
            <a:srgbClr val="FFFFFF"/>
          </a:solidFill>
          <a:ln w="9525">
            <a:solidFill>
              <a:srgbClr val="C8D8EC"/>
            </a:solidFill>
            <a:prstDash val="solid"/>
          </a:ln>
        </p:spPr>
      </p:sp>
      <p:sp>
        <p:nvSpPr>
          <p:cNvPr id="87" name="Shape 71"/>
          <p:cNvSpPr/>
          <p:nvPr/>
        </p:nvSpPr>
        <p:spPr>
          <a:xfrm>
            <a:off x="12669012" y="4754880"/>
            <a:ext cx="530352" cy="530352"/>
          </a:xfrm>
          <a:prstGeom prst="roundRect">
            <a:avLst>
              <a:gd name="adj" fmla="val 17241"/>
            </a:avLst>
          </a:prstGeom>
          <a:solidFill>
            <a:srgbClr val="1F6FB5"/>
          </a:solidFill>
          <a:ln w="12700">
            <a:solidFill>
              <a:srgbClr val="1F6FB5"/>
            </a:solidFill>
            <a:prstDash val="solid"/>
          </a:ln>
        </p:spPr>
      </p:sp>
      <p:pic>
        <p:nvPicPr>
          <p:cNvPr id="88" name="Image 14" descr="preencoded.png">    </p:cNvPr>
          <p:cNvPicPr>
            <a:picLocks noChangeAspect="1"/>
          </p:cNvPicPr>
          <p:nvPr/>
        </p:nvPicPr>
        <p:blipFill>
          <a:blip r:embed="rId15"/>
          <a:stretch>
            <a:fillRect/>
          </a:stretch>
        </p:blipFill>
        <p:spPr>
          <a:xfrm>
            <a:off x="12785689" y="4871557"/>
            <a:ext cx="296997" cy="296997"/>
          </a:xfrm>
          <a:prstGeom prst="rect">
            <a:avLst/>
          </a:prstGeom>
        </p:spPr>
      </p:pic>
      <p:sp>
        <p:nvSpPr>
          <p:cNvPr id="89" name="Text 72"/>
          <p:cNvSpPr txBox="1"/>
          <p:nvPr/>
        </p:nvSpPr>
        <p:spPr>
          <a:xfrm>
            <a:off x="12216384" y="5349240"/>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Product Controller</a:t>
            </a:r>
            <a:endParaRPr lang="en-US" sz="1200" dirty="0"/>
          </a:p>
        </p:txBody>
      </p:sp>
      <p:sp>
        <p:nvSpPr>
          <p:cNvPr id="90" name="Text 73"/>
          <p:cNvSpPr txBox="1"/>
          <p:nvPr/>
        </p:nvSpPr>
        <p:spPr>
          <a:xfrm>
            <a:off x="12243816" y="5559552"/>
            <a:ext cx="1380744"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Reviews explain, signs off</a:t>
            </a:r>
            <a:endParaRPr lang="en-US" sz="900" dirty="0"/>
          </a:p>
        </p:txBody>
      </p:sp>
      <p:sp>
        <p:nvSpPr>
          <p:cNvPr id="91" name="Shape 74"/>
          <p:cNvSpPr/>
          <p:nvPr/>
        </p:nvSpPr>
        <p:spPr>
          <a:xfrm>
            <a:off x="2459736" y="2615184"/>
            <a:ext cx="1280160" cy="0"/>
          </a:xfrm>
          <a:prstGeom prst="line">
            <a:avLst/>
          </a:prstGeom>
          <a:noFill/>
          <a:ln w="19050">
            <a:solidFill>
              <a:srgbClr val="1F4E8C"/>
            </a:solidFill>
            <a:prstDash val="solid"/>
            <a:tailEnd type="triangle"/>
          </a:ln>
        </p:spPr>
      </p:sp>
      <p:sp>
        <p:nvSpPr>
          <p:cNvPr id="92" name="Shape 75"/>
          <p:cNvSpPr/>
          <p:nvPr/>
        </p:nvSpPr>
        <p:spPr>
          <a:xfrm>
            <a:off x="2532888" y="2286000"/>
            <a:ext cx="219456" cy="219456"/>
          </a:xfrm>
          <a:prstGeom prst="ellipse">
            <a:avLst/>
          </a:prstGeom>
          <a:solidFill>
            <a:srgbClr val="1F4E8C"/>
          </a:solidFill>
          <a:ln w="12700">
            <a:solidFill>
              <a:srgbClr val="1F4E8C"/>
            </a:solidFill>
            <a:prstDash val="solid"/>
          </a:ln>
        </p:spPr>
      </p:sp>
      <p:sp>
        <p:nvSpPr>
          <p:cNvPr id="93" name="Text 76"/>
          <p:cNvSpPr txBox="1"/>
          <p:nvPr/>
        </p:nvSpPr>
        <p:spPr>
          <a:xfrm>
            <a:off x="2532888" y="228600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94" name="Text 77"/>
          <p:cNvSpPr txBox="1"/>
          <p:nvPr/>
        </p:nvSpPr>
        <p:spPr>
          <a:xfrm>
            <a:off x="2788920" y="2029968"/>
            <a:ext cx="914400" cy="365760"/>
          </a:xfrm>
          <a:prstGeom prst="rect">
            <a:avLst/>
          </a:prstGeom>
          <a:solidFill>
            <a:srgbClr val="FFFFFF">
              <a:alpha val="0"/>
            </a:srgbClr>
          </a:solidFill>
          <a:ln/>
        </p:spPr>
        <p:txBody>
          <a:bodyPr wrap="square" lIns="0" tIns="0" rIns="0" bIns="0" rtlCol="0" anchor="b"/>
          <a:lstStyle/>
          <a:p>
            <a:pPr indent="0" marL="0">
              <a:buNone/>
            </a:pPr>
            <a:r>
              <a:rPr lang="en-US" sz="900" dirty="0">
                <a:solidFill>
                  <a:srgbClr val="1F2D3D"/>
                </a:solidFill>
                <a:latin typeface="Calibri" pitchFamily="34" charset="0"/>
                <a:ea typeface="Calibri" pitchFamily="34" charset="-122"/>
                <a:cs typeface="Calibri" pitchFamily="34" charset="-120"/>
              </a:rPr>
              <a:t>Flash and formal P&amp;L</a:t>
            </a:r>
            <a:endParaRPr lang="en-US" sz="900" dirty="0"/>
          </a:p>
        </p:txBody>
      </p:sp>
      <p:sp>
        <p:nvSpPr>
          <p:cNvPr id="95" name="Shape 78"/>
          <p:cNvSpPr/>
          <p:nvPr/>
        </p:nvSpPr>
        <p:spPr>
          <a:xfrm>
            <a:off x="5266944" y="2615184"/>
            <a:ext cx="1289304" cy="0"/>
          </a:xfrm>
          <a:prstGeom prst="line">
            <a:avLst/>
          </a:prstGeom>
          <a:noFill/>
          <a:ln w="19050">
            <a:solidFill>
              <a:srgbClr val="2A6EBB"/>
            </a:solidFill>
            <a:prstDash val="solid"/>
            <a:tailEnd type="triangle"/>
          </a:ln>
        </p:spPr>
      </p:sp>
      <p:sp>
        <p:nvSpPr>
          <p:cNvPr id="96" name="Shape 79"/>
          <p:cNvSpPr/>
          <p:nvPr/>
        </p:nvSpPr>
        <p:spPr>
          <a:xfrm>
            <a:off x="5340096" y="2286000"/>
            <a:ext cx="219456" cy="219456"/>
          </a:xfrm>
          <a:prstGeom prst="ellipse">
            <a:avLst/>
          </a:prstGeom>
          <a:solidFill>
            <a:srgbClr val="2A6EBB"/>
          </a:solidFill>
          <a:ln w="12700">
            <a:solidFill>
              <a:srgbClr val="2A6EBB"/>
            </a:solidFill>
            <a:prstDash val="solid"/>
          </a:ln>
        </p:spPr>
      </p:sp>
      <p:sp>
        <p:nvSpPr>
          <p:cNvPr id="97" name="Text 80"/>
          <p:cNvSpPr txBox="1"/>
          <p:nvPr/>
        </p:nvSpPr>
        <p:spPr>
          <a:xfrm>
            <a:off x="5340096" y="228600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98" name="Text 81"/>
          <p:cNvSpPr txBox="1"/>
          <p:nvPr/>
        </p:nvSpPr>
        <p:spPr>
          <a:xfrm>
            <a:off x="5596128" y="2029968"/>
            <a:ext cx="923544" cy="365760"/>
          </a:xfrm>
          <a:prstGeom prst="rect">
            <a:avLst/>
          </a:prstGeom>
          <a:solidFill>
            <a:srgbClr val="FFFFFF">
              <a:alpha val="0"/>
            </a:srgbClr>
          </a:solidFill>
          <a:ln/>
        </p:spPr>
        <p:txBody>
          <a:bodyPr wrap="square" lIns="0" tIns="0" rIns="0" bIns="0" rtlCol="0" anchor="b"/>
          <a:lstStyle/>
          <a:p>
            <a:pPr indent="0" marL="0">
              <a:buNone/>
            </a:pPr>
            <a:r>
              <a:rPr lang="en-US" sz="900" dirty="0">
                <a:solidFill>
                  <a:srgbClr val="1F2D3D"/>
                </a:solidFill>
                <a:latin typeface="Calibri" pitchFamily="34" charset="0"/>
                <a:ea typeface="Calibri" pitchFamily="34" charset="-122"/>
                <a:cs typeface="Calibri" pitchFamily="34" charset="-120"/>
              </a:rPr>
              <a:t>Desk Ready event</a:t>
            </a:r>
            <a:endParaRPr lang="en-US" sz="900" dirty="0"/>
          </a:p>
        </p:txBody>
      </p:sp>
      <p:sp>
        <p:nvSpPr>
          <p:cNvPr id="99" name="Shape 82"/>
          <p:cNvSpPr/>
          <p:nvPr/>
        </p:nvSpPr>
        <p:spPr>
          <a:xfrm>
            <a:off x="8083296" y="2615184"/>
            <a:ext cx="1280160" cy="0"/>
          </a:xfrm>
          <a:prstGeom prst="line">
            <a:avLst/>
          </a:prstGeom>
          <a:noFill/>
          <a:ln w="19050">
            <a:solidFill>
              <a:srgbClr val="1E8A5A"/>
            </a:solidFill>
            <a:prstDash val="solid"/>
            <a:tailEnd type="triangle"/>
          </a:ln>
        </p:spPr>
      </p:sp>
      <p:sp>
        <p:nvSpPr>
          <p:cNvPr id="100" name="Shape 83"/>
          <p:cNvSpPr/>
          <p:nvPr/>
        </p:nvSpPr>
        <p:spPr>
          <a:xfrm>
            <a:off x="8156448" y="2286000"/>
            <a:ext cx="219456" cy="219456"/>
          </a:xfrm>
          <a:prstGeom prst="ellipse">
            <a:avLst/>
          </a:prstGeom>
          <a:solidFill>
            <a:srgbClr val="1E8A5A"/>
          </a:solidFill>
          <a:ln w="12700">
            <a:solidFill>
              <a:srgbClr val="1E8A5A"/>
            </a:solidFill>
            <a:prstDash val="solid"/>
          </a:ln>
        </p:spPr>
      </p:sp>
      <p:sp>
        <p:nvSpPr>
          <p:cNvPr id="101" name="Text 84"/>
          <p:cNvSpPr txBox="1"/>
          <p:nvPr/>
        </p:nvSpPr>
        <p:spPr>
          <a:xfrm>
            <a:off x="8156448" y="228600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02" name="Text 85"/>
          <p:cNvSpPr txBox="1"/>
          <p:nvPr/>
        </p:nvSpPr>
        <p:spPr>
          <a:xfrm>
            <a:off x="8412480" y="2029968"/>
            <a:ext cx="914400" cy="365760"/>
          </a:xfrm>
          <a:prstGeom prst="rect">
            <a:avLst/>
          </a:prstGeom>
          <a:solidFill>
            <a:srgbClr val="FFFFFF">
              <a:alpha val="0"/>
            </a:srgbClr>
          </a:solidFill>
          <a:ln/>
        </p:spPr>
        <p:txBody>
          <a:bodyPr wrap="square" lIns="0" tIns="0" rIns="0" bIns="0" rtlCol="0" anchor="b"/>
          <a:lstStyle/>
          <a:p>
            <a:pPr indent="0" marL="0">
              <a:buNone/>
            </a:pPr>
            <a:r>
              <a:rPr lang="en-US" sz="900" dirty="0">
                <a:solidFill>
                  <a:srgbClr val="1F2D3D"/>
                </a:solidFill>
                <a:latin typeface="Calibri" pitchFamily="34" charset="0"/>
                <a:ea typeface="Calibri" pitchFamily="34" charset="-122"/>
                <a:cs typeface="Calibri" pitchFamily="34" charset="-120"/>
              </a:rPr>
              <a:t>Start explain session</a:t>
            </a:r>
            <a:endParaRPr lang="en-US" sz="900" dirty="0"/>
          </a:p>
        </p:txBody>
      </p:sp>
      <p:sp>
        <p:nvSpPr>
          <p:cNvPr id="103" name="Shape 86"/>
          <p:cNvSpPr/>
          <p:nvPr/>
        </p:nvSpPr>
        <p:spPr>
          <a:xfrm>
            <a:off x="10890504" y="2615184"/>
            <a:ext cx="1280160" cy="0"/>
          </a:xfrm>
          <a:prstGeom prst="line">
            <a:avLst/>
          </a:prstGeom>
          <a:noFill/>
          <a:ln w="19050">
            <a:solidFill>
              <a:srgbClr val="5B4FA8"/>
            </a:solidFill>
            <a:prstDash val="solid"/>
            <a:tailEnd type="triangle"/>
          </a:ln>
        </p:spPr>
      </p:sp>
      <p:sp>
        <p:nvSpPr>
          <p:cNvPr id="104" name="Shape 87"/>
          <p:cNvSpPr/>
          <p:nvPr/>
        </p:nvSpPr>
        <p:spPr>
          <a:xfrm>
            <a:off x="10963656" y="2286000"/>
            <a:ext cx="219456" cy="219456"/>
          </a:xfrm>
          <a:prstGeom prst="ellipse">
            <a:avLst/>
          </a:prstGeom>
          <a:solidFill>
            <a:srgbClr val="5B4FA8"/>
          </a:solidFill>
          <a:ln w="12700">
            <a:solidFill>
              <a:srgbClr val="5B4FA8"/>
            </a:solidFill>
            <a:prstDash val="solid"/>
          </a:ln>
        </p:spPr>
      </p:sp>
      <p:sp>
        <p:nvSpPr>
          <p:cNvPr id="105" name="Text 88"/>
          <p:cNvSpPr txBox="1"/>
          <p:nvPr/>
        </p:nvSpPr>
        <p:spPr>
          <a:xfrm>
            <a:off x="10963656" y="228600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106" name="Text 89"/>
          <p:cNvSpPr txBox="1"/>
          <p:nvPr/>
        </p:nvSpPr>
        <p:spPr>
          <a:xfrm>
            <a:off x="11219688" y="2029968"/>
            <a:ext cx="914400" cy="365760"/>
          </a:xfrm>
          <a:prstGeom prst="rect">
            <a:avLst/>
          </a:prstGeom>
          <a:solidFill>
            <a:srgbClr val="FFFFFF">
              <a:alpha val="0"/>
            </a:srgbClr>
          </a:solidFill>
          <a:ln/>
        </p:spPr>
        <p:txBody>
          <a:bodyPr wrap="square" lIns="0" tIns="0" rIns="0" bIns="0" rtlCol="0" anchor="b"/>
          <a:lstStyle/>
          <a:p>
            <a:pPr indent="0" marL="0">
              <a:buNone/>
            </a:pPr>
            <a:r>
              <a:rPr lang="en-US" sz="900" dirty="0">
                <a:solidFill>
                  <a:srgbClr val="1F2D3D"/>
                </a:solidFill>
                <a:latin typeface="Calibri" pitchFamily="34" charset="0"/>
                <a:ea typeface="Calibri" pitchFamily="34" charset="-122"/>
                <a:cs typeface="Calibri" pitchFamily="34" charset="-120"/>
              </a:rPr>
              <a:t>Explain published</a:t>
            </a:r>
            <a:endParaRPr lang="en-US" sz="900" dirty="0"/>
          </a:p>
        </p:txBody>
      </p:sp>
      <p:sp>
        <p:nvSpPr>
          <p:cNvPr id="107" name="Shape 90"/>
          <p:cNvSpPr/>
          <p:nvPr/>
        </p:nvSpPr>
        <p:spPr>
          <a:xfrm>
            <a:off x="10890504" y="3218688"/>
            <a:ext cx="1280160" cy="0"/>
          </a:xfrm>
          <a:prstGeom prst="line">
            <a:avLst/>
          </a:prstGeom>
          <a:noFill/>
          <a:ln w="19050">
            <a:solidFill>
              <a:srgbClr val="1F6FB5"/>
            </a:solidFill>
            <a:prstDash val="solid"/>
            <a:headEnd type="triangle"/>
          </a:ln>
        </p:spPr>
      </p:sp>
      <p:sp>
        <p:nvSpPr>
          <p:cNvPr id="108" name="Shape 91"/>
          <p:cNvSpPr/>
          <p:nvPr/>
        </p:nvSpPr>
        <p:spPr>
          <a:xfrm>
            <a:off x="10963656" y="3291840"/>
            <a:ext cx="219456" cy="219456"/>
          </a:xfrm>
          <a:prstGeom prst="ellipse">
            <a:avLst/>
          </a:prstGeom>
          <a:solidFill>
            <a:srgbClr val="1F6FB5"/>
          </a:solidFill>
          <a:ln w="12700">
            <a:solidFill>
              <a:srgbClr val="1F6FB5"/>
            </a:solidFill>
            <a:prstDash val="solid"/>
          </a:ln>
        </p:spPr>
      </p:sp>
      <p:sp>
        <p:nvSpPr>
          <p:cNvPr id="109" name="Text 92"/>
          <p:cNvSpPr txBox="1"/>
          <p:nvPr/>
        </p:nvSpPr>
        <p:spPr>
          <a:xfrm>
            <a:off x="10963656" y="329184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7</a:t>
            </a:r>
            <a:endParaRPr lang="en-US" sz="900" dirty="0"/>
          </a:p>
        </p:txBody>
      </p:sp>
      <p:sp>
        <p:nvSpPr>
          <p:cNvPr id="110" name="Text 93"/>
          <p:cNvSpPr txBox="1"/>
          <p:nvPr/>
        </p:nvSpPr>
        <p:spPr>
          <a:xfrm>
            <a:off x="11219688" y="3273552"/>
            <a:ext cx="914400" cy="365760"/>
          </a:xfrm>
          <a:prstGeom prst="rect">
            <a:avLst/>
          </a:prstGeom>
          <a:noFill/>
          <a:ln/>
        </p:spPr>
        <p:txBody>
          <a:bodyPr wrap="square" lIns="0" tIns="0" rIns="0" bIns="0" rtlCol="0" anchor="t"/>
          <a:lstStyle/>
          <a:p>
            <a:pPr indent="0" marL="0">
              <a:buNone/>
            </a:pPr>
            <a:r>
              <a:rPr lang="en-US" sz="900" dirty="0">
                <a:solidFill>
                  <a:srgbClr val="1F2D3D"/>
                </a:solidFill>
                <a:latin typeface="Calibri" pitchFamily="34" charset="0"/>
                <a:ea typeface="Calibri" pitchFamily="34" charset="-122"/>
                <a:cs typeface="Calibri" pitchFamily="34" charset="-120"/>
              </a:rPr>
              <a:t>Q&amp;A and sign-off</a:t>
            </a:r>
            <a:endParaRPr lang="en-US" sz="900" dirty="0"/>
          </a:p>
        </p:txBody>
      </p:sp>
      <p:sp>
        <p:nvSpPr>
          <p:cNvPr id="111" name="Shape 94"/>
          <p:cNvSpPr/>
          <p:nvPr/>
        </p:nvSpPr>
        <p:spPr>
          <a:xfrm>
            <a:off x="1696212" y="3639312"/>
            <a:ext cx="0" cy="1005840"/>
          </a:xfrm>
          <a:prstGeom prst="line">
            <a:avLst/>
          </a:prstGeom>
          <a:noFill/>
          <a:ln w="15875">
            <a:solidFill>
              <a:srgbClr val="4F7BB5"/>
            </a:solidFill>
            <a:prstDash val="dash"/>
            <a:headEnd type="triangle"/>
          </a:ln>
        </p:spPr>
      </p:sp>
      <p:sp>
        <p:nvSpPr>
          <p:cNvPr id="112" name="Text 95"/>
          <p:cNvSpPr txBox="1"/>
          <p:nvPr/>
        </p:nvSpPr>
        <p:spPr>
          <a:xfrm>
            <a:off x="1787652" y="4005072"/>
            <a:ext cx="868680" cy="274320"/>
          </a:xfrm>
          <a:prstGeom prst="rect">
            <a:avLst/>
          </a:prstGeom>
          <a:noFill/>
          <a:ln/>
        </p:spPr>
        <p:txBody>
          <a:bodyPr wrap="square" lIns="0" tIns="0" rIns="0" bIns="0" rtlCol="0" anchor="ctr"/>
          <a:lstStyle/>
          <a:p>
            <a:pPr indent="0" marL="0">
              <a:buNone/>
            </a:pPr>
            <a:r>
              <a:rPr lang="en-US" sz="900" dirty="0">
                <a:solidFill>
                  <a:srgbClr val="1F2D3D"/>
                </a:solidFill>
                <a:latin typeface="Calibri" pitchFamily="34" charset="0"/>
                <a:ea typeface="Calibri" pitchFamily="34" charset="-122"/>
                <a:cs typeface="Calibri" pitchFamily="34" charset="-120"/>
              </a:rPr>
              <a:t>PLEX data</a:t>
            </a:r>
            <a:endParaRPr lang="en-US" sz="900" dirty="0"/>
          </a:p>
        </p:txBody>
      </p:sp>
      <p:sp>
        <p:nvSpPr>
          <p:cNvPr id="113" name="Shape 96"/>
          <p:cNvSpPr/>
          <p:nvPr/>
        </p:nvSpPr>
        <p:spPr>
          <a:xfrm>
            <a:off x="4503420" y="3639312"/>
            <a:ext cx="0" cy="1005840"/>
          </a:xfrm>
          <a:prstGeom prst="line">
            <a:avLst/>
          </a:prstGeom>
          <a:noFill/>
          <a:ln w="15875">
            <a:solidFill>
              <a:srgbClr val="3F86C8"/>
            </a:solidFill>
            <a:prstDash val="dash"/>
            <a:tailEnd type="triangle"/>
          </a:ln>
        </p:spPr>
      </p:sp>
      <p:sp>
        <p:nvSpPr>
          <p:cNvPr id="114" name="Text 97"/>
          <p:cNvSpPr txBox="1"/>
          <p:nvPr/>
        </p:nvSpPr>
        <p:spPr>
          <a:xfrm>
            <a:off x="4594860" y="4005072"/>
            <a:ext cx="868680" cy="274320"/>
          </a:xfrm>
          <a:prstGeom prst="rect">
            <a:avLst/>
          </a:prstGeom>
          <a:noFill/>
          <a:ln/>
        </p:spPr>
        <p:txBody>
          <a:bodyPr wrap="square" lIns="0" tIns="0" rIns="0" bIns="0" rtlCol="0" anchor="ctr"/>
          <a:lstStyle/>
          <a:p>
            <a:pPr indent="0" marL="0">
              <a:buNone/>
            </a:pPr>
            <a:r>
              <a:rPr lang="en-US" sz="900" dirty="0">
                <a:solidFill>
                  <a:srgbClr val="1F2D3D"/>
                </a:solidFill>
                <a:latin typeface="Calibri" pitchFamily="34" charset="0"/>
                <a:ea typeface="Calibri" pitchFamily="34" charset="-122"/>
                <a:cs typeface="Calibri" pitchFamily="34" charset="-120"/>
              </a:rPr>
              <a:t>Evaluates</a:t>
            </a:r>
            <a:endParaRPr lang="en-US" sz="900" dirty="0"/>
          </a:p>
        </p:txBody>
      </p:sp>
      <p:sp>
        <p:nvSpPr>
          <p:cNvPr id="115" name="Shape 98"/>
          <p:cNvSpPr/>
          <p:nvPr/>
        </p:nvSpPr>
        <p:spPr>
          <a:xfrm>
            <a:off x="7319772" y="3639312"/>
            <a:ext cx="0" cy="1005840"/>
          </a:xfrm>
          <a:prstGeom prst="line">
            <a:avLst/>
          </a:prstGeom>
          <a:noFill/>
          <a:ln w="15875">
            <a:solidFill>
              <a:srgbClr val="1E8A5A"/>
            </a:solidFill>
            <a:prstDash val="dash"/>
            <a:tailEnd type="triangle"/>
          </a:ln>
        </p:spPr>
      </p:sp>
      <p:sp>
        <p:nvSpPr>
          <p:cNvPr id="116" name="Text 99"/>
          <p:cNvSpPr txBox="1"/>
          <p:nvPr/>
        </p:nvSpPr>
        <p:spPr>
          <a:xfrm>
            <a:off x="7411212" y="4005072"/>
            <a:ext cx="868680" cy="274320"/>
          </a:xfrm>
          <a:prstGeom prst="rect">
            <a:avLst/>
          </a:prstGeom>
          <a:noFill/>
          <a:ln/>
        </p:spPr>
        <p:txBody>
          <a:bodyPr wrap="square" lIns="0" tIns="0" rIns="0" bIns="0" rtlCol="0" anchor="ctr"/>
          <a:lstStyle/>
          <a:p>
            <a:pPr indent="0" marL="0">
              <a:buNone/>
            </a:pPr>
            <a:r>
              <a:rPr lang="en-US" sz="900" dirty="0">
                <a:solidFill>
                  <a:srgbClr val="1F2D3D"/>
                </a:solidFill>
                <a:latin typeface="Calibri" pitchFamily="34" charset="0"/>
                <a:ea typeface="Calibri" pitchFamily="34" charset="-122"/>
                <a:cs typeface="Calibri" pitchFamily="34" charset="-120"/>
              </a:rPr>
              <a:t>Checks</a:t>
            </a:r>
            <a:endParaRPr lang="en-US" sz="900" dirty="0"/>
          </a:p>
        </p:txBody>
      </p:sp>
      <p:sp>
        <p:nvSpPr>
          <p:cNvPr id="117" name="Shape 100"/>
          <p:cNvSpPr/>
          <p:nvPr/>
        </p:nvSpPr>
        <p:spPr>
          <a:xfrm>
            <a:off x="9326880" y="3639312"/>
            <a:ext cx="0" cy="1005840"/>
          </a:xfrm>
          <a:prstGeom prst="line">
            <a:avLst/>
          </a:prstGeom>
          <a:noFill/>
          <a:ln w="19050">
            <a:solidFill>
              <a:srgbClr val="5B4FA8"/>
            </a:solidFill>
            <a:prstDash val="solid"/>
            <a:tailEnd type="triangle"/>
          </a:ln>
        </p:spPr>
      </p:sp>
      <p:sp>
        <p:nvSpPr>
          <p:cNvPr id="118" name="Shape 101"/>
          <p:cNvSpPr/>
          <p:nvPr/>
        </p:nvSpPr>
        <p:spPr>
          <a:xfrm>
            <a:off x="9418320" y="3840480"/>
            <a:ext cx="219456" cy="219456"/>
          </a:xfrm>
          <a:prstGeom prst="ellipse">
            <a:avLst/>
          </a:prstGeom>
          <a:solidFill>
            <a:srgbClr val="5B4FA8"/>
          </a:solidFill>
          <a:ln w="12700">
            <a:solidFill>
              <a:srgbClr val="5B4FA8"/>
            </a:solidFill>
            <a:prstDash val="solid"/>
          </a:ln>
        </p:spPr>
      </p:sp>
      <p:sp>
        <p:nvSpPr>
          <p:cNvPr id="119" name="Text 102"/>
          <p:cNvSpPr txBox="1"/>
          <p:nvPr/>
        </p:nvSpPr>
        <p:spPr>
          <a:xfrm>
            <a:off x="9418320" y="384048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120" name="Text 103"/>
          <p:cNvSpPr txBox="1"/>
          <p:nvPr/>
        </p:nvSpPr>
        <p:spPr>
          <a:xfrm>
            <a:off x="9418320" y="4087368"/>
            <a:ext cx="685800" cy="457200"/>
          </a:xfrm>
          <a:prstGeom prst="rect">
            <a:avLst/>
          </a:prstGeom>
          <a:noFill/>
          <a:ln/>
        </p:spPr>
        <p:txBody>
          <a:bodyPr wrap="square" lIns="0" tIns="0" rIns="0" bIns="0" rtlCol="0" anchor="t"/>
          <a:lstStyle/>
          <a:p>
            <a:pPr indent="0" marL="0">
              <a:buNone/>
            </a:pPr>
            <a:r>
              <a:rPr lang="en-US" sz="900" dirty="0">
                <a:solidFill>
                  <a:srgbClr val="1F2D3D"/>
                </a:solidFill>
                <a:latin typeface="Calibri" pitchFamily="34" charset="0"/>
                <a:ea typeface="Calibri" pitchFamily="34" charset="-122"/>
                <a:cs typeface="Calibri" pitchFamily="34" charset="-120"/>
              </a:rPr>
              <a:t>Fetch data</a:t>
            </a:r>
            <a:endParaRPr lang="en-US" sz="900" dirty="0"/>
          </a:p>
        </p:txBody>
      </p:sp>
      <p:sp>
        <p:nvSpPr>
          <p:cNvPr id="121" name="Shape 104"/>
          <p:cNvSpPr/>
          <p:nvPr/>
        </p:nvSpPr>
        <p:spPr>
          <a:xfrm>
            <a:off x="10469880" y="3639312"/>
            <a:ext cx="0" cy="1005840"/>
          </a:xfrm>
          <a:prstGeom prst="line">
            <a:avLst/>
          </a:prstGeom>
          <a:noFill/>
          <a:ln w="19050">
            <a:solidFill>
              <a:srgbClr val="C0392B"/>
            </a:solidFill>
            <a:prstDash val="solid"/>
            <a:tailEnd type="triangle"/>
          </a:ln>
        </p:spPr>
      </p:sp>
      <p:sp>
        <p:nvSpPr>
          <p:cNvPr id="122" name="Shape 105"/>
          <p:cNvSpPr/>
          <p:nvPr/>
        </p:nvSpPr>
        <p:spPr>
          <a:xfrm>
            <a:off x="10561320" y="3840480"/>
            <a:ext cx="219456" cy="219456"/>
          </a:xfrm>
          <a:prstGeom prst="ellipse">
            <a:avLst/>
          </a:prstGeom>
          <a:solidFill>
            <a:srgbClr val="C0392B"/>
          </a:solidFill>
          <a:ln w="12700">
            <a:solidFill>
              <a:srgbClr val="C0392B"/>
            </a:solidFill>
            <a:prstDash val="solid"/>
          </a:ln>
        </p:spPr>
      </p:sp>
      <p:sp>
        <p:nvSpPr>
          <p:cNvPr id="123" name="Text 106"/>
          <p:cNvSpPr txBox="1"/>
          <p:nvPr/>
        </p:nvSpPr>
        <p:spPr>
          <a:xfrm>
            <a:off x="10561320" y="384048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8</a:t>
            </a:r>
            <a:endParaRPr lang="en-US" sz="900" dirty="0"/>
          </a:p>
        </p:txBody>
      </p:sp>
      <p:sp>
        <p:nvSpPr>
          <p:cNvPr id="124" name="Text 107"/>
          <p:cNvSpPr txBox="1"/>
          <p:nvPr/>
        </p:nvSpPr>
        <p:spPr>
          <a:xfrm>
            <a:off x="10561320" y="4087368"/>
            <a:ext cx="713232" cy="502920"/>
          </a:xfrm>
          <a:prstGeom prst="rect">
            <a:avLst/>
          </a:prstGeom>
          <a:noFill/>
          <a:ln/>
        </p:spPr>
        <p:txBody>
          <a:bodyPr wrap="square" lIns="0" tIns="0" rIns="0" bIns="0" rtlCol="0" anchor="t"/>
          <a:lstStyle/>
          <a:p>
            <a:pPr indent="0" marL="0">
              <a:buNone/>
            </a:pPr>
            <a:r>
              <a:rPr lang="en-US" sz="900" dirty="0">
                <a:solidFill>
                  <a:srgbClr val="1F2D3D"/>
                </a:solidFill>
                <a:latin typeface="Calibri" pitchFamily="34" charset="0"/>
                <a:ea typeface="Calibri" pitchFamily="34" charset="-122"/>
                <a:cs typeface="Calibri" pitchFamily="34" charset="-120"/>
              </a:rPr>
              <a:t>Apply approved reclass</a:t>
            </a:r>
            <a:endParaRPr lang="en-US" sz="900" dirty="0"/>
          </a:p>
        </p:txBody>
      </p:sp>
      <p:sp>
        <p:nvSpPr>
          <p:cNvPr id="125" name="Shape 108"/>
          <p:cNvSpPr/>
          <p:nvPr/>
        </p:nvSpPr>
        <p:spPr>
          <a:xfrm>
            <a:off x="12934188" y="3639312"/>
            <a:ext cx="0" cy="1005840"/>
          </a:xfrm>
          <a:prstGeom prst="line">
            <a:avLst/>
          </a:prstGeom>
          <a:noFill/>
          <a:ln w="19050">
            <a:solidFill>
              <a:srgbClr val="1F6FB5"/>
            </a:solidFill>
            <a:prstDash val="solid"/>
            <a:headEnd type="triangle"/>
          </a:ln>
        </p:spPr>
      </p:sp>
      <p:sp>
        <p:nvSpPr>
          <p:cNvPr id="126" name="Shape 109"/>
          <p:cNvSpPr/>
          <p:nvPr/>
        </p:nvSpPr>
        <p:spPr>
          <a:xfrm>
            <a:off x="13043916" y="3840480"/>
            <a:ext cx="219456" cy="219456"/>
          </a:xfrm>
          <a:prstGeom prst="ellipse">
            <a:avLst/>
          </a:prstGeom>
          <a:solidFill>
            <a:srgbClr val="1F6FB5"/>
          </a:solidFill>
          <a:ln w="12700">
            <a:solidFill>
              <a:srgbClr val="1F6FB5"/>
            </a:solidFill>
            <a:prstDash val="solid"/>
          </a:ln>
        </p:spPr>
      </p:sp>
      <p:sp>
        <p:nvSpPr>
          <p:cNvPr id="127" name="Text 110"/>
          <p:cNvSpPr txBox="1"/>
          <p:nvPr/>
        </p:nvSpPr>
        <p:spPr>
          <a:xfrm>
            <a:off x="13043916" y="384048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128" name="Text 111"/>
          <p:cNvSpPr txBox="1"/>
          <p:nvPr/>
        </p:nvSpPr>
        <p:spPr>
          <a:xfrm>
            <a:off x="13318236" y="3767328"/>
            <a:ext cx="822960" cy="685800"/>
          </a:xfrm>
          <a:prstGeom prst="rect">
            <a:avLst/>
          </a:prstGeom>
          <a:noFill/>
          <a:ln/>
        </p:spPr>
        <p:txBody>
          <a:bodyPr wrap="square" lIns="0" tIns="0" rIns="0" bIns="0" rtlCol="0" anchor="t"/>
          <a:lstStyle/>
          <a:p>
            <a:pPr indent="0" marL="0">
              <a:buNone/>
            </a:pPr>
            <a:r>
              <a:rPr lang="en-US" sz="900" dirty="0">
                <a:solidFill>
                  <a:srgbClr val="1F2D3D"/>
                </a:solidFill>
                <a:latin typeface="Calibri" pitchFamily="34" charset="0"/>
                <a:ea typeface="Calibri" pitchFamily="34" charset="-122"/>
                <a:cs typeface="Calibri" pitchFamily="34" charset="-120"/>
              </a:rPr>
              <a:t>Review, ask, sign off</a:t>
            </a:r>
            <a:endParaRPr lang="en-US" sz="900" dirty="0"/>
          </a:p>
        </p:txBody>
      </p:sp>
      <p:sp>
        <p:nvSpPr>
          <p:cNvPr id="129" name="Shape 112"/>
          <p:cNvSpPr/>
          <p:nvPr/>
        </p:nvSpPr>
        <p:spPr>
          <a:xfrm>
            <a:off x="512064" y="6473952"/>
            <a:ext cx="5166360" cy="1234440"/>
          </a:xfrm>
          <a:prstGeom prst="roundRect">
            <a:avLst>
              <a:gd name="adj" fmla="val 4444"/>
            </a:avLst>
          </a:prstGeom>
          <a:solidFill>
            <a:srgbClr val="F1F4F8"/>
          </a:solidFill>
          <a:ln w="12700">
            <a:solidFill>
              <a:srgbClr val="6B7C93"/>
            </a:solidFill>
            <a:prstDash val="dash"/>
          </a:ln>
        </p:spPr>
      </p:sp>
      <p:sp>
        <p:nvSpPr>
          <p:cNvPr id="130" name="Text 113"/>
          <p:cNvSpPr txBox="1"/>
          <p:nvPr/>
        </p:nvSpPr>
        <p:spPr>
          <a:xfrm>
            <a:off x="630936" y="6547104"/>
            <a:ext cx="4892040" cy="182880"/>
          </a:xfrm>
          <a:prstGeom prst="rect">
            <a:avLst/>
          </a:prstGeom>
          <a:noFill/>
          <a:ln/>
        </p:spPr>
        <p:txBody>
          <a:bodyPr wrap="square" lIns="0" tIns="0" rIns="0" bIns="0" rtlCol="0" anchor="ctr"/>
          <a:lstStyle/>
          <a:p>
            <a:pPr indent="0" marL="0">
              <a:buNone/>
            </a:pPr>
            <a:r>
              <a:rPr lang="en-US" sz="900" b="1" spc="100" kern="0" dirty="0">
                <a:solidFill>
                  <a:srgbClr val="5A6B82"/>
                </a:solidFill>
                <a:latin typeface="Calibri" pitchFamily="34" charset="0"/>
                <a:ea typeface="Calibri" pitchFamily="34" charset="-122"/>
                <a:cs typeface="Calibri" pitchFamily="34" charset="-120"/>
              </a:rPr>
              <a:t>APPLICATION AUDIT (EXISTING)</a:t>
            </a:r>
            <a:endParaRPr lang="en-US" sz="900" dirty="0"/>
          </a:p>
        </p:txBody>
      </p:sp>
      <p:sp>
        <p:nvSpPr>
          <p:cNvPr id="131" name="Shape 114"/>
          <p:cNvSpPr/>
          <p:nvPr/>
        </p:nvSpPr>
        <p:spPr>
          <a:xfrm>
            <a:off x="630936" y="6812280"/>
            <a:ext cx="1783080" cy="795528"/>
          </a:xfrm>
          <a:prstGeom prst="roundRect">
            <a:avLst>
              <a:gd name="adj" fmla="val 9195"/>
            </a:avLst>
          </a:prstGeom>
          <a:solidFill>
            <a:srgbClr val="FFFFFF"/>
          </a:solidFill>
          <a:ln w="9525">
            <a:solidFill>
              <a:srgbClr val="C8D8EC"/>
            </a:solidFill>
            <a:prstDash val="solid"/>
          </a:ln>
        </p:spPr>
      </p:sp>
      <p:sp>
        <p:nvSpPr>
          <p:cNvPr id="132" name="Shape 115"/>
          <p:cNvSpPr/>
          <p:nvPr/>
        </p:nvSpPr>
        <p:spPr>
          <a:xfrm>
            <a:off x="740664" y="6949440"/>
            <a:ext cx="457200" cy="457200"/>
          </a:xfrm>
          <a:prstGeom prst="roundRect">
            <a:avLst>
              <a:gd name="adj" fmla="val 20000"/>
            </a:avLst>
          </a:prstGeom>
          <a:solidFill>
            <a:srgbClr val="5A6B82"/>
          </a:solidFill>
          <a:ln w="12700">
            <a:solidFill>
              <a:srgbClr val="5A6B82"/>
            </a:solidFill>
            <a:prstDash val="solid"/>
          </a:ln>
        </p:spPr>
      </p:sp>
      <p:pic>
        <p:nvPicPr>
          <p:cNvPr id="133" name="Image 15" descr="preencoded.png">    </p:cNvPr>
          <p:cNvPicPr>
            <a:picLocks noChangeAspect="1"/>
          </p:cNvPicPr>
          <p:nvPr/>
        </p:nvPicPr>
        <p:blipFill>
          <a:blip r:embed="rId16"/>
          <a:stretch>
            <a:fillRect/>
          </a:stretch>
        </p:blipFill>
        <p:spPr>
          <a:xfrm>
            <a:off x="841248" y="7050024"/>
            <a:ext cx="256032" cy="256032"/>
          </a:xfrm>
          <a:prstGeom prst="rect">
            <a:avLst/>
          </a:prstGeom>
        </p:spPr>
      </p:pic>
      <p:sp>
        <p:nvSpPr>
          <p:cNvPr id="134" name="Text 116"/>
          <p:cNvSpPr txBox="1"/>
          <p:nvPr/>
        </p:nvSpPr>
        <p:spPr>
          <a:xfrm>
            <a:off x="1271016" y="6903720"/>
            <a:ext cx="1097280" cy="256032"/>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App Audit</a:t>
            </a:r>
            <a:endParaRPr lang="en-US" sz="1100" dirty="0"/>
          </a:p>
        </p:txBody>
      </p:sp>
      <p:sp>
        <p:nvSpPr>
          <p:cNvPr id="135" name="Text 117"/>
          <p:cNvSpPr txBox="1"/>
          <p:nvPr/>
        </p:nvSpPr>
        <p:spPr>
          <a:xfrm>
            <a:off x="1271016" y="7159752"/>
            <a:ext cx="1115568" cy="384048"/>
          </a:xfrm>
          <a:prstGeom prst="rect">
            <a:avLst/>
          </a:prstGeom>
          <a:noFill/>
          <a:ln/>
        </p:spPr>
        <p:txBody>
          <a:bodyPr wrap="square" lIns="0" tIns="0" rIns="0" bIns="0" rtlCol="0" anchor="t"/>
          <a:lstStyle/>
          <a:p>
            <a:pPr indent="0" marL="0">
              <a:buNone/>
            </a:pPr>
            <a:r>
              <a:rPr lang="en-US" sz="850" dirty="0">
                <a:solidFill>
                  <a:srgbClr val="4A5A6E"/>
                </a:solidFill>
                <a:latin typeface="Calibri" pitchFamily="34" charset="0"/>
                <a:ea typeface="Calibri" pitchFamily="34" charset="-122"/>
                <a:cs typeface="Calibri" pitchFamily="34" charset="-120"/>
              </a:rPr>
              <a:t>P&amp;L loads and One Fin UX</a:t>
            </a:r>
            <a:endParaRPr lang="en-US" sz="850" dirty="0"/>
          </a:p>
        </p:txBody>
      </p:sp>
      <p:sp>
        <p:nvSpPr>
          <p:cNvPr id="136" name="Shape 118"/>
          <p:cNvSpPr/>
          <p:nvPr/>
        </p:nvSpPr>
        <p:spPr>
          <a:xfrm>
            <a:off x="2551176" y="6812280"/>
            <a:ext cx="3008376" cy="338328"/>
          </a:xfrm>
          <a:prstGeom prst="roundRect">
            <a:avLst>
              <a:gd name="adj" fmla="val 40541"/>
            </a:avLst>
          </a:prstGeom>
          <a:solidFill>
            <a:srgbClr val="FFFFFF"/>
          </a:solidFill>
          <a:ln w="9525">
            <a:solidFill>
              <a:srgbClr val="C8D8EC"/>
            </a:solidFill>
            <a:prstDash val="solid"/>
          </a:ln>
        </p:spPr>
      </p:sp>
      <p:pic>
        <p:nvPicPr>
          <p:cNvPr id="137" name="Image 16" descr="preencoded.png">    </p:cNvPr>
          <p:cNvPicPr>
            <a:picLocks noChangeAspect="1"/>
          </p:cNvPicPr>
          <p:nvPr/>
        </p:nvPicPr>
        <p:blipFill>
          <a:blip r:embed="rId17"/>
          <a:stretch>
            <a:fillRect/>
          </a:stretch>
        </p:blipFill>
        <p:spPr>
          <a:xfrm>
            <a:off x="2679192" y="6908292"/>
            <a:ext cx="146304" cy="146304"/>
          </a:xfrm>
          <a:prstGeom prst="rect">
            <a:avLst/>
          </a:prstGeom>
        </p:spPr>
      </p:pic>
      <p:sp>
        <p:nvSpPr>
          <p:cNvPr id="138" name="Text 119"/>
          <p:cNvSpPr txBox="1"/>
          <p:nvPr/>
        </p:nvSpPr>
        <p:spPr>
          <a:xfrm>
            <a:off x="2916936" y="6812280"/>
            <a:ext cx="2596896"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P&amp;L load &amp; event history</a:t>
            </a:r>
            <a:endParaRPr lang="en-US" sz="950" dirty="0"/>
          </a:p>
        </p:txBody>
      </p:sp>
      <p:sp>
        <p:nvSpPr>
          <p:cNvPr id="139" name="Shape 120"/>
          <p:cNvSpPr/>
          <p:nvPr/>
        </p:nvSpPr>
        <p:spPr>
          <a:xfrm>
            <a:off x="2551176" y="7242048"/>
            <a:ext cx="3008376" cy="338328"/>
          </a:xfrm>
          <a:prstGeom prst="roundRect">
            <a:avLst>
              <a:gd name="adj" fmla="val 40541"/>
            </a:avLst>
          </a:prstGeom>
          <a:solidFill>
            <a:srgbClr val="FFFFFF"/>
          </a:solidFill>
          <a:ln w="9525">
            <a:solidFill>
              <a:srgbClr val="C8D8EC"/>
            </a:solidFill>
            <a:prstDash val="solid"/>
          </a:ln>
        </p:spPr>
      </p:sp>
      <p:pic>
        <p:nvPicPr>
          <p:cNvPr id="140" name="Image 17" descr="preencoded.png">    </p:cNvPr>
          <p:cNvPicPr>
            <a:picLocks noChangeAspect="1"/>
          </p:cNvPicPr>
          <p:nvPr/>
        </p:nvPicPr>
        <p:blipFill>
          <a:blip r:embed="rId18"/>
          <a:stretch>
            <a:fillRect/>
          </a:stretch>
        </p:blipFill>
        <p:spPr>
          <a:xfrm>
            <a:off x="2679192" y="7338060"/>
            <a:ext cx="146304" cy="146304"/>
          </a:xfrm>
          <a:prstGeom prst="rect">
            <a:avLst/>
          </a:prstGeom>
        </p:spPr>
      </p:pic>
      <p:sp>
        <p:nvSpPr>
          <p:cNvPr id="141" name="Text 121"/>
          <p:cNvSpPr txBox="1"/>
          <p:nvPr/>
        </p:nvSpPr>
        <p:spPr>
          <a:xfrm>
            <a:off x="2916936" y="7242048"/>
            <a:ext cx="2596896"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Desk readiness status changes</a:t>
            </a:r>
            <a:endParaRPr lang="en-US" sz="950" dirty="0"/>
          </a:p>
        </p:txBody>
      </p:sp>
      <p:sp>
        <p:nvSpPr>
          <p:cNvPr id="142" name="Shape 122"/>
          <p:cNvSpPr/>
          <p:nvPr/>
        </p:nvSpPr>
        <p:spPr>
          <a:xfrm>
            <a:off x="6117336" y="6473952"/>
            <a:ext cx="5184648" cy="1234440"/>
          </a:xfrm>
          <a:prstGeom prst="roundRect">
            <a:avLst>
              <a:gd name="adj" fmla="val 4444"/>
            </a:avLst>
          </a:prstGeom>
          <a:solidFill>
            <a:srgbClr val="F3F1FB"/>
          </a:solidFill>
          <a:ln w="12700">
            <a:solidFill>
              <a:srgbClr val="5B4FA8"/>
            </a:solidFill>
            <a:prstDash val="dash"/>
          </a:ln>
        </p:spPr>
      </p:sp>
      <p:sp>
        <p:nvSpPr>
          <p:cNvPr id="143" name="Text 123"/>
          <p:cNvSpPr txBox="1"/>
          <p:nvPr/>
        </p:nvSpPr>
        <p:spPr>
          <a:xfrm>
            <a:off x="6236208" y="6547104"/>
            <a:ext cx="4910328" cy="182880"/>
          </a:xfrm>
          <a:prstGeom prst="rect">
            <a:avLst/>
          </a:prstGeom>
          <a:noFill/>
          <a:ln/>
        </p:spPr>
        <p:txBody>
          <a:bodyPr wrap="square" lIns="0" tIns="0" rIns="0" bIns="0" rtlCol="0" anchor="ctr"/>
          <a:lstStyle/>
          <a:p>
            <a:pPr indent="0" marL="0">
              <a:buNone/>
            </a:pPr>
            <a:r>
              <a:rPr lang="en-US" sz="900" b="1" spc="100" kern="0" dirty="0">
                <a:solidFill>
                  <a:srgbClr val="5B4FA8"/>
                </a:solidFill>
                <a:latin typeface="Calibri" pitchFamily="34" charset="0"/>
                <a:ea typeface="Calibri" pitchFamily="34" charset="-122"/>
                <a:cs typeface="Calibri" pitchFamily="34" charset="-120"/>
              </a:rPr>
              <a:t>AI OBSERVABILITY</a:t>
            </a:r>
            <a:endParaRPr lang="en-US" sz="900" dirty="0"/>
          </a:p>
        </p:txBody>
      </p:sp>
      <p:sp>
        <p:nvSpPr>
          <p:cNvPr id="144" name="Shape 124"/>
          <p:cNvSpPr/>
          <p:nvPr/>
        </p:nvSpPr>
        <p:spPr>
          <a:xfrm>
            <a:off x="6236208" y="6812280"/>
            <a:ext cx="1783080" cy="795528"/>
          </a:xfrm>
          <a:prstGeom prst="roundRect">
            <a:avLst>
              <a:gd name="adj" fmla="val 9195"/>
            </a:avLst>
          </a:prstGeom>
          <a:solidFill>
            <a:srgbClr val="FFFFFF"/>
          </a:solidFill>
          <a:ln w="9525">
            <a:solidFill>
              <a:srgbClr val="C8D8EC"/>
            </a:solidFill>
            <a:prstDash val="solid"/>
          </a:ln>
        </p:spPr>
      </p:sp>
      <p:sp>
        <p:nvSpPr>
          <p:cNvPr id="145" name="Shape 125"/>
          <p:cNvSpPr/>
          <p:nvPr/>
        </p:nvSpPr>
        <p:spPr>
          <a:xfrm>
            <a:off x="6345936" y="6949440"/>
            <a:ext cx="457200" cy="457200"/>
          </a:xfrm>
          <a:prstGeom prst="roundRect">
            <a:avLst>
              <a:gd name="adj" fmla="val 20000"/>
            </a:avLst>
          </a:prstGeom>
          <a:solidFill>
            <a:srgbClr val="0B2E5E"/>
          </a:solidFill>
          <a:ln w="12700">
            <a:solidFill>
              <a:srgbClr val="0B2E5E"/>
            </a:solidFill>
            <a:prstDash val="solid"/>
          </a:ln>
        </p:spPr>
      </p:sp>
      <p:pic>
        <p:nvPicPr>
          <p:cNvPr id="146" name="Image 18" descr="preencoded.png">    </p:cNvPr>
          <p:cNvPicPr>
            <a:picLocks noChangeAspect="1"/>
          </p:cNvPicPr>
          <p:nvPr/>
        </p:nvPicPr>
        <p:blipFill>
          <a:blip r:embed="rId19"/>
          <a:stretch>
            <a:fillRect/>
          </a:stretch>
        </p:blipFill>
        <p:spPr>
          <a:xfrm>
            <a:off x="6446520" y="7050024"/>
            <a:ext cx="256032" cy="256032"/>
          </a:xfrm>
          <a:prstGeom prst="rect">
            <a:avLst/>
          </a:prstGeom>
        </p:spPr>
      </p:pic>
      <p:sp>
        <p:nvSpPr>
          <p:cNvPr id="147" name="Text 126"/>
          <p:cNvSpPr txBox="1"/>
          <p:nvPr/>
        </p:nvSpPr>
        <p:spPr>
          <a:xfrm>
            <a:off x="6876288" y="6903720"/>
            <a:ext cx="1097280" cy="256032"/>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Phoenix Eyes</a:t>
            </a:r>
            <a:endParaRPr lang="en-US" sz="1100" dirty="0"/>
          </a:p>
        </p:txBody>
      </p:sp>
      <p:sp>
        <p:nvSpPr>
          <p:cNvPr id="148" name="Text 127"/>
          <p:cNvSpPr txBox="1"/>
          <p:nvPr/>
        </p:nvSpPr>
        <p:spPr>
          <a:xfrm>
            <a:off x="6876288" y="7159752"/>
            <a:ext cx="1115568" cy="384048"/>
          </a:xfrm>
          <a:prstGeom prst="rect">
            <a:avLst/>
          </a:prstGeom>
          <a:noFill/>
          <a:ln/>
        </p:spPr>
        <p:txBody>
          <a:bodyPr wrap="square" lIns="0" tIns="0" rIns="0" bIns="0" rtlCol="0" anchor="t"/>
          <a:lstStyle/>
          <a:p>
            <a:pPr indent="0" marL="0">
              <a:buNone/>
            </a:pPr>
            <a:r>
              <a:rPr lang="en-US" sz="850" dirty="0">
                <a:solidFill>
                  <a:srgbClr val="4A5A6E"/>
                </a:solidFill>
                <a:latin typeface="Calibri" pitchFamily="34" charset="0"/>
                <a:ea typeface="Calibri" pitchFamily="34" charset="-122"/>
                <a:cs typeface="Calibri" pitchFamily="34" charset="-120"/>
              </a:rPr>
              <a:t>P&amp;L Agent and Agent One sessions</a:t>
            </a:r>
            <a:endParaRPr lang="en-US" sz="850" dirty="0"/>
          </a:p>
        </p:txBody>
      </p:sp>
      <p:sp>
        <p:nvSpPr>
          <p:cNvPr id="149" name="Shape 128"/>
          <p:cNvSpPr/>
          <p:nvPr/>
        </p:nvSpPr>
        <p:spPr>
          <a:xfrm>
            <a:off x="8156448" y="6812280"/>
            <a:ext cx="1458468" cy="338328"/>
          </a:xfrm>
          <a:prstGeom prst="roundRect">
            <a:avLst>
              <a:gd name="adj" fmla="val 40541"/>
            </a:avLst>
          </a:prstGeom>
          <a:solidFill>
            <a:srgbClr val="FFFFFF"/>
          </a:solidFill>
          <a:ln w="9525">
            <a:solidFill>
              <a:srgbClr val="C8D8EC"/>
            </a:solidFill>
            <a:prstDash val="solid"/>
          </a:ln>
        </p:spPr>
      </p:sp>
      <p:pic>
        <p:nvPicPr>
          <p:cNvPr id="150" name="Image 19" descr="preencoded.png">    </p:cNvPr>
          <p:cNvPicPr>
            <a:picLocks noChangeAspect="1"/>
          </p:cNvPicPr>
          <p:nvPr/>
        </p:nvPicPr>
        <p:blipFill>
          <a:blip r:embed="rId20"/>
          <a:stretch>
            <a:fillRect/>
          </a:stretch>
        </p:blipFill>
        <p:spPr>
          <a:xfrm>
            <a:off x="8284464" y="6908292"/>
            <a:ext cx="146304" cy="146304"/>
          </a:xfrm>
          <a:prstGeom prst="rect">
            <a:avLst/>
          </a:prstGeom>
        </p:spPr>
      </p:pic>
      <p:sp>
        <p:nvSpPr>
          <p:cNvPr id="151" name="Text 129"/>
          <p:cNvSpPr txBox="1"/>
          <p:nvPr/>
        </p:nvSpPr>
        <p:spPr>
          <a:xfrm>
            <a:off x="8522208" y="6812280"/>
            <a:ext cx="1046988"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AI session traces</a:t>
            </a:r>
            <a:endParaRPr lang="en-US" sz="950" dirty="0"/>
          </a:p>
        </p:txBody>
      </p:sp>
      <p:sp>
        <p:nvSpPr>
          <p:cNvPr id="152" name="Shape 130"/>
          <p:cNvSpPr/>
          <p:nvPr/>
        </p:nvSpPr>
        <p:spPr>
          <a:xfrm>
            <a:off x="9724644" y="6812280"/>
            <a:ext cx="1458468" cy="338328"/>
          </a:xfrm>
          <a:prstGeom prst="roundRect">
            <a:avLst>
              <a:gd name="adj" fmla="val 40541"/>
            </a:avLst>
          </a:prstGeom>
          <a:solidFill>
            <a:srgbClr val="FFFFFF"/>
          </a:solidFill>
          <a:ln w="9525">
            <a:solidFill>
              <a:srgbClr val="C8D8EC"/>
            </a:solidFill>
            <a:prstDash val="solid"/>
          </a:ln>
        </p:spPr>
      </p:sp>
      <p:pic>
        <p:nvPicPr>
          <p:cNvPr id="153" name="Image 20" descr="preencoded.png">    </p:cNvPr>
          <p:cNvPicPr>
            <a:picLocks noChangeAspect="1"/>
          </p:cNvPicPr>
          <p:nvPr/>
        </p:nvPicPr>
        <p:blipFill>
          <a:blip r:embed="rId21"/>
          <a:stretch>
            <a:fillRect/>
          </a:stretch>
        </p:blipFill>
        <p:spPr>
          <a:xfrm>
            <a:off x="9852660" y="6908292"/>
            <a:ext cx="146304" cy="146304"/>
          </a:xfrm>
          <a:prstGeom prst="rect">
            <a:avLst/>
          </a:prstGeom>
        </p:spPr>
      </p:pic>
      <p:sp>
        <p:nvSpPr>
          <p:cNvPr id="154" name="Text 131"/>
          <p:cNvSpPr txBox="1"/>
          <p:nvPr/>
        </p:nvSpPr>
        <p:spPr>
          <a:xfrm>
            <a:off x="10090404" y="6812280"/>
            <a:ext cx="1046988"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Prompts &amp; sources</a:t>
            </a:r>
            <a:endParaRPr lang="en-US" sz="950" dirty="0"/>
          </a:p>
        </p:txBody>
      </p:sp>
      <p:sp>
        <p:nvSpPr>
          <p:cNvPr id="155" name="Shape 132"/>
          <p:cNvSpPr/>
          <p:nvPr/>
        </p:nvSpPr>
        <p:spPr>
          <a:xfrm>
            <a:off x="8156448" y="7242048"/>
            <a:ext cx="1458468" cy="338328"/>
          </a:xfrm>
          <a:prstGeom prst="roundRect">
            <a:avLst>
              <a:gd name="adj" fmla="val 40541"/>
            </a:avLst>
          </a:prstGeom>
          <a:solidFill>
            <a:srgbClr val="FFFFFF"/>
          </a:solidFill>
          <a:ln w="9525">
            <a:solidFill>
              <a:srgbClr val="C8D8EC"/>
            </a:solidFill>
            <a:prstDash val="solid"/>
          </a:ln>
        </p:spPr>
      </p:sp>
      <p:pic>
        <p:nvPicPr>
          <p:cNvPr id="156" name="Image 21" descr="preencoded.png">    </p:cNvPr>
          <p:cNvPicPr>
            <a:picLocks noChangeAspect="1"/>
          </p:cNvPicPr>
          <p:nvPr/>
        </p:nvPicPr>
        <p:blipFill>
          <a:blip r:embed="rId22"/>
          <a:stretch>
            <a:fillRect/>
          </a:stretch>
        </p:blipFill>
        <p:spPr>
          <a:xfrm>
            <a:off x="8284464" y="7338060"/>
            <a:ext cx="146304" cy="146304"/>
          </a:xfrm>
          <a:prstGeom prst="rect">
            <a:avLst/>
          </a:prstGeom>
        </p:spPr>
      </p:pic>
      <p:sp>
        <p:nvSpPr>
          <p:cNvPr id="157" name="Text 133"/>
          <p:cNvSpPr txBox="1"/>
          <p:nvPr/>
        </p:nvSpPr>
        <p:spPr>
          <a:xfrm>
            <a:off x="8522208" y="7242048"/>
            <a:ext cx="1046988"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Skill gap analysis</a:t>
            </a:r>
            <a:endParaRPr lang="en-US" sz="950" dirty="0"/>
          </a:p>
        </p:txBody>
      </p:sp>
      <p:sp>
        <p:nvSpPr>
          <p:cNvPr id="158" name="Shape 134"/>
          <p:cNvSpPr/>
          <p:nvPr/>
        </p:nvSpPr>
        <p:spPr>
          <a:xfrm>
            <a:off x="9724644" y="7242048"/>
            <a:ext cx="1458468" cy="338328"/>
          </a:xfrm>
          <a:prstGeom prst="roundRect">
            <a:avLst>
              <a:gd name="adj" fmla="val 40541"/>
            </a:avLst>
          </a:prstGeom>
          <a:solidFill>
            <a:srgbClr val="FFFFFF"/>
          </a:solidFill>
          <a:ln w="9525">
            <a:solidFill>
              <a:srgbClr val="C8D8EC"/>
            </a:solidFill>
            <a:prstDash val="solid"/>
          </a:ln>
        </p:spPr>
      </p:sp>
      <p:pic>
        <p:nvPicPr>
          <p:cNvPr id="159" name="Image 22" descr="preencoded.png">    </p:cNvPr>
          <p:cNvPicPr>
            <a:picLocks noChangeAspect="1"/>
          </p:cNvPicPr>
          <p:nvPr/>
        </p:nvPicPr>
        <p:blipFill>
          <a:blip r:embed="rId23"/>
          <a:stretch>
            <a:fillRect/>
          </a:stretch>
        </p:blipFill>
        <p:spPr>
          <a:xfrm>
            <a:off x="9852660" y="7338060"/>
            <a:ext cx="146304" cy="146304"/>
          </a:xfrm>
          <a:prstGeom prst="rect">
            <a:avLst/>
          </a:prstGeom>
        </p:spPr>
      </p:pic>
      <p:sp>
        <p:nvSpPr>
          <p:cNvPr id="160" name="Text 135"/>
          <p:cNvSpPr txBox="1"/>
          <p:nvPr/>
        </p:nvSpPr>
        <p:spPr>
          <a:xfrm>
            <a:off x="10090404" y="7242048"/>
            <a:ext cx="1046988"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LLM perf &amp; health</a:t>
            </a:r>
            <a:endParaRPr lang="en-US" sz="950" dirty="0"/>
          </a:p>
        </p:txBody>
      </p:sp>
      <p:sp>
        <p:nvSpPr>
          <p:cNvPr id="161" name="Shape 136"/>
          <p:cNvSpPr/>
          <p:nvPr/>
        </p:nvSpPr>
        <p:spPr>
          <a:xfrm>
            <a:off x="11731752" y="6473952"/>
            <a:ext cx="2386584" cy="1234440"/>
          </a:xfrm>
          <a:prstGeom prst="roundRect">
            <a:avLst>
              <a:gd name="adj" fmla="val 4444"/>
            </a:avLst>
          </a:prstGeom>
          <a:solidFill>
            <a:srgbClr val="F1F4F8"/>
          </a:solidFill>
          <a:ln w="12700">
            <a:solidFill>
              <a:srgbClr val="6B7C93"/>
            </a:solidFill>
            <a:prstDash val="dash"/>
          </a:ln>
        </p:spPr>
      </p:sp>
      <p:sp>
        <p:nvSpPr>
          <p:cNvPr id="162" name="Text 137"/>
          <p:cNvSpPr txBox="1"/>
          <p:nvPr/>
        </p:nvSpPr>
        <p:spPr>
          <a:xfrm>
            <a:off x="11850624" y="6547104"/>
            <a:ext cx="2112264" cy="182880"/>
          </a:xfrm>
          <a:prstGeom prst="rect">
            <a:avLst/>
          </a:prstGeom>
          <a:noFill/>
          <a:ln/>
        </p:spPr>
        <p:txBody>
          <a:bodyPr wrap="square" lIns="0" tIns="0" rIns="0" bIns="0" rtlCol="0" anchor="ctr"/>
          <a:lstStyle/>
          <a:p>
            <a:pPr indent="0" marL="0">
              <a:buNone/>
            </a:pPr>
            <a:r>
              <a:rPr lang="en-US" sz="900" b="1" spc="100" kern="0" dirty="0">
                <a:solidFill>
                  <a:srgbClr val="5A6B82"/>
                </a:solidFill>
                <a:latin typeface="Calibri" pitchFamily="34" charset="0"/>
                <a:ea typeface="Calibri" pitchFamily="34" charset="-122"/>
                <a:cs typeface="Calibri" pitchFamily="34" charset="-120"/>
              </a:rPr>
              <a:t>APPLICATION AUDIT (EXISTING)</a:t>
            </a:r>
            <a:endParaRPr lang="en-US" sz="900" dirty="0"/>
          </a:p>
        </p:txBody>
      </p:sp>
      <p:sp>
        <p:nvSpPr>
          <p:cNvPr id="163" name="Shape 138"/>
          <p:cNvSpPr/>
          <p:nvPr/>
        </p:nvSpPr>
        <p:spPr>
          <a:xfrm>
            <a:off x="11850624" y="6812280"/>
            <a:ext cx="2148840" cy="338328"/>
          </a:xfrm>
          <a:prstGeom prst="roundRect">
            <a:avLst>
              <a:gd name="adj" fmla="val 40541"/>
            </a:avLst>
          </a:prstGeom>
          <a:solidFill>
            <a:srgbClr val="FFFFFF"/>
          </a:solidFill>
          <a:ln w="9525">
            <a:solidFill>
              <a:srgbClr val="C8D8EC"/>
            </a:solidFill>
            <a:prstDash val="solid"/>
          </a:ln>
        </p:spPr>
      </p:sp>
      <p:pic>
        <p:nvPicPr>
          <p:cNvPr id="164" name="Image 23" descr="preencoded.png">    </p:cNvPr>
          <p:cNvPicPr>
            <a:picLocks noChangeAspect="1"/>
          </p:cNvPicPr>
          <p:nvPr/>
        </p:nvPicPr>
        <p:blipFill>
          <a:blip r:embed="rId24"/>
          <a:stretch>
            <a:fillRect/>
          </a:stretch>
        </p:blipFill>
        <p:spPr>
          <a:xfrm>
            <a:off x="11978640" y="6908292"/>
            <a:ext cx="146304" cy="146304"/>
          </a:xfrm>
          <a:prstGeom prst="rect">
            <a:avLst/>
          </a:prstGeom>
        </p:spPr>
      </p:pic>
      <p:sp>
        <p:nvSpPr>
          <p:cNvPr id="165" name="Text 139"/>
          <p:cNvSpPr txBox="1"/>
          <p:nvPr/>
        </p:nvSpPr>
        <p:spPr>
          <a:xfrm>
            <a:off x="12216384" y="6812280"/>
            <a:ext cx="1737360"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User actions &amp; sign-offs</a:t>
            </a:r>
            <a:endParaRPr lang="en-US" sz="950" dirty="0"/>
          </a:p>
        </p:txBody>
      </p:sp>
      <p:sp>
        <p:nvSpPr>
          <p:cNvPr id="166" name="Shape 140"/>
          <p:cNvSpPr/>
          <p:nvPr/>
        </p:nvSpPr>
        <p:spPr>
          <a:xfrm>
            <a:off x="11850624" y="7242048"/>
            <a:ext cx="2148840" cy="338328"/>
          </a:xfrm>
          <a:prstGeom prst="roundRect">
            <a:avLst>
              <a:gd name="adj" fmla="val 40541"/>
            </a:avLst>
          </a:prstGeom>
          <a:solidFill>
            <a:srgbClr val="FFFFFF"/>
          </a:solidFill>
          <a:ln w="9525">
            <a:solidFill>
              <a:srgbClr val="C8D8EC"/>
            </a:solidFill>
            <a:prstDash val="solid"/>
          </a:ln>
        </p:spPr>
      </p:sp>
      <p:pic>
        <p:nvPicPr>
          <p:cNvPr id="167" name="Image 24" descr="preencoded.png">    </p:cNvPr>
          <p:cNvPicPr>
            <a:picLocks noChangeAspect="1"/>
          </p:cNvPicPr>
          <p:nvPr/>
        </p:nvPicPr>
        <p:blipFill>
          <a:blip r:embed="rId25"/>
          <a:stretch>
            <a:fillRect/>
          </a:stretch>
        </p:blipFill>
        <p:spPr>
          <a:xfrm>
            <a:off x="11978640" y="7338060"/>
            <a:ext cx="146304" cy="146304"/>
          </a:xfrm>
          <a:prstGeom prst="rect">
            <a:avLst/>
          </a:prstGeom>
        </p:spPr>
      </p:pic>
      <p:sp>
        <p:nvSpPr>
          <p:cNvPr id="168" name="Text 141"/>
          <p:cNvSpPr txBox="1"/>
          <p:nvPr/>
        </p:nvSpPr>
        <p:spPr>
          <a:xfrm>
            <a:off x="12216384" y="7242048"/>
            <a:ext cx="1737360"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Reclass approvals</a:t>
            </a:r>
            <a:endParaRPr lang="en-US" sz="950" dirty="0"/>
          </a:p>
        </p:txBody>
      </p:sp>
      <p:sp>
        <p:nvSpPr>
          <p:cNvPr id="169" name="Text 142"/>
          <p:cNvSpPr txBox="1"/>
          <p:nvPr/>
        </p:nvSpPr>
        <p:spPr>
          <a:xfrm>
            <a:off x="502920" y="7818120"/>
            <a:ext cx="2743200" cy="228600"/>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Outcomes</a:t>
            </a:r>
            <a:endParaRPr lang="en-US" sz="1100" dirty="0"/>
          </a:p>
        </p:txBody>
      </p:sp>
      <p:sp>
        <p:nvSpPr>
          <p:cNvPr id="170" name="Shape 143"/>
          <p:cNvSpPr/>
          <p:nvPr/>
        </p:nvSpPr>
        <p:spPr>
          <a:xfrm>
            <a:off x="502920" y="8074152"/>
            <a:ext cx="3227832" cy="1005840"/>
          </a:xfrm>
          <a:prstGeom prst="roundRect">
            <a:avLst>
              <a:gd name="adj" fmla="val 7273"/>
            </a:avLst>
          </a:prstGeom>
          <a:solidFill>
            <a:srgbClr val="FFFFFF"/>
          </a:solidFill>
          <a:ln w="9525">
            <a:solidFill>
              <a:srgbClr val="C8D8EC"/>
            </a:solidFill>
            <a:prstDash val="solid"/>
          </a:ln>
        </p:spPr>
      </p:sp>
      <p:sp>
        <p:nvSpPr>
          <p:cNvPr id="171" name="Shape 144"/>
          <p:cNvSpPr/>
          <p:nvPr/>
        </p:nvSpPr>
        <p:spPr>
          <a:xfrm>
            <a:off x="667512" y="8321040"/>
            <a:ext cx="512064" cy="512064"/>
          </a:xfrm>
          <a:prstGeom prst="ellipse">
            <a:avLst/>
          </a:prstGeom>
          <a:solidFill>
            <a:srgbClr val="1E8A5A"/>
          </a:solidFill>
          <a:ln w="12700">
            <a:solidFill>
              <a:srgbClr val="1E8A5A"/>
            </a:solidFill>
            <a:prstDash val="solid"/>
          </a:ln>
        </p:spPr>
      </p:sp>
      <p:pic>
        <p:nvPicPr>
          <p:cNvPr id="172" name="Image 25" descr="preencoded.png">    </p:cNvPr>
          <p:cNvPicPr>
            <a:picLocks noChangeAspect="1"/>
          </p:cNvPicPr>
          <p:nvPr/>
        </p:nvPicPr>
        <p:blipFill>
          <a:blip r:embed="rId26"/>
          <a:stretch>
            <a:fillRect/>
          </a:stretch>
        </p:blipFill>
        <p:spPr>
          <a:xfrm>
            <a:off x="800649" y="8454177"/>
            <a:ext cx="245791" cy="245791"/>
          </a:xfrm>
          <a:prstGeom prst="rect">
            <a:avLst/>
          </a:prstGeom>
        </p:spPr>
      </p:pic>
      <p:sp>
        <p:nvSpPr>
          <p:cNvPr id="173" name="Text 145"/>
          <p:cNvSpPr txBox="1"/>
          <p:nvPr/>
        </p:nvSpPr>
        <p:spPr>
          <a:xfrm>
            <a:off x="1325880"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Explain ready before sign-off</a:t>
            </a:r>
            <a:endParaRPr lang="en-US" sz="1200" dirty="0"/>
          </a:p>
        </p:txBody>
      </p:sp>
      <p:sp>
        <p:nvSpPr>
          <p:cNvPr id="174" name="Text 146"/>
          <p:cNvSpPr txBox="1"/>
          <p:nvPr/>
        </p:nvSpPr>
        <p:spPr>
          <a:xfrm>
            <a:off x="1325880"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Flash v formal gaps explained as soon as formal P&amp;L lands</a:t>
            </a:r>
            <a:endParaRPr lang="en-US" sz="950" dirty="0"/>
          </a:p>
        </p:txBody>
      </p:sp>
      <p:sp>
        <p:nvSpPr>
          <p:cNvPr id="175" name="Shape 147"/>
          <p:cNvSpPr/>
          <p:nvPr/>
        </p:nvSpPr>
        <p:spPr>
          <a:xfrm>
            <a:off x="3941064" y="8074152"/>
            <a:ext cx="3227832" cy="1005840"/>
          </a:xfrm>
          <a:prstGeom prst="roundRect">
            <a:avLst>
              <a:gd name="adj" fmla="val 7273"/>
            </a:avLst>
          </a:prstGeom>
          <a:solidFill>
            <a:srgbClr val="FFFFFF"/>
          </a:solidFill>
          <a:ln w="9525">
            <a:solidFill>
              <a:srgbClr val="C8D8EC"/>
            </a:solidFill>
            <a:prstDash val="solid"/>
          </a:ln>
        </p:spPr>
      </p:sp>
      <p:sp>
        <p:nvSpPr>
          <p:cNvPr id="176" name="Shape 148"/>
          <p:cNvSpPr/>
          <p:nvPr/>
        </p:nvSpPr>
        <p:spPr>
          <a:xfrm>
            <a:off x="4105656" y="8321040"/>
            <a:ext cx="512064" cy="512064"/>
          </a:xfrm>
          <a:prstGeom prst="ellipse">
            <a:avLst/>
          </a:prstGeom>
          <a:solidFill>
            <a:srgbClr val="2A6EBB"/>
          </a:solidFill>
          <a:ln w="12700">
            <a:solidFill>
              <a:srgbClr val="2A6EBB"/>
            </a:solidFill>
            <a:prstDash val="solid"/>
          </a:ln>
        </p:spPr>
      </p:sp>
      <p:pic>
        <p:nvPicPr>
          <p:cNvPr id="177" name="Image 26" descr="preencoded.png">    </p:cNvPr>
          <p:cNvPicPr>
            <a:picLocks noChangeAspect="1"/>
          </p:cNvPicPr>
          <p:nvPr/>
        </p:nvPicPr>
        <p:blipFill>
          <a:blip r:embed="rId27"/>
          <a:stretch>
            <a:fillRect/>
          </a:stretch>
        </p:blipFill>
        <p:spPr>
          <a:xfrm>
            <a:off x="4238793" y="8454177"/>
            <a:ext cx="245791" cy="245791"/>
          </a:xfrm>
          <a:prstGeom prst="rect">
            <a:avLst/>
          </a:prstGeom>
        </p:spPr>
      </p:pic>
      <p:sp>
        <p:nvSpPr>
          <p:cNvPr id="178" name="Text 149"/>
          <p:cNvSpPr txBox="1"/>
          <p:nvPr/>
        </p:nvSpPr>
        <p:spPr>
          <a:xfrm>
            <a:off x="4764024"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Human in the loop</a:t>
            </a:r>
            <a:endParaRPr lang="en-US" sz="1200" dirty="0"/>
          </a:p>
        </p:txBody>
      </p:sp>
      <p:sp>
        <p:nvSpPr>
          <p:cNvPr id="179" name="Text 150"/>
          <p:cNvSpPr txBox="1"/>
          <p:nvPr/>
        </p:nvSpPr>
        <p:spPr>
          <a:xfrm>
            <a:off x="4764024"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Product Controllers approve every reclass and sign-off</a:t>
            </a:r>
            <a:endParaRPr lang="en-US" sz="950" dirty="0"/>
          </a:p>
        </p:txBody>
      </p:sp>
      <p:sp>
        <p:nvSpPr>
          <p:cNvPr id="180" name="Shape 151"/>
          <p:cNvSpPr/>
          <p:nvPr/>
        </p:nvSpPr>
        <p:spPr>
          <a:xfrm>
            <a:off x="7379208" y="8074152"/>
            <a:ext cx="3227832" cy="1005840"/>
          </a:xfrm>
          <a:prstGeom prst="roundRect">
            <a:avLst>
              <a:gd name="adj" fmla="val 7273"/>
            </a:avLst>
          </a:prstGeom>
          <a:solidFill>
            <a:srgbClr val="FFFFFF"/>
          </a:solidFill>
          <a:ln w="9525">
            <a:solidFill>
              <a:srgbClr val="C8D8EC"/>
            </a:solidFill>
            <a:prstDash val="solid"/>
          </a:ln>
        </p:spPr>
      </p:sp>
      <p:sp>
        <p:nvSpPr>
          <p:cNvPr id="181" name="Shape 152"/>
          <p:cNvSpPr/>
          <p:nvPr/>
        </p:nvSpPr>
        <p:spPr>
          <a:xfrm>
            <a:off x="7543800" y="8321040"/>
            <a:ext cx="512064" cy="512064"/>
          </a:xfrm>
          <a:prstGeom prst="ellipse">
            <a:avLst/>
          </a:prstGeom>
          <a:solidFill>
            <a:srgbClr val="5B4FA8"/>
          </a:solidFill>
          <a:ln w="12700">
            <a:solidFill>
              <a:srgbClr val="5B4FA8"/>
            </a:solidFill>
            <a:prstDash val="solid"/>
          </a:ln>
        </p:spPr>
      </p:sp>
      <p:pic>
        <p:nvPicPr>
          <p:cNvPr id="182" name="Image 27" descr="preencoded.png">    </p:cNvPr>
          <p:cNvPicPr>
            <a:picLocks noChangeAspect="1"/>
          </p:cNvPicPr>
          <p:nvPr/>
        </p:nvPicPr>
        <p:blipFill>
          <a:blip r:embed="rId28"/>
          <a:stretch>
            <a:fillRect/>
          </a:stretch>
        </p:blipFill>
        <p:spPr>
          <a:xfrm>
            <a:off x="7676937" y="8454177"/>
            <a:ext cx="245791" cy="245791"/>
          </a:xfrm>
          <a:prstGeom prst="rect">
            <a:avLst/>
          </a:prstGeom>
        </p:spPr>
      </p:pic>
      <p:sp>
        <p:nvSpPr>
          <p:cNvPr id="183" name="Text 153"/>
          <p:cNvSpPr txBox="1"/>
          <p:nvPr/>
        </p:nvSpPr>
        <p:spPr>
          <a:xfrm>
            <a:off x="8202168"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Engines compute</a:t>
            </a:r>
            <a:endParaRPr lang="en-US" sz="1200" dirty="0"/>
          </a:p>
        </p:txBody>
      </p:sp>
      <p:sp>
        <p:nvSpPr>
          <p:cNvPr id="184" name="Text 154"/>
          <p:cNvSpPr txBox="1"/>
          <p:nvPr/>
        </p:nvSpPr>
        <p:spPr>
          <a:xfrm>
            <a:off x="8202168"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P&amp;L bridge figures from code, the LLM only explains</a:t>
            </a:r>
            <a:endParaRPr lang="en-US" sz="950" dirty="0"/>
          </a:p>
        </p:txBody>
      </p:sp>
      <p:sp>
        <p:nvSpPr>
          <p:cNvPr id="185" name="Shape 155"/>
          <p:cNvSpPr/>
          <p:nvPr/>
        </p:nvSpPr>
        <p:spPr>
          <a:xfrm>
            <a:off x="10817352" y="8074152"/>
            <a:ext cx="3227832" cy="1005840"/>
          </a:xfrm>
          <a:prstGeom prst="roundRect">
            <a:avLst>
              <a:gd name="adj" fmla="val 7273"/>
            </a:avLst>
          </a:prstGeom>
          <a:solidFill>
            <a:srgbClr val="FFFFFF"/>
          </a:solidFill>
          <a:ln w="9525">
            <a:solidFill>
              <a:srgbClr val="C8D8EC"/>
            </a:solidFill>
            <a:prstDash val="solid"/>
          </a:ln>
        </p:spPr>
      </p:sp>
      <p:sp>
        <p:nvSpPr>
          <p:cNvPr id="186" name="Shape 156"/>
          <p:cNvSpPr/>
          <p:nvPr/>
        </p:nvSpPr>
        <p:spPr>
          <a:xfrm>
            <a:off x="10981944" y="8321040"/>
            <a:ext cx="512064" cy="512064"/>
          </a:xfrm>
          <a:prstGeom prst="ellipse">
            <a:avLst/>
          </a:prstGeom>
          <a:solidFill>
            <a:srgbClr val="1F4E8C"/>
          </a:solidFill>
          <a:ln w="12700">
            <a:solidFill>
              <a:srgbClr val="1F4E8C"/>
            </a:solidFill>
            <a:prstDash val="solid"/>
          </a:ln>
        </p:spPr>
      </p:sp>
      <p:pic>
        <p:nvPicPr>
          <p:cNvPr id="187" name="Image 28" descr="preencoded.png">    </p:cNvPr>
          <p:cNvPicPr>
            <a:picLocks noChangeAspect="1"/>
          </p:cNvPicPr>
          <p:nvPr/>
        </p:nvPicPr>
        <p:blipFill>
          <a:blip r:embed="rId29"/>
          <a:stretch>
            <a:fillRect/>
          </a:stretch>
        </p:blipFill>
        <p:spPr>
          <a:xfrm>
            <a:off x="11115081" y="8454177"/>
            <a:ext cx="245791" cy="245791"/>
          </a:xfrm>
          <a:prstGeom prst="rect">
            <a:avLst/>
          </a:prstGeom>
        </p:spPr>
      </p:pic>
      <p:sp>
        <p:nvSpPr>
          <p:cNvPr id="188" name="Text 157"/>
          <p:cNvSpPr txBox="1"/>
          <p:nvPr/>
        </p:nvSpPr>
        <p:spPr>
          <a:xfrm>
            <a:off x="11640312"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Scales by desk</a:t>
            </a:r>
            <a:endParaRPr lang="en-US" sz="1200" dirty="0"/>
          </a:p>
        </p:txBody>
      </p:sp>
      <p:sp>
        <p:nvSpPr>
          <p:cNvPr id="189" name="Text 158"/>
          <p:cNvSpPr txBox="1"/>
          <p:nvPr/>
        </p:nvSpPr>
        <p:spPr>
          <a:xfrm>
            <a:off x="11640312"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Add new desks by configuration</a:t>
            </a:r>
            <a:endParaRPr lang="en-US" sz="950" dirty="0"/>
          </a:p>
        </p:txBody>
      </p:sp>
      <p:sp>
        <p:nvSpPr>
          <p:cNvPr id="190" name="Shape 159"/>
          <p:cNvSpPr/>
          <p:nvPr/>
        </p:nvSpPr>
        <p:spPr>
          <a:xfrm>
            <a:off x="0" y="9272016"/>
            <a:ext cx="14630400" cy="484632"/>
          </a:xfrm>
          <a:prstGeom prst="rect">
            <a:avLst/>
          </a:prstGeom>
          <a:solidFill>
            <a:srgbClr val="0B2E5E"/>
          </a:solidFill>
          <a:ln w="12700">
            <a:solidFill>
              <a:srgbClr val="0B2E5E"/>
            </a:solidFill>
            <a:prstDash val="solid"/>
          </a:ln>
        </p:spPr>
      </p:sp>
      <p:sp>
        <p:nvSpPr>
          <p:cNvPr id="191" name="Text 160"/>
          <p:cNvSpPr txBox="1"/>
          <p:nvPr/>
        </p:nvSpPr>
        <p:spPr>
          <a:xfrm>
            <a:off x="0" y="9272016"/>
            <a:ext cx="14630400" cy="4846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P&amp;L Explain</a:t>
            </a:r>
            <a:pPr algn="ctr" indent="0" marL="0">
              <a:buNone/>
            </a:pPr>
            <a:r>
              <a:rPr lang="en-US" sz="1100" dirty="0">
                <a:solidFill>
                  <a:srgbClr val="FFFFFF"/>
                </a:solidFill>
                <a:latin typeface="Calibri" pitchFamily="34" charset="0"/>
                <a:ea typeface="Calibri" pitchFamily="34" charset="-122"/>
                <a:cs typeface="Calibri" pitchFamily="34" charset="-120"/>
              </a:rPr>
              <a:t>   |   Faster Explain. Cleaner PLEX. Stronger Sign-off.</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AFD"/>
        </a:solidFill>
      </p:bgPr>
    </p:bg>
    <p:spTree>
      <p:nvGrpSpPr>
        <p:cNvPr id="1" name=""/>
        <p:cNvGrpSpPr/>
        <p:nvPr/>
      </p:nvGrpSpPr>
      <p:grpSpPr>
        <a:xfrm>
          <a:off x="0" y="0"/>
          <a:ext cx="0" cy="0"/>
          <a:chOff x="0" y="0"/>
          <a:chExt cx="0" cy="0"/>
        </a:xfrm>
      </p:grpSpPr>
      <p:sp>
        <p:nvSpPr>
          <p:cNvPr id="2" name="Shape 0"/>
          <p:cNvSpPr/>
          <p:nvPr/>
        </p:nvSpPr>
        <p:spPr>
          <a:xfrm>
            <a:off x="0" y="0"/>
            <a:ext cx="14630400" cy="1024128"/>
          </a:xfrm>
          <a:prstGeom prst="rect">
            <a:avLst/>
          </a:prstGeom>
          <a:solidFill>
            <a:srgbClr val="0B2E5E"/>
          </a:solidFill>
          <a:ln w="12700">
            <a:solidFill>
              <a:srgbClr val="0B2E5E"/>
            </a:solidFill>
            <a:prstDash val="solid"/>
          </a:ln>
        </p:spPr>
      </p:sp>
      <p:sp>
        <p:nvSpPr>
          <p:cNvPr id="3" name="Text 1"/>
          <p:cNvSpPr txBox="1"/>
          <p:nvPr/>
        </p:nvSpPr>
        <p:spPr>
          <a:xfrm>
            <a:off x="301752" y="137160"/>
            <a:ext cx="11155680" cy="475488"/>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UC3 Ledger Controls &amp; Exception Lifecycle</a:t>
            </a:r>
            <a:endParaRPr lang="en-US" sz="3000" dirty="0"/>
          </a:p>
        </p:txBody>
      </p:sp>
      <p:sp>
        <p:nvSpPr>
          <p:cNvPr id="4" name="Text 2"/>
          <p:cNvSpPr txBox="1"/>
          <p:nvPr/>
        </p:nvSpPr>
        <p:spPr>
          <a:xfrm>
            <a:off x="301752" y="612648"/>
            <a:ext cx="11155680" cy="301752"/>
          </a:xfrm>
          <a:prstGeom prst="rect">
            <a:avLst/>
          </a:prstGeom>
          <a:noFill/>
          <a:ln/>
        </p:spPr>
        <p:txBody>
          <a:bodyPr wrap="square" lIns="0" tIns="0" rIns="0" bIns="0" rtlCol="0" anchor="ctr"/>
          <a:lstStyle/>
          <a:p>
            <a:pPr indent="0" marL="0">
              <a:buNone/>
            </a:pPr>
            <a:r>
              <a:rPr lang="en-US" sz="1600" dirty="0">
                <a:solidFill>
                  <a:srgbClr val="DCE9F7"/>
                </a:solidFill>
                <a:latin typeface="Calibri" pitchFamily="34" charset="0"/>
                <a:ea typeface="Calibri" pitchFamily="34" charset="-122"/>
                <a:cs typeface="Calibri" pitchFamily="34" charset="-120"/>
              </a:rPr>
              <a:t>Source to Ledger, Inter Ledger (S/L v G/L v C/L), Operational Recs, Exception Ageing</a:t>
            </a:r>
            <a:endParaRPr lang="en-US" sz="1600" dirty="0"/>
          </a:p>
        </p:txBody>
      </p:sp>
      <p:sp>
        <p:nvSpPr>
          <p:cNvPr id="5" name="Shape 3"/>
          <p:cNvSpPr/>
          <p:nvPr/>
        </p:nvSpPr>
        <p:spPr>
          <a:xfrm>
            <a:off x="11640312" y="192024"/>
            <a:ext cx="0" cy="649224"/>
          </a:xfrm>
          <a:prstGeom prst="line">
            <a:avLst/>
          </a:prstGeom>
          <a:noFill/>
          <a:ln w="12700">
            <a:solidFill>
              <a:srgbClr val="FFFFFF"/>
            </a:solidFill>
            <a:prstDash val="solid"/>
          </a:ln>
        </p:spPr>
      </p:sp>
      <p:sp>
        <p:nvSpPr>
          <p:cNvPr id="6" name="Text 4"/>
          <p:cNvSpPr txBox="1"/>
          <p:nvPr/>
        </p:nvSpPr>
        <p:spPr>
          <a:xfrm>
            <a:off x="11814048" y="265176"/>
            <a:ext cx="2715768"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Ledger Controls</a:t>
            </a:r>
            <a:endParaRPr lang="en-US" sz="2200" dirty="0"/>
          </a:p>
        </p:txBody>
      </p:sp>
      <p:sp>
        <p:nvSpPr>
          <p:cNvPr id="7" name="Text 5"/>
          <p:cNvSpPr txBox="1"/>
          <p:nvPr/>
        </p:nvSpPr>
        <p:spPr>
          <a:xfrm>
            <a:off x="502920" y="1216152"/>
            <a:ext cx="1920240" cy="347472"/>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Controls in scope</a:t>
            </a:r>
            <a:endParaRPr lang="en-US" sz="1100" dirty="0"/>
          </a:p>
        </p:txBody>
      </p:sp>
      <p:sp>
        <p:nvSpPr>
          <p:cNvPr id="8" name="Shape 6"/>
          <p:cNvSpPr/>
          <p:nvPr/>
        </p:nvSpPr>
        <p:spPr>
          <a:xfrm>
            <a:off x="2496312" y="1243584"/>
            <a:ext cx="2075688" cy="283464"/>
          </a:xfrm>
          <a:prstGeom prst="roundRect">
            <a:avLst>
              <a:gd name="adj" fmla="val 48387"/>
            </a:avLst>
          </a:prstGeom>
          <a:solidFill>
            <a:srgbClr val="DCE9F7"/>
          </a:solidFill>
          <a:ln w="9525">
            <a:solidFill>
              <a:srgbClr val="C8D8EC"/>
            </a:solidFill>
            <a:prstDash val="solid"/>
          </a:ln>
        </p:spPr>
      </p:sp>
      <p:pic>
        <p:nvPicPr>
          <p:cNvPr id="9" name="Image 0" descr="preencoded.png">    </p:cNvPr>
          <p:cNvPicPr>
            <a:picLocks noChangeAspect="1"/>
          </p:cNvPicPr>
          <p:nvPr/>
        </p:nvPicPr>
        <p:blipFill>
          <a:blip r:embed="rId1"/>
          <a:stretch>
            <a:fillRect/>
          </a:stretch>
        </p:blipFill>
        <p:spPr>
          <a:xfrm>
            <a:off x="2606040" y="1316736"/>
            <a:ext cx="137160" cy="137160"/>
          </a:xfrm>
          <a:prstGeom prst="rect">
            <a:avLst/>
          </a:prstGeom>
        </p:spPr>
      </p:pic>
      <p:sp>
        <p:nvSpPr>
          <p:cNvPr id="10" name="Text 7"/>
          <p:cNvSpPr txBox="1"/>
          <p:nvPr/>
        </p:nvSpPr>
        <p:spPr>
          <a:xfrm>
            <a:off x="2798064" y="1243584"/>
            <a:ext cx="1737360" cy="283464"/>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S/L v G/L</a:t>
            </a:r>
            <a:endParaRPr lang="en-US" sz="950" dirty="0"/>
          </a:p>
        </p:txBody>
      </p:sp>
      <p:sp>
        <p:nvSpPr>
          <p:cNvPr id="11" name="Shape 8"/>
          <p:cNvSpPr/>
          <p:nvPr/>
        </p:nvSpPr>
        <p:spPr>
          <a:xfrm>
            <a:off x="4709160" y="1243584"/>
            <a:ext cx="2075688" cy="283464"/>
          </a:xfrm>
          <a:prstGeom prst="roundRect">
            <a:avLst>
              <a:gd name="adj" fmla="val 48387"/>
            </a:avLst>
          </a:prstGeom>
          <a:solidFill>
            <a:srgbClr val="DCE9F7"/>
          </a:solidFill>
          <a:ln w="9525">
            <a:solidFill>
              <a:srgbClr val="C8D8EC"/>
            </a:solidFill>
            <a:prstDash val="solid"/>
          </a:ln>
        </p:spPr>
      </p:sp>
      <p:pic>
        <p:nvPicPr>
          <p:cNvPr id="12" name="Image 1" descr="preencoded.png">    </p:cNvPr>
          <p:cNvPicPr>
            <a:picLocks noChangeAspect="1"/>
          </p:cNvPicPr>
          <p:nvPr/>
        </p:nvPicPr>
        <p:blipFill>
          <a:blip r:embed="rId2"/>
          <a:stretch>
            <a:fillRect/>
          </a:stretch>
        </p:blipFill>
        <p:spPr>
          <a:xfrm>
            <a:off x="4818888" y="1316736"/>
            <a:ext cx="137160" cy="137160"/>
          </a:xfrm>
          <a:prstGeom prst="rect">
            <a:avLst/>
          </a:prstGeom>
        </p:spPr>
      </p:pic>
      <p:sp>
        <p:nvSpPr>
          <p:cNvPr id="13" name="Text 9"/>
          <p:cNvSpPr txBox="1"/>
          <p:nvPr/>
        </p:nvSpPr>
        <p:spPr>
          <a:xfrm>
            <a:off x="5010912" y="1243584"/>
            <a:ext cx="1737360" cy="283464"/>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G/L v C/L</a:t>
            </a:r>
            <a:endParaRPr lang="en-US" sz="950" dirty="0"/>
          </a:p>
        </p:txBody>
      </p:sp>
      <p:sp>
        <p:nvSpPr>
          <p:cNvPr id="14" name="Shape 10"/>
          <p:cNvSpPr/>
          <p:nvPr/>
        </p:nvSpPr>
        <p:spPr>
          <a:xfrm>
            <a:off x="6922008" y="1243584"/>
            <a:ext cx="2075688" cy="283464"/>
          </a:xfrm>
          <a:prstGeom prst="roundRect">
            <a:avLst>
              <a:gd name="adj" fmla="val 48387"/>
            </a:avLst>
          </a:prstGeom>
          <a:solidFill>
            <a:srgbClr val="DCE9F7"/>
          </a:solidFill>
          <a:ln w="9525">
            <a:solidFill>
              <a:srgbClr val="C8D8EC"/>
            </a:solidFill>
            <a:prstDash val="solid"/>
          </a:ln>
        </p:spPr>
      </p:sp>
      <p:pic>
        <p:nvPicPr>
          <p:cNvPr id="15" name="Image 2" descr="preencoded.png">    </p:cNvPr>
          <p:cNvPicPr>
            <a:picLocks noChangeAspect="1"/>
          </p:cNvPicPr>
          <p:nvPr/>
        </p:nvPicPr>
        <p:blipFill>
          <a:blip r:embed="rId3"/>
          <a:stretch>
            <a:fillRect/>
          </a:stretch>
        </p:blipFill>
        <p:spPr>
          <a:xfrm>
            <a:off x="7031736" y="1316736"/>
            <a:ext cx="137160" cy="137160"/>
          </a:xfrm>
          <a:prstGeom prst="rect">
            <a:avLst/>
          </a:prstGeom>
        </p:spPr>
      </p:pic>
      <p:sp>
        <p:nvSpPr>
          <p:cNvPr id="16" name="Text 11"/>
          <p:cNvSpPr txBox="1"/>
          <p:nvPr/>
        </p:nvSpPr>
        <p:spPr>
          <a:xfrm>
            <a:off x="7223760" y="1243584"/>
            <a:ext cx="1737360" cy="283464"/>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TB-BB (Exception Hub)</a:t>
            </a:r>
            <a:endParaRPr lang="en-US" sz="950" dirty="0"/>
          </a:p>
        </p:txBody>
      </p:sp>
      <p:sp>
        <p:nvSpPr>
          <p:cNvPr id="17" name="Shape 12"/>
          <p:cNvSpPr/>
          <p:nvPr/>
        </p:nvSpPr>
        <p:spPr>
          <a:xfrm>
            <a:off x="9134856" y="1243584"/>
            <a:ext cx="2075688" cy="283464"/>
          </a:xfrm>
          <a:prstGeom prst="roundRect">
            <a:avLst>
              <a:gd name="adj" fmla="val 48387"/>
            </a:avLst>
          </a:prstGeom>
          <a:solidFill>
            <a:srgbClr val="FFFFFF"/>
          </a:solidFill>
          <a:ln w="9525">
            <a:solidFill>
              <a:srgbClr val="C8D8EC"/>
            </a:solidFill>
            <a:prstDash val="solid"/>
          </a:ln>
        </p:spPr>
      </p:sp>
      <p:pic>
        <p:nvPicPr>
          <p:cNvPr id="18" name="Image 3" descr="preencoded.png">    </p:cNvPr>
          <p:cNvPicPr>
            <a:picLocks noChangeAspect="1"/>
          </p:cNvPicPr>
          <p:nvPr/>
        </p:nvPicPr>
        <p:blipFill>
          <a:blip r:embed="rId4"/>
          <a:stretch>
            <a:fillRect/>
          </a:stretch>
        </p:blipFill>
        <p:spPr>
          <a:xfrm>
            <a:off x="9244584" y="1316736"/>
            <a:ext cx="137160" cy="137160"/>
          </a:xfrm>
          <a:prstGeom prst="rect">
            <a:avLst/>
          </a:prstGeom>
        </p:spPr>
      </p:pic>
      <p:sp>
        <p:nvSpPr>
          <p:cNvPr id="19" name="Text 13"/>
          <p:cNvSpPr txBox="1"/>
          <p:nvPr/>
        </p:nvSpPr>
        <p:spPr>
          <a:xfrm>
            <a:off x="9436608" y="1243584"/>
            <a:ext cx="1737360" cy="283464"/>
          </a:xfrm>
          <a:prstGeom prst="rect">
            <a:avLst/>
          </a:prstGeom>
          <a:noFill/>
          <a:ln/>
        </p:spPr>
        <p:txBody>
          <a:bodyPr wrap="square" lIns="0" tIns="0" rIns="0" bIns="0" rtlCol="0" anchor="ctr"/>
          <a:lstStyle/>
          <a:p>
            <a:pPr indent="0" marL="0">
              <a:buNone/>
            </a:pPr>
            <a:r>
              <a:rPr lang="en-US" sz="950" i="1" dirty="0">
                <a:solidFill>
                  <a:srgbClr val="1F2D3D"/>
                </a:solidFill>
                <a:latin typeface="Calibri" pitchFamily="34" charset="0"/>
                <a:ea typeface="Calibri" pitchFamily="34" charset="-122"/>
                <a:cs typeface="Calibri" pitchFamily="34" charset="-120"/>
              </a:rPr>
              <a:t>More: Nostro recs</a:t>
            </a:r>
            <a:endParaRPr lang="en-US" sz="950" dirty="0"/>
          </a:p>
        </p:txBody>
      </p:sp>
      <p:sp>
        <p:nvSpPr>
          <p:cNvPr id="20" name="Text 14"/>
          <p:cNvSpPr txBox="1"/>
          <p:nvPr/>
        </p:nvSpPr>
        <p:spPr>
          <a:xfrm>
            <a:off x="11338560" y="1216152"/>
            <a:ext cx="2852928" cy="347472"/>
          </a:xfrm>
          <a:prstGeom prst="rect">
            <a:avLst/>
          </a:prstGeom>
          <a:noFill/>
          <a:ln/>
        </p:spPr>
        <p:txBody>
          <a:bodyPr wrap="square" lIns="0" tIns="0" rIns="0" bIns="0" rtlCol="0" anchor="ctr"/>
          <a:lstStyle/>
          <a:p>
            <a:pPr indent="0" marL="0">
              <a:buNone/>
            </a:pPr>
            <a:r>
              <a:rPr lang="en-US" sz="950" i="1" dirty="0">
                <a:solidFill>
                  <a:srgbClr val="4A5A6E"/>
                </a:solidFill>
                <a:latin typeface="Calibri" pitchFamily="34" charset="0"/>
                <a:ea typeface="Calibri" pitchFamily="34" charset="-122"/>
                <a:cs typeface="Calibri" pitchFamily="34" charset="-120"/>
              </a:rPr>
              <a:t>Status: Next wave. For discussion: GL to SL true up</a:t>
            </a:r>
            <a:endParaRPr lang="en-US" sz="950" dirty="0"/>
          </a:p>
        </p:txBody>
      </p:sp>
      <p:sp>
        <p:nvSpPr>
          <p:cNvPr id="21" name="Shape 15"/>
          <p:cNvSpPr/>
          <p:nvPr/>
        </p:nvSpPr>
        <p:spPr>
          <a:xfrm>
            <a:off x="502920" y="1737360"/>
            <a:ext cx="2377440" cy="4480560"/>
          </a:xfrm>
          <a:prstGeom prst="roundRect">
            <a:avLst>
              <a:gd name="adj" fmla="val 2308"/>
            </a:avLst>
          </a:prstGeom>
          <a:solidFill>
            <a:srgbClr val="EEF4FB"/>
          </a:solidFill>
          <a:ln w="12700">
            <a:solidFill>
              <a:srgbClr val="1B4F93"/>
            </a:solidFill>
            <a:prstDash val="dash"/>
          </a:ln>
        </p:spPr>
      </p:sp>
      <p:sp>
        <p:nvSpPr>
          <p:cNvPr id="22" name="Text 16"/>
          <p:cNvSpPr txBox="1"/>
          <p:nvPr/>
        </p:nvSpPr>
        <p:spPr>
          <a:xfrm>
            <a:off x="621792" y="1810512"/>
            <a:ext cx="2148840" cy="192024"/>
          </a:xfrm>
          <a:prstGeom prst="rect">
            <a:avLst/>
          </a:prstGeom>
          <a:noFill/>
          <a:ln/>
        </p:spPr>
        <p:txBody>
          <a:bodyPr wrap="square" lIns="0" tIns="0" rIns="0" bIns="0" rtlCol="0" anchor="ctr"/>
          <a:lstStyle/>
          <a:p>
            <a:pPr indent="0" marL="0">
              <a:buNone/>
            </a:pPr>
            <a:r>
              <a:rPr lang="en-US" sz="900" b="1" spc="100" kern="0" dirty="0">
                <a:solidFill>
                  <a:srgbClr val="1B4F93"/>
                </a:solidFill>
                <a:latin typeface="Calibri" pitchFamily="34" charset="0"/>
                <a:ea typeface="Calibri" pitchFamily="34" charset="-122"/>
                <a:cs typeface="Calibri" pitchFamily="34" charset="-120"/>
              </a:rPr>
              <a:t>CONTROL PROCESSING</a:t>
            </a:r>
            <a:endParaRPr lang="en-US" sz="900" dirty="0"/>
          </a:p>
        </p:txBody>
      </p:sp>
      <p:sp>
        <p:nvSpPr>
          <p:cNvPr id="23" name="Shape 17"/>
          <p:cNvSpPr/>
          <p:nvPr/>
        </p:nvSpPr>
        <p:spPr>
          <a:xfrm>
            <a:off x="1691640" y="6236208"/>
            <a:ext cx="0" cy="219456"/>
          </a:xfrm>
          <a:prstGeom prst="line">
            <a:avLst/>
          </a:prstGeom>
          <a:noFill/>
          <a:ln w="15875">
            <a:solidFill>
              <a:srgbClr val="6B7C93"/>
            </a:solidFill>
            <a:prstDash val="dash"/>
            <a:tailEnd type="triangle"/>
          </a:ln>
        </p:spPr>
      </p:sp>
      <p:sp>
        <p:nvSpPr>
          <p:cNvPr id="24" name="Shape 18"/>
          <p:cNvSpPr/>
          <p:nvPr/>
        </p:nvSpPr>
        <p:spPr>
          <a:xfrm>
            <a:off x="3310128" y="1737360"/>
            <a:ext cx="2377440" cy="4480560"/>
          </a:xfrm>
          <a:prstGeom prst="roundRect">
            <a:avLst>
              <a:gd name="adj" fmla="val 2308"/>
            </a:avLst>
          </a:prstGeom>
          <a:solidFill>
            <a:srgbClr val="EEF4FB"/>
          </a:solidFill>
          <a:ln w="12700">
            <a:solidFill>
              <a:srgbClr val="2A6EBB"/>
            </a:solidFill>
            <a:prstDash val="dash"/>
          </a:ln>
        </p:spPr>
      </p:sp>
      <p:sp>
        <p:nvSpPr>
          <p:cNvPr id="25" name="Text 19"/>
          <p:cNvSpPr txBox="1"/>
          <p:nvPr/>
        </p:nvSpPr>
        <p:spPr>
          <a:xfrm>
            <a:off x="3429000" y="1810512"/>
            <a:ext cx="2148840" cy="192024"/>
          </a:xfrm>
          <a:prstGeom prst="rect">
            <a:avLst/>
          </a:prstGeom>
          <a:noFill/>
          <a:ln/>
        </p:spPr>
        <p:txBody>
          <a:bodyPr wrap="square" lIns="0" tIns="0" rIns="0" bIns="0" rtlCol="0" anchor="ctr"/>
          <a:lstStyle/>
          <a:p>
            <a:pPr indent="0" marL="0">
              <a:buNone/>
            </a:pPr>
            <a:r>
              <a:rPr lang="en-US" sz="900" b="1" spc="100" kern="0" dirty="0">
                <a:solidFill>
                  <a:srgbClr val="2A6EBB"/>
                </a:solidFill>
                <a:latin typeface="Calibri" pitchFamily="34" charset="0"/>
                <a:ea typeface="Calibri" pitchFamily="34" charset="-122"/>
                <a:cs typeface="Calibri" pitchFamily="34" charset="-120"/>
              </a:rPr>
              <a:t>EVENTS &amp; READINESS</a:t>
            </a:r>
            <a:endParaRPr lang="en-US" sz="900" dirty="0"/>
          </a:p>
        </p:txBody>
      </p:sp>
      <p:sp>
        <p:nvSpPr>
          <p:cNvPr id="26" name="Shape 20"/>
          <p:cNvSpPr/>
          <p:nvPr/>
        </p:nvSpPr>
        <p:spPr>
          <a:xfrm>
            <a:off x="4498848" y="6236208"/>
            <a:ext cx="0" cy="219456"/>
          </a:xfrm>
          <a:prstGeom prst="line">
            <a:avLst/>
          </a:prstGeom>
          <a:noFill/>
          <a:ln w="15875">
            <a:solidFill>
              <a:srgbClr val="6B7C93"/>
            </a:solidFill>
            <a:prstDash val="dash"/>
            <a:tailEnd type="triangle"/>
          </a:ln>
        </p:spPr>
      </p:sp>
      <p:sp>
        <p:nvSpPr>
          <p:cNvPr id="27" name="Shape 21"/>
          <p:cNvSpPr/>
          <p:nvPr/>
        </p:nvSpPr>
        <p:spPr>
          <a:xfrm>
            <a:off x="6126480" y="1737360"/>
            <a:ext cx="2377440" cy="4480560"/>
          </a:xfrm>
          <a:prstGeom prst="roundRect">
            <a:avLst>
              <a:gd name="adj" fmla="val 2308"/>
            </a:avLst>
          </a:prstGeom>
          <a:solidFill>
            <a:srgbClr val="EDF7F2"/>
          </a:solidFill>
          <a:ln w="12700">
            <a:solidFill>
              <a:srgbClr val="1E8A5A"/>
            </a:solidFill>
            <a:prstDash val="dash"/>
          </a:ln>
        </p:spPr>
      </p:sp>
      <p:sp>
        <p:nvSpPr>
          <p:cNvPr id="28" name="Text 22"/>
          <p:cNvSpPr txBox="1"/>
          <p:nvPr/>
        </p:nvSpPr>
        <p:spPr>
          <a:xfrm>
            <a:off x="6245352" y="1810512"/>
            <a:ext cx="2148840" cy="192024"/>
          </a:xfrm>
          <a:prstGeom prst="rect">
            <a:avLst/>
          </a:prstGeom>
          <a:noFill/>
          <a:ln/>
        </p:spPr>
        <p:txBody>
          <a:bodyPr wrap="square" lIns="0" tIns="0" rIns="0" bIns="0" rtlCol="0" anchor="ctr"/>
          <a:lstStyle/>
          <a:p>
            <a:pPr indent="0" marL="0">
              <a:buNone/>
            </a:pPr>
            <a:r>
              <a:rPr lang="en-US" sz="900" b="1" spc="100" kern="0" dirty="0">
                <a:solidFill>
                  <a:srgbClr val="1E8A5A"/>
                </a:solidFill>
                <a:latin typeface="Calibri" pitchFamily="34" charset="0"/>
                <a:ea typeface="Calibri" pitchFamily="34" charset="-122"/>
                <a:cs typeface="Calibri" pitchFamily="34" charset="-120"/>
              </a:rPr>
              <a:t>ORCHESTRATION</a:t>
            </a:r>
            <a:endParaRPr lang="en-US" sz="900" dirty="0"/>
          </a:p>
        </p:txBody>
      </p:sp>
      <p:sp>
        <p:nvSpPr>
          <p:cNvPr id="29" name="Shape 23"/>
          <p:cNvSpPr/>
          <p:nvPr/>
        </p:nvSpPr>
        <p:spPr>
          <a:xfrm>
            <a:off x="7315200" y="6236208"/>
            <a:ext cx="0" cy="219456"/>
          </a:xfrm>
          <a:prstGeom prst="line">
            <a:avLst/>
          </a:prstGeom>
          <a:noFill/>
          <a:ln w="15875">
            <a:solidFill>
              <a:srgbClr val="6B7C93"/>
            </a:solidFill>
            <a:prstDash val="dash"/>
            <a:tailEnd type="triangle"/>
          </a:ln>
        </p:spPr>
      </p:sp>
      <p:sp>
        <p:nvSpPr>
          <p:cNvPr id="30" name="Shape 24"/>
          <p:cNvSpPr/>
          <p:nvPr/>
        </p:nvSpPr>
        <p:spPr>
          <a:xfrm>
            <a:off x="8933688" y="1737360"/>
            <a:ext cx="2377440" cy="4480560"/>
          </a:xfrm>
          <a:prstGeom prst="roundRect">
            <a:avLst>
              <a:gd name="adj" fmla="val 2308"/>
            </a:avLst>
          </a:prstGeom>
          <a:solidFill>
            <a:srgbClr val="F3F1FB"/>
          </a:solidFill>
          <a:ln w="12700">
            <a:solidFill>
              <a:srgbClr val="5B4FA8"/>
            </a:solidFill>
            <a:prstDash val="dash"/>
          </a:ln>
        </p:spPr>
      </p:sp>
      <p:sp>
        <p:nvSpPr>
          <p:cNvPr id="31" name="Text 25"/>
          <p:cNvSpPr txBox="1"/>
          <p:nvPr/>
        </p:nvSpPr>
        <p:spPr>
          <a:xfrm>
            <a:off x="9052560" y="1810512"/>
            <a:ext cx="2148840" cy="192024"/>
          </a:xfrm>
          <a:prstGeom prst="rect">
            <a:avLst/>
          </a:prstGeom>
          <a:noFill/>
          <a:ln/>
        </p:spPr>
        <p:txBody>
          <a:bodyPr wrap="square" lIns="0" tIns="0" rIns="0" bIns="0" rtlCol="0" anchor="ctr"/>
          <a:lstStyle/>
          <a:p>
            <a:pPr indent="0" marL="0">
              <a:buNone/>
            </a:pPr>
            <a:r>
              <a:rPr lang="en-US" sz="900" b="1" spc="100" kern="0" dirty="0">
                <a:solidFill>
                  <a:srgbClr val="5B4FA8"/>
                </a:solidFill>
                <a:latin typeface="Calibri" pitchFamily="34" charset="0"/>
                <a:ea typeface="Calibri" pitchFamily="34" charset="-122"/>
                <a:cs typeface="Calibri" pitchFamily="34" charset="-120"/>
              </a:rPr>
              <a:t>AI REASONING</a:t>
            </a:r>
            <a:endParaRPr lang="en-US" sz="900" dirty="0"/>
          </a:p>
        </p:txBody>
      </p:sp>
      <p:sp>
        <p:nvSpPr>
          <p:cNvPr id="32" name="Shape 26"/>
          <p:cNvSpPr/>
          <p:nvPr/>
        </p:nvSpPr>
        <p:spPr>
          <a:xfrm>
            <a:off x="10122408" y="6236208"/>
            <a:ext cx="0" cy="219456"/>
          </a:xfrm>
          <a:prstGeom prst="line">
            <a:avLst/>
          </a:prstGeom>
          <a:noFill/>
          <a:ln w="15875">
            <a:solidFill>
              <a:srgbClr val="6B7C93"/>
            </a:solidFill>
            <a:prstDash val="dash"/>
            <a:tailEnd type="triangle"/>
          </a:ln>
        </p:spPr>
      </p:sp>
      <p:sp>
        <p:nvSpPr>
          <p:cNvPr id="33" name="Shape 27"/>
          <p:cNvSpPr/>
          <p:nvPr/>
        </p:nvSpPr>
        <p:spPr>
          <a:xfrm>
            <a:off x="11740896" y="1737360"/>
            <a:ext cx="2377440" cy="4480560"/>
          </a:xfrm>
          <a:prstGeom prst="roundRect">
            <a:avLst>
              <a:gd name="adj" fmla="val 2308"/>
            </a:avLst>
          </a:prstGeom>
          <a:solidFill>
            <a:srgbClr val="EEF4FB"/>
          </a:solidFill>
          <a:ln w="12700">
            <a:solidFill>
              <a:srgbClr val="1F6FB5"/>
            </a:solidFill>
            <a:prstDash val="dash"/>
          </a:ln>
        </p:spPr>
      </p:sp>
      <p:sp>
        <p:nvSpPr>
          <p:cNvPr id="34" name="Text 28"/>
          <p:cNvSpPr txBox="1"/>
          <p:nvPr/>
        </p:nvSpPr>
        <p:spPr>
          <a:xfrm>
            <a:off x="11859768" y="1810512"/>
            <a:ext cx="2148840" cy="192024"/>
          </a:xfrm>
          <a:prstGeom prst="rect">
            <a:avLst/>
          </a:prstGeom>
          <a:noFill/>
          <a:ln/>
        </p:spPr>
        <p:txBody>
          <a:bodyPr wrap="square" lIns="0" tIns="0" rIns="0" bIns="0" rtlCol="0" anchor="ctr"/>
          <a:lstStyle/>
          <a:p>
            <a:pPr indent="0" marL="0">
              <a:buNone/>
            </a:pPr>
            <a:r>
              <a:rPr lang="en-US" sz="900" b="1" spc="100" kern="0" dirty="0">
                <a:solidFill>
                  <a:srgbClr val="1F6FB5"/>
                </a:solidFill>
                <a:latin typeface="Calibri" pitchFamily="34" charset="0"/>
                <a:ea typeface="Calibri" pitchFamily="34" charset="-122"/>
                <a:cs typeface="Calibri" pitchFamily="34" charset="-120"/>
              </a:rPr>
              <a:t>OWNER EXPERIENCE</a:t>
            </a:r>
            <a:endParaRPr lang="en-US" sz="900" dirty="0"/>
          </a:p>
        </p:txBody>
      </p:sp>
      <p:sp>
        <p:nvSpPr>
          <p:cNvPr id="35" name="Shape 29"/>
          <p:cNvSpPr/>
          <p:nvPr/>
        </p:nvSpPr>
        <p:spPr>
          <a:xfrm>
            <a:off x="12929616" y="6236208"/>
            <a:ext cx="0" cy="219456"/>
          </a:xfrm>
          <a:prstGeom prst="line">
            <a:avLst/>
          </a:prstGeom>
          <a:noFill/>
          <a:ln w="15875">
            <a:solidFill>
              <a:srgbClr val="6B7C93"/>
            </a:solidFill>
            <a:prstDash val="dash"/>
            <a:tailEnd type="triangle"/>
          </a:ln>
        </p:spPr>
      </p:sp>
      <p:sp>
        <p:nvSpPr>
          <p:cNvPr id="36" name="Shape 30"/>
          <p:cNvSpPr/>
          <p:nvPr/>
        </p:nvSpPr>
        <p:spPr>
          <a:xfrm>
            <a:off x="932688" y="2212848"/>
            <a:ext cx="1527048" cy="1426464"/>
          </a:xfrm>
          <a:prstGeom prst="roundRect">
            <a:avLst>
              <a:gd name="adj" fmla="val 5128"/>
            </a:avLst>
          </a:prstGeom>
          <a:solidFill>
            <a:srgbClr val="FFFFFF"/>
          </a:solidFill>
          <a:ln w="9525">
            <a:solidFill>
              <a:srgbClr val="C8D8EC"/>
            </a:solidFill>
            <a:prstDash val="solid"/>
          </a:ln>
        </p:spPr>
      </p:sp>
      <p:sp>
        <p:nvSpPr>
          <p:cNvPr id="37" name="Shape 31"/>
          <p:cNvSpPr/>
          <p:nvPr/>
        </p:nvSpPr>
        <p:spPr>
          <a:xfrm>
            <a:off x="1431036" y="2322576"/>
            <a:ext cx="530352" cy="530352"/>
          </a:xfrm>
          <a:prstGeom prst="roundRect">
            <a:avLst>
              <a:gd name="adj" fmla="val 17241"/>
            </a:avLst>
          </a:prstGeom>
          <a:solidFill>
            <a:srgbClr val="1B4F93"/>
          </a:solidFill>
          <a:ln w="12700">
            <a:solidFill>
              <a:srgbClr val="1B4F93"/>
            </a:solidFill>
            <a:prstDash val="solid"/>
          </a:ln>
        </p:spPr>
      </p:sp>
      <p:pic>
        <p:nvPicPr>
          <p:cNvPr id="38" name="Image 4" descr="preencoded.png">    </p:cNvPr>
          <p:cNvPicPr>
            <a:picLocks noChangeAspect="1"/>
          </p:cNvPicPr>
          <p:nvPr/>
        </p:nvPicPr>
        <p:blipFill>
          <a:blip r:embed="rId5"/>
          <a:stretch>
            <a:fillRect/>
          </a:stretch>
        </p:blipFill>
        <p:spPr>
          <a:xfrm>
            <a:off x="1547713" y="2439253"/>
            <a:ext cx="296997" cy="296997"/>
          </a:xfrm>
          <a:prstGeom prst="rect">
            <a:avLst/>
          </a:prstGeom>
        </p:spPr>
      </p:pic>
      <p:sp>
        <p:nvSpPr>
          <p:cNvPr id="39" name="Text 32"/>
          <p:cNvSpPr txBox="1"/>
          <p:nvPr/>
        </p:nvSpPr>
        <p:spPr>
          <a:xfrm>
            <a:off x="978408"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Exception Hub</a:t>
            </a:r>
            <a:endParaRPr lang="en-US" sz="1200" dirty="0"/>
          </a:p>
        </p:txBody>
      </p:sp>
      <p:sp>
        <p:nvSpPr>
          <p:cNvPr id="40" name="Text 33"/>
          <p:cNvSpPr txBox="1"/>
          <p:nvPr/>
        </p:nvSpPr>
        <p:spPr>
          <a:xfrm>
            <a:off x="1005840"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Control breaks from TB-BB and inter-ledger checks</a:t>
            </a:r>
            <a:endParaRPr lang="en-US" sz="900" dirty="0"/>
          </a:p>
        </p:txBody>
      </p:sp>
      <p:sp>
        <p:nvSpPr>
          <p:cNvPr id="41" name="Shape 34"/>
          <p:cNvSpPr/>
          <p:nvPr/>
        </p:nvSpPr>
        <p:spPr>
          <a:xfrm>
            <a:off x="3739896" y="2212848"/>
            <a:ext cx="1527048" cy="1426464"/>
          </a:xfrm>
          <a:prstGeom prst="roundRect">
            <a:avLst>
              <a:gd name="adj" fmla="val 5128"/>
            </a:avLst>
          </a:prstGeom>
          <a:solidFill>
            <a:srgbClr val="FFFFFF"/>
          </a:solidFill>
          <a:ln w="9525">
            <a:solidFill>
              <a:srgbClr val="C8D8EC"/>
            </a:solidFill>
            <a:prstDash val="solid"/>
          </a:ln>
        </p:spPr>
      </p:sp>
      <p:sp>
        <p:nvSpPr>
          <p:cNvPr id="42" name="Shape 35"/>
          <p:cNvSpPr/>
          <p:nvPr/>
        </p:nvSpPr>
        <p:spPr>
          <a:xfrm>
            <a:off x="4238244" y="2322576"/>
            <a:ext cx="530352" cy="530352"/>
          </a:xfrm>
          <a:prstGeom prst="roundRect">
            <a:avLst>
              <a:gd name="adj" fmla="val 17241"/>
            </a:avLst>
          </a:prstGeom>
          <a:solidFill>
            <a:srgbClr val="2A6EBB"/>
          </a:solidFill>
          <a:ln w="12700">
            <a:solidFill>
              <a:srgbClr val="2A6EBB"/>
            </a:solidFill>
            <a:prstDash val="solid"/>
          </a:ln>
        </p:spPr>
      </p:sp>
      <p:pic>
        <p:nvPicPr>
          <p:cNvPr id="43" name="Image 5" descr="preencoded.png">    </p:cNvPr>
          <p:cNvPicPr>
            <a:picLocks noChangeAspect="1"/>
          </p:cNvPicPr>
          <p:nvPr/>
        </p:nvPicPr>
        <p:blipFill>
          <a:blip r:embed="rId6"/>
          <a:stretch>
            <a:fillRect/>
          </a:stretch>
        </p:blipFill>
        <p:spPr>
          <a:xfrm>
            <a:off x="4354921" y="2439253"/>
            <a:ext cx="296997" cy="296997"/>
          </a:xfrm>
          <a:prstGeom prst="rect">
            <a:avLst/>
          </a:prstGeom>
        </p:spPr>
      </p:pic>
      <p:sp>
        <p:nvSpPr>
          <p:cNvPr id="44" name="Text 36"/>
          <p:cNvSpPr txBox="1"/>
          <p:nvPr/>
        </p:nvSpPr>
        <p:spPr>
          <a:xfrm>
            <a:off x="3785616"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One Fin UX</a:t>
            </a:r>
            <a:endParaRPr lang="en-US" sz="1200" dirty="0"/>
          </a:p>
        </p:txBody>
      </p:sp>
      <p:sp>
        <p:nvSpPr>
          <p:cNvPr id="45" name="Text 37"/>
          <p:cNvSpPr txBox="1"/>
          <p:nvPr/>
        </p:nvSpPr>
        <p:spPr>
          <a:xfrm>
            <a:off x="3813048"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Event hub and business outcome per entity</a:t>
            </a:r>
            <a:endParaRPr lang="en-US" sz="900" dirty="0"/>
          </a:p>
        </p:txBody>
      </p:sp>
      <p:sp>
        <p:nvSpPr>
          <p:cNvPr id="46" name="Shape 38"/>
          <p:cNvSpPr/>
          <p:nvPr/>
        </p:nvSpPr>
        <p:spPr>
          <a:xfrm>
            <a:off x="6556248" y="2212848"/>
            <a:ext cx="1527048" cy="1426464"/>
          </a:xfrm>
          <a:prstGeom prst="roundRect">
            <a:avLst>
              <a:gd name="adj" fmla="val 5128"/>
            </a:avLst>
          </a:prstGeom>
          <a:solidFill>
            <a:srgbClr val="FFFFFF"/>
          </a:solidFill>
          <a:ln w="9525">
            <a:solidFill>
              <a:srgbClr val="C8D8EC"/>
            </a:solidFill>
            <a:prstDash val="solid"/>
          </a:ln>
        </p:spPr>
      </p:sp>
      <p:sp>
        <p:nvSpPr>
          <p:cNvPr id="47" name="Shape 39"/>
          <p:cNvSpPr/>
          <p:nvPr/>
        </p:nvSpPr>
        <p:spPr>
          <a:xfrm>
            <a:off x="7054596" y="2322576"/>
            <a:ext cx="530352" cy="530352"/>
          </a:xfrm>
          <a:prstGeom prst="roundRect">
            <a:avLst>
              <a:gd name="adj" fmla="val 17241"/>
            </a:avLst>
          </a:prstGeom>
          <a:solidFill>
            <a:srgbClr val="1E8A5A"/>
          </a:solidFill>
          <a:ln w="12700">
            <a:solidFill>
              <a:srgbClr val="1E8A5A"/>
            </a:solidFill>
            <a:prstDash val="solid"/>
          </a:ln>
        </p:spPr>
      </p:sp>
      <p:pic>
        <p:nvPicPr>
          <p:cNvPr id="48" name="Image 6" descr="preencoded.png">    </p:cNvPr>
          <p:cNvPicPr>
            <a:picLocks noChangeAspect="1"/>
          </p:cNvPicPr>
          <p:nvPr/>
        </p:nvPicPr>
        <p:blipFill>
          <a:blip r:embed="rId7"/>
          <a:stretch>
            <a:fillRect/>
          </a:stretch>
        </p:blipFill>
        <p:spPr>
          <a:xfrm>
            <a:off x="7171273" y="2439253"/>
            <a:ext cx="296997" cy="296997"/>
          </a:xfrm>
          <a:prstGeom prst="rect">
            <a:avLst/>
          </a:prstGeom>
        </p:spPr>
      </p:pic>
      <p:sp>
        <p:nvSpPr>
          <p:cNvPr id="49" name="Text 40"/>
          <p:cNvSpPr txBox="1"/>
          <p:nvPr/>
        </p:nvSpPr>
        <p:spPr>
          <a:xfrm>
            <a:off x="6601968"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Controls Agent</a:t>
            </a:r>
            <a:endParaRPr lang="en-US" sz="1200" dirty="0"/>
          </a:p>
        </p:txBody>
      </p:sp>
      <p:sp>
        <p:nvSpPr>
          <p:cNvPr id="50" name="Text 41"/>
          <p:cNvSpPr txBox="1"/>
          <p:nvPr/>
        </p:nvSpPr>
        <p:spPr>
          <a:xfrm>
            <a:off x="6629400"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Orchestrates break triage sessions</a:t>
            </a:r>
            <a:endParaRPr lang="en-US" sz="900" dirty="0"/>
          </a:p>
        </p:txBody>
      </p:sp>
      <p:sp>
        <p:nvSpPr>
          <p:cNvPr id="51" name="Shape 42"/>
          <p:cNvSpPr/>
          <p:nvPr/>
        </p:nvSpPr>
        <p:spPr>
          <a:xfrm>
            <a:off x="9363456" y="2212848"/>
            <a:ext cx="1527048" cy="1426464"/>
          </a:xfrm>
          <a:prstGeom prst="roundRect">
            <a:avLst>
              <a:gd name="adj" fmla="val 5128"/>
            </a:avLst>
          </a:prstGeom>
          <a:solidFill>
            <a:srgbClr val="FFFFFF"/>
          </a:solidFill>
          <a:ln w="9525">
            <a:solidFill>
              <a:srgbClr val="C8D8EC"/>
            </a:solidFill>
            <a:prstDash val="solid"/>
          </a:ln>
        </p:spPr>
      </p:sp>
      <p:sp>
        <p:nvSpPr>
          <p:cNvPr id="52" name="Shape 43"/>
          <p:cNvSpPr/>
          <p:nvPr/>
        </p:nvSpPr>
        <p:spPr>
          <a:xfrm>
            <a:off x="9861804" y="2322576"/>
            <a:ext cx="530352" cy="530352"/>
          </a:xfrm>
          <a:prstGeom prst="roundRect">
            <a:avLst>
              <a:gd name="adj" fmla="val 17241"/>
            </a:avLst>
          </a:prstGeom>
          <a:solidFill>
            <a:srgbClr val="5B4FA8"/>
          </a:solidFill>
          <a:ln w="12700">
            <a:solidFill>
              <a:srgbClr val="5B4FA8"/>
            </a:solidFill>
            <a:prstDash val="solid"/>
          </a:ln>
        </p:spPr>
      </p:sp>
      <p:pic>
        <p:nvPicPr>
          <p:cNvPr id="53" name="Image 7" descr="preencoded.png">    </p:cNvPr>
          <p:cNvPicPr>
            <a:picLocks noChangeAspect="1"/>
          </p:cNvPicPr>
          <p:nvPr/>
        </p:nvPicPr>
        <p:blipFill>
          <a:blip r:embed="rId8"/>
          <a:stretch>
            <a:fillRect/>
          </a:stretch>
        </p:blipFill>
        <p:spPr>
          <a:xfrm>
            <a:off x="9978481" y="2439253"/>
            <a:ext cx="296997" cy="296997"/>
          </a:xfrm>
          <a:prstGeom prst="rect">
            <a:avLst/>
          </a:prstGeom>
        </p:spPr>
      </p:pic>
      <p:sp>
        <p:nvSpPr>
          <p:cNvPr id="54" name="Text 44"/>
          <p:cNvSpPr txBox="1"/>
          <p:nvPr/>
        </p:nvSpPr>
        <p:spPr>
          <a:xfrm>
            <a:off x="9409176"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Agent One</a:t>
            </a:r>
            <a:endParaRPr lang="en-US" sz="1200" dirty="0"/>
          </a:p>
        </p:txBody>
      </p:sp>
      <p:sp>
        <p:nvSpPr>
          <p:cNvPr id="55" name="Text 45"/>
          <p:cNvSpPr txBox="1"/>
          <p:nvPr/>
        </p:nvSpPr>
        <p:spPr>
          <a:xfrm>
            <a:off x="9436608"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Classify, root cause, ageing risk, propose fix</a:t>
            </a:r>
            <a:endParaRPr lang="en-US" sz="900" dirty="0"/>
          </a:p>
        </p:txBody>
      </p:sp>
      <p:sp>
        <p:nvSpPr>
          <p:cNvPr id="56" name="Shape 46"/>
          <p:cNvSpPr/>
          <p:nvPr/>
        </p:nvSpPr>
        <p:spPr>
          <a:xfrm>
            <a:off x="12170664" y="2212848"/>
            <a:ext cx="1527048" cy="1426464"/>
          </a:xfrm>
          <a:prstGeom prst="roundRect">
            <a:avLst>
              <a:gd name="adj" fmla="val 5128"/>
            </a:avLst>
          </a:prstGeom>
          <a:solidFill>
            <a:srgbClr val="FFFFFF"/>
          </a:solidFill>
          <a:ln w="9525">
            <a:solidFill>
              <a:srgbClr val="C8D8EC"/>
            </a:solidFill>
            <a:prstDash val="solid"/>
          </a:ln>
        </p:spPr>
      </p:sp>
      <p:sp>
        <p:nvSpPr>
          <p:cNvPr id="57" name="Shape 47"/>
          <p:cNvSpPr/>
          <p:nvPr/>
        </p:nvSpPr>
        <p:spPr>
          <a:xfrm>
            <a:off x="12669012" y="2322576"/>
            <a:ext cx="530352" cy="530352"/>
          </a:xfrm>
          <a:prstGeom prst="roundRect">
            <a:avLst>
              <a:gd name="adj" fmla="val 17241"/>
            </a:avLst>
          </a:prstGeom>
          <a:solidFill>
            <a:srgbClr val="1F6FB5"/>
          </a:solidFill>
          <a:ln w="12700">
            <a:solidFill>
              <a:srgbClr val="1F6FB5"/>
            </a:solidFill>
            <a:prstDash val="solid"/>
          </a:ln>
        </p:spPr>
      </p:sp>
      <p:pic>
        <p:nvPicPr>
          <p:cNvPr id="58" name="Image 8" descr="preencoded.png">    </p:cNvPr>
          <p:cNvPicPr>
            <a:picLocks noChangeAspect="1"/>
          </p:cNvPicPr>
          <p:nvPr/>
        </p:nvPicPr>
        <p:blipFill>
          <a:blip r:embed="rId9"/>
          <a:stretch>
            <a:fillRect/>
          </a:stretch>
        </p:blipFill>
        <p:spPr>
          <a:xfrm>
            <a:off x="12785689" y="2439253"/>
            <a:ext cx="296997" cy="296997"/>
          </a:xfrm>
          <a:prstGeom prst="rect">
            <a:avLst/>
          </a:prstGeom>
        </p:spPr>
      </p:pic>
      <p:sp>
        <p:nvSpPr>
          <p:cNvPr id="59" name="Text 48"/>
          <p:cNvSpPr txBox="1"/>
          <p:nvPr/>
        </p:nvSpPr>
        <p:spPr>
          <a:xfrm>
            <a:off x="12216384"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Exception Workbench</a:t>
            </a:r>
            <a:endParaRPr lang="en-US" sz="1200" dirty="0"/>
          </a:p>
        </p:txBody>
      </p:sp>
      <p:sp>
        <p:nvSpPr>
          <p:cNvPr id="60" name="Text 49"/>
          <p:cNvSpPr txBox="1"/>
          <p:nvPr/>
        </p:nvSpPr>
        <p:spPr>
          <a:xfrm>
            <a:off x="12243816"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Triage view and chat per entity</a:t>
            </a:r>
            <a:endParaRPr lang="en-US" sz="900" dirty="0"/>
          </a:p>
        </p:txBody>
      </p:sp>
      <p:sp>
        <p:nvSpPr>
          <p:cNvPr id="61" name="Shape 50"/>
          <p:cNvSpPr/>
          <p:nvPr/>
        </p:nvSpPr>
        <p:spPr>
          <a:xfrm>
            <a:off x="932688" y="4645152"/>
            <a:ext cx="1527048" cy="1261872"/>
          </a:xfrm>
          <a:prstGeom prst="roundRect">
            <a:avLst>
              <a:gd name="adj" fmla="val 5797"/>
            </a:avLst>
          </a:prstGeom>
          <a:solidFill>
            <a:srgbClr val="FFFFFF"/>
          </a:solidFill>
          <a:ln w="9525">
            <a:solidFill>
              <a:srgbClr val="C8D8EC"/>
            </a:solidFill>
            <a:prstDash val="solid"/>
          </a:ln>
        </p:spPr>
      </p:sp>
      <p:sp>
        <p:nvSpPr>
          <p:cNvPr id="62" name="Shape 51"/>
          <p:cNvSpPr/>
          <p:nvPr/>
        </p:nvSpPr>
        <p:spPr>
          <a:xfrm>
            <a:off x="1431036" y="4754880"/>
            <a:ext cx="530352" cy="530352"/>
          </a:xfrm>
          <a:prstGeom prst="roundRect">
            <a:avLst>
              <a:gd name="adj" fmla="val 17241"/>
            </a:avLst>
          </a:prstGeom>
          <a:solidFill>
            <a:srgbClr val="4F7BB5"/>
          </a:solidFill>
          <a:ln w="12700">
            <a:solidFill>
              <a:srgbClr val="4F7BB5"/>
            </a:solidFill>
            <a:prstDash val="solid"/>
          </a:ln>
        </p:spPr>
      </p:sp>
      <p:pic>
        <p:nvPicPr>
          <p:cNvPr id="63" name="Image 9" descr="preencoded.png">    </p:cNvPr>
          <p:cNvPicPr>
            <a:picLocks noChangeAspect="1"/>
          </p:cNvPicPr>
          <p:nvPr/>
        </p:nvPicPr>
        <p:blipFill>
          <a:blip r:embed="rId10"/>
          <a:stretch>
            <a:fillRect/>
          </a:stretch>
        </p:blipFill>
        <p:spPr>
          <a:xfrm>
            <a:off x="1547713" y="4871557"/>
            <a:ext cx="296997" cy="296997"/>
          </a:xfrm>
          <a:prstGeom prst="rect">
            <a:avLst/>
          </a:prstGeom>
        </p:spPr>
      </p:pic>
      <p:sp>
        <p:nvSpPr>
          <p:cNvPr id="64" name="Text 52"/>
          <p:cNvSpPr txBox="1"/>
          <p:nvPr/>
        </p:nvSpPr>
        <p:spPr>
          <a:xfrm>
            <a:off x="978408" y="5349240"/>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Ledgers &amp; ETB</a:t>
            </a:r>
            <a:endParaRPr lang="en-US" sz="1200" dirty="0"/>
          </a:p>
        </p:txBody>
      </p:sp>
      <p:sp>
        <p:nvSpPr>
          <p:cNvPr id="65" name="Text 53"/>
          <p:cNvSpPr txBox="1"/>
          <p:nvPr/>
        </p:nvSpPr>
        <p:spPr>
          <a:xfrm>
            <a:off x="1005840" y="5559552"/>
            <a:ext cx="1380744"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Sub, General, Consolidation ledgers, ETB</a:t>
            </a:r>
            <a:endParaRPr lang="en-US" sz="900" dirty="0"/>
          </a:p>
        </p:txBody>
      </p:sp>
      <p:sp>
        <p:nvSpPr>
          <p:cNvPr id="66" name="Shape 54"/>
          <p:cNvSpPr/>
          <p:nvPr/>
        </p:nvSpPr>
        <p:spPr>
          <a:xfrm>
            <a:off x="3739896" y="4645152"/>
            <a:ext cx="1527048" cy="1261872"/>
          </a:xfrm>
          <a:prstGeom prst="roundRect">
            <a:avLst>
              <a:gd name="adj" fmla="val 5797"/>
            </a:avLst>
          </a:prstGeom>
          <a:solidFill>
            <a:srgbClr val="FFFFFF"/>
          </a:solidFill>
          <a:ln w="9525">
            <a:solidFill>
              <a:srgbClr val="C8D8EC"/>
            </a:solidFill>
            <a:prstDash val="solid"/>
          </a:ln>
        </p:spPr>
      </p:sp>
      <p:sp>
        <p:nvSpPr>
          <p:cNvPr id="67" name="Shape 55"/>
          <p:cNvSpPr/>
          <p:nvPr/>
        </p:nvSpPr>
        <p:spPr>
          <a:xfrm>
            <a:off x="4238244" y="4754880"/>
            <a:ext cx="530352" cy="530352"/>
          </a:xfrm>
          <a:prstGeom prst="roundRect">
            <a:avLst>
              <a:gd name="adj" fmla="val 17241"/>
            </a:avLst>
          </a:prstGeom>
          <a:solidFill>
            <a:srgbClr val="3F86C8"/>
          </a:solidFill>
          <a:ln w="12700">
            <a:solidFill>
              <a:srgbClr val="3F86C8"/>
            </a:solidFill>
            <a:prstDash val="solid"/>
          </a:ln>
        </p:spPr>
      </p:sp>
      <p:pic>
        <p:nvPicPr>
          <p:cNvPr id="68" name="Image 10" descr="preencoded.png">    </p:cNvPr>
          <p:cNvPicPr>
            <a:picLocks noChangeAspect="1"/>
          </p:cNvPicPr>
          <p:nvPr/>
        </p:nvPicPr>
        <p:blipFill>
          <a:blip r:embed="rId11"/>
          <a:stretch>
            <a:fillRect/>
          </a:stretch>
        </p:blipFill>
        <p:spPr>
          <a:xfrm>
            <a:off x="4354921" y="4871557"/>
            <a:ext cx="296997" cy="296997"/>
          </a:xfrm>
          <a:prstGeom prst="rect">
            <a:avLst/>
          </a:prstGeom>
        </p:spPr>
      </p:pic>
      <p:sp>
        <p:nvSpPr>
          <p:cNvPr id="69" name="Text 56"/>
          <p:cNvSpPr txBox="1"/>
          <p:nvPr/>
        </p:nvSpPr>
        <p:spPr>
          <a:xfrm>
            <a:off x="3785616" y="5349240"/>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Business Outcome</a:t>
            </a:r>
            <a:endParaRPr lang="en-US" sz="1200" dirty="0"/>
          </a:p>
        </p:txBody>
      </p:sp>
      <p:sp>
        <p:nvSpPr>
          <p:cNvPr id="70" name="Text 57"/>
          <p:cNvSpPr txBox="1"/>
          <p:nvPr/>
        </p:nvSpPr>
        <p:spPr>
          <a:xfrm>
            <a:off x="3813048" y="5559552"/>
            <a:ext cx="1380744"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Ready when control run completes</a:t>
            </a:r>
            <a:endParaRPr lang="en-US" sz="900" dirty="0"/>
          </a:p>
        </p:txBody>
      </p:sp>
      <p:sp>
        <p:nvSpPr>
          <p:cNvPr id="71" name="Shape 58"/>
          <p:cNvSpPr/>
          <p:nvPr/>
        </p:nvSpPr>
        <p:spPr>
          <a:xfrm>
            <a:off x="6556248" y="4645152"/>
            <a:ext cx="1527048" cy="1261872"/>
          </a:xfrm>
          <a:prstGeom prst="roundRect">
            <a:avLst>
              <a:gd name="adj" fmla="val 5797"/>
            </a:avLst>
          </a:prstGeom>
          <a:solidFill>
            <a:srgbClr val="FFFFFF"/>
          </a:solidFill>
          <a:ln w="9525">
            <a:solidFill>
              <a:srgbClr val="C8D8EC"/>
            </a:solidFill>
            <a:prstDash val="solid"/>
          </a:ln>
        </p:spPr>
      </p:sp>
      <p:sp>
        <p:nvSpPr>
          <p:cNvPr id="72" name="Shape 59"/>
          <p:cNvSpPr/>
          <p:nvPr/>
        </p:nvSpPr>
        <p:spPr>
          <a:xfrm>
            <a:off x="7054596" y="4754880"/>
            <a:ext cx="530352" cy="530352"/>
          </a:xfrm>
          <a:prstGeom prst="roundRect">
            <a:avLst>
              <a:gd name="adj" fmla="val 17241"/>
            </a:avLst>
          </a:prstGeom>
          <a:solidFill>
            <a:srgbClr val="1E8A5A"/>
          </a:solidFill>
          <a:ln w="12700">
            <a:solidFill>
              <a:srgbClr val="1E8A5A"/>
            </a:solidFill>
            <a:prstDash val="solid"/>
          </a:ln>
        </p:spPr>
      </p:sp>
      <p:pic>
        <p:nvPicPr>
          <p:cNvPr id="73" name="Image 11" descr="preencoded.png">    </p:cNvPr>
          <p:cNvPicPr>
            <a:picLocks noChangeAspect="1"/>
          </p:cNvPicPr>
          <p:nvPr/>
        </p:nvPicPr>
        <p:blipFill>
          <a:blip r:embed="rId12"/>
          <a:stretch>
            <a:fillRect/>
          </a:stretch>
        </p:blipFill>
        <p:spPr>
          <a:xfrm>
            <a:off x="7171273" y="4871557"/>
            <a:ext cx="296997" cy="296997"/>
          </a:xfrm>
          <a:prstGeom prst="rect">
            <a:avLst/>
          </a:prstGeom>
        </p:spPr>
      </p:pic>
      <p:sp>
        <p:nvSpPr>
          <p:cNvPr id="74" name="Text 60"/>
          <p:cNvSpPr txBox="1"/>
          <p:nvPr/>
        </p:nvSpPr>
        <p:spPr>
          <a:xfrm>
            <a:off x="6601968" y="5349240"/>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Readiness Check</a:t>
            </a:r>
            <a:endParaRPr lang="en-US" sz="1200" dirty="0"/>
          </a:p>
        </p:txBody>
      </p:sp>
      <p:sp>
        <p:nvSpPr>
          <p:cNvPr id="75" name="Text 61"/>
          <p:cNvSpPr txBox="1"/>
          <p:nvPr/>
        </p:nvSpPr>
        <p:spPr>
          <a:xfrm>
            <a:off x="6629400" y="5559552"/>
            <a:ext cx="1380744"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Validates entity before session start</a:t>
            </a:r>
            <a:endParaRPr lang="en-US" sz="900" dirty="0"/>
          </a:p>
        </p:txBody>
      </p:sp>
      <p:sp>
        <p:nvSpPr>
          <p:cNvPr id="76" name="Shape 62"/>
          <p:cNvSpPr/>
          <p:nvPr/>
        </p:nvSpPr>
        <p:spPr>
          <a:xfrm>
            <a:off x="9015984" y="4645152"/>
            <a:ext cx="1051560" cy="1261872"/>
          </a:xfrm>
          <a:prstGeom prst="roundRect">
            <a:avLst>
              <a:gd name="adj" fmla="val 6957"/>
            </a:avLst>
          </a:prstGeom>
          <a:solidFill>
            <a:srgbClr val="FFFFFF"/>
          </a:solidFill>
          <a:ln w="9525">
            <a:solidFill>
              <a:srgbClr val="C8D8EC"/>
            </a:solidFill>
            <a:prstDash val="solid"/>
          </a:ln>
        </p:spPr>
      </p:sp>
      <p:sp>
        <p:nvSpPr>
          <p:cNvPr id="77" name="Shape 63"/>
          <p:cNvSpPr/>
          <p:nvPr/>
        </p:nvSpPr>
        <p:spPr>
          <a:xfrm>
            <a:off x="9276588" y="4754880"/>
            <a:ext cx="530352" cy="530352"/>
          </a:xfrm>
          <a:prstGeom prst="roundRect">
            <a:avLst>
              <a:gd name="adj" fmla="val 17241"/>
            </a:avLst>
          </a:prstGeom>
          <a:solidFill>
            <a:srgbClr val="5B4FA8"/>
          </a:solidFill>
          <a:ln w="12700">
            <a:solidFill>
              <a:srgbClr val="5B4FA8"/>
            </a:solidFill>
            <a:prstDash val="solid"/>
          </a:ln>
        </p:spPr>
      </p:sp>
      <p:pic>
        <p:nvPicPr>
          <p:cNvPr id="78" name="Image 12" descr="preencoded.png">    </p:cNvPr>
          <p:cNvPicPr>
            <a:picLocks noChangeAspect="1"/>
          </p:cNvPicPr>
          <p:nvPr/>
        </p:nvPicPr>
        <p:blipFill>
          <a:blip r:embed="rId13"/>
          <a:stretch>
            <a:fillRect/>
          </a:stretch>
        </p:blipFill>
        <p:spPr>
          <a:xfrm>
            <a:off x="9393265" y="4871557"/>
            <a:ext cx="296997" cy="296997"/>
          </a:xfrm>
          <a:prstGeom prst="rect">
            <a:avLst/>
          </a:prstGeom>
        </p:spPr>
      </p:pic>
      <p:sp>
        <p:nvSpPr>
          <p:cNvPr id="79" name="Text 64"/>
          <p:cNvSpPr txBox="1"/>
          <p:nvPr/>
        </p:nvSpPr>
        <p:spPr>
          <a:xfrm>
            <a:off x="9061704" y="5349240"/>
            <a:ext cx="960120" cy="210312"/>
          </a:xfrm>
          <a:prstGeom prst="rect">
            <a:avLst/>
          </a:prstGeom>
          <a:noFill/>
          <a:ln/>
        </p:spPr>
        <p:txBody>
          <a:bodyPr wrap="square" lIns="0" tIns="0" rIns="0" bIns="0" rtlCol="0" anchor="ctr"/>
          <a:lstStyle/>
          <a:p>
            <a:pPr algn="ctr" indent="0" marL="0">
              <a:buNone/>
            </a:pPr>
            <a:r>
              <a:rPr lang="en-US" sz="1050" b="1" dirty="0">
                <a:solidFill>
                  <a:srgbClr val="1F2D3D"/>
                </a:solidFill>
                <a:latin typeface="Calibri" pitchFamily="34" charset="0"/>
                <a:ea typeface="Calibri" pitchFamily="34" charset="-122"/>
                <a:cs typeface="Calibri" pitchFamily="34" charset="-120"/>
              </a:rPr>
              <a:t>Data (MCP)</a:t>
            </a:r>
            <a:endParaRPr lang="en-US" sz="1050" dirty="0"/>
          </a:p>
        </p:txBody>
      </p:sp>
      <p:sp>
        <p:nvSpPr>
          <p:cNvPr id="80" name="Text 65"/>
          <p:cNvSpPr txBox="1"/>
          <p:nvPr/>
        </p:nvSpPr>
        <p:spPr>
          <a:xfrm>
            <a:off x="9089136" y="5559552"/>
            <a:ext cx="905256"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Ledgers, journals, rules</a:t>
            </a:r>
            <a:endParaRPr lang="en-US" sz="900" dirty="0"/>
          </a:p>
        </p:txBody>
      </p:sp>
      <p:sp>
        <p:nvSpPr>
          <p:cNvPr id="81" name="Shape 66"/>
          <p:cNvSpPr/>
          <p:nvPr/>
        </p:nvSpPr>
        <p:spPr>
          <a:xfrm>
            <a:off x="10149840" y="4645152"/>
            <a:ext cx="1051560" cy="1261872"/>
          </a:xfrm>
          <a:prstGeom prst="roundRect">
            <a:avLst>
              <a:gd name="adj" fmla="val 6957"/>
            </a:avLst>
          </a:prstGeom>
          <a:solidFill>
            <a:srgbClr val="FFFFFF"/>
          </a:solidFill>
          <a:ln w="9525">
            <a:solidFill>
              <a:srgbClr val="C8D8EC"/>
            </a:solidFill>
            <a:prstDash val="solid"/>
          </a:ln>
        </p:spPr>
      </p:sp>
      <p:sp>
        <p:nvSpPr>
          <p:cNvPr id="82" name="Shape 67"/>
          <p:cNvSpPr/>
          <p:nvPr/>
        </p:nvSpPr>
        <p:spPr>
          <a:xfrm>
            <a:off x="10410444" y="4754880"/>
            <a:ext cx="530352" cy="530352"/>
          </a:xfrm>
          <a:prstGeom prst="roundRect">
            <a:avLst>
              <a:gd name="adj" fmla="val 17241"/>
            </a:avLst>
          </a:prstGeom>
          <a:solidFill>
            <a:srgbClr val="C0392B"/>
          </a:solidFill>
          <a:ln w="12700">
            <a:solidFill>
              <a:srgbClr val="C0392B"/>
            </a:solidFill>
            <a:prstDash val="solid"/>
          </a:ln>
        </p:spPr>
      </p:sp>
      <p:pic>
        <p:nvPicPr>
          <p:cNvPr id="83" name="Image 13" descr="preencoded.png">    </p:cNvPr>
          <p:cNvPicPr>
            <a:picLocks noChangeAspect="1"/>
          </p:cNvPicPr>
          <p:nvPr/>
        </p:nvPicPr>
        <p:blipFill>
          <a:blip r:embed="rId14"/>
          <a:stretch>
            <a:fillRect/>
          </a:stretch>
        </p:blipFill>
        <p:spPr>
          <a:xfrm>
            <a:off x="10527121" y="4871557"/>
            <a:ext cx="296997" cy="296997"/>
          </a:xfrm>
          <a:prstGeom prst="rect">
            <a:avLst/>
          </a:prstGeom>
        </p:spPr>
      </p:pic>
      <p:sp>
        <p:nvSpPr>
          <p:cNvPr id="84" name="Text 68"/>
          <p:cNvSpPr txBox="1"/>
          <p:nvPr/>
        </p:nvSpPr>
        <p:spPr>
          <a:xfrm>
            <a:off x="10195560" y="5349240"/>
            <a:ext cx="960120" cy="210312"/>
          </a:xfrm>
          <a:prstGeom prst="rect">
            <a:avLst/>
          </a:prstGeom>
          <a:noFill/>
          <a:ln/>
        </p:spPr>
        <p:txBody>
          <a:bodyPr wrap="square" lIns="0" tIns="0" rIns="0" bIns="0" rtlCol="0" anchor="ctr"/>
          <a:lstStyle/>
          <a:p>
            <a:pPr algn="ctr" indent="0" marL="0">
              <a:buNone/>
            </a:pPr>
            <a:r>
              <a:rPr lang="en-US" sz="1050" b="1" dirty="0">
                <a:solidFill>
                  <a:srgbClr val="1F2D3D"/>
                </a:solidFill>
                <a:latin typeface="Calibri" pitchFamily="34" charset="0"/>
                <a:ea typeface="Calibri" pitchFamily="34" charset="-122"/>
                <a:cs typeface="Calibri" pitchFamily="34" charset="-120"/>
              </a:rPr>
              <a:t>Adj. Instruction</a:t>
            </a:r>
            <a:endParaRPr lang="en-US" sz="1050" dirty="0"/>
          </a:p>
        </p:txBody>
      </p:sp>
      <p:sp>
        <p:nvSpPr>
          <p:cNvPr id="85" name="Text 69"/>
          <p:cNvSpPr txBox="1"/>
          <p:nvPr/>
        </p:nvSpPr>
        <p:spPr>
          <a:xfrm>
            <a:off x="10222992" y="5559552"/>
            <a:ext cx="905256"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Raises approved instruction</a:t>
            </a:r>
            <a:endParaRPr lang="en-US" sz="900" dirty="0"/>
          </a:p>
        </p:txBody>
      </p:sp>
      <p:sp>
        <p:nvSpPr>
          <p:cNvPr id="86" name="Shape 70"/>
          <p:cNvSpPr/>
          <p:nvPr/>
        </p:nvSpPr>
        <p:spPr>
          <a:xfrm>
            <a:off x="12170664" y="4645152"/>
            <a:ext cx="1527048" cy="1261872"/>
          </a:xfrm>
          <a:prstGeom prst="roundRect">
            <a:avLst>
              <a:gd name="adj" fmla="val 5797"/>
            </a:avLst>
          </a:prstGeom>
          <a:solidFill>
            <a:srgbClr val="FFFFFF"/>
          </a:solidFill>
          <a:ln w="9525">
            <a:solidFill>
              <a:srgbClr val="C8D8EC"/>
            </a:solidFill>
            <a:prstDash val="solid"/>
          </a:ln>
        </p:spPr>
      </p:sp>
      <p:sp>
        <p:nvSpPr>
          <p:cNvPr id="87" name="Shape 71"/>
          <p:cNvSpPr/>
          <p:nvPr/>
        </p:nvSpPr>
        <p:spPr>
          <a:xfrm>
            <a:off x="12669012" y="4754880"/>
            <a:ext cx="530352" cy="530352"/>
          </a:xfrm>
          <a:prstGeom prst="roundRect">
            <a:avLst>
              <a:gd name="adj" fmla="val 17241"/>
            </a:avLst>
          </a:prstGeom>
          <a:solidFill>
            <a:srgbClr val="1F6FB5"/>
          </a:solidFill>
          <a:ln w="12700">
            <a:solidFill>
              <a:srgbClr val="1F6FB5"/>
            </a:solidFill>
            <a:prstDash val="solid"/>
          </a:ln>
        </p:spPr>
      </p:sp>
      <p:pic>
        <p:nvPicPr>
          <p:cNvPr id="88" name="Image 14" descr="preencoded.png">    </p:cNvPr>
          <p:cNvPicPr>
            <a:picLocks noChangeAspect="1"/>
          </p:cNvPicPr>
          <p:nvPr/>
        </p:nvPicPr>
        <p:blipFill>
          <a:blip r:embed="rId15"/>
          <a:stretch>
            <a:fillRect/>
          </a:stretch>
        </p:blipFill>
        <p:spPr>
          <a:xfrm>
            <a:off x="12785689" y="4871557"/>
            <a:ext cx="296997" cy="296997"/>
          </a:xfrm>
          <a:prstGeom prst="rect">
            <a:avLst/>
          </a:prstGeom>
        </p:spPr>
      </p:pic>
      <p:sp>
        <p:nvSpPr>
          <p:cNvPr id="89" name="Text 72"/>
          <p:cNvSpPr txBox="1"/>
          <p:nvPr/>
        </p:nvSpPr>
        <p:spPr>
          <a:xfrm>
            <a:off x="12216384" y="5349240"/>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Exception Owner</a:t>
            </a:r>
            <a:endParaRPr lang="en-US" sz="1200" dirty="0"/>
          </a:p>
        </p:txBody>
      </p:sp>
      <p:sp>
        <p:nvSpPr>
          <p:cNvPr id="90" name="Text 73"/>
          <p:cNvSpPr txBox="1"/>
          <p:nvPr/>
        </p:nvSpPr>
        <p:spPr>
          <a:xfrm>
            <a:off x="12243816" y="5559552"/>
            <a:ext cx="1380744"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Reviews triage, approves fix or closure</a:t>
            </a:r>
            <a:endParaRPr lang="en-US" sz="900" dirty="0"/>
          </a:p>
        </p:txBody>
      </p:sp>
      <p:sp>
        <p:nvSpPr>
          <p:cNvPr id="91" name="Shape 74"/>
          <p:cNvSpPr/>
          <p:nvPr/>
        </p:nvSpPr>
        <p:spPr>
          <a:xfrm>
            <a:off x="2459736" y="2615184"/>
            <a:ext cx="1280160" cy="0"/>
          </a:xfrm>
          <a:prstGeom prst="line">
            <a:avLst/>
          </a:prstGeom>
          <a:noFill/>
          <a:ln w="19050">
            <a:solidFill>
              <a:srgbClr val="1F4E8C"/>
            </a:solidFill>
            <a:prstDash val="solid"/>
            <a:tailEnd type="triangle"/>
          </a:ln>
        </p:spPr>
      </p:sp>
      <p:sp>
        <p:nvSpPr>
          <p:cNvPr id="92" name="Shape 75"/>
          <p:cNvSpPr/>
          <p:nvPr/>
        </p:nvSpPr>
        <p:spPr>
          <a:xfrm>
            <a:off x="2532888" y="2286000"/>
            <a:ext cx="219456" cy="219456"/>
          </a:xfrm>
          <a:prstGeom prst="ellipse">
            <a:avLst/>
          </a:prstGeom>
          <a:solidFill>
            <a:srgbClr val="1F4E8C"/>
          </a:solidFill>
          <a:ln w="12700">
            <a:solidFill>
              <a:srgbClr val="1F4E8C"/>
            </a:solidFill>
            <a:prstDash val="solid"/>
          </a:ln>
        </p:spPr>
      </p:sp>
      <p:sp>
        <p:nvSpPr>
          <p:cNvPr id="93" name="Text 76"/>
          <p:cNvSpPr txBox="1"/>
          <p:nvPr/>
        </p:nvSpPr>
        <p:spPr>
          <a:xfrm>
            <a:off x="2532888" y="228600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94" name="Text 77"/>
          <p:cNvSpPr txBox="1"/>
          <p:nvPr/>
        </p:nvSpPr>
        <p:spPr>
          <a:xfrm>
            <a:off x="2788920" y="2029968"/>
            <a:ext cx="914400" cy="365760"/>
          </a:xfrm>
          <a:prstGeom prst="rect">
            <a:avLst/>
          </a:prstGeom>
          <a:solidFill>
            <a:srgbClr val="FFFFFF">
              <a:alpha val="0"/>
            </a:srgbClr>
          </a:solidFill>
          <a:ln/>
        </p:spPr>
        <p:txBody>
          <a:bodyPr wrap="square" lIns="0" tIns="0" rIns="0" bIns="0" rtlCol="0" anchor="b"/>
          <a:lstStyle/>
          <a:p>
            <a:pPr indent="0" marL="0">
              <a:buNone/>
            </a:pPr>
            <a:r>
              <a:rPr lang="en-US" sz="900" dirty="0">
                <a:solidFill>
                  <a:srgbClr val="1F2D3D"/>
                </a:solidFill>
                <a:latin typeface="Calibri" pitchFamily="34" charset="0"/>
                <a:ea typeface="Calibri" pitchFamily="34" charset="-122"/>
                <a:cs typeface="Calibri" pitchFamily="34" charset="-120"/>
              </a:rPr>
              <a:t>Control break events</a:t>
            </a:r>
            <a:endParaRPr lang="en-US" sz="900" dirty="0"/>
          </a:p>
        </p:txBody>
      </p:sp>
      <p:sp>
        <p:nvSpPr>
          <p:cNvPr id="95" name="Shape 78"/>
          <p:cNvSpPr/>
          <p:nvPr/>
        </p:nvSpPr>
        <p:spPr>
          <a:xfrm>
            <a:off x="5266944" y="2615184"/>
            <a:ext cx="1289304" cy="0"/>
          </a:xfrm>
          <a:prstGeom prst="line">
            <a:avLst/>
          </a:prstGeom>
          <a:noFill/>
          <a:ln w="19050">
            <a:solidFill>
              <a:srgbClr val="2A6EBB"/>
            </a:solidFill>
            <a:prstDash val="solid"/>
            <a:tailEnd type="triangle"/>
          </a:ln>
        </p:spPr>
      </p:sp>
      <p:sp>
        <p:nvSpPr>
          <p:cNvPr id="96" name="Shape 79"/>
          <p:cNvSpPr/>
          <p:nvPr/>
        </p:nvSpPr>
        <p:spPr>
          <a:xfrm>
            <a:off x="5340096" y="2286000"/>
            <a:ext cx="219456" cy="219456"/>
          </a:xfrm>
          <a:prstGeom prst="ellipse">
            <a:avLst/>
          </a:prstGeom>
          <a:solidFill>
            <a:srgbClr val="2A6EBB"/>
          </a:solidFill>
          <a:ln w="12700">
            <a:solidFill>
              <a:srgbClr val="2A6EBB"/>
            </a:solidFill>
            <a:prstDash val="solid"/>
          </a:ln>
        </p:spPr>
      </p:sp>
      <p:sp>
        <p:nvSpPr>
          <p:cNvPr id="97" name="Text 80"/>
          <p:cNvSpPr txBox="1"/>
          <p:nvPr/>
        </p:nvSpPr>
        <p:spPr>
          <a:xfrm>
            <a:off x="5340096" y="228600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98" name="Text 81"/>
          <p:cNvSpPr txBox="1"/>
          <p:nvPr/>
        </p:nvSpPr>
        <p:spPr>
          <a:xfrm>
            <a:off x="5596128" y="2029968"/>
            <a:ext cx="923544" cy="365760"/>
          </a:xfrm>
          <a:prstGeom prst="rect">
            <a:avLst/>
          </a:prstGeom>
          <a:solidFill>
            <a:srgbClr val="FFFFFF">
              <a:alpha val="0"/>
            </a:srgbClr>
          </a:solidFill>
          <a:ln/>
        </p:spPr>
        <p:txBody>
          <a:bodyPr wrap="square" lIns="0" tIns="0" rIns="0" bIns="0" rtlCol="0" anchor="b"/>
          <a:lstStyle/>
          <a:p>
            <a:pPr indent="0" marL="0">
              <a:buNone/>
            </a:pPr>
            <a:r>
              <a:rPr lang="en-US" sz="900" dirty="0">
                <a:solidFill>
                  <a:srgbClr val="1F2D3D"/>
                </a:solidFill>
                <a:latin typeface="Calibri" pitchFamily="34" charset="0"/>
                <a:ea typeface="Calibri" pitchFamily="34" charset="-122"/>
                <a:cs typeface="Calibri" pitchFamily="34" charset="-120"/>
              </a:rPr>
              <a:t>Entity Ready event</a:t>
            </a:r>
            <a:endParaRPr lang="en-US" sz="900" dirty="0"/>
          </a:p>
        </p:txBody>
      </p:sp>
      <p:sp>
        <p:nvSpPr>
          <p:cNvPr id="99" name="Shape 82"/>
          <p:cNvSpPr/>
          <p:nvPr/>
        </p:nvSpPr>
        <p:spPr>
          <a:xfrm>
            <a:off x="8083296" y="2615184"/>
            <a:ext cx="1280160" cy="0"/>
          </a:xfrm>
          <a:prstGeom prst="line">
            <a:avLst/>
          </a:prstGeom>
          <a:noFill/>
          <a:ln w="19050">
            <a:solidFill>
              <a:srgbClr val="1E8A5A"/>
            </a:solidFill>
            <a:prstDash val="solid"/>
            <a:tailEnd type="triangle"/>
          </a:ln>
        </p:spPr>
      </p:sp>
      <p:sp>
        <p:nvSpPr>
          <p:cNvPr id="100" name="Shape 83"/>
          <p:cNvSpPr/>
          <p:nvPr/>
        </p:nvSpPr>
        <p:spPr>
          <a:xfrm>
            <a:off x="8156448" y="2286000"/>
            <a:ext cx="219456" cy="219456"/>
          </a:xfrm>
          <a:prstGeom prst="ellipse">
            <a:avLst/>
          </a:prstGeom>
          <a:solidFill>
            <a:srgbClr val="1E8A5A"/>
          </a:solidFill>
          <a:ln w="12700">
            <a:solidFill>
              <a:srgbClr val="1E8A5A"/>
            </a:solidFill>
            <a:prstDash val="solid"/>
          </a:ln>
        </p:spPr>
      </p:sp>
      <p:sp>
        <p:nvSpPr>
          <p:cNvPr id="101" name="Text 84"/>
          <p:cNvSpPr txBox="1"/>
          <p:nvPr/>
        </p:nvSpPr>
        <p:spPr>
          <a:xfrm>
            <a:off x="8156448" y="228600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02" name="Text 85"/>
          <p:cNvSpPr txBox="1"/>
          <p:nvPr/>
        </p:nvSpPr>
        <p:spPr>
          <a:xfrm>
            <a:off x="8412480" y="2029968"/>
            <a:ext cx="914400" cy="365760"/>
          </a:xfrm>
          <a:prstGeom prst="rect">
            <a:avLst/>
          </a:prstGeom>
          <a:solidFill>
            <a:srgbClr val="FFFFFF">
              <a:alpha val="0"/>
            </a:srgbClr>
          </a:solidFill>
          <a:ln/>
        </p:spPr>
        <p:txBody>
          <a:bodyPr wrap="square" lIns="0" tIns="0" rIns="0" bIns="0" rtlCol="0" anchor="b"/>
          <a:lstStyle/>
          <a:p>
            <a:pPr indent="0" marL="0">
              <a:buNone/>
            </a:pPr>
            <a:r>
              <a:rPr lang="en-US" sz="900" dirty="0">
                <a:solidFill>
                  <a:srgbClr val="1F2D3D"/>
                </a:solidFill>
                <a:latin typeface="Calibri" pitchFamily="34" charset="0"/>
                <a:ea typeface="Calibri" pitchFamily="34" charset="-122"/>
                <a:cs typeface="Calibri" pitchFamily="34" charset="-120"/>
              </a:rPr>
              <a:t>Start triage session</a:t>
            </a:r>
            <a:endParaRPr lang="en-US" sz="900" dirty="0"/>
          </a:p>
        </p:txBody>
      </p:sp>
      <p:sp>
        <p:nvSpPr>
          <p:cNvPr id="103" name="Shape 86"/>
          <p:cNvSpPr/>
          <p:nvPr/>
        </p:nvSpPr>
        <p:spPr>
          <a:xfrm>
            <a:off x="10890504" y="2615184"/>
            <a:ext cx="1280160" cy="0"/>
          </a:xfrm>
          <a:prstGeom prst="line">
            <a:avLst/>
          </a:prstGeom>
          <a:noFill/>
          <a:ln w="19050">
            <a:solidFill>
              <a:srgbClr val="5B4FA8"/>
            </a:solidFill>
            <a:prstDash val="solid"/>
            <a:tailEnd type="triangle"/>
          </a:ln>
        </p:spPr>
      </p:sp>
      <p:sp>
        <p:nvSpPr>
          <p:cNvPr id="104" name="Shape 87"/>
          <p:cNvSpPr/>
          <p:nvPr/>
        </p:nvSpPr>
        <p:spPr>
          <a:xfrm>
            <a:off x="10963656" y="2286000"/>
            <a:ext cx="219456" cy="219456"/>
          </a:xfrm>
          <a:prstGeom prst="ellipse">
            <a:avLst/>
          </a:prstGeom>
          <a:solidFill>
            <a:srgbClr val="5B4FA8"/>
          </a:solidFill>
          <a:ln w="12700">
            <a:solidFill>
              <a:srgbClr val="5B4FA8"/>
            </a:solidFill>
            <a:prstDash val="solid"/>
          </a:ln>
        </p:spPr>
      </p:sp>
      <p:sp>
        <p:nvSpPr>
          <p:cNvPr id="105" name="Text 88"/>
          <p:cNvSpPr txBox="1"/>
          <p:nvPr/>
        </p:nvSpPr>
        <p:spPr>
          <a:xfrm>
            <a:off x="10963656" y="228600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106" name="Text 89"/>
          <p:cNvSpPr txBox="1"/>
          <p:nvPr/>
        </p:nvSpPr>
        <p:spPr>
          <a:xfrm>
            <a:off x="11219688" y="2029968"/>
            <a:ext cx="914400" cy="365760"/>
          </a:xfrm>
          <a:prstGeom prst="rect">
            <a:avLst/>
          </a:prstGeom>
          <a:solidFill>
            <a:srgbClr val="FFFFFF">
              <a:alpha val="0"/>
            </a:srgbClr>
          </a:solidFill>
          <a:ln/>
        </p:spPr>
        <p:txBody>
          <a:bodyPr wrap="square" lIns="0" tIns="0" rIns="0" bIns="0" rtlCol="0" anchor="b"/>
          <a:lstStyle/>
          <a:p>
            <a:pPr indent="0" marL="0">
              <a:buNone/>
            </a:pPr>
            <a:r>
              <a:rPr lang="en-US" sz="900" dirty="0">
                <a:solidFill>
                  <a:srgbClr val="1F2D3D"/>
                </a:solidFill>
                <a:latin typeface="Calibri" pitchFamily="34" charset="0"/>
                <a:ea typeface="Calibri" pitchFamily="34" charset="-122"/>
                <a:cs typeface="Calibri" pitchFamily="34" charset="-120"/>
              </a:rPr>
              <a:t>Triage published</a:t>
            </a:r>
            <a:endParaRPr lang="en-US" sz="900" dirty="0"/>
          </a:p>
        </p:txBody>
      </p:sp>
      <p:sp>
        <p:nvSpPr>
          <p:cNvPr id="107" name="Shape 90"/>
          <p:cNvSpPr/>
          <p:nvPr/>
        </p:nvSpPr>
        <p:spPr>
          <a:xfrm>
            <a:off x="10890504" y="3218688"/>
            <a:ext cx="1280160" cy="0"/>
          </a:xfrm>
          <a:prstGeom prst="line">
            <a:avLst/>
          </a:prstGeom>
          <a:noFill/>
          <a:ln w="19050">
            <a:solidFill>
              <a:srgbClr val="1F6FB5"/>
            </a:solidFill>
            <a:prstDash val="solid"/>
            <a:headEnd type="triangle"/>
          </a:ln>
        </p:spPr>
      </p:sp>
      <p:sp>
        <p:nvSpPr>
          <p:cNvPr id="108" name="Shape 91"/>
          <p:cNvSpPr/>
          <p:nvPr/>
        </p:nvSpPr>
        <p:spPr>
          <a:xfrm>
            <a:off x="10963656" y="3291840"/>
            <a:ext cx="219456" cy="219456"/>
          </a:xfrm>
          <a:prstGeom prst="ellipse">
            <a:avLst/>
          </a:prstGeom>
          <a:solidFill>
            <a:srgbClr val="1F6FB5"/>
          </a:solidFill>
          <a:ln w="12700">
            <a:solidFill>
              <a:srgbClr val="1F6FB5"/>
            </a:solidFill>
            <a:prstDash val="solid"/>
          </a:ln>
        </p:spPr>
      </p:sp>
      <p:sp>
        <p:nvSpPr>
          <p:cNvPr id="109" name="Text 92"/>
          <p:cNvSpPr txBox="1"/>
          <p:nvPr/>
        </p:nvSpPr>
        <p:spPr>
          <a:xfrm>
            <a:off x="10963656" y="329184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7</a:t>
            </a:r>
            <a:endParaRPr lang="en-US" sz="900" dirty="0"/>
          </a:p>
        </p:txBody>
      </p:sp>
      <p:sp>
        <p:nvSpPr>
          <p:cNvPr id="110" name="Text 93"/>
          <p:cNvSpPr txBox="1"/>
          <p:nvPr/>
        </p:nvSpPr>
        <p:spPr>
          <a:xfrm>
            <a:off x="11219688" y="3273552"/>
            <a:ext cx="914400" cy="365760"/>
          </a:xfrm>
          <a:prstGeom prst="rect">
            <a:avLst/>
          </a:prstGeom>
          <a:noFill/>
          <a:ln/>
        </p:spPr>
        <p:txBody>
          <a:bodyPr wrap="square" lIns="0" tIns="0" rIns="0" bIns="0" rtlCol="0" anchor="t"/>
          <a:lstStyle/>
          <a:p>
            <a:pPr indent="0" marL="0">
              <a:buNone/>
            </a:pPr>
            <a:r>
              <a:rPr lang="en-US" sz="900" dirty="0">
                <a:solidFill>
                  <a:srgbClr val="1F2D3D"/>
                </a:solidFill>
                <a:latin typeface="Calibri" pitchFamily="34" charset="0"/>
                <a:ea typeface="Calibri" pitchFamily="34" charset="-122"/>
                <a:cs typeface="Calibri" pitchFamily="34" charset="-120"/>
              </a:rPr>
              <a:t>Q&amp;A and approval</a:t>
            </a:r>
            <a:endParaRPr lang="en-US" sz="900" dirty="0"/>
          </a:p>
        </p:txBody>
      </p:sp>
      <p:sp>
        <p:nvSpPr>
          <p:cNvPr id="111" name="Shape 94"/>
          <p:cNvSpPr/>
          <p:nvPr/>
        </p:nvSpPr>
        <p:spPr>
          <a:xfrm>
            <a:off x="1696212" y="3639312"/>
            <a:ext cx="0" cy="1005840"/>
          </a:xfrm>
          <a:prstGeom prst="line">
            <a:avLst/>
          </a:prstGeom>
          <a:noFill/>
          <a:ln w="15875">
            <a:solidFill>
              <a:srgbClr val="4F7BB5"/>
            </a:solidFill>
            <a:prstDash val="dash"/>
            <a:headEnd type="triangle"/>
          </a:ln>
        </p:spPr>
      </p:sp>
      <p:sp>
        <p:nvSpPr>
          <p:cNvPr id="112" name="Text 95"/>
          <p:cNvSpPr txBox="1"/>
          <p:nvPr/>
        </p:nvSpPr>
        <p:spPr>
          <a:xfrm>
            <a:off x="1787652" y="4005072"/>
            <a:ext cx="868680" cy="274320"/>
          </a:xfrm>
          <a:prstGeom prst="rect">
            <a:avLst/>
          </a:prstGeom>
          <a:noFill/>
          <a:ln/>
        </p:spPr>
        <p:txBody>
          <a:bodyPr wrap="square" lIns="0" tIns="0" rIns="0" bIns="0" rtlCol="0" anchor="ctr"/>
          <a:lstStyle/>
          <a:p>
            <a:pPr indent="0" marL="0">
              <a:buNone/>
            </a:pPr>
            <a:r>
              <a:rPr lang="en-US" sz="900" dirty="0">
                <a:solidFill>
                  <a:srgbClr val="1F2D3D"/>
                </a:solidFill>
                <a:latin typeface="Calibri" pitchFamily="34" charset="0"/>
                <a:ea typeface="Calibri" pitchFamily="34" charset="-122"/>
                <a:cs typeface="Calibri" pitchFamily="34" charset="-120"/>
              </a:rPr>
              <a:t>Ledger data</a:t>
            </a:r>
            <a:endParaRPr lang="en-US" sz="900" dirty="0"/>
          </a:p>
        </p:txBody>
      </p:sp>
      <p:sp>
        <p:nvSpPr>
          <p:cNvPr id="113" name="Shape 96"/>
          <p:cNvSpPr/>
          <p:nvPr/>
        </p:nvSpPr>
        <p:spPr>
          <a:xfrm>
            <a:off x="4503420" y="3639312"/>
            <a:ext cx="0" cy="1005840"/>
          </a:xfrm>
          <a:prstGeom prst="line">
            <a:avLst/>
          </a:prstGeom>
          <a:noFill/>
          <a:ln w="15875">
            <a:solidFill>
              <a:srgbClr val="3F86C8"/>
            </a:solidFill>
            <a:prstDash val="dash"/>
            <a:tailEnd type="triangle"/>
          </a:ln>
        </p:spPr>
      </p:sp>
      <p:sp>
        <p:nvSpPr>
          <p:cNvPr id="114" name="Text 97"/>
          <p:cNvSpPr txBox="1"/>
          <p:nvPr/>
        </p:nvSpPr>
        <p:spPr>
          <a:xfrm>
            <a:off x="4594860" y="4005072"/>
            <a:ext cx="868680" cy="274320"/>
          </a:xfrm>
          <a:prstGeom prst="rect">
            <a:avLst/>
          </a:prstGeom>
          <a:noFill/>
          <a:ln/>
        </p:spPr>
        <p:txBody>
          <a:bodyPr wrap="square" lIns="0" tIns="0" rIns="0" bIns="0" rtlCol="0" anchor="ctr"/>
          <a:lstStyle/>
          <a:p>
            <a:pPr indent="0" marL="0">
              <a:buNone/>
            </a:pPr>
            <a:r>
              <a:rPr lang="en-US" sz="900" dirty="0">
                <a:solidFill>
                  <a:srgbClr val="1F2D3D"/>
                </a:solidFill>
                <a:latin typeface="Calibri" pitchFamily="34" charset="0"/>
                <a:ea typeface="Calibri" pitchFamily="34" charset="-122"/>
                <a:cs typeface="Calibri" pitchFamily="34" charset="-120"/>
              </a:rPr>
              <a:t>Evaluates</a:t>
            </a:r>
            <a:endParaRPr lang="en-US" sz="900" dirty="0"/>
          </a:p>
        </p:txBody>
      </p:sp>
      <p:sp>
        <p:nvSpPr>
          <p:cNvPr id="115" name="Shape 98"/>
          <p:cNvSpPr/>
          <p:nvPr/>
        </p:nvSpPr>
        <p:spPr>
          <a:xfrm>
            <a:off x="7319772" y="3639312"/>
            <a:ext cx="0" cy="1005840"/>
          </a:xfrm>
          <a:prstGeom prst="line">
            <a:avLst/>
          </a:prstGeom>
          <a:noFill/>
          <a:ln w="15875">
            <a:solidFill>
              <a:srgbClr val="1E8A5A"/>
            </a:solidFill>
            <a:prstDash val="dash"/>
            <a:tailEnd type="triangle"/>
          </a:ln>
        </p:spPr>
      </p:sp>
      <p:sp>
        <p:nvSpPr>
          <p:cNvPr id="116" name="Text 99"/>
          <p:cNvSpPr txBox="1"/>
          <p:nvPr/>
        </p:nvSpPr>
        <p:spPr>
          <a:xfrm>
            <a:off x="7411212" y="4005072"/>
            <a:ext cx="868680" cy="274320"/>
          </a:xfrm>
          <a:prstGeom prst="rect">
            <a:avLst/>
          </a:prstGeom>
          <a:noFill/>
          <a:ln/>
        </p:spPr>
        <p:txBody>
          <a:bodyPr wrap="square" lIns="0" tIns="0" rIns="0" bIns="0" rtlCol="0" anchor="ctr"/>
          <a:lstStyle/>
          <a:p>
            <a:pPr indent="0" marL="0">
              <a:buNone/>
            </a:pPr>
            <a:r>
              <a:rPr lang="en-US" sz="900" dirty="0">
                <a:solidFill>
                  <a:srgbClr val="1F2D3D"/>
                </a:solidFill>
                <a:latin typeface="Calibri" pitchFamily="34" charset="0"/>
                <a:ea typeface="Calibri" pitchFamily="34" charset="-122"/>
                <a:cs typeface="Calibri" pitchFamily="34" charset="-120"/>
              </a:rPr>
              <a:t>Checks</a:t>
            </a:r>
            <a:endParaRPr lang="en-US" sz="900" dirty="0"/>
          </a:p>
        </p:txBody>
      </p:sp>
      <p:sp>
        <p:nvSpPr>
          <p:cNvPr id="117" name="Shape 100"/>
          <p:cNvSpPr/>
          <p:nvPr/>
        </p:nvSpPr>
        <p:spPr>
          <a:xfrm>
            <a:off x="9326880" y="3639312"/>
            <a:ext cx="0" cy="1005840"/>
          </a:xfrm>
          <a:prstGeom prst="line">
            <a:avLst/>
          </a:prstGeom>
          <a:noFill/>
          <a:ln w="19050">
            <a:solidFill>
              <a:srgbClr val="5B4FA8"/>
            </a:solidFill>
            <a:prstDash val="solid"/>
            <a:tailEnd type="triangle"/>
          </a:ln>
        </p:spPr>
      </p:sp>
      <p:sp>
        <p:nvSpPr>
          <p:cNvPr id="118" name="Shape 101"/>
          <p:cNvSpPr/>
          <p:nvPr/>
        </p:nvSpPr>
        <p:spPr>
          <a:xfrm>
            <a:off x="9418320" y="3840480"/>
            <a:ext cx="219456" cy="219456"/>
          </a:xfrm>
          <a:prstGeom prst="ellipse">
            <a:avLst/>
          </a:prstGeom>
          <a:solidFill>
            <a:srgbClr val="5B4FA8"/>
          </a:solidFill>
          <a:ln w="12700">
            <a:solidFill>
              <a:srgbClr val="5B4FA8"/>
            </a:solidFill>
            <a:prstDash val="solid"/>
          </a:ln>
        </p:spPr>
      </p:sp>
      <p:sp>
        <p:nvSpPr>
          <p:cNvPr id="119" name="Text 102"/>
          <p:cNvSpPr txBox="1"/>
          <p:nvPr/>
        </p:nvSpPr>
        <p:spPr>
          <a:xfrm>
            <a:off x="9418320" y="384048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120" name="Text 103"/>
          <p:cNvSpPr txBox="1"/>
          <p:nvPr/>
        </p:nvSpPr>
        <p:spPr>
          <a:xfrm>
            <a:off x="9418320" y="4087368"/>
            <a:ext cx="685800" cy="457200"/>
          </a:xfrm>
          <a:prstGeom prst="rect">
            <a:avLst/>
          </a:prstGeom>
          <a:noFill/>
          <a:ln/>
        </p:spPr>
        <p:txBody>
          <a:bodyPr wrap="square" lIns="0" tIns="0" rIns="0" bIns="0" rtlCol="0" anchor="t"/>
          <a:lstStyle/>
          <a:p>
            <a:pPr indent="0" marL="0">
              <a:buNone/>
            </a:pPr>
            <a:r>
              <a:rPr lang="en-US" sz="900" dirty="0">
                <a:solidFill>
                  <a:srgbClr val="1F2D3D"/>
                </a:solidFill>
                <a:latin typeface="Calibri" pitchFamily="34" charset="0"/>
                <a:ea typeface="Calibri" pitchFamily="34" charset="-122"/>
                <a:cs typeface="Calibri" pitchFamily="34" charset="-120"/>
              </a:rPr>
              <a:t>Fetch data</a:t>
            </a:r>
            <a:endParaRPr lang="en-US" sz="900" dirty="0"/>
          </a:p>
        </p:txBody>
      </p:sp>
      <p:sp>
        <p:nvSpPr>
          <p:cNvPr id="121" name="Shape 104"/>
          <p:cNvSpPr/>
          <p:nvPr/>
        </p:nvSpPr>
        <p:spPr>
          <a:xfrm>
            <a:off x="10469880" y="3639312"/>
            <a:ext cx="0" cy="1005840"/>
          </a:xfrm>
          <a:prstGeom prst="line">
            <a:avLst/>
          </a:prstGeom>
          <a:noFill/>
          <a:ln w="19050">
            <a:solidFill>
              <a:srgbClr val="C0392B"/>
            </a:solidFill>
            <a:prstDash val="solid"/>
            <a:tailEnd type="triangle"/>
          </a:ln>
        </p:spPr>
      </p:sp>
      <p:sp>
        <p:nvSpPr>
          <p:cNvPr id="122" name="Shape 105"/>
          <p:cNvSpPr/>
          <p:nvPr/>
        </p:nvSpPr>
        <p:spPr>
          <a:xfrm>
            <a:off x="10561320" y="3840480"/>
            <a:ext cx="219456" cy="219456"/>
          </a:xfrm>
          <a:prstGeom prst="ellipse">
            <a:avLst/>
          </a:prstGeom>
          <a:solidFill>
            <a:srgbClr val="C0392B"/>
          </a:solidFill>
          <a:ln w="12700">
            <a:solidFill>
              <a:srgbClr val="C0392B"/>
            </a:solidFill>
            <a:prstDash val="solid"/>
          </a:ln>
        </p:spPr>
      </p:sp>
      <p:sp>
        <p:nvSpPr>
          <p:cNvPr id="123" name="Text 106"/>
          <p:cNvSpPr txBox="1"/>
          <p:nvPr/>
        </p:nvSpPr>
        <p:spPr>
          <a:xfrm>
            <a:off x="10561320" y="384048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8</a:t>
            </a:r>
            <a:endParaRPr lang="en-US" sz="900" dirty="0"/>
          </a:p>
        </p:txBody>
      </p:sp>
      <p:sp>
        <p:nvSpPr>
          <p:cNvPr id="124" name="Text 107"/>
          <p:cNvSpPr txBox="1"/>
          <p:nvPr/>
        </p:nvSpPr>
        <p:spPr>
          <a:xfrm>
            <a:off x="10561320" y="4087368"/>
            <a:ext cx="713232" cy="502920"/>
          </a:xfrm>
          <a:prstGeom prst="rect">
            <a:avLst/>
          </a:prstGeom>
          <a:noFill/>
          <a:ln/>
        </p:spPr>
        <p:txBody>
          <a:bodyPr wrap="square" lIns="0" tIns="0" rIns="0" bIns="0" rtlCol="0" anchor="t"/>
          <a:lstStyle/>
          <a:p>
            <a:pPr indent="0" marL="0">
              <a:buNone/>
            </a:pPr>
            <a:r>
              <a:rPr lang="en-US" sz="900" dirty="0">
                <a:solidFill>
                  <a:srgbClr val="1F2D3D"/>
                </a:solidFill>
                <a:latin typeface="Calibri" pitchFamily="34" charset="0"/>
                <a:ea typeface="Calibri" pitchFamily="34" charset="-122"/>
                <a:cs typeface="Calibri" pitchFamily="34" charset="-120"/>
              </a:rPr>
              <a:t>Raise approved instruction</a:t>
            </a:r>
            <a:endParaRPr lang="en-US" sz="900" dirty="0"/>
          </a:p>
        </p:txBody>
      </p:sp>
      <p:sp>
        <p:nvSpPr>
          <p:cNvPr id="125" name="Shape 108"/>
          <p:cNvSpPr/>
          <p:nvPr/>
        </p:nvSpPr>
        <p:spPr>
          <a:xfrm>
            <a:off x="12934188" y="3639312"/>
            <a:ext cx="0" cy="1005840"/>
          </a:xfrm>
          <a:prstGeom prst="line">
            <a:avLst/>
          </a:prstGeom>
          <a:noFill/>
          <a:ln w="19050">
            <a:solidFill>
              <a:srgbClr val="1F6FB5"/>
            </a:solidFill>
            <a:prstDash val="solid"/>
            <a:headEnd type="triangle"/>
          </a:ln>
        </p:spPr>
      </p:sp>
      <p:sp>
        <p:nvSpPr>
          <p:cNvPr id="126" name="Shape 109"/>
          <p:cNvSpPr/>
          <p:nvPr/>
        </p:nvSpPr>
        <p:spPr>
          <a:xfrm>
            <a:off x="13043916" y="3840480"/>
            <a:ext cx="219456" cy="219456"/>
          </a:xfrm>
          <a:prstGeom prst="ellipse">
            <a:avLst/>
          </a:prstGeom>
          <a:solidFill>
            <a:srgbClr val="1F6FB5"/>
          </a:solidFill>
          <a:ln w="12700">
            <a:solidFill>
              <a:srgbClr val="1F6FB5"/>
            </a:solidFill>
            <a:prstDash val="solid"/>
          </a:ln>
        </p:spPr>
      </p:sp>
      <p:sp>
        <p:nvSpPr>
          <p:cNvPr id="127" name="Text 110"/>
          <p:cNvSpPr txBox="1"/>
          <p:nvPr/>
        </p:nvSpPr>
        <p:spPr>
          <a:xfrm>
            <a:off x="13043916" y="384048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128" name="Text 111"/>
          <p:cNvSpPr txBox="1"/>
          <p:nvPr/>
        </p:nvSpPr>
        <p:spPr>
          <a:xfrm>
            <a:off x="13318236" y="3767328"/>
            <a:ext cx="822960" cy="685800"/>
          </a:xfrm>
          <a:prstGeom prst="rect">
            <a:avLst/>
          </a:prstGeom>
          <a:noFill/>
          <a:ln/>
        </p:spPr>
        <p:txBody>
          <a:bodyPr wrap="square" lIns="0" tIns="0" rIns="0" bIns="0" rtlCol="0" anchor="t"/>
          <a:lstStyle/>
          <a:p>
            <a:pPr indent="0" marL="0">
              <a:buNone/>
            </a:pPr>
            <a:r>
              <a:rPr lang="en-US" sz="900" dirty="0">
                <a:solidFill>
                  <a:srgbClr val="1F2D3D"/>
                </a:solidFill>
                <a:latin typeface="Calibri" pitchFamily="34" charset="0"/>
                <a:ea typeface="Calibri" pitchFamily="34" charset="-122"/>
                <a:cs typeface="Calibri" pitchFamily="34" charset="-120"/>
              </a:rPr>
              <a:t>Review, ask, approve</a:t>
            </a:r>
            <a:endParaRPr lang="en-US" sz="900" dirty="0"/>
          </a:p>
        </p:txBody>
      </p:sp>
      <p:sp>
        <p:nvSpPr>
          <p:cNvPr id="129" name="Shape 112"/>
          <p:cNvSpPr/>
          <p:nvPr/>
        </p:nvSpPr>
        <p:spPr>
          <a:xfrm>
            <a:off x="512064" y="6473952"/>
            <a:ext cx="5166360" cy="1234440"/>
          </a:xfrm>
          <a:prstGeom prst="roundRect">
            <a:avLst>
              <a:gd name="adj" fmla="val 4444"/>
            </a:avLst>
          </a:prstGeom>
          <a:solidFill>
            <a:srgbClr val="F1F4F8"/>
          </a:solidFill>
          <a:ln w="12700">
            <a:solidFill>
              <a:srgbClr val="6B7C93"/>
            </a:solidFill>
            <a:prstDash val="dash"/>
          </a:ln>
        </p:spPr>
      </p:sp>
      <p:sp>
        <p:nvSpPr>
          <p:cNvPr id="130" name="Text 113"/>
          <p:cNvSpPr txBox="1"/>
          <p:nvPr/>
        </p:nvSpPr>
        <p:spPr>
          <a:xfrm>
            <a:off x="630936" y="6547104"/>
            <a:ext cx="4892040" cy="182880"/>
          </a:xfrm>
          <a:prstGeom prst="rect">
            <a:avLst/>
          </a:prstGeom>
          <a:noFill/>
          <a:ln/>
        </p:spPr>
        <p:txBody>
          <a:bodyPr wrap="square" lIns="0" tIns="0" rIns="0" bIns="0" rtlCol="0" anchor="ctr"/>
          <a:lstStyle/>
          <a:p>
            <a:pPr indent="0" marL="0">
              <a:buNone/>
            </a:pPr>
            <a:r>
              <a:rPr lang="en-US" sz="900" b="1" spc="100" kern="0" dirty="0">
                <a:solidFill>
                  <a:srgbClr val="5A6B82"/>
                </a:solidFill>
                <a:latin typeface="Calibri" pitchFamily="34" charset="0"/>
                <a:ea typeface="Calibri" pitchFamily="34" charset="-122"/>
                <a:cs typeface="Calibri" pitchFamily="34" charset="-120"/>
              </a:rPr>
              <a:t>APPLICATION AUDIT (EXISTING)</a:t>
            </a:r>
            <a:endParaRPr lang="en-US" sz="900" dirty="0"/>
          </a:p>
        </p:txBody>
      </p:sp>
      <p:sp>
        <p:nvSpPr>
          <p:cNvPr id="131" name="Shape 114"/>
          <p:cNvSpPr/>
          <p:nvPr/>
        </p:nvSpPr>
        <p:spPr>
          <a:xfrm>
            <a:off x="630936" y="6812280"/>
            <a:ext cx="1783080" cy="795528"/>
          </a:xfrm>
          <a:prstGeom prst="roundRect">
            <a:avLst>
              <a:gd name="adj" fmla="val 9195"/>
            </a:avLst>
          </a:prstGeom>
          <a:solidFill>
            <a:srgbClr val="FFFFFF"/>
          </a:solidFill>
          <a:ln w="9525">
            <a:solidFill>
              <a:srgbClr val="C8D8EC"/>
            </a:solidFill>
            <a:prstDash val="solid"/>
          </a:ln>
        </p:spPr>
      </p:sp>
      <p:sp>
        <p:nvSpPr>
          <p:cNvPr id="132" name="Shape 115"/>
          <p:cNvSpPr/>
          <p:nvPr/>
        </p:nvSpPr>
        <p:spPr>
          <a:xfrm>
            <a:off x="740664" y="6949440"/>
            <a:ext cx="457200" cy="457200"/>
          </a:xfrm>
          <a:prstGeom prst="roundRect">
            <a:avLst>
              <a:gd name="adj" fmla="val 20000"/>
            </a:avLst>
          </a:prstGeom>
          <a:solidFill>
            <a:srgbClr val="5A6B82"/>
          </a:solidFill>
          <a:ln w="12700">
            <a:solidFill>
              <a:srgbClr val="5A6B82"/>
            </a:solidFill>
            <a:prstDash val="solid"/>
          </a:ln>
        </p:spPr>
      </p:sp>
      <p:pic>
        <p:nvPicPr>
          <p:cNvPr id="133" name="Image 15" descr="preencoded.png">    </p:cNvPr>
          <p:cNvPicPr>
            <a:picLocks noChangeAspect="1"/>
          </p:cNvPicPr>
          <p:nvPr/>
        </p:nvPicPr>
        <p:blipFill>
          <a:blip r:embed="rId16"/>
          <a:stretch>
            <a:fillRect/>
          </a:stretch>
        </p:blipFill>
        <p:spPr>
          <a:xfrm>
            <a:off x="841248" y="7050024"/>
            <a:ext cx="256032" cy="256032"/>
          </a:xfrm>
          <a:prstGeom prst="rect">
            <a:avLst/>
          </a:prstGeom>
        </p:spPr>
      </p:pic>
      <p:sp>
        <p:nvSpPr>
          <p:cNvPr id="134" name="Text 116"/>
          <p:cNvSpPr txBox="1"/>
          <p:nvPr/>
        </p:nvSpPr>
        <p:spPr>
          <a:xfrm>
            <a:off x="1271016" y="6903720"/>
            <a:ext cx="1097280" cy="256032"/>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App Audit</a:t>
            </a:r>
            <a:endParaRPr lang="en-US" sz="1100" dirty="0"/>
          </a:p>
        </p:txBody>
      </p:sp>
      <p:sp>
        <p:nvSpPr>
          <p:cNvPr id="135" name="Text 117"/>
          <p:cNvSpPr txBox="1"/>
          <p:nvPr/>
        </p:nvSpPr>
        <p:spPr>
          <a:xfrm>
            <a:off x="1271016" y="7159752"/>
            <a:ext cx="1115568" cy="384048"/>
          </a:xfrm>
          <a:prstGeom prst="rect">
            <a:avLst/>
          </a:prstGeom>
          <a:noFill/>
          <a:ln/>
        </p:spPr>
        <p:txBody>
          <a:bodyPr wrap="square" lIns="0" tIns="0" rIns="0" bIns="0" rtlCol="0" anchor="t"/>
          <a:lstStyle/>
          <a:p>
            <a:pPr indent="0" marL="0">
              <a:buNone/>
            </a:pPr>
            <a:r>
              <a:rPr lang="en-US" sz="850" dirty="0">
                <a:solidFill>
                  <a:srgbClr val="4A5A6E"/>
                </a:solidFill>
                <a:latin typeface="Calibri" pitchFamily="34" charset="0"/>
                <a:ea typeface="Calibri" pitchFamily="34" charset="-122"/>
                <a:cs typeface="Calibri" pitchFamily="34" charset="-120"/>
              </a:rPr>
              <a:t>Exception Hub and One Fin UX</a:t>
            </a:r>
            <a:endParaRPr lang="en-US" sz="850" dirty="0"/>
          </a:p>
        </p:txBody>
      </p:sp>
      <p:sp>
        <p:nvSpPr>
          <p:cNvPr id="136" name="Shape 118"/>
          <p:cNvSpPr/>
          <p:nvPr/>
        </p:nvSpPr>
        <p:spPr>
          <a:xfrm>
            <a:off x="2551176" y="6812280"/>
            <a:ext cx="3008376" cy="338328"/>
          </a:xfrm>
          <a:prstGeom prst="roundRect">
            <a:avLst>
              <a:gd name="adj" fmla="val 40541"/>
            </a:avLst>
          </a:prstGeom>
          <a:solidFill>
            <a:srgbClr val="FFFFFF"/>
          </a:solidFill>
          <a:ln w="9525">
            <a:solidFill>
              <a:srgbClr val="C8D8EC"/>
            </a:solidFill>
            <a:prstDash val="solid"/>
          </a:ln>
        </p:spPr>
      </p:sp>
      <p:pic>
        <p:nvPicPr>
          <p:cNvPr id="137" name="Image 16" descr="preencoded.png">    </p:cNvPr>
          <p:cNvPicPr>
            <a:picLocks noChangeAspect="1"/>
          </p:cNvPicPr>
          <p:nvPr/>
        </p:nvPicPr>
        <p:blipFill>
          <a:blip r:embed="rId17"/>
          <a:stretch>
            <a:fillRect/>
          </a:stretch>
        </p:blipFill>
        <p:spPr>
          <a:xfrm>
            <a:off x="2679192" y="6908292"/>
            <a:ext cx="146304" cy="146304"/>
          </a:xfrm>
          <a:prstGeom prst="rect">
            <a:avLst/>
          </a:prstGeom>
        </p:spPr>
      </p:pic>
      <p:sp>
        <p:nvSpPr>
          <p:cNvPr id="138" name="Text 119"/>
          <p:cNvSpPr txBox="1"/>
          <p:nvPr/>
        </p:nvSpPr>
        <p:spPr>
          <a:xfrm>
            <a:off x="2916936" y="6812280"/>
            <a:ext cx="2596896"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Break &amp; event history</a:t>
            </a:r>
            <a:endParaRPr lang="en-US" sz="950" dirty="0"/>
          </a:p>
        </p:txBody>
      </p:sp>
      <p:sp>
        <p:nvSpPr>
          <p:cNvPr id="139" name="Shape 120"/>
          <p:cNvSpPr/>
          <p:nvPr/>
        </p:nvSpPr>
        <p:spPr>
          <a:xfrm>
            <a:off x="2551176" y="7242048"/>
            <a:ext cx="3008376" cy="338328"/>
          </a:xfrm>
          <a:prstGeom prst="roundRect">
            <a:avLst>
              <a:gd name="adj" fmla="val 40541"/>
            </a:avLst>
          </a:prstGeom>
          <a:solidFill>
            <a:srgbClr val="FFFFFF"/>
          </a:solidFill>
          <a:ln w="9525">
            <a:solidFill>
              <a:srgbClr val="C8D8EC"/>
            </a:solidFill>
            <a:prstDash val="solid"/>
          </a:ln>
        </p:spPr>
      </p:sp>
      <p:pic>
        <p:nvPicPr>
          <p:cNvPr id="140" name="Image 17" descr="preencoded.png">    </p:cNvPr>
          <p:cNvPicPr>
            <a:picLocks noChangeAspect="1"/>
          </p:cNvPicPr>
          <p:nvPr/>
        </p:nvPicPr>
        <p:blipFill>
          <a:blip r:embed="rId18"/>
          <a:stretch>
            <a:fillRect/>
          </a:stretch>
        </p:blipFill>
        <p:spPr>
          <a:xfrm>
            <a:off x="2679192" y="7338060"/>
            <a:ext cx="146304" cy="146304"/>
          </a:xfrm>
          <a:prstGeom prst="rect">
            <a:avLst/>
          </a:prstGeom>
        </p:spPr>
      </p:pic>
      <p:sp>
        <p:nvSpPr>
          <p:cNvPr id="141" name="Text 121"/>
          <p:cNvSpPr txBox="1"/>
          <p:nvPr/>
        </p:nvSpPr>
        <p:spPr>
          <a:xfrm>
            <a:off x="2916936" y="7242048"/>
            <a:ext cx="2596896"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Exception ageing changes</a:t>
            </a:r>
            <a:endParaRPr lang="en-US" sz="950" dirty="0"/>
          </a:p>
        </p:txBody>
      </p:sp>
      <p:sp>
        <p:nvSpPr>
          <p:cNvPr id="142" name="Shape 122"/>
          <p:cNvSpPr/>
          <p:nvPr/>
        </p:nvSpPr>
        <p:spPr>
          <a:xfrm>
            <a:off x="6117336" y="6473952"/>
            <a:ext cx="5184648" cy="1234440"/>
          </a:xfrm>
          <a:prstGeom prst="roundRect">
            <a:avLst>
              <a:gd name="adj" fmla="val 4444"/>
            </a:avLst>
          </a:prstGeom>
          <a:solidFill>
            <a:srgbClr val="F3F1FB"/>
          </a:solidFill>
          <a:ln w="12700">
            <a:solidFill>
              <a:srgbClr val="5B4FA8"/>
            </a:solidFill>
            <a:prstDash val="dash"/>
          </a:ln>
        </p:spPr>
      </p:sp>
      <p:sp>
        <p:nvSpPr>
          <p:cNvPr id="143" name="Text 123"/>
          <p:cNvSpPr txBox="1"/>
          <p:nvPr/>
        </p:nvSpPr>
        <p:spPr>
          <a:xfrm>
            <a:off x="6236208" y="6547104"/>
            <a:ext cx="4910328" cy="182880"/>
          </a:xfrm>
          <a:prstGeom prst="rect">
            <a:avLst/>
          </a:prstGeom>
          <a:noFill/>
          <a:ln/>
        </p:spPr>
        <p:txBody>
          <a:bodyPr wrap="square" lIns="0" tIns="0" rIns="0" bIns="0" rtlCol="0" anchor="ctr"/>
          <a:lstStyle/>
          <a:p>
            <a:pPr indent="0" marL="0">
              <a:buNone/>
            </a:pPr>
            <a:r>
              <a:rPr lang="en-US" sz="900" b="1" spc="100" kern="0" dirty="0">
                <a:solidFill>
                  <a:srgbClr val="5B4FA8"/>
                </a:solidFill>
                <a:latin typeface="Calibri" pitchFamily="34" charset="0"/>
                <a:ea typeface="Calibri" pitchFamily="34" charset="-122"/>
                <a:cs typeface="Calibri" pitchFamily="34" charset="-120"/>
              </a:rPr>
              <a:t>AI OBSERVABILITY</a:t>
            </a:r>
            <a:endParaRPr lang="en-US" sz="900" dirty="0"/>
          </a:p>
        </p:txBody>
      </p:sp>
      <p:sp>
        <p:nvSpPr>
          <p:cNvPr id="144" name="Shape 124"/>
          <p:cNvSpPr/>
          <p:nvPr/>
        </p:nvSpPr>
        <p:spPr>
          <a:xfrm>
            <a:off x="6236208" y="6812280"/>
            <a:ext cx="1783080" cy="795528"/>
          </a:xfrm>
          <a:prstGeom prst="roundRect">
            <a:avLst>
              <a:gd name="adj" fmla="val 9195"/>
            </a:avLst>
          </a:prstGeom>
          <a:solidFill>
            <a:srgbClr val="FFFFFF"/>
          </a:solidFill>
          <a:ln w="9525">
            <a:solidFill>
              <a:srgbClr val="C8D8EC"/>
            </a:solidFill>
            <a:prstDash val="solid"/>
          </a:ln>
        </p:spPr>
      </p:sp>
      <p:sp>
        <p:nvSpPr>
          <p:cNvPr id="145" name="Shape 125"/>
          <p:cNvSpPr/>
          <p:nvPr/>
        </p:nvSpPr>
        <p:spPr>
          <a:xfrm>
            <a:off x="6345936" y="6949440"/>
            <a:ext cx="457200" cy="457200"/>
          </a:xfrm>
          <a:prstGeom prst="roundRect">
            <a:avLst>
              <a:gd name="adj" fmla="val 20000"/>
            </a:avLst>
          </a:prstGeom>
          <a:solidFill>
            <a:srgbClr val="0B2E5E"/>
          </a:solidFill>
          <a:ln w="12700">
            <a:solidFill>
              <a:srgbClr val="0B2E5E"/>
            </a:solidFill>
            <a:prstDash val="solid"/>
          </a:ln>
        </p:spPr>
      </p:sp>
      <p:pic>
        <p:nvPicPr>
          <p:cNvPr id="146" name="Image 18" descr="preencoded.png">    </p:cNvPr>
          <p:cNvPicPr>
            <a:picLocks noChangeAspect="1"/>
          </p:cNvPicPr>
          <p:nvPr/>
        </p:nvPicPr>
        <p:blipFill>
          <a:blip r:embed="rId19"/>
          <a:stretch>
            <a:fillRect/>
          </a:stretch>
        </p:blipFill>
        <p:spPr>
          <a:xfrm>
            <a:off x="6446520" y="7050024"/>
            <a:ext cx="256032" cy="256032"/>
          </a:xfrm>
          <a:prstGeom prst="rect">
            <a:avLst/>
          </a:prstGeom>
        </p:spPr>
      </p:pic>
      <p:sp>
        <p:nvSpPr>
          <p:cNvPr id="147" name="Text 126"/>
          <p:cNvSpPr txBox="1"/>
          <p:nvPr/>
        </p:nvSpPr>
        <p:spPr>
          <a:xfrm>
            <a:off x="6876288" y="6903720"/>
            <a:ext cx="1097280" cy="256032"/>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Phoenix Eyes</a:t>
            </a:r>
            <a:endParaRPr lang="en-US" sz="1100" dirty="0"/>
          </a:p>
        </p:txBody>
      </p:sp>
      <p:sp>
        <p:nvSpPr>
          <p:cNvPr id="148" name="Text 127"/>
          <p:cNvSpPr txBox="1"/>
          <p:nvPr/>
        </p:nvSpPr>
        <p:spPr>
          <a:xfrm>
            <a:off x="6876288" y="7159752"/>
            <a:ext cx="1115568" cy="384048"/>
          </a:xfrm>
          <a:prstGeom prst="rect">
            <a:avLst/>
          </a:prstGeom>
          <a:noFill/>
          <a:ln/>
        </p:spPr>
        <p:txBody>
          <a:bodyPr wrap="square" lIns="0" tIns="0" rIns="0" bIns="0" rtlCol="0" anchor="t"/>
          <a:lstStyle/>
          <a:p>
            <a:pPr indent="0" marL="0">
              <a:buNone/>
            </a:pPr>
            <a:r>
              <a:rPr lang="en-US" sz="850" dirty="0">
                <a:solidFill>
                  <a:srgbClr val="4A5A6E"/>
                </a:solidFill>
                <a:latin typeface="Calibri" pitchFamily="34" charset="0"/>
                <a:ea typeface="Calibri" pitchFamily="34" charset="-122"/>
                <a:cs typeface="Calibri" pitchFamily="34" charset="-120"/>
              </a:rPr>
              <a:t>Controls Agent and Agent One sessions</a:t>
            </a:r>
            <a:endParaRPr lang="en-US" sz="850" dirty="0"/>
          </a:p>
        </p:txBody>
      </p:sp>
      <p:sp>
        <p:nvSpPr>
          <p:cNvPr id="149" name="Shape 128"/>
          <p:cNvSpPr/>
          <p:nvPr/>
        </p:nvSpPr>
        <p:spPr>
          <a:xfrm>
            <a:off x="8156448" y="6812280"/>
            <a:ext cx="1458468" cy="338328"/>
          </a:xfrm>
          <a:prstGeom prst="roundRect">
            <a:avLst>
              <a:gd name="adj" fmla="val 40541"/>
            </a:avLst>
          </a:prstGeom>
          <a:solidFill>
            <a:srgbClr val="FFFFFF"/>
          </a:solidFill>
          <a:ln w="9525">
            <a:solidFill>
              <a:srgbClr val="C8D8EC"/>
            </a:solidFill>
            <a:prstDash val="solid"/>
          </a:ln>
        </p:spPr>
      </p:sp>
      <p:pic>
        <p:nvPicPr>
          <p:cNvPr id="150" name="Image 19" descr="preencoded.png">    </p:cNvPr>
          <p:cNvPicPr>
            <a:picLocks noChangeAspect="1"/>
          </p:cNvPicPr>
          <p:nvPr/>
        </p:nvPicPr>
        <p:blipFill>
          <a:blip r:embed="rId20"/>
          <a:stretch>
            <a:fillRect/>
          </a:stretch>
        </p:blipFill>
        <p:spPr>
          <a:xfrm>
            <a:off x="8284464" y="6908292"/>
            <a:ext cx="146304" cy="146304"/>
          </a:xfrm>
          <a:prstGeom prst="rect">
            <a:avLst/>
          </a:prstGeom>
        </p:spPr>
      </p:pic>
      <p:sp>
        <p:nvSpPr>
          <p:cNvPr id="151" name="Text 129"/>
          <p:cNvSpPr txBox="1"/>
          <p:nvPr/>
        </p:nvSpPr>
        <p:spPr>
          <a:xfrm>
            <a:off x="8522208" y="6812280"/>
            <a:ext cx="1046988"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AI session traces</a:t>
            </a:r>
            <a:endParaRPr lang="en-US" sz="950" dirty="0"/>
          </a:p>
        </p:txBody>
      </p:sp>
      <p:sp>
        <p:nvSpPr>
          <p:cNvPr id="152" name="Shape 130"/>
          <p:cNvSpPr/>
          <p:nvPr/>
        </p:nvSpPr>
        <p:spPr>
          <a:xfrm>
            <a:off x="9724644" y="6812280"/>
            <a:ext cx="1458468" cy="338328"/>
          </a:xfrm>
          <a:prstGeom prst="roundRect">
            <a:avLst>
              <a:gd name="adj" fmla="val 40541"/>
            </a:avLst>
          </a:prstGeom>
          <a:solidFill>
            <a:srgbClr val="FFFFFF"/>
          </a:solidFill>
          <a:ln w="9525">
            <a:solidFill>
              <a:srgbClr val="C8D8EC"/>
            </a:solidFill>
            <a:prstDash val="solid"/>
          </a:ln>
        </p:spPr>
      </p:sp>
      <p:pic>
        <p:nvPicPr>
          <p:cNvPr id="153" name="Image 20" descr="preencoded.png">    </p:cNvPr>
          <p:cNvPicPr>
            <a:picLocks noChangeAspect="1"/>
          </p:cNvPicPr>
          <p:nvPr/>
        </p:nvPicPr>
        <p:blipFill>
          <a:blip r:embed="rId21"/>
          <a:stretch>
            <a:fillRect/>
          </a:stretch>
        </p:blipFill>
        <p:spPr>
          <a:xfrm>
            <a:off x="9852660" y="6908292"/>
            <a:ext cx="146304" cy="146304"/>
          </a:xfrm>
          <a:prstGeom prst="rect">
            <a:avLst/>
          </a:prstGeom>
        </p:spPr>
      </p:pic>
      <p:sp>
        <p:nvSpPr>
          <p:cNvPr id="154" name="Text 131"/>
          <p:cNvSpPr txBox="1"/>
          <p:nvPr/>
        </p:nvSpPr>
        <p:spPr>
          <a:xfrm>
            <a:off x="10090404" y="6812280"/>
            <a:ext cx="1046988"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Prompts &amp; sources</a:t>
            </a:r>
            <a:endParaRPr lang="en-US" sz="950" dirty="0"/>
          </a:p>
        </p:txBody>
      </p:sp>
      <p:sp>
        <p:nvSpPr>
          <p:cNvPr id="155" name="Shape 132"/>
          <p:cNvSpPr/>
          <p:nvPr/>
        </p:nvSpPr>
        <p:spPr>
          <a:xfrm>
            <a:off x="8156448" y="7242048"/>
            <a:ext cx="1458468" cy="338328"/>
          </a:xfrm>
          <a:prstGeom prst="roundRect">
            <a:avLst>
              <a:gd name="adj" fmla="val 40541"/>
            </a:avLst>
          </a:prstGeom>
          <a:solidFill>
            <a:srgbClr val="FFFFFF"/>
          </a:solidFill>
          <a:ln w="9525">
            <a:solidFill>
              <a:srgbClr val="C8D8EC"/>
            </a:solidFill>
            <a:prstDash val="solid"/>
          </a:ln>
        </p:spPr>
      </p:sp>
      <p:pic>
        <p:nvPicPr>
          <p:cNvPr id="156" name="Image 21" descr="preencoded.png">    </p:cNvPr>
          <p:cNvPicPr>
            <a:picLocks noChangeAspect="1"/>
          </p:cNvPicPr>
          <p:nvPr/>
        </p:nvPicPr>
        <p:blipFill>
          <a:blip r:embed="rId22"/>
          <a:stretch>
            <a:fillRect/>
          </a:stretch>
        </p:blipFill>
        <p:spPr>
          <a:xfrm>
            <a:off x="8284464" y="7338060"/>
            <a:ext cx="146304" cy="146304"/>
          </a:xfrm>
          <a:prstGeom prst="rect">
            <a:avLst/>
          </a:prstGeom>
        </p:spPr>
      </p:pic>
      <p:sp>
        <p:nvSpPr>
          <p:cNvPr id="157" name="Text 133"/>
          <p:cNvSpPr txBox="1"/>
          <p:nvPr/>
        </p:nvSpPr>
        <p:spPr>
          <a:xfrm>
            <a:off x="8522208" y="7242048"/>
            <a:ext cx="1046988"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Skill gap analysis</a:t>
            </a:r>
            <a:endParaRPr lang="en-US" sz="950" dirty="0"/>
          </a:p>
        </p:txBody>
      </p:sp>
      <p:sp>
        <p:nvSpPr>
          <p:cNvPr id="158" name="Shape 134"/>
          <p:cNvSpPr/>
          <p:nvPr/>
        </p:nvSpPr>
        <p:spPr>
          <a:xfrm>
            <a:off x="9724644" y="7242048"/>
            <a:ext cx="1458468" cy="338328"/>
          </a:xfrm>
          <a:prstGeom prst="roundRect">
            <a:avLst>
              <a:gd name="adj" fmla="val 40541"/>
            </a:avLst>
          </a:prstGeom>
          <a:solidFill>
            <a:srgbClr val="FFFFFF"/>
          </a:solidFill>
          <a:ln w="9525">
            <a:solidFill>
              <a:srgbClr val="C8D8EC"/>
            </a:solidFill>
            <a:prstDash val="solid"/>
          </a:ln>
        </p:spPr>
      </p:sp>
      <p:pic>
        <p:nvPicPr>
          <p:cNvPr id="159" name="Image 22" descr="preencoded.png">    </p:cNvPr>
          <p:cNvPicPr>
            <a:picLocks noChangeAspect="1"/>
          </p:cNvPicPr>
          <p:nvPr/>
        </p:nvPicPr>
        <p:blipFill>
          <a:blip r:embed="rId23"/>
          <a:stretch>
            <a:fillRect/>
          </a:stretch>
        </p:blipFill>
        <p:spPr>
          <a:xfrm>
            <a:off x="9852660" y="7338060"/>
            <a:ext cx="146304" cy="146304"/>
          </a:xfrm>
          <a:prstGeom prst="rect">
            <a:avLst/>
          </a:prstGeom>
        </p:spPr>
      </p:pic>
      <p:sp>
        <p:nvSpPr>
          <p:cNvPr id="160" name="Text 135"/>
          <p:cNvSpPr txBox="1"/>
          <p:nvPr/>
        </p:nvSpPr>
        <p:spPr>
          <a:xfrm>
            <a:off x="10090404" y="7242048"/>
            <a:ext cx="1046988"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LLM perf &amp; health</a:t>
            </a:r>
            <a:endParaRPr lang="en-US" sz="950" dirty="0"/>
          </a:p>
        </p:txBody>
      </p:sp>
      <p:sp>
        <p:nvSpPr>
          <p:cNvPr id="161" name="Shape 136"/>
          <p:cNvSpPr/>
          <p:nvPr/>
        </p:nvSpPr>
        <p:spPr>
          <a:xfrm>
            <a:off x="11731752" y="6473952"/>
            <a:ext cx="2386584" cy="1234440"/>
          </a:xfrm>
          <a:prstGeom prst="roundRect">
            <a:avLst>
              <a:gd name="adj" fmla="val 4444"/>
            </a:avLst>
          </a:prstGeom>
          <a:solidFill>
            <a:srgbClr val="F1F4F8"/>
          </a:solidFill>
          <a:ln w="12700">
            <a:solidFill>
              <a:srgbClr val="6B7C93"/>
            </a:solidFill>
            <a:prstDash val="dash"/>
          </a:ln>
        </p:spPr>
      </p:sp>
      <p:sp>
        <p:nvSpPr>
          <p:cNvPr id="162" name="Text 137"/>
          <p:cNvSpPr txBox="1"/>
          <p:nvPr/>
        </p:nvSpPr>
        <p:spPr>
          <a:xfrm>
            <a:off x="11850624" y="6547104"/>
            <a:ext cx="2112264" cy="182880"/>
          </a:xfrm>
          <a:prstGeom prst="rect">
            <a:avLst/>
          </a:prstGeom>
          <a:noFill/>
          <a:ln/>
        </p:spPr>
        <p:txBody>
          <a:bodyPr wrap="square" lIns="0" tIns="0" rIns="0" bIns="0" rtlCol="0" anchor="ctr"/>
          <a:lstStyle/>
          <a:p>
            <a:pPr indent="0" marL="0">
              <a:buNone/>
            </a:pPr>
            <a:r>
              <a:rPr lang="en-US" sz="900" b="1" spc="100" kern="0" dirty="0">
                <a:solidFill>
                  <a:srgbClr val="5A6B82"/>
                </a:solidFill>
                <a:latin typeface="Calibri" pitchFamily="34" charset="0"/>
                <a:ea typeface="Calibri" pitchFamily="34" charset="-122"/>
                <a:cs typeface="Calibri" pitchFamily="34" charset="-120"/>
              </a:rPr>
              <a:t>APPLICATION AUDIT (EXISTING)</a:t>
            </a:r>
            <a:endParaRPr lang="en-US" sz="900" dirty="0"/>
          </a:p>
        </p:txBody>
      </p:sp>
      <p:sp>
        <p:nvSpPr>
          <p:cNvPr id="163" name="Shape 138"/>
          <p:cNvSpPr/>
          <p:nvPr/>
        </p:nvSpPr>
        <p:spPr>
          <a:xfrm>
            <a:off x="11850624" y="6812280"/>
            <a:ext cx="2148840" cy="338328"/>
          </a:xfrm>
          <a:prstGeom prst="roundRect">
            <a:avLst>
              <a:gd name="adj" fmla="val 40541"/>
            </a:avLst>
          </a:prstGeom>
          <a:solidFill>
            <a:srgbClr val="FFFFFF"/>
          </a:solidFill>
          <a:ln w="9525">
            <a:solidFill>
              <a:srgbClr val="C8D8EC"/>
            </a:solidFill>
            <a:prstDash val="solid"/>
          </a:ln>
        </p:spPr>
      </p:sp>
      <p:pic>
        <p:nvPicPr>
          <p:cNvPr id="164" name="Image 23" descr="preencoded.png">    </p:cNvPr>
          <p:cNvPicPr>
            <a:picLocks noChangeAspect="1"/>
          </p:cNvPicPr>
          <p:nvPr/>
        </p:nvPicPr>
        <p:blipFill>
          <a:blip r:embed="rId24"/>
          <a:stretch>
            <a:fillRect/>
          </a:stretch>
        </p:blipFill>
        <p:spPr>
          <a:xfrm>
            <a:off x="11978640" y="6908292"/>
            <a:ext cx="146304" cy="146304"/>
          </a:xfrm>
          <a:prstGeom prst="rect">
            <a:avLst/>
          </a:prstGeom>
        </p:spPr>
      </p:pic>
      <p:sp>
        <p:nvSpPr>
          <p:cNvPr id="165" name="Text 139"/>
          <p:cNvSpPr txBox="1"/>
          <p:nvPr/>
        </p:nvSpPr>
        <p:spPr>
          <a:xfrm>
            <a:off x="12216384" y="6812280"/>
            <a:ext cx="1737360"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User actions &amp; approvals</a:t>
            </a:r>
            <a:endParaRPr lang="en-US" sz="950" dirty="0"/>
          </a:p>
        </p:txBody>
      </p:sp>
      <p:sp>
        <p:nvSpPr>
          <p:cNvPr id="166" name="Shape 140"/>
          <p:cNvSpPr/>
          <p:nvPr/>
        </p:nvSpPr>
        <p:spPr>
          <a:xfrm>
            <a:off x="11850624" y="7242048"/>
            <a:ext cx="2148840" cy="338328"/>
          </a:xfrm>
          <a:prstGeom prst="roundRect">
            <a:avLst>
              <a:gd name="adj" fmla="val 40541"/>
            </a:avLst>
          </a:prstGeom>
          <a:solidFill>
            <a:srgbClr val="FFFFFF"/>
          </a:solidFill>
          <a:ln w="9525">
            <a:solidFill>
              <a:srgbClr val="C8D8EC"/>
            </a:solidFill>
            <a:prstDash val="solid"/>
          </a:ln>
        </p:spPr>
      </p:sp>
      <p:pic>
        <p:nvPicPr>
          <p:cNvPr id="167" name="Image 24" descr="preencoded.png">    </p:cNvPr>
          <p:cNvPicPr>
            <a:picLocks noChangeAspect="1"/>
          </p:cNvPicPr>
          <p:nvPr/>
        </p:nvPicPr>
        <p:blipFill>
          <a:blip r:embed="rId25"/>
          <a:stretch>
            <a:fillRect/>
          </a:stretch>
        </p:blipFill>
        <p:spPr>
          <a:xfrm>
            <a:off x="11978640" y="7338060"/>
            <a:ext cx="146304" cy="146304"/>
          </a:xfrm>
          <a:prstGeom prst="rect">
            <a:avLst/>
          </a:prstGeom>
        </p:spPr>
      </p:pic>
      <p:sp>
        <p:nvSpPr>
          <p:cNvPr id="168" name="Text 141"/>
          <p:cNvSpPr txBox="1"/>
          <p:nvPr/>
        </p:nvSpPr>
        <p:spPr>
          <a:xfrm>
            <a:off x="12216384" y="7242048"/>
            <a:ext cx="1737360"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Adjustment instructions</a:t>
            </a:r>
            <a:endParaRPr lang="en-US" sz="950" dirty="0"/>
          </a:p>
        </p:txBody>
      </p:sp>
      <p:sp>
        <p:nvSpPr>
          <p:cNvPr id="169" name="Text 142"/>
          <p:cNvSpPr txBox="1"/>
          <p:nvPr/>
        </p:nvSpPr>
        <p:spPr>
          <a:xfrm>
            <a:off x="502920" y="7818120"/>
            <a:ext cx="2743200" cy="228600"/>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Outcomes</a:t>
            </a:r>
            <a:endParaRPr lang="en-US" sz="1100" dirty="0"/>
          </a:p>
        </p:txBody>
      </p:sp>
      <p:sp>
        <p:nvSpPr>
          <p:cNvPr id="170" name="Shape 143"/>
          <p:cNvSpPr/>
          <p:nvPr/>
        </p:nvSpPr>
        <p:spPr>
          <a:xfrm>
            <a:off x="502920" y="8074152"/>
            <a:ext cx="3227832" cy="1005840"/>
          </a:xfrm>
          <a:prstGeom prst="roundRect">
            <a:avLst>
              <a:gd name="adj" fmla="val 7273"/>
            </a:avLst>
          </a:prstGeom>
          <a:solidFill>
            <a:srgbClr val="FFFFFF"/>
          </a:solidFill>
          <a:ln w="9525">
            <a:solidFill>
              <a:srgbClr val="C8D8EC"/>
            </a:solidFill>
            <a:prstDash val="solid"/>
          </a:ln>
        </p:spPr>
      </p:sp>
      <p:sp>
        <p:nvSpPr>
          <p:cNvPr id="171" name="Shape 144"/>
          <p:cNvSpPr/>
          <p:nvPr/>
        </p:nvSpPr>
        <p:spPr>
          <a:xfrm>
            <a:off x="667512" y="8321040"/>
            <a:ext cx="512064" cy="512064"/>
          </a:xfrm>
          <a:prstGeom prst="ellipse">
            <a:avLst/>
          </a:prstGeom>
          <a:solidFill>
            <a:srgbClr val="1E8A5A"/>
          </a:solidFill>
          <a:ln w="12700">
            <a:solidFill>
              <a:srgbClr val="1E8A5A"/>
            </a:solidFill>
            <a:prstDash val="solid"/>
          </a:ln>
        </p:spPr>
      </p:sp>
      <p:pic>
        <p:nvPicPr>
          <p:cNvPr id="172" name="Image 25" descr="preencoded.png">    </p:cNvPr>
          <p:cNvPicPr>
            <a:picLocks noChangeAspect="1"/>
          </p:cNvPicPr>
          <p:nvPr/>
        </p:nvPicPr>
        <p:blipFill>
          <a:blip r:embed="rId26"/>
          <a:stretch>
            <a:fillRect/>
          </a:stretch>
        </p:blipFill>
        <p:spPr>
          <a:xfrm>
            <a:off x="800649" y="8454177"/>
            <a:ext cx="245791" cy="245791"/>
          </a:xfrm>
          <a:prstGeom prst="rect">
            <a:avLst/>
          </a:prstGeom>
        </p:spPr>
      </p:pic>
      <p:sp>
        <p:nvSpPr>
          <p:cNvPr id="173" name="Text 145"/>
          <p:cNvSpPr txBox="1"/>
          <p:nvPr/>
        </p:nvSpPr>
        <p:spPr>
          <a:xfrm>
            <a:off x="1325880"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Triage ready at start of day</a:t>
            </a:r>
            <a:endParaRPr lang="en-US" sz="1200" dirty="0"/>
          </a:p>
        </p:txBody>
      </p:sp>
      <p:sp>
        <p:nvSpPr>
          <p:cNvPr id="174" name="Text 146"/>
          <p:cNvSpPr txBox="1"/>
          <p:nvPr/>
        </p:nvSpPr>
        <p:spPr>
          <a:xfrm>
            <a:off x="1325880"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Breaks classified with root cause, owner and ageing risk</a:t>
            </a:r>
            <a:endParaRPr lang="en-US" sz="950" dirty="0"/>
          </a:p>
        </p:txBody>
      </p:sp>
      <p:sp>
        <p:nvSpPr>
          <p:cNvPr id="175" name="Shape 147"/>
          <p:cNvSpPr/>
          <p:nvPr/>
        </p:nvSpPr>
        <p:spPr>
          <a:xfrm>
            <a:off x="3941064" y="8074152"/>
            <a:ext cx="3227832" cy="1005840"/>
          </a:xfrm>
          <a:prstGeom prst="roundRect">
            <a:avLst>
              <a:gd name="adj" fmla="val 7273"/>
            </a:avLst>
          </a:prstGeom>
          <a:solidFill>
            <a:srgbClr val="FFFFFF"/>
          </a:solidFill>
          <a:ln w="9525">
            <a:solidFill>
              <a:srgbClr val="C8D8EC"/>
            </a:solidFill>
            <a:prstDash val="solid"/>
          </a:ln>
        </p:spPr>
      </p:sp>
      <p:sp>
        <p:nvSpPr>
          <p:cNvPr id="176" name="Shape 148"/>
          <p:cNvSpPr/>
          <p:nvPr/>
        </p:nvSpPr>
        <p:spPr>
          <a:xfrm>
            <a:off x="4105656" y="8321040"/>
            <a:ext cx="512064" cy="512064"/>
          </a:xfrm>
          <a:prstGeom prst="ellipse">
            <a:avLst/>
          </a:prstGeom>
          <a:solidFill>
            <a:srgbClr val="2A6EBB"/>
          </a:solidFill>
          <a:ln w="12700">
            <a:solidFill>
              <a:srgbClr val="2A6EBB"/>
            </a:solidFill>
            <a:prstDash val="solid"/>
          </a:ln>
        </p:spPr>
      </p:sp>
      <p:pic>
        <p:nvPicPr>
          <p:cNvPr id="177" name="Image 26" descr="preencoded.png">    </p:cNvPr>
          <p:cNvPicPr>
            <a:picLocks noChangeAspect="1"/>
          </p:cNvPicPr>
          <p:nvPr/>
        </p:nvPicPr>
        <p:blipFill>
          <a:blip r:embed="rId27"/>
          <a:stretch>
            <a:fillRect/>
          </a:stretch>
        </p:blipFill>
        <p:spPr>
          <a:xfrm>
            <a:off x="4238793" y="8454177"/>
            <a:ext cx="245791" cy="245791"/>
          </a:xfrm>
          <a:prstGeom prst="rect">
            <a:avLst/>
          </a:prstGeom>
        </p:spPr>
      </p:pic>
      <p:sp>
        <p:nvSpPr>
          <p:cNvPr id="178" name="Text 149"/>
          <p:cNvSpPr txBox="1"/>
          <p:nvPr/>
        </p:nvSpPr>
        <p:spPr>
          <a:xfrm>
            <a:off x="4764024"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Human in the loop</a:t>
            </a:r>
            <a:endParaRPr lang="en-US" sz="1200" dirty="0"/>
          </a:p>
        </p:txBody>
      </p:sp>
      <p:sp>
        <p:nvSpPr>
          <p:cNvPr id="179" name="Text 150"/>
          <p:cNvSpPr txBox="1"/>
          <p:nvPr/>
        </p:nvSpPr>
        <p:spPr>
          <a:xfrm>
            <a:off x="4764024"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Owners approve every fix, closure or instruction</a:t>
            </a:r>
            <a:endParaRPr lang="en-US" sz="950" dirty="0"/>
          </a:p>
        </p:txBody>
      </p:sp>
      <p:sp>
        <p:nvSpPr>
          <p:cNvPr id="180" name="Shape 151"/>
          <p:cNvSpPr/>
          <p:nvPr/>
        </p:nvSpPr>
        <p:spPr>
          <a:xfrm>
            <a:off x="7379208" y="8074152"/>
            <a:ext cx="3227832" cy="1005840"/>
          </a:xfrm>
          <a:prstGeom prst="roundRect">
            <a:avLst>
              <a:gd name="adj" fmla="val 7273"/>
            </a:avLst>
          </a:prstGeom>
          <a:solidFill>
            <a:srgbClr val="FFFFFF"/>
          </a:solidFill>
          <a:ln w="9525">
            <a:solidFill>
              <a:srgbClr val="C8D8EC"/>
            </a:solidFill>
            <a:prstDash val="solid"/>
          </a:ln>
        </p:spPr>
      </p:sp>
      <p:sp>
        <p:nvSpPr>
          <p:cNvPr id="181" name="Shape 152"/>
          <p:cNvSpPr/>
          <p:nvPr/>
        </p:nvSpPr>
        <p:spPr>
          <a:xfrm>
            <a:off x="7543800" y="8321040"/>
            <a:ext cx="512064" cy="512064"/>
          </a:xfrm>
          <a:prstGeom prst="ellipse">
            <a:avLst/>
          </a:prstGeom>
          <a:solidFill>
            <a:srgbClr val="5B4FA8"/>
          </a:solidFill>
          <a:ln w="12700">
            <a:solidFill>
              <a:srgbClr val="5B4FA8"/>
            </a:solidFill>
            <a:prstDash val="solid"/>
          </a:ln>
        </p:spPr>
      </p:sp>
      <p:pic>
        <p:nvPicPr>
          <p:cNvPr id="182" name="Image 27" descr="preencoded.png">    </p:cNvPr>
          <p:cNvPicPr>
            <a:picLocks noChangeAspect="1"/>
          </p:cNvPicPr>
          <p:nvPr/>
        </p:nvPicPr>
        <p:blipFill>
          <a:blip r:embed="rId28"/>
          <a:stretch>
            <a:fillRect/>
          </a:stretch>
        </p:blipFill>
        <p:spPr>
          <a:xfrm>
            <a:off x="7676937" y="8454177"/>
            <a:ext cx="245791" cy="245791"/>
          </a:xfrm>
          <a:prstGeom prst="rect">
            <a:avLst/>
          </a:prstGeom>
        </p:spPr>
      </p:pic>
      <p:sp>
        <p:nvSpPr>
          <p:cNvPr id="183" name="Text 153"/>
          <p:cNvSpPr txBox="1"/>
          <p:nvPr/>
        </p:nvSpPr>
        <p:spPr>
          <a:xfrm>
            <a:off x="8202168"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Entitlement-aware</a:t>
            </a:r>
            <a:endParaRPr lang="en-US" sz="1200" dirty="0"/>
          </a:p>
        </p:txBody>
      </p:sp>
      <p:sp>
        <p:nvSpPr>
          <p:cNvPr id="184" name="Text 154"/>
          <p:cNvSpPr txBox="1"/>
          <p:nvPr/>
        </p:nvSpPr>
        <p:spPr>
          <a:xfrm>
            <a:off x="8202168"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Routing and access from the Central Entitlement System</a:t>
            </a:r>
            <a:endParaRPr lang="en-US" sz="950" dirty="0"/>
          </a:p>
        </p:txBody>
      </p:sp>
      <p:sp>
        <p:nvSpPr>
          <p:cNvPr id="185" name="Shape 155"/>
          <p:cNvSpPr/>
          <p:nvPr/>
        </p:nvSpPr>
        <p:spPr>
          <a:xfrm>
            <a:off x="10817352" y="8074152"/>
            <a:ext cx="3227832" cy="1005840"/>
          </a:xfrm>
          <a:prstGeom prst="roundRect">
            <a:avLst>
              <a:gd name="adj" fmla="val 7273"/>
            </a:avLst>
          </a:prstGeom>
          <a:solidFill>
            <a:srgbClr val="FFFFFF"/>
          </a:solidFill>
          <a:ln w="9525">
            <a:solidFill>
              <a:srgbClr val="C8D8EC"/>
            </a:solidFill>
            <a:prstDash val="solid"/>
          </a:ln>
        </p:spPr>
      </p:sp>
      <p:sp>
        <p:nvSpPr>
          <p:cNvPr id="186" name="Shape 156"/>
          <p:cNvSpPr/>
          <p:nvPr/>
        </p:nvSpPr>
        <p:spPr>
          <a:xfrm>
            <a:off x="10981944" y="8321040"/>
            <a:ext cx="512064" cy="512064"/>
          </a:xfrm>
          <a:prstGeom prst="ellipse">
            <a:avLst/>
          </a:prstGeom>
          <a:solidFill>
            <a:srgbClr val="1F4E8C"/>
          </a:solidFill>
          <a:ln w="12700">
            <a:solidFill>
              <a:srgbClr val="1F4E8C"/>
            </a:solidFill>
            <a:prstDash val="solid"/>
          </a:ln>
        </p:spPr>
      </p:sp>
      <p:pic>
        <p:nvPicPr>
          <p:cNvPr id="187" name="Image 28" descr="preencoded.png">    </p:cNvPr>
          <p:cNvPicPr>
            <a:picLocks noChangeAspect="1"/>
          </p:cNvPicPr>
          <p:nvPr/>
        </p:nvPicPr>
        <p:blipFill>
          <a:blip r:embed="rId29"/>
          <a:stretch>
            <a:fillRect/>
          </a:stretch>
        </p:blipFill>
        <p:spPr>
          <a:xfrm>
            <a:off x="11115081" y="8454177"/>
            <a:ext cx="245791" cy="245791"/>
          </a:xfrm>
          <a:prstGeom prst="rect">
            <a:avLst/>
          </a:prstGeom>
        </p:spPr>
      </p:pic>
      <p:sp>
        <p:nvSpPr>
          <p:cNvPr id="188" name="Text 157"/>
          <p:cNvSpPr txBox="1"/>
          <p:nvPr/>
        </p:nvSpPr>
        <p:spPr>
          <a:xfrm>
            <a:off x="11640312"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Scales by control</a:t>
            </a:r>
            <a:endParaRPr lang="en-US" sz="1200" dirty="0"/>
          </a:p>
        </p:txBody>
      </p:sp>
      <p:sp>
        <p:nvSpPr>
          <p:cNvPr id="189" name="Text 158"/>
          <p:cNvSpPr txBox="1"/>
          <p:nvPr/>
        </p:nvSpPr>
        <p:spPr>
          <a:xfrm>
            <a:off x="11640312"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Add controls and entities without new builds</a:t>
            </a:r>
            <a:endParaRPr lang="en-US" sz="950" dirty="0"/>
          </a:p>
        </p:txBody>
      </p:sp>
      <p:sp>
        <p:nvSpPr>
          <p:cNvPr id="190" name="Shape 159"/>
          <p:cNvSpPr/>
          <p:nvPr/>
        </p:nvSpPr>
        <p:spPr>
          <a:xfrm>
            <a:off x="0" y="9272016"/>
            <a:ext cx="14630400" cy="484632"/>
          </a:xfrm>
          <a:prstGeom prst="rect">
            <a:avLst/>
          </a:prstGeom>
          <a:solidFill>
            <a:srgbClr val="0B2E5E"/>
          </a:solidFill>
          <a:ln w="12700">
            <a:solidFill>
              <a:srgbClr val="0B2E5E"/>
            </a:solidFill>
            <a:prstDash val="solid"/>
          </a:ln>
        </p:spPr>
      </p:sp>
      <p:sp>
        <p:nvSpPr>
          <p:cNvPr id="191" name="Text 160"/>
          <p:cNvSpPr txBox="1"/>
          <p:nvPr/>
        </p:nvSpPr>
        <p:spPr>
          <a:xfrm>
            <a:off x="0" y="9272016"/>
            <a:ext cx="14630400" cy="4846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Ledger Controls</a:t>
            </a:r>
            <a:pPr algn="ctr" indent="0" marL="0">
              <a:buNone/>
            </a:pPr>
            <a:r>
              <a:rPr lang="en-US" sz="1100" dirty="0">
                <a:solidFill>
                  <a:srgbClr val="FFFFFF"/>
                </a:solidFill>
                <a:latin typeface="Calibri" pitchFamily="34" charset="0"/>
                <a:ea typeface="Calibri" pitchFamily="34" charset="-122"/>
                <a:cs typeface="Calibri" pitchFamily="34" charset="-120"/>
              </a:rPr>
              <a:t>   |   Faster Triage. Clear Ownership. Stronger Controls.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AFD"/>
        </a:solidFill>
      </p:bgPr>
    </p:bg>
    <p:spTree>
      <p:nvGrpSpPr>
        <p:cNvPr id="1" name=""/>
        <p:cNvGrpSpPr/>
        <p:nvPr/>
      </p:nvGrpSpPr>
      <p:grpSpPr>
        <a:xfrm>
          <a:off x="0" y="0"/>
          <a:ext cx="0" cy="0"/>
          <a:chOff x="0" y="0"/>
          <a:chExt cx="0" cy="0"/>
        </a:xfrm>
      </p:grpSpPr>
      <p:sp>
        <p:nvSpPr>
          <p:cNvPr id="2" name="Shape 0"/>
          <p:cNvSpPr/>
          <p:nvPr/>
        </p:nvSpPr>
        <p:spPr>
          <a:xfrm>
            <a:off x="0" y="0"/>
            <a:ext cx="14630400" cy="1024128"/>
          </a:xfrm>
          <a:prstGeom prst="rect">
            <a:avLst/>
          </a:prstGeom>
          <a:solidFill>
            <a:srgbClr val="0B2E5E"/>
          </a:solidFill>
          <a:ln w="12700">
            <a:solidFill>
              <a:srgbClr val="0B2E5E"/>
            </a:solidFill>
            <a:prstDash val="solid"/>
          </a:ln>
        </p:spPr>
      </p:sp>
      <p:sp>
        <p:nvSpPr>
          <p:cNvPr id="3" name="Text 1"/>
          <p:cNvSpPr txBox="1"/>
          <p:nvPr/>
        </p:nvSpPr>
        <p:spPr>
          <a:xfrm>
            <a:off x="301752" y="137160"/>
            <a:ext cx="11155680" cy="475488"/>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UC4 Analysis &amp; Commentary</a:t>
            </a:r>
            <a:endParaRPr lang="en-US" sz="3000" dirty="0"/>
          </a:p>
        </p:txBody>
      </p:sp>
      <p:sp>
        <p:nvSpPr>
          <p:cNvPr id="4" name="Text 2"/>
          <p:cNvSpPr txBox="1"/>
          <p:nvPr/>
        </p:nvSpPr>
        <p:spPr>
          <a:xfrm>
            <a:off x="301752" y="612648"/>
            <a:ext cx="11155680" cy="301752"/>
          </a:xfrm>
          <a:prstGeom prst="rect">
            <a:avLst/>
          </a:prstGeom>
          <a:noFill/>
          <a:ln/>
        </p:spPr>
        <p:txBody>
          <a:bodyPr wrap="square" lIns="0" tIns="0" rIns="0" bIns="0" rtlCol="0" anchor="ctr"/>
          <a:lstStyle/>
          <a:p>
            <a:pPr indent="0" marL="0">
              <a:buNone/>
            </a:pPr>
            <a:r>
              <a:rPr lang="en-US" sz="1600" dirty="0">
                <a:solidFill>
                  <a:srgbClr val="DCE9F7"/>
                </a:solidFill>
                <a:latin typeface="Calibri" pitchFamily="34" charset="0"/>
                <a:ea typeface="Calibri" pitchFamily="34" charset="-122"/>
                <a:cs typeface="Calibri" pitchFamily="34" charset="-120"/>
              </a:rPr>
              <a:t>Movements (MOT, Trend), Variance, Avg Balance Sheet, Cost, Impairments, Presentation Currency, Commentary</a:t>
            </a:r>
            <a:endParaRPr lang="en-US" sz="1600" dirty="0"/>
          </a:p>
        </p:txBody>
      </p:sp>
      <p:sp>
        <p:nvSpPr>
          <p:cNvPr id="5" name="Shape 3"/>
          <p:cNvSpPr/>
          <p:nvPr/>
        </p:nvSpPr>
        <p:spPr>
          <a:xfrm>
            <a:off x="11640312" y="192024"/>
            <a:ext cx="0" cy="649224"/>
          </a:xfrm>
          <a:prstGeom prst="line">
            <a:avLst/>
          </a:prstGeom>
          <a:noFill/>
          <a:ln w="12700">
            <a:solidFill>
              <a:srgbClr val="FFFFFF"/>
            </a:solidFill>
            <a:prstDash val="solid"/>
          </a:ln>
        </p:spPr>
      </p:sp>
      <p:sp>
        <p:nvSpPr>
          <p:cNvPr id="6" name="Text 4"/>
          <p:cNvSpPr txBox="1"/>
          <p:nvPr/>
        </p:nvSpPr>
        <p:spPr>
          <a:xfrm>
            <a:off x="11814048" y="265176"/>
            <a:ext cx="2715768"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Analysis &amp; Review</a:t>
            </a:r>
            <a:endParaRPr lang="en-US" sz="2200" dirty="0"/>
          </a:p>
        </p:txBody>
      </p:sp>
      <p:sp>
        <p:nvSpPr>
          <p:cNvPr id="7" name="Text 5"/>
          <p:cNvSpPr txBox="1"/>
          <p:nvPr/>
        </p:nvSpPr>
        <p:spPr>
          <a:xfrm>
            <a:off x="502920" y="1216152"/>
            <a:ext cx="1920240" cy="347472"/>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Analysis packs</a:t>
            </a:r>
            <a:endParaRPr lang="en-US" sz="1100" dirty="0"/>
          </a:p>
        </p:txBody>
      </p:sp>
      <p:sp>
        <p:nvSpPr>
          <p:cNvPr id="8" name="Shape 6"/>
          <p:cNvSpPr/>
          <p:nvPr/>
        </p:nvSpPr>
        <p:spPr>
          <a:xfrm>
            <a:off x="2496312" y="1243584"/>
            <a:ext cx="2075688" cy="283464"/>
          </a:xfrm>
          <a:prstGeom prst="roundRect">
            <a:avLst>
              <a:gd name="adj" fmla="val 48387"/>
            </a:avLst>
          </a:prstGeom>
          <a:solidFill>
            <a:srgbClr val="DCE9F7"/>
          </a:solidFill>
          <a:ln w="9525">
            <a:solidFill>
              <a:srgbClr val="C8D8EC"/>
            </a:solidFill>
            <a:prstDash val="solid"/>
          </a:ln>
        </p:spPr>
      </p:sp>
      <p:pic>
        <p:nvPicPr>
          <p:cNvPr id="9" name="Image 0" descr="preencoded.png">    </p:cNvPr>
          <p:cNvPicPr>
            <a:picLocks noChangeAspect="1"/>
          </p:cNvPicPr>
          <p:nvPr/>
        </p:nvPicPr>
        <p:blipFill>
          <a:blip r:embed="rId1"/>
          <a:stretch>
            <a:fillRect/>
          </a:stretch>
        </p:blipFill>
        <p:spPr>
          <a:xfrm>
            <a:off x="2606040" y="1316736"/>
            <a:ext cx="137160" cy="137160"/>
          </a:xfrm>
          <a:prstGeom prst="rect">
            <a:avLst/>
          </a:prstGeom>
        </p:spPr>
      </p:pic>
      <p:sp>
        <p:nvSpPr>
          <p:cNvPr id="10" name="Text 7"/>
          <p:cNvSpPr txBox="1"/>
          <p:nvPr/>
        </p:nvSpPr>
        <p:spPr>
          <a:xfrm>
            <a:off x="2798064" y="1243584"/>
            <a:ext cx="1737360" cy="283464"/>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Movements (MOT)</a:t>
            </a:r>
            <a:endParaRPr lang="en-US" sz="950" dirty="0"/>
          </a:p>
        </p:txBody>
      </p:sp>
      <p:sp>
        <p:nvSpPr>
          <p:cNvPr id="11" name="Shape 8"/>
          <p:cNvSpPr/>
          <p:nvPr/>
        </p:nvSpPr>
        <p:spPr>
          <a:xfrm>
            <a:off x="4709160" y="1243584"/>
            <a:ext cx="2075688" cy="283464"/>
          </a:xfrm>
          <a:prstGeom prst="roundRect">
            <a:avLst>
              <a:gd name="adj" fmla="val 48387"/>
            </a:avLst>
          </a:prstGeom>
          <a:solidFill>
            <a:srgbClr val="DCE9F7"/>
          </a:solidFill>
          <a:ln w="9525">
            <a:solidFill>
              <a:srgbClr val="C8D8EC"/>
            </a:solidFill>
            <a:prstDash val="solid"/>
          </a:ln>
        </p:spPr>
      </p:sp>
      <p:pic>
        <p:nvPicPr>
          <p:cNvPr id="12" name="Image 1" descr="preencoded.png">    </p:cNvPr>
          <p:cNvPicPr>
            <a:picLocks noChangeAspect="1"/>
          </p:cNvPicPr>
          <p:nvPr/>
        </p:nvPicPr>
        <p:blipFill>
          <a:blip r:embed="rId2"/>
          <a:stretch>
            <a:fillRect/>
          </a:stretch>
        </p:blipFill>
        <p:spPr>
          <a:xfrm>
            <a:off x="4818888" y="1316736"/>
            <a:ext cx="137160" cy="137160"/>
          </a:xfrm>
          <a:prstGeom prst="rect">
            <a:avLst/>
          </a:prstGeom>
        </p:spPr>
      </p:pic>
      <p:sp>
        <p:nvSpPr>
          <p:cNvPr id="13" name="Text 9"/>
          <p:cNvSpPr txBox="1"/>
          <p:nvPr/>
        </p:nvSpPr>
        <p:spPr>
          <a:xfrm>
            <a:off x="5010912" y="1243584"/>
            <a:ext cx="1737360" cy="283464"/>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Variance &amp; trend</a:t>
            </a:r>
            <a:endParaRPr lang="en-US" sz="950" dirty="0"/>
          </a:p>
        </p:txBody>
      </p:sp>
      <p:sp>
        <p:nvSpPr>
          <p:cNvPr id="14" name="Shape 10"/>
          <p:cNvSpPr/>
          <p:nvPr/>
        </p:nvSpPr>
        <p:spPr>
          <a:xfrm>
            <a:off x="6922008" y="1243584"/>
            <a:ext cx="2075688" cy="283464"/>
          </a:xfrm>
          <a:prstGeom prst="roundRect">
            <a:avLst>
              <a:gd name="adj" fmla="val 48387"/>
            </a:avLst>
          </a:prstGeom>
          <a:solidFill>
            <a:srgbClr val="DCE9F7"/>
          </a:solidFill>
          <a:ln w="9525">
            <a:solidFill>
              <a:srgbClr val="C8D8EC"/>
            </a:solidFill>
            <a:prstDash val="solid"/>
          </a:ln>
        </p:spPr>
      </p:sp>
      <p:pic>
        <p:nvPicPr>
          <p:cNvPr id="15" name="Image 2" descr="preencoded.png">    </p:cNvPr>
          <p:cNvPicPr>
            <a:picLocks noChangeAspect="1"/>
          </p:cNvPicPr>
          <p:nvPr/>
        </p:nvPicPr>
        <p:blipFill>
          <a:blip r:embed="rId3"/>
          <a:stretch>
            <a:fillRect/>
          </a:stretch>
        </p:blipFill>
        <p:spPr>
          <a:xfrm>
            <a:off x="7031736" y="1316736"/>
            <a:ext cx="137160" cy="137160"/>
          </a:xfrm>
          <a:prstGeom prst="rect">
            <a:avLst/>
          </a:prstGeom>
        </p:spPr>
      </p:pic>
      <p:sp>
        <p:nvSpPr>
          <p:cNvPr id="16" name="Text 11"/>
          <p:cNvSpPr txBox="1"/>
          <p:nvPr/>
        </p:nvSpPr>
        <p:spPr>
          <a:xfrm>
            <a:off x="7223760" y="1243584"/>
            <a:ext cx="1737360" cy="283464"/>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Avg balance sheet</a:t>
            </a:r>
            <a:endParaRPr lang="en-US" sz="950" dirty="0"/>
          </a:p>
        </p:txBody>
      </p:sp>
      <p:sp>
        <p:nvSpPr>
          <p:cNvPr id="17" name="Shape 12"/>
          <p:cNvSpPr/>
          <p:nvPr/>
        </p:nvSpPr>
        <p:spPr>
          <a:xfrm>
            <a:off x="9134856" y="1243584"/>
            <a:ext cx="2075688" cy="283464"/>
          </a:xfrm>
          <a:prstGeom prst="roundRect">
            <a:avLst>
              <a:gd name="adj" fmla="val 48387"/>
            </a:avLst>
          </a:prstGeom>
          <a:solidFill>
            <a:srgbClr val="FFFFFF"/>
          </a:solidFill>
          <a:ln w="9525">
            <a:solidFill>
              <a:srgbClr val="C8D8EC"/>
            </a:solidFill>
            <a:prstDash val="solid"/>
          </a:ln>
        </p:spPr>
      </p:sp>
      <p:pic>
        <p:nvPicPr>
          <p:cNvPr id="18" name="Image 3" descr="preencoded.png">    </p:cNvPr>
          <p:cNvPicPr>
            <a:picLocks noChangeAspect="1"/>
          </p:cNvPicPr>
          <p:nvPr/>
        </p:nvPicPr>
        <p:blipFill>
          <a:blip r:embed="rId4"/>
          <a:stretch>
            <a:fillRect/>
          </a:stretch>
        </p:blipFill>
        <p:spPr>
          <a:xfrm>
            <a:off x="9244584" y="1316736"/>
            <a:ext cx="137160" cy="137160"/>
          </a:xfrm>
          <a:prstGeom prst="rect">
            <a:avLst/>
          </a:prstGeom>
        </p:spPr>
      </p:pic>
      <p:sp>
        <p:nvSpPr>
          <p:cNvPr id="19" name="Text 13"/>
          <p:cNvSpPr txBox="1"/>
          <p:nvPr/>
        </p:nvSpPr>
        <p:spPr>
          <a:xfrm>
            <a:off x="9436608" y="1243584"/>
            <a:ext cx="1737360" cy="283464"/>
          </a:xfrm>
          <a:prstGeom prst="rect">
            <a:avLst/>
          </a:prstGeom>
          <a:noFill/>
          <a:ln/>
        </p:spPr>
        <p:txBody>
          <a:bodyPr wrap="square" lIns="0" tIns="0" rIns="0" bIns="0" rtlCol="0" anchor="ctr"/>
          <a:lstStyle/>
          <a:p>
            <a:pPr indent="0" marL="0">
              <a:buNone/>
            </a:pPr>
            <a:r>
              <a:rPr lang="en-US" sz="950" i="1" dirty="0">
                <a:solidFill>
                  <a:srgbClr val="1F2D3D"/>
                </a:solidFill>
                <a:latin typeface="Calibri" pitchFamily="34" charset="0"/>
                <a:ea typeface="Calibri" pitchFamily="34" charset="-122"/>
                <a:cs typeface="Calibri" pitchFamily="34" charset="-120"/>
              </a:rPr>
              <a:t>More: cost, impairments</a:t>
            </a:r>
            <a:endParaRPr lang="en-US" sz="950" dirty="0"/>
          </a:p>
        </p:txBody>
      </p:sp>
      <p:sp>
        <p:nvSpPr>
          <p:cNvPr id="20" name="Text 14"/>
          <p:cNvSpPr txBox="1"/>
          <p:nvPr/>
        </p:nvSpPr>
        <p:spPr>
          <a:xfrm>
            <a:off x="11338560" y="1216152"/>
            <a:ext cx="2852928" cy="347472"/>
          </a:xfrm>
          <a:prstGeom prst="rect">
            <a:avLst/>
          </a:prstGeom>
          <a:noFill/>
          <a:ln/>
        </p:spPr>
        <p:txBody>
          <a:bodyPr wrap="square" lIns="0" tIns="0" rIns="0" bIns="0" rtlCol="0" anchor="ctr"/>
          <a:lstStyle/>
          <a:p>
            <a:pPr indent="0" marL="0">
              <a:buNone/>
            </a:pPr>
            <a:r>
              <a:rPr lang="en-US" sz="950" i="1" dirty="0">
                <a:solidFill>
                  <a:srgbClr val="4A5A6E"/>
                </a:solidFill>
                <a:latin typeface="Calibri" pitchFamily="34" charset="0"/>
                <a:ea typeface="Calibri" pitchFamily="34" charset="-122"/>
                <a:cs typeface="Calibri" pitchFamily="34" charset="-120"/>
              </a:rPr>
              <a:t>Status: Next wave</a:t>
            </a:r>
            <a:endParaRPr lang="en-US" sz="950" dirty="0"/>
          </a:p>
        </p:txBody>
      </p:sp>
      <p:sp>
        <p:nvSpPr>
          <p:cNvPr id="21" name="Shape 15"/>
          <p:cNvSpPr/>
          <p:nvPr/>
        </p:nvSpPr>
        <p:spPr>
          <a:xfrm>
            <a:off x="502920" y="1737360"/>
            <a:ext cx="2377440" cy="4480560"/>
          </a:xfrm>
          <a:prstGeom prst="roundRect">
            <a:avLst>
              <a:gd name="adj" fmla="val 2308"/>
            </a:avLst>
          </a:prstGeom>
          <a:solidFill>
            <a:srgbClr val="EEF4FB"/>
          </a:solidFill>
          <a:ln w="12700">
            <a:solidFill>
              <a:srgbClr val="1B4F93"/>
            </a:solidFill>
            <a:prstDash val="dash"/>
          </a:ln>
        </p:spPr>
      </p:sp>
      <p:sp>
        <p:nvSpPr>
          <p:cNvPr id="22" name="Text 16"/>
          <p:cNvSpPr txBox="1"/>
          <p:nvPr/>
        </p:nvSpPr>
        <p:spPr>
          <a:xfrm>
            <a:off x="621792" y="1810512"/>
            <a:ext cx="2148840" cy="192024"/>
          </a:xfrm>
          <a:prstGeom prst="rect">
            <a:avLst/>
          </a:prstGeom>
          <a:noFill/>
          <a:ln/>
        </p:spPr>
        <p:txBody>
          <a:bodyPr wrap="square" lIns="0" tIns="0" rIns="0" bIns="0" rtlCol="0" anchor="ctr"/>
          <a:lstStyle/>
          <a:p>
            <a:pPr indent="0" marL="0">
              <a:buNone/>
            </a:pPr>
            <a:r>
              <a:rPr lang="en-US" sz="900" b="1" spc="100" kern="0" dirty="0">
                <a:solidFill>
                  <a:srgbClr val="1B4F93"/>
                </a:solidFill>
                <a:latin typeface="Calibri" pitchFamily="34" charset="0"/>
                <a:ea typeface="Calibri" pitchFamily="34" charset="-122"/>
                <a:cs typeface="Calibri" pitchFamily="34" charset="-120"/>
              </a:rPr>
              <a:t>ANALYTICS DATA</a:t>
            </a:r>
            <a:endParaRPr lang="en-US" sz="900" dirty="0"/>
          </a:p>
        </p:txBody>
      </p:sp>
      <p:sp>
        <p:nvSpPr>
          <p:cNvPr id="23" name="Shape 17"/>
          <p:cNvSpPr/>
          <p:nvPr/>
        </p:nvSpPr>
        <p:spPr>
          <a:xfrm>
            <a:off x="1691640" y="6236208"/>
            <a:ext cx="0" cy="219456"/>
          </a:xfrm>
          <a:prstGeom prst="line">
            <a:avLst/>
          </a:prstGeom>
          <a:noFill/>
          <a:ln w="15875">
            <a:solidFill>
              <a:srgbClr val="6B7C93"/>
            </a:solidFill>
            <a:prstDash val="dash"/>
            <a:tailEnd type="triangle"/>
          </a:ln>
        </p:spPr>
      </p:sp>
      <p:sp>
        <p:nvSpPr>
          <p:cNvPr id="24" name="Shape 18"/>
          <p:cNvSpPr/>
          <p:nvPr/>
        </p:nvSpPr>
        <p:spPr>
          <a:xfrm>
            <a:off x="3310128" y="1737360"/>
            <a:ext cx="2377440" cy="4480560"/>
          </a:xfrm>
          <a:prstGeom prst="roundRect">
            <a:avLst>
              <a:gd name="adj" fmla="val 2308"/>
            </a:avLst>
          </a:prstGeom>
          <a:solidFill>
            <a:srgbClr val="EEF4FB"/>
          </a:solidFill>
          <a:ln w="12700">
            <a:solidFill>
              <a:srgbClr val="2A6EBB"/>
            </a:solidFill>
            <a:prstDash val="dash"/>
          </a:ln>
        </p:spPr>
      </p:sp>
      <p:sp>
        <p:nvSpPr>
          <p:cNvPr id="25" name="Text 19"/>
          <p:cNvSpPr txBox="1"/>
          <p:nvPr/>
        </p:nvSpPr>
        <p:spPr>
          <a:xfrm>
            <a:off x="3429000" y="1810512"/>
            <a:ext cx="2148840" cy="192024"/>
          </a:xfrm>
          <a:prstGeom prst="rect">
            <a:avLst/>
          </a:prstGeom>
          <a:noFill/>
          <a:ln/>
        </p:spPr>
        <p:txBody>
          <a:bodyPr wrap="square" lIns="0" tIns="0" rIns="0" bIns="0" rtlCol="0" anchor="ctr"/>
          <a:lstStyle/>
          <a:p>
            <a:pPr indent="0" marL="0">
              <a:buNone/>
            </a:pPr>
            <a:r>
              <a:rPr lang="en-US" sz="900" b="1" spc="100" kern="0" dirty="0">
                <a:solidFill>
                  <a:srgbClr val="2A6EBB"/>
                </a:solidFill>
                <a:latin typeface="Calibri" pitchFamily="34" charset="0"/>
                <a:ea typeface="Calibri" pitchFamily="34" charset="-122"/>
                <a:cs typeface="Calibri" pitchFamily="34" charset="-120"/>
              </a:rPr>
              <a:t>EVENTS &amp; READINESS</a:t>
            </a:r>
            <a:endParaRPr lang="en-US" sz="900" dirty="0"/>
          </a:p>
        </p:txBody>
      </p:sp>
      <p:sp>
        <p:nvSpPr>
          <p:cNvPr id="26" name="Shape 20"/>
          <p:cNvSpPr/>
          <p:nvPr/>
        </p:nvSpPr>
        <p:spPr>
          <a:xfrm>
            <a:off x="4498848" y="6236208"/>
            <a:ext cx="0" cy="219456"/>
          </a:xfrm>
          <a:prstGeom prst="line">
            <a:avLst/>
          </a:prstGeom>
          <a:noFill/>
          <a:ln w="15875">
            <a:solidFill>
              <a:srgbClr val="6B7C93"/>
            </a:solidFill>
            <a:prstDash val="dash"/>
            <a:tailEnd type="triangle"/>
          </a:ln>
        </p:spPr>
      </p:sp>
      <p:sp>
        <p:nvSpPr>
          <p:cNvPr id="27" name="Shape 21"/>
          <p:cNvSpPr/>
          <p:nvPr/>
        </p:nvSpPr>
        <p:spPr>
          <a:xfrm>
            <a:off x="6126480" y="1737360"/>
            <a:ext cx="2377440" cy="4480560"/>
          </a:xfrm>
          <a:prstGeom prst="roundRect">
            <a:avLst>
              <a:gd name="adj" fmla="val 2308"/>
            </a:avLst>
          </a:prstGeom>
          <a:solidFill>
            <a:srgbClr val="EDF7F2"/>
          </a:solidFill>
          <a:ln w="12700">
            <a:solidFill>
              <a:srgbClr val="1E8A5A"/>
            </a:solidFill>
            <a:prstDash val="dash"/>
          </a:ln>
        </p:spPr>
      </p:sp>
      <p:sp>
        <p:nvSpPr>
          <p:cNvPr id="28" name="Text 22"/>
          <p:cNvSpPr txBox="1"/>
          <p:nvPr/>
        </p:nvSpPr>
        <p:spPr>
          <a:xfrm>
            <a:off x="6245352" y="1810512"/>
            <a:ext cx="2148840" cy="192024"/>
          </a:xfrm>
          <a:prstGeom prst="rect">
            <a:avLst/>
          </a:prstGeom>
          <a:noFill/>
          <a:ln/>
        </p:spPr>
        <p:txBody>
          <a:bodyPr wrap="square" lIns="0" tIns="0" rIns="0" bIns="0" rtlCol="0" anchor="ctr"/>
          <a:lstStyle/>
          <a:p>
            <a:pPr indent="0" marL="0">
              <a:buNone/>
            </a:pPr>
            <a:r>
              <a:rPr lang="en-US" sz="900" b="1" spc="100" kern="0" dirty="0">
                <a:solidFill>
                  <a:srgbClr val="1E8A5A"/>
                </a:solidFill>
                <a:latin typeface="Calibri" pitchFamily="34" charset="0"/>
                <a:ea typeface="Calibri" pitchFamily="34" charset="-122"/>
                <a:cs typeface="Calibri" pitchFamily="34" charset="-120"/>
              </a:rPr>
              <a:t>ORCHESTRATION</a:t>
            </a:r>
            <a:endParaRPr lang="en-US" sz="900" dirty="0"/>
          </a:p>
        </p:txBody>
      </p:sp>
      <p:sp>
        <p:nvSpPr>
          <p:cNvPr id="29" name="Shape 23"/>
          <p:cNvSpPr/>
          <p:nvPr/>
        </p:nvSpPr>
        <p:spPr>
          <a:xfrm>
            <a:off x="7315200" y="6236208"/>
            <a:ext cx="0" cy="219456"/>
          </a:xfrm>
          <a:prstGeom prst="line">
            <a:avLst/>
          </a:prstGeom>
          <a:noFill/>
          <a:ln w="15875">
            <a:solidFill>
              <a:srgbClr val="6B7C93"/>
            </a:solidFill>
            <a:prstDash val="dash"/>
            <a:tailEnd type="triangle"/>
          </a:ln>
        </p:spPr>
      </p:sp>
      <p:sp>
        <p:nvSpPr>
          <p:cNvPr id="30" name="Shape 24"/>
          <p:cNvSpPr/>
          <p:nvPr/>
        </p:nvSpPr>
        <p:spPr>
          <a:xfrm>
            <a:off x="8933688" y="1737360"/>
            <a:ext cx="2377440" cy="4480560"/>
          </a:xfrm>
          <a:prstGeom prst="roundRect">
            <a:avLst>
              <a:gd name="adj" fmla="val 2308"/>
            </a:avLst>
          </a:prstGeom>
          <a:solidFill>
            <a:srgbClr val="F3F1FB"/>
          </a:solidFill>
          <a:ln w="12700">
            <a:solidFill>
              <a:srgbClr val="5B4FA8"/>
            </a:solidFill>
            <a:prstDash val="dash"/>
          </a:ln>
        </p:spPr>
      </p:sp>
      <p:sp>
        <p:nvSpPr>
          <p:cNvPr id="31" name="Text 25"/>
          <p:cNvSpPr txBox="1"/>
          <p:nvPr/>
        </p:nvSpPr>
        <p:spPr>
          <a:xfrm>
            <a:off x="9052560" y="1810512"/>
            <a:ext cx="2148840" cy="192024"/>
          </a:xfrm>
          <a:prstGeom prst="rect">
            <a:avLst/>
          </a:prstGeom>
          <a:noFill/>
          <a:ln/>
        </p:spPr>
        <p:txBody>
          <a:bodyPr wrap="square" lIns="0" tIns="0" rIns="0" bIns="0" rtlCol="0" anchor="ctr"/>
          <a:lstStyle/>
          <a:p>
            <a:pPr indent="0" marL="0">
              <a:buNone/>
            </a:pPr>
            <a:r>
              <a:rPr lang="en-US" sz="900" b="1" spc="100" kern="0" dirty="0">
                <a:solidFill>
                  <a:srgbClr val="5B4FA8"/>
                </a:solidFill>
                <a:latin typeface="Calibri" pitchFamily="34" charset="0"/>
                <a:ea typeface="Calibri" pitchFamily="34" charset="-122"/>
                <a:cs typeface="Calibri" pitchFamily="34" charset="-120"/>
              </a:rPr>
              <a:t>AI REASONING</a:t>
            </a:r>
            <a:endParaRPr lang="en-US" sz="900" dirty="0"/>
          </a:p>
        </p:txBody>
      </p:sp>
      <p:sp>
        <p:nvSpPr>
          <p:cNvPr id="32" name="Shape 26"/>
          <p:cNvSpPr/>
          <p:nvPr/>
        </p:nvSpPr>
        <p:spPr>
          <a:xfrm>
            <a:off x="10122408" y="6236208"/>
            <a:ext cx="0" cy="219456"/>
          </a:xfrm>
          <a:prstGeom prst="line">
            <a:avLst/>
          </a:prstGeom>
          <a:noFill/>
          <a:ln w="15875">
            <a:solidFill>
              <a:srgbClr val="6B7C93"/>
            </a:solidFill>
            <a:prstDash val="dash"/>
            <a:tailEnd type="triangle"/>
          </a:ln>
        </p:spPr>
      </p:sp>
      <p:sp>
        <p:nvSpPr>
          <p:cNvPr id="33" name="Shape 27"/>
          <p:cNvSpPr/>
          <p:nvPr/>
        </p:nvSpPr>
        <p:spPr>
          <a:xfrm>
            <a:off x="11740896" y="1737360"/>
            <a:ext cx="2377440" cy="4480560"/>
          </a:xfrm>
          <a:prstGeom prst="roundRect">
            <a:avLst>
              <a:gd name="adj" fmla="val 2308"/>
            </a:avLst>
          </a:prstGeom>
          <a:solidFill>
            <a:srgbClr val="EEF4FB"/>
          </a:solidFill>
          <a:ln w="12700">
            <a:solidFill>
              <a:srgbClr val="1F6FB5"/>
            </a:solidFill>
            <a:prstDash val="dash"/>
          </a:ln>
        </p:spPr>
      </p:sp>
      <p:sp>
        <p:nvSpPr>
          <p:cNvPr id="34" name="Text 28"/>
          <p:cNvSpPr txBox="1"/>
          <p:nvPr/>
        </p:nvSpPr>
        <p:spPr>
          <a:xfrm>
            <a:off x="11859768" y="1810512"/>
            <a:ext cx="2148840" cy="192024"/>
          </a:xfrm>
          <a:prstGeom prst="rect">
            <a:avLst/>
          </a:prstGeom>
          <a:noFill/>
          <a:ln/>
        </p:spPr>
        <p:txBody>
          <a:bodyPr wrap="square" lIns="0" tIns="0" rIns="0" bIns="0" rtlCol="0" anchor="ctr"/>
          <a:lstStyle/>
          <a:p>
            <a:pPr indent="0" marL="0">
              <a:buNone/>
            </a:pPr>
            <a:r>
              <a:rPr lang="en-US" sz="900" b="1" spc="100" kern="0" dirty="0">
                <a:solidFill>
                  <a:srgbClr val="1F6FB5"/>
                </a:solidFill>
                <a:latin typeface="Calibri" pitchFamily="34" charset="0"/>
                <a:ea typeface="Calibri" pitchFamily="34" charset="-122"/>
                <a:cs typeface="Calibri" pitchFamily="34" charset="-120"/>
              </a:rPr>
              <a:t>CONTROLLER EXPERIENCE</a:t>
            </a:r>
            <a:endParaRPr lang="en-US" sz="900" dirty="0"/>
          </a:p>
        </p:txBody>
      </p:sp>
      <p:sp>
        <p:nvSpPr>
          <p:cNvPr id="35" name="Shape 29"/>
          <p:cNvSpPr/>
          <p:nvPr/>
        </p:nvSpPr>
        <p:spPr>
          <a:xfrm>
            <a:off x="12929616" y="6236208"/>
            <a:ext cx="0" cy="219456"/>
          </a:xfrm>
          <a:prstGeom prst="line">
            <a:avLst/>
          </a:prstGeom>
          <a:noFill/>
          <a:ln w="15875">
            <a:solidFill>
              <a:srgbClr val="6B7C93"/>
            </a:solidFill>
            <a:prstDash val="dash"/>
            <a:tailEnd type="triangle"/>
          </a:ln>
        </p:spPr>
      </p:sp>
      <p:sp>
        <p:nvSpPr>
          <p:cNvPr id="36" name="Shape 30"/>
          <p:cNvSpPr/>
          <p:nvPr/>
        </p:nvSpPr>
        <p:spPr>
          <a:xfrm>
            <a:off x="932688" y="2212848"/>
            <a:ext cx="1527048" cy="1426464"/>
          </a:xfrm>
          <a:prstGeom prst="roundRect">
            <a:avLst>
              <a:gd name="adj" fmla="val 5128"/>
            </a:avLst>
          </a:prstGeom>
          <a:solidFill>
            <a:srgbClr val="FFFFFF"/>
          </a:solidFill>
          <a:ln w="9525">
            <a:solidFill>
              <a:srgbClr val="C8D8EC"/>
            </a:solidFill>
            <a:prstDash val="solid"/>
          </a:ln>
        </p:spPr>
      </p:sp>
      <p:sp>
        <p:nvSpPr>
          <p:cNvPr id="37" name="Shape 31"/>
          <p:cNvSpPr/>
          <p:nvPr/>
        </p:nvSpPr>
        <p:spPr>
          <a:xfrm>
            <a:off x="1431036" y="2322576"/>
            <a:ext cx="530352" cy="530352"/>
          </a:xfrm>
          <a:prstGeom prst="roundRect">
            <a:avLst>
              <a:gd name="adj" fmla="val 17241"/>
            </a:avLst>
          </a:prstGeom>
          <a:solidFill>
            <a:srgbClr val="1B4F93"/>
          </a:solidFill>
          <a:ln w="12700">
            <a:solidFill>
              <a:srgbClr val="1B4F93"/>
            </a:solidFill>
            <a:prstDash val="solid"/>
          </a:ln>
        </p:spPr>
      </p:sp>
      <p:pic>
        <p:nvPicPr>
          <p:cNvPr id="38" name="Image 4" descr="preencoded.png">    </p:cNvPr>
          <p:cNvPicPr>
            <a:picLocks noChangeAspect="1"/>
          </p:cNvPicPr>
          <p:nvPr/>
        </p:nvPicPr>
        <p:blipFill>
          <a:blip r:embed="rId5"/>
          <a:stretch>
            <a:fillRect/>
          </a:stretch>
        </p:blipFill>
        <p:spPr>
          <a:xfrm>
            <a:off x="1547713" y="2439253"/>
            <a:ext cx="296997" cy="296997"/>
          </a:xfrm>
          <a:prstGeom prst="rect">
            <a:avLst/>
          </a:prstGeom>
        </p:spPr>
      </p:pic>
      <p:sp>
        <p:nvSpPr>
          <p:cNvPr id="39" name="Text 32"/>
          <p:cNvSpPr txBox="1"/>
          <p:nvPr/>
        </p:nvSpPr>
        <p:spPr>
          <a:xfrm>
            <a:off x="978408"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Trial Balance</a:t>
            </a:r>
            <a:endParaRPr lang="en-US" sz="1200" dirty="0"/>
          </a:p>
        </p:txBody>
      </p:sp>
      <p:sp>
        <p:nvSpPr>
          <p:cNvPr id="40" name="Text 33"/>
          <p:cNvSpPr txBox="1"/>
          <p:nvPr/>
        </p:nvSpPr>
        <p:spPr>
          <a:xfrm>
            <a:off x="1005840"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Enterprise trial balance per entity</a:t>
            </a:r>
            <a:endParaRPr lang="en-US" sz="900" dirty="0"/>
          </a:p>
        </p:txBody>
      </p:sp>
      <p:sp>
        <p:nvSpPr>
          <p:cNvPr id="41" name="Shape 34"/>
          <p:cNvSpPr/>
          <p:nvPr/>
        </p:nvSpPr>
        <p:spPr>
          <a:xfrm>
            <a:off x="3739896" y="2212848"/>
            <a:ext cx="1527048" cy="1426464"/>
          </a:xfrm>
          <a:prstGeom prst="roundRect">
            <a:avLst>
              <a:gd name="adj" fmla="val 5128"/>
            </a:avLst>
          </a:prstGeom>
          <a:solidFill>
            <a:srgbClr val="FFFFFF"/>
          </a:solidFill>
          <a:ln w="9525">
            <a:solidFill>
              <a:srgbClr val="C8D8EC"/>
            </a:solidFill>
            <a:prstDash val="solid"/>
          </a:ln>
        </p:spPr>
      </p:sp>
      <p:sp>
        <p:nvSpPr>
          <p:cNvPr id="42" name="Shape 35"/>
          <p:cNvSpPr/>
          <p:nvPr/>
        </p:nvSpPr>
        <p:spPr>
          <a:xfrm>
            <a:off x="4238244" y="2322576"/>
            <a:ext cx="530352" cy="530352"/>
          </a:xfrm>
          <a:prstGeom prst="roundRect">
            <a:avLst>
              <a:gd name="adj" fmla="val 17241"/>
            </a:avLst>
          </a:prstGeom>
          <a:solidFill>
            <a:srgbClr val="2A6EBB"/>
          </a:solidFill>
          <a:ln w="12700">
            <a:solidFill>
              <a:srgbClr val="2A6EBB"/>
            </a:solidFill>
            <a:prstDash val="solid"/>
          </a:ln>
        </p:spPr>
      </p:sp>
      <p:pic>
        <p:nvPicPr>
          <p:cNvPr id="43" name="Image 5" descr="preencoded.png">    </p:cNvPr>
          <p:cNvPicPr>
            <a:picLocks noChangeAspect="1"/>
          </p:cNvPicPr>
          <p:nvPr/>
        </p:nvPicPr>
        <p:blipFill>
          <a:blip r:embed="rId6"/>
          <a:stretch>
            <a:fillRect/>
          </a:stretch>
        </p:blipFill>
        <p:spPr>
          <a:xfrm>
            <a:off x="4354921" y="2439253"/>
            <a:ext cx="296997" cy="296997"/>
          </a:xfrm>
          <a:prstGeom prst="rect">
            <a:avLst/>
          </a:prstGeom>
        </p:spPr>
      </p:pic>
      <p:sp>
        <p:nvSpPr>
          <p:cNvPr id="44" name="Text 36"/>
          <p:cNvSpPr txBox="1"/>
          <p:nvPr/>
        </p:nvSpPr>
        <p:spPr>
          <a:xfrm>
            <a:off x="3785616"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One Fin UX</a:t>
            </a:r>
            <a:endParaRPr lang="en-US" sz="1200" dirty="0"/>
          </a:p>
        </p:txBody>
      </p:sp>
      <p:sp>
        <p:nvSpPr>
          <p:cNvPr id="45" name="Text 37"/>
          <p:cNvSpPr txBox="1"/>
          <p:nvPr/>
        </p:nvSpPr>
        <p:spPr>
          <a:xfrm>
            <a:off x="3813048"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Event hub and business outcome per entity</a:t>
            </a:r>
            <a:endParaRPr lang="en-US" sz="900" dirty="0"/>
          </a:p>
        </p:txBody>
      </p:sp>
      <p:sp>
        <p:nvSpPr>
          <p:cNvPr id="46" name="Shape 38"/>
          <p:cNvSpPr/>
          <p:nvPr/>
        </p:nvSpPr>
        <p:spPr>
          <a:xfrm>
            <a:off x="6556248" y="2212848"/>
            <a:ext cx="1527048" cy="1426464"/>
          </a:xfrm>
          <a:prstGeom prst="roundRect">
            <a:avLst>
              <a:gd name="adj" fmla="val 5128"/>
            </a:avLst>
          </a:prstGeom>
          <a:solidFill>
            <a:srgbClr val="FFFFFF"/>
          </a:solidFill>
          <a:ln w="9525">
            <a:solidFill>
              <a:srgbClr val="C8D8EC"/>
            </a:solidFill>
            <a:prstDash val="solid"/>
          </a:ln>
        </p:spPr>
      </p:sp>
      <p:sp>
        <p:nvSpPr>
          <p:cNvPr id="47" name="Shape 39"/>
          <p:cNvSpPr/>
          <p:nvPr/>
        </p:nvSpPr>
        <p:spPr>
          <a:xfrm>
            <a:off x="7054596" y="2322576"/>
            <a:ext cx="530352" cy="530352"/>
          </a:xfrm>
          <a:prstGeom prst="roundRect">
            <a:avLst>
              <a:gd name="adj" fmla="val 17241"/>
            </a:avLst>
          </a:prstGeom>
          <a:solidFill>
            <a:srgbClr val="1E8A5A"/>
          </a:solidFill>
          <a:ln w="12700">
            <a:solidFill>
              <a:srgbClr val="1E8A5A"/>
            </a:solidFill>
            <a:prstDash val="solid"/>
          </a:ln>
        </p:spPr>
      </p:sp>
      <p:pic>
        <p:nvPicPr>
          <p:cNvPr id="48" name="Image 6" descr="preencoded.png">    </p:cNvPr>
          <p:cNvPicPr>
            <a:picLocks noChangeAspect="1"/>
          </p:cNvPicPr>
          <p:nvPr/>
        </p:nvPicPr>
        <p:blipFill>
          <a:blip r:embed="rId7"/>
          <a:stretch>
            <a:fillRect/>
          </a:stretch>
        </p:blipFill>
        <p:spPr>
          <a:xfrm>
            <a:off x="7171273" y="2439253"/>
            <a:ext cx="296997" cy="296997"/>
          </a:xfrm>
          <a:prstGeom prst="rect">
            <a:avLst/>
          </a:prstGeom>
        </p:spPr>
      </p:pic>
      <p:sp>
        <p:nvSpPr>
          <p:cNvPr id="49" name="Text 40"/>
          <p:cNvSpPr txBox="1"/>
          <p:nvPr/>
        </p:nvSpPr>
        <p:spPr>
          <a:xfrm>
            <a:off x="6601968"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Analysis Agent</a:t>
            </a:r>
            <a:endParaRPr lang="en-US" sz="1200" dirty="0"/>
          </a:p>
        </p:txBody>
      </p:sp>
      <p:sp>
        <p:nvSpPr>
          <p:cNvPr id="50" name="Text 41"/>
          <p:cNvSpPr txBox="1"/>
          <p:nvPr/>
        </p:nvSpPr>
        <p:spPr>
          <a:xfrm>
            <a:off x="6629400"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Runs MOT, variance and trend packs</a:t>
            </a:r>
            <a:endParaRPr lang="en-US" sz="900" dirty="0"/>
          </a:p>
        </p:txBody>
      </p:sp>
      <p:sp>
        <p:nvSpPr>
          <p:cNvPr id="51" name="Shape 42"/>
          <p:cNvSpPr/>
          <p:nvPr/>
        </p:nvSpPr>
        <p:spPr>
          <a:xfrm>
            <a:off x="9363456" y="2212848"/>
            <a:ext cx="1527048" cy="1426464"/>
          </a:xfrm>
          <a:prstGeom prst="roundRect">
            <a:avLst>
              <a:gd name="adj" fmla="val 5128"/>
            </a:avLst>
          </a:prstGeom>
          <a:solidFill>
            <a:srgbClr val="FFFFFF"/>
          </a:solidFill>
          <a:ln w="9525">
            <a:solidFill>
              <a:srgbClr val="C8D8EC"/>
            </a:solidFill>
            <a:prstDash val="solid"/>
          </a:ln>
        </p:spPr>
      </p:sp>
      <p:sp>
        <p:nvSpPr>
          <p:cNvPr id="52" name="Shape 43"/>
          <p:cNvSpPr/>
          <p:nvPr/>
        </p:nvSpPr>
        <p:spPr>
          <a:xfrm>
            <a:off x="9861804" y="2322576"/>
            <a:ext cx="530352" cy="530352"/>
          </a:xfrm>
          <a:prstGeom prst="roundRect">
            <a:avLst>
              <a:gd name="adj" fmla="val 17241"/>
            </a:avLst>
          </a:prstGeom>
          <a:solidFill>
            <a:srgbClr val="5B4FA8"/>
          </a:solidFill>
          <a:ln w="12700">
            <a:solidFill>
              <a:srgbClr val="5B4FA8"/>
            </a:solidFill>
            <a:prstDash val="solid"/>
          </a:ln>
        </p:spPr>
      </p:sp>
      <p:pic>
        <p:nvPicPr>
          <p:cNvPr id="53" name="Image 7" descr="preencoded.png">    </p:cNvPr>
          <p:cNvPicPr>
            <a:picLocks noChangeAspect="1"/>
          </p:cNvPicPr>
          <p:nvPr/>
        </p:nvPicPr>
        <p:blipFill>
          <a:blip r:embed="rId8"/>
          <a:stretch>
            <a:fillRect/>
          </a:stretch>
        </p:blipFill>
        <p:spPr>
          <a:xfrm>
            <a:off x="9978481" y="2439253"/>
            <a:ext cx="296997" cy="296997"/>
          </a:xfrm>
          <a:prstGeom prst="rect">
            <a:avLst/>
          </a:prstGeom>
        </p:spPr>
      </p:pic>
      <p:sp>
        <p:nvSpPr>
          <p:cNvPr id="54" name="Text 44"/>
          <p:cNvSpPr txBox="1"/>
          <p:nvPr/>
        </p:nvSpPr>
        <p:spPr>
          <a:xfrm>
            <a:off x="9409176"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Agent One</a:t>
            </a:r>
            <a:endParaRPr lang="en-US" sz="1200" dirty="0"/>
          </a:p>
        </p:txBody>
      </p:sp>
      <p:sp>
        <p:nvSpPr>
          <p:cNvPr id="55" name="Text 45"/>
          <p:cNvSpPr txBox="1"/>
          <p:nvPr/>
        </p:nvSpPr>
        <p:spPr>
          <a:xfrm>
            <a:off x="9436608"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Explain movements and variances, draft commentary</a:t>
            </a:r>
            <a:endParaRPr lang="en-US" sz="900" dirty="0"/>
          </a:p>
        </p:txBody>
      </p:sp>
      <p:sp>
        <p:nvSpPr>
          <p:cNvPr id="56" name="Shape 46"/>
          <p:cNvSpPr/>
          <p:nvPr/>
        </p:nvSpPr>
        <p:spPr>
          <a:xfrm>
            <a:off x="12170664" y="2212848"/>
            <a:ext cx="1527048" cy="1426464"/>
          </a:xfrm>
          <a:prstGeom prst="roundRect">
            <a:avLst>
              <a:gd name="adj" fmla="val 5128"/>
            </a:avLst>
          </a:prstGeom>
          <a:solidFill>
            <a:srgbClr val="FFFFFF"/>
          </a:solidFill>
          <a:ln w="9525">
            <a:solidFill>
              <a:srgbClr val="C8D8EC"/>
            </a:solidFill>
            <a:prstDash val="solid"/>
          </a:ln>
        </p:spPr>
      </p:sp>
      <p:sp>
        <p:nvSpPr>
          <p:cNvPr id="57" name="Shape 47"/>
          <p:cNvSpPr/>
          <p:nvPr/>
        </p:nvSpPr>
        <p:spPr>
          <a:xfrm>
            <a:off x="12669012" y="2322576"/>
            <a:ext cx="530352" cy="530352"/>
          </a:xfrm>
          <a:prstGeom prst="roundRect">
            <a:avLst>
              <a:gd name="adj" fmla="val 17241"/>
            </a:avLst>
          </a:prstGeom>
          <a:solidFill>
            <a:srgbClr val="1F6FB5"/>
          </a:solidFill>
          <a:ln w="12700">
            <a:solidFill>
              <a:srgbClr val="1F6FB5"/>
            </a:solidFill>
            <a:prstDash val="solid"/>
          </a:ln>
        </p:spPr>
      </p:sp>
      <p:pic>
        <p:nvPicPr>
          <p:cNvPr id="58" name="Image 8" descr="preencoded.png">    </p:cNvPr>
          <p:cNvPicPr>
            <a:picLocks noChangeAspect="1"/>
          </p:cNvPicPr>
          <p:nvPr/>
        </p:nvPicPr>
        <p:blipFill>
          <a:blip r:embed="rId9"/>
          <a:stretch>
            <a:fillRect/>
          </a:stretch>
        </p:blipFill>
        <p:spPr>
          <a:xfrm>
            <a:off x="12785689" y="2439253"/>
            <a:ext cx="296997" cy="296997"/>
          </a:xfrm>
          <a:prstGeom prst="rect">
            <a:avLst/>
          </a:prstGeom>
        </p:spPr>
      </p:pic>
      <p:sp>
        <p:nvSpPr>
          <p:cNvPr id="59" name="Text 48"/>
          <p:cNvSpPr txBox="1"/>
          <p:nvPr/>
        </p:nvSpPr>
        <p:spPr>
          <a:xfrm>
            <a:off x="12216384"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Analysis Workbench</a:t>
            </a:r>
            <a:endParaRPr lang="en-US" sz="1200" dirty="0"/>
          </a:p>
        </p:txBody>
      </p:sp>
      <p:sp>
        <p:nvSpPr>
          <p:cNvPr id="60" name="Text 49"/>
          <p:cNvSpPr txBox="1"/>
          <p:nvPr/>
        </p:nvSpPr>
        <p:spPr>
          <a:xfrm>
            <a:off x="12243816"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Packs, commentary and chat per entity</a:t>
            </a:r>
            <a:endParaRPr lang="en-US" sz="900" dirty="0"/>
          </a:p>
        </p:txBody>
      </p:sp>
      <p:sp>
        <p:nvSpPr>
          <p:cNvPr id="61" name="Shape 50"/>
          <p:cNvSpPr/>
          <p:nvPr/>
        </p:nvSpPr>
        <p:spPr>
          <a:xfrm>
            <a:off x="932688" y="4645152"/>
            <a:ext cx="1527048" cy="1261872"/>
          </a:xfrm>
          <a:prstGeom prst="roundRect">
            <a:avLst>
              <a:gd name="adj" fmla="val 5797"/>
            </a:avLst>
          </a:prstGeom>
          <a:solidFill>
            <a:srgbClr val="FFFFFF"/>
          </a:solidFill>
          <a:ln w="9525">
            <a:solidFill>
              <a:srgbClr val="C8D8EC"/>
            </a:solidFill>
            <a:prstDash val="solid"/>
          </a:ln>
        </p:spPr>
      </p:sp>
      <p:sp>
        <p:nvSpPr>
          <p:cNvPr id="62" name="Shape 51"/>
          <p:cNvSpPr/>
          <p:nvPr/>
        </p:nvSpPr>
        <p:spPr>
          <a:xfrm>
            <a:off x="1431036" y="4754880"/>
            <a:ext cx="530352" cy="530352"/>
          </a:xfrm>
          <a:prstGeom prst="roundRect">
            <a:avLst>
              <a:gd name="adj" fmla="val 17241"/>
            </a:avLst>
          </a:prstGeom>
          <a:solidFill>
            <a:srgbClr val="4F7BB5"/>
          </a:solidFill>
          <a:ln w="12700">
            <a:solidFill>
              <a:srgbClr val="4F7BB5"/>
            </a:solidFill>
            <a:prstDash val="solid"/>
          </a:ln>
        </p:spPr>
      </p:sp>
      <p:pic>
        <p:nvPicPr>
          <p:cNvPr id="63" name="Image 9" descr="preencoded.png">    </p:cNvPr>
          <p:cNvPicPr>
            <a:picLocks noChangeAspect="1"/>
          </p:cNvPicPr>
          <p:nvPr/>
        </p:nvPicPr>
        <p:blipFill>
          <a:blip r:embed="rId10"/>
          <a:stretch>
            <a:fillRect/>
          </a:stretch>
        </p:blipFill>
        <p:spPr>
          <a:xfrm>
            <a:off x="1547713" y="4871557"/>
            <a:ext cx="296997" cy="296997"/>
          </a:xfrm>
          <a:prstGeom prst="rect">
            <a:avLst/>
          </a:prstGeom>
        </p:spPr>
      </p:pic>
      <p:sp>
        <p:nvSpPr>
          <p:cNvPr id="64" name="Text 52"/>
          <p:cNvSpPr txBox="1"/>
          <p:nvPr/>
        </p:nvSpPr>
        <p:spPr>
          <a:xfrm>
            <a:off x="978408" y="5349240"/>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Reference Data</a:t>
            </a:r>
            <a:endParaRPr lang="en-US" sz="1200" dirty="0"/>
          </a:p>
        </p:txBody>
      </p:sp>
      <p:sp>
        <p:nvSpPr>
          <p:cNvPr id="65" name="Text 53"/>
          <p:cNvSpPr txBox="1"/>
          <p:nvPr/>
        </p:nvSpPr>
        <p:spPr>
          <a:xfrm>
            <a:off x="1005840" y="5559552"/>
            <a:ext cx="1380744"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Hierarchies, FX for presentation currency</a:t>
            </a:r>
            <a:endParaRPr lang="en-US" sz="900" dirty="0"/>
          </a:p>
        </p:txBody>
      </p:sp>
      <p:sp>
        <p:nvSpPr>
          <p:cNvPr id="66" name="Shape 54"/>
          <p:cNvSpPr/>
          <p:nvPr/>
        </p:nvSpPr>
        <p:spPr>
          <a:xfrm>
            <a:off x="3739896" y="4645152"/>
            <a:ext cx="1527048" cy="1261872"/>
          </a:xfrm>
          <a:prstGeom prst="roundRect">
            <a:avLst>
              <a:gd name="adj" fmla="val 5797"/>
            </a:avLst>
          </a:prstGeom>
          <a:solidFill>
            <a:srgbClr val="FFFFFF"/>
          </a:solidFill>
          <a:ln w="9525">
            <a:solidFill>
              <a:srgbClr val="C8D8EC"/>
            </a:solidFill>
            <a:prstDash val="solid"/>
          </a:ln>
        </p:spPr>
      </p:sp>
      <p:sp>
        <p:nvSpPr>
          <p:cNvPr id="67" name="Shape 55"/>
          <p:cNvSpPr/>
          <p:nvPr/>
        </p:nvSpPr>
        <p:spPr>
          <a:xfrm>
            <a:off x="4238244" y="4754880"/>
            <a:ext cx="530352" cy="530352"/>
          </a:xfrm>
          <a:prstGeom prst="roundRect">
            <a:avLst>
              <a:gd name="adj" fmla="val 17241"/>
            </a:avLst>
          </a:prstGeom>
          <a:solidFill>
            <a:srgbClr val="3F86C8"/>
          </a:solidFill>
          <a:ln w="12700">
            <a:solidFill>
              <a:srgbClr val="3F86C8"/>
            </a:solidFill>
            <a:prstDash val="solid"/>
          </a:ln>
        </p:spPr>
      </p:sp>
      <p:pic>
        <p:nvPicPr>
          <p:cNvPr id="68" name="Image 10" descr="preencoded.png">    </p:cNvPr>
          <p:cNvPicPr>
            <a:picLocks noChangeAspect="1"/>
          </p:cNvPicPr>
          <p:nvPr/>
        </p:nvPicPr>
        <p:blipFill>
          <a:blip r:embed="rId11"/>
          <a:stretch>
            <a:fillRect/>
          </a:stretch>
        </p:blipFill>
        <p:spPr>
          <a:xfrm>
            <a:off x="4354921" y="4871557"/>
            <a:ext cx="296997" cy="296997"/>
          </a:xfrm>
          <a:prstGeom prst="rect">
            <a:avLst/>
          </a:prstGeom>
        </p:spPr>
      </p:pic>
      <p:sp>
        <p:nvSpPr>
          <p:cNvPr id="69" name="Text 56"/>
          <p:cNvSpPr txBox="1"/>
          <p:nvPr/>
        </p:nvSpPr>
        <p:spPr>
          <a:xfrm>
            <a:off x="3785616" y="5349240"/>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Business Outcome</a:t>
            </a:r>
            <a:endParaRPr lang="en-US" sz="1200" dirty="0"/>
          </a:p>
        </p:txBody>
      </p:sp>
      <p:sp>
        <p:nvSpPr>
          <p:cNvPr id="70" name="Text 57"/>
          <p:cNvSpPr txBox="1"/>
          <p:nvPr/>
        </p:nvSpPr>
        <p:spPr>
          <a:xfrm>
            <a:off x="3813048" y="5559552"/>
            <a:ext cx="1380744"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Ready when TB is published</a:t>
            </a:r>
            <a:endParaRPr lang="en-US" sz="900" dirty="0"/>
          </a:p>
        </p:txBody>
      </p:sp>
      <p:sp>
        <p:nvSpPr>
          <p:cNvPr id="71" name="Shape 58"/>
          <p:cNvSpPr/>
          <p:nvPr/>
        </p:nvSpPr>
        <p:spPr>
          <a:xfrm>
            <a:off x="6556248" y="4645152"/>
            <a:ext cx="1527048" cy="1261872"/>
          </a:xfrm>
          <a:prstGeom prst="roundRect">
            <a:avLst>
              <a:gd name="adj" fmla="val 5797"/>
            </a:avLst>
          </a:prstGeom>
          <a:solidFill>
            <a:srgbClr val="FFFFFF"/>
          </a:solidFill>
          <a:ln w="9525">
            <a:solidFill>
              <a:srgbClr val="C8D8EC"/>
            </a:solidFill>
            <a:prstDash val="solid"/>
          </a:ln>
        </p:spPr>
      </p:sp>
      <p:sp>
        <p:nvSpPr>
          <p:cNvPr id="72" name="Shape 59"/>
          <p:cNvSpPr/>
          <p:nvPr/>
        </p:nvSpPr>
        <p:spPr>
          <a:xfrm>
            <a:off x="7054596" y="4754880"/>
            <a:ext cx="530352" cy="530352"/>
          </a:xfrm>
          <a:prstGeom prst="roundRect">
            <a:avLst>
              <a:gd name="adj" fmla="val 17241"/>
            </a:avLst>
          </a:prstGeom>
          <a:solidFill>
            <a:srgbClr val="1E8A5A"/>
          </a:solidFill>
          <a:ln w="12700">
            <a:solidFill>
              <a:srgbClr val="1E8A5A"/>
            </a:solidFill>
            <a:prstDash val="solid"/>
          </a:ln>
        </p:spPr>
      </p:sp>
      <p:pic>
        <p:nvPicPr>
          <p:cNvPr id="73" name="Image 11" descr="preencoded.png">    </p:cNvPr>
          <p:cNvPicPr>
            <a:picLocks noChangeAspect="1"/>
          </p:cNvPicPr>
          <p:nvPr/>
        </p:nvPicPr>
        <p:blipFill>
          <a:blip r:embed="rId12"/>
          <a:stretch>
            <a:fillRect/>
          </a:stretch>
        </p:blipFill>
        <p:spPr>
          <a:xfrm>
            <a:off x="7171273" y="4871557"/>
            <a:ext cx="296997" cy="296997"/>
          </a:xfrm>
          <a:prstGeom prst="rect">
            <a:avLst/>
          </a:prstGeom>
        </p:spPr>
      </p:pic>
      <p:sp>
        <p:nvSpPr>
          <p:cNvPr id="74" name="Text 60"/>
          <p:cNvSpPr txBox="1"/>
          <p:nvPr/>
        </p:nvSpPr>
        <p:spPr>
          <a:xfrm>
            <a:off x="6601968" y="5349240"/>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Analytics Engine</a:t>
            </a:r>
            <a:endParaRPr lang="en-US" sz="1200" dirty="0"/>
          </a:p>
        </p:txBody>
      </p:sp>
      <p:sp>
        <p:nvSpPr>
          <p:cNvPr id="75" name="Text 61"/>
          <p:cNvSpPr txBox="1"/>
          <p:nvPr/>
        </p:nvSpPr>
        <p:spPr>
          <a:xfrm>
            <a:off x="6629400" y="5559552"/>
            <a:ext cx="1380744"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Computes movements and variances</a:t>
            </a:r>
            <a:endParaRPr lang="en-US" sz="900" dirty="0"/>
          </a:p>
        </p:txBody>
      </p:sp>
      <p:sp>
        <p:nvSpPr>
          <p:cNvPr id="76" name="Shape 62"/>
          <p:cNvSpPr/>
          <p:nvPr/>
        </p:nvSpPr>
        <p:spPr>
          <a:xfrm>
            <a:off x="9015984" y="4645152"/>
            <a:ext cx="1051560" cy="1261872"/>
          </a:xfrm>
          <a:prstGeom prst="roundRect">
            <a:avLst>
              <a:gd name="adj" fmla="val 6957"/>
            </a:avLst>
          </a:prstGeom>
          <a:solidFill>
            <a:srgbClr val="FFFFFF"/>
          </a:solidFill>
          <a:ln w="9525">
            <a:solidFill>
              <a:srgbClr val="C8D8EC"/>
            </a:solidFill>
            <a:prstDash val="solid"/>
          </a:ln>
        </p:spPr>
      </p:sp>
      <p:sp>
        <p:nvSpPr>
          <p:cNvPr id="77" name="Shape 63"/>
          <p:cNvSpPr/>
          <p:nvPr/>
        </p:nvSpPr>
        <p:spPr>
          <a:xfrm>
            <a:off x="9276588" y="4754880"/>
            <a:ext cx="530352" cy="530352"/>
          </a:xfrm>
          <a:prstGeom prst="roundRect">
            <a:avLst>
              <a:gd name="adj" fmla="val 17241"/>
            </a:avLst>
          </a:prstGeom>
          <a:solidFill>
            <a:srgbClr val="5B4FA8"/>
          </a:solidFill>
          <a:ln w="12700">
            <a:solidFill>
              <a:srgbClr val="5B4FA8"/>
            </a:solidFill>
            <a:prstDash val="solid"/>
          </a:ln>
        </p:spPr>
      </p:sp>
      <p:pic>
        <p:nvPicPr>
          <p:cNvPr id="78" name="Image 12" descr="preencoded.png">    </p:cNvPr>
          <p:cNvPicPr>
            <a:picLocks noChangeAspect="1"/>
          </p:cNvPicPr>
          <p:nvPr/>
        </p:nvPicPr>
        <p:blipFill>
          <a:blip r:embed="rId13"/>
          <a:stretch>
            <a:fillRect/>
          </a:stretch>
        </p:blipFill>
        <p:spPr>
          <a:xfrm>
            <a:off x="9393265" y="4871557"/>
            <a:ext cx="296997" cy="296997"/>
          </a:xfrm>
          <a:prstGeom prst="rect">
            <a:avLst/>
          </a:prstGeom>
        </p:spPr>
      </p:pic>
      <p:sp>
        <p:nvSpPr>
          <p:cNvPr id="79" name="Text 64"/>
          <p:cNvSpPr txBox="1"/>
          <p:nvPr/>
        </p:nvSpPr>
        <p:spPr>
          <a:xfrm>
            <a:off x="9061704" y="5349240"/>
            <a:ext cx="960120" cy="210312"/>
          </a:xfrm>
          <a:prstGeom prst="rect">
            <a:avLst/>
          </a:prstGeom>
          <a:noFill/>
          <a:ln/>
        </p:spPr>
        <p:txBody>
          <a:bodyPr wrap="square" lIns="0" tIns="0" rIns="0" bIns="0" rtlCol="0" anchor="ctr"/>
          <a:lstStyle/>
          <a:p>
            <a:pPr algn="ctr" indent="0" marL="0">
              <a:buNone/>
            </a:pPr>
            <a:r>
              <a:rPr lang="en-US" sz="1050" b="1" dirty="0">
                <a:solidFill>
                  <a:srgbClr val="1F2D3D"/>
                </a:solidFill>
                <a:latin typeface="Calibri" pitchFamily="34" charset="0"/>
                <a:ea typeface="Calibri" pitchFamily="34" charset="-122"/>
                <a:cs typeface="Calibri" pitchFamily="34" charset="-120"/>
              </a:rPr>
              <a:t>Data (MCP)</a:t>
            </a:r>
            <a:endParaRPr lang="en-US" sz="1050" dirty="0"/>
          </a:p>
        </p:txBody>
      </p:sp>
      <p:sp>
        <p:nvSpPr>
          <p:cNvPr id="80" name="Text 65"/>
          <p:cNvSpPr txBox="1"/>
          <p:nvPr/>
        </p:nvSpPr>
        <p:spPr>
          <a:xfrm>
            <a:off x="9089136" y="5559552"/>
            <a:ext cx="905256"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TB, balances, cost, impairments</a:t>
            </a:r>
            <a:endParaRPr lang="en-US" sz="900" dirty="0"/>
          </a:p>
        </p:txBody>
      </p:sp>
      <p:sp>
        <p:nvSpPr>
          <p:cNvPr id="81" name="Shape 66"/>
          <p:cNvSpPr/>
          <p:nvPr/>
        </p:nvSpPr>
        <p:spPr>
          <a:xfrm>
            <a:off x="10149840" y="4645152"/>
            <a:ext cx="1051560" cy="1261872"/>
          </a:xfrm>
          <a:prstGeom prst="roundRect">
            <a:avLst>
              <a:gd name="adj" fmla="val 6957"/>
            </a:avLst>
          </a:prstGeom>
          <a:solidFill>
            <a:srgbClr val="FFFFFF"/>
          </a:solidFill>
          <a:ln w="9525">
            <a:solidFill>
              <a:srgbClr val="C8D8EC"/>
            </a:solidFill>
            <a:prstDash val="solid"/>
          </a:ln>
        </p:spPr>
      </p:sp>
      <p:sp>
        <p:nvSpPr>
          <p:cNvPr id="82" name="Shape 67"/>
          <p:cNvSpPr/>
          <p:nvPr/>
        </p:nvSpPr>
        <p:spPr>
          <a:xfrm>
            <a:off x="10410444" y="4754880"/>
            <a:ext cx="530352" cy="530352"/>
          </a:xfrm>
          <a:prstGeom prst="roundRect">
            <a:avLst>
              <a:gd name="adj" fmla="val 17241"/>
            </a:avLst>
          </a:prstGeom>
          <a:solidFill>
            <a:srgbClr val="C0392B"/>
          </a:solidFill>
          <a:ln w="12700">
            <a:solidFill>
              <a:srgbClr val="C0392B"/>
            </a:solidFill>
            <a:prstDash val="solid"/>
          </a:ln>
        </p:spPr>
      </p:sp>
      <p:pic>
        <p:nvPicPr>
          <p:cNvPr id="83" name="Image 13" descr="preencoded.png">    </p:cNvPr>
          <p:cNvPicPr>
            <a:picLocks noChangeAspect="1"/>
          </p:cNvPicPr>
          <p:nvPr/>
        </p:nvPicPr>
        <p:blipFill>
          <a:blip r:embed="rId14"/>
          <a:stretch>
            <a:fillRect/>
          </a:stretch>
        </p:blipFill>
        <p:spPr>
          <a:xfrm>
            <a:off x="10527121" y="4871557"/>
            <a:ext cx="296997" cy="296997"/>
          </a:xfrm>
          <a:prstGeom prst="rect">
            <a:avLst/>
          </a:prstGeom>
        </p:spPr>
      </p:pic>
      <p:sp>
        <p:nvSpPr>
          <p:cNvPr id="84" name="Text 68"/>
          <p:cNvSpPr txBox="1"/>
          <p:nvPr/>
        </p:nvSpPr>
        <p:spPr>
          <a:xfrm>
            <a:off x="10195560" y="5349240"/>
            <a:ext cx="960120" cy="210312"/>
          </a:xfrm>
          <a:prstGeom prst="rect">
            <a:avLst/>
          </a:prstGeom>
          <a:noFill/>
          <a:ln/>
        </p:spPr>
        <p:txBody>
          <a:bodyPr wrap="square" lIns="0" tIns="0" rIns="0" bIns="0" rtlCol="0" anchor="ctr"/>
          <a:lstStyle/>
          <a:p>
            <a:pPr algn="ctr" indent="0" marL="0">
              <a:buNone/>
            </a:pPr>
            <a:r>
              <a:rPr lang="en-US" sz="1050" b="1" dirty="0">
                <a:solidFill>
                  <a:srgbClr val="1F2D3D"/>
                </a:solidFill>
                <a:latin typeface="Calibri" pitchFamily="34" charset="0"/>
                <a:ea typeface="Calibri" pitchFamily="34" charset="-122"/>
                <a:cs typeface="Calibri" pitchFamily="34" charset="-120"/>
              </a:rPr>
              <a:t>Commentary</a:t>
            </a:r>
            <a:endParaRPr lang="en-US" sz="1050" dirty="0"/>
          </a:p>
        </p:txBody>
      </p:sp>
      <p:sp>
        <p:nvSpPr>
          <p:cNvPr id="85" name="Text 69"/>
          <p:cNvSpPr txBox="1"/>
          <p:nvPr/>
        </p:nvSpPr>
        <p:spPr>
          <a:xfrm>
            <a:off x="10222992" y="5559552"/>
            <a:ext cx="905256"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Publishes approved text</a:t>
            </a:r>
            <a:endParaRPr lang="en-US" sz="900" dirty="0"/>
          </a:p>
        </p:txBody>
      </p:sp>
      <p:sp>
        <p:nvSpPr>
          <p:cNvPr id="86" name="Shape 70"/>
          <p:cNvSpPr/>
          <p:nvPr/>
        </p:nvSpPr>
        <p:spPr>
          <a:xfrm>
            <a:off x="12170664" y="4645152"/>
            <a:ext cx="1527048" cy="1261872"/>
          </a:xfrm>
          <a:prstGeom prst="roundRect">
            <a:avLst>
              <a:gd name="adj" fmla="val 5797"/>
            </a:avLst>
          </a:prstGeom>
          <a:solidFill>
            <a:srgbClr val="FFFFFF"/>
          </a:solidFill>
          <a:ln w="9525">
            <a:solidFill>
              <a:srgbClr val="C8D8EC"/>
            </a:solidFill>
            <a:prstDash val="solid"/>
          </a:ln>
        </p:spPr>
      </p:sp>
      <p:sp>
        <p:nvSpPr>
          <p:cNvPr id="87" name="Shape 71"/>
          <p:cNvSpPr/>
          <p:nvPr/>
        </p:nvSpPr>
        <p:spPr>
          <a:xfrm>
            <a:off x="12669012" y="4754880"/>
            <a:ext cx="530352" cy="530352"/>
          </a:xfrm>
          <a:prstGeom prst="roundRect">
            <a:avLst>
              <a:gd name="adj" fmla="val 17241"/>
            </a:avLst>
          </a:prstGeom>
          <a:solidFill>
            <a:srgbClr val="1F6FB5"/>
          </a:solidFill>
          <a:ln w="12700">
            <a:solidFill>
              <a:srgbClr val="1F6FB5"/>
            </a:solidFill>
            <a:prstDash val="solid"/>
          </a:ln>
        </p:spPr>
      </p:sp>
      <p:pic>
        <p:nvPicPr>
          <p:cNvPr id="88" name="Image 14" descr="preencoded.png">    </p:cNvPr>
          <p:cNvPicPr>
            <a:picLocks noChangeAspect="1"/>
          </p:cNvPicPr>
          <p:nvPr/>
        </p:nvPicPr>
        <p:blipFill>
          <a:blip r:embed="rId15"/>
          <a:stretch>
            <a:fillRect/>
          </a:stretch>
        </p:blipFill>
        <p:spPr>
          <a:xfrm>
            <a:off x="12785689" y="4871557"/>
            <a:ext cx="296997" cy="296997"/>
          </a:xfrm>
          <a:prstGeom prst="rect">
            <a:avLst/>
          </a:prstGeom>
        </p:spPr>
      </p:pic>
      <p:sp>
        <p:nvSpPr>
          <p:cNvPr id="89" name="Text 72"/>
          <p:cNvSpPr txBox="1"/>
          <p:nvPr/>
        </p:nvSpPr>
        <p:spPr>
          <a:xfrm>
            <a:off x="12216384" y="5349240"/>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Finance Controller</a:t>
            </a:r>
            <a:endParaRPr lang="en-US" sz="1200" dirty="0"/>
          </a:p>
        </p:txBody>
      </p:sp>
      <p:sp>
        <p:nvSpPr>
          <p:cNvPr id="90" name="Text 73"/>
          <p:cNvSpPr txBox="1"/>
          <p:nvPr/>
        </p:nvSpPr>
        <p:spPr>
          <a:xfrm>
            <a:off x="12243816" y="5559552"/>
            <a:ext cx="1380744"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Reviews, edits, approves commentary</a:t>
            </a:r>
            <a:endParaRPr lang="en-US" sz="900" dirty="0"/>
          </a:p>
        </p:txBody>
      </p:sp>
      <p:sp>
        <p:nvSpPr>
          <p:cNvPr id="91" name="Shape 74"/>
          <p:cNvSpPr/>
          <p:nvPr/>
        </p:nvSpPr>
        <p:spPr>
          <a:xfrm>
            <a:off x="2459736" y="2615184"/>
            <a:ext cx="1280160" cy="0"/>
          </a:xfrm>
          <a:prstGeom prst="line">
            <a:avLst/>
          </a:prstGeom>
          <a:noFill/>
          <a:ln w="19050">
            <a:solidFill>
              <a:srgbClr val="1F4E8C"/>
            </a:solidFill>
            <a:prstDash val="solid"/>
            <a:tailEnd type="triangle"/>
          </a:ln>
        </p:spPr>
      </p:sp>
      <p:sp>
        <p:nvSpPr>
          <p:cNvPr id="92" name="Shape 75"/>
          <p:cNvSpPr/>
          <p:nvPr/>
        </p:nvSpPr>
        <p:spPr>
          <a:xfrm>
            <a:off x="2532888" y="2286000"/>
            <a:ext cx="219456" cy="219456"/>
          </a:xfrm>
          <a:prstGeom prst="ellipse">
            <a:avLst/>
          </a:prstGeom>
          <a:solidFill>
            <a:srgbClr val="1F4E8C"/>
          </a:solidFill>
          <a:ln w="12700">
            <a:solidFill>
              <a:srgbClr val="1F4E8C"/>
            </a:solidFill>
            <a:prstDash val="solid"/>
          </a:ln>
        </p:spPr>
      </p:sp>
      <p:sp>
        <p:nvSpPr>
          <p:cNvPr id="93" name="Text 76"/>
          <p:cNvSpPr txBox="1"/>
          <p:nvPr/>
        </p:nvSpPr>
        <p:spPr>
          <a:xfrm>
            <a:off x="2532888" y="228600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94" name="Text 77"/>
          <p:cNvSpPr txBox="1"/>
          <p:nvPr/>
        </p:nvSpPr>
        <p:spPr>
          <a:xfrm>
            <a:off x="2788920" y="2029968"/>
            <a:ext cx="914400" cy="365760"/>
          </a:xfrm>
          <a:prstGeom prst="rect">
            <a:avLst/>
          </a:prstGeom>
          <a:solidFill>
            <a:srgbClr val="FFFFFF">
              <a:alpha val="0"/>
            </a:srgbClr>
          </a:solidFill>
          <a:ln/>
        </p:spPr>
        <p:txBody>
          <a:bodyPr wrap="square" lIns="0" tIns="0" rIns="0" bIns="0" rtlCol="0" anchor="b"/>
          <a:lstStyle/>
          <a:p>
            <a:pPr indent="0" marL="0">
              <a:buNone/>
            </a:pPr>
            <a:r>
              <a:rPr lang="en-US" sz="900" dirty="0">
                <a:solidFill>
                  <a:srgbClr val="1F2D3D"/>
                </a:solidFill>
                <a:latin typeface="Calibri" pitchFamily="34" charset="0"/>
                <a:ea typeface="Calibri" pitchFamily="34" charset="-122"/>
                <a:cs typeface="Calibri" pitchFamily="34" charset="-120"/>
              </a:rPr>
              <a:t>TB published</a:t>
            </a:r>
            <a:endParaRPr lang="en-US" sz="900" dirty="0"/>
          </a:p>
        </p:txBody>
      </p:sp>
      <p:sp>
        <p:nvSpPr>
          <p:cNvPr id="95" name="Shape 78"/>
          <p:cNvSpPr/>
          <p:nvPr/>
        </p:nvSpPr>
        <p:spPr>
          <a:xfrm>
            <a:off x="5266944" y="2615184"/>
            <a:ext cx="1289304" cy="0"/>
          </a:xfrm>
          <a:prstGeom prst="line">
            <a:avLst/>
          </a:prstGeom>
          <a:noFill/>
          <a:ln w="19050">
            <a:solidFill>
              <a:srgbClr val="2A6EBB"/>
            </a:solidFill>
            <a:prstDash val="solid"/>
            <a:tailEnd type="triangle"/>
          </a:ln>
        </p:spPr>
      </p:sp>
      <p:sp>
        <p:nvSpPr>
          <p:cNvPr id="96" name="Shape 79"/>
          <p:cNvSpPr/>
          <p:nvPr/>
        </p:nvSpPr>
        <p:spPr>
          <a:xfrm>
            <a:off x="5340096" y="2286000"/>
            <a:ext cx="219456" cy="219456"/>
          </a:xfrm>
          <a:prstGeom prst="ellipse">
            <a:avLst/>
          </a:prstGeom>
          <a:solidFill>
            <a:srgbClr val="2A6EBB"/>
          </a:solidFill>
          <a:ln w="12700">
            <a:solidFill>
              <a:srgbClr val="2A6EBB"/>
            </a:solidFill>
            <a:prstDash val="solid"/>
          </a:ln>
        </p:spPr>
      </p:sp>
      <p:sp>
        <p:nvSpPr>
          <p:cNvPr id="97" name="Text 80"/>
          <p:cNvSpPr txBox="1"/>
          <p:nvPr/>
        </p:nvSpPr>
        <p:spPr>
          <a:xfrm>
            <a:off x="5340096" y="228600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98" name="Text 81"/>
          <p:cNvSpPr txBox="1"/>
          <p:nvPr/>
        </p:nvSpPr>
        <p:spPr>
          <a:xfrm>
            <a:off x="5596128" y="2029968"/>
            <a:ext cx="923544" cy="365760"/>
          </a:xfrm>
          <a:prstGeom prst="rect">
            <a:avLst/>
          </a:prstGeom>
          <a:solidFill>
            <a:srgbClr val="FFFFFF">
              <a:alpha val="0"/>
            </a:srgbClr>
          </a:solidFill>
          <a:ln/>
        </p:spPr>
        <p:txBody>
          <a:bodyPr wrap="square" lIns="0" tIns="0" rIns="0" bIns="0" rtlCol="0" anchor="b"/>
          <a:lstStyle/>
          <a:p>
            <a:pPr indent="0" marL="0">
              <a:buNone/>
            </a:pPr>
            <a:r>
              <a:rPr lang="en-US" sz="900" dirty="0">
                <a:solidFill>
                  <a:srgbClr val="1F2D3D"/>
                </a:solidFill>
                <a:latin typeface="Calibri" pitchFamily="34" charset="0"/>
                <a:ea typeface="Calibri" pitchFamily="34" charset="-122"/>
                <a:cs typeface="Calibri" pitchFamily="34" charset="-120"/>
              </a:rPr>
              <a:t>Entity Ready event</a:t>
            </a:r>
            <a:endParaRPr lang="en-US" sz="900" dirty="0"/>
          </a:p>
        </p:txBody>
      </p:sp>
      <p:sp>
        <p:nvSpPr>
          <p:cNvPr id="99" name="Shape 82"/>
          <p:cNvSpPr/>
          <p:nvPr/>
        </p:nvSpPr>
        <p:spPr>
          <a:xfrm>
            <a:off x="8083296" y="2615184"/>
            <a:ext cx="1280160" cy="0"/>
          </a:xfrm>
          <a:prstGeom prst="line">
            <a:avLst/>
          </a:prstGeom>
          <a:noFill/>
          <a:ln w="19050">
            <a:solidFill>
              <a:srgbClr val="1E8A5A"/>
            </a:solidFill>
            <a:prstDash val="solid"/>
            <a:tailEnd type="triangle"/>
          </a:ln>
        </p:spPr>
      </p:sp>
      <p:sp>
        <p:nvSpPr>
          <p:cNvPr id="100" name="Shape 83"/>
          <p:cNvSpPr/>
          <p:nvPr/>
        </p:nvSpPr>
        <p:spPr>
          <a:xfrm>
            <a:off x="8156448" y="2286000"/>
            <a:ext cx="219456" cy="219456"/>
          </a:xfrm>
          <a:prstGeom prst="ellipse">
            <a:avLst/>
          </a:prstGeom>
          <a:solidFill>
            <a:srgbClr val="1E8A5A"/>
          </a:solidFill>
          <a:ln w="12700">
            <a:solidFill>
              <a:srgbClr val="1E8A5A"/>
            </a:solidFill>
            <a:prstDash val="solid"/>
          </a:ln>
        </p:spPr>
      </p:sp>
      <p:sp>
        <p:nvSpPr>
          <p:cNvPr id="101" name="Text 84"/>
          <p:cNvSpPr txBox="1"/>
          <p:nvPr/>
        </p:nvSpPr>
        <p:spPr>
          <a:xfrm>
            <a:off x="8156448" y="228600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02" name="Text 85"/>
          <p:cNvSpPr txBox="1"/>
          <p:nvPr/>
        </p:nvSpPr>
        <p:spPr>
          <a:xfrm>
            <a:off x="8412480" y="2029968"/>
            <a:ext cx="914400" cy="365760"/>
          </a:xfrm>
          <a:prstGeom prst="rect">
            <a:avLst/>
          </a:prstGeom>
          <a:solidFill>
            <a:srgbClr val="FFFFFF">
              <a:alpha val="0"/>
            </a:srgbClr>
          </a:solidFill>
          <a:ln/>
        </p:spPr>
        <p:txBody>
          <a:bodyPr wrap="square" lIns="0" tIns="0" rIns="0" bIns="0" rtlCol="0" anchor="b"/>
          <a:lstStyle/>
          <a:p>
            <a:pPr indent="0" marL="0">
              <a:buNone/>
            </a:pPr>
            <a:r>
              <a:rPr lang="en-US" sz="900" dirty="0">
                <a:solidFill>
                  <a:srgbClr val="1F2D3D"/>
                </a:solidFill>
                <a:latin typeface="Calibri" pitchFamily="34" charset="0"/>
                <a:ea typeface="Calibri" pitchFamily="34" charset="-122"/>
                <a:cs typeface="Calibri" pitchFamily="34" charset="-120"/>
              </a:rPr>
              <a:t>Start analysis session</a:t>
            </a:r>
            <a:endParaRPr lang="en-US" sz="900" dirty="0"/>
          </a:p>
        </p:txBody>
      </p:sp>
      <p:sp>
        <p:nvSpPr>
          <p:cNvPr id="103" name="Shape 86"/>
          <p:cNvSpPr/>
          <p:nvPr/>
        </p:nvSpPr>
        <p:spPr>
          <a:xfrm>
            <a:off x="10890504" y="2615184"/>
            <a:ext cx="1280160" cy="0"/>
          </a:xfrm>
          <a:prstGeom prst="line">
            <a:avLst/>
          </a:prstGeom>
          <a:noFill/>
          <a:ln w="19050">
            <a:solidFill>
              <a:srgbClr val="5B4FA8"/>
            </a:solidFill>
            <a:prstDash val="solid"/>
            <a:tailEnd type="triangle"/>
          </a:ln>
        </p:spPr>
      </p:sp>
      <p:sp>
        <p:nvSpPr>
          <p:cNvPr id="104" name="Shape 87"/>
          <p:cNvSpPr/>
          <p:nvPr/>
        </p:nvSpPr>
        <p:spPr>
          <a:xfrm>
            <a:off x="10963656" y="2286000"/>
            <a:ext cx="219456" cy="219456"/>
          </a:xfrm>
          <a:prstGeom prst="ellipse">
            <a:avLst/>
          </a:prstGeom>
          <a:solidFill>
            <a:srgbClr val="5B4FA8"/>
          </a:solidFill>
          <a:ln w="12700">
            <a:solidFill>
              <a:srgbClr val="5B4FA8"/>
            </a:solidFill>
            <a:prstDash val="solid"/>
          </a:ln>
        </p:spPr>
      </p:sp>
      <p:sp>
        <p:nvSpPr>
          <p:cNvPr id="105" name="Text 88"/>
          <p:cNvSpPr txBox="1"/>
          <p:nvPr/>
        </p:nvSpPr>
        <p:spPr>
          <a:xfrm>
            <a:off x="10963656" y="228600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106" name="Text 89"/>
          <p:cNvSpPr txBox="1"/>
          <p:nvPr/>
        </p:nvSpPr>
        <p:spPr>
          <a:xfrm>
            <a:off x="11219688" y="2029968"/>
            <a:ext cx="914400" cy="365760"/>
          </a:xfrm>
          <a:prstGeom prst="rect">
            <a:avLst/>
          </a:prstGeom>
          <a:solidFill>
            <a:srgbClr val="FFFFFF">
              <a:alpha val="0"/>
            </a:srgbClr>
          </a:solidFill>
          <a:ln/>
        </p:spPr>
        <p:txBody>
          <a:bodyPr wrap="square" lIns="0" tIns="0" rIns="0" bIns="0" rtlCol="0" anchor="b"/>
          <a:lstStyle/>
          <a:p>
            <a:pPr indent="0" marL="0">
              <a:buNone/>
            </a:pPr>
            <a:r>
              <a:rPr lang="en-US" sz="900" dirty="0">
                <a:solidFill>
                  <a:srgbClr val="1F2D3D"/>
                </a:solidFill>
                <a:latin typeface="Calibri" pitchFamily="34" charset="0"/>
                <a:ea typeface="Calibri" pitchFamily="34" charset="-122"/>
                <a:cs typeface="Calibri" pitchFamily="34" charset="-120"/>
              </a:rPr>
              <a:t>Explain and draft published</a:t>
            </a:r>
            <a:endParaRPr lang="en-US" sz="900" dirty="0"/>
          </a:p>
        </p:txBody>
      </p:sp>
      <p:sp>
        <p:nvSpPr>
          <p:cNvPr id="107" name="Shape 90"/>
          <p:cNvSpPr/>
          <p:nvPr/>
        </p:nvSpPr>
        <p:spPr>
          <a:xfrm>
            <a:off x="10890504" y="3218688"/>
            <a:ext cx="1280160" cy="0"/>
          </a:xfrm>
          <a:prstGeom prst="line">
            <a:avLst/>
          </a:prstGeom>
          <a:noFill/>
          <a:ln w="19050">
            <a:solidFill>
              <a:srgbClr val="1F6FB5"/>
            </a:solidFill>
            <a:prstDash val="solid"/>
            <a:headEnd type="triangle"/>
          </a:ln>
        </p:spPr>
      </p:sp>
      <p:sp>
        <p:nvSpPr>
          <p:cNvPr id="108" name="Shape 91"/>
          <p:cNvSpPr/>
          <p:nvPr/>
        </p:nvSpPr>
        <p:spPr>
          <a:xfrm>
            <a:off x="10963656" y="3291840"/>
            <a:ext cx="219456" cy="219456"/>
          </a:xfrm>
          <a:prstGeom prst="ellipse">
            <a:avLst/>
          </a:prstGeom>
          <a:solidFill>
            <a:srgbClr val="1F6FB5"/>
          </a:solidFill>
          <a:ln w="12700">
            <a:solidFill>
              <a:srgbClr val="1F6FB5"/>
            </a:solidFill>
            <a:prstDash val="solid"/>
          </a:ln>
        </p:spPr>
      </p:sp>
      <p:sp>
        <p:nvSpPr>
          <p:cNvPr id="109" name="Text 92"/>
          <p:cNvSpPr txBox="1"/>
          <p:nvPr/>
        </p:nvSpPr>
        <p:spPr>
          <a:xfrm>
            <a:off x="10963656" y="329184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7</a:t>
            </a:r>
            <a:endParaRPr lang="en-US" sz="900" dirty="0"/>
          </a:p>
        </p:txBody>
      </p:sp>
      <p:sp>
        <p:nvSpPr>
          <p:cNvPr id="110" name="Text 93"/>
          <p:cNvSpPr txBox="1"/>
          <p:nvPr/>
        </p:nvSpPr>
        <p:spPr>
          <a:xfrm>
            <a:off x="11219688" y="3273552"/>
            <a:ext cx="914400" cy="365760"/>
          </a:xfrm>
          <a:prstGeom prst="rect">
            <a:avLst/>
          </a:prstGeom>
          <a:noFill/>
          <a:ln/>
        </p:spPr>
        <p:txBody>
          <a:bodyPr wrap="square" lIns="0" tIns="0" rIns="0" bIns="0" rtlCol="0" anchor="t"/>
          <a:lstStyle/>
          <a:p>
            <a:pPr indent="0" marL="0">
              <a:buNone/>
            </a:pPr>
            <a:r>
              <a:rPr lang="en-US" sz="900" dirty="0">
                <a:solidFill>
                  <a:srgbClr val="1F2D3D"/>
                </a:solidFill>
                <a:latin typeface="Calibri" pitchFamily="34" charset="0"/>
                <a:ea typeface="Calibri" pitchFamily="34" charset="-122"/>
                <a:cs typeface="Calibri" pitchFamily="34" charset="-120"/>
              </a:rPr>
              <a:t>Q&amp;A and approval</a:t>
            </a:r>
            <a:endParaRPr lang="en-US" sz="900" dirty="0"/>
          </a:p>
        </p:txBody>
      </p:sp>
      <p:sp>
        <p:nvSpPr>
          <p:cNvPr id="111" name="Shape 94"/>
          <p:cNvSpPr/>
          <p:nvPr/>
        </p:nvSpPr>
        <p:spPr>
          <a:xfrm>
            <a:off x="1696212" y="3639312"/>
            <a:ext cx="0" cy="1005840"/>
          </a:xfrm>
          <a:prstGeom prst="line">
            <a:avLst/>
          </a:prstGeom>
          <a:noFill/>
          <a:ln w="15875">
            <a:solidFill>
              <a:srgbClr val="4F7BB5"/>
            </a:solidFill>
            <a:prstDash val="dash"/>
            <a:headEnd type="triangle"/>
          </a:ln>
        </p:spPr>
      </p:sp>
      <p:sp>
        <p:nvSpPr>
          <p:cNvPr id="112" name="Text 95"/>
          <p:cNvSpPr txBox="1"/>
          <p:nvPr/>
        </p:nvSpPr>
        <p:spPr>
          <a:xfrm>
            <a:off x="1787652" y="4005072"/>
            <a:ext cx="868680" cy="274320"/>
          </a:xfrm>
          <a:prstGeom prst="rect">
            <a:avLst/>
          </a:prstGeom>
          <a:noFill/>
          <a:ln/>
        </p:spPr>
        <p:txBody>
          <a:bodyPr wrap="square" lIns="0" tIns="0" rIns="0" bIns="0" rtlCol="0" anchor="ctr"/>
          <a:lstStyle/>
          <a:p>
            <a:pPr indent="0" marL="0">
              <a:buNone/>
            </a:pPr>
            <a:r>
              <a:rPr lang="en-US" sz="900" dirty="0">
                <a:solidFill>
                  <a:srgbClr val="1F2D3D"/>
                </a:solidFill>
                <a:latin typeface="Calibri" pitchFamily="34" charset="0"/>
                <a:ea typeface="Calibri" pitchFamily="34" charset="-122"/>
                <a:cs typeface="Calibri" pitchFamily="34" charset="-120"/>
              </a:rPr>
              <a:t>Hierarchies</a:t>
            </a:r>
            <a:endParaRPr lang="en-US" sz="900" dirty="0"/>
          </a:p>
        </p:txBody>
      </p:sp>
      <p:sp>
        <p:nvSpPr>
          <p:cNvPr id="113" name="Shape 96"/>
          <p:cNvSpPr/>
          <p:nvPr/>
        </p:nvSpPr>
        <p:spPr>
          <a:xfrm>
            <a:off x="4503420" y="3639312"/>
            <a:ext cx="0" cy="1005840"/>
          </a:xfrm>
          <a:prstGeom prst="line">
            <a:avLst/>
          </a:prstGeom>
          <a:noFill/>
          <a:ln w="15875">
            <a:solidFill>
              <a:srgbClr val="3F86C8"/>
            </a:solidFill>
            <a:prstDash val="dash"/>
            <a:tailEnd type="triangle"/>
          </a:ln>
        </p:spPr>
      </p:sp>
      <p:sp>
        <p:nvSpPr>
          <p:cNvPr id="114" name="Text 97"/>
          <p:cNvSpPr txBox="1"/>
          <p:nvPr/>
        </p:nvSpPr>
        <p:spPr>
          <a:xfrm>
            <a:off x="4594860" y="4005072"/>
            <a:ext cx="868680" cy="274320"/>
          </a:xfrm>
          <a:prstGeom prst="rect">
            <a:avLst/>
          </a:prstGeom>
          <a:noFill/>
          <a:ln/>
        </p:spPr>
        <p:txBody>
          <a:bodyPr wrap="square" lIns="0" tIns="0" rIns="0" bIns="0" rtlCol="0" anchor="ctr"/>
          <a:lstStyle/>
          <a:p>
            <a:pPr indent="0" marL="0">
              <a:buNone/>
            </a:pPr>
            <a:r>
              <a:rPr lang="en-US" sz="900" dirty="0">
                <a:solidFill>
                  <a:srgbClr val="1F2D3D"/>
                </a:solidFill>
                <a:latin typeface="Calibri" pitchFamily="34" charset="0"/>
                <a:ea typeface="Calibri" pitchFamily="34" charset="-122"/>
                <a:cs typeface="Calibri" pitchFamily="34" charset="-120"/>
              </a:rPr>
              <a:t>Evaluates</a:t>
            </a:r>
            <a:endParaRPr lang="en-US" sz="900" dirty="0"/>
          </a:p>
        </p:txBody>
      </p:sp>
      <p:sp>
        <p:nvSpPr>
          <p:cNvPr id="115" name="Shape 98"/>
          <p:cNvSpPr/>
          <p:nvPr/>
        </p:nvSpPr>
        <p:spPr>
          <a:xfrm>
            <a:off x="7319772" y="3639312"/>
            <a:ext cx="0" cy="1005840"/>
          </a:xfrm>
          <a:prstGeom prst="line">
            <a:avLst/>
          </a:prstGeom>
          <a:noFill/>
          <a:ln w="15875">
            <a:solidFill>
              <a:srgbClr val="1E8A5A"/>
            </a:solidFill>
            <a:prstDash val="dash"/>
            <a:tailEnd type="triangle"/>
          </a:ln>
        </p:spPr>
      </p:sp>
      <p:sp>
        <p:nvSpPr>
          <p:cNvPr id="116" name="Text 99"/>
          <p:cNvSpPr txBox="1"/>
          <p:nvPr/>
        </p:nvSpPr>
        <p:spPr>
          <a:xfrm>
            <a:off x="7411212" y="4005072"/>
            <a:ext cx="868680" cy="274320"/>
          </a:xfrm>
          <a:prstGeom prst="rect">
            <a:avLst/>
          </a:prstGeom>
          <a:noFill/>
          <a:ln/>
        </p:spPr>
        <p:txBody>
          <a:bodyPr wrap="square" lIns="0" tIns="0" rIns="0" bIns="0" rtlCol="0" anchor="ctr"/>
          <a:lstStyle/>
          <a:p>
            <a:pPr indent="0" marL="0">
              <a:buNone/>
            </a:pPr>
            <a:r>
              <a:rPr lang="en-US" sz="900" dirty="0">
                <a:solidFill>
                  <a:srgbClr val="1F2D3D"/>
                </a:solidFill>
                <a:latin typeface="Calibri" pitchFamily="34" charset="0"/>
                <a:ea typeface="Calibri" pitchFamily="34" charset="-122"/>
                <a:cs typeface="Calibri" pitchFamily="34" charset="-120"/>
              </a:rPr>
              <a:t>Computes</a:t>
            </a:r>
            <a:endParaRPr lang="en-US" sz="900" dirty="0"/>
          </a:p>
        </p:txBody>
      </p:sp>
      <p:sp>
        <p:nvSpPr>
          <p:cNvPr id="117" name="Shape 100"/>
          <p:cNvSpPr/>
          <p:nvPr/>
        </p:nvSpPr>
        <p:spPr>
          <a:xfrm>
            <a:off x="9326880" y="3639312"/>
            <a:ext cx="0" cy="1005840"/>
          </a:xfrm>
          <a:prstGeom prst="line">
            <a:avLst/>
          </a:prstGeom>
          <a:noFill/>
          <a:ln w="19050">
            <a:solidFill>
              <a:srgbClr val="5B4FA8"/>
            </a:solidFill>
            <a:prstDash val="solid"/>
            <a:tailEnd type="triangle"/>
          </a:ln>
        </p:spPr>
      </p:sp>
      <p:sp>
        <p:nvSpPr>
          <p:cNvPr id="118" name="Shape 101"/>
          <p:cNvSpPr/>
          <p:nvPr/>
        </p:nvSpPr>
        <p:spPr>
          <a:xfrm>
            <a:off x="9418320" y="3840480"/>
            <a:ext cx="219456" cy="219456"/>
          </a:xfrm>
          <a:prstGeom prst="ellipse">
            <a:avLst/>
          </a:prstGeom>
          <a:solidFill>
            <a:srgbClr val="5B4FA8"/>
          </a:solidFill>
          <a:ln w="12700">
            <a:solidFill>
              <a:srgbClr val="5B4FA8"/>
            </a:solidFill>
            <a:prstDash val="solid"/>
          </a:ln>
        </p:spPr>
      </p:sp>
      <p:sp>
        <p:nvSpPr>
          <p:cNvPr id="119" name="Text 102"/>
          <p:cNvSpPr txBox="1"/>
          <p:nvPr/>
        </p:nvSpPr>
        <p:spPr>
          <a:xfrm>
            <a:off x="9418320" y="384048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120" name="Text 103"/>
          <p:cNvSpPr txBox="1"/>
          <p:nvPr/>
        </p:nvSpPr>
        <p:spPr>
          <a:xfrm>
            <a:off x="9418320" y="4087368"/>
            <a:ext cx="685800" cy="457200"/>
          </a:xfrm>
          <a:prstGeom prst="rect">
            <a:avLst/>
          </a:prstGeom>
          <a:noFill/>
          <a:ln/>
        </p:spPr>
        <p:txBody>
          <a:bodyPr wrap="square" lIns="0" tIns="0" rIns="0" bIns="0" rtlCol="0" anchor="t"/>
          <a:lstStyle/>
          <a:p>
            <a:pPr indent="0" marL="0">
              <a:buNone/>
            </a:pPr>
            <a:r>
              <a:rPr lang="en-US" sz="900" dirty="0">
                <a:solidFill>
                  <a:srgbClr val="1F2D3D"/>
                </a:solidFill>
                <a:latin typeface="Calibri" pitchFamily="34" charset="0"/>
                <a:ea typeface="Calibri" pitchFamily="34" charset="-122"/>
                <a:cs typeface="Calibri" pitchFamily="34" charset="-120"/>
              </a:rPr>
              <a:t>Fetch data</a:t>
            </a:r>
            <a:endParaRPr lang="en-US" sz="900" dirty="0"/>
          </a:p>
        </p:txBody>
      </p:sp>
      <p:sp>
        <p:nvSpPr>
          <p:cNvPr id="121" name="Shape 104"/>
          <p:cNvSpPr/>
          <p:nvPr/>
        </p:nvSpPr>
        <p:spPr>
          <a:xfrm>
            <a:off x="10469880" y="3639312"/>
            <a:ext cx="0" cy="1005840"/>
          </a:xfrm>
          <a:prstGeom prst="line">
            <a:avLst/>
          </a:prstGeom>
          <a:noFill/>
          <a:ln w="19050">
            <a:solidFill>
              <a:srgbClr val="C0392B"/>
            </a:solidFill>
            <a:prstDash val="solid"/>
            <a:tailEnd type="triangle"/>
          </a:ln>
        </p:spPr>
      </p:sp>
      <p:sp>
        <p:nvSpPr>
          <p:cNvPr id="122" name="Shape 105"/>
          <p:cNvSpPr/>
          <p:nvPr/>
        </p:nvSpPr>
        <p:spPr>
          <a:xfrm>
            <a:off x="10561320" y="3840480"/>
            <a:ext cx="219456" cy="219456"/>
          </a:xfrm>
          <a:prstGeom prst="ellipse">
            <a:avLst/>
          </a:prstGeom>
          <a:solidFill>
            <a:srgbClr val="C0392B"/>
          </a:solidFill>
          <a:ln w="12700">
            <a:solidFill>
              <a:srgbClr val="C0392B"/>
            </a:solidFill>
            <a:prstDash val="solid"/>
          </a:ln>
        </p:spPr>
      </p:sp>
      <p:sp>
        <p:nvSpPr>
          <p:cNvPr id="123" name="Text 106"/>
          <p:cNvSpPr txBox="1"/>
          <p:nvPr/>
        </p:nvSpPr>
        <p:spPr>
          <a:xfrm>
            <a:off x="10561320" y="384048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8</a:t>
            </a:r>
            <a:endParaRPr lang="en-US" sz="900" dirty="0"/>
          </a:p>
        </p:txBody>
      </p:sp>
      <p:sp>
        <p:nvSpPr>
          <p:cNvPr id="124" name="Text 107"/>
          <p:cNvSpPr txBox="1"/>
          <p:nvPr/>
        </p:nvSpPr>
        <p:spPr>
          <a:xfrm>
            <a:off x="10561320" y="4087368"/>
            <a:ext cx="713232" cy="502920"/>
          </a:xfrm>
          <a:prstGeom prst="rect">
            <a:avLst/>
          </a:prstGeom>
          <a:noFill/>
          <a:ln/>
        </p:spPr>
        <p:txBody>
          <a:bodyPr wrap="square" lIns="0" tIns="0" rIns="0" bIns="0" rtlCol="0" anchor="t"/>
          <a:lstStyle/>
          <a:p>
            <a:pPr indent="0" marL="0">
              <a:buNone/>
            </a:pPr>
            <a:r>
              <a:rPr lang="en-US" sz="900" dirty="0">
                <a:solidFill>
                  <a:srgbClr val="1F2D3D"/>
                </a:solidFill>
                <a:latin typeface="Calibri" pitchFamily="34" charset="0"/>
                <a:ea typeface="Calibri" pitchFamily="34" charset="-122"/>
                <a:cs typeface="Calibri" pitchFamily="34" charset="-120"/>
              </a:rPr>
              <a:t>Publish approved commentary</a:t>
            </a:r>
            <a:endParaRPr lang="en-US" sz="900" dirty="0"/>
          </a:p>
        </p:txBody>
      </p:sp>
      <p:sp>
        <p:nvSpPr>
          <p:cNvPr id="125" name="Shape 108"/>
          <p:cNvSpPr/>
          <p:nvPr/>
        </p:nvSpPr>
        <p:spPr>
          <a:xfrm>
            <a:off x="12934188" y="3639312"/>
            <a:ext cx="0" cy="1005840"/>
          </a:xfrm>
          <a:prstGeom prst="line">
            <a:avLst/>
          </a:prstGeom>
          <a:noFill/>
          <a:ln w="19050">
            <a:solidFill>
              <a:srgbClr val="1F6FB5"/>
            </a:solidFill>
            <a:prstDash val="solid"/>
            <a:headEnd type="triangle"/>
          </a:ln>
        </p:spPr>
      </p:sp>
      <p:sp>
        <p:nvSpPr>
          <p:cNvPr id="126" name="Shape 109"/>
          <p:cNvSpPr/>
          <p:nvPr/>
        </p:nvSpPr>
        <p:spPr>
          <a:xfrm>
            <a:off x="13043916" y="3840480"/>
            <a:ext cx="219456" cy="219456"/>
          </a:xfrm>
          <a:prstGeom prst="ellipse">
            <a:avLst/>
          </a:prstGeom>
          <a:solidFill>
            <a:srgbClr val="1F6FB5"/>
          </a:solidFill>
          <a:ln w="12700">
            <a:solidFill>
              <a:srgbClr val="1F6FB5"/>
            </a:solidFill>
            <a:prstDash val="solid"/>
          </a:ln>
        </p:spPr>
      </p:sp>
      <p:sp>
        <p:nvSpPr>
          <p:cNvPr id="127" name="Text 110"/>
          <p:cNvSpPr txBox="1"/>
          <p:nvPr/>
        </p:nvSpPr>
        <p:spPr>
          <a:xfrm>
            <a:off x="13043916" y="384048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128" name="Text 111"/>
          <p:cNvSpPr txBox="1"/>
          <p:nvPr/>
        </p:nvSpPr>
        <p:spPr>
          <a:xfrm>
            <a:off x="13318236" y="3767328"/>
            <a:ext cx="822960" cy="685800"/>
          </a:xfrm>
          <a:prstGeom prst="rect">
            <a:avLst/>
          </a:prstGeom>
          <a:noFill/>
          <a:ln/>
        </p:spPr>
        <p:txBody>
          <a:bodyPr wrap="square" lIns="0" tIns="0" rIns="0" bIns="0" rtlCol="0" anchor="t"/>
          <a:lstStyle/>
          <a:p>
            <a:pPr indent="0" marL="0">
              <a:buNone/>
            </a:pPr>
            <a:r>
              <a:rPr lang="en-US" sz="900" dirty="0">
                <a:solidFill>
                  <a:srgbClr val="1F2D3D"/>
                </a:solidFill>
                <a:latin typeface="Calibri" pitchFamily="34" charset="0"/>
                <a:ea typeface="Calibri" pitchFamily="34" charset="-122"/>
                <a:cs typeface="Calibri" pitchFamily="34" charset="-120"/>
              </a:rPr>
              <a:t>Review, edit, approve</a:t>
            </a:r>
            <a:endParaRPr lang="en-US" sz="900" dirty="0"/>
          </a:p>
        </p:txBody>
      </p:sp>
      <p:sp>
        <p:nvSpPr>
          <p:cNvPr id="129" name="Shape 112"/>
          <p:cNvSpPr/>
          <p:nvPr/>
        </p:nvSpPr>
        <p:spPr>
          <a:xfrm>
            <a:off x="512064" y="6473952"/>
            <a:ext cx="5166360" cy="1234440"/>
          </a:xfrm>
          <a:prstGeom prst="roundRect">
            <a:avLst>
              <a:gd name="adj" fmla="val 4444"/>
            </a:avLst>
          </a:prstGeom>
          <a:solidFill>
            <a:srgbClr val="F1F4F8"/>
          </a:solidFill>
          <a:ln w="12700">
            <a:solidFill>
              <a:srgbClr val="6B7C93"/>
            </a:solidFill>
            <a:prstDash val="dash"/>
          </a:ln>
        </p:spPr>
      </p:sp>
      <p:sp>
        <p:nvSpPr>
          <p:cNvPr id="130" name="Text 113"/>
          <p:cNvSpPr txBox="1"/>
          <p:nvPr/>
        </p:nvSpPr>
        <p:spPr>
          <a:xfrm>
            <a:off x="630936" y="6547104"/>
            <a:ext cx="4892040" cy="182880"/>
          </a:xfrm>
          <a:prstGeom prst="rect">
            <a:avLst/>
          </a:prstGeom>
          <a:noFill/>
          <a:ln/>
        </p:spPr>
        <p:txBody>
          <a:bodyPr wrap="square" lIns="0" tIns="0" rIns="0" bIns="0" rtlCol="0" anchor="ctr"/>
          <a:lstStyle/>
          <a:p>
            <a:pPr indent="0" marL="0">
              <a:buNone/>
            </a:pPr>
            <a:r>
              <a:rPr lang="en-US" sz="900" b="1" spc="100" kern="0" dirty="0">
                <a:solidFill>
                  <a:srgbClr val="5A6B82"/>
                </a:solidFill>
                <a:latin typeface="Calibri" pitchFamily="34" charset="0"/>
                <a:ea typeface="Calibri" pitchFamily="34" charset="-122"/>
                <a:cs typeface="Calibri" pitchFamily="34" charset="-120"/>
              </a:rPr>
              <a:t>APPLICATION AUDIT (EXISTING)</a:t>
            </a:r>
            <a:endParaRPr lang="en-US" sz="900" dirty="0"/>
          </a:p>
        </p:txBody>
      </p:sp>
      <p:sp>
        <p:nvSpPr>
          <p:cNvPr id="131" name="Shape 114"/>
          <p:cNvSpPr/>
          <p:nvPr/>
        </p:nvSpPr>
        <p:spPr>
          <a:xfrm>
            <a:off x="630936" y="6812280"/>
            <a:ext cx="1783080" cy="795528"/>
          </a:xfrm>
          <a:prstGeom prst="roundRect">
            <a:avLst>
              <a:gd name="adj" fmla="val 9195"/>
            </a:avLst>
          </a:prstGeom>
          <a:solidFill>
            <a:srgbClr val="FFFFFF"/>
          </a:solidFill>
          <a:ln w="9525">
            <a:solidFill>
              <a:srgbClr val="C8D8EC"/>
            </a:solidFill>
            <a:prstDash val="solid"/>
          </a:ln>
        </p:spPr>
      </p:sp>
      <p:sp>
        <p:nvSpPr>
          <p:cNvPr id="132" name="Shape 115"/>
          <p:cNvSpPr/>
          <p:nvPr/>
        </p:nvSpPr>
        <p:spPr>
          <a:xfrm>
            <a:off x="740664" y="6949440"/>
            <a:ext cx="457200" cy="457200"/>
          </a:xfrm>
          <a:prstGeom prst="roundRect">
            <a:avLst>
              <a:gd name="adj" fmla="val 20000"/>
            </a:avLst>
          </a:prstGeom>
          <a:solidFill>
            <a:srgbClr val="5A6B82"/>
          </a:solidFill>
          <a:ln w="12700">
            <a:solidFill>
              <a:srgbClr val="5A6B82"/>
            </a:solidFill>
            <a:prstDash val="solid"/>
          </a:ln>
        </p:spPr>
      </p:sp>
      <p:pic>
        <p:nvPicPr>
          <p:cNvPr id="133" name="Image 15" descr="preencoded.png">    </p:cNvPr>
          <p:cNvPicPr>
            <a:picLocks noChangeAspect="1"/>
          </p:cNvPicPr>
          <p:nvPr/>
        </p:nvPicPr>
        <p:blipFill>
          <a:blip r:embed="rId16"/>
          <a:stretch>
            <a:fillRect/>
          </a:stretch>
        </p:blipFill>
        <p:spPr>
          <a:xfrm>
            <a:off x="841248" y="7050024"/>
            <a:ext cx="256032" cy="256032"/>
          </a:xfrm>
          <a:prstGeom prst="rect">
            <a:avLst/>
          </a:prstGeom>
        </p:spPr>
      </p:pic>
      <p:sp>
        <p:nvSpPr>
          <p:cNvPr id="134" name="Text 116"/>
          <p:cNvSpPr txBox="1"/>
          <p:nvPr/>
        </p:nvSpPr>
        <p:spPr>
          <a:xfrm>
            <a:off x="1271016" y="6903720"/>
            <a:ext cx="1097280" cy="256032"/>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App Audit</a:t>
            </a:r>
            <a:endParaRPr lang="en-US" sz="1100" dirty="0"/>
          </a:p>
        </p:txBody>
      </p:sp>
      <p:sp>
        <p:nvSpPr>
          <p:cNvPr id="135" name="Text 117"/>
          <p:cNvSpPr txBox="1"/>
          <p:nvPr/>
        </p:nvSpPr>
        <p:spPr>
          <a:xfrm>
            <a:off x="1271016" y="7159752"/>
            <a:ext cx="1115568" cy="384048"/>
          </a:xfrm>
          <a:prstGeom prst="rect">
            <a:avLst/>
          </a:prstGeom>
          <a:noFill/>
          <a:ln/>
        </p:spPr>
        <p:txBody>
          <a:bodyPr wrap="square" lIns="0" tIns="0" rIns="0" bIns="0" rtlCol="0" anchor="t"/>
          <a:lstStyle/>
          <a:p>
            <a:pPr indent="0" marL="0">
              <a:buNone/>
            </a:pPr>
            <a:r>
              <a:rPr lang="en-US" sz="850" dirty="0">
                <a:solidFill>
                  <a:srgbClr val="4A5A6E"/>
                </a:solidFill>
                <a:latin typeface="Calibri" pitchFamily="34" charset="0"/>
                <a:ea typeface="Calibri" pitchFamily="34" charset="-122"/>
                <a:cs typeface="Calibri" pitchFamily="34" charset="-120"/>
              </a:rPr>
              <a:t>TB and One Fin UX</a:t>
            </a:r>
            <a:endParaRPr lang="en-US" sz="850" dirty="0"/>
          </a:p>
        </p:txBody>
      </p:sp>
      <p:sp>
        <p:nvSpPr>
          <p:cNvPr id="136" name="Shape 118"/>
          <p:cNvSpPr/>
          <p:nvPr/>
        </p:nvSpPr>
        <p:spPr>
          <a:xfrm>
            <a:off x="2551176" y="6812280"/>
            <a:ext cx="3008376" cy="338328"/>
          </a:xfrm>
          <a:prstGeom prst="roundRect">
            <a:avLst>
              <a:gd name="adj" fmla="val 40541"/>
            </a:avLst>
          </a:prstGeom>
          <a:solidFill>
            <a:srgbClr val="FFFFFF"/>
          </a:solidFill>
          <a:ln w="9525">
            <a:solidFill>
              <a:srgbClr val="C8D8EC"/>
            </a:solidFill>
            <a:prstDash val="solid"/>
          </a:ln>
        </p:spPr>
      </p:sp>
      <p:pic>
        <p:nvPicPr>
          <p:cNvPr id="137" name="Image 16" descr="preencoded.png">    </p:cNvPr>
          <p:cNvPicPr>
            <a:picLocks noChangeAspect="1"/>
          </p:cNvPicPr>
          <p:nvPr/>
        </p:nvPicPr>
        <p:blipFill>
          <a:blip r:embed="rId17"/>
          <a:stretch>
            <a:fillRect/>
          </a:stretch>
        </p:blipFill>
        <p:spPr>
          <a:xfrm>
            <a:off x="2679192" y="6908292"/>
            <a:ext cx="146304" cy="146304"/>
          </a:xfrm>
          <a:prstGeom prst="rect">
            <a:avLst/>
          </a:prstGeom>
        </p:spPr>
      </p:pic>
      <p:sp>
        <p:nvSpPr>
          <p:cNvPr id="138" name="Text 119"/>
          <p:cNvSpPr txBox="1"/>
          <p:nvPr/>
        </p:nvSpPr>
        <p:spPr>
          <a:xfrm>
            <a:off x="2916936" y="6812280"/>
            <a:ext cx="2596896"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TB publication &amp; event history</a:t>
            </a:r>
            <a:endParaRPr lang="en-US" sz="950" dirty="0"/>
          </a:p>
        </p:txBody>
      </p:sp>
      <p:sp>
        <p:nvSpPr>
          <p:cNvPr id="139" name="Shape 120"/>
          <p:cNvSpPr/>
          <p:nvPr/>
        </p:nvSpPr>
        <p:spPr>
          <a:xfrm>
            <a:off x="2551176" y="7242048"/>
            <a:ext cx="3008376" cy="338328"/>
          </a:xfrm>
          <a:prstGeom prst="roundRect">
            <a:avLst>
              <a:gd name="adj" fmla="val 40541"/>
            </a:avLst>
          </a:prstGeom>
          <a:solidFill>
            <a:srgbClr val="FFFFFF"/>
          </a:solidFill>
          <a:ln w="9525">
            <a:solidFill>
              <a:srgbClr val="C8D8EC"/>
            </a:solidFill>
            <a:prstDash val="solid"/>
          </a:ln>
        </p:spPr>
      </p:sp>
      <p:pic>
        <p:nvPicPr>
          <p:cNvPr id="140" name="Image 17" descr="preencoded.png">    </p:cNvPr>
          <p:cNvPicPr>
            <a:picLocks noChangeAspect="1"/>
          </p:cNvPicPr>
          <p:nvPr/>
        </p:nvPicPr>
        <p:blipFill>
          <a:blip r:embed="rId18"/>
          <a:stretch>
            <a:fillRect/>
          </a:stretch>
        </p:blipFill>
        <p:spPr>
          <a:xfrm>
            <a:off x="2679192" y="7338060"/>
            <a:ext cx="146304" cy="146304"/>
          </a:xfrm>
          <a:prstGeom prst="rect">
            <a:avLst/>
          </a:prstGeom>
        </p:spPr>
      </p:pic>
      <p:sp>
        <p:nvSpPr>
          <p:cNvPr id="141" name="Text 121"/>
          <p:cNvSpPr txBox="1"/>
          <p:nvPr/>
        </p:nvSpPr>
        <p:spPr>
          <a:xfrm>
            <a:off x="2916936" y="7242048"/>
            <a:ext cx="2596896"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Entity readiness changes</a:t>
            </a:r>
            <a:endParaRPr lang="en-US" sz="950" dirty="0"/>
          </a:p>
        </p:txBody>
      </p:sp>
      <p:sp>
        <p:nvSpPr>
          <p:cNvPr id="142" name="Shape 122"/>
          <p:cNvSpPr/>
          <p:nvPr/>
        </p:nvSpPr>
        <p:spPr>
          <a:xfrm>
            <a:off x="6117336" y="6473952"/>
            <a:ext cx="5184648" cy="1234440"/>
          </a:xfrm>
          <a:prstGeom prst="roundRect">
            <a:avLst>
              <a:gd name="adj" fmla="val 4444"/>
            </a:avLst>
          </a:prstGeom>
          <a:solidFill>
            <a:srgbClr val="F3F1FB"/>
          </a:solidFill>
          <a:ln w="12700">
            <a:solidFill>
              <a:srgbClr val="5B4FA8"/>
            </a:solidFill>
            <a:prstDash val="dash"/>
          </a:ln>
        </p:spPr>
      </p:sp>
      <p:sp>
        <p:nvSpPr>
          <p:cNvPr id="143" name="Text 123"/>
          <p:cNvSpPr txBox="1"/>
          <p:nvPr/>
        </p:nvSpPr>
        <p:spPr>
          <a:xfrm>
            <a:off x="6236208" y="6547104"/>
            <a:ext cx="4910328" cy="182880"/>
          </a:xfrm>
          <a:prstGeom prst="rect">
            <a:avLst/>
          </a:prstGeom>
          <a:noFill/>
          <a:ln/>
        </p:spPr>
        <p:txBody>
          <a:bodyPr wrap="square" lIns="0" tIns="0" rIns="0" bIns="0" rtlCol="0" anchor="ctr"/>
          <a:lstStyle/>
          <a:p>
            <a:pPr indent="0" marL="0">
              <a:buNone/>
            </a:pPr>
            <a:r>
              <a:rPr lang="en-US" sz="900" b="1" spc="100" kern="0" dirty="0">
                <a:solidFill>
                  <a:srgbClr val="5B4FA8"/>
                </a:solidFill>
                <a:latin typeface="Calibri" pitchFamily="34" charset="0"/>
                <a:ea typeface="Calibri" pitchFamily="34" charset="-122"/>
                <a:cs typeface="Calibri" pitchFamily="34" charset="-120"/>
              </a:rPr>
              <a:t>AI OBSERVABILITY</a:t>
            </a:r>
            <a:endParaRPr lang="en-US" sz="900" dirty="0"/>
          </a:p>
        </p:txBody>
      </p:sp>
      <p:sp>
        <p:nvSpPr>
          <p:cNvPr id="144" name="Shape 124"/>
          <p:cNvSpPr/>
          <p:nvPr/>
        </p:nvSpPr>
        <p:spPr>
          <a:xfrm>
            <a:off x="6236208" y="6812280"/>
            <a:ext cx="1783080" cy="795528"/>
          </a:xfrm>
          <a:prstGeom prst="roundRect">
            <a:avLst>
              <a:gd name="adj" fmla="val 9195"/>
            </a:avLst>
          </a:prstGeom>
          <a:solidFill>
            <a:srgbClr val="FFFFFF"/>
          </a:solidFill>
          <a:ln w="9525">
            <a:solidFill>
              <a:srgbClr val="C8D8EC"/>
            </a:solidFill>
            <a:prstDash val="solid"/>
          </a:ln>
        </p:spPr>
      </p:sp>
      <p:sp>
        <p:nvSpPr>
          <p:cNvPr id="145" name="Shape 125"/>
          <p:cNvSpPr/>
          <p:nvPr/>
        </p:nvSpPr>
        <p:spPr>
          <a:xfrm>
            <a:off x="6345936" y="6949440"/>
            <a:ext cx="457200" cy="457200"/>
          </a:xfrm>
          <a:prstGeom prst="roundRect">
            <a:avLst>
              <a:gd name="adj" fmla="val 20000"/>
            </a:avLst>
          </a:prstGeom>
          <a:solidFill>
            <a:srgbClr val="0B2E5E"/>
          </a:solidFill>
          <a:ln w="12700">
            <a:solidFill>
              <a:srgbClr val="0B2E5E"/>
            </a:solidFill>
            <a:prstDash val="solid"/>
          </a:ln>
        </p:spPr>
      </p:sp>
      <p:pic>
        <p:nvPicPr>
          <p:cNvPr id="146" name="Image 18" descr="preencoded.png">    </p:cNvPr>
          <p:cNvPicPr>
            <a:picLocks noChangeAspect="1"/>
          </p:cNvPicPr>
          <p:nvPr/>
        </p:nvPicPr>
        <p:blipFill>
          <a:blip r:embed="rId19"/>
          <a:stretch>
            <a:fillRect/>
          </a:stretch>
        </p:blipFill>
        <p:spPr>
          <a:xfrm>
            <a:off x="6446520" y="7050024"/>
            <a:ext cx="256032" cy="256032"/>
          </a:xfrm>
          <a:prstGeom prst="rect">
            <a:avLst/>
          </a:prstGeom>
        </p:spPr>
      </p:pic>
      <p:sp>
        <p:nvSpPr>
          <p:cNvPr id="147" name="Text 126"/>
          <p:cNvSpPr txBox="1"/>
          <p:nvPr/>
        </p:nvSpPr>
        <p:spPr>
          <a:xfrm>
            <a:off x="6876288" y="6903720"/>
            <a:ext cx="1097280" cy="256032"/>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Phoenix Eyes</a:t>
            </a:r>
            <a:endParaRPr lang="en-US" sz="1100" dirty="0"/>
          </a:p>
        </p:txBody>
      </p:sp>
      <p:sp>
        <p:nvSpPr>
          <p:cNvPr id="148" name="Text 127"/>
          <p:cNvSpPr txBox="1"/>
          <p:nvPr/>
        </p:nvSpPr>
        <p:spPr>
          <a:xfrm>
            <a:off x="6876288" y="7159752"/>
            <a:ext cx="1115568" cy="384048"/>
          </a:xfrm>
          <a:prstGeom prst="rect">
            <a:avLst/>
          </a:prstGeom>
          <a:noFill/>
          <a:ln/>
        </p:spPr>
        <p:txBody>
          <a:bodyPr wrap="square" lIns="0" tIns="0" rIns="0" bIns="0" rtlCol="0" anchor="t"/>
          <a:lstStyle/>
          <a:p>
            <a:pPr indent="0" marL="0">
              <a:buNone/>
            </a:pPr>
            <a:r>
              <a:rPr lang="en-US" sz="850" dirty="0">
                <a:solidFill>
                  <a:srgbClr val="4A5A6E"/>
                </a:solidFill>
                <a:latin typeface="Calibri" pitchFamily="34" charset="0"/>
                <a:ea typeface="Calibri" pitchFamily="34" charset="-122"/>
                <a:cs typeface="Calibri" pitchFamily="34" charset="-120"/>
              </a:rPr>
              <a:t>Analysis Agent and Agent One sessions</a:t>
            </a:r>
            <a:endParaRPr lang="en-US" sz="850" dirty="0"/>
          </a:p>
        </p:txBody>
      </p:sp>
      <p:sp>
        <p:nvSpPr>
          <p:cNvPr id="149" name="Shape 128"/>
          <p:cNvSpPr/>
          <p:nvPr/>
        </p:nvSpPr>
        <p:spPr>
          <a:xfrm>
            <a:off x="8156448" y="6812280"/>
            <a:ext cx="1458468" cy="338328"/>
          </a:xfrm>
          <a:prstGeom prst="roundRect">
            <a:avLst>
              <a:gd name="adj" fmla="val 40541"/>
            </a:avLst>
          </a:prstGeom>
          <a:solidFill>
            <a:srgbClr val="FFFFFF"/>
          </a:solidFill>
          <a:ln w="9525">
            <a:solidFill>
              <a:srgbClr val="C8D8EC"/>
            </a:solidFill>
            <a:prstDash val="solid"/>
          </a:ln>
        </p:spPr>
      </p:sp>
      <p:pic>
        <p:nvPicPr>
          <p:cNvPr id="150" name="Image 19" descr="preencoded.png">    </p:cNvPr>
          <p:cNvPicPr>
            <a:picLocks noChangeAspect="1"/>
          </p:cNvPicPr>
          <p:nvPr/>
        </p:nvPicPr>
        <p:blipFill>
          <a:blip r:embed="rId20"/>
          <a:stretch>
            <a:fillRect/>
          </a:stretch>
        </p:blipFill>
        <p:spPr>
          <a:xfrm>
            <a:off x="8284464" y="6908292"/>
            <a:ext cx="146304" cy="146304"/>
          </a:xfrm>
          <a:prstGeom prst="rect">
            <a:avLst/>
          </a:prstGeom>
        </p:spPr>
      </p:pic>
      <p:sp>
        <p:nvSpPr>
          <p:cNvPr id="151" name="Text 129"/>
          <p:cNvSpPr txBox="1"/>
          <p:nvPr/>
        </p:nvSpPr>
        <p:spPr>
          <a:xfrm>
            <a:off x="8522208" y="6812280"/>
            <a:ext cx="1046988"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AI session traces</a:t>
            </a:r>
            <a:endParaRPr lang="en-US" sz="950" dirty="0"/>
          </a:p>
        </p:txBody>
      </p:sp>
      <p:sp>
        <p:nvSpPr>
          <p:cNvPr id="152" name="Shape 130"/>
          <p:cNvSpPr/>
          <p:nvPr/>
        </p:nvSpPr>
        <p:spPr>
          <a:xfrm>
            <a:off x="9724644" y="6812280"/>
            <a:ext cx="1458468" cy="338328"/>
          </a:xfrm>
          <a:prstGeom prst="roundRect">
            <a:avLst>
              <a:gd name="adj" fmla="val 40541"/>
            </a:avLst>
          </a:prstGeom>
          <a:solidFill>
            <a:srgbClr val="FFFFFF"/>
          </a:solidFill>
          <a:ln w="9525">
            <a:solidFill>
              <a:srgbClr val="C8D8EC"/>
            </a:solidFill>
            <a:prstDash val="solid"/>
          </a:ln>
        </p:spPr>
      </p:sp>
      <p:pic>
        <p:nvPicPr>
          <p:cNvPr id="153" name="Image 20" descr="preencoded.png">    </p:cNvPr>
          <p:cNvPicPr>
            <a:picLocks noChangeAspect="1"/>
          </p:cNvPicPr>
          <p:nvPr/>
        </p:nvPicPr>
        <p:blipFill>
          <a:blip r:embed="rId21"/>
          <a:stretch>
            <a:fillRect/>
          </a:stretch>
        </p:blipFill>
        <p:spPr>
          <a:xfrm>
            <a:off x="9852660" y="6908292"/>
            <a:ext cx="146304" cy="146304"/>
          </a:xfrm>
          <a:prstGeom prst="rect">
            <a:avLst/>
          </a:prstGeom>
        </p:spPr>
      </p:pic>
      <p:sp>
        <p:nvSpPr>
          <p:cNvPr id="154" name="Text 131"/>
          <p:cNvSpPr txBox="1"/>
          <p:nvPr/>
        </p:nvSpPr>
        <p:spPr>
          <a:xfrm>
            <a:off x="10090404" y="6812280"/>
            <a:ext cx="1046988"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Prompts &amp; sources</a:t>
            </a:r>
            <a:endParaRPr lang="en-US" sz="950" dirty="0"/>
          </a:p>
        </p:txBody>
      </p:sp>
      <p:sp>
        <p:nvSpPr>
          <p:cNvPr id="155" name="Shape 132"/>
          <p:cNvSpPr/>
          <p:nvPr/>
        </p:nvSpPr>
        <p:spPr>
          <a:xfrm>
            <a:off x="8156448" y="7242048"/>
            <a:ext cx="1458468" cy="338328"/>
          </a:xfrm>
          <a:prstGeom prst="roundRect">
            <a:avLst>
              <a:gd name="adj" fmla="val 40541"/>
            </a:avLst>
          </a:prstGeom>
          <a:solidFill>
            <a:srgbClr val="FFFFFF"/>
          </a:solidFill>
          <a:ln w="9525">
            <a:solidFill>
              <a:srgbClr val="C8D8EC"/>
            </a:solidFill>
            <a:prstDash val="solid"/>
          </a:ln>
        </p:spPr>
      </p:sp>
      <p:pic>
        <p:nvPicPr>
          <p:cNvPr id="156" name="Image 21" descr="preencoded.png">    </p:cNvPr>
          <p:cNvPicPr>
            <a:picLocks noChangeAspect="1"/>
          </p:cNvPicPr>
          <p:nvPr/>
        </p:nvPicPr>
        <p:blipFill>
          <a:blip r:embed="rId22"/>
          <a:stretch>
            <a:fillRect/>
          </a:stretch>
        </p:blipFill>
        <p:spPr>
          <a:xfrm>
            <a:off x="8284464" y="7338060"/>
            <a:ext cx="146304" cy="146304"/>
          </a:xfrm>
          <a:prstGeom prst="rect">
            <a:avLst/>
          </a:prstGeom>
        </p:spPr>
      </p:pic>
      <p:sp>
        <p:nvSpPr>
          <p:cNvPr id="157" name="Text 133"/>
          <p:cNvSpPr txBox="1"/>
          <p:nvPr/>
        </p:nvSpPr>
        <p:spPr>
          <a:xfrm>
            <a:off x="8522208" y="7242048"/>
            <a:ext cx="1046988"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Skill gap analysis</a:t>
            </a:r>
            <a:endParaRPr lang="en-US" sz="950" dirty="0"/>
          </a:p>
        </p:txBody>
      </p:sp>
      <p:sp>
        <p:nvSpPr>
          <p:cNvPr id="158" name="Shape 134"/>
          <p:cNvSpPr/>
          <p:nvPr/>
        </p:nvSpPr>
        <p:spPr>
          <a:xfrm>
            <a:off x="9724644" y="7242048"/>
            <a:ext cx="1458468" cy="338328"/>
          </a:xfrm>
          <a:prstGeom prst="roundRect">
            <a:avLst>
              <a:gd name="adj" fmla="val 40541"/>
            </a:avLst>
          </a:prstGeom>
          <a:solidFill>
            <a:srgbClr val="FFFFFF"/>
          </a:solidFill>
          <a:ln w="9525">
            <a:solidFill>
              <a:srgbClr val="C8D8EC"/>
            </a:solidFill>
            <a:prstDash val="solid"/>
          </a:ln>
        </p:spPr>
      </p:sp>
      <p:pic>
        <p:nvPicPr>
          <p:cNvPr id="159" name="Image 22" descr="preencoded.png">    </p:cNvPr>
          <p:cNvPicPr>
            <a:picLocks noChangeAspect="1"/>
          </p:cNvPicPr>
          <p:nvPr/>
        </p:nvPicPr>
        <p:blipFill>
          <a:blip r:embed="rId23"/>
          <a:stretch>
            <a:fillRect/>
          </a:stretch>
        </p:blipFill>
        <p:spPr>
          <a:xfrm>
            <a:off x="9852660" y="7338060"/>
            <a:ext cx="146304" cy="146304"/>
          </a:xfrm>
          <a:prstGeom prst="rect">
            <a:avLst/>
          </a:prstGeom>
        </p:spPr>
      </p:pic>
      <p:sp>
        <p:nvSpPr>
          <p:cNvPr id="160" name="Text 135"/>
          <p:cNvSpPr txBox="1"/>
          <p:nvPr/>
        </p:nvSpPr>
        <p:spPr>
          <a:xfrm>
            <a:off x="10090404" y="7242048"/>
            <a:ext cx="1046988"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LLM perf &amp; health</a:t>
            </a:r>
            <a:endParaRPr lang="en-US" sz="950" dirty="0"/>
          </a:p>
        </p:txBody>
      </p:sp>
      <p:sp>
        <p:nvSpPr>
          <p:cNvPr id="161" name="Shape 136"/>
          <p:cNvSpPr/>
          <p:nvPr/>
        </p:nvSpPr>
        <p:spPr>
          <a:xfrm>
            <a:off x="11731752" y="6473952"/>
            <a:ext cx="2386584" cy="1234440"/>
          </a:xfrm>
          <a:prstGeom prst="roundRect">
            <a:avLst>
              <a:gd name="adj" fmla="val 4444"/>
            </a:avLst>
          </a:prstGeom>
          <a:solidFill>
            <a:srgbClr val="F1F4F8"/>
          </a:solidFill>
          <a:ln w="12700">
            <a:solidFill>
              <a:srgbClr val="6B7C93"/>
            </a:solidFill>
            <a:prstDash val="dash"/>
          </a:ln>
        </p:spPr>
      </p:sp>
      <p:sp>
        <p:nvSpPr>
          <p:cNvPr id="162" name="Text 137"/>
          <p:cNvSpPr txBox="1"/>
          <p:nvPr/>
        </p:nvSpPr>
        <p:spPr>
          <a:xfrm>
            <a:off x="11850624" y="6547104"/>
            <a:ext cx="2112264" cy="182880"/>
          </a:xfrm>
          <a:prstGeom prst="rect">
            <a:avLst/>
          </a:prstGeom>
          <a:noFill/>
          <a:ln/>
        </p:spPr>
        <p:txBody>
          <a:bodyPr wrap="square" lIns="0" tIns="0" rIns="0" bIns="0" rtlCol="0" anchor="ctr"/>
          <a:lstStyle/>
          <a:p>
            <a:pPr indent="0" marL="0">
              <a:buNone/>
            </a:pPr>
            <a:r>
              <a:rPr lang="en-US" sz="900" b="1" spc="100" kern="0" dirty="0">
                <a:solidFill>
                  <a:srgbClr val="5A6B82"/>
                </a:solidFill>
                <a:latin typeface="Calibri" pitchFamily="34" charset="0"/>
                <a:ea typeface="Calibri" pitchFamily="34" charset="-122"/>
                <a:cs typeface="Calibri" pitchFamily="34" charset="-120"/>
              </a:rPr>
              <a:t>APPLICATION AUDIT (EXISTING)</a:t>
            </a:r>
            <a:endParaRPr lang="en-US" sz="900" dirty="0"/>
          </a:p>
        </p:txBody>
      </p:sp>
      <p:sp>
        <p:nvSpPr>
          <p:cNvPr id="163" name="Shape 138"/>
          <p:cNvSpPr/>
          <p:nvPr/>
        </p:nvSpPr>
        <p:spPr>
          <a:xfrm>
            <a:off x="11850624" y="6812280"/>
            <a:ext cx="2148840" cy="338328"/>
          </a:xfrm>
          <a:prstGeom prst="roundRect">
            <a:avLst>
              <a:gd name="adj" fmla="val 40541"/>
            </a:avLst>
          </a:prstGeom>
          <a:solidFill>
            <a:srgbClr val="FFFFFF"/>
          </a:solidFill>
          <a:ln w="9525">
            <a:solidFill>
              <a:srgbClr val="C8D8EC"/>
            </a:solidFill>
            <a:prstDash val="solid"/>
          </a:ln>
        </p:spPr>
      </p:sp>
      <p:pic>
        <p:nvPicPr>
          <p:cNvPr id="164" name="Image 23" descr="preencoded.png">    </p:cNvPr>
          <p:cNvPicPr>
            <a:picLocks noChangeAspect="1"/>
          </p:cNvPicPr>
          <p:nvPr/>
        </p:nvPicPr>
        <p:blipFill>
          <a:blip r:embed="rId24"/>
          <a:stretch>
            <a:fillRect/>
          </a:stretch>
        </p:blipFill>
        <p:spPr>
          <a:xfrm>
            <a:off x="11978640" y="6908292"/>
            <a:ext cx="146304" cy="146304"/>
          </a:xfrm>
          <a:prstGeom prst="rect">
            <a:avLst/>
          </a:prstGeom>
        </p:spPr>
      </p:pic>
      <p:sp>
        <p:nvSpPr>
          <p:cNvPr id="165" name="Text 139"/>
          <p:cNvSpPr txBox="1"/>
          <p:nvPr/>
        </p:nvSpPr>
        <p:spPr>
          <a:xfrm>
            <a:off x="12216384" y="6812280"/>
            <a:ext cx="1737360"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User edits &amp; approvals</a:t>
            </a:r>
            <a:endParaRPr lang="en-US" sz="950" dirty="0"/>
          </a:p>
        </p:txBody>
      </p:sp>
      <p:sp>
        <p:nvSpPr>
          <p:cNvPr id="166" name="Shape 140"/>
          <p:cNvSpPr/>
          <p:nvPr/>
        </p:nvSpPr>
        <p:spPr>
          <a:xfrm>
            <a:off x="11850624" y="7242048"/>
            <a:ext cx="2148840" cy="338328"/>
          </a:xfrm>
          <a:prstGeom prst="roundRect">
            <a:avLst>
              <a:gd name="adj" fmla="val 40541"/>
            </a:avLst>
          </a:prstGeom>
          <a:solidFill>
            <a:srgbClr val="FFFFFF"/>
          </a:solidFill>
          <a:ln w="9525">
            <a:solidFill>
              <a:srgbClr val="C8D8EC"/>
            </a:solidFill>
            <a:prstDash val="solid"/>
          </a:ln>
        </p:spPr>
      </p:sp>
      <p:pic>
        <p:nvPicPr>
          <p:cNvPr id="167" name="Image 24" descr="preencoded.png">    </p:cNvPr>
          <p:cNvPicPr>
            <a:picLocks noChangeAspect="1"/>
          </p:cNvPicPr>
          <p:nvPr/>
        </p:nvPicPr>
        <p:blipFill>
          <a:blip r:embed="rId25"/>
          <a:stretch>
            <a:fillRect/>
          </a:stretch>
        </p:blipFill>
        <p:spPr>
          <a:xfrm>
            <a:off x="11978640" y="7338060"/>
            <a:ext cx="146304" cy="146304"/>
          </a:xfrm>
          <a:prstGeom prst="rect">
            <a:avLst/>
          </a:prstGeom>
        </p:spPr>
      </p:pic>
      <p:sp>
        <p:nvSpPr>
          <p:cNvPr id="168" name="Text 141"/>
          <p:cNvSpPr txBox="1"/>
          <p:nvPr/>
        </p:nvSpPr>
        <p:spPr>
          <a:xfrm>
            <a:off x="12216384" y="7242048"/>
            <a:ext cx="1737360"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Commentary versions</a:t>
            </a:r>
            <a:endParaRPr lang="en-US" sz="950" dirty="0"/>
          </a:p>
        </p:txBody>
      </p:sp>
      <p:sp>
        <p:nvSpPr>
          <p:cNvPr id="169" name="Text 142"/>
          <p:cNvSpPr txBox="1"/>
          <p:nvPr/>
        </p:nvSpPr>
        <p:spPr>
          <a:xfrm>
            <a:off x="502920" y="7818120"/>
            <a:ext cx="2743200" cy="228600"/>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Outcomes</a:t>
            </a:r>
            <a:endParaRPr lang="en-US" sz="1100" dirty="0"/>
          </a:p>
        </p:txBody>
      </p:sp>
      <p:sp>
        <p:nvSpPr>
          <p:cNvPr id="170" name="Shape 143"/>
          <p:cNvSpPr/>
          <p:nvPr/>
        </p:nvSpPr>
        <p:spPr>
          <a:xfrm>
            <a:off x="502920" y="8074152"/>
            <a:ext cx="3227832" cy="1005840"/>
          </a:xfrm>
          <a:prstGeom prst="roundRect">
            <a:avLst>
              <a:gd name="adj" fmla="val 7273"/>
            </a:avLst>
          </a:prstGeom>
          <a:solidFill>
            <a:srgbClr val="FFFFFF"/>
          </a:solidFill>
          <a:ln w="9525">
            <a:solidFill>
              <a:srgbClr val="C8D8EC"/>
            </a:solidFill>
            <a:prstDash val="solid"/>
          </a:ln>
        </p:spPr>
      </p:sp>
      <p:sp>
        <p:nvSpPr>
          <p:cNvPr id="171" name="Shape 144"/>
          <p:cNvSpPr/>
          <p:nvPr/>
        </p:nvSpPr>
        <p:spPr>
          <a:xfrm>
            <a:off x="667512" y="8321040"/>
            <a:ext cx="512064" cy="512064"/>
          </a:xfrm>
          <a:prstGeom prst="ellipse">
            <a:avLst/>
          </a:prstGeom>
          <a:solidFill>
            <a:srgbClr val="1E8A5A"/>
          </a:solidFill>
          <a:ln w="12700">
            <a:solidFill>
              <a:srgbClr val="1E8A5A"/>
            </a:solidFill>
            <a:prstDash val="solid"/>
          </a:ln>
        </p:spPr>
      </p:sp>
      <p:pic>
        <p:nvPicPr>
          <p:cNvPr id="172" name="Image 25" descr="preencoded.png">    </p:cNvPr>
          <p:cNvPicPr>
            <a:picLocks noChangeAspect="1"/>
          </p:cNvPicPr>
          <p:nvPr/>
        </p:nvPicPr>
        <p:blipFill>
          <a:blip r:embed="rId26"/>
          <a:stretch>
            <a:fillRect/>
          </a:stretch>
        </p:blipFill>
        <p:spPr>
          <a:xfrm>
            <a:off x="800649" y="8454177"/>
            <a:ext cx="245791" cy="245791"/>
          </a:xfrm>
          <a:prstGeom prst="rect">
            <a:avLst/>
          </a:prstGeom>
        </p:spPr>
      </p:pic>
      <p:sp>
        <p:nvSpPr>
          <p:cNvPr id="173" name="Text 145"/>
          <p:cNvSpPr txBox="1"/>
          <p:nvPr/>
        </p:nvSpPr>
        <p:spPr>
          <a:xfrm>
            <a:off x="1325880"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Packs ready on TB publish</a:t>
            </a:r>
            <a:endParaRPr lang="en-US" sz="1200" dirty="0"/>
          </a:p>
        </p:txBody>
      </p:sp>
      <p:sp>
        <p:nvSpPr>
          <p:cNvPr id="174" name="Text 146"/>
          <p:cNvSpPr txBox="1"/>
          <p:nvPr/>
        </p:nvSpPr>
        <p:spPr>
          <a:xfrm>
            <a:off x="1325880"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Movements and variances explained without manual build</a:t>
            </a:r>
            <a:endParaRPr lang="en-US" sz="950" dirty="0"/>
          </a:p>
        </p:txBody>
      </p:sp>
      <p:sp>
        <p:nvSpPr>
          <p:cNvPr id="175" name="Shape 147"/>
          <p:cNvSpPr/>
          <p:nvPr/>
        </p:nvSpPr>
        <p:spPr>
          <a:xfrm>
            <a:off x="3941064" y="8074152"/>
            <a:ext cx="3227832" cy="1005840"/>
          </a:xfrm>
          <a:prstGeom prst="roundRect">
            <a:avLst>
              <a:gd name="adj" fmla="val 7273"/>
            </a:avLst>
          </a:prstGeom>
          <a:solidFill>
            <a:srgbClr val="FFFFFF"/>
          </a:solidFill>
          <a:ln w="9525">
            <a:solidFill>
              <a:srgbClr val="C8D8EC"/>
            </a:solidFill>
            <a:prstDash val="solid"/>
          </a:ln>
        </p:spPr>
      </p:sp>
      <p:sp>
        <p:nvSpPr>
          <p:cNvPr id="176" name="Shape 148"/>
          <p:cNvSpPr/>
          <p:nvPr/>
        </p:nvSpPr>
        <p:spPr>
          <a:xfrm>
            <a:off x="4105656" y="8321040"/>
            <a:ext cx="512064" cy="512064"/>
          </a:xfrm>
          <a:prstGeom prst="ellipse">
            <a:avLst/>
          </a:prstGeom>
          <a:solidFill>
            <a:srgbClr val="2A6EBB"/>
          </a:solidFill>
          <a:ln w="12700">
            <a:solidFill>
              <a:srgbClr val="2A6EBB"/>
            </a:solidFill>
            <a:prstDash val="solid"/>
          </a:ln>
        </p:spPr>
      </p:sp>
      <p:pic>
        <p:nvPicPr>
          <p:cNvPr id="177" name="Image 26" descr="preencoded.png">    </p:cNvPr>
          <p:cNvPicPr>
            <a:picLocks noChangeAspect="1"/>
          </p:cNvPicPr>
          <p:nvPr/>
        </p:nvPicPr>
        <p:blipFill>
          <a:blip r:embed="rId27"/>
          <a:stretch>
            <a:fillRect/>
          </a:stretch>
        </p:blipFill>
        <p:spPr>
          <a:xfrm>
            <a:off x="4238793" y="8454177"/>
            <a:ext cx="245791" cy="245791"/>
          </a:xfrm>
          <a:prstGeom prst="rect">
            <a:avLst/>
          </a:prstGeom>
        </p:spPr>
      </p:pic>
      <p:sp>
        <p:nvSpPr>
          <p:cNvPr id="178" name="Text 149"/>
          <p:cNvSpPr txBox="1"/>
          <p:nvPr/>
        </p:nvSpPr>
        <p:spPr>
          <a:xfrm>
            <a:off x="4764024"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Human in the loop</a:t>
            </a:r>
            <a:endParaRPr lang="en-US" sz="1200" dirty="0"/>
          </a:p>
        </p:txBody>
      </p:sp>
      <p:sp>
        <p:nvSpPr>
          <p:cNvPr id="179" name="Text 150"/>
          <p:cNvSpPr txBox="1"/>
          <p:nvPr/>
        </p:nvSpPr>
        <p:spPr>
          <a:xfrm>
            <a:off x="4764024"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Controllers edit and approve every commentary</a:t>
            </a:r>
            <a:endParaRPr lang="en-US" sz="950" dirty="0"/>
          </a:p>
        </p:txBody>
      </p:sp>
      <p:sp>
        <p:nvSpPr>
          <p:cNvPr id="180" name="Shape 151"/>
          <p:cNvSpPr/>
          <p:nvPr/>
        </p:nvSpPr>
        <p:spPr>
          <a:xfrm>
            <a:off x="7379208" y="8074152"/>
            <a:ext cx="3227832" cy="1005840"/>
          </a:xfrm>
          <a:prstGeom prst="roundRect">
            <a:avLst>
              <a:gd name="adj" fmla="val 7273"/>
            </a:avLst>
          </a:prstGeom>
          <a:solidFill>
            <a:srgbClr val="FFFFFF"/>
          </a:solidFill>
          <a:ln w="9525">
            <a:solidFill>
              <a:srgbClr val="C8D8EC"/>
            </a:solidFill>
            <a:prstDash val="solid"/>
          </a:ln>
        </p:spPr>
      </p:sp>
      <p:sp>
        <p:nvSpPr>
          <p:cNvPr id="181" name="Shape 152"/>
          <p:cNvSpPr/>
          <p:nvPr/>
        </p:nvSpPr>
        <p:spPr>
          <a:xfrm>
            <a:off x="7543800" y="8321040"/>
            <a:ext cx="512064" cy="512064"/>
          </a:xfrm>
          <a:prstGeom prst="ellipse">
            <a:avLst/>
          </a:prstGeom>
          <a:solidFill>
            <a:srgbClr val="5B4FA8"/>
          </a:solidFill>
          <a:ln w="12700">
            <a:solidFill>
              <a:srgbClr val="5B4FA8"/>
            </a:solidFill>
            <a:prstDash val="solid"/>
          </a:ln>
        </p:spPr>
      </p:sp>
      <p:pic>
        <p:nvPicPr>
          <p:cNvPr id="182" name="Image 27" descr="preencoded.png">    </p:cNvPr>
          <p:cNvPicPr>
            <a:picLocks noChangeAspect="1"/>
          </p:cNvPicPr>
          <p:nvPr/>
        </p:nvPicPr>
        <p:blipFill>
          <a:blip r:embed="rId28"/>
          <a:stretch>
            <a:fillRect/>
          </a:stretch>
        </p:blipFill>
        <p:spPr>
          <a:xfrm>
            <a:off x="7676937" y="8454177"/>
            <a:ext cx="245791" cy="245791"/>
          </a:xfrm>
          <a:prstGeom prst="rect">
            <a:avLst/>
          </a:prstGeom>
        </p:spPr>
      </p:pic>
      <p:sp>
        <p:nvSpPr>
          <p:cNvPr id="183" name="Text 153"/>
          <p:cNvSpPr txBox="1"/>
          <p:nvPr/>
        </p:nvSpPr>
        <p:spPr>
          <a:xfrm>
            <a:off x="8202168"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Engines compute</a:t>
            </a:r>
            <a:endParaRPr lang="en-US" sz="1200" dirty="0"/>
          </a:p>
        </p:txBody>
      </p:sp>
      <p:sp>
        <p:nvSpPr>
          <p:cNvPr id="184" name="Text 154"/>
          <p:cNvSpPr txBox="1"/>
          <p:nvPr/>
        </p:nvSpPr>
        <p:spPr>
          <a:xfrm>
            <a:off x="8202168"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All numbers from the analytics engine, the LLM explains</a:t>
            </a:r>
            <a:endParaRPr lang="en-US" sz="950" dirty="0"/>
          </a:p>
        </p:txBody>
      </p:sp>
      <p:sp>
        <p:nvSpPr>
          <p:cNvPr id="185" name="Shape 155"/>
          <p:cNvSpPr/>
          <p:nvPr/>
        </p:nvSpPr>
        <p:spPr>
          <a:xfrm>
            <a:off x="10817352" y="8074152"/>
            <a:ext cx="3227832" cy="1005840"/>
          </a:xfrm>
          <a:prstGeom prst="roundRect">
            <a:avLst>
              <a:gd name="adj" fmla="val 7273"/>
            </a:avLst>
          </a:prstGeom>
          <a:solidFill>
            <a:srgbClr val="FFFFFF"/>
          </a:solidFill>
          <a:ln w="9525">
            <a:solidFill>
              <a:srgbClr val="C8D8EC"/>
            </a:solidFill>
            <a:prstDash val="solid"/>
          </a:ln>
        </p:spPr>
      </p:sp>
      <p:sp>
        <p:nvSpPr>
          <p:cNvPr id="186" name="Shape 156"/>
          <p:cNvSpPr/>
          <p:nvPr/>
        </p:nvSpPr>
        <p:spPr>
          <a:xfrm>
            <a:off x="10981944" y="8321040"/>
            <a:ext cx="512064" cy="512064"/>
          </a:xfrm>
          <a:prstGeom prst="ellipse">
            <a:avLst/>
          </a:prstGeom>
          <a:solidFill>
            <a:srgbClr val="1F4E8C"/>
          </a:solidFill>
          <a:ln w="12700">
            <a:solidFill>
              <a:srgbClr val="1F4E8C"/>
            </a:solidFill>
            <a:prstDash val="solid"/>
          </a:ln>
        </p:spPr>
      </p:sp>
      <p:pic>
        <p:nvPicPr>
          <p:cNvPr id="187" name="Image 28" descr="preencoded.png">    </p:cNvPr>
          <p:cNvPicPr>
            <a:picLocks noChangeAspect="1"/>
          </p:cNvPicPr>
          <p:nvPr/>
        </p:nvPicPr>
        <p:blipFill>
          <a:blip r:embed="rId29"/>
          <a:stretch>
            <a:fillRect/>
          </a:stretch>
        </p:blipFill>
        <p:spPr>
          <a:xfrm>
            <a:off x="11115081" y="8454177"/>
            <a:ext cx="245791" cy="245791"/>
          </a:xfrm>
          <a:prstGeom prst="rect">
            <a:avLst/>
          </a:prstGeom>
        </p:spPr>
      </p:pic>
      <p:sp>
        <p:nvSpPr>
          <p:cNvPr id="188" name="Text 157"/>
          <p:cNvSpPr txBox="1"/>
          <p:nvPr/>
        </p:nvSpPr>
        <p:spPr>
          <a:xfrm>
            <a:off x="11640312"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Scales by pack</a:t>
            </a:r>
            <a:endParaRPr lang="en-US" sz="1200" dirty="0"/>
          </a:p>
        </p:txBody>
      </p:sp>
      <p:sp>
        <p:nvSpPr>
          <p:cNvPr id="189" name="Text 158"/>
          <p:cNvSpPr txBox="1"/>
          <p:nvPr/>
        </p:nvSpPr>
        <p:spPr>
          <a:xfrm>
            <a:off x="11640312"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Add cost or impairment packs as new skills</a:t>
            </a:r>
            <a:endParaRPr lang="en-US" sz="950" dirty="0"/>
          </a:p>
        </p:txBody>
      </p:sp>
      <p:sp>
        <p:nvSpPr>
          <p:cNvPr id="190" name="Shape 159"/>
          <p:cNvSpPr/>
          <p:nvPr/>
        </p:nvSpPr>
        <p:spPr>
          <a:xfrm>
            <a:off x="0" y="9272016"/>
            <a:ext cx="14630400" cy="484632"/>
          </a:xfrm>
          <a:prstGeom prst="rect">
            <a:avLst/>
          </a:prstGeom>
          <a:solidFill>
            <a:srgbClr val="0B2E5E"/>
          </a:solidFill>
          <a:ln w="12700">
            <a:solidFill>
              <a:srgbClr val="0B2E5E"/>
            </a:solidFill>
            <a:prstDash val="solid"/>
          </a:ln>
        </p:spPr>
      </p:sp>
      <p:sp>
        <p:nvSpPr>
          <p:cNvPr id="191" name="Text 160"/>
          <p:cNvSpPr txBox="1"/>
          <p:nvPr/>
        </p:nvSpPr>
        <p:spPr>
          <a:xfrm>
            <a:off x="0" y="9272016"/>
            <a:ext cx="14630400" cy="4846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Analysis &amp; Review</a:t>
            </a:r>
            <a:pPr algn="ctr" indent="0" marL="0">
              <a:buNone/>
            </a:pPr>
            <a:r>
              <a:rPr lang="en-US" sz="1100" dirty="0">
                <a:solidFill>
                  <a:srgbClr val="FFFFFF"/>
                </a:solidFill>
                <a:latin typeface="Calibri" pitchFamily="34" charset="0"/>
                <a:ea typeface="Calibri" pitchFamily="34" charset="-122"/>
                <a:cs typeface="Calibri" pitchFamily="34" charset="-120"/>
              </a:rPr>
              <a:t>   |   Explained Numbers. Consistent Commentary. Faster Review.</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AFD"/>
        </a:solidFill>
      </p:bgPr>
    </p:bg>
    <p:spTree>
      <p:nvGrpSpPr>
        <p:cNvPr id="1" name=""/>
        <p:cNvGrpSpPr/>
        <p:nvPr/>
      </p:nvGrpSpPr>
      <p:grpSpPr>
        <a:xfrm>
          <a:off x="0" y="0"/>
          <a:ext cx="0" cy="0"/>
          <a:chOff x="0" y="0"/>
          <a:chExt cx="0" cy="0"/>
        </a:xfrm>
      </p:grpSpPr>
      <p:sp>
        <p:nvSpPr>
          <p:cNvPr id="2" name="Shape 0"/>
          <p:cNvSpPr/>
          <p:nvPr/>
        </p:nvSpPr>
        <p:spPr>
          <a:xfrm>
            <a:off x="0" y="0"/>
            <a:ext cx="14630400" cy="1024128"/>
          </a:xfrm>
          <a:prstGeom prst="rect">
            <a:avLst/>
          </a:prstGeom>
          <a:solidFill>
            <a:srgbClr val="0B2E5E"/>
          </a:solidFill>
          <a:ln w="12700">
            <a:solidFill>
              <a:srgbClr val="0B2E5E"/>
            </a:solidFill>
            <a:prstDash val="solid"/>
          </a:ln>
        </p:spPr>
      </p:sp>
      <p:sp>
        <p:nvSpPr>
          <p:cNvPr id="3" name="Text 1"/>
          <p:cNvSpPr txBox="1"/>
          <p:nvPr/>
        </p:nvSpPr>
        <p:spPr>
          <a:xfrm>
            <a:off x="301752" y="137160"/>
            <a:ext cx="11155680" cy="475488"/>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UC5 Financial Close: Sign-off &amp; Attestation</a:t>
            </a:r>
            <a:endParaRPr lang="en-US" sz="3000" dirty="0"/>
          </a:p>
        </p:txBody>
      </p:sp>
      <p:sp>
        <p:nvSpPr>
          <p:cNvPr id="4" name="Text 2"/>
          <p:cNvSpPr txBox="1"/>
          <p:nvPr/>
        </p:nvSpPr>
        <p:spPr>
          <a:xfrm>
            <a:off x="301752" y="612648"/>
            <a:ext cx="11155680" cy="301752"/>
          </a:xfrm>
          <a:prstGeom prst="rect">
            <a:avLst/>
          </a:prstGeom>
          <a:noFill/>
          <a:ln/>
        </p:spPr>
        <p:txBody>
          <a:bodyPr wrap="square" lIns="0" tIns="0" rIns="0" bIns="0" rtlCol="0" anchor="ctr"/>
          <a:lstStyle/>
          <a:p>
            <a:pPr indent="0" marL="0">
              <a:buNone/>
            </a:pPr>
            <a:r>
              <a:rPr lang="en-US" sz="1600" dirty="0">
                <a:solidFill>
                  <a:srgbClr val="DCE9F7"/>
                </a:solidFill>
                <a:latin typeface="Calibri" pitchFamily="34" charset="0"/>
                <a:ea typeface="Calibri" pitchFamily="34" charset="-122"/>
                <a:cs typeface="Calibri" pitchFamily="34" charset="-120"/>
              </a:rPr>
              <a:t>Substantiation &amp; Attestation, Trader, Daily TB, Legal Entity &amp; Group Sign Off</a:t>
            </a:r>
            <a:endParaRPr lang="en-US" sz="1600" dirty="0"/>
          </a:p>
        </p:txBody>
      </p:sp>
      <p:sp>
        <p:nvSpPr>
          <p:cNvPr id="5" name="Shape 3"/>
          <p:cNvSpPr/>
          <p:nvPr/>
        </p:nvSpPr>
        <p:spPr>
          <a:xfrm>
            <a:off x="11640312" y="192024"/>
            <a:ext cx="0" cy="649224"/>
          </a:xfrm>
          <a:prstGeom prst="line">
            <a:avLst/>
          </a:prstGeom>
          <a:noFill/>
          <a:ln w="12700">
            <a:solidFill>
              <a:srgbClr val="FFFFFF"/>
            </a:solidFill>
            <a:prstDash val="solid"/>
          </a:ln>
        </p:spPr>
      </p:sp>
      <p:sp>
        <p:nvSpPr>
          <p:cNvPr id="6" name="Text 4"/>
          <p:cNvSpPr txBox="1"/>
          <p:nvPr/>
        </p:nvSpPr>
        <p:spPr>
          <a:xfrm>
            <a:off x="11814048" y="265176"/>
            <a:ext cx="2715768"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Financial Close</a:t>
            </a:r>
            <a:endParaRPr lang="en-US" sz="2200" dirty="0"/>
          </a:p>
        </p:txBody>
      </p:sp>
      <p:sp>
        <p:nvSpPr>
          <p:cNvPr id="7" name="Text 5"/>
          <p:cNvSpPr txBox="1"/>
          <p:nvPr/>
        </p:nvSpPr>
        <p:spPr>
          <a:xfrm>
            <a:off x="502920" y="1216152"/>
            <a:ext cx="1920240" cy="347472"/>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Sign-off milestones</a:t>
            </a:r>
            <a:endParaRPr lang="en-US" sz="1100" dirty="0"/>
          </a:p>
        </p:txBody>
      </p:sp>
      <p:sp>
        <p:nvSpPr>
          <p:cNvPr id="8" name="Shape 6"/>
          <p:cNvSpPr/>
          <p:nvPr/>
        </p:nvSpPr>
        <p:spPr>
          <a:xfrm>
            <a:off x="2496312" y="1243584"/>
            <a:ext cx="2075688" cy="283464"/>
          </a:xfrm>
          <a:prstGeom prst="roundRect">
            <a:avLst>
              <a:gd name="adj" fmla="val 48387"/>
            </a:avLst>
          </a:prstGeom>
          <a:solidFill>
            <a:srgbClr val="DCE9F7"/>
          </a:solidFill>
          <a:ln w="9525">
            <a:solidFill>
              <a:srgbClr val="C8D8EC"/>
            </a:solidFill>
            <a:prstDash val="solid"/>
          </a:ln>
        </p:spPr>
      </p:sp>
      <p:pic>
        <p:nvPicPr>
          <p:cNvPr id="9" name="Image 0" descr="preencoded.png">    </p:cNvPr>
          <p:cNvPicPr>
            <a:picLocks noChangeAspect="1"/>
          </p:cNvPicPr>
          <p:nvPr/>
        </p:nvPicPr>
        <p:blipFill>
          <a:blip r:embed="rId1"/>
          <a:stretch>
            <a:fillRect/>
          </a:stretch>
        </p:blipFill>
        <p:spPr>
          <a:xfrm>
            <a:off x="2606040" y="1316736"/>
            <a:ext cx="137160" cy="137160"/>
          </a:xfrm>
          <a:prstGeom prst="rect">
            <a:avLst/>
          </a:prstGeom>
        </p:spPr>
      </p:pic>
      <p:sp>
        <p:nvSpPr>
          <p:cNvPr id="10" name="Text 7"/>
          <p:cNvSpPr txBox="1"/>
          <p:nvPr/>
        </p:nvSpPr>
        <p:spPr>
          <a:xfrm>
            <a:off x="2798064" y="1243584"/>
            <a:ext cx="1737360" cy="283464"/>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Trader sign off</a:t>
            </a:r>
            <a:endParaRPr lang="en-US" sz="950" dirty="0"/>
          </a:p>
        </p:txBody>
      </p:sp>
      <p:sp>
        <p:nvSpPr>
          <p:cNvPr id="11" name="Shape 8"/>
          <p:cNvSpPr/>
          <p:nvPr/>
        </p:nvSpPr>
        <p:spPr>
          <a:xfrm>
            <a:off x="4709160" y="1243584"/>
            <a:ext cx="2075688" cy="283464"/>
          </a:xfrm>
          <a:prstGeom prst="roundRect">
            <a:avLst>
              <a:gd name="adj" fmla="val 48387"/>
            </a:avLst>
          </a:prstGeom>
          <a:solidFill>
            <a:srgbClr val="DCE9F7"/>
          </a:solidFill>
          <a:ln w="9525">
            <a:solidFill>
              <a:srgbClr val="C8D8EC"/>
            </a:solidFill>
            <a:prstDash val="solid"/>
          </a:ln>
        </p:spPr>
      </p:sp>
      <p:pic>
        <p:nvPicPr>
          <p:cNvPr id="12" name="Image 1" descr="preencoded.png">    </p:cNvPr>
          <p:cNvPicPr>
            <a:picLocks noChangeAspect="1"/>
          </p:cNvPicPr>
          <p:nvPr/>
        </p:nvPicPr>
        <p:blipFill>
          <a:blip r:embed="rId2"/>
          <a:stretch>
            <a:fillRect/>
          </a:stretch>
        </p:blipFill>
        <p:spPr>
          <a:xfrm>
            <a:off x="4818888" y="1316736"/>
            <a:ext cx="137160" cy="137160"/>
          </a:xfrm>
          <a:prstGeom prst="rect">
            <a:avLst/>
          </a:prstGeom>
        </p:spPr>
      </p:pic>
      <p:sp>
        <p:nvSpPr>
          <p:cNvPr id="13" name="Text 9"/>
          <p:cNvSpPr txBox="1"/>
          <p:nvPr/>
        </p:nvSpPr>
        <p:spPr>
          <a:xfrm>
            <a:off x="5010912" y="1243584"/>
            <a:ext cx="1737360" cy="283464"/>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Daily TB sign off</a:t>
            </a:r>
            <a:endParaRPr lang="en-US" sz="950" dirty="0"/>
          </a:p>
        </p:txBody>
      </p:sp>
      <p:sp>
        <p:nvSpPr>
          <p:cNvPr id="14" name="Shape 10"/>
          <p:cNvSpPr/>
          <p:nvPr/>
        </p:nvSpPr>
        <p:spPr>
          <a:xfrm>
            <a:off x="6922008" y="1243584"/>
            <a:ext cx="2075688" cy="283464"/>
          </a:xfrm>
          <a:prstGeom prst="roundRect">
            <a:avLst>
              <a:gd name="adj" fmla="val 48387"/>
            </a:avLst>
          </a:prstGeom>
          <a:solidFill>
            <a:srgbClr val="DCE9F7"/>
          </a:solidFill>
          <a:ln w="9525">
            <a:solidFill>
              <a:srgbClr val="C8D8EC"/>
            </a:solidFill>
            <a:prstDash val="solid"/>
          </a:ln>
        </p:spPr>
      </p:sp>
      <p:pic>
        <p:nvPicPr>
          <p:cNvPr id="15" name="Image 2" descr="preencoded.png">    </p:cNvPr>
          <p:cNvPicPr>
            <a:picLocks noChangeAspect="1"/>
          </p:cNvPicPr>
          <p:nvPr/>
        </p:nvPicPr>
        <p:blipFill>
          <a:blip r:embed="rId3"/>
          <a:stretch>
            <a:fillRect/>
          </a:stretch>
        </p:blipFill>
        <p:spPr>
          <a:xfrm>
            <a:off x="7031736" y="1316736"/>
            <a:ext cx="137160" cy="137160"/>
          </a:xfrm>
          <a:prstGeom prst="rect">
            <a:avLst/>
          </a:prstGeom>
        </p:spPr>
      </p:pic>
      <p:sp>
        <p:nvSpPr>
          <p:cNvPr id="16" name="Text 11"/>
          <p:cNvSpPr txBox="1"/>
          <p:nvPr/>
        </p:nvSpPr>
        <p:spPr>
          <a:xfrm>
            <a:off x="7223760" y="1243584"/>
            <a:ext cx="1737360" cy="283464"/>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LE &amp; Group sign off</a:t>
            </a:r>
            <a:endParaRPr lang="en-US" sz="950" dirty="0"/>
          </a:p>
        </p:txBody>
      </p:sp>
      <p:sp>
        <p:nvSpPr>
          <p:cNvPr id="17" name="Shape 12"/>
          <p:cNvSpPr/>
          <p:nvPr/>
        </p:nvSpPr>
        <p:spPr>
          <a:xfrm>
            <a:off x="9134856" y="1243584"/>
            <a:ext cx="2075688" cy="283464"/>
          </a:xfrm>
          <a:prstGeom prst="roundRect">
            <a:avLst>
              <a:gd name="adj" fmla="val 48387"/>
            </a:avLst>
          </a:prstGeom>
          <a:solidFill>
            <a:srgbClr val="FFFFFF"/>
          </a:solidFill>
          <a:ln w="9525">
            <a:solidFill>
              <a:srgbClr val="C8D8EC"/>
            </a:solidFill>
            <a:prstDash val="solid"/>
          </a:ln>
        </p:spPr>
      </p:sp>
      <p:pic>
        <p:nvPicPr>
          <p:cNvPr id="18" name="Image 3" descr="preencoded.png">    </p:cNvPr>
          <p:cNvPicPr>
            <a:picLocks noChangeAspect="1"/>
          </p:cNvPicPr>
          <p:nvPr/>
        </p:nvPicPr>
        <p:blipFill>
          <a:blip r:embed="rId4"/>
          <a:stretch>
            <a:fillRect/>
          </a:stretch>
        </p:blipFill>
        <p:spPr>
          <a:xfrm>
            <a:off x="9244584" y="1316736"/>
            <a:ext cx="137160" cy="137160"/>
          </a:xfrm>
          <a:prstGeom prst="rect">
            <a:avLst/>
          </a:prstGeom>
        </p:spPr>
      </p:pic>
      <p:sp>
        <p:nvSpPr>
          <p:cNvPr id="19" name="Text 13"/>
          <p:cNvSpPr txBox="1"/>
          <p:nvPr/>
        </p:nvSpPr>
        <p:spPr>
          <a:xfrm>
            <a:off x="9436608" y="1243584"/>
            <a:ext cx="1737360" cy="283464"/>
          </a:xfrm>
          <a:prstGeom prst="rect">
            <a:avLst/>
          </a:prstGeom>
          <a:noFill/>
          <a:ln/>
        </p:spPr>
        <p:txBody>
          <a:bodyPr wrap="square" lIns="0" tIns="0" rIns="0" bIns="0" rtlCol="0" anchor="ctr"/>
          <a:lstStyle/>
          <a:p>
            <a:pPr indent="0" marL="0">
              <a:buNone/>
            </a:pPr>
            <a:r>
              <a:rPr lang="en-US" sz="950" i="1" dirty="0">
                <a:solidFill>
                  <a:srgbClr val="1F2D3D"/>
                </a:solidFill>
                <a:latin typeface="Calibri" pitchFamily="34" charset="0"/>
                <a:ea typeface="Calibri" pitchFamily="34" charset="-122"/>
                <a:cs typeface="Calibri" pitchFamily="34" charset="-120"/>
              </a:rPr>
              <a:t>More: attestation</a:t>
            </a:r>
            <a:endParaRPr lang="en-US" sz="950" dirty="0"/>
          </a:p>
        </p:txBody>
      </p:sp>
      <p:sp>
        <p:nvSpPr>
          <p:cNvPr id="20" name="Text 14"/>
          <p:cNvSpPr txBox="1"/>
          <p:nvPr/>
        </p:nvSpPr>
        <p:spPr>
          <a:xfrm>
            <a:off x="11338560" y="1216152"/>
            <a:ext cx="2852928" cy="347472"/>
          </a:xfrm>
          <a:prstGeom prst="rect">
            <a:avLst/>
          </a:prstGeom>
          <a:noFill/>
          <a:ln/>
        </p:spPr>
        <p:txBody>
          <a:bodyPr wrap="square" lIns="0" tIns="0" rIns="0" bIns="0" rtlCol="0" anchor="ctr"/>
          <a:lstStyle/>
          <a:p>
            <a:pPr indent="0" marL="0">
              <a:buNone/>
            </a:pPr>
            <a:r>
              <a:rPr lang="en-US" sz="950" i="1" dirty="0">
                <a:solidFill>
                  <a:srgbClr val="4A5A6E"/>
                </a:solidFill>
                <a:latin typeface="Calibri" pitchFamily="34" charset="0"/>
                <a:ea typeface="Calibri" pitchFamily="34" charset="-122"/>
                <a:cs typeface="Calibri" pitchFamily="34" charset="-120"/>
              </a:rPr>
              <a:t>Status: Next wave on One Fin UX PoC</a:t>
            </a:r>
            <a:endParaRPr lang="en-US" sz="950" dirty="0"/>
          </a:p>
        </p:txBody>
      </p:sp>
      <p:sp>
        <p:nvSpPr>
          <p:cNvPr id="21" name="Shape 15"/>
          <p:cNvSpPr/>
          <p:nvPr/>
        </p:nvSpPr>
        <p:spPr>
          <a:xfrm>
            <a:off x="502920" y="1737360"/>
            <a:ext cx="2377440" cy="4480560"/>
          </a:xfrm>
          <a:prstGeom prst="roundRect">
            <a:avLst>
              <a:gd name="adj" fmla="val 2308"/>
            </a:avLst>
          </a:prstGeom>
          <a:solidFill>
            <a:srgbClr val="EEF4FB"/>
          </a:solidFill>
          <a:ln w="12700">
            <a:solidFill>
              <a:srgbClr val="1B4F93"/>
            </a:solidFill>
            <a:prstDash val="dash"/>
          </a:ln>
        </p:spPr>
      </p:sp>
      <p:sp>
        <p:nvSpPr>
          <p:cNvPr id="22" name="Text 16"/>
          <p:cNvSpPr txBox="1"/>
          <p:nvPr/>
        </p:nvSpPr>
        <p:spPr>
          <a:xfrm>
            <a:off x="621792" y="1810512"/>
            <a:ext cx="2148840" cy="192024"/>
          </a:xfrm>
          <a:prstGeom prst="rect">
            <a:avLst/>
          </a:prstGeom>
          <a:noFill/>
          <a:ln/>
        </p:spPr>
        <p:txBody>
          <a:bodyPr wrap="square" lIns="0" tIns="0" rIns="0" bIns="0" rtlCol="0" anchor="ctr"/>
          <a:lstStyle/>
          <a:p>
            <a:pPr indent="0" marL="0">
              <a:buNone/>
            </a:pPr>
            <a:r>
              <a:rPr lang="en-US" sz="900" b="1" spc="100" kern="0" dirty="0">
                <a:solidFill>
                  <a:srgbClr val="1B4F93"/>
                </a:solidFill>
                <a:latin typeface="Calibri" pitchFamily="34" charset="0"/>
                <a:ea typeface="Calibri" pitchFamily="34" charset="-122"/>
                <a:cs typeface="Calibri" pitchFamily="34" charset="-120"/>
              </a:rPr>
              <a:t>CLOSE INPUTS</a:t>
            </a:r>
            <a:endParaRPr lang="en-US" sz="900" dirty="0"/>
          </a:p>
        </p:txBody>
      </p:sp>
      <p:sp>
        <p:nvSpPr>
          <p:cNvPr id="23" name="Shape 17"/>
          <p:cNvSpPr/>
          <p:nvPr/>
        </p:nvSpPr>
        <p:spPr>
          <a:xfrm>
            <a:off x="1691640" y="6236208"/>
            <a:ext cx="0" cy="219456"/>
          </a:xfrm>
          <a:prstGeom prst="line">
            <a:avLst/>
          </a:prstGeom>
          <a:noFill/>
          <a:ln w="15875">
            <a:solidFill>
              <a:srgbClr val="6B7C93"/>
            </a:solidFill>
            <a:prstDash val="dash"/>
            <a:tailEnd type="triangle"/>
          </a:ln>
        </p:spPr>
      </p:sp>
      <p:sp>
        <p:nvSpPr>
          <p:cNvPr id="24" name="Shape 18"/>
          <p:cNvSpPr/>
          <p:nvPr/>
        </p:nvSpPr>
        <p:spPr>
          <a:xfrm>
            <a:off x="3310128" y="1737360"/>
            <a:ext cx="2377440" cy="4480560"/>
          </a:xfrm>
          <a:prstGeom prst="roundRect">
            <a:avLst>
              <a:gd name="adj" fmla="val 2308"/>
            </a:avLst>
          </a:prstGeom>
          <a:solidFill>
            <a:srgbClr val="EEF4FB"/>
          </a:solidFill>
          <a:ln w="12700">
            <a:solidFill>
              <a:srgbClr val="2A6EBB"/>
            </a:solidFill>
            <a:prstDash val="dash"/>
          </a:ln>
        </p:spPr>
      </p:sp>
      <p:sp>
        <p:nvSpPr>
          <p:cNvPr id="25" name="Text 19"/>
          <p:cNvSpPr txBox="1"/>
          <p:nvPr/>
        </p:nvSpPr>
        <p:spPr>
          <a:xfrm>
            <a:off x="3429000" y="1810512"/>
            <a:ext cx="2148840" cy="192024"/>
          </a:xfrm>
          <a:prstGeom prst="rect">
            <a:avLst/>
          </a:prstGeom>
          <a:noFill/>
          <a:ln/>
        </p:spPr>
        <p:txBody>
          <a:bodyPr wrap="square" lIns="0" tIns="0" rIns="0" bIns="0" rtlCol="0" anchor="ctr"/>
          <a:lstStyle/>
          <a:p>
            <a:pPr indent="0" marL="0">
              <a:buNone/>
            </a:pPr>
            <a:r>
              <a:rPr lang="en-US" sz="900" b="1" spc="100" kern="0" dirty="0">
                <a:solidFill>
                  <a:srgbClr val="2A6EBB"/>
                </a:solidFill>
                <a:latin typeface="Calibri" pitchFamily="34" charset="0"/>
                <a:ea typeface="Calibri" pitchFamily="34" charset="-122"/>
                <a:cs typeface="Calibri" pitchFamily="34" charset="-120"/>
              </a:rPr>
              <a:t>EVENTS &amp; READINESS</a:t>
            </a:r>
            <a:endParaRPr lang="en-US" sz="900" dirty="0"/>
          </a:p>
        </p:txBody>
      </p:sp>
      <p:sp>
        <p:nvSpPr>
          <p:cNvPr id="26" name="Shape 20"/>
          <p:cNvSpPr/>
          <p:nvPr/>
        </p:nvSpPr>
        <p:spPr>
          <a:xfrm>
            <a:off x="4498848" y="6236208"/>
            <a:ext cx="0" cy="219456"/>
          </a:xfrm>
          <a:prstGeom prst="line">
            <a:avLst/>
          </a:prstGeom>
          <a:noFill/>
          <a:ln w="15875">
            <a:solidFill>
              <a:srgbClr val="6B7C93"/>
            </a:solidFill>
            <a:prstDash val="dash"/>
            <a:tailEnd type="triangle"/>
          </a:ln>
        </p:spPr>
      </p:sp>
      <p:sp>
        <p:nvSpPr>
          <p:cNvPr id="27" name="Shape 21"/>
          <p:cNvSpPr/>
          <p:nvPr/>
        </p:nvSpPr>
        <p:spPr>
          <a:xfrm>
            <a:off x="6126480" y="1737360"/>
            <a:ext cx="2377440" cy="4480560"/>
          </a:xfrm>
          <a:prstGeom prst="roundRect">
            <a:avLst>
              <a:gd name="adj" fmla="val 2308"/>
            </a:avLst>
          </a:prstGeom>
          <a:solidFill>
            <a:srgbClr val="EDF7F2"/>
          </a:solidFill>
          <a:ln w="12700">
            <a:solidFill>
              <a:srgbClr val="1E8A5A"/>
            </a:solidFill>
            <a:prstDash val="dash"/>
          </a:ln>
        </p:spPr>
      </p:sp>
      <p:sp>
        <p:nvSpPr>
          <p:cNvPr id="28" name="Text 22"/>
          <p:cNvSpPr txBox="1"/>
          <p:nvPr/>
        </p:nvSpPr>
        <p:spPr>
          <a:xfrm>
            <a:off x="6245352" y="1810512"/>
            <a:ext cx="2148840" cy="192024"/>
          </a:xfrm>
          <a:prstGeom prst="rect">
            <a:avLst/>
          </a:prstGeom>
          <a:noFill/>
          <a:ln/>
        </p:spPr>
        <p:txBody>
          <a:bodyPr wrap="square" lIns="0" tIns="0" rIns="0" bIns="0" rtlCol="0" anchor="ctr"/>
          <a:lstStyle/>
          <a:p>
            <a:pPr indent="0" marL="0">
              <a:buNone/>
            </a:pPr>
            <a:r>
              <a:rPr lang="en-US" sz="900" b="1" spc="100" kern="0" dirty="0">
                <a:solidFill>
                  <a:srgbClr val="1E8A5A"/>
                </a:solidFill>
                <a:latin typeface="Calibri" pitchFamily="34" charset="0"/>
                <a:ea typeface="Calibri" pitchFamily="34" charset="-122"/>
                <a:cs typeface="Calibri" pitchFamily="34" charset="-120"/>
              </a:rPr>
              <a:t>ORCHESTRATION</a:t>
            </a:r>
            <a:endParaRPr lang="en-US" sz="900" dirty="0"/>
          </a:p>
        </p:txBody>
      </p:sp>
      <p:sp>
        <p:nvSpPr>
          <p:cNvPr id="29" name="Shape 23"/>
          <p:cNvSpPr/>
          <p:nvPr/>
        </p:nvSpPr>
        <p:spPr>
          <a:xfrm>
            <a:off x="7315200" y="6236208"/>
            <a:ext cx="0" cy="219456"/>
          </a:xfrm>
          <a:prstGeom prst="line">
            <a:avLst/>
          </a:prstGeom>
          <a:noFill/>
          <a:ln w="15875">
            <a:solidFill>
              <a:srgbClr val="6B7C93"/>
            </a:solidFill>
            <a:prstDash val="dash"/>
            <a:tailEnd type="triangle"/>
          </a:ln>
        </p:spPr>
      </p:sp>
      <p:sp>
        <p:nvSpPr>
          <p:cNvPr id="30" name="Shape 24"/>
          <p:cNvSpPr/>
          <p:nvPr/>
        </p:nvSpPr>
        <p:spPr>
          <a:xfrm>
            <a:off x="8933688" y="1737360"/>
            <a:ext cx="2377440" cy="4480560"/>
          </a:xfrm>
          <a:prstGeom prst="roundRect">
            <a:avLst>
              <a:gd name="adj" fmla="val 2308"/>
            </a:avLst>
          </a:prstGeom>
          <a:solidFill>
            <a:srgbClr val="F3F1FB"/>
          </a:solidFill>
          <a:ln w="12700">
            <a:solidFill>
              <a:srgbClr val="5B4FA8"/>
            </a:solidFill>
            <a:prstDash val="dash"/>
          </a:ln>
        </p:spPr>
      </p:sp>
      <p:sp>
        <p:nvSpPr>
          <p:cNvPr id="31" name="Text 25"/>
          <p:cNvSpPr txBox="1"/>
          <p:nvPr/>
        </p:nvSpPr>
        <p:spPr>
          <a:xfrm>
            <a:off x="9052560" y="1810512"/>
            <a:ext cx="2148840" cy="192024"/>
          </a:xfrm>
          <a:prstGeom prst="rect">
            <a:avLst/>
          </a:prstGeom>
          <a:noFill/>
          <a:ln/>
        </p:spPr>
        <p:txBody>
          <a:bodyPr wrap="square" lIns="0" tIns="0" rIns="0" bIns="0" rtlCol="0" anchor="ctr"/>
          <a:lstStyle/>
          <a:p>
            <a:pPr indent="0" marL="0">
              <a:buNone/>
            </a:pPr>
            <a:r>
              <a:rPr lang="en-US" sz="900" b="1" spc="100" kern="0" dirty="0">
                <a:solidFill>
                  <a:srgbClr val="5B4FA8"/>
                </a:solidFill>
                <a:latin typeface="Calibri" pitchFamily="34" charset="0"/>
                <a:ea typeface="Calibri" pitchFamily="34" charset="-122"/>
                <a:cs typeface="Calibri" pitchFamily="34" charset="-120"/>
              </a:rPr>
              <a:t>AI REASONING</a:t>
            </a:r>
            <a:endParaRPr lang="en-US" sz="900" dirty="0"/>
          </a:p>
        </p:txBody>
      </p:sp>
      <p:sp>
        <p:nvSpPr>
          <p:cNvPr id="32" name="Shape 26"/>
          <p:cNvSpPr/>
          <p:nvPr/>
        </p:nvSpPr>
        <p:spPr>
          <a:xfrm>
            <a:off x="10122408" y="6236208"/>
            <a:ext cx="0" cy="219456"/>
          </a:xfrm>
          <a:prstGeom prst="line">
            <a:avLst/>
          </a:prstGeom>
          <a:noFill/>
          <a:ln w="15875">
            <a:solidFill>
              <a:srgbClr val="6B7C93"/>
            </a:solidFill>
            <a:prstDash val="dash"/>
            <a:tailEnd type="triangle"/>
          </a:ln>
        </p:spPr>
      </p:sp>
      <p:sp>
        <p:nvSpPr>
          <p:cNvPr id="33" name="Shape 27"/>
          <p:cNvSpPr/>
          <p:nvPr/>
        </p:nvSpPr>
        <p:spPr>
          <a:xfrm>
            <a:off x="11740896" y="1737360"/>
            <a:ext cx="2377440" cy="4480560"/>
          </a:xfrm>
          <a:prstGeom prst="roundRect">
            <a:avLst>
              <a:gd name="adj" fmla="val 2308"/>
            </a:avLst>
          </a:prstGeom>
          <a:solidFill>
            <a:srgbClr val="EEF4FB"/>
          </a:solidFill>
          <a:ln w="12700">
            <a:solidFill>
              <a:srgbClr val="1F6FB5"/>
            </a:solidFill>
            <a:prstDash val="dash"/>
          </a:ln>
        </p:spPr>
      </p:sp>
      <p:sp>
        <p:nvSpPr>
          <p:cNvPr id="34" name="Text 28"/>
          <p:cNvSpPr txBox="1"/>
          <p:nvPr/>
        </p:nvSpPr>
        <p:spPr>
          <a:xfrm>
            <a:off x="11859768" y="1810512"/>
            <a:ext cx="2148840" cy="192024"/>
          </a:xfrm>
          <a:prstGeom prst="rect">
            <a:avLst/>
          </a:prstGeom>
          <a:noFill/>
          <a:ln/>
        </p:spPr>
        <p:txBody>
          <a:bodyPr wrap="square" lIns="0" tIns="0" rIns="0" bIns="0" rtlCol="0" anchor="ctr"/>
          <a:lstStyle/>
          <a:p>
            <a:pPr indent="0" marL="0">
              <a:buNone/>
            </a:pPr>
            <a:r>
              <a:rPr lang="en-US" sz="900" b="1" spc="100" kern="0" dirty="0">
                <a:solidFill>
                  <a:srgbClr val="1F6FB5"/>
                </a:solidFill>
                <a:latin typeface="Calibri" pitchFamily="34" charset="0"/>
                <a:ea typeface="Calibri" pitchFamily="34" charset="-122"/>
                <a:cs typeface="Calibri" pitchFamily="34" charset="-120"/>
              </a:rPr>
              <a:t>SIGNATORY EXPERIENCE</a:t>
            </a:r>
            <a:endParaRPr lang="en-US" sz="900" dirty="0"/>
          </a:p>
        </p:txBody>
      </p:sp>
      <p:sp>
        <p:nvSpPr>
          <p:cNvPr id="35" name="Shape 29"/>
          <p:cNvSpPr/>
          <p:nvPr/>
        </p:nvSpPr>
        <p:spPr>
          <a:xfrm>
            <a:off x="12929616" y="6236208"/>
            <a:ext cx="0" cy="219456"/>
          </a:xfrm>
          <a:prstGeom prst="line">
            <a:avLst/>
          </a:prstGeom>
          <a:noFill/>
          <a:ln w="15875">
            <a:solidFill>
              <a:srgbClr val="6B7C93"/>
            </a:solidFill>
            <a:prstDash val="dash"/>
            <a:tailEnd type="triangle"/>
          </a:ln>
        </p:spPr>
      </p:sp>
      <p:sp>
        <p:nvSpPr>
          <p:cNvPr id="36" name="Shape 30"/>
          <p:cNvSpPr/>
          <p:nvPr/>
        </p:nvSpPr>
        <p:spPr>
          <a:xfrm>
            <a:off x="932688" y="2212848"/>
            <a:ext cx="1527048" cy="1426464"/>
          </a:xfrm>
          <a:prstGeom prst="roundRect">
            <a:avLst>
              <a:gd name="adj" fmla="val 5128"/>
            </a:avLst>
          </a:prstGeom>
          <a:solidFill>
            <a:srgbClr val="FFFFFF"/>
          </a:solidFill>
          <a:ln w="9525">
            <a:solidFill>
              <a:srgbClr val="C8D8EC"/>
            </a:solidFill>
            <a:prstDash val="solid"/>
          </a:ln>
        </p:spPr>
      </p:sp>
      <p:sp>
        <p:nvSpPr>
          <p:cNvPr id="37" name="Shape 31"/>
          <p:cNvSpPr/>
          <p:nvPr/>
        </p:nvSpPr>
        <p:spPr>
          <a:xfrm>
            <a:off x="1431036" y="2322576"/>
            <a:ext cx="530352" cy="530352"/>
          </a:xfrm>
          <a:prstGeom prst="roundRect">
            <a:avLst>
              <a:gd name="adj" fmla="val 17241"/>
            </a:avLst>
          </a:prstGeom>
          <a:solidFill>
            <a:srgbClr val="1B4F93"/>
          </a:solidFill>
          <a:ln w="12700">
            <a:solidFill>
              <a:srgbClr val="1B4F93"/>
            </a:solidFill>
            <a:prstDash val="solid"/>
          </a:ln>
        </p:spPr>
      </p:sp>
      <p:pic>
        <p:nvPicPr>
          <p:cNvPr id="38" name="Image 4" descr="preencoded.png">    </p:cNvPr>
          <p:cNvPicPr>
            <a:picLocks noChangeAspect="1"/>
          </p:cNvPicPr>
          <p:nvPr/>
        </p:nvPicPr>
        <p:blipFill>
          <a:blip r:embed="rId5"/>
          <a:stretch>
            <a:fillRect/>
          </a:stretch>
        </p:blipFill>
        <p:spPr>
          <a:xfrm>
            <a:off x="1547713" y="2439253"/>
            <a:ext cx="296997" cy="296997"/>
          </a:xfrm>
          <a:prstGeom prst="rect">
            <a:avLst/>
          </a:prstGeom>
        </p:spPr>
      </p:pic>
      <p:sp>
        <p:nvSpPr>
          <p:cNvPr id="39" name="Text 32"/>
          <p:cNvSpPr txBox="1"/>
          <p:nvPr/>
        </p:nvSpPr>
        <p:spPr>
          <a:xfrm>
            <a:off x="978408"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Finance Systems</a:t>
            </a:r>
            <a:endParaRPr lang="en-US" sz="1200" dirty="0"/>
          </a:p>
        </p:txBody>
      </p:sp>
      <p:sp>
        <p:nvSpPr>
          <p:cNvPr id="40" name="Text 33"/>
          <p:cNvSpPr txBox="1"/>
          <p:nvPr/>
        </p:nvSpPr>
        <p:spPr>
          <a:xfrm>
            <a:off x="1005840"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Motif, GMIS, RAM, SAP, Axiom</a:t>
            </a:r>
            <a:endParaRPr lang="en-US" sz="900" dirty="0"/>
          </a:p>
        </p:txBody>
      </p:sp>
      <p:sp>
        <p:nvSpPr>
          <p:cNvPr id="41" name="Shape 34"/>
          <p:cNvSpPr/>
          <p:nvPr/>
        </p:nvSpPr>
        <p:spPr>
          <a:xfrm>
            <a:off x="3739896" y="2212848"/>
            <a:ext cx="1527048" cy="1426464"/>
          </a:xfrm>
          <a:prstGeom prst="roundRect">
            <a:avLst>
              <a:gd name="adj" fmla="val 5128"/>
            </a:avLst>
          </a:prstGeom>
          <a:solidFill>
            <a:srgbClr val="FFFFFF"/>
          </a:solidFill>
          <a:ln w="9525">
            <a:solidFill>
              <a:srgbClr val="C8D8EC"/>
            </a:solidFill>
            <a:prstDash val="solid"/>
          </a:ln>
        </p:spPr>
      </p:sp>
      <p:sp>
        <p:nvSpPr>
          <p:cNvPr id="42" name="Shape 35"/>
          <p:cNvSpPr/>
          <p:nvPr/>
        </p:nvSpPr>
        <p:spPr>
          <a:xfrm>
            <a:off x="4238244" y="2322576"/>
            <a:ext cx="530352" cy="530352"/>
          </a:xfrm>
          <a:prstGeom prst="roundRect">
            <a:avLst>
              <a:gd name="adj" fmla="val 17241"/>
            </a:avLst>
          </a:prstGeom>
          <a:solidFill>
            <a:srgbClr val="2A6EBB"/>
          </a:solidFill>
          <a:ln w="12700">
            <a:solidFill>
              <a:srgbClr val="2A6EBB"/>
            </a:solidFill>
            <a:prstDash val="solid"/>
          </a:ln>
        </p:spPr>
      </p:sp>
      <p:pic>
        <p:nvPicPr>
          <p:cNvPr id="43" name="Image 5" descr="preencoded.png">    </p:cNvPr>
          <p:cNvPicPr>
            <a:picLocks noChangeAspect="1"/>
          </p:cNvPicPr>
          <p:nvPr/>
        </p:nvPicPr>
        <p:blipFill>
          <a:blip r:embed="rId6"/>
          <a:stretch>
            <a:fillRect/>
          </a:stretch>
        </p:blipFill>
        <p:spPr>
          <a:xfrm>
            <a:off x="4354921" y="2439253"/>
            <a:ext cx="296997" cy="296997"/>
          </a:xfrm>
          <a:prstGeom prst="rect">
            <a:avLst/>
          </a:prstGeom>
        </p:spPr>
      </p:pic>
      <p:sp>
        <p:nvSpPr>
          <p:cNvPr id="44" name="Text 36"/>
          <p:cNvSpPr txBox="1"/>
          <p:nvPr/>
        </p:nvSpPr>
        <p:spPr>
          <a:xfrm>
            <a:off x="3785616"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One Fin UX</a:t>
            </a:r>
            <a:endParaRPr lang="en-US" sz="1200" dirty="0"/>
          </a:p>
        </p:txBody>
      </p:sp>
      <p:sp>
        <p:nvSpPr>
          <p:cNvPr id="45" name="Text 37"/>
          <p:cNvSpPr txBox="1"/>
          <p:nvPr/>
        </p:nvSpPr>
        <p:spPr>
          <a:xfrm>
            <a:off x="3813048"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Readiness per sign-off milestone</a:t>
            </a:r>
            <a:endParaRPr lang="en-US" sz="900" dirty="0"/>
          </a:p>
        </p:txBody>
      </p:sp>
      <p:sp>
        <p:nvSpPr>
          <p:cNvPr id="46" name="Shape 38"/>
          <p:cNvSpPr/>
          <p:nvPr/>
        </p:nvSpPr>
        <p:spPr>
          <a:xfrm>
            <a:off x="6556248" y="2212848"/>
            <a:ext cx="1527048" cy="1426464"/>
          </a:xfrm>
          <a:prstGeom prst="roundRect">
            <a:avLst>
              <a:gd name="adj" fmla="val 5128"/>
            </a:avLst>
          </a:prstGeom>
          <a:solidFill>
            <a:srgbClr val="FFFFFF"/>
          </a:solidFill>
          <a:ln w="9525">
            <a:solidFill>
              <a:srgbClr val="C8D8EC"/>
            </a:solidFill>
            <a:prstDash val="solid"/>
          </a:ln>
        </p:spPr>
      </p:sp>
      <p:sp>
        <p:nvSpPr>
          <p:cNvPr id="47" name="Shape 39"/>
          <p:cNvSpPr/>
          <p:nvPr/>
        </p:nvSpPr>
        <p:spPr>
          <a:xfrm>
            <a:off x="7054596" y="2322576"/>
            <a:ext cx="530352" cy="530352"/>
          </a:xfrm>
          <a:prstGeom prst="roundRect">
            <a:avLst>
              <a:gd name="adj" fmla="val 17241"/>
            </a:avLst>
          </a:prstGeom>
          <a:solidFill>
            <a:srgbClr val="1E8A5A"/>
          </a:solidFill>
          <a:ln w="12700">
            <a:solidFill>
              <a:srgbClr val="1E8A5A"/>
            </a:solidFill>
            <a:prstDash val="solid"/>
          </a:ln>
        </p:spPr>
      </p:sp>
      <p:pic>
        <p:nvPicPr>
          <p:cNvPr id="48" name="Image 6" descr="preencoded.png">    </p:cNvPr>
          <p:cNvPicPr>
            <a:picLocks noChangeAspect="1"/>
          </p:cNvPicPr>
          <p:nvPr/>
        </p:nvPicPr>
        <p:blipFill>
          <a:blip r:embed="rId7"/>
          <a:stretch>
            <a:fillRect/>
          </a:stretch>
        </p:blipFill>
        <p:spPr>
          <a:xfrm>
            <a:off x="7171273" y="2439253"/>
            <a:ext cx="296997" cy="296997"/>
          </a:xfrm>
          <a:prstGeom prst="rect">
            <a:avLst/>
          </a:prstGeom>
        </p:spPr>
      </p:pic>
      <p:sp>
        <p:nvSpPr>
          <p:cNvPr id="49" name="Text 40"/>
          <p:cNvSpPr txBox="1"/>
          <p:nvPr/>
        </p:nvSpPr>
        <p:spPr>
          <a:xfrm>
            <a:off x="6601968"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Close Agent</a:t>
            </a:r>
            <a:endParaRPr lang="en-US" sz="1200" dirty="0"/>
          </a:p>
        </p:txBody>
      </p:sp>
      <p:sp>
        <p:nvSpPr>
          <p:cNvPr id="50" name="Text 41"/>
          <p:cNvSpPr txBox="1"/>
          <p:nvPr/>
        </p:nvSpPr>
        <p:spPr>
          <a:xfrm>
            <a:off x="6629400"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Builds sign-off pack per milestone</a:t>
            </a:r>
            <a:endParaRPr lang="en-US" sz="900" dirty="0"/>
          </a:p>
        </p:txBody>
      </p:sp>
      <p:sp>
        <p:nvSpPr>
          <p:cNvPr id="51" name="Shape 42"/>
          <p:cNvSpPr/>
          <p:nvPr/>
        </p:nvSpPr>
        <p:spPr>
          <a:xfrm>
            <a:off x="9363456" y="2212848"/>
            <a:ext cx="1527048" cy="1426464"/>
          </a:xfrm>
          <a:prstGeom prst="roundRect">
            <a:avLst>
              <a:gd name="adj" fmla="val 5128"/>
            </a:avLst>
          </a:prstGeom>
          <a:solidFill>
            <a:srgbClr val="FFFFFF"/>
          </a:solidFill>
          <a:ln w="9525">
            <a:solidFill>
              <a:srgbClr val="C8D8EC"/>
            </a:solidFill>
            <a:prstDash val="solid"/>
          </a:ln>
        </p:spPr>
      </p:sp>
      <p:sp>
        <p:nvSpPr>
          <p:cNvPr id="52" name="Shape 43"/>
          <p:cNvSpPr/>
          <p:nvPr/>
        </p:nvSpPr>
        <p:spPr>
          <a:xfrm>
            <a:off x="9861804" y="2322576"/>
            <a:ext cx="530352" cy="530352"/>
          </a:xfrm>
          <a:prstGeom prst="roundRect">
            <a:avLst>
              <a:gd name="adj" fmla="val 17241"/>
            </a:avLst>
          </a:prstGeom>
          <a:solidFill>
            <a:srgbClr val="5B4FA8"/>
          </a:solidFill>
          <a:ln w="12700">
            <a:solidFill>
              <a:srgbClr val="5B4FA8"/>
            </a:solidFill>
            <a:prstDash val="solid"/>
          </a:ln>
        </p:spPr>
      </p:sp>
      <p:pic>
        <p:nvPicPr>
          <p:cNvPr id="53" name="Image 7" descr="preencoded.png">    </p:cNvPr>
          <p:cNvPicPr>
            <a:picLocks noChangeAspect="1"/>
          </p:cNvPicPr>
          <p:nvPr/>
        </p:nvPicPr>
        <p:blipFill>
          <a:blip r:embed="rId8"/>
          <a:stretch>
            <a:fillRect/>
          </a:stretch>
        </p:blipFill>
        <p:spPr>
          <a:xfrm>
            <a:off x="9978481" y="2439253"/>
            <a:ext cx="296997" cy="296997"/>
          </a:xfrm>
          <a:prstGeom prst="rect">
            <a:avLst/>
          </a:prstGeom>
        </p:spPr>
      </p:pic>
      <p:sp>
        <p:nvSpPr>
          <p:cNvPr id="54" name="Text 44"/>
          <p:cNvSpPr txBox="1"/>
          <p:nvPr/>
        </p:nvSpPr>
        <p:spPr>
          <a:xfrm>
            <a:off x="9409176"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Agent One</a:t>
            </a:r>
            <a:endParaRPr lang="en-US" sz="1200" dirty="0"/>
          </a:p>
        </p:txBody>
      </p:sp>
      <p:sp>
        <p:nvSpPr>
          <p:cNvPr id="55" name="Text 45"/>
          <p:cNvSpPr txBox="1"/>
          <p:nvPr/>
        </p:nvSpPr>
        <p:spPr>
          <a:xfrm>
            <a:off x="9436608"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Summarise open items, evidence, risks</a:t>
            </a:r>
            <a:endParaRPr lang="en-US" sz="900" dirty="0"/>
          </a:p>
        </p:txBody>
      </p:sp>
      <p:sp>
        <p:nvSpPr>
          <p:cNvPr id="56" name="Shape 46"/>
          <p:cNvSpPr/>
          <p:nvPr/>
        </p:nvSpPr>
        <p:spPr>
          <a:xfrm>
            <a:off x="12170664" y="2212848"/>
            <a:ext cx="1527048" cy="1426464"/>
          </a:xfrm>
          <a:prstGeom prst="roundRect">
            <a:avLst>
              <a:gd name="adj" fmla="val 5128"/>
            </a:avLst>
          </a:prstGeom>
          <a:solidFill>
            <a:srgbClr val="FFFFFF"/>
          </a:solidFill>
          <a:ln w="9525">
            <a:solidFill>
              <a:srgbClr val="C8D8EC"/>
            </a:solidFill>
            <a:prstDash val="solid"/>
          </a:ln>
        </p:spPr>
      </p:sp>
      <p:sp>
        <p:nvSpPr>
          <p:cNvPr id="57" name="Shape 47"/>
          <p:cNvSpPr/>
          <p:nvPr/>
        </p:nvSpPr>
        <p:spPr>
          <a:xfrm>
            <a:off x="12669012" y="2322576"/>
            <a:ext cx="530352" cy="530352"/>
          </a:xfrm>
          <a:prstGeom prst="roundRect">
            <a:avLst>
              <a:gd name="adj" fmla="val 17241"/>
            </a:avLst>
          </a:prstGeom>
          <a:solidFill>
            <a:srgbClr val="1F6FB5"/>
          </a:solidFill>
          <a:ln w="12700">
            <a:solidFill>
              <a:srgbClr val="1F6FB5"/>
            </a:solidFill>
            <a:prstDash val="solid"/>
          </a:ln>
        </p:spPr>
      </p:sp>
      <p:pic>
        <p:nvPicPr>
          <p:cNvPr id="58" name="Image 8" descr="preencoded.png">    </p:cNvPr>
          <p:cNvPicPr>
            <a:picLocks noChangeAspect="1"/>
          </p:cNvPicPr>
          <p:nvPr/>
        </p:nvPicPr>
        <p:blipFill>
          <a:blip r:embed="rId9"/>
          <a:stretch>
            <a:fillRect/>
          </a:stretch>
        </p:blipFill>
        <p:spPr>
          <a:xfrm>
            <a:off x="12785689" y="2439253"/>
            <a:ext cx="296997" cy="296997"/>
          </a:xfrm>
          <a:prstGeom prst="rect">
            <a:avLst/>
          </a:prstGeom>
        </p:spPr>
      </p:pic>
      <p:sp>
        <p:nvSpPr>
          <p:cNvPr id="59" name="Text 48"/>
          <p:cNvSpPr txBox="1"/>
          <p:nvPr/>
        </p:nvSpPr>
        <p:spPr>
          <a:xfrm>
            <a:off x="12216384"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Close Cockpit</a:t>
            </a:r>
            <a:endParaRPr lang="en-US" sz="1200" dirty="0"/>
          </a:p>
        </p:txBody>
      </p:sp>
      <p:sp>
        <p:nvSpPr>
          <p:cNvPr id="60" name="Text 49"/>
          <p:cNvSpPr txBox="1"/>
          <p:nvPr/>
        </p:nvSpPr>
        <p:spPr>
          <a:xfrm>
            <a:off x="12243816"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Sign-off pack and chat per milestone</a:t>
            </a:r>
            <a:endParaRPr lang="en-US" sz="900" dirty="0"/>
          </a:p>
        </p:txBody>
      </p:sp>
      <p:sp>
        <p:nvSpPr>
          <p:cNvPr id="61" name="Shape 50"/>
          <p:cNvSpPr/>
          <p:nvPr/>
        </p:nvSpPr>
        <p:spPr>
          <a:xfrm>
            <a:off x="932688" y="4645152"/>
            <a:ext cx="1527048" cy="1261872"/>
          </a:xfrm>
          <a:prstGeom prst="roundRect">
            <a:avLst>
              <a:gd name="adj" fmla="val 5797"/>
            </a:avLst>
          </a:prstGeom>
          <a:solidFill>
            <a:srgbClr val="FFFFFF"/>
          </a:solidFill>
          <a:ln w="9525">
            <a:solidFill>
              <a:srgbClr val="C8D8EC"/>
            </a:solidFill>
            <a:prstDash val="solid"/>
          </a:ln>
        </p:spPr>
      </p:sp>
      <p:sp>
        <p:nvSpPr>
          <p:cNvPr id="62" name="Shape 51"/>
          <p:cNvSpPr/>
          <p:nvPr/>
        </p:nvSpPr>
        <p:spPr>
          <a:xfrm>
            <a:off x="1431036" y="4754880"/>
            <a:ext cx="530352" cy="530352"/>
          </a:xfrm>
          <a:prstGeom prst="roundRect">
            <a:avLst>
              <a:gd name="adj" fmla="val 17241"/>
            </a:avLst>
          </a:prstGeom>
          <a:solidFill>
            <a:srgbClr val="4F7BB5"/>
          </a:solidFill>
          <a:ln w="12700">
            <a:solidFill>
              <a:srgbClr val="4F7BB5"/>
            </a:solidFill>
            <a:prstDash val="solid"/>
          </a:ln>
        </p:spPr>
      </p:sp>
      <p:pic>
        <p:nvPicPr>
          <p:cNvPr id="63" name="Image 9" descr="preencoded.png">    </p:cNvPr>
          <p:cNvPicPr>
            <a:picLocks noChangeAspect="1"/>
          </p:cNvPicPr>
          <p:nvPr/>
        </p:nvPicPr>
        <p:blipFill>
          <a:blip r:embed="rId10"/>
          <a:stretch>
            <a:fillRect/>
          </a:stretch>
        </p:blipFill>
        <p:spPr>
          <a:xfrm>
            <a:off x="1547713" y="4871557"/>
            <a:ext cx="296997" cy="296997"/>
          </a:xfrm>
          <a:prstGeom prst="rect">
            <a:avLst/>
          </a:prstGeom>
        </p:spPr>
      </p:pic>
      <p:sp>
        <p:nvSpPr>
          <p:cNvPr id="64" name="Text 52"/>
          <p:cNvSpPr txBox="1"/>
          <p:nvPr/>
        </p:nvSpPr>
        <p:spPr>
          <a:xfrm>
            <a:off x="978408" y="5349240"/>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Rec &amp; Control Results</a:t>
            </a:r>
            <a:endParaRPr lang="en-US" sz="1200" dirty="0"/>
          </a:p>
        </p:txBody>
      </p:sp>
      <p:sp>
        <p:nvSpPr>
          <p:cNvPr id="65" name="Text 53"/>
          <p:cNvSpPr txBox="1"/>
          <p:nvPr/>
        </p:nvSpPr>
        <p:spPr>
          <a:xfrm>
            <a:off x="1005840" y="5559552"/>
            <a:ext cx="1380744"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Breaks, exceptions, adjustments</a:t>
            </a:r>
            <a:endParaRPr lang="en-US" sz="900" dirty="0"/>
          </a:p>
        </p:txBody>
      </p:sp>
      <p:sp>
        <p:nvSpPr>
          <p:cNvPr id="66" name="Shape 54"/>
          <p:cNvSpPr/>
          <p:nvPr/>
        </p:nvSpPr>
        <p:spPr>
          <a:xfrm>
            <a:off x="3739896" y="4645152"/>
            <a:ext cx="1527048" cy="1261872"/>
          </a:xfrm>
          <a:prstGeom prst="roundRect">
            <a:avLst>
              <a:gd name="adj" fmla="val 5797"/>
            </a:avLst>
          </a:prstGeom>
          <a:solidFill>
            <a:srgbClr val="FFFFFF"/>
          </a:solidFill>
          <a:ln w="9525">
            <a:solidFill>
              <a:srgbClr val="C8D8EC"/>
            </a:solidFill>
            <a:prstDash val="solid"/>
          </a:ln>
        </p:spPr>
      </p:sp>
      <p:sp>
        <p:nvSpPr>
          <p:cNvPr id="67" name="Shape 55"/>
          <p:cNvSpPr/>
          <p:nvPr/>
        </p:nvSpPr>
        <p:spPr>
          <a:xfrm>
            <a:off x="4238244" y="4754880"/>
            <a:ext cx="530352" cy="530352"/>
          </a:xfrm>
          <a:prstGeom prst="roundRect">
            <a:avLst>
              <a:gd name="adj" fmla="val 17241"/>
            </a:avLst>
          </a:prstGeom>
          <a:solidFill>
            <a:srgbClr val="3F86C8"/>
          </a:solidFill>
          <a:ln w="12700">
            <a:solidFill>
              <a:srgbClr val="3F86C8"/>
            </a:solidFill>
            <a:prstDash val="solid"/>
          </a:ln>
        </p:spPr>
      </p:sp>
      <p:pic>
        <p:nvPicPr>
          <p:cNvPr id="68" name="Image 10" descr="preencoded.png">    </p:cNvPr>
          <p:cNvPicPr>
            <a:picLocks noChangeAspect="1"/>
          </p:cNvPicPr>
          <p:nvPr/>
        </p:nvPicPr>
        <p:blipFill>
          <a:blip r:embed="rId11"/>
          <a:stretch>
            <a:fillRect/>
          </a:stretch>
        </p:blipFill>
        <p:spPr>
          <a:xfrm>
            <a:off x="4354921" y="4871557"/>
            <a:ext cx="296997" cy="296997"/>
          </a:xfrm>
          <a:prstGeom prst="rect">
            <a:avLst/>
          </a:prstGeom>
        </p:spPr>
      </p:pic>
      <p:sp>
        <p:nvSpPr>
          <p:cNvPr id="69" name="Text 56"/>
          <p:cNvSpPr txBox="1"/>
          <p:nvPr/>
        </p:nvSpPr>
        <p:spPr>
          <a:xfrm>
            <a:off x="3785616" y="5349240"/>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Business Outcome</a:t>
            </a:r>
            <a:endParaRPr lang="en-US" sz="1200" dirty="0"/>
          </a:p>
        </p:txBody>
      </p:sp>
      <p:sp>
        <p:nvSpPr>
          <p:cNvPr id="70" name="Text 57"/>
          <p:cNvSpPr txBox="1"/>
          <p:nvPr/>
        </p:nvSpPr>
        <p:spPr>
          <a:xfrm>
            <a:off x="3813048" y="5559552"/>
            <a:ext cx="1380744"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Ready when all inputs complete</a:t>
            </a:r>
            <a:endParaRPr lang="en-US" sz="900" dirty="0"/>
          </a:p>
        </p:txBody>
      </p:sp>
      <p:sp>
        <p:nvSpPr>
          <p:cNvPr id="71" name="Shape 58"/>
          <p:cNvSpPr/>
          <p:nvPr/>
        </p:nvSpPr>
        <p:spPr>
          <a:xfrm>
            <a:off x="6556248" y="4645152"/>
            <a:ext cx="1527048" cy="1261872"/>
          </a:xfrm>
          <a:prstGeom prst="roundRect">
            <a:avLst>
              <a:gd name="adj" fmla="val 5797"/>
            </a:avLst>
          </a:prstGeom>
          <a:solidFill>
            <a:srgbClr val="FFFFFF"/>
          </a:solidFill>
          <a:ln w="9525">
            <a:solidFill>
              <a:srgbClr val="C8D8EC"/>
            </a:solidFill>
            <a:prstDash val="solid"/>
          </a:ln>
        </p:spPr>
      </p:sp>
      <p:sp>
        <p:nvSpPr>
          <p:cNvPr id="72" name="Shape 59"/>
          <p:cNvSpPr/>
          <p:nvPr/>
        </p:nvSpPr>
        <p:spPr>
          <a:xfrm>
            <a:off x="7054596" y="4754880"/>
            <a:ext cx="530352" cy="530352"/>
          </a:xfrm>
          <a:prstGeom prst="roundRect">
            <a:avLst>
              <a:gd name="adj" fmla="val 17241"/>
            </a:avLst>
          </a:prstGeom>
          <a:solidFill>
            <a:srgbClr val="1E8A5A"/>
          </a:solidFill>
          <a:ln w="12700">
            <a:solidFill>
              <a:srgbClr val="1E8A5A"/>
            </a:solidFill>
            <a:prstDash val="solid"/>
          </a:ln>
        </p:spPr>
      </p:sp>
      <p:pic>
        <p:nvPicPr>
          <p:cNvPr id="73" name="Image 11" descr="preencoded.png">    </p:cNvPr>
          <p:cNvPicPr>
            <a:picLocks noChangeAspect="1"/>
          </p:cNvPicPr>
          <p:nvPr/>
        </p:nvPicPr>
        <p:blipFill>
          <a:blip r:embed="rId12"/>
          <a:stretch>
            <a:fillRect/>
          </a:stretch>
        </p:blipFill>
        <p:spPr>
          <a:xfrm>
            <a:off x="7171273" y="4871557"/>
            <a:ext cx="296997" cy="296997"/>
          </a:xfrm>
          <a:prstGeom prst="rect">
            <a:avLst/>
          </a:prstGeom>
        </p:spPr>
      </p:pic>
      <p:sp>
        <p:nvSpPr>
          <p:cNvPr id="74" name="Text 60"/>
          <p:cNvSpPr txBox="1"/>
          <p:nvPr/>
        </p:nvSpPr>
        <p:spPr>
          <a:xfrm>
            <a:off x="6601968" y="5349240"/>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Readiness Check</a:t>
            </a:r>
            <a:endParaRPr lang="en-US" sz="1200" dirty="0"/>
          </a:p>
        </p:txBody>
      </p:sp>
      <p:sp>
        <p:nvSpPr>
          <p:cNvPr id="75" name="Text 61"/>
          <p:cNvSpPr txBox="1"/>
          <p:nvPr/>
        </p:nvSpPr>
        <p:spPr>
          <a:xfrm>
            <a:off x="6629400" y="5559552"/>
            <a:ext cx="1380744"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Validates milestone before pack build</a:t>
            </a:r>
            <a:endParaRPr lang="en-US" sz="900" dirty="0"/>
          </a:p>
        </p:txBody>
      </p:sp>
      <p:sp>
        <p:nvSpPr>
          <p:cNvPr id="76" name="Shape 62"/>
          <p:cNvSpPr/>
          <p:nvPr/>
        </p:nvSpPr>
        <p:spPr>
          <a:xfrm>
            <a:off x="9015984" y="4645152"/>
            <a:ext cx="1051560" cy="1261872"/>
          </a:xfrm>
          <a:prstGeom prst="roundRect">
            <a:avLst>
              <a:gd name="adj" fmla="val 6957"/>
            </a:avLst>
          </a:prstGeom>
          <a:solidFill>
            <a:srgbClr val="FFFFFF"/>
          </a:solidFill>
          <a:ln w="9525">
            <a:solidFill>
              <a:srgbClr val="C8D8EC"/>
            </a:solidFill>
            <a:prstDash val="solid"/>
          </a:ln>
        </p:spPr>
      </p:sp>
      <p:sp>
        <p:nvSpPr>
          <p:cNvPr id="77" name="Shape 63"/>
          <p:cNvSpPr/>
          <p:nvPr/>
        </p:nvSpPr>
        <p:spPr>
          <a:xfrm>
            <a:off x="9276588" y="4754880"/>
            <a:ext cx="530352" cy="530352"/>
          </a:xfrm>
          <a:prstGeom prst="roundRect">
            <a:avLst>
              <a:gd name="adj" fmla="val 17241"/>
            </a:avLst>
          </a:prstGeom>
          <a:solidFill>
            <a:srgbClr val="5B4FA8"/>
          </a:solidFill>
          <a:ln w="12700">
            <a:solidFill>
              <a:srgbClr val="5B4FA8"/>
            </a:solidFill>
            <a:prstDash val="solid"/>
          </a:ln>
        </p:spPr>
      </p:sp>
      <p:pic>
        <p:nvPicPr>
          <p:cNvPr id="78" name="Image 12" descr="preencoded.png">    </p:cNvPr>
          <p:cNvPicPr>
            <a:picLocks noChangeAspect="1"/>
          </p:cNvPicPr>
          <p:nvPr/>
        </p:nvPicPr>
        <p:blipFill>
          <a:blip r:embed="rId13"/>
          <a:stretch>
            <a:fillRect/>
          </a:stretch>
        </p:blipFill>
        <p:spPr>
          <a:xfrm>
            <a:off x="9393265" y="4871557"/>
            <a:ext cx="296997" cy="296997"/>
          </a:xfrm>
          <a:prstGeom prst="rect">
            <a:avLst/>
          </a:prstGeom>
        </p:spPr>
      </p:pic>
      <p:sp>
        <p:nvSpPr>
          <p:cNvPr id="79" name="Text 64"/>
          <p:cNvSpPr txBox="1"/>
          <p:nvPr/>
        </p:nvSpPr>
        <p:spPr>
          <a:xfrm>
            <a:off x="9061704" y="5349240"/>
            <a:ext cx="960120" cy="210312"/>
          </a:xfrm>
          <a:prstGeom prst="rect">
            <a:avLst/>
          </a:prstGeom>
          <a:noFill/>
          <a:ln/>
        </p:spPr>
        <p:txBody>
          <a:bodyPr wrap="square" lIns="0" tIns="0" rIns="0" bIns="0" rtlCol="0" anchor="ctr"/>
          <a:lstStyle/>
          <a:p>
            <a:pPr algn="ctr" indent="0" marL="0">
              <a:buNone/>
            </a:pPr>
            <a:r>
              <a:rPr lang="en-US" sz="1050" b="1" dirty="0">
                <a:solidFill>
                  <a:srgbClr val="1F2D3D"/>
                </a:solidFill>
                <a:latin typeface="Calibri" pitchFamily="34" charset="0"/>
                <a:ea typeface="Calibri" pitchFamily="34" charset="-122"/>
                <a:cs typeface="Calibri" pitchFamily="34" charset="-120"/>
              </a:rPr>
              <a:t>Data (MCP)</a:t>
            </a:r>
            <a:endParaRPr lang="en-US" sz="1050" dirty="0"/>
          </a:p>
        </p:txBody>
      </p:sp>
      <p:sp>
        <p:nvSpPr>
          <p:cNvPr id="80" name="Text 65"/>
          <p:cNvSpPr txBox="1"/>
          <p:nvPr/>
        </p:nvSpPr>
        <p:spPr>
          <a:xfrm>
            <a:off x="9089136" y="5559552"/>
            <a:ext cx="905256"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Results, balances, evidence</a:t>
            </a:r>
            <a:endParaRPr lang="en-US" sz="900" dirty="0"/>
          </a:p>
        </p:txBody>
      </p:sp>
      <p:sp>
        <p:nvSpPr>
          <p:cNvPr id="81" name="Shape 66"/>
          <p:cNvSpPr/>
          <p:nvPr/>
        </p:nvSpPr>
        <p:spPr>
          <a:xfrm>
            <a:off x="10149840" y="4645152"/>
            <a:ext cx="1051560" cy="1261872"/>
          </a:xfrm>
          <a:prstGeom prst="roundRect">
            <a:avLst>
              <a:gd name="adj" fmla="val 6957"/>
            </a:avLst>
          </a:prstGeom>
          <a:solidFill>
            <a:srgbClr val="FFFFFF"/>
          </a:solidFill>
          <a:ln w="9525">
            <a:solidFill>
              <a:srgbClr val="C8D8EC"/>
            </a:solidFill>
            <a:prstDash val="solid"/>
          </a:ln>
        </p:spPr>
      </p:sp>
      <p:sp>
        <p:nvSpPr>
          <p:cNvPr id="82" name="Shape 67"/>
          <p:cNvSpPr/>
          <p:nvPr/>
        </p:nvSpPr>
        <p:spPr>
          <a:xfrm>
            <a:off x="10410444" y="4754880"/>
            <a:ext cx="530352" cy="530352"/>
          </a:xfrm>
          <a:prstGeom prst="roundRect">
            <a:avLst>
              <a:gd name="adj" fmla="val 17241"/>
            </a:avLst>
          </a:prstGeom>
          <a:solidFill>
            <a:srgbClr val="C0392B"/>
          </a:solidFill>
          <a:ln w="12700">
            <a:solidFill>
              <a:srgbClr val="C0392B"/>
            </a:solidFill>
            <a:prstDash val="solid"/>
          </a:ln>
        </p:spPr>
      </p:sp>
      <p:pic>
        <p:nvPicPr>
          <p:cNvPr id="83" name="Image 13" descr="preencoded.png">    </p:cNvPr>
          <p:cNvPicPr>
            <a:picLocks noChangeAspect="1"/>
          </p:cNvPicPr>
          <p:nvPr/>
        </p:nvPicPr>
        <p:blipFill>
          <a:blip r:embed="rId14"/>
          <a:stretch>
            <a:fillRect/>
          </a:stretch>
        </p:blipFill>
        <p:spPr>
          <a:xfrm>
            <a:off x="10527121" y="4871557"/>
            <a:ext cx="296997" cy="296997"/>
          </a:xfrm>
          <a:prstGeom prst="rect">
            <a:avLst/>
          </a:prstGeom>
        </p:spPr>
      </p:pic>
      <p:sp>
        <p:nvSpPr>
          <p:cNvPr id="84" name="Text 68"/>
          <p:cNvSpPr txBox="1"/>
          <p:nvPr/>
        </p:nvSpPr>
        <p:spPr>
          <a:xfrm>
            <a:off x="10195560" y="5349240"/>
            <a:ext cx="960120" cy="210312"/>
          </a:xfrm>
          <a:prstGeom prst="rect">
            <a:avLst/>
          </a:prstGeom>
          <a:noFill/>
          <a:ln/>
        </p:spPr>
        <p:txBody>
          <a:bodyPr wrap="square" lIns="0" tIns="0" rIns="0" bIns="0" rtlCol="0" anchor="ctr"/>
          <a:lstStyle/>
          <a:p>
            <a:pPr algn="ctr" indent="0" marL="0">
              <a:buNone/>
            </a:pPr>
            <a:r>
              <a:rPr lang="en-US" sz="1050" b="1" dirty="0">
                <a:solidFill>
                  <a:srgbClr val="1F2D3D"/>
                </a:solidFill>
                <a:latin typeface="Calibri" pitchFamily="34" charset="0"/>
                <a:ea typeface="Calibri" pitchFamily="34" charset="-122"/>
                <a:cs typeface="Calibri" pitchFamily="34" charset="-120"/>
              </a:rPr>
              <a:t>Sign-off Record</a:t>
            </a:r>
            <a:endParaRPr lang="en-US" sz="1050" dirty="0"/>
          </a:p>
        </p:txBody>
      </p:sp>
      <p:sp>
        <p:nvSpPr>
          <p:cNvPr id="85" name="Text 69"/>
          <p:cNvSpPr txBox="1"/>
          <p:nvPr/>
        </p:nvSpPr>
        <p:spPr>
          <a:xfrm>
            <a:off x="10222992" y="5559552"/>
            <a:ext cx="905256"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Records approved sign-off</a:t>
            </a:r>
            <a:endParaRPr lang="en-US" sz="900" dirty="0"/>
          </a:p>
        </p:txBody>
      </p:sp>
      <p:sp>
        <p:nvSpPr>
          <p:cNvPr id="86" name="Shape 70"/>
          <p:cNvSpPr/>
          <p:nvPr/>
        </p:nvSpPr>
        <p:spPr>
          <a:xfrm>
            <a:off x="12170664" y="4645152"/>
            <a:ext cx="1527048" cy="1261872"/>
          </a:xfrm>
          <a:prstGeom prst="roundRect">
            <a:avLst>
              <a:gd name="adj" fmla="val 5797"/>
            </a:avLst>
          </a:prstGeom>
          <a:solidFill>
            <a:srgbClr val="FFFFFF"/>
          </a:solidFill>
          <a:ln w="9525">
            <a:solidFill>
              <a:srgbClr val="C8D8EC"/>
            </a:solidFill>
            <a:prstDash val="solid"/>
          </a:ln>
        </p:spPr>
      </p:sp>
      <p:sp>
        <p:nvSpPr>
          <p:cNvPr id="87" name="Shape 71"/>
          <p:cNvSpPr/>
          <p:nvPr/>
        </p:nvSpPr>
        <p:spPr>
          <a:xfrm>
            <a:off x="12669012" y="4754880"/>
            <a:ext cx="530352" cy="530352"/>
          </a:xfrm>
          <a:prstGeom prst="roundRect">
            <a:avLst>
              <a:gd name="adj" fmla="val 17241"/>
            </a:avLst>
          </a:prstGeom>
          <a:solidFill>
            <a:srgbClr val="1F6FB5"/>
          </a:solidFill>
          <a:ln w="12700">
            <a:solidFill>
              <a:srgbClr val="1F6FB5"/>
            </a:solidFill>
            <a:prstDash val="solid"/>
          </a:ln>
        </p:spPr>
      </p:sp>
      <p:pic>
        <p:nvPicPr>
          <p:cNvPr id="88" name="Image 14" descr="preencoded.png">    </p:cNvPr>
          <p:cNvPicPr>
            <a:picLocks noChangeAspect="1"/>
          </p:cNvPicPr>
          <p:nvPr/>
        </p:nvPicPr>
        <p:blipFill>
          <a:blip r:embed="rId15"/>
          <a:stretch>
            <a:fillRect/>
          </a:stretch>
        </p:blipFill>
        <p:spPr>
          <a:xfrm>
            <a:off x="12785689" y="4871557"/>
            <a:ext cx="296997" cy="296997"/>
          </a:xfrm>
          <a:prstGeom prst="rect">
            <a:avLst/>
          </a:prstGeom>
        </p:spPr>
      </p:pic>
      <p:sp>
        <p:nvSpPr>
          <p:cNvPr id="89" name="Text 72"/>
          <p:cNvSpPr txBox="1"/>
          <p:nvPr/>
        </p:nvSpPr>
        <p:spPr>
          <a:xfrm>
            <a:off x="12216384" y="5349240"/>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Signatory</a:t>
            </a:r>
            <a:endParaRPr lang="en-US" sz="1200" dirty="0"/>
          </a:p>
        </p:txBody>
      </p:sp>
      <p:sp>
        <p:nvSpPr>
          <p:cNvPr id="90" name="Text 73"/>
          <p:cNvSpPr txBox="1"/>
          <p:nvPr/>
        </p:nvSpPr>
        <p:spPr>
          <a:xfrm>
            <a:off x="12243816" y="5559552"/>
            <a:ext cx="1380744"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Reviews pack, signs off or attests</a:t>
            </a:r>
            <a:endParaRPr lang="en-US" sz="900" dirty="0"/>
          </a:p>
        </p:txBody>
      </p:sp>
      <p:sp>
        <p:nvSpPr>
          <p:cNvPr id="91" name="Shape 74"/>
          <p:cNvSpPr/>
          <p:nvPr/>
        </p:nvSpPr>
        <p:spPr>
          <a:xfrm>
            <a:off x="2459736" y="2615184"/>
            <a:ext cx="1280160" cy="0"/>
          </a:xfrm>
          <a:prstGeom prst="line">
            <a:avLst/>
          </a:prstGeom>
          <a:noFill/>
          <a:ln w="19050">
            <a:solidFill>
              <a:srgbClr val="1F4E8C"/>
            </a:solidFill>
            <a:prstDash val="solid"/>
            <a:tailEnd type="triangle"/>
          </a:ln>
        </p:spPr>
      </p:sp>
      <p:sp>
        <p:nvSpPr>
          <p:cNvPr id="92" name="Shape 75"/>
          <p:cNvSpPr/>
          <p:nvPr/>
        </p:nvSpPr>
        <p:spPr>
          <a:xfrm>
            <a:off x="2532888" y="2286000"/>
            <a:ext cx="219456" cy="219456"/>
          </a:xfrm>
          <a:prstGeom prst="ellipse">
            <a:avLst/>
          </a:prstGeom>
          <a:solidFill>
            <a:srgbClr val="1F4E8C"/>
          </a:solidFill>
          <a:ln w="12700">
            <a:solidFill>
              <a:srgbClr val="1F4E8C"/>
            </a:solidFill>
            <a:prstDash val="solid"/>
          </a:ln>
        </p:spPr>
      </p:sp>
      <p:sp>
        <p:nvSpPr>
          <p:cNvPr id="93" name="Text 76"/>
          <p:cNvSpPr txBox="1"/>
          <p:nvPr/>
        </p:nvSpPr>
        <p:spPr>
          <a:xfrm>
            <a:off x="2532888" y="228600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94" name="Text 77"/>
          <p:cNvSpPr txBox="1"/>
          <p:nvPr/>
        </p:nvSpPr>
        <p:spPr>
          <a:xfrm>
            <a:off x="2788920" y="2029968"/>
            <a:ext cx="914400" cy="365760"/>
          </a:xfrm>
          <a:prstGeom prst="rect">
            <a:avLst/>
          </a:prstGeom>
          <a:solidFill>
            <a:srgbClr val="FFFFFF">
              <a:alpha val="0"/>
            </a:srgbClr>
          </a:solidFill>
          <a:ln/>
        </p:spPr>
        <p:txBody>
          <a:bodyPr wrap="square" lIns="0" tIns="0" rIns="0" bIns="0" rtlCol="0" anchor="b"/>
          <a:lstStyle/>
          <a:p>
            <a:pPr indent="0" marL="0">
              <a:buNone/>
            </a:pPr>
            <a:r>
              <a:rPr lang="en-US" sz="900" dirty="0">
                <a:solidFill>
                  <a:srgbClr val="1F2D3D"/>
                </a:solidFill>
                <a:latin typeface="Calibri" pitchFamily="34" charset="0"/>
                <a:ea typeface="Calibri" pitchFamily="34" charset="-122"/>
                <a:cs typeface="Calibri" pitchFamily="34" charset="-120"/>
              </a:rPr>
              <a:t>Input availability events</a:t>
            </a:r>
            <a:endParaRPr lang="en-US" sz="900" dirty="0"/>
          </a:p>
        </p:txBody>
      </p:sp>
      <p:sp>
        <p:nvSpPr>
          <p:cNvPr id="95" name="Shape 78"/>
          <p:cNvSpPr/>
          <p:nvPr/>
        </p:nvSpPr>
        <p:spPr>
          <a:xfrm>
            <a:off x="5266944" y="2615184"/>
            <a:ext cx="1289304" cy="0"/>
          </a:xfrm>
          <a:prstGeom prst="line">
            <a:avLst/>
          </a:prstGeom>
          <a:noFill/>
          <a:ln w="19050">
            <a:solidFill>
              <a:srgbClr val="2A6EBB"/>
            </a:solidFill>
            <a:prstDash val="solid"/>
            <a:tailEnd type="triangle"/>
          </a:ln>
        </p:spPr>
      </p:sp>
      <p:sp>
        <p:nvSpPr>
          <p:cNvPr id="96" name="Shape 79"/>
          <p:cNvSpPr/>
          <p:nvPr/>
        </p:nvSpPr>
        <p:spPr>
          <a:xfrm>
            <a:off x="5340096" y="2286000"/>
            <a:ext cx="219456" cy="219456"/>
          </a:xfrm>
          <a:prstGeom prst="ellipse">
            <a:avLst/>
          </a:prstGeom>
          <a:solidFill>
            <a:srgbClr val="2A6EBB"/>
          </a:solidFill>
          <a:ln w="12700">
            <a:solidFill>
              <a:srgbClr val="2A6EBB"/>
            </a:solidFill>
            <a:prstDash val="solid"/>
          </a:ln>
        </p:spPr>
      </p:sp>
      <p:sp>
        <p:nvSpPr>
          <p:cNvPr id="97" name="Text 80"/>
          <p:cNvSpPr txBox="1"/>
          <p:nvPr/>
        </p:nvSpPr>
        <p:spPr>
          <a:xfrm>
            <a:off x="5340096" y="228600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98" name="Text 81"/>
          <p:cNvSpPr txBox="1"/>
          <p:nvPr/>
        </p:nvSpPr>
        <p:spPr>
          <a:xfrm>
            <a:off x="5596128" y="2029968"/>
            <a:ext cx="923544" cy="365760"/>
          </a:xfrm>
          <a:prstGeom prst="rect">
            <a:avLst/>
          </a:prstGeom>
          <a:solidFill>
            <a:srgbClr val="FFFFFF">
              <a:alpha val="0"/>
            </a:srgbClr>
          </a:solidFill>
          <a:ln/>
        </p:spPr>
        <p:txBody>
          <a:bodyPr wrap="square" lIns="0" tIns="0" rIns="0" bIns="0" rtlCol="0" anchor="b"/>
          <a:lstStyle/>
          <a:p>
            <a:pPr indent="0" marL="0">
              <a:buNone/>
            </a:pPr>
            <a:r>
              <a:rPr lang="en-US" sz="900" dirty="0">
                <a:solidFill>
                  <a:srgbClr val="1F2D3D"/>
                </a:solidFill>
                <a:latin typeface="Calibri" pitchFamily="34" charset="0"/>
                <a:ea typeface="Calibri" pitchFamily="34" charset="-122"/>
                <a:cs typeface="Calibri" pitchFamily="34" charset="-120"/>
              </a:rPr>
              <a:t>Milestone Ready event</a:t>
            </a:r>
            <a:endParaRPr lang="en-US" sz="900" dirty="0"/>
          </a:p>
        </p:txBody>
      </p:sp>
      <p:sp>
        <p:nvSpPr>
          <p:cNvPr id="99" name="Shape 82"/>
          <p:cNvSpPr/>
          <p:nvPr/>
        </p:nvSpPr>
        <p:spPr>
          <a:xfrm>
            <a:off x="8083296" y="2615184"/>
            <a:ext cx="1280160" cy="0"/>
          </a:xfrm>
          <a:prstGeom prst="line">
            <a:avLst/>
          </a:prstGeom>
          <a:noFill/>
          <a:ln w="19050">
            <a:solidFill>
              <a:srgbClr val="1E8A5A"/>
            </a:solidFill>
            <a:prstDash val="solid"/>
            <a:tailEnd type="triangle"/>
          </a:ln>
        </p:spPr>
      </p:sp>
      <p:sp>
        <p:nvSpPr>
          <p:cNvPr id="100" name="Shape 83"/>
          <p:cNvSpPr/>
          <p:nvPr/>
        </p:nvSpPr>
        <p:spPr>
          <a:xfrm>
            <a:off x="8156448" y="2286000"/>
            <a:ext cx="219456" cy="219456"/>
          </a:xfrm>
          <a:prstGeom prst="ellipse">
            <a:avLst/>
          </a:prstGeom>
          <a:solidFill>
            <a:srgbClr val="1E8A5A"/>
          </a:solidFill>
          <a:ln w="12700">
            <a:solidFill>
              <a:srgbClr val="1E8A5A"/>
            </a:solidFill>
            <a:prstDash val="solid"/>
          </a:ln>
        </p:spPr>
      </p:sp>
      <p:sp>
        <p:nvSpPr>
          <p:cNvPr id="101" name="Text 84"/>
          <p:cNvSpPr txBox="1"/>
          <p:nvPr/>
        </p:nvSpPr>
        <p:spPr>
          <a:xfrm>
            <a:off x="8156448" y="228600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02" name="Text 85"/>
          <p:cNvSpPr txBox="1"/>
          <p:nvPr/>
        </p:nvSpPr>
        <p:spPr>
          <a:xfrm>
            <a:off x="8412480" y="2029968"/>
            <a:ext cx="914400" cy="365760"/>
          </a:xfrm>
          <a:prstGeom prst="rect">
            <a:avLst/>
          </a:prstGeom>
          <a:solidFill>
            <a:srgbClr val="FFFFFF">
              <a:alpha val="0"/>
            </a:srgbClr>
          </a:solidFill>
          <a:ln/>
        </p:spPr>
        <p:txBody>
          <a:bodyPr wrap="square" lIns="0" tIns="0" rIns="0" bIns="0" rtlCol="0" anchor="b"/>
          <a:lstStyle/>
          <a:p>
            <a:pPr indent="0" marL="0">
              <a:buNone/>
            </a:pPr>
            <a:r>
              <a:rPr lang="en-US" sz="900" dirty="0">
                <a:solidFill>
                  <a:srgbClr val="1F2D3D"/>
                </a:solidFill>
                <a:latin typeface="Calibri" pitchFamily="34" charset="0"/>
                <a:ea typeface="Calibri" pitchFamily="34" charset="-122"/>
                <a:cs typeface="Calibri" pitchFamily="34" charset="-120"/>
              </a:rPr>
              <a:t>Start pack session</a:t>
            </a:r>
            <a:endParaRPr lang="en-US" sz="900" dirty="0"/>
          </a:p>
        </p:txBody>
      </p:sp>
      <p:sp>
        <p:nvSpPr>
          <p:cNvPr id="103" name="Shape 86"/>
          <p:cNvSpPr/>
          <p:nvPr/>
        </p:nvSpPr>
        <p:spPr>
          <a:xfrm>
            <a:off x="10890504" y="2615184"/>
            <a:ext cx="1280160" cy="0"/>
          </a:xfrm>
          <a:prstGeom prst="line">
            <a:avLst/>
          </a:prstGeom>
          <a:noFill/>
          <a:ln w="19050">
            <a:solidFill>
              <a:srgbClr val="5B4FA8"/>
            </a:solidFill>
            <a:prstDash val="solid"/>
            <a:tailEnd type="triangle"/>
          </a:ln>
        </p:spPr>
      </p:sp>
      <p:sp>
        <p:nvSpPr>
          <p:cNvPr id="104" name="Shape 87"/>
          <p:cNvSpPr/>
          <p:nvPr/>
        </p:nvSpPr>
        <p:spPr>
          <a:xfrm>
            <a:off x="10963656" y="2286000"/>
            <a:ext cx="219456" cy="219456"/>
          </a:xfrm>
          <a:prstGeom prst="ellipse">
            <a:avLst/>
          </a:prstGeom>
          <a:solidFill>
            <a:srgbClr val="5B4FA8"/>
          </a:solidFill>
          <a:ln w="12700">
            <a:solidFill>
              <a:srgbClr val="5B4FA8"/>
            </a:solidFill>
            <a:prstDash val="solid"/>
          </a:ln>
        </p:spPr>
      </p:sp>
      <p:sp>
        <p:nvSpPr>
          <p:cNvPr id="105" name="Text 88"/>
          <p:cNvSpPr txBox="1"/>
          <p:nvPr/>
        </p:nvSpPr>
        <p:spPr>
          <a:xfrm>
            <a:off x="10963656" y="228600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106" name="Text 89"/>
          <p:cNvSpPr txBox="1"/>
          <p:nvPr/>
        </p:nvSpPr>
        <p:spPr>
          <a:xfrm>
            <a:off x="11219688" y="2029968"/>
            <a:ext cx="914400" cy="365760"/>
          </a:xfrm>
          <a:prstGeom prst="rect">
            <a:avLst/>
          </a:prstGeom>
          <a:solidFill>
            <a:srgbClr val="FFFFFF">
              <a:alpha val="0"/>
            </a:srgbClr>
          </a:solidFill>
          <a:ln/>
        </p:spPr>
        <p:txBody>
          <a:bodyPr wrap="square" lIns="0" tIns="0" rIns="0" bIns="0" rtlCol="0" anchor="b"/>
          <a:lstStyle/>
          <a:p>
            <a:pPr indent="0" marL="0">
              <a:buNone/>
            </a:pPr>
            <a:r>
              <a:rPr lang="en-US" sz="900" dirty="0">
                <a:solidFill>
                  <a:srgbClr val="1F2D3D"/>
                </a:solidFill>
                <a:latin typeface="Calibri" pitchFamily="34" charset="0"/>
                <a:ea typeface="Calibri" pitchFamily="34" charset="-122"/>
                <a:cs typeface="Calibri" pitchFamily="34" charset="-120"/>
              </a:rPr>
              <a:t>Sign-off pack published</a:t>
            </a:r>
            <a:endParaRPr lang="en-US" sz="900" dirty="0"/>
          </a:p>
        </p:txBody>
      </p:sp>
      <p:sp>
        <p:nvSpPr>
          <p:cNvPr id="107" name="Shape 90"/>
          <p:cNvSpPr/>
          <p:nvPr/>
        </p:nvSpPr>
        <p:spPr>
          <a:xfrm>
            <a:off x="10890504" y="3218688"/>
            <a:ext cx="1280160" cy="0"/>
          </a:xfrm>
          <a:prstGeom prst="line">
            <a:avLst/>
          </a:prstGeom>
          <a:noFill/>
          <a:ln w="19050">
            <a:solidFill>
              <a:srgbClr val="1F6FB5"/>
            </a:solidFill>
            <a:prstDash val="solid"/>
            <a:headEnd type="triangle"/>
          </a:ln>
        </p:spPr>
      </p:sp>
      <p:sp>
        <p:nvSpPr>
          <p:cNvPr id="108" name="Shape 91"/>
          <p:cNvSpPr/>
          <p:nvPr/>
        </p:nvSpPr>
        <p:spPr>
          <a:xfrm>
            <a:off x="10963656" y="3291840"/>
            <a:ext cx="219456" cy="219456"/>
          </a:xfrm>
          <a:prstGeom prst="ellipse">
            <a:avLst/>
          </a:prstGeom>
          <a:solidFill>
            <a:srgbClr val="1F6FB5"/>
          </a:solidFill>
          <a:ln w="12700">
            <a:solidFill>
              <a:srgbClr val="1F6FB5"/>
            </a:solidFill>
            <a:prstDash val="solid"/>
          </a:ln>
        </p:spPr>
      </p:sp>
      <p:sp>
        <p:nvSpPr>
          <p:cNvPr id="109" name="Text 92"/>
          <p:cNvSpPr txBox="1"/>
          <p:nvPr/>
        </p:nvSpPr>
        <p:spPr>
          <a:xfrm>
            <a:off x="10963656" y="329184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7</a:t>
            </a:r>
            <a:endParaRPr lang="en-US" sz="900" dirty="0"/>
          </a:p>
        </p:txBody>
      </p:sp>
      <p:sp>
        <p:nvSpPr>
          <p:cNvPr id="110" name="Text 93"/>
          <p:cNvSpPr txBox="1"/>
          <p:nvPr/>
        </p:nvSpPr>
        <p:spPr>
          <a:xfrm>
            <a:off x="11219688" y="3273552"/>
            <a:ext cx="914400" cy="365760"/>
          </a:xfrm>
          <a:prstGeom prst="rect">
            <a:avLst/>
          </a:prstGeom>
          <a:noFill/>
          <a:ln/>
        </p:spPr>
        <p:txBody>
          <a:bodyPr wrap="square" lIns="0" tIns="0" rIns="0" bIns="0" rtlCol="0" anchor="t"/>
          <a:lstStyle/>
          <a:p>
            <a:pPr indent="0" marL="0">
              <a:buNone/>
            </a:pPr>
            <a:r>
              <a:rPr lang="en-US" sz="900" dirty="0">
                <a:solidFill>
                  <a:srgbClr val="1F2D3D"/>
                </a:solidFill>
                <a:latin typeface="Calibri" pitchFamily="34" charset="0"/>
                <a:ea typeface="Calibri" pitchFamily="34" charset="-122"/>
                <a:cs typeface="Calibri" pitchFamily="34" charset="-120"/>
              </a:rPr>
              <a:t>Q&amp;A and decision</a:t>
            </a:r>
            <a:endParaRPr lang="en-US" sz="900" dirty="0"/>
          </a:p>
        </p:txBody>
      </p:sp>
      <p:sp>
        <p:nvSpPr>
          <p:cNvPr id="111" name="Shape 94"/>
          <p:cNvSpPr/>
          <p:nvPr/>
        </p:nvSpPr>
        <p:spPr>
          <a:xfrm>
            <a:off x="1696212" y="3639312"/>
            <a:ext cx="0" cy="1005840"/>
          </a:xfrm>
          <a:prstGeom prst="line">
            <a:avLst/>
          </a:prstGeom>
          <a:noFill/>
          <a:ln w="15875">
            <a:solidFill>
              <a:srgbClr val="4F7BB5"/>
            </a:solidFill>
            <a:prstDash val="dash"/>
            <a:headEnd type="triangle"/>
          </a:ln>
        </p:spPr>
      </p:sp>
      <p:sp>
        <p:nvSpPr>
          <p:cNvPr id="112" name="Text 95"/>
          <p:cNvSpPr txBox="1"/>
          <p:nvPr/>
        </p:nvSpPr>
        <p:spPr>
          <a:xfrm>
            <a:off x="1787652" y="4005072"/>
            <a:ext cx="868680" cy="274320"/>
          </a:xfrm>
          <a:prstGeom prst="rect">
            <a:avLst/>
          </a:prstGeom>
          <a:noFill/>
          <a:ln/>
        </p:spPr>
        <p:txBody>
          <a:bodyPr wrap="square" lIns="0" tIns="0" rIns="0" bIns="0" rtlCol="0" anchor="ctr"/>
          <a:lstStyle/>
          <a:p>
            <a:pPr indent="0" marL="0">
              <a:buNone/>
            </a:pPr>
            <a:r>
              <a:rPr lang="en-US" sz="900" dirty="0">
                <a:solidFill>
                  <a:srgbClr val="1F2D3D"/>
                </a:solidFill>
                <a:latin typeface="Calibri" pitchFamily="34" charset="0"/>
                <a:ea typeface="Calibri" pitchFamily="34" charset="-122"/>
                <a:cs typeface="Calibri" pitchFamily="34" charset="-120"/>
              </a:rPr>
              <a:t>Results</a:t>
            </a:r>
            <a:endParaRPr lang="en-US" sz="900" dirty="0"/>
          </a:p>
        </p:txBody>
      </p:sp>
      <p:sp>
        <p:nvSpPr>
          <p:cNvPr id="113" name="Shape 96"/>
          <p:cNvSpPr/>
          <p:nvPr/>
        </p:nvSpPr>
        <p:spPr>
          <a:xfrm>
            <a:off x="4503420" y="3639312"/>
            <a:ext cx="0" cy="1005840"/>
          </a:xfrm>
          <a:prstGeom prst="line">
            <a:avLst/>
          </a:prstGeom>
          <a:noFill/>
          <a:ln w="15875">
            <a:solidFill>
              <a:srgbClr val="3F86C8"/>
            </a:solidFill>
            <a:prstDash val="dash"/>
            <a:tailEnd type="triangle"/>
          </a:ln>
        </p:spPr>
      </p:sp>
      <p:sp>
        <p:nvSpPr>
          <p:cNvPr id="114" name="Text 97"/>
          <p:cNvSpPr txBox="1"/>
          <p:nvPr/>
        </p:nvSpPr>
        <p:spPr>
          <a:xfrm>
            <a:off x="4594860" y="4005072"/>
            <a:ext cx="868680" cy="274320"/>
          </a:xfrm>
          <a:prstGeom prst="rect">
            <a:avLst/>
          </a:prstGeom>
          <a:noFill/>
          <a:ln/>
        </p:spPr>
        <p:txBody>
          <a:bodyPr wrap="square" lIns="0" tIns="0" rIns="0" bIns="0" rtlCol="0" anchor="ctr"/>
          <a:lstStyle/>
          <a:p>
            <a:pPr indent="0" marL="0">
              <a:buNone/>
            </a:pPr>
            <a:r>
              <a:rPr lang="en-US" sz="900" dirty="0">
                <a:solidFill>
                  <a:srgbClr val="1F2D3D"/>
                </a:solidFill>
                <a:latin typeface="Calibri" pitchFamily="34" charset="0"/>
                <a:ea typeface="Calibri" pitchFamily="34" charset="-122"/>
                <a:cs typeface="Calibri" pitchFamily="34" charset="-120"/>
              </a:rPr>
              <a:t>Evaluates</a:t>
            </a:r>
            <a:endParaRPr lang="en-US" sz="900" dirty="0"/>
          </a:p>
        </p:txBody>
      </p:sp>
      <p:sp>
        <p:nvSpPr>
          <p:cNvPr id="115" name="Shape 98"/>
          <p:cNvSpPr/>
          <p:nvPr/>
        </p:nvSpPr>
        <p:spPr>
          <a:xfrm>
            <a:off x="7319772" y="3639312"/>
            <a:ext cx="0" cy="1005840"/>
          </a:xfrm>
          <a:prstGeom prst="line">
            <a:avLst/>
          </a:prstGeom>
          <a:noFill/>
          <a:ln w="15875">
            <a:solidFill>
              <a:srgbClr val="1E8A5A"/>
            </a:solidFill>
            <a:prstDash val="dash"/>
            <a:tailEnd type="triangle"/>
          </a:ln>
        </p:spPr>
      </p:sp>
      <p:sp>
        <p:nvSpPr>
          <p:cNvPr id="116" name="Text 99"/>
          <p:cNvSpPr txBox="1"/>
          <p:nvPr/>
        </p:nvSpPr>
        <p:spPr>
          <a:xfrm>
            <a:off x="7411212" y="4005072"/>
            <a:ext cx="868680" cy="274320"/>
          </a:xfrm>
          <a:prstGeom prst="rect">
            <a:avLst/>
          </a:prstGeom>
          <a:noFill/>
          <a:ln/>
        </p:spPr>
        <p:txBody>
          <a:bodyPr wrap="square" lIns="0" tIns="0" rIns="0" bIns="0" rtlCol="0" anchor="ctr"/>
          <a:lstStyle/>
          <a:p>
            <a:pPr indent="0" marL="0">
              <a:buNone/>
            </a:pPr>
            <a:r>
              <a:rPr lang="en-US" sz="900" dirty="0">
                <a:solidFill>
                  <a:srgbClr val="1F2D3D"/>
                </a:solidFill>
                <a:latin typeface="Calibri" pitchFamily="34" charset="0"/>
                <a:ea typeface="Calibri" pitchFamily="34" charset="-122"/>
                <a:cs typeface="Calibri" pitchFamily="34" charset="-120"/>
              </a:rPr>
              <a:t>Checks</a:t>
            </a:r>
            <a:endParaRPr lang="en-US" sz="900" dirty="0"/>
          </a:p>
        </p:txBody>
      </p:sp>
      <p:sp>
        <p:nvSpPr>
          <p:cNvPr id="117" name="Shape 100"/>
          <p:cNvSpPr/>
          <p:nvPr/>
        </p:nvSpPr>
        <p:spPr>
          <a:xfrm>
            <a:off x="9326880" y="3639312"/>
            <a:ext cx="0" cy="1005840"/>
          </a:xfrm>
          <a:prstGeom prst="line">
            <a:avLst/>
          </a:prstGeom>
          <a:noFill/>
          <a:ln w="19050">
            <a:solidFill>
              <a:srgbClr val="5B4FA8"/>
            </a:solidFill>
            <a:prstDash val="solid"/>
            <a:tailEnd type="triangle"/>
          </a:ln>
        </p:spPr>
      </p:sp>
      <p:sp>
        <p:nvSpPr>
          <p:cNvPr id="118" name="Shape 101"/>
          <p:cNvSpPr/>
          <p:nvPr/>
        </p:nvSpPr>
        <p:spPr>
          <a:xfrm>
            <a:off x="9418320" y="3840480"/>
            <a:ext cx="219456" cy="219456"/>
          </a:xfrm>
          <a:prstGeom prst="ellipse">
            <a:avLst/>
          </a:prstGeom>
          <a:solidFill>
            <a:srgbClr val="5B4FA8"/>
          </a:solidFill>
          <a:ln w="12700">
            <a:solidFill>
              <a:srgbClr val="5B4FA8"/>
            </a:solidFill>
            <a:prstDash val="solid"/>
          </a:ln>
        </p:spPr>
      </p:sp>
      <p:sp>
        <p:nvSpPr>
          <p:cNvPr id="119" name="Text 102"/>
          <p:cNvSpPr txBox="1"/>
          <p:nvPr/>
        </p:nvSpPr>
        <p:spPr>
          <a:xfrm>
            <a:off x="9418320" y="384048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120" name="Text 103"/>
          <p:cNvSpPr txBox="1"/>
          <p:nvPr/>
        </p:nvSpPr>
        <p:spPr>
          <a:xfrm>
            <a:off x="9418320" y="4087368"/>
            <a:ext cx="685800" cy="457200"/>
          </a:xfrm>
          <a:prstGeom prst="rect">
            <a:avLst/>
          </a:prstGeom>
          <a:noFill/>
          <a:ln/>
        </p:spPr>
        <p:txBody>
          <a:bodyPr wrap="square" lIns="0" tIns="0" rIns="0" bIns="0" rtlCol="0" anchor="t"/>
          <a:lstStyle/>
          <a:p>
            <a:pPr indent="0" marL="0">
              <a:buNone/>
            </a:pPr>
            <a:r>
              <a:rPr lang="en-US" sz="900" dirty="0">
                <a:solidFill>
                  <a:srgbClr val="1F2D3D"/>
                </a:solidFill>
                <a:latin typeface="Calibri" pitchFamily="34" charset="0"/>
                <a:ea typeface="Calibri" pitchFamily="34" charset="-122"/>
                <a:cs typeface="Calibri" pitchFamily="34" charset="-120"/>
              </a:rPr>
              <a:t>Fetch data</a:t>
            </a:r>
            <a:endParaRPr lang="en-US" sz="900" dirty="0"/>
          </a:p>
        </p:txBody>
      </p:sp>
      <p:sp>
        <p:nvSpPr>
          <p:cNvPr id="121" name="Shape 104"/>
          <p:cNvSpPr/>
          <p:nvPr/>
        </p:nvSpPr>
        <p:spPr>
          <a:xfrm>
            <a:off x="10469880" y="3639312"/>
            <a:ext cx="0" cy="1005840"/>
          </a:xfrm>
          <a:prstGeom prst="line">
            <a:avLst/>
          </a:prstGeom>
          <a:noFill/>
          <a:ln w="19050">
            <a:solidFill>
              <a:srgbClr val="C0392B"/>
            </a:solidFill>
            <a:prstDash val="solid"/>
            <a:tailEnd type="triangle"/>
          </a:ln>
        </p:spPr>
      </p:sp>
      <p:sp>
        <p:nvSpPr>
          <p:cNvPr id="122" name="Shape 105"/>
          <p:cNvSpPr/>
          <p:nvPr/>
        </p:nvSpPr>
        <p:spPr>
          <a:xfrm>
            <a:off x="10561320" y="3840480"/>
            <a:ext cx="219456" cy="219456"/>
          </a:xfrm>
          <a:prstGeom prst="ellipse">
            <a:avLst/>
          </a:prstGeom>
          <a:solidFill>
            <a:srgbClr val="C0392B"/>
          </a:solidFill>
          <a:ln w="12700">
            <a:solidFill>
              <a:srgbClr val="C0392B"/>
            </a:solidFill>
            <a:prstDash val="solid"/>
          </a:ln>
        </p:spPr>
      </p:sp>
      <p:sp>
        <p:nvSpPr>
          <p:cNvPr id="123" name="Text 106"/>
          <p:cNvSpPr txBox="1"/>
          <p:nvPr/>
        </p:nvSpPr>
        <p:spPr>
          <a:xfrm>
            <a:off x="10561320" y="384048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8</a:t>
            </a:r>
            <a:endParaRPr lang="en-US" sz="900" dirty="0"/>
          </a:p>
        </p:txBody>
      </p:sp>
      <p:sp>
        <p:nvSpPr>
          <p:cNvPr id="124" name="Text 107"/>
          <p:cNvSpPr txBox="1"/>
          <p:nvPr/>
        </p:nvSpPr>
        <p:spPr>
          <a:xfrm>
            <a:off x="10561320" y="4087368"/>
            <a:ext cx="713232" cy="502920"/>
          </a:xfrm>
          <a:prstGeom prst="rect">
            <a:avLst/>
          </a:prstGeom>
          <a:noFill/>
          <a:ln/>
        </p:spPr>
        <p:txBody>
          <a:bodyPr wrap="square" lIns="0" tIns="0" rIns="0" bIns="0" rtlCol="0" anchor="t"/>
          <a:lstStyle/>
          <a:p>
            <a:pPr indent="0" marL="0">
              <a:buNone/>
            </a:pPr>
            <a:r>
              <a:rPr lang="en-US" sz="900" dirty="0">
                <a:solidFill>
                  <a:srgbClr val="1F2D3D"/>
                </a:solidFill>
                <a:latin typeface="Calibri" pitchFamily="34" charset="0"/>
                <a:ea typeface="Calibri" pitchFamily="34" charset="-122"/>
                <a:cs typeface="Calibri" pitchFamily="34" charset="-120"/>
              </a:rPr>
              <a:t>Record sign-off</a:t>
            </a:r>
            <a:endParaRPr lang="en-US" sz="900" dirty="0"/>
          </a:p>
        </p:txBody>
      </p:sp>
      <p:sp>
        <p:nvSpPr>
          <p:cNvPr id="125" name="Shape 108"/>
          <p:cNvSpPr/>
          <p:nvPr/>
        </p:nvSpPr>
        <p:spPr>
          <a:xfrm>
            <a:off x="12934188" y="3639312"/>
            <a:ext cx="0" cy="1005840"/>
          </a:xfrm>
          <a:prstGeom prst="line">
            <a:avLst/>
          </a:prstGeom>
          <a:noFill/>
          <a:ln w="19050">
            <a:solidFill>
              <a:srgbClr val="1F6FB5"/>
            </a:solidFill>
            <a:prstDash val="solid"/>
            <a:headEnd type="triangle"/>
          </a:ln>
        </p:spPr>
      </p:sp>
      <p:sp>
        <p:nvSpPr>
          <p:cNvPr id="126" name="Shape 109"/>
          <p:cNvSpPr/>
          <p:nvPr/>
        </p:nvSpPr>
        <p:spPr>
          <a:xfrm>
            <a:off x="13043916" y="3840480"/>
            <a:ext cx="219456" cy="219456"/>
          </a:xfrm>
          <a:prstGeom prst="ellipse">
            <a:avLst/>
          </a:prstGeom>
          <a:solidFill>
            <a:srgbClr val="1F6FB5"/>
          </a:solidFill>
          <a:ln w="12700">
            <a:solidFill>
              <a:srgbClr val="1F6FB5"/>
            </a:solidFill>
            <a:prstDash val="solid"/>
          </a:ln>
        </p:spPr>
      </p:sp>
      <p:sp>
        <p:nvSpPr>
          <p:cNvPr id="127" name="Text 110"/>
          <p:cNvSpPr txBox="1"/>
          <p:nvPr/>
        </p:nvSpPr>
        <p:spPr>
          <a:xfrm>
            <a:off x="13043916" y="384048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128" name="Text 111"/>
          <p:cNvSpPr txBox="1"/>
          <p:nvPr/>
        </p:nvSpPr>
        <p:spPr>
          <a:xfrm>
            <a:off x="13318236" y="3767328"/>
            <a:ext cx="822960" cy="685800"/>
          </a:xfrm>
          <a:prstGeom prst="rect">
            <a:avLst/>
          </a:prstGeom>
          <a:noFill/>
          <a:ln/>
        </p:spPr>
        <p:txBody>
          <a:bodyPr wrap="square" lIns="0" tIns="0" rIns="0" bIns="0" rtlCol="0" anchor="t"/>
          <a:lstStyle/>
          <a:p>
            <a:pPr indent="0" marL="0">
              <a:buNone/>
            </a:pPr>
            <a:r>
              <a:rPr lang="en-US" sz="900" dirty="0">
                <a:solidFill>
                  <a:srgbClr val="1F2D3D"/>
                </a:solidFill>
                <a:latin typeface="Calibri" pitchFamily="34" charset="0"/>
                <a:ea typeface="Calibri" pitchFamily="34" charset="-122"/>
                <a:cs typeface="Calibri" pitchFamily="34" charset="-120"/>
              </a:rPr>
              <a:t>Review, ask, sign off</a:t>
            </a:r>
            <a:endParaRPr lang="en-US" sz="900" dirty="0"/>
          </a:p>
        </p:txBody>
      </p:sp>
      <p:sp>
        <p:nvSpPr>
          <p:cNvPr id="129" name="Shape 112"/>
          <p:cNvSpPr/>
          <p:nvPr/>
        </p:nvSpPr>
        <p:spPr>
          <a:xfrm>
            <a:off x="512064" y="6473952"/>
            <a:ext cx="5166360" cy="1234440"/>
          </a:xfrm>
          <a:prstGeom prst="roundRect">
            <a:avLst>
              <a:gd name="adj" fmla="val 4444"/>
            </a:avLst>
          </a:prstGeom>
          <a:solidFill>
            <a:srgbClr val="F1F4F8"/>
          </a:solidFill>
          <a:ln w="12700">
            <a:solidFill>
              <a:srgbClr val="6B7C93"/>
            </a:solidFill>
            <a:prstDash val="dash"/>
          </a:ln>
        </p:spPr>
      </p:sp>
      <p:sp>
        <p:nvSpPr>
          <p:cNvPr id="130" name="Text 113"/>
          <p:cNvSpPr txBox="1"/>
          <p:nvPr/>
        </p:nvSpPr>
        <p:spPr>
          <a:xfrm>
            <a:off x="630936" y="6547104"/>
            <a:ext cx="4892040" cy="182880"/>
          </a:xfrm>
          <a:prstGeom prst="rect">
            <a:avLst/>
          </a:prstGeom>
          <a:noFill/>
          <a:ln/>
        </p:spPr>
        <p:txBody>
          <a:bodyPr wrap="square" lIns="0" tIns="0" rIns="0" bIns="0" rtlCol="0" anchor="ctr"/>
          <a:lstStyle/>
          <a:p>
            <a:pPr indent="0" marL="0">
              <a:buNone/>
            </a:pPr>
            <a:r>
              <a:rPr lang="en-US" sz="900" b="1" spc="100" kern="0" dirty="0">
                <a:solidFill>
                  <a:srgbClr val="5A6B82"/>
                </a:solidFill>
                <a:latin typeface="Calibri" pitchFamily="34" charset="0"/>
                <a:ea typeface="Calibri" pitchFamily="34" charset="-122"/>
                <a:cs typeface="Calibri" pitchFamily="34" charset="-120"/>
              </a:rPr>
              <a:t>APPLICATION AUDIT (EXISTING)</a:t>
            </a:r>
            <a:endParaRPr lang="en-US" sz="900" dirty="0"/>
          </a:p>
        </p:txBody>
      </p:sp>
      <p:sp>
        <p:nvSpPr>
          <p:cNvPr id="131" name="Shape 114"/>
          <p:cNvSpPr/>
          <p:nvPr/>
        </p:nvSpPr>
        <p:spPr>
          <a:xfrm>
            <a:off x="630936" y="6812280"/>
            <a:ext cx="1783080" cy="795528"/>
          </a:xfrm>
          <a:prstGeom prst="roundRect">
            <a:avLst>
              <a:gd name="adj" fmla="val 9195"/>
            </a:avLst>
          </a:prstGeom>
          <a:solidFill>
            <a:srgbClr val="FFFFFF"/>
          </a:solidFill>
          <a:ln w="9525">
            <a:solidFill>
              <a:srgbClr val="C8D8EC"/>
            </a:solidFill>
            <a:prstDash val="solid"/>
          </a:ln>
        </p:spPr>
      </p:sp>
      <p:sp>
        <p:nvSpPr>
          <p:cNvPr id="132" name="Shape 115"/>
          <p:cNvSpPr/>
          <p:nvPr/>
        </p:nvSpPr>
        <p:spPr>
          <a:xfrm>
            <a:off x="740664" y="6949440"/>
            <a:ext cx="457200" cy="457200"/>
          </a:xfrm>
          <a:prstGeom prst="roundRect">
            <a:avLst>
              <a:gd name="adj" fmla="val 20000"/>
            </a:avLst>
          </a:prstGeom>
          <a:solidFill>
            <a:srgbClr val="5A6B82"/>
          </a:solidFill>
          <a:ln w="12700">
            <a:solidFill>
              <a:srgbClr val="5A6B82"/>
            </a:solidFill>
            <a:prstDash val="solid"/>
          </a:ln>
        </p:spPr>
      </p:sp>
      <p:pic>
        <p:nvPicPr>
          <p:cNvPr id="133" name="Image 15" descr="preencoded.png">    </p:cNvPr>
          <p:cNvPicPr>
            <a:picLocks noChangeAspect="1"/>
          </p:cNvPicPr>
          <p:nvPr/>
        </p:nvPicPr>
        <p:blipFill>
          <a:blip r:embed="rId16"/>
          <a:stretch>
            <a:fillRect/>
          </a:stretch>
        </p:blipFill>
        <p:spPr>
          <a:xfrm>
            <a:off x="841248" y="7050024"/>
            <a:ext cx="256032" cy="256032"/>
          </a:xfrm>
          <a:prstGeom prst="rect">
            <a:avLst/>
          </a:prstGeom>
        </p:spPr>
      </p:pic>
      <p:sp>
        <p:nvSpPr>
          <p:cNvPr id="134" name="Text 116"/>
          <p:cNvSpPr txBox="1"/>
          <p:nvPr/>
        </p:nvSpPr>
        <p:spPr>
          <a:xfrm>
            <a:off x="1271016" y="6903720"/>
            <a:ext cx="1097280" cy="256032"/>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App Audit</a:t>
            </a:r>
            <a:endParaRPr lang="en-US" sz="1100" dirty="0"/>
          </a:p>
        </p:txBody>
      </p:sp>
      <p:sp>
        <p:nvSpPr>
          <p:cNvPr id="135" name="Text 117"/>
          <p:cNvSpPr txBox="1"/>
          <p:nvPr/>
        </p:nvSpPr>
        <p:spPr>
          <a:xfrm>
            <a:off x="1271016" y="7159752"/>
            <a:ext cx="1115568" cy="384048"/>
          </a:xfrm>
          <a:prstGeom prst="rect">
            <a:avLst/>
          </a:prstGeom>
          <a:noFill/>
          <a:ln/>
        </p:spPr>
        <p:txBody>
          <a:bodyPr wrap="square" lIns="0" tIns="0" rIns="0" bIns="0" rtlCol="0" anchor="t"/>
          <a:lstStyle/>
          <a:p>
            <a:pPr indent="0" marL="0">
              <a:buNone/>
            </a:pPr>
            <a:r>
              <a:rPr lang="en-US" sz="850" dirty="0">
                <a:solidFill>
                  <a:srgbClr val="4A5A6E"/>
                </a:solidFill>
                <a:latin typeface="Calibri" pitchFamily="34" charset="0"/>
                <a:ea typeface="Calibri" pitchFamily="34" charset="-122"/>
                <a:cs typeface="Calibri" pitchFamily="34" charset="-120"/>
              </a:rPr>
              <a:t>Source feeds and One Fin UX</a:t>
            </a:r>
            <a:endParaRPr lang="en-US" sz="850" dirty="0"/>
          </a:p>
        </p:txBody>
      </p:sp>
      <p:sp>
        <p:nvSpPr>
          <p:cNvPr id="136" name="Shape 118"/>
          <p:cNvSpPr/>
          <p:nvPr/>
        </p:nvSpPr>
        <p:spPr>
          <a:xfrm>
            <a:off x="2551176" y="6812280"/>
            <a:ext cx="3008376" cy="338328"/>
          </a:xfrm>
          <a:prstGeom prst="roundRect">
            <a:avLst>
              <a:gd name="adj" fmla="val 40541"/>
            </a:avLst>
          </a:prstGeom>
          <a:solidFill>
            <a:srgbClr val="FFFFFF"/>
          </a:solidFill>
          <a:ln w="9525">
            <a:solidFill>
              <a:srgbClr val="C8D8EC"/>
            </a:solidFill>
            <a:prstDash val="solid"/>
          </a:ln>
        </p:spPr>
      </p:sp>
      <p:pic>
        <p:nvPicPr>
          <p:cNvPr id="137" name="Image 16" descr="preencoded.png">    </p:cNvPr>
          <p:cNvPicPr>
            <a:picLocks noChangeAspect="1"/>
          </p:cNvPicPr>
          <p:nvPr/>
        </p:nvPicPr>
        <p:blipFill>
          <a:blip r:embed="rId17"/>
          <a:stretch>
            <a:fillRect/>
          </a:stretch>
        </p:blipFill>
        <p:spPr>
          <a:xfrm>
            <a:off x="2679192" y="6908292"/>
            <a:ext cx="146304" cy="146304"/>
          </a:xfrm>
          <a:prstGeom prst="rect">
            <a:avLst/>
          </a:prstGeom>
        </p:spPr>
      </p:pic>
      <p:sp>
        <p:nvSpPr>
          <p:cNvPr id="138" name="Text 119"/>
          <p:cNvSpPr txBox="1"/>
          <p:nvPr/>
        </p:nvSpPr>
        <p:spPr>
          <a:xfrm>
            <a:off x="2916936" y="6812280"/>
            <a:ext cx="2596896"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Input &amp; event history</a:t>
            </a:r>
            <a:endParaRPr lang="en-US" sz="950" dirty="0"/>
          </a:p>
        </p:txBody>
      </p:sp>
      <p:sp>
        <p:nvSpPr>
          <p:cNvPr id="139" name="Shape 120"/>
          <p:cNvSpPr/>
          <p:nvPr/>
        </p:nvSpPr>
        <p:spPr>
          <a:xfrm>
            <a:off x="2551176" y="7242048"/>
            <a:ext cx="3008376" cy="338328"/>
          </a:xfrm>
          <a:prstGeom prst="roundRect">
            <a:avLst>
              <a:gd name="adj" fmla="val 40541"/>
            </a:avLst>
          </a:prstGeom>
          <a:solidFill>
            <a:srgbClr val="FFFFFF"/>
          </a:solidFill>
          <a:ln w="9525">
            <a:solidFill>
              <a:srgbClr val="C8D8EC"/>
            </a:solidFill>
            <a:prstDash val="solid"/>
          </a:ln>
        </p:spPr>
      </p:sp>
      <p:pic>
        <p:nvPicPr>
          <p:cNvPr id="140" name="Image 17" descr="preencoded.png">    </p:cNvPr>
          <p:cNvPicPr>
            <a:picLocks noChangeAspect="1"/>
          </p:cNvPicPr>
          <p:nvPr/>
        </p:nvPicPr>
        <p:blipFill>
          <a:blip r:embed="rId18"/>
          <a:stretch>
            <a:fillRect/>
          </a:stretch>
        </p:blipFill>
        <p:spPr>
          <a:xfrm>
            <a:off x="2679192" y="7338060"/>
            <a:ext cx="146304" cy="146304"/>
          </a:xfrm>
          <a:prstGeom prst="rect">
            <a:avLst/>
          </a:prstGeom>
        </p:spPr>
      </p:pic>
      <p:sp>
        <p:nvSpPr>
          <p:cNvPr id="141" name="Text 121"/>
          <p:cNvSpPr txBox="1"/>
          <p:nvPr/>
        </p:nvSpPr>
        <p:spPr>
          <a:xfrm>
            <a:off x="2916936" y="7242048"/>
            <a:ext cx="2596896"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Milestone status changes</a:t>
            </a:r>
            <a:endParaRPr lang="en-US" sz="950" dirty="0"/>
          </a:p>
        </p:txBody>
      </p:sp>
      <p:sp>
        <p:nvSpPr>
          <p:cNvPr id="142" name="Shape 122"/>
          <p:cNvSpPr/>
          <p:nvPr/>
        </p:nvSpPr>
        <p:spPr>
          <a:xfrm>
            <a:off x="6117336" y="6473952"/>
            <a:ext cx="5184648" cy="1234440"/>
          </a:xfrm>
          <a:prstGeom prst="roundRect">
            <a:avLst>
              <a:gd name="adj" fmla="val 4444"/>
            </a:avLst>
          </a:prstGeom>
          <a:solidFill>
            <a:srgbClr val="F3F1FB"/>
          </a:solidFill>
          <a:ln w="12700">
            <a:solidFill>
              <a:srgbClr val="5B4FA8"/>
            </a:solidFill>
            <a:prstDash val="dash"/>
          </a:ln>
        </p:spPr>
      </p:sp>
      <p:sp>
        <p:nvSpPr>
          <p:cNvPr id="143" name="Text 123"/>
          <p:cNvSpPr txBox="1"/>
          <p:nvPr/>
        </p:nvSpPr>
        <p:spPr>
          <a:xfrm>
            <a:off x="6236208" y="6547104"/>
            <a:ext cx="4910328" cy="182880"/>
          </a:xfrm>
          <a:prstGeom prst="rect">
            <a:avLst/>
          </a:prstGeom>
          <a:noFill/>
          <a:ln/>
        </p:spPr>
        <p:txBody>
          <a:bodyPr wrap="square" lIns="0" tIns="0" rIns="0" bIns="0" rtlCol="0" anchor="ctr"/>
          <a:lstStyle/>
          <a:p>
            <a:pPr indent="0" marL="0">
              <a:buNone/>
            </a:pPr>
            <a:r>
              <a:rPr lang="en-US" sz="900" b="1" spc="100" kern="0" dirty="0">
                <a:solidFill>
                  <a:srgbClr val="5B4FA8"/>
                </a:solidFill>
                <a:latin typeface="Calibri" pitchFamily="34" charset="0"/>
                <a:ea typeface="Calibri" pitchFamily="34" charset="-122"/>
                <a:cs typeface="Calibri" pitchFamily="34" charset="-120"/>
              </a:rPr>
              <a:t>AI OBSERVABILITY</a:t>
            </a:r>
            <a:endParaRPr lang="en-US" sz="900" dirty="0"/>
          </a:p>
        </p:txBody>
      </p:sp>
      <p:sp>
        <p:nvSpPr>
          <p:cNvPr id="144" name="Shape 124"/>
          <p:cNvSpPr/>
          <p:nvPr/>
        </p:nvSpPr>
        <p:spPr>
          <a:xfrm>
            <a:off x="6236208" y="6812280"/>
            <a:ext cx="1783080" cy="795528"/>
          </a:xfrm>
          <a:prstGeom prst="roundRect">
            <a:avLst>
              <a:gd name="adj" fmla="val 9195"/>
            </a:avLst>
          </a:prstGeom>
          <a:solidFill>
            <a:srgbClr val="FFFFFF"/>
          </a:solidFill>
          <a:ln w="9525">
            <a:solidFill>
              <a:srgbClr val="C8D8EC"/>
            </a:solidFill>
            <a:prstDash val="solid"/>
          </a:ln>
        </p:spPr>
      </p:sp>
      <p:sp>
        <p:nvSpPr>
          <p:cNvPr id="145" name="Shape 125"/>
          <p:cNvSpPr/>
          <p:nvPr/>
        </p:nvSpPr>
        <p:spPr>
          <a:xfrm>
            <a:off x="6345936" y="6949440"/>
            <a:ext cx="457200" cy="457200"/>
          </a:xfrm>
          <a:prstGeom prst="roundRect">
            <a:avLst>
              <a:gd name="adj" fmla="val 20000"/>
            </a:avLst>
          </a:prstGeom>
          <a:solidFill>
            <a:srgbClr val="0B2E5E"/>
          </a:solidFill>
          <a:ln w="12700">
            <a:solidFill>
              <a:srgbClr val="0B2E5E"/>
            </a:solidFill>
            <a:prstDash val="solid"/>
          </a:ln>
        </p:spPr>
      </p:sp>
      <p:pic>
        <p:nvPicPr>
          <p:cNvPr id="146" name="Image 18" descr="preencoded.png">    </p:cNvPr>
          <p:cNvPicPr>
            <a:picLocks noChangeAspect="1"/>
          </p:cNvPicPr>
          <p:nvPr/>
        </p:nvPicPr>
        <p:blipFill>
          <a:blip r:embed="rId19"/>
          <a:stretch>
            <a:fillRect/>
          </a:stretch>
        </p:blipFill>
        <p:spPr>
          <a:xfrm>
            <a:off x="6446520" y="7050024"/>
            <a:ext cx="256032" cy="256032"/>
          </a:xfrm>
          <a:prstGeom prst="rect">
            <a:avLst/>
          </a:prstGeom>
        </p:spPr>
      </p:pic>
      <p:sp>
        <p:nvSpPr>
          <p:cNvPr id="147" name="Text 126"/>
          <p:cNvSpPr txBox="1"/>
          <p:nvPr/>
        </p:nvSpPr>
        <p:spPr>
          <a:xfrm>
            <a:off x="6876288" y="6903720"/>
            <a:ext cx="1097280" cy="256032"/>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Phoenix Eyes</a:t>
            </a:r>
            <a:endParaRPr lang="en-US" sz="1100" dirty="0"/>
          </a:p>
        </p:txBody>
      </p:sp>
      <p:sp>
        <p:nvSpPr>
          <p:cNvPr id="148" name="Text 127"/>
          <p:cNvSpPr txBox="1"/>
          <p:nvPr/>
        </p:nvSpPr>
        <p:spPr>
          <a:xfrm>
            <a:off x="6876288" y="7159752"/>
            <a:ext cx="1115568" cy="384048"/>
          </a:xfrm>
          <a:prstGeom prst="rect">
            <a:avLst/>
          </a:prstGeom>
          <a:noFill/>
          <a:ln/>
        </p:spPr>
        <p:txBody>
          <a:bodyPr wrap="square" lIns="0" tIns="0" rIns="0" bIns="0" rtlCol="0" anchor="t"/>
          <a:lstStyle/>
          <a:p>
            <a:pPr indent="0" marL="0">
              <a:buNone/>
            </a:pPr>
            <a:r>
              <a:rPr lang="en-US" sz="850" dirty="0">
                <a:solidFill>
                  <a:srgbClr val="4A5A6E"/>
                </a:solidFill>
                <a:latin typeface="Calibri" pitchFamily="34" charset="0"/>
                <a:ea typeface="Calibri" pitchFamily="34" charset="-122"/>
                <a:cs typeface="Calibri" pitchFamily="34" charset="-120"/>
              </a:rPr>
              <a:t>Close Agent and Agent One sessions</a:t>
            </a:r>
            <a:endParaRPr lang="en-US" sz="850" dirty="0"/>
          </a:p>
        </p:txBody>
      </p:sp>
      <p:sp>
        <p:nvSpPr>
          <p:cNvPr id="149" name="Shape 128"/>
          <p:cNvSpPr/>
          <p:nvPr/>
        </p:nvSpPr>
        <p:spPr>
          <a:xfrm>
            <a:off x="8156448" y="6812280"/>
            <a:ext cx="1458468" cy="338328"/>
          </a:xfrm>
          <a:prstGeom prst="roundRect">
            <a:avLst>
              <a:gd name="adj" fmla="val 40541"/>
            </a:avLst>
          </a:prstGeom>
          <a:solidFill>
            <a:srgbClr val="FFFFFF"/>
          </a:solidFill>
          <a:ln w="9525">
            <a:solidFill>
              <a:srgbClr val="C8D8EC"/>
            </a:solidFill>
            <a:prstDash val="solid"/>
          </a:ln>
        </p:spPr>
      </p:sp>
      <p:pic>
        <p:nvPicPr>
          <p:cNvPr id="150" name="Image 19" descr="preencoded.png">    </p:cNvPr>
          <p:cNvPicPr>
            <a:picLocks noChangeAspect="1"/>
          </p:cNvPicPr>
          <p:nvPr/>
        </p:nvPicPr>
        <p:blipFill>
          <a:blip r:embed="rId20"/>
          <a:stretch>
            <a:fillRect/>
          </a:stretch>
        </p:blipFill>
        <p:spPr>
          <a:xfrm>
            <a:off x="8284464" y="6908292"/>
            <a:ext cx="146304" cy="146304"/>
          </a:xfrm>
          <a:prstGeom prst="rect">
            <a:avLst/>
          </a:prstGeom>
        </p:spPr>
      </p:pic>
      <p:sp>
        <p:nvSpPr>
          <p:cNvPr id="151" name="Text 129"/>
          <p:cNvSpPr txBox="1"/>
          <p:nvPr/>
        </p:nvSpPr>
        <p:spPr>
          <a:xfrm>
            <a:off x="8522208" y="6812280"/>
            <a:ext cx="1046988"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AI session traces</a:t>
            </a:r>
            <a:endParaRPr lang="en-US" sz="950" dirty="0"/>
          </a:p>
        </p:txBody>
      </p:sp>
      <p:sp>
        <p:nvSpPr>
          <p:cNvPr id="152" name="Shape 130"/>
          <p:cNvSpPr/>
          <p:nvPr/>
        </p:nvSpPr>
        <p:spPr>
          <a:xfrm>
            <a:off x="9724644" y="6812280"/>
            <a:ext cx="1458468" cy="338328"/>
          </a:xfrm>
          <a:prstGeom prst="roundRect">
            <a:avLst>
              <a:gd name="adj" fmla="val 40541"/>
            </a:avLst>
          </a:prstGeom>
          <a:solidFill>
            <a:srgbClr val="FFFFFF"/>
          </a:solidFill>
          <a:ln w="9525">
            <a:solidFill>
              <a:srgbClr val="C8D8EC"/>
            </a:solidFill>
            <a:prstDash val="solid"/>
          </a:ln>
        </p:spPr>
      </p:sp>
      <p:pic>
        <p:nvPicPr>
          <p:cNvPr id="153" name="Image 20" descr="preencoded.png">    </p:cNvPr>
          <p:cNvPicPr>
            <a:picLocks noChangeAspect="1"/>
          </p:cNvPicPr>
          <p:nvPr/>
        </p:nvPicPr>
        <p:blipFill>
          <a:blip r:embed="rId21"/>
          <a:stretch>
            <a:fillRect/>
          </a:stretch>
        </p:blipFill>
        <p:spPr>
          <a:xfrm>
            <a:off x="9852660" y="6908292"/>
            <a:ext cx="146304" cy="146304"/>
          </a:xfrm>
          <a:prstGeom prst="rect">
            <a:avLst/>
          </a:prstGeom>
        </p:spPr>
      </p:pic>
      <p:sp>
        <p:nvSpPr>
          <p:cNvPr id="154" name="Text 131"/>
          <p:cNvSpPr txBox="1"/>
          <p:nvPr/>
        </p:nvSpPr>
        <p:spPr>
          <a:xfrm>
            <a:off x="10090404" y="6812280"/>
            <a:ext cx="1046988"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Prompts &amp; sources</a:t>
            </a:r>
            <a:endParaRPr lang="en-US" sz="950" dirty="0"/>
          </a:p>
        </p:txBody>
      </p:sp>
      <p:sp>
        <p:nvSpPr>
          <p:cNvPr id="155" name="Shape 132"/>
          <p:cNvSpPr/>
          <p:nvPr/>
        </p:nvSpPr>
        <p:spPr>
          <a:xfrm>
            <a:off x="8156448" y="7242048"/>
            <a:ext cx="1458468" cy="338328"/>
          </a:xfrm>
          <a:prstGeom prst="roundRect">
            <a:avLst>
              <a:gd name="adj" fmla="val 40541"/>
            </a:avLst>
          </a:prstGeom>
          <a:solidFill>
            <a:srgbClr val="FFFFFF"/>
          </a:solidFill>
          <a:ln w="9525">
            <a:solidFill>
              <a:srgbClr val="C8D8EC"/>
            </a:solidFill>
            <a:prstDash val="solid"/>
          </a:ln>
        </p:spPr>
      </p:sp>
      <p:pic>
        <p:nvPicPr>
          <p:cNvPr id="156" name="Image 21" descr="preencoded.png">    </p:cNvPr>
          <p:cNvPicPr>
            <a:picLocks noChangeAspect="1"/>
          </p:cNvPicPr>
          <p:nvPr/>
        </p:nvPicPr>
        <p:blipFill>
          <a:blip r:embed="rId22"/>
          <a:stretch>
            <a:fillRect/>
          </a:stretch>
        </p:blipFill>
        <p:spPr>
          <a:xfrm>
            <a:off x="8284464" y="7338060"/>
            <a:ext cx="146304" cy="146304"/>
          </a:xfrm>
          <a:prstGeom prst="rect">
            <a:avLst/>
          </a:prstGeom>
        </p:spPr>
      </p:pic>
      <p:sp>
        <p:nvSpPr>
          <p:cNvPr id="157" name="Text 133"/>
          <p:cNvSpPr txBox="1"/>
          <p:nvPr/>
        </p:nvSpPr>
        <p:spPr>
          <a:xfrm>
            <a:off x="8522208" y="7242048"/>
            <a:ext cx="1046988"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Skill gap analysis</a:t>
            </a:r>
            <a:endParaRPr lang="en-US" sz="950" dirty="0"/>
          </a:p>
        </p:txBody>
      </p:sp>
      <p:sp>
        <p:nvSpPr>
          <p:cNvPr id="158" name="Shape 134"/>
          <p:cNvSpPr/>
          <p:nvPr/>
        </p:nvSpPr>
        <p:spPr>
          <a:xfrm>
            <a:off x="9724644" y="7242048"/>
            <a:ext cx="1458468" cy="338328"/>
          </a:xfrm>
          <a:prstGeom prst="roundRect">
            <a:avLst>
              <a:gd name="adj" fmla="val 40541"/>
            </a:avLst>
          </a:prstGeom>
          <a:solidFill>
            <a:srgbClr val="FFFFFF"/>
          </a:solidFill>
          <a:ln w="9525">
            <a:solidFill>
              <a:srgbClr val="C8D8EC"/>
            </a:solidFill>
            <a:prstDash val="solid"/>
          </a:ln>
        </p:spPr>
      </p:sp>
      <p:pic>
        <p:nvPicPr>
          <p:cNvPr id="159" name="Image 22" descr="preencoded.png">    </p:cNvPr>
          <p:cNvPicPr>
            <a:picLocks noChangeAspect="1"/>
          </p:cNvPicPr>
          <p:nvPr/>
        </p:nvPicPr>
        <p:blipFill>
          <a:blip r:embed="rId23"/>
          <a:stretch>
            <a:fillRect/>
          </a:stretch>
        </p:blipFill>
        <p:spPr>
          <a:xfrm>
            <a:off x="9852660" y="7338060"/>
            <a:ext cx="146304" cy="146304"/>
          </a:xfrm>
          <a:prstGeom prst="rect">
            <a:avLst/>
          </a:prstGeom>
        </p:spPr>
      </p:pic>
      <p:sp>
        <p:nvSpPr>
          <p:cNvPr id="160" name="Text 135"/>
          <p:cNvSpPr txBox="1"/>
          <p:nvPr/>
        </p:nvSpPr>
        <p:spPr>
          <a:xfrm>
            <a:off x="10090404" y="7242048"/>
            <a:ext cx="1046988"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LLM perf &amp; health</a:t>
            </a:r>
            <a:endParaRPr lang="en-US" sz="950" dirty="0"/>
          </a:p>
        </p:txBody>
      </p:sp>
      <p:sp>
        <p:nvSpPr>
          <p:cNvPr id="161" name="Shape 136"/>
          <p:cNvSpPr/>
          <p:nvPr/>
        </p:nvSpPr>
        <p:spPr>
          <a:xfrm>
            <a:off x="11731752" y="6473952"/>
            <a:ext cx="2386584" cy="1234440"/>
          </a:xfrm>
          <a:prstGeom prst="roundRect">
            <a:avLst>
              <a:gd name="adj" fmla="val 4444"/>
            </a:avLst>
          </a:prstGeom>
          <a:solidFill>
            <a:srgbClr val="F1F4F8"/>
          </a:solidFill>
          <a:ln w="12700">
            <a:solidFill>
              <a:srgbClr val="6B7C93"/>
            </a:solidFill>
            <a:prstDash val="dash"/>
          </a:ln>
        </p:spPr>
      </p:sp>
      <p:sp>
        <p:nvSpPr>
          <p:cNvPr id="162" name="Text 137"/>
          <p:cNvSpPr txBox="1"/>
          <p:nvPr/>
        </p:nvSpPr>
        <p:spPr>
          <a:xfrm>
            <a:off x="11850624" y="6547104"/>
            <a:ext cx="2112264" cy="182880"/>
          </a:xfrm>
          <a:prstGeom prst="rect">
            <a:avLst/>
          </a:prstGeom>
          <a:noFill/>
          <a:ln/>
        </p:spPr>
        <p:txBody>
          <a:bodyPr wrap="square" lIns="0" tIns="0" rIns="0" bIns="0" rtlCol="0" anchor="ctr"/>
          <a:lstStyle/>
          <a:p>
            <a:pPr indent="0" marL="0">
              <a:buNone/>
            </a:pPr>
            <a:r>
              <a:rPr lang="en-US" sz="900" b="1" spc="100" kern="0" dirty="0">
                <a:solidFill>
                  <a:srgbClr val="5A6B82"/>
                </a:solidFill>
                <a:latin typeface="Calibri" pitchFamily="34" charset="0"/>
                <a:ea typeface="Calibri" pitchFamily="34" charset="-122"/>
                <a:cs typeface="Calibri" pitchFamily="34" charset="-120"/>
              </a:rPr>
              <a:t>APPLICATION AUDIT (EXISTING)</a:t>
            </a:r>
            <a:endParaRPr lang="en-US" sz="900" dirty="0"/>
          </a:p>
        </p:txBody>
      </p:sp>
      <p:sp>
        <p:nvSpPr>
          <p:cNvPr id="163" name="Shape 138"/>
          <p:cNvSpPr/>
          <p:nvPr/>
        </p:nvSpPr>
        <p:spPr>
          <a:xfrm>
            <a:off x="11850624" y="6812280"/>
            <a:ext cx="2148840" cy="338328"/>
          </a:xfrm>
          <a:prstGeom prst="roundRect">
            <a:avLst>
              <a:gd name="adj" fmla="val 40541"/>
            </a:avLst>
          </a:prstGeom>
          <a:solidFill>
            <a:srgbClr val="FFFFFF"/>
          </a:solidFill>
          <a:ln w="9525">
            <a:solidFill>
              <a:srgbClr val="C8D8EC"/>
            </a:solidFill>
            <a:prstDash val="solid"/>
          </a:ln>
        </p:spPr>
      </p:sp>
      <p:pic>
        <p:nvPicPr>
          <p:cNvPr id="164" name="Image 23" descr="preencoded.png">    </p:cNvPr>
          <p:cNvPicPr>
            <a:picLocks noChangeAspect="1"/>
          </p:cNvPicPr>
          <p:nvPr/>
        </p:nvPicPr>
        <p:blipFill>
          <a:blip r:embed="rId24"/>
          <a:stretch>
            <a:fillRect/>
          </a:stretch>
        </p:blipFill>
        <p:spPr>
          <a:xfrm>
            <a:off x="11978640" y="6908292"/>
            <a:ext cx="146304" cy="146304"/>
          </a:xfrm>
          <a:prstGeom prst="rect">
            <a:avLst/>
          </a:prstGeom>
        </p:spPr>
      </p:pic>
      <p:sp>
        <p:nvSpPr>
          <p:cNvPr id="165" name="Text 139"/>
          <p:cNvSpPr txBox="1"/>
          <p:nvPr/>
        </p:nvSpPr>
        <p:spPr>
          <a:xfrm>
            <a:off x="12216384" y="6812280"/>
            <a:ext cx="1737360"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Sign-offs &amp; attestations</a:t>
            </a:r>
            <a:endParaRPr lang="en-US" sz="950" dirty="0"/>
          </a:p>
        </p:txBody>
      </p:sp>
      <p:sp>
        <p:nvSpPr>
          <p:cNvPr id="166" name="Shape 140"/>
          <p:cNvSpPr/>
          <p:nvPr/>
        </p:nvSpPr>
        <p:spPr>
          <a:xfrm>
            <a:off x="11850624" y="7242048"/>
            <a:ext cx="2148840" cy="338328"/>
          </a:xfrm>
          <a:prstGeom prst="roundRect">
            <a:avLst>
              <a:gd name="adj" fmla="val 40541"/>
            </a:avLst>
          </a:prstGeom>
          <a:solidFill>
            <a:srgbClr val="FFFFFF"/>
          </a:solidFill>
          <a:ln w="9525">
            <a:solidFill>
              <a:srgbClr val="C8D8EC"/>
            </a:solidFill>
            <a:prstDash val="solid"/>
          </a:ln>
        </p:spPr>
      </p:sp>
      <p:pic>
        <p:nvPicPr>
          <p:cNvPr id="167" name="Image 24" descr="preencoded.png">    </p:cNvPr>
          <p:cNvPicPr>
            <a:picLocks noChangeAspect="1"/>
          </p:cNvPicPr>
          <p:nvPr/>
        </p:nvPicPr>
        <p:blipFill>
          <a:blip r:embed="rId25"/>
          <a:stretch>
            <a:fillRect/>
          </a:stretch>
        </p:blipFill>
        <p:spPr>
          <a:xfrm>
            <a:off x="11978640" y="7338060"/>
            <a:ext cx="146304" cy="146304"/>
          </a:xfrm>
          <a:prstGeom prst="rect">
            <a:avLst/>
          </a:prstGeom>
        </p:spPr>
      </p:pic>
      <p:sp>
        <p:nvSpPr>
          <p:cNvPr id="168" name="Text 141"/>
          <p:cNvSpPr txBox="1"/>
          <p:nvPr/>
        </p:nvSpPr>
        <p:spPr>
          <a:xfrm>
            <a:off x="12216384" y="7242048"/>
            <a:ext cx="1737360"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Sign-off instructions</a:t>
            </a:r>
            <a:endParaRPr lang="en-US" sz="950" dirty="0"/>
          </a:p>
        </p:txBody>
      </p:sp>
      <p:sp>
        <p:nvSpPr>
          <p:cNvPr id="169" name="Text 142"/>
          <p:cNvSpPr txBox="1"/>
          <p:nvPr/>
        </p:nvSpPr>
        <p:spPr>
          <a:xfrm>
            <a:off x="502920" y="7818120"/>
            <a:ext cx="2743200" cy="228600"/>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Outcomes</a:t>
            </a:r>
            <a:endParaRPr lang="en-US" sz="1100" dirty="0"/>
          </a:p>
        </p:txBody>
      </p:sp>
      <p:sp>
        <p:nvSpPr>
          <p:cNvPr id="170" name="Shape 143"/>
          <p:cNvSpPr/>
          <p:nvPr/>
        </p:nvSpPr>
        <p:spPr>
          <a:xfrm>
            <a:off x="502920" y="8074152"/>
            <a:ext cx="3227832" cy="1005840"/>
          </a:xfrm>
          <a:prstGeom prst="roundRect">
            <a:avLst>
              <a:gd name="adj" fmla="val 7273"/>
            </a:avLst>
          </a:prstGeom>
          <a:solidFill>
            <a:srgbClr val="FFFFFF"/>
          </a:solidFill>
          <a:ln w="9525">
            <a:solidFill>
              <a:srgbClr val="C8D8EC"/>
            </a:solidFill>
            <a:prstDash val="solid"/>
          </a:ln>
        </p:spPr>
      </p:sp>
      <p:sp>
        <p:nvSpPr>
          <p:cNvPr id="171" name="Shape 144"/>
          <p:cNvSpPr/>
          <p:nvPr/>
        </p:nvSpPr>
        <p:spPr>
          <a:xfrm>
            <a:off x="667512" y="8321040"/>
            <a:ext cx="512064" cy="512064"/>
          </a:xfrm>
          <a:prstGeom prst="ellipse">
            <a:avLst/>
          </a:prstGeom>
          <a:solidFill>
            <a:srgbClr val="1E8A5A"/>
          </a:solidFill>
          <a:ln w="12700">
            <a:solidFill>
              <a:srgbClr val="1E8A5A"/>
            </a:solidFill>
            <a:prstDash val="solid"/>
          </a:ln>
        </p:spPr>
      </p:sp>
      <p:pic>
        <p:nvPicPr>
          <p:cNvPr id="172" name="Image 25" descr="preencoded.png">    </p:cNvPr>
          <p:cNvPicPr>
            <a:picLocks noChangeAspect="1"/>
          </p:cNvPicPr>
          <p:nvPr/>
        </p:nvPicPr>
        <p:blipFill>
          <a:blip r:embed="rId26"/>
          <a:stretch>
            <a:fillRect/>
          </a:stretch>
        </p:blipFill>
        <p:spPr>
          <a:xfrm>
            <a:off x="800649" y="8454177"/>
            <a:ext cx="245791" cy="245791"/>
          </a:xfrm>
          <a:prstGeom prst="rect">
            <a:avLst/>
          </a:prstGeom>
        </p:spPr>
      </p:pic>
      <p:sp>
        <p:nvSpPr>
          <p:cNvPr id="173" name="Text 145"/>
          <p:cNvSpPr txBox="1"/>
          <p:nvPr/>
        </p:nvSpPr>
        <p:spPr>
          <a:xfrm>
            <a:off x="1325880"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Pack ready at milestone</a:t>
            </a:r>
            <a:endParaRPr lang="en-US" sz="1200" dirty="0"/>
          </a:p>
        </p:txBody>
      </p:sp>
      <p:sp>
        <p:nvSpPr>
          <p:cNvPr id="174" name="Text 146"/>
          <p:cNvSpPr txBox="1"/>
          <p:nvPr/>
        </p:nvSpPr>
        <p:spPr>
          <a:xfrm>
            <a:off x="1325880"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Signatories start from a complete, evidenced pack</a:t>
            </a:r>
            <a:endParaRPr lang="en-US" sz="950" dirty="0"/>
          </a:p>
        </p:txBody>
      </p:sp>
      <p:sp>
        <p:nvSpPr>
          <p:cNvPr id="175" name="Shape 147"/>
          <p:cNvSpPr/>
          <p:nvPr/>
        </p:nvSpPr>
        <p:spPr>
          <a:xfrm>
            <a:off x="3941064" y="8074152"/>
            <a:ext cx="3227832" cy="1005840"/>
          </a:xfrm>
          <a:prstGeom prst="roundRect">
            <a:avLst>
              <a:gd name="adj" fmla="val 7273"/>
            </a:avLst>
          </a:prstGeom>
          <a:solidFill>
            <a:srgbClr val="FFFFFF"/>
          </a:solidFill>
          <a:ln w="9525">
            <a:solidFill>
              <a:srgbClr val="C8D8EC"/>
            </a:solidFill>
            <a:prstDash val="solid"/>
          </a:ln>
        </p:spPr>
      </p:sp>
      <p:sp>
        <p:nvSpPr>
          <p:cNvPr id="176" name="Shape 148"/>
          <p:cNvSpPr/>
          <p:nvPr/>
        </p:nvSpPr>
        <p:spPr>
          <a:xfrm>
            <a:off x="4105656" y="8321040"/>
            <a:ext cx="512064" cy="512064"/>
          </a:xfrm>
          <a:prstGeom prst="ellipse">
            <a:avLst/>
          </a:prstGeom>
          <a:solidFill>
            <a:srgbClr val="2A6EBB"/>
          </a:solidFill>
          <a:ln w="12700">
            <a:solidFill>
              <a:srgbClr val="2A6EBB"/>
            </a:solidFill>
            <a:prstDash val="solid"/>
          </a:ln>
        </p:spPr>
      </p:sp>
      <p:pic>
        <p:nvPicPr>
          <p:cNvPr id="177" name="Image 26" descr="preencoded.png">    </p:cNvPr>
          <p:cNvPicPr>
            <a:picLocks noChangeAspect="1"/>
          </p:cNvPicPr>
          <p:nvPr/>
        </p:nvPicPr>
        <p:blipFill>
          <a:blip r:embed="rId27"/>
          <a:stretch>
            <a:fillRect/>
          </a:stretch>
        </p:blipFill>
        <p:spPr>
          <a:xfrm>
            <a:off x="4238793" y="8454177"/>
            <a:ext cx="245791" cy="245791"/>
          </a:xfrm>
          <a:prstGeom prst="rect">
            <a:avLst/>
          </a:prstGeom>
        </p:spPr>
      </p:pic>
      <p:sp>
        <p:nvSpPr>
          <p:cNvPr id="178" name="Text 149"/>
          <p:cNvSpPr txBox="1"/>
          <p:nvPr/>
        </p:nvSpPr>
        <p:spPr>
          <a:xfrm>
            <a:off x="4764024"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Human in the loop</a:t>
            </a:r>
            <a:endParaRPr lang="en-US" sz="1200" dirty="0"/>
          </a:p>
        </p:txBody>
      </p:sp>
      <p:sp>
        <p:nvSpPr>
          <p:cNvPr id="179" name="Text 150"/>
          <p:cNvSpPr txBox="1"/>
          <p:nvPr/>
        </p:nvSpPr>
        <p:spPr>
          <a:xfrm>
            <a:off x="4764024"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Only the named signatory signs off or attests</a:t>
            </a:r>
            <a:endParaRPr lang="en-US" sz="950" dirty="0"/>
          </a:p>
        </p:txBody>
      </p:sp>
      <p:sp>
        <p:nvSpPr>
          <p:cNvPr id="180" name="Shape 151"/>
          <p:cNvSpPr/>
          <p:nvPr/>
        </p:nvSpPr>
        <p:spPr>
          <a:xfrm>
            <a:off x="7379208" y="8074152"/>
            <a:ext cx="3227832" cy="1005840"/>
          </a:xfrm>
          <a:prstGeom prst="roundRect">
            <a:avLst>
              <a:gd name="adj" fmla="val 7273"/>
            </a:avLst>
          </a:prstGeom>
          <a:solidFill>
            <a:srgbClr val="FFFFFF"/>
          </a:solidFill>
          <a:ln w="9525">
            <a:solidFill>
              <a:srgbClr val="C8D8EC"/>
            </a:solidFill>
            <a:prstDash val="solid"/>
          </a:ln>
        </p:spPr>
      </p:sp>
      <p:sp>
        <p:nvSpPr>
          <p:cNvPr id="181" name="Shape 152"/>
          <p:cNvSpPr/>
          <p:nvPr/>
        </p:nvSpPr>
        <p:spPr>
          <a:xfrm>
            <a:off x="7543800" y="8321040"/>
            <a:ext cx="512064" cy="512064"/>
          </a:xfrm>
          <a:prstGeom prst="ellipse">
            <a:avLst/>
          </a:prstGeom>
          <a:solidFill>
            <a:srgbClr val="5B4FA8"/>
          </a:solidFill>
          <a:ln w="12700">
            <a:solidFill>
              <a:srgbClr val="5B4FA8"/>
            </a:solidFill>
            <a:prstDash val="solid"/>
          </a:ln>
        </p:spPr>
      </p:sp>
      <p:pic>
        <p:nvPicPr>
          <p:cNvPr id="182" name="Image 27" descr="preencoded.png">    </p:cNvPr>
          <p:cNvPicPr>
            <a:picLocks noChangeAspect="1"/>
          </p:cNvPicPr>
          <p:nvPr/>
        </p:nvPicPr>
        <p:blipFill>
          <a:blip r:embed="rId28"/>
          <a:stretch>
            <a:fillRect/>
          </a:stretch>
        </p:blipFill>
        <p:spPr>
          <a:xfrm>
            <a:off x="7676937" y="8454177"/>
            <a:ext cx="245791" cy="245791"/>
          </a:xfrm>
          <a:prstGeom prst="rect">
            <a:avLst/>
          </a:prstGeom>
        </p:spPr>
      </p:pic>
      <p:sp>
        <p:nvSpPr>
          <p:cNvPr id="183" name="Text 153"/>
          <p:cNvSpPr txBox="1"/>
          <p:nvPr/>
        </p:nvSpPr>
        <p:spPr>
          <a:xfrm>
            <a:off x="8202168"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Evidenced sign-off</a:t>
            </a:r>
            <a:endParaRPr lang="en-US" sz="1200" dirty="0"/>
          </a:p>
        </p:txBody>
      </p:sp>
      <p:sp>
        <p:nvSpPr>
          <p:cNvPr id="184" name="Text 154"/>
          <p:cNvSpPr txBox="1"/>
          <p:nvPr/>
        </p:nvSpPr>
        <p:spPr>
          <a:xfrm>
            <a:off x="8202168"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Every open item and source linked in the record</a:t>
            </a:r>
            <a:endParaRPr lang="en-US" sz="950" dirty="0"/>
          </a:p>
        </p:txBody>
      </p:sp>
      <p:sp>
        <p:nvSpPr>
          <p:cNvPr id="185" name="Shape 155"/>
          <p:cNvSpPr/>
          <p:nvPr/>
        </p:nvSpPr>
        <p:spPr>
          <a:xfrm>
            <a:off x="10817352" y="8074152"/>
            <a:ext cx="3227832" cy="1005840"/>
          </a:xfrm>
          <a:prstGeom prst="roundRect">
            <a:avLst>
              <a:gd name="adj" fmla="val 7273"/>
            </a:avLst>
          </a:prstGeom>
          <a:solidFill>
            <a:srgbClr val="FFFFFF"/>
          </a:solidFill>
          <a:ln w="9525">
            <a:solidFill>
              <a:srgbClr val="C8D8EC"/>
            </a:solidFill>
            <a:prstDash val="solid"/>
          </a:ln>
        </p:spPr>
      </p:sp>
      <p:sp>
        <p:nvSpPr>
          <p:cNvPr id="186" name="Shape 156"/>
          <p:cNvSpPr/>
          <p:nvPr/>
        </p:nvSpPr>
        <p:spPr>
          <a:xfrm>
            <a:off x="10981944" y="8321040"/>
            <a:ext cx="512064" cy="512064"/>
          </a:xfrm>
          <a:prstGeom prst="ellipse">
            <a:avLst/>
          </a:prstGeom>
          <a:solidFill>
            <a:srgbClr val="1F4E8C"/>
          </a:solidFill>
          <a:ln w="12700">
            <a:solidFill>
              <a:srgbClr val="1F4E8C"/>
            </a:solidFill>
            <a:prstDash val="solid"/>
          </a:ln>
        </p:spPr>
      </p:sp>
      <p:pic>
        <p:nvPicPr>
          <p:cNvPr id="187" name="Image 28" descr="preencoded.png">    </p:cNvPr>
          <p:cNvPicPr>
            <a:picLocks noChangeAspect="1"/>
          </p:cNvPicPr>
          <p:nvPr/>
        </p:nvPicPr>
        <p:blipFill>
          <a:blip r:embed="rId29"/>
          <a:stretch>
            <a:fillRect/>
          </a:stretch>
        </p:blipFill>
        <p:spPr>
          <a:xfrm>
            <a:off x="11115081" y="8454177"/>
            <a:ext cx="245791" cy="245791"/>
          </a:xfrm>
          <a:prstGeom prst="rect">
            <a:avLst/>
          </a:prstGeom>
        </p:spPr>
      </p:pic>
      <p:sp>
        <p:nvSpPr>
          <p:cNvPr id="188" name="Text 157"/>
          <p:cNvSpPr txBox="1"/>
          <p:nvPr/>
        </p:nvSpPr>
        <p:spPr>
          <a:xfrm>
            <a:off x="11640312"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Scales by milestone</a:t>
            </a:r>
            <a:endParaRPr lang="en-US" sz="1200" dirty="0"/>
          </a:p>
        </p:txBody>
      </p:sp>
      <p:sp>
        <p:nvSpPr>
          <p:cNvPr id="189" name="Text 158"/>
          <p:cNvSpPr txBox="1"/>
          <p:nvPr/>
        </p:nvSpPr>
        <p:spPr>
          <a:xfrm>
            <a:off x="11640312"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Add entities and milestones by configuration</a:t>
            </a:r>
            <a:endParaRPr lang="en-US" sz="950" dirty="0"/>
          </a:p>
        </p:txBody>
      </p:sp>
      <p:sp>
        <p:nvSpPr>
          <p:cNvPr id="190" name="Shape 159"/>
          <p:cNvSpPr/>
          <p:nvPr/>
        </p:nvSpPr>
        <p:spPr>
          <a:xfrm>
            <a:off x="0" y="9272016"/>
            <a:ext cx="14630400" cy="484632"/>
          </a:xfrm>
          <a:prstGeom prst="rect">
            <a:avLst/>
          </a:prstGeom>
          <a:solidFill>
            <a:srgbClr val="0B2E5E"/>
          </a:solidFill>
          <a:ln w="12700">
            <a:solidFill>
              <a:srgbClr val="0B2E5E"/>
            </a:solidFill>
            <a:prstDash val="solid"/>
          </a:ln>
        </p:spPr>
      </p:sp>
      <p:sp>
        <p:nvSpPr>
          <p:cNvPr id="191" name="Text 160"/>
          <p:cNvSpPr txBox="1"/>
          <p:nvPr/>
        </p:nvSpPr>
        <p:spPr>
          <a:xfrm>
            <a:off x="0" y="9272016"/>
            <a:ext cx="14630400" cy="4846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Financial Close</a:t>
            </a:r>
            <a:pPr algn="ctr" indent="0" marL="0">
              <a:buNone/>
            </a:pPr>
            <a:r>
              <a:rPr lang="en-US" sz="1100" dirty="0">
                <a:solidFill>
                  <a:srgbClr val="FFFFFF"/>
                </a:solidFill>
                <a:latin typeface="Calibri" pitchFamily="34" charset="0"/>
                <a:ea typeface="Calibri" pitchFamily="34" charset="-122"/>
                <a:cs typeface="Calibri" pitchFamily="34" charset="-120"/>
              </a:rPr>
              <a:t>   |   Evidenced Sign-off. Smoother Close. Fewer Surprises.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AFD"/>
        </a:solidFill>
      </p:bgPr>
    </p:bg>
    <p:spTree>
      <p:nvGrpSpPr>
        <p:cNvPr id="1" name=""/>
        <p:cNvGrpSpPr/>
        <p:nvPr/>
      </p:nvGrpSpPr>
      <p:grpSpPr>
        <a:xfrm>
          <a:off x="0" y="0"/>
          <a:ext cx="0" cy="0"/>
          <a:chOff x="0" y="0"/>
          <a:chExt cx="0" cy="0"/>
        </a:xfrm>
      </p:grpSpPr>
      <p:sp>
        <p:nvSpPr>
          <p:cNvPr id="2" name="Shape 0"/>
          <p:cNvSpPr/>
          <p:nvPr/>
        </p:nvSpPr>
        <p:spPr>
          <a:xfrm>
            <a:off x="0" y="0"/>
            <a:ext cx="14630400" cy="1024128"/>
          </a:xfrm>
          <a:prstGeom prst="rect">
            <a:avLst/>
          </a:prstGeom>
          <a:solidFill>
            <a:srgbClr val="0B2E5E"/>
          </a:solidFill>
          <a:ln w="12700">
            <a:solidFill>
              <a:srgbClr val="0B2E5E"/>
            </a:solidFill>
            <a:prstDash val="solid"/>
          </a:ln>
        </p:spPr>
      </p:sp>
      <p:sp>
        <p:nvSpPr>
          <p:cNvPr id="3" name="Text 1"/>
          <p:cNvSpPr txBox="1"/>
          <p:nvPr/>
        </p:nvSpPr>
        <p:spPr>
          <a:xfrm>
            <a:off x="301752" y="137160"/>
            <a:ext cx="11155680" cy="475488"/>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UC6 Internal Reporting: Report Validation</a:t>
            </a:r>
            <a:endParaRPr lang="en-US" sz="3000" dirty="0"/>
          </a:p>
        </p:txBody>
      </p:sp>
      <p:sp>
        <p:nvSpPr>
          <p:cNvPr id="4" name="Text 2"/>
          <p:cNvSpPr txBox="1"/>
          <p:nvPr/>
        </p:nvSpPr>
        <p:spPr>
          <a:xfrm>
            <a:off x="301752" y="612648"/>
            <a:ext cx="11155680" cy="301752"/>
          </a:xfrm>
          <a:prstGeom prst="rect">
            <a:avLst/>
          </a:prstGeom>
          <a:noFill/>
          <a:ln/>
        </p:spPr>
        <p:txBody>
          <a:bodyPr wrap="square" lIns="0" tIns="0" rIns="0" bIns="0" rtlCol="0" anchor="ctr"/>
          <a:lstStyle/>
          <a:p>
            <a:pPr indent="0" marL="0">
              <a:buNone/>
            </a:pPr>
            <a:r>
              <a:rPr lang="en-US" sz="1600" dirty="0">
                <a:solidFill>
                  <a:srgbClr val="DCE9F7"/>
                </a:solidFill>
                <a:latin typeface="Calibri" pitchFamily="34" charset="0"/>
                <a:ea typeface="Calibri" pitchFamily="34" charset="-122"/>
                <a:cs typeface="Calibri" pitchFamily="34" charset="-120"/>
              </a:rPr>
              <a:t>Report Generation &amp; Validation before Report Publication</a:t>
            </a:r>
            <a:endParaRPr lang="en-US" sz="1600" dirty="0"/>
          </a:p>
        </p:txBody>
      </p:sp>
      <p:sp>
        <p:nvSpPr>
          <p:cNvPr id="5" name="Shape 3"/>
          <p:cNvSpPr/>
          <p:nvPr/>
        </p:nvSpPr>
        <p:spPr>
          <a:xfrm>
            <a:off x="11640312" y="192024"/>
            <a:ext cx="0" cy="649224"/>
          </a:xfrm>
          <a:prstGeom prst="line">
            <a:avLst/>
          </a:prstGeom>
          <a:noFill/>
          <a:ln w="12700">
            <a:solidFill>
              <a:srgbClr val="FFFFFF"/>
            </a:solidFill>
            <a:prstDash val="solid"/>
          </a:ln>
        </p:spPr>
      </p:sp>
      <p:sp>
        <p:nvSpPr>
          <p:cNvPr id="6" name="Text 4"/>
          <p:cNvSpPr txBox="1"/>
          <p:nvPr/>
        </p:nvSpPr>
        <p:spPr>
          <a:xfrm>
            <a:off x="11814048" y="265176"/>
            <a:ext cx="2715768"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Internal Reporting</a:t>
            </a:r>
            <a:endParaRPr lang="en-US" sz="2200" dirty="0"/>
          </a:p>
        </p:txBody>
      </p:sp>
      <p:sp>
        <p:nvSpPr>
          <p:cNvPr id="7" name="Text 5"/>
          <p:cNvSpPr txBox="1"/>
          <p:nvPr/>
        </p:nvSpPr>
        <p:spPr>
          <a:xfrm>
            <a:off x="502920" y="1216152"/>
            <a:ext cx="1920240" cy="347472"/>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Report domains</a:t>
            </a:r>
            <a:endParaRPr lang="en-US" sz="1100" dirty="0"/>
          </a:p>
        </p:txBody>
      </p:sp>
      <p:sp>
        <p:nvSpPr>
          <p:cNvPr id="8" name="Shape 6"/>
          <p:cNvSpPr/>
          <p:nvPr/>
        </p:nvSpPr>
        <p:spPr>
          <a:xfrm>
            <a:off x="2496312" y="1243584"/>
            <a:ext cx="2075688" cy="283464"/>
          </a:xfrm>
          <a:prstGeom prst="roundRect">
            <a:avLst>
              <a:gd name="adj" fmla="val 48387"/>
            </a:avLst>
          </a:prstGeom>
          <a:solidFill>
            <a:srgbClr val="DCE9F7"/>
          </a:solidFill>
          <a:ln w="9525">
            <a:solidFill>
              <a:srgbClr val="C8D8EC"/>
            </a:solidFill>
            <a:prstDash val="solid"/>
          </a:ln>
        </p:spPr>
      </p:sp>
      <p:pic>
        <p:nvPicPr>
          <p:cNvPr id="9" name="Image 0" descr="preencoded.png">    </p:cNvPr>
          <p:cNvPicPr>
            <a:picLocks noChangeAspect="1"/>
          </p:cNvPicPr>
          <p:nvPr/>
        </p:nvPicPr>
        <p:blipFill>
          <a:blip r:embed="rId1"/>
          <a:stretch>
            <a:fillRect/>
          </a:stretch>
        </p:blipFill>
        <p:spPr>
          <a:xfrm>
            <a:off x="2606040" y="1316736"/>
            <a:ext cx="137160" cy="137160"/>
          </a:xfrm>
          <a:prstGeom prst="rect">
            <a:avLst/>
          </a:prstGeom>
        </p:spPr>
      </p:pic>
      <p:sp>
        <p:nvSpPr>
          <p:cNvPr id="10" name="Text 7"/>
          <p:cNvSpPr txBox="1"/>
          <p:nvPr/>
        </p:nvSpPr>
        <p:spPr>
          <a:xfrm>
            <a:off x="2798064" y="1243584"/>
            <a:ext cx="1737360" cy="283464"/>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Revenue accounting</a:t>
            </a:r>
            <a:endParaRPr lang="en-US" sz="950" dirty="0"/>
          </a:p>
        </p:txBody>
      </p:sp>
      <p:sp>
        <p:nvSpPr>
          <p:cNvPr id="11" name="Shape 8"/>
          <p:cNvSpPr/>
          <p:nvPr/>
        </p:nvSpPr>
        <p:spPr>
          <a:xfrm>
            <a:off x="4709160" y="1243584"/>
            <a:ext cx="2075688" cy="283464"/>
          </a:xfrm>
          <a:prstGeom prst="roundRect">
            <a:avLst>
              <a:gd name="adj" fmla="val 48387"/>
            </a:avLst>
          </a:prstGeom>
          <a:solidFill>
            <a:srgbClr val="DCE9F7"/>
          </a:solidFill>
          <a:ln w="9525">
            <a:solidFill>
              <a:srgbClr val="C8D8EC"/>
            </a:solidFill>
            <a:prstDash val="solid"/>
          </a:ln>
        </p:spPr>
      </p:sp>
      <p:pic>
        <p:nvPicPr>
          <p:cNvPr id="12" name="Image 1" descr="preencoded.png">    </p:cNvPr>
          <p:cNvPicPr>
            <a:picLocks noChangeAspect="1"/>
          </p:cNvPicPr>
          <p:nvPr/>
        </p:nvPicPr>
        <p:blipFill>
          <a:blip r:embed="rId2"/>
          <a:stretch>
            <a:fillRect/>
          </a:stretch>
        </p:blipFill>
        <p:spPr>
          <a:xfrm>
            <a:off x="4818888" y="1316736"/>
            <a:ext cx="137160" cy="137160"/>
          </a:xfrm>
          <a:prstGeom prst="rect">
            <a:avLst/>
          </a:prstGeom>
        </p:spPr>
      </p:pic>
      <p:sp>
        <p:nvSpPr>
          <p:cNvPr id="13" name="Text 9"/>
          <p:cNvSpPr txBox="1"/>
          <p:nvPr/>
        </p:nvSpPr>
        <p:spPr>
          <a:xfrm>
            <a:off x="5010912" y="1243584"/>
            <a:ext cx="1737360" cy="283464"/>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P&amp;L reporting</a:t>
            </a:r>
            <a:endParaRPr lang="en-US" sz="950" dirty="0"/>
          </a:p>
        </p:txBody>
      </p:sp>
      <p:sp>
        <p:nvSpPr>
          <p:cNvPr id="14" name="Shape 10"/>
          <p:cNvSpPr/>
          <p:nvPr/>
        </p:nvSpPr>
        <p:spPr>
          <a:xfrm>
            <a:off x="6922008" y="1243584"/>
            <a:ext cx="2075688" cy="283464"/>
          </a:xfrm>
          <a:prstGeom prst="roundRect">
            <a:avLst>
              <a:gd name="adj" fmla="val 48387"/>
            </a:avLst>
          </a:prstGeom>
          <a:solidFill>
            <a:srgbClr val="DCE9F7"/>
          </a:solidFill>
          <a:ln w="9525">
            <a:solidFill>
              <a:srgbClr val="C8D8EC"/>
            </a:solidFill>
            <a:prstDash val="solid"/>
          </a:ln>
        </p:spPr>
      </p:sp>
      <p:pic>
        <p:nvPicPr>
          <p:cNvPr id="15" name="Image 2" descr="preencoded.png">    </p:cNvPr>
          <p:cNvPicPr>
            <a:picLocks noChangeAspect="1"/>
          </p:cNvPicPr>
          <p:nvPr/>
        </p:nvPicPr>
        <p:blipFill>
          <a:blip r:embed="rId3"/>
          <a:stretch>
            <a:fillRect/>
          </a:stretch>
        </p:blipFill>
        <p:spPr>
          <a:xfrm>
            <a:off x="7031736" y="1316736"/>
            <a:ext cx="137160" cy="137160"/>
          </a:xfrm>
          <a:prstGeom prst="rect">
            <a:avLst/>
          </a:prstGeom>
        </p:spPr>
      </p:pic>
      <p:sp>
        <p:nvSpPr>
          <p:cNvPr id="16" name="Text 11"/>
          <p:cNvSpPr txBox="1"/>
          <p:nvPr/>
        </p:nvSpPr>
        <p:spPr>
          <a:xfrm>
            <a:off x="7223760" y="1243584"/>
            <a:ext cx="1737360" cy="283464"/>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Balance sheet</a:t>
            </a:r>
            <a:endParaRPr lang="en-US" sz="950" dirty="0"/>
          </a:p>
        </p:txBody>
      </p:sp>
      <p:sp>
        <p:nvSpPr>
          <p:cNvPr id="17" name="Shape 12"/>
          <p:cNvSpPr/>
          <p:nvPr/>
        </p:nvSpPr>
        <p:spPr>
          <a:xfrm>
            <a:off x="9134856" y="1243584"/>
            <a:ext cx="2075688" cy="283464"/>
          </a:xfrm>
          <a:prstGeom prst="roundRect">
            <a:avLst>
              <a:gd name="adj" fmla="val 48387"/>
            </a:avLst>
          </a:prstGeom>
          <a:solidFill>
            <a:srgbClr val="FFFFFF"/>
          </a:solidFill>
          <a:ln w="9525">
            <a:solidFill>
              <a:srgbClr val="C8D8EC"/>
            </a:solidFill>
            <a:prstDash val="solid"/>
          </a:ln>
        </p:spPr>
      </p:sp>
      <p:pic>
        <p:nvPicPr>
          <p:cNvPr id="18" name="Image 3" descr="preencoded.png">    </p:cNvPr>
          <p:cNvPicPr>
            <a:picLocks noChangeAspect="1"/>
          </p:cNvPicPr>
          <p:nvPr/>
        </p:nvPicPr>
        <p:blipFill>
          <a:blip r:embed="rId4"/>
          <a:stretch>
            <a:fillRect/>
          </a:stretch>
        </p:blipFill>
        <p:spPr>
          <a:xfrm>
            <a:off x="9244584" y="1316736"/>
            <a:ext cx="137160" cy="137160"/>
          </a:xfrm>
          <a:prstGeom prst="rect">
            <a:avLst/>
          </a:prstGeom>
        </p:spPr>
      </p:pic>
      <p:sp>
        <p:nvSpPr>
          <p:cNvPr id="19" name="Text 13"/>
          <p:cNvSpPr txBox="1"/>
          <p:nvPr/>
        </p:nvSpPr>
        <p:spPr>
          <a:xfrm>
            <a:off x="9436608" y="1243584"/>
            <a:ext cx="1737360" cy="283464"/>
          </a:xfrm>
          <a:prstGeom prst="rect">
            <a:avLst/>
          </a:prstGeom>
          <a:noFill/>
          <a:ln/>
        </p:spPr>
        <p:txBody>
          <a:bodyPr wrap="square" lIns="0" tIns="0" rIns="0" bIns="0" rtlCol="0" anchor="ctr"/>
          <a:lstStyle/>
          <a:p>
            <a:pPr indent="0" marL="0">
              <a:buNone/>
            </a:pPr>
            <a:r>
              <a:rPr lang="en-US" sz="950" i="1" dirty="0">
                <a:solidFill>
                  <a:srgbClr val="1F2D3D"/>
                </a:solidFill>
                <a:latin typeface="Calibri" pitchFamily="34" charset="0"/>
                <a:ea typeface="Calibri" pitchFamily="34" charset="-122"/>
                <a:cs typeface="Calibri" pitchFamily="34" charset="-120"/>
              </a:rPr>
              <a:t>More domains</a:t>
            </a:r>
            <a:endParaRPr lang="en-US" sz="950" dirty="0"/>
          </a:p>
        </p:txBody>
      </p:sp>
      <p:sp>
        <p:nvSpPr>
          <p:cNvPr id="20" name="Text 14"/>
          <p:cNvSpPr txBox="1"/>
          <p:nvPr/>
        </p:nvSpPr>
        <p:spPr>
          <a:xfrm>
            <a:off x="11338560" y="1216152"/>
            <a:ext cx="2852928" cy="347472"/>
          </a:xfrm>
          <a:prstGeom prst="rect">
            <a:avLst/>
          </a:prstGeom>
          <a:noFill/>
          <a:ln/>
        </p:spPr>
        <p:txBody>
          <a:bodyPr wrap="square" lIns="0" tIns="0" rIns="0" bIns="0" rtlCol="0" anchor="ctr"/>
          <a:lstStyle/>
          <a:p>
            <a:pPr indent="0" marL="0">
              <a:buNone/>
            </a:pPr>
            <a:r>
              <a:rPr lang="en-US" sz="950" i="1" dirty="0">
                <a:solidFill>
                  <a:srgbClr val="4A5A6E"/>
                </a:solidFill>
                <a:latin typeface="Calibri" pitchFamily="34" charset="0"/>
                <a:ea typeface="Calibri" pitchFamily="34" charset="-122"/>
                <a:cs typeface="Calibri" pitchFamily="34" charset="-120"/>
              </a:rPr>
              <a:t>Status: Next wave on BO consolidation</a:t>
            </a:r>
            <a:endParaRPr lang="en-US" sz="950" dirty="0"/>
          </a:p>
        </p:txBody>
      </p:sp>
      <p:sp>
        <p:nvSpPr>
          <p:cNvPr id="21" name="Shape 15"/>
          <p:cNvSpPr/>
          <p:nvPr/>
        </p:nvSpPr>
        <p:spPr>
          <a:xfrm>
            <a:off x="502920" y="1737360"/>
            <a:ext cx="2377440" cy="4480560"/>
          </a:xfrm>
          <a:prstGeom prst="roundRect">
            <a:avLst>
              <a:gd name="adj" fmla="val 2308"/>
            </a:avLst>
          </a:prstGeom>
          <a:solidFill>
            <a:srgbClr val="EEF4FB"/>
          </a:solidFill>
          <a:ln w="12700">
            <a:solidFill>
              <a:srgbClr val="1B4F93"/>
            </a:solidFill>
            <a:prstDash val="dash"/>
          </a:ln>
        </p:spPr>
      </p:sp>
      <p:sp>
        <p:nvSpPr>
          <p:cNvPr id="22" name="Text 16"/>
          <p:cNvSpPr txBox="1"/>
          <p:nvPr/>
        </p:nvSpPr>
        <p:spPr>
          <a:xfrm>
            <a:off x="621792" y="1810512"/>
            <a:ext cx="2148840" cy="192024"/>
          </a:xfrm>
          <a:prstGeom prst="rect">
            <a:avLst/>
          </a:prstGeom>
          <a:noFill/>
          <a:ln/>
        </p:spPr>
        <p:txBody>
          <a:bodyPr wrap="square" lIns="0" tIns="0" rIns="0" bIns="0" rtlCol="0" anchor="ctr"/>
          <a:lstStyle/>
          <a:p>
            <a:pPr indent="0" marL="0">
              <a:buNone/>
            </a:pPr>
            <a:r>
              <a:rPr lang="en-US" sz="900" b="1" spc="100" kern="0" dirty="0">
                <a:solidFill>
                  <a:srgbClr val="1B4F93"/>
                </a:solidFill>
                <a:latin typeface="Calibri" pitchFamily="34" charset="0"/>
                <a:ea typeface="Calibri" pitchFamily="34" charset="-122"/>
                <a:cs typeface="Calibri" pitchFamily="34" charset="-120"/>
              </a:rPr>
              <a:t>REPORT PROCESSING</a:t>
            </a:r>
            <a:endParaRPr lang="en-US" sz="900" dirty="0"/>
          </a:p>
        </p:txBody>
      </p:sp>
      <p:sp>
        <p:nvSpPr>
          <p:cNvPr id="23" name="Shape 17"/>
          <p:cNvSpPr/>
          <p:nvPr/>
        </p:nvSpPr>
        <p:spPr>
          <a:xfrm>
            <a:off x="1691640" y="6236208"/>
            <a:ext cx="0" cy="219456"/>
          </a:xfrm>
          <a:prstGeom prst="line">
            <a:avLst/>
          </a:prstGeom>
          <a:noFill/>
          <a:ln w="15875">
            <a:solidFill>
              <a:srgbClr val="6B7C93"/>
            </a:solidFill>
            <a:prstDash val="dash"/>
            <a:tailEnd type="triangle"/>
          </a:ln>
        </p:spPr>
      </p:sp>
      <p:sp>
        <p:nvSpPr>
          <p:cNvPr id="24" name="Shape 18"/>
          <p:cNvSpPr/>
          <p:nvPr/>
        </p:nvSpPr>
        <p:spPr>
          <a:xfrm>
            <a:off x="3310128" y="1737360"/>
            <a:ext cx="2377440" cy="4480560"/>
          </a:xfrm>
          <a:prstGeom prst="roundRect">
            <a:avLst>
              <a:gd name="adj" fmla="val 2308"/>
            </a:avLst>
          </a:prstGeom>
          <a:solidFill>
            <a:srgbClr val="EEF4FB"/>
          </a:solidFill>
          <a:ln w="12700">
            <a:solidFill>
              <a:srgbClr val="2A6EBB"/>
            </a:solidFill>
            <a:prstDash val="dash"/>
          </a:ln>
        </p:spPr>
      </p:sp>
      <p:sp>
        <p:nvSpPr>
          <p:cNvPr id="25" name="Text 19"/>
          <p:cNvSpPr txBox="1"/>
          <p:nvPr/>
        </p:nvSpPr>
        <p:spPr>
          <a:xfrm>
            <a:off x="3429000" y="1810512"/>
            <a:ext cx="2148840" cy="192024"/>
          </a:xfrm>
          <a:prstGeom prst="rect">
            <a:avLst/>
          </a:prstGeom>
          <a:noFill/>
          <a:ln/>
        </p:spPr>
        <p:txBody>
          <a:bodyPr wrap="square" lIns="0" tIns="0" rIns="0" bIns="0" rtlCol="0" anchor="ctr"/>
          <a:lstStyle/>
          <a:p>
            <a:pPr indent="0" marL="0">
              <a:buNone/>
            </a:pPr>
            <a:r>
              <a:rPr lang="en-US" sz="900" b="1" spc="100" kern="0" dirty="0">
                <a:solidFill>
                  <a:srgbClr val="2A6EBB"/>
                </a:solidFill>
                <a:latin typeface="Calibri" pitchFamily="34" charset="0"/>
                <a:ea typeface="Calibri" pitchFamily="34" charset="-122"/>
                <a:cs typeface="Calibri" pitchFamily="34" charset="-120"/>
              </a:rPr>
              <a:t>EVENTS &amp; READINESS</a:t>
            </a:r>
            <a:endParaRPr lang="en-US" sz="900" dirty="0"/>
          </a:p>
        </p:txBody>
      </p:sp>
      <p:sp>
        <p:nvSpPr>
          <p:cNvPr id="26" name="Shape 20"/>
          <p:cNvSpPr/>
          <p:nvPr/>
        </p:nvSpPr>
        <p:spPr>
          <a:xfrm>
            <a:off x="4498848" y="6236208"/>
            <a:ext cx="0" cy="219456"/>
          </a:xfrm>
          <a:prstGeom prst="line">
            <a:avLst/>
          </a:prstGeom>
          <a:noFill/>
          <a:ln w="15875">
            <a:solidFill>
              <a:srgbClr val="6B7C93"/>
            </a:solidFill>
            <a:prstDash val="dash"/>
            <a:tailEnd type="triangle"/>
          </a:ln>
        </p:spPr>
      </p:sp>
      <p:sp>
        <p:nvSpPr>
          <p:cNvPr id="27" name="Shape 21"/>
          <p:cNvSpPr/>
          <p:nvPr/>
        </p:nvSpPr>
        <p:spPr>
          <a:xfrm>
            <a:off x="6126480" y="1737360"/>
            <a:ext cx="2377440" cy="4480560"/>
          </a:xfrm>
          <a:prstGeom prst="roundRect">
            <a:avLst>
              <a:gd name="adj" fmla="val 2308"/>
            </a:avLst>
          </a:prstGeom>
          <a:solidFill>
            <a:srgbClr val="EDF7F2"/>
          </a:solidFill>
          <a:ln w="12700">
            <a:solidFill>
              <a:srgbClr val="1E8A5A"/>
            </a:solidFill>
            <a:prstDash val="dash"/>
          </a:ln>
        </p:spPr>
      </p:sp>
      <p:sp>
        <p:nvSpPr>
          <p:cNvPr id="28" name="Text 22"/>
          <p:cNvSpPr txBox="1"/>
          <p:nvPr/>
        </p:nvSpPr>
        <p:spPr>
          <a:xfrm>
            <a:off x="6245352" y="1810512"/>
            <a:ext cx="2148840" cy="192024"/>
          </a:xfrm>
          <a:prstGeom prst="rect">
            <a:avLst/>
          </a:prstGeom>
          <a:noFill/>
          <a:ln/>
        </p:spPr>
        <p:txBody>
          <a:bodyPr wrap="square" lIns="0" tIns="0" rIns="0" bIns="0" rtlCol="0" anchor="ctr"/>
          <a:lstStyle/>
          <a:p>
            <a:pPr indent="0" marL="0">
              <a:buNone/>
            </a:pPr>
            <a:r>
              <a:rPr lang="en-US" sz="900" b="1" spc="100" kern="0" dirty="0">
                <a:solidFill>
                  <a:srgbClr val="1E8A5A"/>
                </a:solidFill>
                <a:latin typeface="Calibri" pitchFamily="34" charset="0"/>
                <a:ea typeface="Calibri" pitchFamily="34" charset="-122"/>
                <a:cs typeface="Calibri" pitchFamily="34" charset="-120"/>
              </a:rPr>
              <a:t>ORCHESTRATION</a:t>
            </a:r>
            <a:endParaRPr lang="en-US" sz="900" dirty="0"/>
          </a:p>
        </p:txBody>
      </p:sp>
      <p:sp>
        <p:nvSpPr>
          <p:cNvPr id="29" name="Shape 23"/>
          <p:cNvSpPr/>
          <p:nvPr/>
        </p:nvSpPr>
        <p:spPr>
          <a:xfrm>
            <a:off x="7315200" y="6236208"/>
            <a:ext cx="0" cy="219456"/>
          </a:xfrm>
          <a:prstGeom prst="line">
            <a:avLst/>
          </a:prstGeom>
          <a:noFill/>
          <a:ln w="15875">
            <a:solidFill>
              <a:srgbClr val="6B7C93"/>
            </a:solidFill>
            <a:prstDash val="dash"/>
            <a:tailEnd type="triangle"/>
          </a:ln>
        </p:spPr>
      </p:sp>
      <p:sp>
        <p:nvSpPr>
          <p:cNvPr id="30" name="Shape 24"/>
          <p:cNvSpPr/>
          <p:nvPr/>
        </p:nvSpPr>
        <p:spPr>
          <a:xfrm>
            <a:off x="8933688" y="1737360"/>
            <a:ext cx="2377440" cy="4480560"/>
          </a:xfrm>
          <a:prstGeom prst="roundRect">
            <a:avLst>
              <a:gd name="adj" fmla="val 2308"/>
            </a:avLst>
          </a:prstGeom>
          <a:solidFill>
            <a:srgbClr val="F3F1FB"/>
          </a:solidFill>
          <a:ln w="12700">
            <a:solidFill>
              <a:srgbClr val="5B4FA8"/>
            </a:solidFill>
            <a:prstDash val="dash"/>
          </a:ln>
        </p:spPr>
      </p:sp>
      <p:sp>
        <p:nvSpPr>
          <p:cNvPr id="31" name="Text 25"/>
          <p:cNvSpPr txBox="1"/>
          <p:nvPr/>
        </p:nvSpPr>
        <p:spPr>
          <a:xfrm>
            <a:off x="9052560" y="1810512"/>
            <a:ext cx="2148840" cy="192024"/>
          </a:xfrm>
          <a:prstGeom prst="rect">
            <a:avLst/>
          </a:prstGeom>
          <a:noFill/>
          <a:ln/>
        </p:spPr>
        <p:txBody>
          <a:bodyPr wrap="square" lIns="0" tIns="0" rIns="0" bIns="0" rtlCol="0" anchor="ctr"/>
          <a:lstStyle/>
          <a:p>
            <a:pPr indent="0" marL="0">
              <a:buNone/>
            </a:pPr>
            <a:r>
              <a:rPr lang="en-US" sz="900" b="1" spc="100" kern="0" dirty="0">
                <a:solidFill>
                  <a:srgbClr val="5B4FA8"/>
                </a:solidFill>
                <a:latin typeface="Calibri" pitchFamily="34" charset="0"/>
                <a:ea typeface="Calibri" pitchFamily="34" charset="-122"/>
                <a:cs typeface="Calibri" pitchFamily="34" charset="-120"/>
              </a:rPr>
              <a:t>AI REASONING</a:t>
            </a:r>
            <a:endParaRPr lang="en-US" sz="900" dirty="0"/>
          </a:p>
        </p:txBody>
      </p:sp>
      <p:sp>
        <p:nvSpPr>
          <p:cNvPr id="32" name="Shape 26"/>
          <p:cNvSpPr/>
          <p:nvPr/>
        </p:nvSpPr>
        <p:spPr>
          <a:xfrm>
            <a:off x="10122408" y="6236208"/>
            <a:ext cx="0" cy="219456"/>
          </a:xfrm>
          <a:prstGeom prst="line">
            <a:avLst/>
          </a:prstGeom>
          <a:noFill/>
          <a:ln w="15875">
            <a:solidFill>
              <a:srgbClr val="6B7C93"/>
            </a:solidFill>
            <a:prstDash val="dash"/>
            <a:tailEnd type="triangle"/>
          </a:ln>
        </p:spPr>
      </p:sp>
      <p:sp>
        <p:nvSpPr>
          <p:cNvPr id="33" name="Shape 27"/>
          <p:cNvSpPr/>
          <p:nvPr/>
        </p:nvSpPr>
        <p:spPr>
          <a:xfrm>
            <a:off x="11740896" y="1737360"/>
            <a:ext cx="2377440" cy="4480560"/>
          </a:xfrm>
          <a:prstGeom prst="roundRect">
            <a:avLst>
              <a:gd name="adj" fmla="val 2308"/>
            </a:avLst>
          </a:prstGeom>
          <a:solidFill>
            <a:srgbClr val="EEF4FB"/>
          </a:solidFill>
          <a:ln w="12700">
            <a:solidFill>
              <a:srgbClr val="1F6FB5"/>
            </a:solidFill>
            <a:prstDash val="dash"/>
          </a:ln>
        </p:spPr>
      </p:sp>
      <p:sp>
        <p:nvSpPr>
          <p:cNvPr id="34" name="Text 28"/>
          <p:cNvSpPr txBox="1"/>
          <p:nvPr/>
        </p:nvSpPr>
        <p:spPr>
          <a:xfrm>
            <a:off x="11859768" y="1810512"/>
            <a:ext cx="2148840" cy="192024"/>
          </a:xfrm>
          <a:prstGeom prst="rect">
            <a:avLst/>
          </a:prstGeom>
          <a:noFill/>
          <a:ln/>
        </p:spPr>
        <p:txBody>
          <a:bodyPr wrap="square" lIns="0" tIns="0" rIns="0" bIns="0" rtlCol="0" anchor="ctr"/>
          <a:lstStyle/>
          <a:p>
            <a:pPr indent="0" marL="0">
              <a:buNone/>
            </a:pPr>
            <a:r>
              <a:rPr lang="en-US" sz="900" b="1" spc="100" kern="0" dirty="0">
                <a:solidFill>
                  <a:srgbClr val="1F6FB5"/>
                </a:solidFill>
                <a:latin typeface="Calibri" pitchFamily="34" charset="0"/>
                <a:ea typeface="Calibri" pitchFamily="34" charset="-122"/>
                <a:cs typeface="Calibri" pitchFamily="34" charset="-120"/>
              </a:rPr>
              <a:t>OWNER EXPERIENCE</a:t>
            </a:r>
            <a:endParaRPr lang="en-US" sz="900" dirty="0"/>
          </a:p>
        </p:txBody>
      </p:sp>
      <p:sp>
        <p:nvSpPr>
          <p:cNvPr id="35" name="Shape 29"/>
          <p:cNvSpPr/>
          <p:nvPr/>
        </p:nvSpPr>
        <p:spPr>
          <a:xfrm>
            <a:off x="12929616" y="6236208"/>
            <a:ext cx="0" cy="219456"/>
          </a:xfrm>
          <a:prstGeom prst="line">
            <a:avLst/>
          </a:prstGeom>
          <a:noFill/>
          <a:ln w="15875">
            <a:solidFill>
              <a:srgbClr val="6B7C93"/>
            </a:solidFill>
            <a:prstDash val="dash"/>
            <a:tailEnd type="triangle"/>
          </a:ln>
        </p:spPr>
      </p:sp>
      <p:sp>
        <p:nvSpPr>
          <p:cNvPr id="36" name="Shape 30"/>
          <p:cNvSpPr/>
          <p:nvPr/>
        </p:nvSpPr>
        <p:spPr>
          <a:xfrm>
            <a:off x="932688" y="2212848"/>
            <a:ext cx="1527048" cy="1426464"/>
          </a:xfrm>
          <a:prstGeom prst="roundRect">
            <a:avLst>
              <a:gd name="adj" fmla="val 5128"/>
            </a:avLst>
          </a:prstGeom>
          <a:solidFill>
            <a:srgbClr val="FFFFFF"/>
          </a:solidFill>
          <a:ln w="9525">
            <a:solidFill>
              <a:srgbClr val="C8D8EC"/>
            </a:solidFill>
            <a:prstDash val="solid"/>
          </a:ln>
        </p:spPr>
      </p:sp>
      <p:sp>
        <p:nvSpPr>
          <p:cNvPr id="37" name="Shape 31"/>
          <p:cNvSpPr/>
          <p:nvPr/>
        </p:nvSpPr>
        <p:spPr>
          <a:xfrm>
            <a:off x="1431036" y="2322576"/>
            <a:ext cx="530352" cy="530352"/>
          </a:xfrm>
          <a:prstGeom prst="roundRect">
            <a:avLst>
              <a:gd name="adj" fmla="val 17241"/>
            </a:avLst>
          </a:prstGeom>
          <a:solidFill>
            <a:srgbClr val="1B4F93"/>
          </a:solidFill>
          <a:ln w="12700">
            <a:solidFill>
              <a:srgbClr val="1B4F93"/>
            </a:solidFill>
            <a:prstDash val="solid"/>
          </a:ln>
        </p:spPr>
      </p:sp>
      <p:pic>
        <p:nvPicPr>
          <p:cNvPr id="38" name="Image 4" descr="preencoded.png">    </p:cNvPr>
          <p:cNvPicPr>
            <a:picLocks noChangeAspect="1"/>
          </p:cNvPicPr>
          <p:nvPr/>
        </p:nvPicPr>
        <p:blipFill>
          <a:blip r:embed="rId5"/>
          <a:stretch>
            <a:fillRect/>
          </a:stretch>
        </p:blipFill>
        <p:spPr>
          <a:xfrm>
            <a:off x="1547713" y="2439253"/>
            <a:ext cx="296997" cy="296997"/>
          </a:xfrm>
          <a:prstGeom prst="rect">
            <a:avLst/>
          </a:prstGeom>
        </p:spPr>
      </p:pic>
      <p:sp>
        <p:nvSpPr>
          <p:cNvPr id="39" name="Text 32"/>
          <p:cNvSpPr txBox="1"/>
          <p:nvPr/>
        </p:nvSpPr>
        <p:spPr>
          <a:xfrm>
            <a:off x="978408"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Report Generation</a:t>
            </a:r>
            <a:endParaRPr lang="en-US" sz="1200" dirty="0"/>
          </a:p>
        </p:txBody>
      </p:sp>
      <p:sp>
        <p:nvSpPr>
          <p:cNvPr id="40" name="Text 33"/>
          <p:cNvSpPr txBox="1"/>
          <p:nvPr/>
        </p:nvSpPr>
        <p:spPr>
          <a:xfrm>
            <a:off x="1005840"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BO and reporting outputs per cycle</a:t>
            </a:r>
            <a:endParaRPr lang="en-US" sz="900" dirty="0"/>
          </a:p>
        </p:txBody>
      </p:sp>
      <p:sp>
        <p:nvSpPr>
          <p:cNvPr id="41" name="Shape 34"/>
          <p:cNvSpPr/>
          <p:nvPr/>
        </p:nvSpPr>
        <p:spPr>
          <a:xfrm>
            <a:off x="3739896" y="2212848"/>
            <a:ext cx="1527048" cy="1426464"/>
          </a:xfrm>
          <a:prstGeom prst="roundRect">
            <a:avLst>
              <a:gd name="adj" fmla="val 5128"/>
            </a:avLst>
          </a:prstGeom>
          <a:solidFill>
            <a:srgbClr val="FFFFFF"/>
          </a:solidFill>
          <a:ln w="9525">
            <a:solidFill>
              <a:srgbClr val="C8D8EC"/>
            </a:solidFill>
            <a:prstDash val="solid"/>
          </a:ln>
        </p:spPr>
      </p:sp>
      <p:sp>
        <p:nvSpPr>
          <p:cNvPr id="42" name="Shape 35"/>
          <p:cNvSpPr/>
          <p:nvPr/>
        </p:nvSpPr>
        <p:spPr>
          <a:xfrm>
            <a:off x="4238244" y="2322576"/>
            <a:ext cx="530352" cy="530352"/>
          </a:xfrm>
          <a:prstGeom prst="roundRect">
            <a:avLst>
              <a:gd name="adj" fmla="val 17241"/>
            </a:avLst>
          </a:prstGeom>
          <a:solidFill>
            <a:srgbClr val="2A6EBB"/>
          </a:solidFill>
          <a:ln w="12700">
            <a:solidFill>
              <a:srgbClr val="2A6EBB"/>
            </a:solidFill>
            <a:prstDash val="solid"/>
          </a:ln>
        </p:spPr>
      </p:sp>
      <p:pic>
        <p:nvPicPr>
          <p:cNvPr id="43" name="Image 5" descr="preencoded.png">    </p:cNvPr>
          <p:cNvPicPr>
            <a:picLocks noChangeAspect="1"/>
          </p:cNvPicPr>
          <p:nvPr/>
        </p:nvPicPr>
        <p:blipFill>
          <a:blip r:embed="rId6"/>
          <a:stretch>
            <a:fillRect/>
          </a:stretch>
        </p:blipFill>
        <p:spPr>
          <a:xfrm>
            <a:off x="4354921" y="2439253"/>
            <a:ext cx="296997" cy="296997"/>
          </a:xfrm>
          <a:prstGeom prst="rect">
            <a:avLst/>
          </a:prstGeom>
        </p:spPr>
      </p:pic>
      <p:sp>
        <p:nvSpPr>
          <p:cNvPr id="44" name="Text 36"/>
          <p:cNvSpPr txBox="1"/>
          <p:nvPr/>
        </p:nvSpPr>
        <p:spPr>
          <a:xfrm>
            <a:off x="3785616"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One Fin UX</a:t>
            </a:r>
            <a:endParaRPr lang="en-US" sz="1200" dirty="0"/>
          </a:p>
        </p:txBody>
      </p:sp>
      <p:sp>
        <p:nvSpPr>
          <p:cNvPr id="45" name="Text 37"/>
          <p:cNvSpPr txBox="1"/>
          <p:nvPr/>
        </p:nvSpPr>
        <p:spPr>
          <a:xfrm>
            <a:off x="3813048"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Event hub and outcome per report set</a:t>
            </a:r>
            <a:endParaRPr lang="en-US" sz="900" dirty="0"/>
          </a:p>
        </p:txBody>
      </p:sp>
      <p:sp>
        <p:nvSpPr>
          <p:cNvPr id="46" name="Shape 38"/>
          <p:cNvSpPr/>
          <p:nvPr/>
        </p:nvSpPr>
        <p:spPr>
          <a:xfrm>
            <a:off x="6556248" y="2212848"/>
            <a:ext cx="1527048" cy="1426464"/>
          </a:xfrm>
          <a:prstGeom prst="roundRect">
            <a:avLst>
              <a:gd name="adj" fmla="val 5128"/>
            </a:avLst>
          </a:prstGeom>
          <a:solidFill>
            <a:srgbClr val="FFFFFF"/>
          </a:solidFill>
          <a:ln w="9525">
            <a:solidFill>
              <a:srgbClr val="C8D8EC"/>
            </a:solidFill>
            <a:prstDash val="solid"/>
          </a:ln>
        </p:spPr>
      </p:sp>
      <p:sp>
        <p:nvSpPr>
          <p:cNvPr id="47" name="Shape 39"/>
          <p:cNvSpPr/>
          <p:nvPr/>
        </p:nvSpPr>
        <p:spPr>
          <a:xfrm>
            <a:off x="7054596" y="2322576"/>
            <a:ext cx="530352" cy="530352"/>
          </a:xfrm>
          <a:prstGeom prst="roundRect">
            <a:avLst>
              <a:gd name="adj" fmla="val 17241"/>
            </a:avLst>
          </a:prstGeom>
          <a:solidFill>
            <a:srgbClr val="1E8A5A"/>
          </a:solidFill>
          <a:ln w="12700">
            <a:solidFill>
              <a:srgbClr val="1E8A5A"/>
            </a:solidFill>
            <a:prstDash val="solid"/>
          </a:ln>
        </p:spPr>
      </p:sp>
      <p:pic>
        <p:nvPicPr>
          <p:cNvPr id="48" name="Image 6" descr="preencoded.png">    </p:cNvPr>
          <p:cNvPicPr>
            <a:picLocks noChangeAspect="1"/>
          </p:cNvPicPr>
          <p:nvPr/>
        </p:nvPicPr>
        <p:blipFill>
          <a:blip r:embed="rId7"/>
          <a:stretch>
            <a:fillRect/>
          </a:stretch>
        </p:blipFill>
        <p:spPr>
          <a:xfrm>
            <a:off x="7171273" y="2439253"/>
            <a:ext cx="296997" cy="296997"/>
          </a:xfrm>
          <a:prstGeom prst="rect">
            <a:avLst/>
          </a:prstGeom>
        </p:spPr>
      </p:pic>
      <p:sp>
        <p:nvSpPr>
          <p:cNvPr id="49" name="Text 40"/>
          <p:cNvSpPr txBox="1"/>
          <p:nvPr/>
        </p:nvSpPr>
        <p:spPr>
          <a:xfrm>
            <a:off x="6601968"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Validation Agent</a:t>
            </a:r>
            <a:endParaRPr lang="en-US" sz="1200" dirty="0"/>
          </a:p>
        </p:txBody>
      </p:sp>
      <p:sp>
        <p:nvSpPr>
          <p:cNvPr id="50" name="Text 41"/>
          <p:cNvSpPr txBox="1"/>
          <p:nvPr/>
        </p:nvSpPr>
        <p:spPr>
          <a:xfrm>
            <a:off x="6629400"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Orchestrates validation per report set</a:t>
            </a:r>
            <a:endParaRPr lang="en-US" sz="900" dirty="0"/>
          </a:p>
        </p:txBody>
      </p:sp>
      <p:sp>
        <p:nvSpPr>
          <p:cNvPr id="51" name="Shape 42"/>
          <p:cNvSpPr/>
          <p:nvPr/>
        </p:nvSpPr>
        <p:spPr>
          <a:xfrm>
            <a:off x="9363456" y="2212848"/>
            <a:ext cx="1527048" cy="1426464"/>
          </a:xfrm>
          <a:prstGeom prst="roundRect">
            <a:avLst>
              <a:gd name="adj" fmla="val 5128"/>
            </a:avLst>
          </a:prstGeom>
          <a:solidFill>
            <a:srgbClr val="FFFFFF"/>
          </a:solidFill>
          <a:ln w="9525">
            <a:solidFill>
              <a:srgbClr val="C8D8EC"/>
            </a:solidFill>
            <a:prstDash val="solid"/>
          </a:ln>
        </p:spPr>
      </p:sp>
      <p:sp>
        <p:nvSpPr>
          <p:cNvPr id="52" name="Shape 43"/>
          <p:cNvSpPr/>
          <p:nvPr/>
        </p:nvSpPr>
        <p:spPr>
          <a:xfrm>
            <a:off x="9861804" y="2322576"/>
            <a:ext cx="530352" cy="530352"/>
          </a:xfrm>
          <a:prstGeom prst="roundRect">
            <a:avLst>
              <a:gd name="adj" fmla="val 17241"/>
            </a:avLst>
          </a:prstGeom>
          <a:solidFill>
            <a:srgbClr val="5B4FA8"/>
          </a:solidFill>
          <a:ln w="12700">
            <a:solidFill>
              <a:srgbClr val="5B4FA8"/>
            </a:solidFill>
            <a:prstDash val="solid"/>
          </a:ln>
        </p:spPr>
      </p:sp>
      <p:pic>
        <p:nvPicPr>
          <p:cNvPr id="53" name="Image 7" descr="preencoded.png">    </p:cNvPr>
          <p:cNvPicPr>
            <a:picLocks noChangeAspect="1"/>
          </p:cNvPicPr>
          <p:nvPr/>
        </p:nvPicPr>
        <p:blipFill>
          <a:blip r:embed="rId8"/>
          <a:stretch>
            <a:fillRect/>
          </a:stretch>
        </p:blipFill>
        <p:spPr>
          <a:xfrm>
            <a:off x="9978481" y="2439253"/>
            <a:ext cx="296997" cy="296997"/>
          </a:xfrm>
          <a:prstGeom prst="rect">
            <a:avLst/>
          </a:prstGeom>
        </p:spPr>
      </p:pic>
      <p:sp>
        <p:nvSpPr>
          <p:cNvPr id="54" name="Text 44"/>
          <p:cNvSpPr txBox="1"/>
          <p:nvPr/>
        </p:nvSpPr>
        <p:spPr>
          <a:xfrm>
            <a:off x="9409176"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Agent One</a:t>
            </a:r>
            <a:endParaRPr lang="en-US" sz="1200" dirty="0"/>
          </a:p>
        </p:txBody>
      </p:sp>
      <p:sp>
        <p:nvSpPr>
          <p:cNvPr id="55" name="Text 45"/>
          <p:cNvSpPr txBox="1"/>
          <p:nvPr/>
        </p:nvSpPr>
        <p:spPr>
          <a:xfrm>
            <a:off x="9436608"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Tie-out to TB, anomalies, explain changes</a:t>
            </a:r>
            <a:endParaRPr lang="en-US" sz="900" dirty="0"/>
          </a:p>
        </p:txBody>
      </p:sp>
      <p:sp>
        <p:nvSpPr>
          <p:cNvPr id="56" name="Shape 46"/>
          <p:cNvSpPr/>
          <p:nvPr/>
        </p:nvSpPr>
        <p:spPr>
          <a:xfrm>
            <a:off x="12170664" y="2212848"/>
            <a:ext cx="1527048" cy="1426464"/>
          </a:xfrm>
          <a:prstGeom prst="roundRect">
            <a:avLst>
              <a:gd name="adj" fmla="val 5128"/>
            </a:avLst>
          </a:prstGeom>
          <a:solidFill>
            <a:srgbClr val="FFFFFF"/>
          </a:solidFill>
          <a:ln w="9525">
            <a:solidFill>
              <a:srgbClr val="C8D8EC"/>
            </a:solidFill>
            <a:prstDash val="solid"/>
          </a:ln>
        </p:spPr>
      </p:sp>
      <p:sp>
        <p:nvSpPr>
          <p:cNvPr id="57" name="Shape 47"/>
          <p:cNvSpPr/>
          <p:nvPr/>
        </p:nvSpPr>
        <p:spPr>
          <a:xfrm>
            <a:off x="12669012" y="2322576"/>
            <a:ext cx="530352" cy="530352"/>
          </a:xfrm>
          <a:prstGeom prst="roundRect">
            <a:avLst>
              <a:gd name="adj" fmla="val 17241"/>
            </a:avLst>
          </a:prstGeom>
          <a:solidFill>
            <a:srgbClr val="1F6FB5"/>
          </a:solidFill>
          <a:ln w="12700">
            <a:solidFill>
              <a:srgbClr val="1F6FB5"/>
            </a:solidFill>
            <a:prstDash val="solid"/>
          </a:ln>
        </p:spPr>
      </p:sp>
      <p:pic>
        <p:nvPicPr>
          <p:cNvPr id="58" name="Image 8" descr="preencoded.png">    </p:cNvPr>
          <p:cNvPicPr>
            <a:picLocks noChangeAspect="1"/>
          </p:cNvPicPr>
          <p:nvPr/>
        </p:nvPicPr>
        <p:blipFill>
          <a:blip r:embed="rId9"/>
          <a:stretch>
            <a:fillRect/>
          </a:stretch>
        </p:blipFill>
        <p:spPr>
          <a:xfrm>
            <a:off x="12785689" y="2439253"/>
            <a:ext cx="296997" cy="296997"/>
          </a:xfrm>
          <a:prstGeom prst="rect">
            <a:avLst/>
          </a:prstGeom>
        </p:spPr>
      </p:pic>
      <p:sp>
        <p:nvSpPr>
          <p:cNvPr id="59" name="Text 48"/>
          <p:cNvSpPr txBox="1"/>
          <p:nvPr/>
        </p:nvSpPr>
        <p:spPr>
          <a:xfrm>
            <a:off x="12216384"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Report Workbench</a:t>
            </a:r>
            <a:endParaRPr lang="en-US" sz="1200" dirty="0"/>
          </a:p>
        </p:txBody>
      </p:sp>
      <p:sp>
        <p:nvSpPr>
          <p:cNvPr id="60" name="Text 49"/>
          <p:cNvSpPr txBox="1"/>
          <p:nvPr/>
        </p:nvSpPr>
        <p:spPr>
          <a:xfrm>
            <a:off x="12243816"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Validation results and chat</a:t>
            </a:r>
            <a:endParaRPr lang="en-US" sz="900" dirty="0"/>
          </a:p>
        </p:txBody>
      </p:sp>
      <p:sp>
        <p:nvSpPr>
          <p:cNvPr id="61" name="Shape 50"/>
          <p:cNvSpPr/>
          <p:nvPr/>
        </p:nvSpPr>
        <p:spPr>
          <a:xfrm>
            <a:off x="932688" y="4645152"/>
            <a:ext cx="1527048" cy="1261872"/>
          </a:xfrm>
          <a:prstGeom prst="roundRect">
            <a:avLst>
              <a:gd name="adj" fmla="val 5797"/>
            </a:avLst>
          </a:prstGeom>
          <a:solidFill>
            <a:srgbClr val="FFFFFF"/>
          </a:solidFill>
          <a:ln w="9525">
            <a:solidFill>
              <a:srgbClr val="C8D8EC"/>
            </a:solidFill>
            <a:prstDash val="solid"/>
          </a:ln>
        </p:spPr>
      </p:sp>
      <p:sp>
        <p:nvSpPr>
          <p:cNvPr id="62" name="Shape 51"/>
          <p:cNvSpPr/>
          <p:nvPr/>
        </p:nvSpPr>
        <p:spPr>
          <a:xfrm>
            <a:off x="1431036" y="4754880"/>
            <a:ext cx="530352" cy="530352"/>
          </a:xfrm>
          <a:prstGeom prst="roundRect">
            <a:avLst>
              <a:gd name="adj" fmla="val 17241"/>
            </a:avLst>
          </a:prstGeom>
          <a:solidFill>
            <a:srgbClr val="4F7BB5"/>
          </a:solidFill>
          <a:ln w="12700">
            <a:solidFill>
              <a:srgbClr val="4F7BB5"/>
            </a:solidFill>
            <a:prstDash val="solid"/>
          </a:ln>
        </p:spPr>
      </p:sp>
      <p:pic>
        <p:nvPicPr>
          <p:cNvPr id="63" name="Image 9" descr="preencoded.png">    </p:cNvPr>
          <p:cNvPicPr>
            <a:picLocks noChangeAspect="1"/>
          </p:cNvPicPr>
          <p:nvPr/>
        </p:nvPicPr>
        <p:blipFill>
          <a:blip r:embed="rId10"/>
          <a:stretch>
            <a:fillRect/>
          </a:stretch>
        </p:blipFill>
        <p:spPr>
          <a:xfrm>
            <a:off x="1547713" y="4871557"/>
            <a:ext cx="296997" cy="296997"/>
          </a:xfrm>
          <a:prstGeom prst="rect">
            <a:avLst/>
          </a:prstGeom>
        </p:spPr>
      </p:pic>
      <p:sp>
        <p:nvSpPr>
          <p:cNvPr id="64" name="Text 52"/>
          <p:cNvSpPr txBox="1"/>
          <p:nvPr/>
        </p:nvSpPr>
        <p:spPr>
          <a:xfrm>
            <a:off x="978408" y="5349240"/>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BO Estate</a:t>
            </a:r>
            <a:endParaRPr lang="en-US" sz="1200" dirty="0"/>
          </a:p>
        </p:txBody>
      </p:sp>
      <p:sp>
        <p:nvSpPr>
          <p:cNvPr id="65" name="Text 53"/>
          <p:cNvSpPr txBox="1"/>
          <p:nvPr/>
        </p:nvSpPr>
        <p:spPr>
          <a:xfrm>
            <a:off x="1005840" y="5559552"/>
            <a:ext cx="1380744"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Consolidated from ~2,500 to ~400-500</a:t>
            </a:r>
            <a:endParaRPr lang="en-US" sz="900" dirty="0"/>
          </a:p>
        </p:txBody>
      </p:sp>
      <p:sp>
        <p:nvSpPr>
          <p:cNvPr id="66" name="Shape 54"/>
          <p:cNvSpPr/>
          <p:nvPr/>
        </p:nvSpPr>
        <p:spPr>
          <a:xfrm>
            <a:off x="3739896" y="4645152"/>
            <a:ext cx="1527048" cy="1261872"/>
          </a:xfrm>
          <a:prstGeom prst="roundRect">
            <a:avLst>
              <a:gd name="adj" fmla="val 5797"/>
            </a:avLst>
          </a:prstGeom>
          <a:solidFill>
            <a:srgbClr val="FFFFFF"/>
          </a:solidFill>
          <a:ln w="9525">
            <a:solidFill>
              <a:srgbClr val="C8D8EC"/>
            </a:solidFill>
            <a:prstDash val="solid"/>
          </a:ln>
        </p:spPr>
      </p:sp>
      <p:sp>
        <p:nvSpPr>
          <p:cNvPr id="67" name="Shape 55"/>
          <p:cNvSpPr/>
          <p:nvPr/>
        </p:nvSpPr>
        <p:spPr>
          <a:xfrm>
            <a:off x="4238244" y="4754880"/>
            <a:ext cx="530352" cy="530352"/>
          </a:xfrm>
          <a:prstGeom prst="roundRect">
            <a:avLst>
              <a:gd name="adj" fmla="val 17241"/>
            </a:avLst>
          </a:prstGeom>
          <a:solidFill>
            <a:srgbClr val="3F86C8"/>
          </a:solidFill>
          <a:ln w="12700">
            <a:solidFill>
              <a:srgbClr val="3F86C8"/>
            </a:solidFill>
            <a:prstDash val="solid"/>
          </a:ln>
        </p:spPr>
      </p:sp>
      <p:pic>
        <p:nvPicPr>
          <p:cNvPr id="68" name="Image 10" descr="preencoded.png">    </p:cNvPr>
          <p:cNvPicPr>
            <a:picLocks noChangeAspect="1"/>
          </p:cNvPicPr>
          <p:nvPr/>
        </p:nvPicPr>
        <p:blipFill>
          <a:blip r:embed="rId11"/>
          <a:stretch>
            <a:fillRect/>
          </a:stretch>
        </p:blipFill>
        <p:spPr>
          <a:xfrm>
            <a:off x="4354921" y="4871557"/>
            <a:ext cx="296997" cy="296997"/>
          </a:xfrm>
          <a:prstGeom prst="rect">
            <a:avLst/>
          </a:prstGeom>
        </p:spPr>
      </p:pic>
      <p:sp>
        <p:nvSpPr>
          <p:cNvPr id="69" name="Text 56"/>
          <p:cNvSpPr txBox="1"/>
          <p:nvPr/>
        </p:nvSpPr>
        <p:spPr>
          <a:xfrm>
            <a:off x="3785616" y="5349240"/>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Business Outcome</a:t>
            </a:r>
            <a:endParaRPr lang="en-US" sz="1200" dirty="0"/>
          </a:p>
        </p:txBody>
      </p:sp>
      <p:sp>
        <p:nvSpPr>
          <p:cNvPr id="70" name="Text 57"/>
          <p:cNvSpPr txBox="1"/>
          <p:nvPr/>
        </p:nvSpPr>
        <p:spPr>
          <a:xfrm>
            <a:off x="3813048" y="5559552"/>
            <a:ext cx="1380744"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Ready when report run completes</a:t>
            </a:r>
            <a:endParaRPr lang="en-US" sz="900" dirty="0"/>
          </a:p>
        </p:txBody>
      </p:sp>
      <p:sp>
        <p:nvSpPr>
          <p:cNvPr id="71" name="Shape 58"/>
          <p:cNvSpPr/>
          <p:nvPr/>
        </p:nvSpPr>
        <p:spPr>
          <a:xfrm>
            <a:off x="6556248" y="4645152"/>
            <a:ext cx="1527048" cy="1261872"/>
          </a:xfrm>
          <a:prstGeom prst="roundRect">
            <a:avLst>
              <a:gd name="adj" fmla="val 5797"/>
            </a:avLst>
          </a:prstGeom>
          <a:solidFill>
            <a:srgbClr val="FFFFFF"/>
          </a:solidFill>
          <a:ln w="9525">
            <a:solidFill>
              <a:srgbClr val="C8D8EC"/>
            </a:solidFill>
            <a:prstDash val="solid"/>
          </a:ln>
        </p:spPr>
      </p:sp>
      <p:sp>
        <p:nvSpPr>
          <p:cNvPr id="72" name="Shape 59"/>
          <p:cNvSpPr/>
          <p:nvPr/>
        </p:nvSpPr>
        <p:spPr>
          <a:xfrm>
            <a:off x="7054596" y="4754880"/>
            <a:ext cx="530352" cy="530352"/>
          </a:xfrm>
          <a:prstGeom prst="roundRect">
            <a:avLst>
              <a:gd name="adj" fmla="val 17241"/>
            </a:avLst>
          </a:prstGeom>
          <a:solidFill>
            <a:srgbClr val="1E8A5A"/>
          </a:solidFill>
          <a:ln w="12700">
            <a:solidFill>
              <a:srgbClr val="1E8A5A"/>
            </a:solidFill>
            <a:prstDash val="solid"/>
          </a:ln>
        </p:spPr>
      </p:sp>
      <p:pic>
        <p:nvPicPr>
          <p:cNvPr id="73" name="Image 11" descr="preencoded.png">    </p:cNvPr>
          <p:cNvPicPr>
            <a:picLocks noChangeAspect="1"/>
          </p:cNvPicPr>
          <p:nvPr/>
        </p:nvPicPr>
        <p:blipFill>
          <a:blip r:embed="rId12"/>
          <a:stretch>
            <a:fillRect/>
          </a:stretch>
        </p:blipFill>
        <p:spPr>
          <a:xfrm>
            <a:off x="7171273" y="4871557"/>
            <a:ext cx="296997" cy="296997"/>
          </a:xfrm>
          <a:prstGeom prst="rect">
            <a:avLst/>
          </a:prstGeom>
        </p:spPr>
      </p:pic>
      <p:sp>
        <p:nvSpPr>
          <p:cNvPr id="74" name="Text 60"/>
          <p:cNvSpPr txBox="1"/>
          <p:nvPr/>
        </p:nvSpPr>
        <p:spPr>
          <a:xfrm>
            <a:off x="6601968" y="5349240"/>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Tie-out Engine</a:t>
            </a:r>
            <a:endParaRPr lang="en-US" sz="1200" dirty="0"/>
          </a:p>
        </p:txBody>
      </p:sp>
      <p:sp>
        <p:nvSpPr>
          <p:cNvPr id="75" name="Text 61"/>
          <p:cNvSpPr txBox="1"/>
          <p:nvPr/>
        </p:nvSpPr>
        <p:spPr>
          <a:xfrm>
            <a:off x="6629400" y="5559552"/>
            <a:ext cx="1380744"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Computes totals vs TB and prior run</a:t>
            </a:r>
            <a:endParaRPr lang="en-US" sz="900" dirty="0"/>
          </a:p>
        </p:txBody>
      </p:sp>
      <p:sp>
        <p:nvSpPr>
          <p:cNvPr id="76" name="Shape 62"/>
          <p:cNvSpPr/>
          <p:nvPr/>
        </p:nvSpPr>
        <p:spPr>
          <a:xfrm>
            <a:off x="9015984" y="4645152"/>
            <a:ext cx="1051560" cy="1261872"/>
          </a:xfrm>
          <a:prstGeom prst="roundRect">
            <a:avLst>
              <a:gd name="adj" fmla="val 6957"/>
            </a:avLst>
          </a:prstGeom>
          <a:solidFill>
            <a:srgbClr val="FFFFFF"/>
          </a:solidFill>
          <a:ln w="9525">
            <a:solidFill>
              <a:srgbClr val="C8D8EC"/>
            </a:solidFill>
            <a:prstDash val="solid"/>
          </a:ln>
        </p:spPr>
      </p:sp>
      <p:sp>
        <p:nvSpPr>
          <p:cNvPr id="77" name="Shape 63"/>
          <p:cNvSpPr/>
          <p:nvPr/>
        </p:nvSpPr>
        <p:spPr>
          <a:xfrm>
            <a:off x="9276588" y="4754880"/>
            <a:ext cx="530352" cy="530352"/>
          </a:xfrm>
          <a:prstGeom prst="roundRect">
            <a:avLst>
              <a:gd name="adj" fmla="val 17241"/>
            </a:avLst>
          </a:prstGeom>
          <a:solidFill>
            <a:srgbClr val="5B4FA8"/>
          </a:solidFill>
          <a:ln w="12700">
            <a:solidFill>
              <a:srgbClr val="5B4FA8"/>
            </a:solidFill>
            <a:prstDash val="solid"/>
          </a:ln>
        </p:spPr>
      </p:sp>
      <p:pic>
        <p:nvPicPr>
          <p:cNvPr id="78" name="Image 12" descr="preencoded.png">    </p:cNvPr>
          <p:cNvPicPr>
            <a:picLocks noChangeAspect="1"/>
          </p:cNvPicPr>
          <p:nvPr/>
        </p:nvPicPr>
        <p:blipFill>
          <a:blip r:embed="rId13"/>
          <a:stretch>
            <a:fillRect/>
          </a:stretch>
        </p:blipFill>
        <p:spPr>
          <a:xfrm>
            <a:off x="9393265" y="4871557"/>
            <a:ext cx="296997" cy="296997"/>
          </a:xfrm>
          <a:prstGeom prst="rect">
            <a:avLst/>
          </a:prstGeom>
        </p:spPr>
      </p:pic>
      <p:sp>
        <p:nvSpPr>
          <p:cNvPr id="79" name="Text 64"/>
          <p:cNvSpPr txBox="1"/>
          <p:nvPr/>
        </p:nvSpPr>
        <p:spPr>
          <a:xfrm>
            <a:off x="9061704" y="5349240"/>
            <a:ext cx="960120" cy="210312"/>
          </a:xfrm>
          <a:prstGeom prst="rect">
            <a:avLst/>
          </a:prstGeom>
          <a:noFill/>
          <a:ln/>
        </p:spPr>
        <p:txBody>
          <a:bodyPr wrap="square" lIns="0" tIns="0" rIns="0" bIns="0" rtlCol="0" anchor="ctr"/>
          <a:lstStyle/>
          <a:p>
            <a:pPr algn="ctr" indent="0" marL="0">
              <a:buNone/>
            </a:pPr>
            <a:r>
              <a:rPr lang="en-US" sz="1050" b="1" dirty="0">
                <a:solidFill>
                  <a:srgbClr val="1F2D3D"/>
                </a:solidFill>
                <a:latin typeface="Calibri" pitchFamily="34" charset="0"/>
                <a:ea typeface="Calibri" pitchFamily="34" charset="-122"/>
                <a:cs typeface="Calibri" pitchFamily="34" charset="-120"/>
              </a:rPr>
              <a:t>Data (MCP)</a:t>
            </a:r>
            <a:endParaRPr lang="en-US" sz="1050" dirty="0"/>
          </a:p>
        </p:txBody>
      </p:sp>
      <p:sp>
        <p:nvSpPr>
          <p:cNvPr id="80" name="Text 65"/>
          <p:cNvSpPr txBox="1"/>
          <p:nvPr/>
        </p:nvSpPr>
        <p:spPr>
          <a:xfrm>
            <a:off x="9089136" y="5559552"/>
            <a:ext cx="905256"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Reports, TB, prior runs</a:t>
            </a:r>
            <a:endParaRPr lang="en-US" sz="900" dirty="0"/>
          </a:p>
        </p:txBody>
      </p:sp>
      <p:sp>
        <p:nvSpPr>
          <p:cNvPr id="81" name="Shape 66"/>
          <p:cNvSpPr/>
          <p:nvPr/>
        </p:nvSpPr>
        <p:spPr>
          <a:xfrm>
            <a:off x="10149840" y="4645152"/>
            <a:ext cx="1051560" cy="1261872"/>
          </a:xfrm>
          <a:prstGeom prst="roundRect">
            <a:avLst>
              <a:gd name="adj" fmla="val 6957"/>
            </a:avLst>
          </a:prstGeom>
          <a:solidFill>
            <a:srgbClr val="FFFFFF"/>
          </a:solidFill>
          <a:ln w="9525">
            <a:solidFill>
              <a:srgbClr val="C8D8EC"/>
            </a:solidFill>
            <a:prstDash val="solid"/>
          </a:ln>
        </p:spPr>
      </p:sp>
      <p:sp>
        <p:nvSpPr>
          <p:cNvPr id="82" name="Shape 67"/>
          <p:cNvSpPr/>
          <p:nvPr/>
        </p:nvSpPr>
        <p:spPr>
          <a:xfrm>
            <a:off x="10410444" y="4754880"/>
            <a:ext cx="530352" cy="530352"/>
          </a:xfrm>
          <a:prstGeom prst="roundRect">
            <a:avLst>
              <a:gd name="adj" fmla="val 17241"/>
            </a:avLst>
          </a:prstGeom>
          <a:solidFill>
            <a:srgbClr val="C0392B"/>
          </a:solidFill>
          <a:ln w="12700">
            <a:solidFill>
              <a:srgbClr val="C0392B"/>
            </a:solidFill>
            <a:prstDash val="solid"/>
          </a:ln>
        </p:spPr>
      </p:sp>
      <p:pic>
        <p:nvPicPr>
          <p:cNvPr id="83" name="Image 13" descr="preencoded.png">    </p:cNvPr>
          <p:cNvPicPr>
            <a:picLocks noChangeAspect="1"/>
          </p:cNvPicPr>
          <p:nvPr/>
        </p:nvPicPr>
        <p:blipFill>
          <a:blip r:embed="rId14"/>
          <a:stretch>
            <a:fillRect/>
          </a:stretch>
        </p:blipFill>
        <p:spPr>
          <a:xfrm>
            <a:off x="10527121" y="4871557"/>
            <a:ext cx="296997" cy="296997"/>
          </a:xfrm>
          <a:prstGeom prst="rect">
            <a:avLst/>
          </a:prstGeom>
        </p:spPr>
      </p:pic>
      <p:sp>
        <p:nvSpPr>
          <p:cNvPr id="84" name="Text 68"/>
          <p:cNvSpPr txBox="1"/>
          <p:nvPr/>
        </p:nvSpPr>
        <p:spPr>
          <a:xfrm>
            <a:off x="10195560" y="5349240"/>
            <a:ext cx="960120" cy="210312"/>
          </a:xfrm>
          <a:prstGeom prst="rect">
            <a:avLst/>
          </a:prstGeom>
          <a:noFill/>
          <a:ln/>
        </p:spPr>
        <p:txBody>
          <a:bodyPr wrap="square" lIns="0" tIns="0" rIns="0" bIns="0" rtlCol="0" anchor="ctr"/>
          <a:lstStyle/>
          <a:p>
            <a:pPr algn="ctr" indent="0" marL="0">
              <a:buNone/>
            </a:pPr>
            <a:r>
              <a:rPr lang="en-US" sz="1050" b="1" dirty="0">
                <a:solidFill>
                  <a:srgbClr val="1F2D3D"/>
                </a:solidFill>
                <a:latin typeface="Calibri" pitchFamily="34" charset="0"/>
                <a:ea typeface="Calibri" pitchFamily="34" charset="-122"/>
                <a:cs typeface="Calibri" pitchFamily="34" charset="-120"/>
              </a:rPr>
              <a:t>Publication</a:t>
            </a:r>
            <a:endParaRPr lang="en-US" sz="1050" dirty="0"/>
          </a:p>
        </p:txBody>
      </p:sp>
      <p:sp>
        <p:nvSpPr>
          <p:cNvPr id="85" name="Text 69"/>
          <p:cNvSpPr txBox="1"/>
          <p:nvPr/>
        </p:nvSpPr>
        <p:spPr>
          <a:xfrm>
            <a:off x="10222992" y="5559552"/>
            <a:ext cx="905256"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Releases approved report</a:t>
            </a:r>
            <a:endParaRPr lang="en-US" sz="900" dirty="0"/>
          </a:p>
        </p:txBody>
      </p:sp>
      <p:sp>
        <p:nvSpPr>
          <p:cNvPr id="86" name="Shape 70"/>
          <p:cNvSpPr/>
          <p:nvPr/>
        </p:nvSpPr>
        <p:spPr>
          <a:xfrm>
            <a:off x="12170664" y="4645152"/>
            <a:ext cx="1527048" cy="1261872"/>
          </a:xfrm>
          <a:prstGeom prst="roundRect">
            <a:avLst>
              <a:gd name="adj" fmla="val 5797"/>
            </a:avLst>
          </a:prstGeom>
          <a:solidFill>
            <a:srgbClr val="FFFFFF"/>
          </a:solidFill>
          <a:ln w="9525">
            <a:solidFill>
              <a:srgbClr val="C8D8EC"/>
            </a:solidFill>
            <a:prstDash val="solid"/>
          </a:ln>
        </p:spPr>
      </p:sp>
      <p:sp>
        <p:nvSpPr>
          <p:cNvPr id="87" name="Shape 71"/>
          <p:cNvSpPr/>
          <p:nvPr/>
        </p:nvSpPr>
        <p:spPr>
          <a:xfrm>
            <a:off x="12669012" y="4754880"/>
            <a:ext cx="530352" cy="530352"/>
          </a:xfrm>
          <a:prstGeom prst="roundRect">
            <a:avLst>
              <a:gd name="adj" fmla="val 17241"/>
            </a:avLst>
          </a:prstGeom>
          <a:solidFill>
            <a:srgbClr val="1F6FB5"/>
          </a:solidFill>
          <a:ln w="12700">
            <a:solidFill>
              <a:srgbClr val="1F6FB5"/>
            </a:solidFill>
            <a:prstDash val="solid"/>
          </a:ln>
        </p:spPr>
      </p:sp>
      <p:pic>
        <p:nvPicPr>
          <p:cNvPr id="88" name="Image 14" descr="preencoded.png">    </p:cNvPr>
          <p:cNvPicPr>
            <a:picLocks noChangeAspect="1"/>
          </p:cNvPicPr>
          <p:nvPr/>
        </p:nvPicPr>
        <p:blipFill>
          <a:blip r:embed="rId15"/>
          <a:stretch>
            <a:fillRect/>
          </a:stretch>
        </p:blipFill>
        <p:spPr>
          <a:xfrm>
            <a:off x="12785689" y="4871557"/>
            <a:ext cx="296997" cy="296997"/>
          </a:xfrm>
          <a:prstGeom prst="rect">
            <a:avLst/>
          </a:prstGeom>
        </p:spPr>
      </p:pic>
      <p:sp>
        <p:nvSpPr>
          <p:cNvPr id="89" name="Text 72"/>
          <p:cNvSpPr txBox="1"/>
          <p:nvPr/>
        </p:nvSpPr>
        <p:spPr>
          <a:xfrm>
            <a:off x="12216384" y="5349240"/>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Report Owner</a:t>
            </a:r>
            <a:endParaRPr lang="en-US" sz="1200" dirty="0"/>
          </a:p>
        </p:txBody>
      </p:sp>
      <p:sp>
        <p:nvSpPr>
          <p:cNvPr id="90" name="Text 73"/>
          <p:cNvSpPr txBox="1"/>
          <p:nvPr/>
        </p:nvSpPr>
        <p:spPr>
          <a:xfrm>
            <a:off x="12243816" y="5559552"/>
            <a:ext cx="1380744"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Reviews findings, releases report</a:t>
            </a:r>
            <a:endParaRPr lang="en-US" sz="900" dirty="0"/>
          </a:p>
        </p:txBody>
      </p:sp>
      <p:sp>
        <p:nvSpPr>
          <p:cNvPr id="91" name="Shape 74"/>
          <p:cNvSpPr/>
          <p:nvPr/>
        </p:nvSpPr>
        <p:spPr>
          <a:xfrm>
            <a:off x="2459736" y="2615184"/>
            <a:ext cx="1280160" cy="0"/>
          </a:xfrm>
          <a:prstGeom prst="line">
            <a:avLst/>
          </a:prstGeom>
          <a:noFill/>
          <a:ln w="19050">
            <a:solidFill>
              <a:srgbClr val="1F4E8C"/>
            </a:solidFill>
            <a:prstDash val="solid"/>
            <a:tailEnd type="triangle"/>
          </a:ln>
        </p:spPr>
      </p:sp>
      <p:sp>
        <p:nvSpPr>
          <p:cNvPr id="92" name="Shape 75"/>
          <p:cNvSpPr/>
          <p:nvPr/>
        </p:nvSpPr>
        <p:spPr>
          <a:xfrm>
            <a:off x="2532888" y="2286000"/>
            <a:ext cx="219456" cy="219456"/>
          </a:xfrm>
          <a:prstGeom prst="ellipse">
            <a:avLst/>
          </a:prstGeom>
          <a:solidFill>
            <a:srgbClr val="1F4E8C"/>
          </a:solidFill>
          <a:ln w="12700">
            <a:solidFill>
              <a:srgbClr val="1F4E8C"/>
            </a:solidFill>
            <a:prstDash val="solid"/>
          </a:ln>
        </p:spPr>
      </p:sp>
      <p:sp>
        <p:nvSpPr>
          <p:cNvPr id="93" name="Text 76"/>
          <p:cNvSpPr txBox="1"/>
          <p:nvPr/>
        </p:nvSpPr>
        <p:spPr>
          <a:xfrm>
            <a:off x="2532888" y="228600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94" name="Text 77"/>
          <p:cNvSpPr txBox="1"/>
          <p:nvPr/>
        </p:nvSpPr>
        <p:spPr>
          <a:xfrm>
            <a:off x="2788920" y="2029968"/>
            <a:ext cx="914400" cy="365760"/>
          </a:xfrm>
          <a:prstGeom prst="rect">
            <a:avLst/>
          </a:prstGeom>
          <a:solidFill>
            <a:srgbClr val="FFFFFF">
              <a:alpha val="0"/>
            </a:srgbClr>
          </a:solidFill>
          <a:ln/>
        </p:spPr>
        <p:txBody>
          <a:bodyPr wrap="square" lIns="0" tIns="0" rIns="0" bIns="0" rtlCol="0" anchor="b"/>
          <a:lstStyle/>
          <a:p>
            <a:pPr indent="0" marL="0">
              <a:buNone/>
            </a:pPr>
            <a:r>
              <a:rPr lang="en-US" sz="900" dirty="0">
                <a:solidFill>
                  <a:srgbClr val="1F2D3D"/>
                </a:solidFill>
                <a:latin typeface="Calibri" pitchFamily="34" charset="0"/>
                <a:ea typeface="Calibri" pitchFamily="34" charset="-122"/>
                <a:cs typeface="Calibri" pitchFamily="34" charset="-120"/>
              </a:rPr>
              <a:t>Report run events</a:t>
            </a:r>
            <a:endParaRPr lang="en-US" sz="900" dirty="0"/>
          </a:p>
        </p:txBody>
      </p:sp>
      <p:sp>
        <p:nvSpPr>
          <p:cNvPr id="95" name="Shape 78"/>
          <p:cNvSpPr/>
          <p:nvPr/>
        </p:nvSpPr>
        <p:spPr>
          <a:xfrm>
            <a:off x="5266944" y="2615184"/>
            <a:ext cx="1289304" cy="0"/>
          </a:xfrm>
          <a:prstGeom prst="line">
            <a:avLst/>
          </a:prstGeom>
          <a:noFill/>
          <a:ln w="19050">
            <a:solidFill>
              <a:srgbClr val="2A6EBB"/>
            </a:solidFill>
            <a:prstDash val="solid"/>
            <a:tailEnd type="triangle"/>
          </a:ln>
        </p:spPr>
      </p:sp>
      <p:sp>
        <p:nvSpPr>
          <p:cNvPr id="96" name="Shape 79"/>
          <p:cNvSpPr/>
          <p:nvPr/>
        </p:nvSpPr>
        <p:spPr>
          <a:xfrm>
            <a:off x="5340096" y="2286000"/>
            <a:ext cx="219456" cy="219456"/>
          </a:xfrm>
          <a:prstGeom prst="ellipse">
            <a:avLst/>
          </a:prstGeom>
          <a:solidFill>
            <a:srgbClr val="2A6EBB"/>
          </a:solidFill>
          <a:ln w="12700">
            <a:solidFill>
              <a:srgbClr val="2A6EBB"/>
            </a:solidFill>
            <a:prstDash val="solid"/>
          </a:ln>
        </p:spPr>
      </p:sp>
      <p:sp>
        <p:nvSpPr>
          <p:cNvPr id="97" name="Text 80"/>
          <p:cNvSpPr txBox="1"/>
          <p:nvPr/>
        </p:nvSpPr>
        <p:spPr>
          <a:xfrm>
            <a:off x="5340096" y="228600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98" name="Text 81"/>
          <p:cNvSpPr txBox="1"/>
          <p:nvPr/>
        </p:nvSpPr>
        <p:spPr>
          <a:xfrm>
            <a:off x="5596128" y="2029968"/>
            <a:ext cx="923544" cy="365760"/>
          </a:xfrm>
          <a:prstGeom prst="rect">
            <a:avLst/>
          </a:prstGeom>
          <a:solidFill>
            <a:srgbClr val="FFFFFF">
              <a:alpha val="0"/>
            </a:srgbClr>
          </a:solidFill>
          <a:ln/>
        </p:spPr>
        <p:txBody>
          <a:bodyPr wrap="square" lIns="0" tIns="0" rIns="0" bIns="0" rtlCol="0" anchor="b"/>
          <a:lstStyle/>
          <a:p>
            <a:pPr indent="0" marL="0">
              <a:buNone/>
            </a:pPr>
            <a:r>
              <a:rPr lang="en-US" sz="900" dirty="0">
                <a:solidFill>
                  <a:srgbClr val="1F2D3D"/>
                </a:solidFill>
                <a:latin typeface="Calibri" pitchFamily="34" charset="0"/>
                <a:ea typeface="Calibri" pitchFamily="34" charset="-122"/>
                <a:cs typeface="Calibri" pitchFamily="34" charset="-120"/>
              </a:rPr>
              <a:t>Report set Ready</a:t>
            </a:r>
            <a:endParaRPr lang="en-US" sz="900" dirty="0"/>
          </a:p>
        </p:txBody>
      </p:sp>
      <p:sp>
        <p:nvSpPr>
          <p:cNvPr id="99" name="Shape 82"/>
          <p:cNvSpPr/>
          <p:nvPr/>
        </p:nvSpPr>
        <p:spPr>
          <a:xfrm>
            <a:off x="8083296" y="2615184"/>
            <a:ext cx="1280160" cy="0"/>
          </a:xfrm>
          <a:prstGeom prst="line">
            <a:avLst/>
          </a:prstGeom>
          <a:noFill/>
          <a:ln w="19050">
            <a:solidFill>
              <a:srgbClr val="1E8A5A"/>
            </a:solidFill>
            <a:prstDash val="solid"/>
            <a:tailEnd type="triangle"/>
          </a:ln>
        </p:spPr>
      </p:sp>
      <p:sp>
        <p:nvSpPr>
          <p:cNvPr id="100" name="Shape 83"/>
          <p:cNvSpPr/>
          <p:nvPr/>
        </p:nvSpPr>
        <p:spPr>
          <a:xfrm>
            <a:off x="8156448" y="2286000"/>
            <a:ext cx="219456" cy="219456"/>
          </a:xfrm>
          <a:prstGeom prst="ellipse">
            <a:avLst/>
          </a:prstGeom>
          <a:solidFill>
            <a:srgbClr val="1E8A5A"/>
          </a:solidFill>
          <a:ln w="12700">
            <a:solidFill>
              <a:srgbClr val="1E8A5A"/>
            </a:solidFill>
            <a:prstDash val="solid"/>
          </a:ln>
        </p:spPr>
      </p:sp>
      <p:sp>
        <p:nvSpPr>
          <p:cNvPr id="101" name="Text 84"/>
          <p:cNvSpPr txBox="1"/>
          <p:nvPr/>
        </p:nvSpPr>
        <p:spPr>
          <a:xfrm>
            <a:off x="8156448" y="228600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02" name="Text 85"/>
          <p:cNvSpPr txBox="1"/>
          <p:nvPr/>
        </p:nvSpPr>
        <p:spPr>
          <a:xfrm>
            <a:off x="8412480" y="2029968"/>
            <a:ext cx="914400" cy="365760"/>
          </a:xfrm>
          <a:prstGeom prst="rect">
            <a:avLst/>
          </a:prstGeom>
          <a:solidFill>
            <a:srgbClr val="FFFFFF">
              <a:alpha val="0"/>
            </a:srgbClr>
          </a:solidFill>
          <a:ln/>
        </p:spPr>
        <p:txBody>
          <a:bodyPr wrap="square" lIns="0" tIns="0" rIns="0" bIns="0" rtlCol="0" anchor="b"/>
          <a:lstStyle/>
          <a:p>
            <a:pPr indent="0" marL="0">
              <a:buNone/>
            </a:pPr>
            <a:r>
              <a:rPr lang="en-US" sz="900" dirty="0">
                <a:solidFill>
                  <a:srgbClr val="1F2D3D"/>
                </a:solidFill>
                <a:latin typeface="Calibri" pitchFamily="34" charset="0"/>
                <a:ea typeface="Calibri" pitchFamily="34" charset="-122"/>
                <a:cs typeface="Calibri" pitchFamily="34" charset="-120"/>
              </a:rPr>
              <a:t>Start validation</a:t>
            </a:r>
            <a:endParaRPr lang="en-US" sz="900" dirty="0"/>
          </a:p>
        </p:txBody>
      </p:sp>
      <p:sp>
        <p:nvSpPr>
          <p:cNvPr id="103" name="Shape 86"/>
          <p:cNvSpPr/>
          <p:nvPr/>
        </p:nvSpPr>
        <p:spPr>
          <a:xfrm>
            <a:off x="10890504" y="2615184"/>
            <a:ext cx="1280160" cy="0"/>
          </a:xfrm>
          <a:prstGeom prst="line">
            <a:avLst/>
          </a:prstGeom>
          <a:noFill/>
          <a:ln w="19050">
            <a:solidFill>
              <a:srgbClr val="5B4FA8"/>
            </a:solidFill>
            <a:prstDash val="solid"/>
            <a:tailEnd type="triangle"/>
          </a:ln>
        </p:spPr>
      </p:sp>
      <p:sp>
        <p:nvSpPr>
          <p:cNvPr id="104" name="Shape 87"/>
          <p:cNvSpPr/>
          <p:nvPr/>
        </p:nvSpPr>
        <p:spPr>
          <a:xfrm>
            <a:off x="10963656" y="2286000"/>
            <a:ext cx="219456" cy="219456"/>
          </a:xfrm>
          <a:prstGeom prst="ellipse">
            <a:avLst/>
          </a:prstGeom>
          <a:solidFill>
            <a:srgbClr val="5B4FA8"/>
          </a:solidFill>
          <a:ln w="12700">
            <a:solidFill>
              <a:srgbClr val="5B4FA8"/>
            </a:solidFill>
            <a:prstDash val="solid"/>
          </a:ln>
        </p:spPr>
      </p:sp>
      <p:sp>
        <p:nvSpPr>
          <p:cNvPr id="105" name="Text 88"/>
          <p:cNvSpPr txBox="1"/>
          <p:nvPr/>
        </p:nvSpPr>
        <p:spPr>
          <a:xfrm>
            <a:off x="10963656" y="228600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106" name="Text 89"/>
          <p:cNvSpPr txBox="1"/>
          <p:nvPr/>
        </p:nvSpPr>
        <p:spPr>
          <a:xfrm>
            <a:off x="11219688" y="2029968"/>
            <a:ext cx="914400" cy="365760"/>
          </a:xfrm>
          <a:prstGeom prst="rect">
            <a:avLst/>
          </a:prstGeom>
          <a:solidFill>
            <a:srgbClr val="FFFFFF">
              <a:alpha val="0"/>
            </a:srgbClr>
          </a:solidFill>
          <a:ln/>
        </p:spPr>
        <p:txBody>
          <a:bodyPr wrap="square" lIns="0" tIns="0" rIns="0" bIns="0" rtlCol="0" anchor="b"/>
          <a:lstStyle/>
          <a:p>
            <a:pPr indent="0" marL="0">
              <a:buNone/>
            </a:pPr>
            <a:r>
              <a:rPr lang="en-US" sz="900" dirty="0">
                <a:solidFill>
                  <a:srgbClr val="1F2D3D"/>
                </a:solidFill>
                <a:latin typeface="Calibri" pitchFamily="34" charset="0"/>
                <a:ea typeface="Calibri" pitchFamily="34" charset="-122"/>
                <a:cs typeface="Calibri" pitchFamily="34" charset="-120"/>
              </a:rPr>
              <a:t>Findings published</a:t>
            </a:r>
            <a:endParaRPr lang="en-US" sz="900" dirty="0"/>
          </a:p>
        </p:txBody>
      </p:sp>
      <p:sp>
        <p:nvSpPr>
          <p:cNvPr id="107" name="Shape 90"/>
          <p:cNvSpPr/>
          <p:nvPr/>
        </p:nvSpPr>
        <p:spPr>
          <a:xfrm>
            <a:off x="10890504" y="3218688"/>
            <a:ext cx="1280160" cy="0"/>
          </a:xfrm>
          <a:prstGeom prst="line">
            <a:avLst/>
          </a:prstGeom>
          <a:noFill/>
          <a:ln w="19050">
            <a:solidFill>
              <a:srgbClr val="1F6FB5"/>
            </a:solidFill>
            <a:prstDash val="solid"/>
            <a:headEnd type="triangle"/>
          </a:ln>
        </p:spPr>
      </p:sp>
      <p:sp>
        <p:nvSpPr>
          <p:cNvPr id="108" name="Shape 91"/>
          <p:cNvSpPr/>
          <p:nvPr/>
        </p:nvSpPr>
        <p:spPr>
          <a:xfrm>
            <a:off x="10963656" y="3291840"/>
            <a:ext cx="219456" cy="219456"/>
          </a:xfrm>
          <a:prstGeom prst="ellipse">
            <a:avLst/>
          </a:prstGeom>
          <a:solidFill>
            <a:srgbClr val="1F6FB5"/>
          </a:solidFill>
          <a:ln w="12700">
            <a:solidFill>
              <a:srgbClr val="1F6FB5"/>
            </a:solidFill>
            <a:prstDash val="solid"/>
          </a:ln>
        </p:spPr>
      </p:sp>
      <p:sp>
        <p:nvSpPr>
          <p:cNvPr id="109" name="Text 92"/>
          <p:cNvSpPr txBox="1"/>
          <p:nvPr/>
        </p:nvSpPr>
        <p:spPr>
          <a:xfrm>
            <a:off x="10963656" y="329184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7</a:t>
            </a:r>
            <a:endParaRPr lang="en-US" sz="900" dirty="0"/>
          </a:p>
        </p:txBody>
      </p:sp>
      <p:sp>
        <p:nvSpPr>
          <p:cNvPr id="110" name="Text 93"/>
          <p:cNvSpPr txBox="1"/>
          <p:nvPr/>
        </p:nvSpPr>
        <p:spPr>
          <a:xfrm>
            <a:off x="11219688" y="3273552"/>
            <a:ext cx="914400" cy="365760"/>
          </a:xfrm>
          <a:prstGeom prst="rect">
            <a:avLst/>
          </a:prstGeom>
          <a:noFill/>
          <a:ln/>
        </p:spPr>
        <p:txBody>
          <a:bodyPr wrap="square" lIns="0" tIns="0" rIns="0" bIns="0" rtlCol="0" anchor="t"/>
          <a:lstStyle/>
          <a:p>
            <a:pPr indent="0" marL="0">
              <a:buNone/>
            </a:pPr>
            <a:r>
              <a:rPr lang="en-US" sz="900" dirty="0">
                <a:solidFill>
                  <a:srgbClr val="1F2D3D"/>
                </a:solidFill>
                <a:latin typeface="Calibri" pitchFamily="34" charset="0"/>
                <a:ea typeface="Calibri" pitchFamily="34" charset="-122"/>
                <a:cs typeface="Calibri" pitchFamily="34" charset="-120"/>
              </a:rPr>
              <a:t>Q&amp;A and decision</a:t>
            </a:r>
            <a:endParaRPr lang="en-US" sz="900" dirty="0"/>
          </a:p>
        </p:txBody>
      </p:sp>
      <p:sp>
        <p:nvSpPr>
          <p:cNvPr id="111" name="Shape 94"/>
          <p:cNvSpPr/>
          <p:nvPr/>
        </p:nvSpPr>
        <p:spPr>
          <a:xfrm>
            <a:off x="1696212" y="3639312"/>
            <a:ext cx="0" cy="1005840"/>
          </a:xfrm>
          <a:prstGeom prst="line">
            <a:avLst/>
          </a:prstGeom>
          <a:noFill/>
          <a:ln w="15875">
            <a:solidFill>
              <a:srgbClr val="4F7BB5"/>
            </a:solidFill>
            <a:prstDash val="dash"/>
            <a:headEnd type="triangle"/>
          </a:ln>
        </p:spPr>
      </p:sp>
      <p:sp>
        <p:nvSpPr>
          <p:cNvPr id="112" name="Text 95"/>
          <p:cNvSpPr txBox="1"/>
          <p:nvPr/>
        </p:nvSpPr>
        <p:spPr>
          <a:xfrm>
            <a:off x="1787652" y="4005072"/>
            <a:ext cx="868680" cy="274320"/>
          </a:xfrm>
          <a:prstGeom prst="rect">
            <a:avLst/>
          </a:prstGeom>
          <a:noFill/>
          <a:ln/>
        </p:spPr>
        <p:txBody>
          <a:bodyPr wrap="square" lIns="0" tIns="0" rIns="0" bIns="0" rtlCol="0" anchor="ctr"/>
          <a:lstStyle/>
          <a:p>
            <a:pPr indent="0" marL="0">
              <a:buNone/>
            </a:pPr>
            <a:r>
              <a:rPr lang="en-US" sz="900" dirty="0">
                <a:solidFill>
                  <a:srgbClr val="1F2D3D"/>
                </a:solidFill>
                <a:latin typeface="Calibri" pitchFamily="34" charset="0"/>
                <a:ea typeface="Calibri" pitchFamily="34" charset="-122"/>
                <a:cs typeface="Calibri" pitchFamily="34" charset="-120"/>
              </a:rPr>
              <a:t>Estate</a:t>
            </a:r>
            <a:endParaRPr lang="en-US" sz="900" dirty="0"/>
          </a:p>
        </p:txBody>
      </p:sp>
      <p:sp>
        <p:nvSpPr>
          <p:cNvPr id="113" name="Shape 96"/>
          <p:cNvSpPr/>
          <p:nvPr/>
        </p:nvSpPr>
        <p:spPr>
          <a:xfrm>
            <a:off x="4503420" y="3639312"/>
            <a:ext cx="0" cy="1005840"/>
          </a:xfrm>
          <a:prstGeom prst="line">
            <a:avLst/>
          </a:prstGeom>
          <a:noFill/>
          <a:ln w="15875">
            <a:solidFill>
              <a:srgbClr val="3F86C8"/>
            </a:solidFill>
            <a:prstDash val="dash"/>
            <a:tailEnd type="triangle"/>
          </a:ln>
        </p:spPr>
      </p:sp>
      <p:sp>
        <p:nvSpPr>
          <p:cNvPr id="114" name="Text 97"/>
          <p:cNvSpPr txBox="1"/>
          <p:nvPr/>
        </p:nvSpPr>
        <p:spPr>
          <a:xfrm>
            <a:off x="4594860" y="4005072"/>
            <a:ext cx="868680" cy="274320"/>
          </a:xfrm>
          <a:prstGeom prst="rect">
            <a:avLst/>
          </a:prstGeom>
          <a:noFill/>
          <a:ln/>
        </p:spPr>
        <p:txBody>
          <a:bodyPr wrap="square" lIns="0" tIns="0" rIns="0" bIns="0" rtlCol="0" anchor="ctr"/>
          <a:lstStyle/>
          <a:p>
            <a:pPr indent="0" marL="0">
              <a:buNone/>
            </a:pPr>
            <a:r>
              <a:rPr lang="en-US" sz="900" dirty="0">
                <a:solidFill>
                  <a:srgbClr val="1F2D3D"/>
                </a:solidFill>
                <a:latin typeface="Calibri" pitchFamily="34" charset="0"/>
                <a:ea typeface="Calibri" pitchFamily="34" charset="-122"/>
                <a:cs typeface="Calibri" pitchFamily="34" charset="-120"/>
              </a:rPr>
              <a:t>Evaluates</a:t>
            </a:r>
            <a:endParaRPr lang="en-US" sz="900" dirty="0"/>
          </a:p>
        </p:txBody>
      </p:sp>
      <p:sp>
        <p:nvSpPr>
          <p:cNvPr id="115" name="Shape 98"/>
          <p:cNvSpPr/>
          <p:nvPr/>
        </p:nvSpPr>
        <p:spPr>
          <a:xfrm>
            <a:off x="7319772" y="3639312"/>
            <a:ext cx="0" cy="1005840"/>
          </a:xfrm>
          <a:prstGeom prst="line">
            <a:avLst/>
          </a:prstGeom>
          <a:noFill/>
          <a:ln w="15875">
            <a:solidFill>
              <a:srgbClr val="1E8A5A"/>
            </a:solidFill>
            <a:prstDash val="dash"/>
            <a:tailEnd type="triangle"/>
          </a:ln>
        </p:spPr>
      </p:sp>
      <p:sp>
        <p:nvSpPr>
          <p:cNvPr id="116" name="Text 99"/>
          <p:cNvSpPr txBox="1"/>
          <p:nvPr/>
        </p:nvSpPr>
        <p:spPr>
          <a:xfrm>
            <a:off x="7411212" y="4005072"/>
            <a:ext cx="868680" cy="274320"/>
          </a:xfrm>
          <a:prstGeom prst="rect">
            <a:avLst/>
          </a:prstGeom>
          <a:noFill/>
          <a:ln/>
        </p:spPr>
        <p:txBody>
          <a:bodyPr wrap="square" lIns="0" tIns="0" rIns="0" bIns="0" rtlCol="0" anchor="ctr"/>
          <a:lstStyle/>
          <a:p>
            <a:pPr indent="0" marL="0">
              <a:buNone/>
            </a:pPr>
            <a:r>
              <a:rPr lang="en-US" sz="900" dirty="0">
                <a:solidFill>
                  <a:srgbClr val="1F2D3D"/>
                </a:solidFill>
                <a:latin typeface="Calibri" pitchFamily="34" charset="0"/>
                <a:ea typeface="Calibri" pitchFamily="34" charset="-122"/>
                <a:cs typeface="Calibri" pitchFamily="34" charset="-120"/>
              </a:rPr>
              <a:t>Computes</a:t>
            </a:r>
            <a:endParaRPr lang="en-US" sz="900" dirty="0"/>
          </a:p>
        </p:txBody>
      </p:sp>
      <p:sp>
        <p:nvSpPr>
          <p:cNvPr id="117" name="Shape 100"/>
          <p:cNvSpPr/>
          <p:nvPr/>
        </p:nvSpPr>
        <p:spPr>
          <a:xfrm>
            <a:off x="9326880" y="3639312"/>
            <a:ext cx="0" cy="1005840"/>
          </a:xfrm>
          <a:prstGeom prst="line">
            <a:avLst/>
          </a:prstGeom>
          <a:noFill/>
          <a:ln w="19050">
            <a:solidFill>
              <a:srgbClr val="5B4FA8"/>
            </a:solidFill>
            <a:prstDash val="solid"/>
            <a:tailEnd type="triangle"/>
          </a:ln>
        </p:spPr>
      </p:sp>
      <p:sp>
        <p:nvSpPr>
          <p:cNvPr id="118" name="Shape 101"/>
          <p:cNvSpPr/>
          <p:nvPr/>
        </p:nvSpPr>
        <p:spPr>
          <a:xfrm>
            <a:off x="9418320" y="3840480"/>
            <a:ext cx="219456" cy="219456"/>
          </a:xfrm>
          <a:prstGeom prst="ellipse">
            <a:avLst/>
          </a:prstGeom>
          <a:solidFill>
            <a:srgbClr val="5B4FA8"/>
          </a:solidFill>
          <a:ln w="12700">
            <a:solidFill>
              <a:srgbClr val="5B4FA8"/>
            </a:solidFill>
            <a:prstDash val="solid"/>
          </a:ln>
        </p:spPr>
      </p:sp>
      <p:sp>
        <p:nvSpPr>
          <p:cNvPr id="119" name="Text 102"/>
          <p:cNvSpPr txBox="1"/>
          <p:nvPr/>
        </p:nvSpPr>
        <p:spPr>
          <a:xfrm>
            <a:off x="9418320" y="384048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120" name="Text 103"/>
          <p:cNvSpPr txBox="1"/>
          <p:nvPr/>
        </p:nvSpPr>
        <p:spPr>
          <a:xfrm>
            <a:off x="9418320" y="4087368"/>
            <a:ext cx="685800" cy="457200"/>
          </a:xfrm>
          <a:prstGeom prst="rect">
            <a:avLst/>
          </a:prstGeom>
          <a:noFill/>
          <a:ln/>
        </p:spPr>
        <p:txBody>
          <a:bodyPr wrap="square" lIns="0" tIns="0" rIns="0" bIns="0" rtlCol="0" anchor="t"/>
          <a:lstStyle/>
          <a:p>
            <a:pPr indent="0" marL="0">
              <a:buNone/>
            </a:pPr>
            <a:r>
              <a:rPr lang="en-US" sz="900" dirty="0">
                <a:solidFill>
                  <a:srgbClr val="1F2D3D"/>
                </a:solidFill>
                <a:latin typeface="Calibri" pitchFamily="34" charset="0"/>
                <a:ea typeface="Calibri" pitchFamily="34" charset="-122"/>
                <a:cs typeface="Calibri" pitchFamily="34" charset="-120"/>
              </a:rPr>
              <a:t>Fetch data</a:t>
            </a:r>
            <a:endParaRPr lang="en-US" sz="900" dirty="0"/>
          </a:p>
        </p:txBody>
      </p:sp>
      <p:sp>
        <p:nvSpPr>
          <p:cNvPr id="121" name="Shape 104"/>
          <p:cNvSpPr/>
          <p:nvPr/>
        </p:nvSpPr>
        <p:spPr>
          <a:xfrm>
            <a:off x="10469880" y="3639312"/>
            <a:ext cx="0" cy="1005840"/>
          </a:xfrm>
          <a:prstGeom prst="line">
            <a:avLst/>
          </a:prstGeom>
          <a:noFill/>
          <a:ln w="19050">
            <a:solidFill>
              <a:srgbClr val="C0392B"/>
            </a:solidFill>
            <a:prstDash val="solid"/>
            <a:tailEnd type="triangle"/>
          </a:ln>
        </p:spPr>
      </p:sp>
      <p:sp>
        <p:nvSpPr>
          <p:cNvPr id="122" name="Shape 105"/>
          <p:cNvSpPr/>
          <p:nvPr/>
        </p:nvSpPr>
        <p:spPr>
          <a:xfrm>
            <a:off x="10561320" y="3840480"/>
            <a:ext cx="219456" cy="219456"/>
          </a:xfrm>
          <a:prstGeom prst="ellipse">
            <a:avLst/>
          </a:prstGeom>
          <a:solidFill>
            <a:srgbClr val="C0392B"/>
          </a:solidFill>
          <a:ln w="12700">
            <a:solidFill>
              <a:srgbClr val="C0392B"/>
            </a:solidFill>
            <a:prstDash val="solid"/>
          </a:ln>
        </p:spPr>
      </p:sp>
      <p:sp>
        <p:nvSpPr>
          <p:cNvPr id="123" name="Text 106"/>
          <p:cNvSpPr txBox="1"/>
          <p:nvPr/>
        </p:nvSpPr>
        <p:spPr>
          <a:xfrm>
            <a:off x="10561320" y="384048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8</a:t>
            </a:r>
            <a:endParaRPr lang="en-US" sz="900" dirty="0"/>
          </a:p>
        </p:txBody>
      </p:sp>
      <p:sp>
        <p:nvSpPr>
          <p:cNvPr id="124" name="Text 107"/>
          <p:cNvSpPr txBox="1"/>
          <p:nvPr/>
        </p:nvSpPr>
        <p:spPr>
          <a:xfrm>
            <a:off x="10561320" y="4087368"/>
            <a:ext cx="713232" cy="502920"/>
          </a:xfrm>
          <a:prstGeom prst="rect">
            <a:avLst/>
          </a:prstGeom>
          <a:noFill/>
          <a:ln/>
        </p:spPr>
        <p:txBody>
          <a:bodyPr wrap="square" lIns="0" tIns="0" rIns="0" bIns="0" rtlCol="0" anchor="t"/>
          <a:lstStyle/>
          <a:p>
            <a:pPr indent="0" marL="0">
              <a:buNone/>
            </a:pPr>
            <a:r>
              <a:rPr lang="en-US" sz="900" dirty="0">
                <a:solidFill>
                  <a:srgbClr val="1F2D3D"/>
                </a:solidFill>
                <a:latin typeface="Calibri" pitchFamily="34" charset="0"/>
                <a:ea typeface="Calibri" pitchFamily="34" charset="-122"/>
                <a:cs typeface="Calibri" pitchFamily="34" charset="-120"/>
              </a:rPr>
              <a:t>Publish approved report</a:t>
            </a:r>
            <a:endParaRPr lang="en-US" sz="900" dirty="0"/>
          </a:p>
        </p:txBody>
      </p:sp>
      <p:sp>
        <p:nvSpPr>
          <p:cNvPr id="125" name="Shape 108"/>
          <p:cNvSpPr/>
          <p:nvPr/>
        </p:nvSpPr>
        <p:spPr>
          <a:xfrm>
            <a:off x="12934188" y="3639312"/>
            <a:ext cx="0" cy="1005840"/>
          </a:xfrm>
          <a:prstGeom prst="line">
            <a:avLst/>
          </a:prstGeom>
          <a:noFill/>
          <a:ln w="19050">
            <a:solidFill>
              <a:srgbClr val="1F6FB5"/>
            </a:solidFill>
            <a:prstDash val="solid"/>
            <a:headEnd type="triangle"/>
          </a:ln>
        </p:spPr>
      </p:sp>
      <p:sp>
        <p:nvSpPr>
          <p:cNvPr id="126" name="Shape 109"/>
          <p:cNvSpPr/>
          <p:nvPr/>
        </p:nvSpPr>
        <p:spPr>
          <a:xfrm>
            <a:off x="13043916" y="3840480"/>
            <a:ext cx="219456" cy="219456"/>
          </a:xfrm>
          <a:prstGeom prst="ellipse">
            <a:avLst/>
          </a:prstGeom>
          <a:solidFill>
            <a:srgbClr val="1F6FB5"/>
          </a:solidFill>
          <a:ln w="12700">
            <a:solidFill>
              <a:srgbClr val="1F6FB5"/>
            </a:solidFill>
            <a:prstDash val="solid"/>
          </a:ln>
        </p:spPr>
      </p:sp>
      <p:sp>
        <p:nvSpPr>
          <p:cNvPr id="127" name="Text 110"/>
          <p:cNvSpPr txBox="1"/>
          <p:nvPr/>
        </p:nvSpPr>
        <p:spPr>
          <a:xfrm>
            <a:off x="13043916" y="384048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128" name="Text 111"/>
          <p:cNvSpPr txBox="1"/>
          <p:nvPr/>
        </p:nvSpPr>
        <p:spPr>
          <a:xfrm>
            <a:off x="13318236" y="3767328"/>
            <a:ext cx="822960" cy="685800"/>
          </a:xfrm>
          <a:prstGeom prst="rect">
            <a:avLst/>
          </a:prstGeom>
          <a:noFill/>
          <a:ln/>
        </p:spPr>
        <p:txBody>
          <a:bodyPr wrap="square" lIns="0" tIns="0" rIns="0" bIns="0" rtlCol="0" anchor="t"/>
          <a:lstStyle/>
          <a:p>
            <a:pPr indent="0" marL="0">
              <a:buNone/>
            </a:pPr>
            <a:r>
              <a:rPr lang="en-US" sz="900" dirty="0">
                <a:solidFill>
                  <a:srgbClr val="1F2D3D"/>
                </a:solidFill>
                <a:latin typeface="Calibri" pitchFamily="34" charset="0"/>
                <a:ea typeface="Calibri" pitchFamily="34" charset="-122"/>
                <a:cs typeface="Calibri" pitchFamily="34" charset="-120"/>
              </a:rPr>
              <a:t>Review, ask, release</a:t>
            </a:r>
            <a:endParaRPr lang="en-US" sz="900" dirty="0"/>
          </a:p>
        </p:txBody>
      </p:sp>
      <p:sp>
        <p:nvSpPr>
          <p:cNvPr id="129" name="Shape 112"/>
          <p:cNvSpPr/>
          <p:nvPr/>
        </p:nvSpPr>
        <p:spPr>
          <a:xfrm>
            <a:off x="512064" y="6473952"/>
            <a:ext cx="5166360" cy="1234440"/>
          </a:xfrm>
          <a:prstGeom prst="roundRect">
            <a:avLst>
              <a:gd name="adj" fmla="val 4444"/>
            </a:avLst>
          </a:prstGeom>
          <a:solidFill>
            <a:srgbClr val="F1F4F8"/>
          </a:solidFill>
          <a:ln w="12700">
            <a:solidFill>
              <a:srgbClr val="6B7C93"/>
            </a:solidFill>
            <a:prstDash val="dash"/>
          </a:ln>
        </p:spPr>
      </p:sp>
      <p:sp>
        <p:nvSpPr>
          <p:cNvPr id="130" name="Text 113"/>
          <p:cNvSpPr txBox="1"/>
          <p:nvPr/>
        </p:nvSpPr>
        <p:spPr>
          <a:xfrm>
            <a:off x="630936" y="6547104"/>
            <a:ext cx="4892040" cy="182880"/>
          </a:xfrm>
          <a:prstGeom prst="rect">
            <a:avLst/>
          </a:prstGeom>
          <a:noFill/>
          <a:ln/>
        </p:spPr>
        <p:txBody>
          <a:bodyPr wrap="square" lIns="0" tIns="0" rIns="0" bIns="0" rtlCol="0" anchor="ctr"/>
          <a:lstStyle/>
          <a:p>
            <a:pPr indent="0" marL="0">
              <a:buNone/>
            </a:pPr>
            <a:r>
              <a:rPr lang="en-US" sz="900" b="1" spc="100" kern="0" dirty="0">
                <a:solidFill>
                  <a:srgbClr val="5A6B82"/>
                </a:solidFill>
                <a:latin typeface="Calibri" pitchFamily="34" charset="0"/>
                <a:ea typeface="Calibri" pitchFamily="34" charset="-122"/>
                <a:cs typeface="Calibri" pitchFamily="34" charset="-120"/>
              </a:rPr>
              <a:t>APPLICATION AUDIT (EXISTING)</a:t>
            </a:r>
            <a:endParaRPr lang="en-US" sz="900" dirty="0"/>
          </a:p>
        </p:txBody>
      </p:sp>
      <p:sp>
        <p:nvSpPr>
          <p:cNvPr id="131" name="Shape 114"/>
          <p:cNvSpPr/>
          <p:nvPr/>
        </p:nvSpPr>
        <p:spPr>
          <a:xfrm>
            <a:off x="630936" y="6812280"/>
            <a:ext cx="1783080" cy="795528"/>
          </a:xfrm>
          <a:prstGeom prst="roundRect">
            <a:avLst>
              <a:gd name="adj" fmla="val 9195"/>
            </a:avLst>
          </a:prstGeom>
          <a:solidFill>
            <a:srgbClr val="FFFFFF"/>
          </a:solidFill>
          <a:ln w="9525">
            <a:solidFill>
              <a:srgbClr val="C8D8EC"/>
            </a:solidFill>
            <a:prstDash val="solid"/>
          </a:ln>
        </p:spPr>
      </p:sp>
      <p:sp>
        <p:nvSpPr>
          <p:cNvPr id="132" name="Shape 115"/>
          <p:cNvSpPr/>
          <p:nvPr/>
        </p:nvSpPr>
        <p:spPr>
          <a:xfrm>
            <a:off x="740664" y="6949440"/>
            <a:ext cx="457200" cy="457200"/>
          </a:xfrm>
          <a:prstGeom prst="roundRect">
            <a:avLst>
              <a:gd name="adj" fmla="val 20000"/>
            </a:avLst>
          </a:prstGeom>
          <a:solidFill>
            <a:srgbClr val="5A6B82"/>
          </a:solidFill>
          <a:ln w="12700">
            <a:solidFill>
              <a:srgbClr val="5A6B82"/>
            </a:solidFill>
            <a:prstDash val="solid"/>
          </a:ln>
        </p:spPr>
      </p:sp>
      <p:pic>
        <p:nvPicPr>
          <p:cNvPr id="133" name="Image 15" descr="preencoded.png">    </p:cNvPr>
          <p:cNvPicPr>
            <a:picLocks noChangeAspect="1"/>
          </p:cNvPicPr>
          <p:nvPr/>
        </p:nvPicPr>
        <p:blipFill>
          <a:blip r:embed="rId16"/>
          <a:stretch>
            <a:fillRect/>
          </a:stretch>
        </p:blipFill>
        <p:spPr>
          <a:xfrm>
            <a:off x="841248" y="7050024"/>
            <a:ext cx="256032" cy="256032"/>
          </a:xfrm>
          <a:prstGeom prst="rect">
            <a:avLst/>
          </a:prstGeom>
        </p:spPr>
      </p:pic>
      <p:sp>
        <p:nvSpPr>
          <p:cNvPr id="134" name="Text 116"/>
          <p:cNvSpPr txBox="1"/>
          <p:nvPr/>
        </p:nvSpPr>
        <p:spPr>
          <a:xfrm>
            <a:off x="1271016" y="6903720"/>
            <a:ext cx="1097280" cy="256032"/>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App Audit</a:t>
            </a:r>
            <a:endParaRPr lang="en-US" sz="1100" dirty="0"/>
          </a:p>
        </p:txBody>
      </p:sp>
      <p:sp>
        <p:nvSpPr>
          <p:cNvPr id="135" name="Text 117"/>
          <p:cNvSpPr txBox="1"/>
          <p:nvPr/>
        </p:nvSpPr>
        <p:spPr>
          <a:xfrm>
            <a:off x="1271016" y="7159752"/>
            <a:ext cx="1115568" cy="384048"/>
          </a:xfrm>
          <a:prstGeom prst="rect">
            <a:avLst/>
          </a:prstGeom>
          <a:noFill/>
          <a:ln/>
        </p:spPr>
        <p:txBody>
          <a:bodyPr wrap="square" lIns="0" tIns="0" rIns="0" bIns="0" rtlCol="0" anchor="t"/>
          <a:lstStyle/>
          <a:p>
            <a:pPr indent="0" marL="0">
              <a:buNone/>
            </a:pPr>
            <a:r>
              <a:rPr lang="en-US" sz="850" dirty="0">
                <a:solidFill>
                  <a:srgbClr val="4A5A6E"/>
                </a:solidFill>
                <a:latin typeface="Calibri" pitchFamily="34" charset="0"/>
                <a:ea typeface="Calibri" pitchFamily="34" charset="-122"/>
                <a:cs typeface="Calibri" pitchFamily="34" charset="-120"/>
              </a:rPr>
              <a:t>Report runs and One Fin UX</a:t>
            </a:r>
            <a:endParaRPr lang="en-US" sz="850" dirty="0"/>
          </a:p>
        </p:txBody>
      </p:sp>
      <p:sp>
        <p:nvSpPr>
          <p:cNvPr id="136" name="Shape 118"/>
          <p:cNvSpPr/>
          <p:nvPr/>
        </p:nvSpPr>
        <p:spPr>
          <a:xfrm>
            <a:off x="2551176" y="6812280"/>
            <a:ext cx="3008376" cy="338328"/>
          </a:xfrm>
          <a:prstGeom prst="roundRect">
            <a:avLst>
              <a:gd name="adj" fmla="val 40541"/>
            </a:avLst>
          </a:prstGeom>
          <a:solidFill>
            <a:srgbClr val="FFFFFF"/>
          </a:solidFill>
          <a:ln w="9525">
            <a:solidFill>
              <a:srgbClr val="C8D8EC"/>
            </a:solidFill>
            <a:prstDash val="solid"/>
          </a:ln>
        </p:spPr>
      </p:sp>
      <p:pic>
        <p:nvPicPr>
          <p:cNvPr id="137" name="Image 16" descr="preencoded.png">    </p:cNvPr>
          <p:cNvPicPr>
            <a:picLocks noChangeAspect="1"/>
          </p:cNvPicPr>
          <p:nvPr/>
        </p:nvPicPr>
        <p:blipFill>
          <a:blip r:embed="rId17"/>
          <a:stretch>
            <a:fillRect/>
          </a:stretch>
        </p:blipFill>
        <p:spPr>
          <a:xfrm>
            <a:off x="2679192" y="6908292"/>
            <a:ext cx="146304" cy="146304"/>
          </a:xfrm>
          <a:prstGeom prst="rect">
            <a:avLst/>
          </a:prstGeom>
        </p:spPr>
      </p:pic>
      <p:sp>
        <p:nvSpPr>
          <p:cNvPr id="138" name="Text 119"/>
          <p:cNvSpPr txBox="1"/>
          <p:nvPr/>
        </p:nvSpPr>
        <p:spPr>
          <a:xfrm>
            <a:off x="2916936" y="6812280"/>
            <a:ext cx="2596896"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Report run &amp; event history</a:t>
            </a:r>
            <a:endParaRPr lang="en-US" sz="950" dirty="0"/>
          </a:p>
        </p:txBody>
      </p:sp>
      <p:sp>
        <p:nvSpPr>
          <p:cNvPr id="139" name="Shape 120"/>
          <p:cNvSpPr/>
          <p:nvPr/>
        </p:nvSpPr>
        <p:spPr>
          <a:xfrm>
            <a:off x="2551176" y="7242048"/>
            <a:ext cx="3008376" cy="338328"/>
          </a:xfrm>
          <a:prstGeom prst="roundRect">
            <a:avLst>
              <a:gd name="adj" fmla="val 40541"/>
            </a:avLst>
          </a:prstGeom>
          <a:solidFill>
            <a:srgbClr val="FFFFFF"/>
          </a:solidFill>
          <a:ln w="9525">
            <a:solidFill>
              <a:srgbClr val="C8D8EC"/>
            </a:solidFill>
            <a:prstDash val="solid"/>
          </a:ln>
        </p:spPr>
      </p:sp>
      <p:pic>
        <p:nvPicPr>
          <p:cNvPr id="140" name="Image 17" descr="preencoded.png">    </p:cNvPr>
          <p:cNvPicPr>
            <a:picLocks noChangeAspect="1"/>
          </p:cNvPicPr>
          <p:nvPr/>
        </p:nvPicPr>
        <p:blipFill>
          <a:blip r:embed="rId18"/>
          <a:stretch>
            <a:fillRect/>
          </a:stretch>
        </p:blipFill>
        <p:spPr>
          <a:xfrm>
            <a:off x="2679192" y="7338060"/>
            <a:ext cx="146304" cy="146304"/>
          </a:xfrm>
          <a:prstGeom prst="rect">
            <a:avLst/>
          </a:prstGeom>
        </p:spPr>
      </p:pic>
      <p:sp>
        <p:nvSpPr>
          <p:cNvPr id="141" name="Text 121"/>
          <p:cNvSpPr txBox="1"/>
          <p:nvPr/>
        </p:nvSpPr>
        <p:spPr>
          <a:xfrm>
            <a:off x="2916936" y="7242048"/>
            <a:ext cx="2596896"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Report set status changes</a:t>
            </a:r>
            <a:endParaRPr lang="en-US" sz="950" dirty="0"/>
          </a:p>
        </p:txBody>
      </p:sp>
      <p:sp>
        <p:nvSpPr>
          <p:cNvPr id="142" name="Shape 122"/>
          <p:cNvSpPr/>
          <p:nvPr/>
        </p:nvSpPr>
        <p:spPr>
          <a:xfrm>
            <a:off x="6117336" y="6473952"/>
            <a:ext cx="5184648" cy="1234440"/>
          </a:xfrm>
          <a:prstGeom prst="roundRect">
            <a:avLst>
              <a:gd name="adj" fmla="val 4444"/>
            </a:avLst>
          </a:prstGeom>
          <a:solidFill>
            <a:srgbClr val="F3F1FB"/>
          </a:solidFill>
          <a:ln w="12700">
            <a:solidFill>
              <a:srgbClr val="5B4FA8"/>
            </a:solidFill>
            <a:prstDash val="dash"/>
          </a:ln>
        </p:spPr>
      </p:sp>
      <p:sp>
        <p:nvSpPr>
          <p:cNvPr id="143" name="Text 123"/>
          <p:cNvSpPr txBox="1"/>
          <p:nvPr/>
        </p:nvSpPr>
        <p:spPr>
          <a:xfrm>
            <a:off x="6236208" y="6547104"/>
            <a:ext cx="4910328" cy="182880"/>
          </a:xfrm>
          <a:prstGeom prst="rect">
            <a:avLst/>
          </a:prstGeom>
          <a:noFill/>
          <a:ln/>
        </p:spPr>
        <p:txBody>
          <a:bodyPr wrap="square" lIns="0" tIns="0" rIns="0" bIns="0" rtlCol="0" anchor="ctr"/>
          <a:lstStyle/>
          <a:p>
            <a:pPr indent="0" marL="0">
              <a:buNone/>
            </a:pPr>
            <a:r>
              <a:rPr lang="en-US" sz="900" b="1" spc="100" kern="0" dirty="0">
                <a:solidFill>
                  <a:srgbClr val="5B4FA8"/>
                </a:solidFill>
                <a:latin typeface="Calibri" pitchFamily="34" charset="0"/>
                <a:ea typeface="Calibri" pitchFamily="34" charset="-122"/>
                <a:cs typeface="Calibri" pitchFamily="34" charset="-120"/>
              </a:rPr>
              <a:t>AI OBSERVABILITY</a:t>
            </a:r>
            <a:endParaRPr lang="en-US" sz="900" dirty="0"/>
          </a:p>
        </p:txBody>
      </p:sp>
      <p:sp>
        <p:nvSpPr>
          <p:cNvPr id="144" name="Shape 124"/>
          <p:cNvSpPr/>
          <p:nvPr/>
        </p:nvSpPr>
        <p:spPr>
          <a:xfrm>
            <a:off x="6236208" y="6812280"/>
            <a:ext cx="1783080" cy="795528"/>
          </a:xfrm>
          <a:prstGeom prst="roundRect">
            <a:avLst>
              <a:gd name="adj" fmla="val 9195"/>
            </a:avLst>
          </a:prstGeom>
          <a:solidFill>
            <a:srgbClr val="FFFFFF"/>
          </a:solidFill>
          <a:ln w="9525">
            <a:solidFill>
              <a:srgbClr val="C8D8EC"/>
            </a:solidFill>
            <a:prstDash val="solid"/>
          </a:ln>
        </p:spPr>
      </p:sp>
      <p:sp>
        <p:nvSpPr>
          <p:cNvPr id="145" name="Shape 125"/>
          <p:cNvSpPr/>
          <p:nvPr/>
        </p:nvSpPr>
        <p:spPr>
          <a:xfrm>
            <a:off x="6345936" y="6949440"/>
            <a:ext cx="457200" cy="457200"/>
          </a:xfrm>
          <a:prstGeom prst="roundRect">
            <a:avLst>
              <a:gd name="adj" fmla="val 20000"/>
            </a:avLst>
          </a:prstGeom>
          <a:solidFill>
            <a:srgbClr val="0B2E5E"/>
          </a:solidFill>
          <a:ln w="12700">
            <a:solidFill>
              <a:srgbClr val="0B2E5E"/>
            </a:solidFill>
            <a:prstDash val="solid"/>
          </a:ln>
        </p:spPr>
      </p:sp>
      <p:pic>
        <p:nvPicPr>
          <p:cNvPr id="146" name="Image 18" descr="preencoded.png">    </p:cNvPr>
          <p:cNvPicPr>
            <a:picLocks noChangeAspect="1"/>
          </p:cNvPicPr>
          <p:nvPr/>
        </p:nvPicPr>
        <p:blipFill>
          <a:blip r:embed="rId19"/>
          <a:stretch>
            <a:fillRect/>
          </a:stretch>
        </p:blipFill>
        <p:spPr>
          <a:xfrm>
            <a:off x="6446520" y="7050024"/>
            <a:ext cx="256032" cy="256032"/>
          </a:xfrm>
          <a:prstGeom prst="rect">
            <a:avLst/>
          </a:prstGeom>
        </p:spPr>
      </p:pic>
      <p:sp>
        <p:nvSpPr>
          <p:cNvPr id="147" name="Text 126"/>
          <p:cNvSpPr txBox="1"/>
          <p:nvPr/>
        </p:nvSpPr>
        <p:spPr>
          <a:xfrm>
            <a:off x="6876288" y="6903720"/>
            <a:ext cx="1097280" cy="256032"/>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Phoenix Eyes</a:t>
            </a:r>
            <a:endParaRPr lang="en-US" sz="1100" dirty="0"/>
          </a:p>
        </p:txBody>
      </p:sp>
      <p:sp>
        <p:nvSpPr>
          <p:cNvPr id="148" name="Text 127"/>
          <p:cNvSpPr txBox="1"/>
          <p:nvPr/>
        </p:nvSpPr>
        <p:spPr>
          <a:xfrm>
            <a:off x="6876288" y="7159752"/>
            <a:ext cx="1115568" cy="384048"/>
          </a:xfrm>
          <a:prstGeom prst="rect">
            <a:avLst/>
          </a:prstGeom>
          <a:noFill/>
          <a:ln/>
        </p:spPr>
        <p:txBody>
          <a:bodyPr wrap="square" lIns="0" tIns="0" rIns="0" bIns="0" rtlCol="0" anchor="t"/>
          <a:lstStyle/>
          <a:p>
            <a:pPr indent="0" marL="0">
              <a:buNone/>
            </a:pPr>
            <a:r>
              <a:rPr lang="en-US" sz="850" dirty="0">
                <a:solidFill>
                  <a:srgbClr val="4A5A6E"/>
                </a:solidFill>
                <a:latin typeface="Calibri" pitchFamily="34" charset="0"/>
                <a:ea typeface="Calibri" pitchFamily="34" charset="-122"/>
                <a:cs typeface="Calibri" pitchFamily="34" charset="-120"/>
              </a:rPr>
              <a:t>Validation Agent and Agent One sessions</a:t>
            </a:r>
            <a:endParaRPr lang="en-US" sz="850" dirty="0"/>
          </a:p>
        </p:txBody>
      </p:sp>
      <p:sp>
        <p:nvSpPr>
          <p:cNvPr id="149" name="Shape 128"/>
          <p:cNvSpPr/>
          <p:nvPr/>
        </p:nvSpPr>
        <p:spPr>
          <a:xfrm>
            <a:off x="8156448" y="6812280"/>
            <a:ext cx="1458468" cy="338328"/>
          </a:xfrm>
          <a:prstGeom prst="roundRect">
            <a:avLst>
              <a:gd name="adj" fmla="val 40541"/>
            </a:avLst>
          </a:prstGeom>
          <a:solidFill>
            <a:srgbClr val="FFFFFF"/>
          </a:solidFill>
          <a:ln w="9525">
            <a:solidFill>
              <a:srgbClr val="C8D8EC"/>
            </a:solidFill>
            <a:prstDash val="solid"/>
          </a:ln>
        </p:spPr>
      </p:sp>
      <p:pic>
        <p:nvPicPr>
          <p:cNvPr id="150" name="Image 19" descr="preencoded.png">    </p:cNvPr>
          <p:cNvPicPr>
            <a:picLocks noChangeAspect="1"/>
          </p:cNvPicPr>
          <p:nvPr/>
        </p:nvPicPr>
        <p:blipFill>
          <a:blip r:embed="rId20"/>
          <a:stretch>
            <a:fillRect/>
          </a:stretch>
        </p:blipFill>
        <p:spPr>
          <a:xfrm>
            <a:off x="8284464" y="6908292"/>
            <a:ext cx="146304" cy="146304"/>
          </a:xfrm>
          <a:prstGeom prst="rect">
            <a:avLst/>
          </a:prstGeom>
        </p:spPr>
      </p:pic>
      <p:sp>
        <p:nvSpPr>
          <p:cNvPr id="151" name="Text 129"/>
          <p:cNvSpPr txBox="1"/>
          <p:nvPr/>
        </p:nvSpPr>
        <p:spPr>
          <a:xfrm>
            <a:off x="8522208" y="6812280"/>
            <a:ext cx="1046988"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AI session traces</a:t>
            </a:r>
            <a:endParaRPr lang="en-US" sz="950" dirty="0"/>
          </a:p>
        </p:txBody>
      </p:sp>
      <p:sp>
        <p:nvSpPr>
          <p:cNvPr id="152" name="Shape 130"/>
          <p:cNvSpPr/>
          <p:nvPr/>
        </p:nvSpPr>
        <p:spPr>
          <a:xfrm>
            <a:off x="9724644" y="6812280"/>
            <a:ext cx="1458468" cy="338328"/>
          </a:xfrm>
          <a:prstGeom prst="roundRect">
            <a:avLst>
              <a:gd name="adj" fmla="val 40541"/>
            </a:avLst>
          </a:prstGeom>
          <a:solidFill>
            <a:srgbClr val="FFFFFF"/>
          </a:solidFill>
          <a:ln w="9525">
            <a:solidFill>
              <a:srgbClr val="C8D8EC"/>
            </a:solidFill>
            <a:prstDash val="solid"/>
          </a:ln>
        </p:spPr>
      </p:sp>
      <p:pic>
        <p:nvPicPr>
          <p:cNvPr id="153" name="Image 20" descr="preencoded.png">    </p:cNvPr>
          <p:cNvPicPr>
            <a:picLocks noChangeAspect="1"/>
          </p:cNvPicPr>
          <p:nvPr/>
        </p:nvPicPr>
        <p:blipFill>
          <a:blip r:embed="rId21"/>
          <a:stretch>
            <a:fillRect/>
          </a:stretch>
        </p:blipFill>
        <p:spPr>
          <a:xfrm>
            <a:off x="9852660" y="6908292"/>
            <a:ext cx="146304" cy="146304"/>
          </a:xfrm>
          <a:prstGeom prst="rect">
            <a:avLst/>
          </a:prstGeom>
        </p:spPr>
      </p:pic>
      <p:sp>
        <p:nvSpPr>
          <p:cNvPr id="154" name="Text 131"/>
          <p:cNvSpPr txBox="1"/>
          <p:nvPr/>
        </p:nvSpPr>
        <p:spPr>
          <a:xfrm>
            <a:off x="10090404" y="6812280"/>
            <a:ext cx="1046988"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Prompts &amp; sources</a:t>
            </a:r>
            <a:endParaRPr lang="en-US" sz="950" dirty="0"/>
          </a:p>
        </p:txBody>
      </p:sp>
      <p:sp>
        <p:nvSpPr>
          <p:cNvPr id="155" name="Shape 132"/>
          <p:cNvSpPr/>
          <p:nvPr/>
        </p:nvSpPr>
        <p:spPr>
          <a:xfrm>
            <a:off x="8156448" y="7242048"/>
            <a:ext cx="1458468" cy="338328"/>
          </a:xfrm>
          <a:prstGeom prst="roundRect">
            <a:avLst>
              <a:gd name="adj" fmla="val 40541"/>
            </a:avLst>
          </a:prstGeom>
          <a:solidFill>
            <a:srgbClr val="FFFFFF"/>
          </a:solidFill>
          <a:ln w="9525">
            <a:solidFill>
              <a:srgbClr val="C8D8EC"/>
            </a:solidFill>
            <a:prstDash val="solid"/>
          </a:ln>
        </p:spPr>
      </p:sp>
      <p:pic>
        <p:nvPicPr>
          <p:cNvPr id="156" name="Image 21" descr="preencoded.png">    </p:cNvPr>
          <p:cNvPicPr>
            <a:picLocks noChangeAspect="1"/>
          </p:cNvPicPr>
          <p:nvPr/>
        </p:nvPicPr>
        <p:blipFill>
          <a:blip r:embed="rId22"/>
          <a:stretch>
            <a:fillRect/>
          </a:stretch>
        </p:blipFill>
        <p:spPr>
          <a:xfrm>
            <a:off x="8284464" y="7338060"/>
            <a:ext cx="146304" cy="146304"/>
          </a:xfrm>
          <a:prstGeom prst="rect">
            <a:avLst/>
          </a:prstGeom>
        </p:spPr>
      </p:pic>
      <p:sp>
        <p:nvSpPr>
          <p:cNvPr id="157" name="Text 133"/>
          <p:cNvSpPr txBox="1"/>
          <p:nvPr/>
        </p:nvSpPr>
        <p:spPr>
          <a:xfrm>
            <a:off x="8522208" y="7242048"/>
            <a:ext cx="1046988"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Skill gap analysis</a:t>
            </a:r>
            <a:endParaRPr lang="en-US" sz="950" dirty="0"/>
          </a:p>
        </p:txBody>
      </p:sp>
      <p:sp>
        <p:nvSpPr>
          <p:cNvPr id="158" name="Shape 134"/>
          <p:cNvSpPr/>
          <p:nvPr/>
        </p:nvSpPr>
        <p:spPr>
          <a:xfrm>
            <a:off x="9724644" y="7242048"/>
            <a:ext cx="1458468" cy="338328"/>
          </a:xfrm>
          <a:prstGeom prst="roundRect">
            <a:avLst>
              <a:gd name="adj" fmla="val 40541"/>
            </a:avLst>
          </a:prstGeom>
          <a:solidFill>
            <a:srgbClr val="FFFFFF"/>
          </a:solidFill>
          <a:ln w="9525">
            <a:solidFill>
              <a:srgbClr val="C8D8EC"/>
            </a:solidFill>
            <a:prstDash val="solid"/>
          </a:ln>
        </p:spPr>
      </p:sp>
      <p:pic>
        <p:nvPicPr>
          <p:cNvPr id="159" name="Image 22" descr="preencoded.png">    </p:cNvPr>
          <p:cNvPicPr>
            <a:picLocks noChangeAspect="1"/>
          </p:cNvPicPr>
          <p:nvPr/>
        </p:nvPicPr>
        <p:blipFill>
          <a:blip r:embed="rId23"/>
          <a:stretch>
            <a:fillRect/>
          </a:stretch>
        </p:blipFill>
        <p:spPr>
          <a:xfrm>
            <a:off x="9852660" y="7338060"/>
            <a:ext cx="146304" cy="146304"/>
          </a:xfrm>
          <a:prstGeom prst="rect">
            <a:avLst/>
          </a:prstGeom>
        </p:spPr>
      </p:pic>
      <p:sp>
        <p:nvSpPr>
          <p:cNvPr id="160" name="Text 135"/>
          <p:cNvSpPr txBox="1"/>
          <p:nvPr/>
        </p:nvSpPr>
        <p:spPr>
          <a:xfrm>
            <a:off x="10090404" y="7242048"/>
            <a:ext cx="1046988"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LLM perf &amp; health</a:t>
            </a:r>
            <a:endParaRPr lang="en-US" sz="950" dirty="0"/>
          </a:p>
        </p:txBody>
      </p:sp>
      <p:sp>
        <p:nvSpPr>
          <p:cNvPr id="161" name="Shape 136"/>
          <p:cNvSpPr/>
          <p:nvPr/>
        </p:nvSpPr>
        <p:spPr>
          <a:xfrm>
            <a:off x="11731752" y="6473952"/>
            <a:ext cx="2386584" cy="1234440"/>
          </a:xfrm>
          <a:prstGeom prst="roundRect">
            <a:avLst>
              <a:gd name="adj" fmla="val 4444"/>
            </a:avLst>
          </a:prstGeom>
          <a:solidFill>
            <a:srgbClr val="F1F4F8"/>
          </a:solidFill>
          <a:ln w="12700">
            <a:solidFill>
              <a:srgbClr val="6B7C93"/>
            </a:solidFill>
            <a:prstDash val="dash"/>
          </a:ln>
        </p:spPr>
      </p:sp>
      <p:sp>
        <p:nvSpPr>
          <p:cNvPr id="162" name="Text 137"/>
          <p:cNvSpPr txBox="1"/>
          <p:nvPr/>
        </p:nvSpPr>
        <p:spPr>
          <a:xfrm>
            <a:off x="11850624" y="6547104"/>
            <a:ext cx="2112264" cy="182880"/>
          </a:xfrm>
          <a:prstGeom prst="rect">
            <a:avLst/>
          </a:prstGeom>
          <a:noFill/>
          <a:ln/>
        </p:spPr>
        <p:txBody>
          <a:bodyPr wrap="square" lIns="0" tIns="0" rIns="0" bIns="0" rtlCol="0" anchor="ctr"/>
          <a:lstStyle/>
          <a:p>
            <a:pPr indent="0" marL="0">
              <a:buNone/>
            </a:pPr>
            <a:r>
              <a:rPr lang="en-US" sz="900" b="1" spc="100" kern="0" dirty="0">
                <a:solidFill>
                  <a:srgbClr val="5A6B82"/>
                </a:solidFill>
                <a:latin typeface="Calibri" pitchFamily="34" charset="0"/>
                <a:ea typeface="Calibri" pitchFamily="34" charset="-122"/>
                <a:cs typeface="Calibri" pitchFamily="34" charset="-120"/>
              </a:rPr>
              <a:t>APPLICATION AUDIT (EXISTING)</a:t>
            </a:r>
            <a:endParaRPr lang="en-US" sz="900" dirty="0"/>
          </a:p>
        </p:txBody>
      </p:sp>
      <p:sp>
        <p:nvSpPr>
          <p:cNvPr id="163" name="Shape 138"/>
          <p:cNvSpPr/>
          <p:nvPr/>
        </p:nvSpPr>
        <p:spPr>
          <a:xfrm>
            <a:off x="11850624" y="6812280"/>
            <a:ext cx="2148840" cy="338328"/>
          </a:xfrm>
          <a:prstGeom prst="roundRect">
            <a:avLst>
              <a:gd name="adj" fmla="val 40541"/>
            </a:avLst>
          </a:prstGeom>
          <a:solidFill>
            <a:srgbClr val="FFFFFF"/>
          </a:solidFill>
          <a:ln w="9525">
            <a:solidFill>
              <a:srgbClr val="C8D8EC"/>
            </a:solidFill>
            <a:prstDash val="solid"/>
          </a:ln>
        </p:spPr>
      </p:sp>
      <p:pic>
        <p:nvPicPr>
          <p:cNvPr id="164" name="Image 23" descr="preencoded.png">    </p:cNvPr>
          <p:cNvPicPr>
            <a:picLocks noChangeAspect="1"/>
          </p:cNvPicPr>
          <p:nvPr/>
        </p:nvPicPr>
        <p:blipFill>
          <a:blip r:embed="rId24"/>
          <a:stretch>
            <a:fillRect/>
          </a:stretch>
        </p:blipFill>
        <p:spPr>
          <a:xfrm>
            <a:off x="11978640" y="6908292"/>
            <a:ext cx="146304" cy="146304"/>
          </a:xfrm>
          <a:prstGeom prst="rect">
            <a:avLst/>
          </a:prstGeom>
        </p:spPr>
      </p:pic>
      <p:sp>
        <p:nvSpPr>
          <p:cNvPr id="165" name="Text 139"/>
          <p:cNvSpPr txBox="1"/>
          <p:nvPr/>
        </p:nvSpPr>
        <p:spPr>
          <a:xfrm>
            <a:off x="12216384" y="6812280"/>
            <a:ext cx="1737360"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Owner decisions</a:t>
            </a:r>
            <a:endParaRPr lang="en-US" sz="950" dirty="0"/>
          </a:p>
        </p:txBody>
      </p:sp>
      <p:sp>
        <p:nvSpPr>
          <p:cNvPr id="166" name="Shape 140"/>
          <p:cNvSpPr/>
          <p:nvPr/>
        </p:nvSpPr>
        <p:spPr>
          <a:xfrm>
            <a:off x="11850624" y="7242048"/>
            <a:ext cx="2148840" cy="338328"/>
          </a:xfrm>
          <a:prstGeom prst="roundRect">
            <a:avLst>
              <a:gd name="adj" fmla="val 40541"/>
            </a:avLst>
          </a:prstGeom>
          <a:solidFill>
            <a:srgbClr val="FFFFFF"/>
          </a:solidFill>
          <a:ln w="9525">
            <a:solidFill>
              <a:srgbClr val="C8D8EC"/>
            </a:solidFill>
            <a:prstDash val="solid"/>
          </a:ln>
        </p:spPr>
      </p:sp>
      <p:pic>
        <p:nvPicPr>
          <p:cNvPr id="167" name="Image 24" descr="preencoded.png">    </p:cNvPr>
          <p:cNvPicPr>
            <a:picLocks noChangeAspect="1"/>
          </p:cNvPicPr>
          <p:nvPr/>
        </p:nvPicPr>
        <p:blipFill>
          <a:blip r:embed="rId25"/>
          <a:stretch>
            <a:fillRect/>
          </a:stretch>
        </p:blipFill>
        <p:spPr>
          <a:xfrm>
            <a:off x="11978640" y="7338060"/>
            <a:ext cx="146304" cy="146304"/>
          </a:xfrm>
          <a:prstGeom prst="rect">
            <a:avLst/>
          </a:prstGeom>
        </p:spPr>
      </p:pic>
      <p:sp>
        <p:nvSpPr>
          <p:cNvPr id="168" name="Text 141"/>
          <p:cNvSpPr txBox="1"/>
          <p:nvPr/>
        </p:nvSpPr>
        <p:spPr>
          <a:xfrm>
            <a:off x="12216384" y="7242048"/>
            <a:ext cx="1737360"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Reports published</a:t>
            </a:r>
            <a:endParaRPr lang="en-US" sz="950" dirty="0"/>
          </a:p>
        </p:txBody>
      </p:sp>
      <p:sp>
        <p:nvSpPr>
          <p:cNvPr id="169" name="Text 142"/>
          <p:cNvSpPr txBox="1"/>
          <p:nvPr/>
        </p:nvSpPr>
        <p:spPr>
          <a:xfrm>
            <a:off x="502920" y="7818120"/>
            <a:ext cx="2743200" cy="228600"/>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Outcomes</a:t>
            </a:r>
            <a:endParaRPr lang="en-US" sz="1100" dirty="0"/>
          </a:p>
        </p:txBody>
      </p:sp>
      <p:sp>
        <p:nvSpPr>
          <p:cNvPr id="170" name="Shape 143"/>
          <p:cNvSpPr/>
          <p:nvPr/>
        </p:nvSpPr>
        <p:spPr>
          <a:xfrm>
            <a:off x="502920" y="8074152"/>
            <a:ext cx="3227832" cy="1005840"/>
          </a:xfrm>
          <a:prstGeom prst="roundRect">
            <a:avLst>
              <a:gd name="adj" fmla="val 7273"/>
            </a:avLst>
          </a:prstGeom>
          <a:solidFill>
            <a:srgbClr val="FFFFFF"/>
          </a:solidFill>
          <a:ln w="9525">
            <a:solidFill>
              <a:srgbClr val="C8D8EC"/>
            </a:solidFill>
            <a:prstDash val="solid"/>
          </a:ln>
        </p:spPr>
      </p:sp>
      <p:sp>
        <p:nvSpPr>
          <p:cNvPr id="171" name="Shape 144"/>
          <p:cNvSpPr/>
          <p:nvPr/>
        </p:nvSpPr>
        <p:spPr>
          <a:xfrm>
            <a:off x="667512" y="8321040"/>
            <a:ext cx="512064" cy="512064"/>
          </a:xfrm>
          <a:prstGeom prst="ellipse">
            <a:avLst/>
          </a:prstGeom>
          <a:solidFill>
            <a:srgbClr val="1E8A5A"/>
          </a:solidFill>
          <a:ln w="12700">
            <a:solidFill>
              <a:srgbClr val="1E8A5A"/>
            </a:solidFill>
            <a:prstDash val="solid"/>
          </a:ln>
        </p:spPr>
      </p:sp>
      <p:pic>
        <p:nvPicPr>
          <p:cNvPr id="172" name="Image 25" descr="preencoded.png">    </p:cNvPr>
          <p:cNvPicPr>
            <a:picLocks noChangeAspect="1"/>
          </p:cNvPicPr>
          <p:nvPr/>
        </p:nvPicPr>
        <p:blipFill>
          <a:blip r:embed="rId26"/>
          <a:stretch>
            <a:fillRect/>
          </a:stretch>
        </p:blipFill>
        <p:spPr>
          <a:xfrm>
            <a:off x="800649" y="8454177"/>
            <a:ext cx="245791" cy="245791"/>
          </a:xfrm>
          <a:prstGeom prst="rect">
            <a:avLst/>
          </a:prstGeom>
        </p:spPr>
      </p:pic>
      <p:sp>
        <p:nvSpPr>
          <p:cNvPr id="173" name="Text 145"/>
          <p:cNvSpPr txBox="1"/>
          <p:nvPr/>
        </p:nvSpPr>
        <p:spPr>
          <a:xfrm>
            <a:off x="1325880"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Validated before release</a:t>
            </a:r>
            <a:endParaRPr lang="en-US" sz="1200" dirty="0"/>
          </a:p>
        </p:txBody>
      </p:sp>
      <p:sp>
        <p:nvSpPr>
          <p:cNvPr id="174" name="Text 146"/>
          <p:cNvSpPr txBox="1"/>
          <p:nvPr/>
        </p:nvSpPr>
        <p:spPr>
          <a:xfrm>
            <a:off x="1325880"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Every report tied out before it leaves Finance</a:t>
            </a:r>
            <a:endParaRPr lang="en-US" sz="950" dirty="0"/>
          </a:p>
        </p:txBody>
      </p:sp>
      <p:sp>
        <p:nvSpPr>
          <p:cNvPr id="175" name="Shape 147"/>
          <p:cNvSpPr/>
          <p:nvPr/>
        </p:nvSpPr>
        <p:spPr>
          <a:xfrm>
            <a:off x="3941064" y="8074152"/>
            <a:ext cx="3227832" cy="1005840"/>
          </a:xfrm>
          <a:prstGeom prst="roundRect">
            <a:avLst>
              <a:gd name="adj" fmla="val 7273"/>
            </a:avLst>
          </a:prstGeom>
          <a:solidFill>
            <a:srgbClr val="FFFFFF"/>
          </a:solidFill>
          <a:ln w="9525">
            <a:solidFill>
              <a:srgbClr val="C8D8EC"/>
            </a:solidFill>
            <a:prstDash val="solid"/>
          </a:ln>
        </p:spPr>
      </p:sp>
      <p:sp>
        <p:nvSpPr>
          <p:cNvPr id="176" name="Shape 148"/>
          <p:cNvSpPr/>
          <p:nvPr/>
        </p:nvSpPr>
        <p:spPr>
          <a:xfrm>
            <a:off x="4105656" y="8321040"/>
            <a:ext cx="512064" cy="512064"/>
          </a:xfrm>
          <a:prstGeom prst="ellipse">
            <a:avLst/>
          </a:prstGeom>
          <a:solidFill>
            <a:srgbClr val="2A6EBB"/>
          </a:solidFill>
          <a:ln w="12700">
            <a:solidFill>
              <a:srgbClr val="2A6EBB"/>
            </a:solidFill>
            <a:prstDash val="solid"/>
          </a:ln>
        </p:spPr>
      </p:sp>
      <p:pic>
        <p:nvPicPr>
          <p:cNvPr id="177" name="Image 26" descr="preencoded.png">    </p:cNvPr>
          <p:cNvPicPr>
            <a:picLocks noChangeAspect="1"/>
          </p:cNvPicPr>
          <p:nvPr/>
        </p:nvPicPr>
        <p:blipFill>
          <a:blip r:embed="rId27"/>
          <a:stretch>
            <a:fillRect/>
          </a:stretch>
        </p:blipFill>
        <p:spPr>
          <a:xfrm>
            <a:off x="4238793" y="8454177"/>
            <a:ext cx="245791" cy="245791"/>
          </a:xfrm>
          <a:prstGeom prst="rect">
            <a:avLst/>
          </a:prstGeom>
        </p:spPr>
      </p:pic>
      <p:sp>
        <p:nvSpPr>
          <p:cNvPr id="178" name="Text 149"/>
          <p:cNvSpPr txBox="1"/>
          <p:nvPr/>
        </p:nvSpPr>
        <p:spPr>
          <a:xfrm>
            <a:off x="4764024"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Human in the loop</a:t>
            </a:r>
            <a:endParaRPr lang="en-US" sz="1200" dirty="0"/>
          </a:p>
        </p:txBody>
      </p:sp>
      <p:sp>
        <p:nvSpPr>
          <p:cNvPr id="179" name="Text 150"/>
          <p:cNvSpPr txBox="1"/>
          <p:nvPr/>
        </p:nvSpPr>
        <p:spPr>
          <a:xfrm>
            <a:off x="4764024"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Report Owners release every publication</a:t>
            </a:r>
            <a:endParaRPr lang="en-US" sz="950" dirty="0"/>
          </a:p>
        </p:txBody>
      </p:sp>
      <p:sp>
        <p:nvSpPr>
          <p:cNvPr id="180" name="Shape 151"/>
          <p:cNvSpPr/>
          <p:nvPr/>
        </p:nvSpPr>
        <p:spPr>
          <a:xfrm>
            <a:off x="7379208" y="8074152"/>
            <a:ext cx="3227832" cy="1005840"/>
          </a:xfrm>
          <a:prstGeom prst="roundRect">
            <a:avLst>
              <a:gd name="adj" fmla="val 7273"/>
            </a:avLst>
          </a:prstGeom>
          <a:solidFill>
            <a:srgbClr val="FFFFFF"/>
          </a:solidFill>
          <a:ln w="9525">
            <a:solidFill>
              <a:srgbClr val="C8D8EC"/>
            </a:solidFill>
            <a:prstDash val="solid"/>
          </a:ln>
        </p:spPr>
      </p:sp>
      <p:sp>
        <p:nvSpPr>
          <p:cNvPr id="181" name="Shape 152"/>
          <p:cNvSpPr/>
          <p:nvPr/>
        </p:nvSpPr>
        <p:spPr>
          <a:xfrm>
            <a:off x="7543800" y="8321040"/>
            <a:ext cx="512064" cy="512064"/>
          </a:xfrm>
          <a:prstGeom prst="ellipse">
            <a:avLst/>
          </a:prstGeom>
          <a:solidFill>
            <a:srgbClr val="5B4FA8"/>
          </a:solidFill>
          <a:ln w="12700">
            <a:solidFill>
              <a:srgbClr val="5B4FA8"/>
            </a:solidFill>
            <a:prstDash val="solid"/>
          </a:ln>
        </p:spPr>
      </p:sp>
      <p:pic>
        <p:nvPicPr>
          <p:cNvPr id="182" name="Image 27" descr="preencoded.png">    </p:cNvPr>
          <p:cNvPicPr>
            <a:picLocks noChangeAspect="1"/>
          </p:cNvPicPr>
          <p:nvPr/>
        </p:nvPicPr>
        <p:blipFill>
          <a:blip r:embed="rId28"/>
          <a:stretch>
            <a:fillRect/>
          </a:stretch>
        </p:blipFill>
        <p:spPr>
          <a:xfrm>
            <a:off x="7676937" y="8454177"/>
            <a:ext cx="245791" cy="245791"/>
          </a:xfrm>
          <a:prstGeom prst="rect">
            <a:avLst/>
          </a:prstGeom>
        </p:spPr>
      </p:pic>
      <p:sp>
        <p:nvSpPr>
          <p:cNvPr id="183" name="Text 153"/>
          <p:cNvSpPr txBox="1"/>
          <p:nvPr/>
        </p:nvSpPr>
        <p:spPr>
          <a:xfrm>
            <a:off x="8202168"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Engines compute</a:t>
            </a:r>
            <a:endParaRPr lang="en-US" sz="1200" dirty="0"/>
          </a:p>
        </p:txBody>
      </p:sp>
      <p:sp>
        <p:nvSpPr>
          <p:cNvPr id="184" name="Text 154"/>
          <p:cNvSpPr txBox="1"/>
          <p:nvPr/>
        </p:nvSpPr>
        <p:spPr>
          <a:xfrm>
            <a:off x="8202168"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Tie-outs from code, the LLM explains differences</a:t>
            </a:r>
            <a:endParaRPr lang="en-US" sz="950" dirty="0"/>
          </a:p>
        </p:txBody>
      </p:sp>
      <p:sp>
        <p:nvSpPr>
          <p:cNvPr id="185" name="Shape 155"/>
          <p:cNvSpPr/>
          <p:nvPr/>
        </p:nvSpPr>
        <p:spPr>
          <a:xfrm>
            <a:off x="10817352" y="8074152"/>
            <a:ext cx="3227832" cy="1005840"/>
          </a:xfrm>
          <a:prstGeom prst="roundRect">
            <a:avLst>
              <a:gd name="adj" fmla="val 7273"/>
            </a:avLst>
          </a:prstGeom>
          <a:solidFill>
            <a:srgbClr val="FFFFFF"/>
          </a:solidFill>
          <a:ln w="9525">
            <a:solidFill>
              <a:srgbClr val="C8D8EC"/>
            </a:solidFill>
            <a:prstDash val="solid"/>
          </a:ln>
        </p:spPr>
      </p:sp>
      <p:sp>
        <p:nvSpPr>
          <p:cNvPr id="186" name="Shape 156"/>
          <p:cNvSpPr/>
          <p:nvPr/>
        </p:nvSpPr>
        <p:spPr>
          <a:xfrm>
            <a:off x="10981944" y="8321040"/>
            <a:ext cx="512064" cy="512064"/>
          </a:xfrm>
          <a:prstGeom prst="ellipse">
            <a:avLst/>
          </a:prstGeom>
          <a:solidFill>
            <a:srgbClr val="1F4E8C"/>
          </a:solidFill>
          <a:ln w="12700">
            <a:solidFill>
              <a:srgbClr val="1F4E8C"/>
            </a:solidFill>
            <a:prstDash val="solid"/>
          </a:ln>
        </p:spPr>
      </p:sp>
      <p:pic>
        <p:nvPicPr>
          <p:cNvPr id="187" name="Image 28" descr="preencoded.png">    </p:cNvPr>
          <p:cNvPicPr>
            <a:picLocks noChangeAspect="1"/>
          </p:cNvPicPr>
          <p:nvPr/>
        </p:nvPicPr>
        <p:blipFill>
          <a:blip r:embed="rId29"/>
          <a:stretch>
            <a:fillRect/>
          </a:stretch>
        </p:blipFill>
        <p:spPr>
          <a:xfrm>
            <a:off x="11115081" y="8454177"/>
            <a:ext cx="245791" cy="245791"/>
          </a:xfrm>
          <a:prstGeom prst="rect">
            <a:avLst/>
          </a:prstGeom>
        </p:spPr>
      </p:pic>
      <p:sp>
        <p:nvSpPr>
          <p:cNvPr id="188" name="Text 157"/>
          <p:cNvSpPr txBox="1"/>
          <p:nvPr/>
        </p:nvSpPr>
        <p:spPr>
          <a:xfrm>
            <a:off x="11640312"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Scales by domain</a:t>
            </a:r>
            <a:endParaRPr lang="en-US" sz="1200" dirty="0"/>
          </a:p>
        </p:txBody>
      </p:sp>
      <p:sp>
        <p:nvSpPr>
          <p:cNvPr id="189" name="Text 158"/>
          <p:cNvSpPr txBox="1"/>
          <p:nvPr/>
        </p:nvSpPr>
        <p:spPr>
          <a:xfrm>
            <a:off x="11640312"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Smaller BO estate makes coverage practical</a:t>
            </a:r>
            <a:endParaRPr lang="en-US" sz="950" dirty="0"/>
          </a:p>
        </p:txBody>
      </p:sp>
      <p:sp>
        <p:nvSpPr>
          <p:cNvPr id="190" name="Shape 159"/>
          <p:cNvSpPr/>
          <p:nvPr/>
        </p:nvSpPr>
        <p:spPr>
          <a:xfrm>
            <a:off x="0" y="9272016"/>
            <a:ext cx="14630400" cy="484632"/>
          </a:xfrm>
          <a:prstGeom prst="rect">
            <a:avLst/>
          </a:prstGeom>
          <a:solidFill>
            <a:srgbClr val="0B2E5E"/>
          </a:solidFill>
          <a:ln w="12700">
            <a:solidFill>
              <a:srgbClr val="0B2E5E"/>
            </a:solidFill>
            <a:prstDash val="solid"/>
          </a:ln>
        </p:spPr>
      </p:sp>
      <p:sp>
        <p:nvSpPr>
          <p:cNvPr id="191" name="Text 160"/>
          <p:cNvSpPr txBox="1"/>
          <p:nvPr/>
        </p:nvSpPr>
        <p:spPr>
          <a:xfrm>
            <a:off x="0" y="9272016"/>
            <a:ext cx="14630400" cy="4846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Internal Reporting</a:t>
            </a:r>
            <a:pPr algn="ctr" indent="0" marL="0">
              <a:buNone/>
            </a:pPr>
            <a:r>
              <a:rPr lang="en-US" sz="1100" dirty="0">
                <a:solidFill>
                  <a:srgbClr val="FFFFFF"/>
                </a:solidFill>
                <a:latin typeface="Calibri" pitchFamily="34" charset="0"/>
                <a:ea typeface="Calibri" pitchFamily="34" charset="-122"/>
                <a:cs typeface="Calibri" pitchFamily="34" charset="-120"/>
              </a:rPr>
              <a:t>   |   Validated Reports. Fewer Restatements. Lower Run Cost.</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AFD"/>
        </a:solidFill>
      </p:bgPr>
    </p:bg>
    <p:spTree>
      <p:nvGrpSpPr>
        <p:cNvPr id="1" name=""/>
        <p:cNvGrpSpPr/>
        <p:nvPr/>
      </p:nvGrpSpPr>
      <p:grpSpPr>
        <a:xfrm>
          <a:off x="0" y="0"/>
          <a:ext cx="0" cy="0"/>
          <a:chOff x="0" y="0"/>
          <a:chExt cx="0" cy="0"/>
        </a:xfrm>
      </p:grpSpPr>
      <p:sp>
        <p:nvSpPr>
          <p:cNvPr id="2" name="Shape 0"/>
          <p:cNvSpPr/>
          <p:nvPr/>
        </p:nvSpPr>
        <p:spPr>
          <a:xfrm>
            <a:off x="0" y="0"/>
            <a:ext cx="14630400" cy="1024128"/>
          </a:xfrm>
          <a:prstGeom prst="rect">
            <a:avLst/>
          </a:prstGeom>
          <a:solidFill>
            <a:srgbClr val="0B2E5E"/>
          </a:solidFill>
          <a:ln w="12700">
            <a:solidFill>
              <a:srgbClr val="0B2E5E"/>
            </a:solidFill>
            <a:prstDash val="solid"/>
          </a:ln>
        </p:spPr>
      </p:sp>
      <p:sp>
        <p:nvSpPr>
          <p:cNvPr id="3" name="Text 1"/>
          <p:cNvSpPr txBox="1"/>
          <p:nvPr/>
        </p:nvSpPr>
        <p:spPr>
          <a:xfrm>
            <a:off x="301752" y="137160"/>
            <a:ext cx="11155680" cy="475488"/>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UC7 Master &amp; Reference Data Corrections</a:t>
            </a:r>
            <a:endParaRPr lang="en-US" sz="3000" dirty="0"/>
          </a:p>
        </p:txBody>
      </p:sp>
      <p:sp>
        <p:nvSpPr>
          <p:cNvPr id="4" name="Text 2"/>
          <p:cNvSpPr txBox="1"/>
          <p:nvPr/>
        </p:nvSpPr>
        <p:spPr>
          <a:xfrm>
            <a:off x="301752" y="612648"/>
            <a:ext cx="11155680" cy="301752"/>
          </a:xfrm>
          <a:prstGeom prst="rect">
            <a:avLst/>
          </a:prstGeom>
          <a:noFill/>
          <a:ln/>
        </p:spPr>
        <p:txBody>
          <a:bodyPr wrap="square" lIns="0" tIns="0" rIns="0" bIns="0" rtlCol="0" anchor="ctr"/>
          <a:lstStyle/>
          <a:p>
            <a:pPr indent="0" marL="0">
              <a:buNone/>
            </a:pPr>
            <a:r>
              <a:rPr lang="en-US" sz="1600" dirty="0">
                <a:solidFill>
                  <a:srgbClr val="DCE9F7"/>
                </a:solidFill>
                <a:latin typeface="Calibri" pitchFamily="34" charset="0"/>
                <a:ea typeface="Calibri" pitchFamily="34" charset="-122"/>
                <a:cs typeface="Calibri" pitchFamily="34" charset="-120"/>
              </a:rPr>
              <a:t>Master / Reference Data Corrections from recs, controls and analytics</a:t>
            </a:r>
            <a:endParaRPr lang="en-US" sz="1600" dirty="0"/>
          </a:p>
        </p:txBody>
      </p:sp>
      <p:sp>
        <p:nvSpPr>
          <p:cNvPr id="5" name="Shape 3"/>
          <p:cNvSpPr/>
          <p:nvPr/>
        </p:nvSpPr>
        <p:spPr>
          <a:xfrm>
            <a:off x="11640312" y="192024"/>
            <a:ext cx="0" cy="649224"/>
          </a:xfrm>
          <a:prstGeom prst="line">
            <a:avLst/>
          </a:prstGeom>
          <a:noFill/>
          <a:ln w="12700">
            <a:solidFill>
              <a:srgbClr val="FFFFFF"/>
            </a:solidFill>
            <a:prstDash val="solid"/>
          </a:ln>
        </p:spPr>
      </p:sp>
      <p:sp>
        <p:nvSpPr>
          <p:cNvPr id="6" name="Text 4"/>
          <p:cNvSpPr txBox="1"/>
          <p:nvPr/>
        </p:nvSpPr>
        <p:spPr>
          <a:xfrm>
            <a:off x="11814048" y="265176"/>
            <a:ext cx="2715768"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Reference Data</a:t>
            </a:r>
            <a:endParaRPr lang="en-US" sz="2200" dirty="0"/>
          </a:p>
        </p:txBody>
      </p:sp>
      <p:sp>
        <p:nvSpPr>
          <p:cNvPr id="7" name="Text 5"/>
          <p:cNvSpPr txBox="1"/>
          <p:nvPr/>
        </p:nvSpPr>
        <p:spPr>
          <a:xfrm>
            <a:off x="502920" y="1216152"/>
            <a:ext cx="1920240" cy="347472"/>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Data domains</a:t>
            </a:r>
            <a:endParaRPr lang="en-US" sz="1100" dirty="0"/>
          </a:p>
        </p:txBody>
      </p:sp>
      <p:sp>
        <p:nvSpPr>
          <p:cNvPr id="8" name="Shape 6"/>
          <p:cNvSpPr/>
          <p:nvPr/>
        </p:nvSpPr>
        <p:spPr>
          <a:xfrm>
            <a:off x="2496312" y="1243584"/>
            <a:ext cx="2075688" cy="283464"/>
          </a:xfrm>
          <a:prstGeom prst="roundRect">
            <a:avLst>
              <a:gd name="adj" fmla="val 48387"/>
            </a:avLst>
          </a:prstGeom>
          <a:solidFill>
            <a:srgbClr val="DCE9F7"/>
          </a:solidFill>
          <a:ln w="9525">
            <a:solidFill>
              <a:srgbClr val="C8D8EC"/>
            </a:solidFill>
            <a:prstDash val="solid"/>
          </a:ln>
        </p:spPr>
      </p:sp>
      <p:pic>
        <p:nvPicPr>
          <p:cNvPr id="9" name="Image 0" descr="preencoded.png">    </p:cNvPr>
          <p:cNvPicPr>
            <a:picLocks noChangeAspect="1"/>
          </p:cNvPicPr>
          <p:nvPr/>
        </p:nvPicPr>
        <p:blipFill>
          <a:blip r:embed="rId1"/>
          <a:stretch>
            <a:fillRect/>
          </a:stretch>
        </p:blipFill>
        <p:spPr>
          <a:xfrm>
            <a:off x="2606040" y="1316736"/>
            <a:ext cx="137160" cy="137160"/>
          </a:xfrm>
          <a:prstGeom prst="rect">
            <a:avLst/>
          </a:prstGeom>
        </p:spPr>
      </p:pic>
      <p:sp>
        <p:nvSpPr>
          <p:cNvPr id="10" name="Text 7"/>
          <p:cNvSpPr txBox="1"/>
          <p:nvPr/>
        </p:nvSpPr>
        <p:spPr>
          <a:xfrm>
            <a:off x="2798064" y="1243584"/>
            <a:ext cx="1737360" cy="283464"/>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Books &amp; hierarchy</a:t>
            </a:r>
            <a:endParaRPr lang="en-US" sz="950" dirty="0"/>
          </a:p>
        </p:txBody>
      </p:sp>
      <p:sp>
        <p:nvSpPr>
          <p:cNvPr id="11" name="Shape 8"/>
          <p:cNvSpPr/>
          <p:nvPr/>
        </p:nvSpPr>
        <p:spPr>
          <a:xfrm>
            <a:off x="4709160" y="1243584"/>
            <a:ext cx="2075688" cy="283464"/>
          </a:xfrm>
          <a:prstGeom prst="roundRect">
            <a:avLst>
              <a:gd name="adj" fmla="val 48387"/>
            </a:avLst>
          </a:prstGeom>
          <a:solidFill>
            <a:srgbClr val="DCE9F7"/>
          </a:solidFill>
          <a:ln w="9525">
            <a:solidFill>
              <a:srgbClr val="C8D8EC"/>
            </a:solidFill>
            <a:prstDash val="solid"/>
          </a:ln>
        </p:spPr>
      </p:sp>
      <p:pic>
        <p:nvPicPr>
          <p:cNvPr id="12" name="Image 1" descr="preencoded.png">    </p:cNvPr>
          <p:cNvPicPr>
            <a:picLocks noChangeAspect="1"/>
          </p:cNvPicPr>
          <p:nvPr/>
        </p:nvPicPr>
        <p:blipFill>
          <a:blip r:embed="rId2"/>
          <a:stretch>
            <a:fillRect/>
          </a:stretch>
        </p:blipFill>
        <p:spPr>
          <a:xfrm>
            <a:off x="4818888" y="1316736"/>
            <a:ext cx="137160" cy="137160"/>
          </a:xfrm>
          <a:prstGeom prst="rect">
            <a:avLst/>
          </a:prstGeom>
        </p:spPr>
      </p:pic>
      <p:sp>
        <p:nvSpPr>
          <p:cNvPr id="13" name="Text 9"/>
          <p:cNvSpPr txBox="1"/>
          <p:nvPr/>
        </p:nvSpPr>
        <p:spPr>
          <a:xfrm>
            <a:off x="5010912" y="1243584"/>
            <a:ext cx="1737360" cy="283464"/>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Legal entity</a:t>
            </a:r>
            <a:endParaRPr lang="en-US" sz="950" dirty="0"/>
          </a:p>
        </p:txBody>
      </p:sp>
      <p:sp>
        <p:nvSpPr>
          <p:cNvPr id="14" name="Shape 10"/>
          <p:cNvSpPr/>
          <p:nvPr/>
        </p:nvSpPr>
        <p:spPr>
          <a:xfrm>
            <a:off x="6922008" y="1243584"/>
            <a:ext cx="2075688" cy="283464"/>
          </a:xfrm>
          <a:prstGeom prst="roundRect">
            <a:avLst>
              <a:gd name="adj" fmla="val 48387"/>
            </a:avLst>
          </a:prstGeom>
          <a:solidFill>
            <a:srgbClr val="DCE9F7"/>
          </a:solidFill>
          <a:ln w="9525">
            <a:solidFill>
              <a:srgbClr val="C8D8EC"/>
            </a:solidFill>
            <a:prstDash val="solid"/>
          </a:ln>
        </p:spPr>
      </p:sp>
      <p:pic>
        <p:nvPicPr>
          <p:cNvPr id="15" name="Image 2" descr="preencoded.png">    </p:cNvPr>
          <p:cNvPicPr>
            <a:picLocks noChangeAspect="1"/>
          </p:cNvPicPr>
          <p:nvPr/>
        </p:nvPicPr>
        <p:blipFill>
          <a:blip r:embed="rId3"/>
          <a:stretch>
            <a:fillRect/>
          </a:stretch>
        </p:blipFill>
        <p:spPr>
          <a:xfrm>
            <a:off x="7031736" y="1316736"/>
            <a:ext cx="137160" cy="137160"/>
          </a:xfrm>
          <a:prstGeom prst="rect">
            <a:avLst/>
          </a:prstGeom>
        </p:spPr>
      </p:pic>
      <p:sp>
        <p:nvSpPr>
          <p:cNvPr id="16" name="Text 11"/>
          <p:cNvSpPr txBox="1"/>
          <p:nvPr/>
        </p:nvSpPr>
        <p:spPr>
          <a:xfrm>
            <a:off x="7223760" y="1243584"/>
            <a:ext cx="1737360" cy="283464"/>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Account &amp; product</a:t>
            </a:r>
            <a:endParaRPr lang="en-US" sz="950" dirty="0"/>
          </a:p>
        </p:txBody>
      </p:sp>
      <p:sp>
        <p:nvSpPr>
          <p:cNvPr id="17" name="Shape 12"/>
          <p:cNvSpPr/>
          <p:nvPr/>
        </p:nvSpPr>
        <p:spPr>
          <a:xfrm>
            <a:off x="9134856" y="1243584"/>
            <a:ext cx="2075688" cy="283464"/>
          </a:xfrm>
          <a:prstGeom prst="roundRect">
            <a:avLst>
              <a:gd name="adj" fmla="val 48387"/>
            </a:avLst>
          </a:prstGeom>
          <a:solidFill>
            <a:srgbClr val="FFFFFF"/>
          </a:solidFill>
          <a:ln w="9525">
            <a:solidFill>
              <a:srgbClr val="C8D8EC"/>
            </a:solidFill>
            <a:prstDash val="solid"/>
          </a:ln>
        </p:spPr>
      </p:sp>
      <p:pic>
        <p:nvPicPr>
          <p:cNvPr id="18" name="Image 3" descr="preencoded.png">    </p:cNvPr>
          <p:cNvPicPr>
            <a:picLocks noChangeAspect="1"/>
          </p:cNvPicPr>
          <p:nvPr/>
        </p:nvPicPr>
        <p:blipFill>
          <a:blip r:embed="rId4"/>
          <a:stretch>
            <a:fillRect/>
          </a:stretch>
        </p:blipFill>
        <p:spPr>
          <a:xfrm>
            <a:off x="9244584" y="1316736"/>
            <a:ext cx="137160" cy="137160"/>
          </a:xfrm>
          <a:prstGeom prst="rect">
            <a:avLst/>
          </a:prstGeom>
        </p:spPr>
      </p:pic>
      <p:sp>
        <p:nvSpPr>
          <p:cNvPr id="19" name="Text 13"/>
          <p:cNvSpPr txBox="1"/>
          <p:nvPr/>
        </p:nvSpPr>
        <p:spPr>
          <a:xfrm>
            <a:off x="9436608" y="1243584"/>
            <a:ext cx="1737360" cy="283464"/>
          </a:xfrm>
          <a:prstGeom prst="rect">
            <a:avLst/>
          </a:prstGeom>
          <a:noFill/>
          <a:ln/>
        </p:spPr>
        <p:txBody>
          <a:bodyPr wrap="square" lIns="0" tIns="0" rIns="0" bIns="0" rtlCol="0" anchor="ctr"/>
          <a:lstStyle/>
          <a:p>
            <a:pPr indent="0" marL="0">
              <a:buNone/>
            </a:pPr>
            <a:r>
              <a:rPr lang="en-US" sz="950" i="1" dirty="0">
                <a:solidFill>
                  <a:srgbClr val="1F2D3D"/>
                </a:solidFill>
                <a:latin typeface="Calibri" pitchFamily="34" charset="0"/>
                <a:ea typeface="Calibri" pitchFamily="34" charset="-122"/>
                <a:cs typeface="Calibri" pitchFamily="34" charset="-120"/>
              </a:rPr>
              <a:t>More domains</a:t>
            </a:r>
            <a:endParaRPr lang="en-US" sz="950" dirty="0"/>
          </a:p>
        </p:txBody>
      </p:sp>
      <p:sp>
        <p:nvSpPr>
          <p:cNvPr id="20" name="Text 14"/>
          <p:cNvSpPr txBox="1"/>
          <p:nvPr/>
        </p:nvSpPr>
        <p:spPr>
          <a:xfrm>
            <a:off x="11338560" y="1216152"/>
            <a:ext cx="2852928" cy="347472"/>
          </a:xfrm>
          <a:prstGeom prst="rect">
            <a:avLst/>
          </a:prstGeom>
          <a:noFill/>
          <a:ln/>
        </p:spPr>
        <p:txBody>
          <a:bodyPr wrap="square" lIns="0" tIns="0" rIns="0" bIns="0" rtlCol="0" anchor="ctr"/>
          <a:lstStyle/>
          <a:p>
            <a:pPr indent="0" marL="0">
              <a:buNone/>
            </a:pPr>
            <a:r>
              <a:rPr lang="en-US" sz="950" i="1" dirty="0">
                <a:solidFill>
                  <a:srgbClr val="4A5A6E"/>
                </a:solidFill>
                <a:latin typeface="Calibri" pitchFamily="34" charset="0"/>
                <a:ea typeface="Calibri" pitchFamily="34" charset="-122"/>
                <a:cs typeface="Calibri" pitchFamily="34" charset="-120"/>
              </a:rPr>
              <a:t>Status: Next wave</a:t>
            </a:r>
            <a:endParaRPr lang="en-US" sz="950" dirty="0"/>
          </a:p>
        </p:txBody>
      </p:sp>
      <p:sp>
        <p:nvSpPr>
          <p:cNvPr id="21" name="Shape 15"/>
          <p:cNvSpPr/>
          <p:nvPr/>
        </p:nvSpPr>
        <p:spPr>
          <a:xfrm>
            <a:off x="502920" y="1737360"/>
            <a:ext cx="2377440" cy="4480560"/>
          </a:xfrm>
          <a:prstGeom prst="roundRect">
            <a:avLst>
              <a:gd name="adj" fmla="val 2308"/>
            </a:avLst>
          </a:prstGeom>
          <a:solidFill>
            <a:srgbClr val="EEF4FB"/>
          </a:solidFill>
          <a:ln w="12700">
            <a:solidFill>
              <a:srgbClr val="1B4F93"/>
            </a:solidFill>
            <a:prstDash val="dash"/>
          </a:ln>
        </p:spPr>
      </p:sp>
      <p:sp>
        <p:nvSpPr>
          <p:cNvPr id="22" name="Text 16"/>
          <p:cNvSpPr txBox="1"/>
          <p:nvPr/>
        </p:nvSpPr>
        <p:spPr>
          <a:xfrm>
            <a:off x="621792" y="1810512"/>
            <a:ext cx="2148840" cy="192024"/>
          </a:xfrm>
          <a:prstGeom prst="rect">
            <a:avLst/>
          </a:prstGeom>
          <a:noFill/>
          <a:ln/>
        </p:spPr>
        <p:txBody>
          <a:bodyPr wrap="square" lIns="0" tIns="0" rIns="0" bIns="0" rtlCol="0" anchor="ctr"/>
          <a:lstStyle/>
          <a:p>
            <a:pPr indent="0" marL="0">
              <a:buNone/>
            </a:pPr>
            <a:r>
              <a:rPr lang="en-US" sz="900" b="1" spc="100" kern="0" dirty="0">
                <a:solidFill>
                  <a:srgbClr val="1B4F93"/>
                </a:solidFill>
                <a:latin typeface="Calibri" pitchFamily="34" charset="0"/>
                <a:ea typeface="Calibri" pitchFamily="34" charset="-122"/>
                <a:cs typeface="Calibri" pitchFamily="34" charset="-120"/>
              </a:rPr>
              <a:t>DATA ISSUES</a:t>
            </a:r>
            <a:endParaRPr lang="en-US" sz="900" dirty="0"/>
          </a:p>
        </p:txBody>
      </p:sp>
      <p:sp>
        <p:nvSpPr>
          <p:cNvPr id="23" name="Shape 17"/>
          <p:cNvSpPr/>
          <p:nvPr/>
        </p:nvSpPr>
        <p:spPr>
          <a:xfrm>
            <a:off x="1691640" y="6236208"/>
            <a:ext cx="0" cy="219456"/>
          </a:xfrm>
          <a:prstGeom prst="line">
            <a:avLst/>
          </a:prstGeom>
          <a:noFill/>
          <a:ln w="15875">
            <a:solidFill>
              <a:srgbClr val="6B7C93"/>
            </a:solidFill>
            <a:prstDash val="dash"/>
            <a:tailEnd type="triangle"/>
          </a:ln>
        </p:spPr>
      </p:sp>
      <p:sp>
        <p:nvSpPr>
          <p:cNvPr id="24" name="Shape 18"/>
          <p:cNvSpPr/>
          <p:nvPr/>
        </p:nvSpPr>
        <p:spPr>
          <a:xfrm>
            <a:off x="3310128" y="1737360"/>
            <a:ext cx="2377440" cy="4480560"/>
          </a:xfrm>
          <a:prstGeom prst="roundRect">
            <a:avLst>
              <a:gd name="adj" fmla="val 2308"/>
            </a:avLst>
          </a:prstGeom>
          <a:solidFill>
            <a:srgbClr val="EEF4FB"/>
          </a:solidFill>
          <a:ln w="12700">
            <a:solidFill>
              <a:srgbClr val="2A6EBB"/>
            </a:solidFill>
            <a:prstDash val="dash"/>
          </a:ln>
        </p:spPr>
      </p:sp>
      <p:sp>
        <p:nvSpPr>
          <p:cNvPr id="25" name="Text 19"/>
          <p:cNvSpPr txBox="1"/>
          <p:nvPr/>
        </p:nvSpPr>
        <p:spPr>
          <a:xfrm>
            <a:off x="3429000" y="1810512"/>
            <a:ext cx="2148840" cy="192024"/>
          </a:xfrm>
          <a:prstGeom prst="rect">
            <a:avLst/>
          </a:prstGeom>
          <a:noFill/>
          <a:ln/>
        </p:spPr>
        <p:txBody>
          <a:bodyPr wrap="square" lIns="0" tIns="0" rIns="0" bIns="0" rtlCol="0" anchor="ctr"/>
          <a:lstStyle/>
          <a:p>
            <a:pPr indent="0" marL="0">
              <a:buNone/>
            </a:pPr>
            <a:r>
              <a:rPr lang="en-US" sz="900" b="1" spc="100" kern="0" dirty="0">
                <a:solidFill>
                  <a:srgbClr val="2A6EBB"/>
                </a:solidFill>
                <a:latin typeface="Calibri" pitchFamily="34" charset="0"/>
                <a:ea typeface="Calibri" pitchFamily="34" charset="-122"/>
                <a:cs typeface="Calibri" pitchFamily="34" charset="-120"/>
              </a:rPr>
              <a:t>EVENTS &amp; READINESS</a:t>
            </a:r>
            <a:endParaRPr lang="en-US" sz="900" dirty="0"/>
          </a:p>
        </p:txBody>
      </p:sp>
      <p:sp>
        <p:nvSpPr>
          <p:cNvPr id="26" name="Shape 20"/>
          <p:cNvSpPr/>
          <p:nvPr/>
        </p:nvSpPr>
        <p:spPr>
          <a:xfrm>
            <a:off x="4498848" y="6236208"/>
            <a:ext cx="0" cy="219456"/>
          </a:xfrm>
          <a:prstGeom prst="line">
            <a:avLst/>
          </a:prstGeom>
          <a:noFill/>
          <a:ln w="15875">
            <a:solidFill>
              <a:srgbClr val="6B7C93"/>
            </a:solidFill>
            <a:prstDash val="dash"/>
            <a:tailEnd type="triangle"/>
          </a:ln>
        </p:spPr>
      </p:sp>
      <p:sp>
        <p:nvSpPr>
          <p:cNvPr id="27" name="Shape 21"/>
          <p:cNvSpPr/>
          <p:nvPr/>
        </p:nvSpPr>
        <p:spPr>
          <a:xfrm>
            <a:off x="6126480" y="1737360"/>
            <a:ext cx="2377440" cy="4480560"/>
          </a:xfrm>
          <a:prstGeom prst="roundRect">
            <a:avLst>
              <a:gd name="adj" fmla="val 2308"/>
            </a:avLst>
          </a:prstGeom>
          <a:solidFill>
            <a:srgbClr val="EDF7F2"/>
          </a:solidFill>
          <a:ln w="12700">
            <a:solidFill>
              <a:srgbClr val="1E8A5A"/>
            </a:solidFill>
            <a:prstDash val="dash"/>
          </a:ln>
        </p:spPr>
      </p:sp>
      <p:sp>
        <p:nvSpPr>
          <p:cNvPr id="28" name="Text 22"/>
          <p:cNvSpPr txBox="1"/>
          <p:nvPr/>
        </p:nvSpPr>
        <p:spPr>
          <a:xfrm>
            <a:off x="6245352" y="1810512"/>
            <a:ext cx="2148840" cy="192024"/>
          </a:xfrm>
          <a:prstGeom prst="rect">
            <a:avLst/>
          </a:prstGeom>
          <a:noFill/>
          <a:ln/>
        </p:spPr>
        <p:txBody>
          <a:bodyPr wrap="square" lIns="0" tIns="0" rIns="0" bIns="0" rtlCol="0" anchor="ctr"/>
          <a:lstStyle/>
          <a:p>
            <a:pPr indent="0" marL="0">
              <a:buNone/>
            </a:pPr>
            <a:r>
              <a:rPr lang="en-US" sz="900" b="1" spc="100" kern="0" dirty="0">
                <a:solidFill>
                  <a:srgbClr val="1E8A5A"/>
                </a:solidFill>
                <a:latin typeface="Calibri" pitchFamily="34" charset="0"/>
                <a:ea typeface="Calibri" pitchFamily="34" charset="-122"/>
                <a:cs typeface="Calibri" pitchFamily="34" charset="-120"/>
              </a:rPr>
              <a:t>ORCHESTRATION</a:t>
            </a:r>
            <a:endParaRPr lang="en-US" sz="900" dirty="0"/>
          </a:p>
        </p:txBody>
      </p:sp>
      <p:sp>
        <p:nvSpPr>
          <p:cNvPr id="29" name="Shape 23"/>
          <p:cNvSpPr/>
          <p:nvPr/>
        </p:nvSpPr>
        <p:spPr>
          <a:xfrm>
            <a:off x="7315200" y="6236208"/>
            <a:ext cx="0" cy="219456"/>
          </a:xfrm>
          <a:prstGeom prst="line">
            <a:avLst/>
          </a:prstGeom>
          <a:noFill/>
          <a:ln w="15875">
            <a:solidFill>
              <a:srgbClr val="6B7C93"/>
            </a:solidFill>
            <a:prstDash val="dash"/>
            <a:tailEnd type="triangle"/>
          </a:ln>
        </p:spPr>
      </p:sp>
      <p:sp>
        <p:nvSpPr>
          <p:cNvPr id="30" name="Shape 24"/>
          <p:cNvSpPr/>
          <p:nvPr/>
        </p:nvSpPr>
        <p:spPr>
          <a:xfrm>
            <a:off x="8933688" y="1737360"/>
            <a:ext cx="2377440" cy="4480560"/>
          </a:xfrm>
          <a:prstGeom prst="roundRect">
            <a:avLst>
              <a:gd name="adj" fmla="val 2308"/>
            </a:avLst>
          </a:prstGeom>
          <a:solidFill>
            <a:srgbClr val="F3F1FB"/>
          </a:solidFill>
          <a:ln w="12700">
            <a:solidFill>
              <a:srgbClr val="5B4FA8"/>
            </a:solidFill>
            <a:prstDash val="dash"/>
          </a:ln>
        </p:spPr>
      </p:sp>
      <p:sp>
        <p:nvSpPr>
          <p:cNvPr id="31" name="Text 25"/>
          <p:cNvSpPr txBox="1"/>
          <p:nvPr/>
        </p:nvSpPr>
        <p:spPr>
          <a:xfrm>
            <a:off x="9052560" y="1810512"/>
            <a:ext cx="2148840" cy="192024"/>
          </a:xfrm>
          <a:prstGeom prst="rect">
            <a:avLst/>
          </a:prstGeom>
          <a:noFill/>
          <a:ln/>
        </p:spPr>
        <p:txBody>
          <a:bodyPr wrap="square" lIns="0" tIns="0" rIns="0" bIns="0" rtlCol="0" anchor="ctr"/>
          <a:lstStyle/>
          <a:p>
            <a:pPr indent="0" marL="0">
              <a:buNone/>
            </a:pPr>
            <a:r>
              <a:rPr lang="en-US" sz="900" b="1" spc="100" kern="0" dirty="0">
                <a:solidFill>
                  <a:srgbClr val="5B4FA8"/>
                </a:solidFill>
                <a:latin typeface="Calibri" pitchFamily="34" charset="0"/>
                <a:ea typeface="Calibri" pitchFamily="34" charset="-122"/>
                <a:cs typeface="Calibri" pitchFamily="34" charset="-120"/>
              </a:rPr>
              <a:t>AI REASONING</a:t>
            </a:r>
            <a:endParaRPr lang="en-US" sz="900" dirty="0"/>
          </a:p>
        </p:txBody>
      </p:sp>
      <p:sp>
        <p:nvSpPr>
          <p:cNvPr id="32" name="Shape 26"/>
          <p:cNvSpPr/>
          <p:nvPr/>
        </p:nvSpPr>
        <p:spPr>
          <a:xfrm>
            <a:off x="10122408" y="6236208"/>
            <a:ext cx="0" cy="219456"/>
          </a:xfrm>
          <a:prstGeom prst="line">
            <a:avLst/>
          </a:prstGeom>
          <a:noFill/>
          <a:ln w="15875">
            <a:solidFill>
              <a:srgbClr val="6B7C93"/>
            </a:solidFill>
            <a:prstDash val="dash"/>
            <a:tailEnd type="triangle"/>
          </a:ln>
        </p:spPr>
      </p:sp>
      <p:sp>
        <p:nvSpPr>
          <p:cNvPr id="33" name="Shape 27"/>
          <p:cNvSpPr/>
          <p:nvPr/>
        </p:nvSpPr>
        <p:spPr>
          <a:xfrm>
            <a:off x="11740896" y="1737360"/>
            <a:ext cx="2377440" cy="4480560"/>
          </a:xfrm>
          <a:prstGeom prst="roundRect">
            <a:avLst>
              <a:gd name="adj" fmla="val 2308"/>
            </a:avLst>
          </a:prstGeom>
          <a:solidFill>
            <a:srgbClr val="EEF4FB"/>
          </a:solidFill>
          <a:ln w="12700">
            <a:solidFill>
              <a:srgbClr val="1F6FB5"/>
            </a:solidFill>
            <a:prstDash val="dash"/>
          </a:ln>
        </p:spPr>
      </p:sp>
      <p:sp>
        <p:nvSpPr>
          <p:cNvPr id="34" name="Text 28"/>
          <p:cNvSpPr txBox="1"/>
          <p:nvPr/>
        </p:nvSpPr>
        <p:spPr>
          <a:xfrm>
            <a:off x="11859768" y="1810512"/>
            <a:ext cx="2148840" cy="192024"/>
          </a:xfrm>
          <a:prstGeom prst="rect">
            <a:avLst/>
          </a:prstGeom>
          <a:noFill/>
          <a:ln/>
        </p:spPr>
        <p:txBody>
          <a:bodyPr wrap="square" lIns="0" tIns="0" rIns="0" bIns="0" rtlCol="0" anchor="ctr"/>
          <a:lstStyle/>
          <a:p>
            <a:pPr indent="0" marL="0">
              <a:buNone/>
            </a:pPr>
            <a:r>
              <a:rPr lang="en-US" sz="900" b="1" spc="100" kern="0" dirty="0">
                <a:solidFill>
                  <a:srgbClr val="1F6FB5"/>
                </a:solidFill>
                <a:latin typeface="Calibri" pitchFamily="34" charset="0"/>
                <a:ea typeface="Calibri" pitchFamily="34" charset="-122"/>
                <a:cs typeface="Calibri" pitchFamily="34" charset="-120"/>
              </a:rPr>
              <a:t>OWNER EXPERIENCE</a:t>
            </a:r>
            <a:endParaRPr lang="en-US" sz="900" dirty="0"/>
          </a:p>
        </p:txBody>
      </p:sp>
      <p:sp>
        <p:nvSpPr>
          <p:cNvPr id="35" name="Shape 29"/>
          <p:cNvSpPr/>
          <p:nvPr/>
        </p:nvSpPr>
        <p:spPr>
          <a:xfrm>
            <a:off x="12929616" y="6236208"/>
            <a:ext cx="0" cy="219456"/>
          </a:xfrm>
          <a:prstGeom prst="line">
            <a:avLst/>
          </a:prstGeom>
          <a:noFill/>
          <a:ln w="15875">
            <a:solidFill>
              <a:srgbClr val="6B7C93"/>
            </a:solidFill>
            <a:prstDash val="dash"/>
            <a:tailEnd type="triangle"/>
          </a:ln>
        </p:spPr>
      </p:sp>
      <p:sp>
        <p:nvSpPr>
          <p:cNvPr id="36" name="Shape 30"/>
          <p:cNvSpPr/>
          <p:nvPr/>
        </p:nvSpPr>
        <p:spPr>
          <a:xfrm>
            <a:off x="932688" y="2212848"/>
            <a:ext cx="1527048" cy="1426464"/>
          </a:xfrm>
          <a:prstGeom prst="roundRect">
            <a:avLst>
              <a:gd name="adj" fmla="val 5128"/>
            </a:avLst>
          </a:prstGeom>
          <a:solidFill>
            <a:srgbClr val="FFFFFF"/>
          </a:solidFill>
          <a:ln w="9525">
            <a:solidFill>
              <a:srgbClr val="C8D8EC"/>
            </a:solidFill>
            <a:prstDash val="solid"/>
          </a:ln>
        </p:spPr>
      </p:sp>
      <p:sp>
        <p:nvSpPr>
          <p:cNvPr id="37" name="Shape 31"/>
          <p:cNvSpPr/>
          <p:nvPr/>
        </p:nvSpPr>
        <p:spPr>
          <a:xfrm>
            <a:off x="1431036" y="2322576"/>
            <a:ext cx="530352" cy="530352"/>
          </a:xfrm>
          <a:prstGeom prst="roundRect">
            <a:avLst>
              <a:gd name="adj" fmla="val 17241"/>
            </a:avLst>
          </a:prstGeom>
          <a:solidFill>
            <a:srgbClr val="1B4F93"/>
          </a:solidFill>
          <a:ln w="12700">
            <a:solidFill>
              <a:srgbClr val="1B4F93"/>
            </a:solidFill>
            <a:prstDash val="solid"/>
          </a:ln>
        </p:spPr>
      </p:sp>
      <p:pic>
        <p:nvPicPr>
          <p:cNvPr id="38" name="Image 4" descr="preencoded.png">    </p:cNvPr>
          <p:cNvPicPr>
            <a:picLocks noChangeAspect="1"/>
          </p:cNvPicPr>
          <p:nvPr/>
        </p:nvPicPr>
        <p:blipFill>
          <a:blip r:embed="rId5"/>
          <a:stretch>
            <a:fillRect/>
          </a:stretch>
        </p:blipFill>
        <p:spPr>
          <a:xfrm>
            <a:off x="1547713" y="2439253"/>
            <a:ext cx="296997" cy="296997"/>
          </a:xfrm>
          <a:prstGeom prst="rect">
            <a:avLst/>
          </a:prstGeom>
        </p:spPr>
      </p:pic>
      <p:sp>
        <p:nvSpPr>
          <p:cNvPr id="39" name="Text 32"/>
          <p:cNvSpPr txBox="1"/>
          <p:nvPr/>
        </p:nvSpPr>
        <p:spPr>
          <a:xfrm>
            <a:off x="978408"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Recs &amp; Analytics</a:t>
            </a:r>
            <a:endParaRPr lang="en-US" sz="1200" dirty="0"/>
          </a:p>
        </p:txBody>
      </p:sp>
      <p:sp>
        <p:nvSpPr>
          <p:cNvPr id="40" name="Text 33"/>
          <p:cNvSpPr txBox="1"/>
          <p:nvPr/>
        </p:nvSpPr>
        <p:spPr>
          <a:xfrm>
            <a:off x="1005840"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Issues raised from breaks and analysis</a:t>
            </a:r>
            <a:endParaRPr lang="en-US" sz="900" dirty="0"/>
          </a:p>
        </p:txBody>
      </p:sp>
      <p:sp>
        <p:nvSpPr>
          <p:cNvPr id="41" name="Shape 34"/>
          <p:cNvSpPr/>
          <p:nvPr/>
        </p:nvSpPr>
        <p:spPr>
          <a:xfrm>
            <a:off x="3739896" y="2212848"/>
            <a:ext cx="1527048" cy="1426464"/>
          </a:xfrm>
          <a:prstGeom prst="roundRect">
            <a:avLst>
              <a:gd name="adj" fmla="val 5128"/>
            </a:avLst>
          </a:prstGeom>
          <a:solidFill>
            <a:srgbClr val="FFFFFF"/>
          </a:solidFill>
          <a:ln w="9525">
            <a:solidFill>
              <a:srgbClr val="C8D8EC"/>
            </a:solidFill>
            <a:prstDash val="solid"/>
          </a:ln>
        </p:spPr>
      </p:sp>
      <p:sp>
        <p:nvSpPr>
          <p:cNvPr id="42" name="Shape 35"/>
          <p:cNvSpPr/>
          <p:nvPr/>
        </p:nvSpPr>
        <p:spPr>
          <a:xfrm>
            <a:off x="4238244" y="2322576"/>
            <a:ext cx="530352" cy="530352"/>
          </a:xfrm>
          <a:prstGeom prst="roundRect">
            <a:avLst>
              <a:gd name="adj" fmla="val 17241"/>
            </a:avLst>
          </a:prstGeom>
          <a:solidFill>
            <a:srgbClr val="2A6EBB"/>
          </a:solidFill>
          <a:ln w="12700">
            <a:solidFill>
              <a:srgbClr val="2A6EBB"/>
            </a:solidFill>
            <a:prstDash val="solid"/>
          </a:ln>
        </p:spPr>
      </p:sp>
      <p:pic>
        <p:nvPicPr>
          <p:cNvPr id="43" name="Image 5" descr="preencoded.png">    </p:cNvPr>
          <p:cNvPicPr>
            <a:picLocks noChangeAspect="1"/>
          </p:cNvPicPr>
          <p:nvPr/>
        </p:nvPicPr>
        <p:blipFill>
          <a:blip r:embed="rId6"/>
          <a:stretch>
            <a:fillRect/>
          </a:stretch>
        </p:blipFill>
        <p:spPr>
          <a:xfrm>
            <a:off x="4354921" y="2439253"/>
            <a:ext cx="296997" cy="296997"/>
          </a:xfrm>
          <a:prstGeom prst="rect">
            <a:avLst/>
          </a:prstGeom>
        </p:spPr>
      </p:pic>
      <p:sp>
        <p:nvSpPr>
          <p:cNvPr id="44" name="Text 36"/>
          <p:cNvSpPr txBox="1"/>
          <p:nvPr/>
        </p:nvSpPr>
        <p:spPr>
          <a:xfrm>
            <a:off x="3785616"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One Fin UX</a:t>
            </a:r>
            <a:endParaRPr lang="en-US" sz="1200" dirty="0"/>
          </a:p>
        </p:txBody>
      </p:sp>
      <p:sp>
        <p:nvSpPr>
          <p:cNvPr id="45" name="Text 37"/>
          <p:cNvSpPr txBox="1"/>
          <p:nvPr/>
        </p:nvSpPr>
        <p:spPr>
          <a:xfrm>
            <a:off x="3813048"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Event hub and outcome per data domain</a:t>
            </a:r>
            <a:endParaRPr lang="en-US" sz="900" dirty="0"/>
          </a:p>
        </p:txBody>
      </p:sp>
      <p:sp>
        <p:nvSpPr>
          <p:cNvPr id="46" name="Shape 38"/>
          <p:cNvSpPr/>
          <p:nvPr/>
        </p:nvSpPr>
        <p:spPr>
          <a:xfrm>
            <a:off x="6556248" y="2212848"/>
            <a:ext cx="1527048" cy="1426464"/>
          </a:xfrm>
          <a:prstGeom prst="roundRect">
            <a:avLst>
              <a:gd name="adj" fmla="val 5128"/>
            </a:avLst>
          </a:prstGeom>
          <a:solidFill>
            <a:srgbClr val="FFFFFF"/>
          </a:solidFill>
          <a:ln w="9525">
            <a:solidFill>
              <a:srgbClr val="C8D8EC"/>
            </a:solidFill>
            <a:prstDash val="solid"/>
          </a:ln>
        </p:spPr>
      </p:sp>
      <p:sp>
        <p:nvSpPr>
          <p:cNvPr id="47" name="Shape 39"/>
          <p:cNvSpPr/>
          <p:nvPr/>
        </p:nvSpPr>
        <p:spPr>
          <a:xfrm>
            <a:off x="7054596" y="2322576"/>
            <a:ext cx="530352" cy="530352"/>
          </a:xfrm>
          <a:prstGeom prst="roundRect">
            <a:avLst>
              <a:gd name="adj" fmla="val 17241"/>
            </a:avLst>
          </a:prstGeom>
          <a:solidFill>
            <a:srgbClr val="1E8A5A"/>
          </a:solidFill>
          <a:ln w="12700">
            <a:solidFill>
              <a:srgbClr val="1E8A5A"/>
            </a:solidFill>
            <a:prstDash val="solid"/>
          </a:ln>
        </p:spPr>
      </p:sp>
      <p:pic>
        <p:nvPicPr>
          <p:cNvPr id="48" name="Image 6" descr="preencoded.png">    </p:cNvPr>
          <p:cNvPicPr>
            <a:picLocks noChangeAspect="1"/>
          </p:cNvPicPr>
          <p:nvPr/>
        </p:nvPicPr>
        <p:blipFill>
          <a:blip r:embed="rId7"/>
          <a:stretch>
            <a:fillRect/>
          </a:stretch>
        </p:blipFill>
        <p:spPr>
          <a:xfrm>
            <a:off x="7171273" y="2439253"/>
            <a:ext cx="296997" cy="296997"/>
          </a:xfrm>
          <a:prstGeom prst="rect">
            <a:avLst/>
          </a:prstGeom>
        </p:spPr>
      </p:pic>
      <p:sp>
        <p:nvSpPr>
          <p:cNvPr id="49" name="Text 40"/>
          <p:cNvSpPr txBox="1"/>
          <p:nvPr/>
        </p:nvSpPr>
        <p:spPr>
          <a:xfrm>
            <a:off x="6601968"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Data Agent</a:t>
            </a:r>
            <a:endParaRPr lang="en-US" sz="1200" dirty="0"/>
          </a:p>
        </p:txBody>
      </p:sp>
      <p:sp>
        <p:nvSpPr>
          <p:cNvPr id="50" name="Text 41"/>
          <p:cNvSpPr txBox="1"/>
          <p:nvPr/>
        </p:nvSpPr>
        <p:spPr>
          <a:xfrm>
            <a:off x="6629400"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Orchestrates issue investigation</a:t>
            </a:r>
            <a:endParaRPr lang="en-US" sz="900" dirty="0"/>
          </a:p>
        </p:txBody>
      </p:sp>
      <p:sp>
        <p:nvSpPr>
          <p:cNvPr id="51" name="Shape 42"/>
          <p:cNvSpPr/>
          <p:nvPr/>
        </p:nvSpPr>
        <p:spPr>
          <a:xfrm>
            <a:off x="9363456" y="2212848"/>
            <a:ext cx="1527048" cy="1426464"/>
          </a:xfrm>
          <a:prstGeom prst="roundRect">
            <a:avLst>
              <a:gd name="adj" fmla="val 5128"/>
            </a:avLst>
          </a:prstGeom>
          <a:solidFill>
            <a:srgbClr val="FFFFFF"/>
          </a:solidFill>
          <a:ln w="9525">
            <a:solidFill>
              <a:srgbClr val="C8D8EC"/>
            </a:solidFill>
            <a:prstDash val="solid"/>
          </a:ln>
        </p:spPr>
      </p:sp>
      <p:sp>
        <p:nvSpPr>
          <p:cNvPr id="52" name="Shape 43"/>
          <p:cNvSpPr/>
          <p:nvPr/>
        </p:nvSpPr>
        <p:spPr>
          <a:xfrm>
            <a:off x="9861804" y="2322576"/>
            <a:ext cx="530352" cy="530352"/>
          </a:xfrm>
          <a:prstGeom prst="roundRect">
            <a:avLst>
              <a:gd name="adj" fmla="val 17241"/>
            </a:avLst>
          </a:prstGeom>
          <a:solidFill>
            <a:srgbClr val="5B4FA8"/>
          </a:solidFill>
          <a:ln w="12700">
            <a:solidFill>
              <a:srgbClr val="5B4FA8"/>
            </a:solidFill>
            <a:prstDash val="solid"/>
          </a:ln>
        </p:spPr>
      </p:sp>
      <p:pic>
        <p:nvPicPr>
          <p:cNvPr id="53" name="Image 7" descr="preencoded.png">    </p:cNvPr>
          <p:cNvPicPr>
            <a:picLocks noChangeAspect="1"/>
          </p:cNvPicPr>
          <p:nvPr/>
        </p:nvPicPr>
        <p:blipFill>
          <a:blip r:embed="rId8"/>
          <a:stretch>
            <a:fillRect/>
          </a:stretch>
        </p:blipFill>
        <p:spPr>
          <a:xfrm>
            <a:off x="9978481" y="2439253"/>
            <a:ext cx="296997" cy="296997"/>
          </a:xfrm>
          <a:prstGeom prst="rect">
            <a:avLst/>
          </a:prstGeom>
        </p:spPr>
      </p:pic>
      <p:sp>
        <p:nvSpPr>
          <p:cNvPr id="54" name="Text 44"/>
          <p:cNvSpPr txBox="1"/>
          <p:nvPr/>
        </p:nvSpPr>
        <p:spPr>
          <a:xfrm>
            <a:off x="9409176"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Agent One</a:t>
            </a:r>
            <a:endParaRPr lang="en-US" sz="1200" dirty="0"/>
          </a:p>
        </p:txBody>
      </p:sp>
      <p:sp>
        <p:nvSpPr>
          <p:cNvPr id="55" name="Text 45"/>
          <p:cNvSpPr txBox="1"/>
          <p:nvPr/>
        </p:nvSpPr>
        <p:spPr>
          <a:xfrm>
            <a:off x="9436608"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Trace root data cause, draft correction</a:t>
            </a:r>
            <a:endParaRPr lang="en-US" sz="900" dirty="0"/>
          </a:p>
        </p:txBody>
      </p:sp>
      <p:sp>
        <p:nvSpPr>
          <p:cNvPr id="56" name="Shape 46"/>
          <p:cNvSpPr/>
          <p:nvPr/>
        </p:nvSpPr>
        <p:spPr>
          <a:xfrm>
            <a:off x="12170664" y="2212848"/>
            <a:ext cx="1527048" cy="1426464"/>
          </a:xfrm>
          <a:prstGeom prst="roundRect">
            <a:avLst>
              <a:gd name="adj" fmla="val 5128"/>
            </a:avLst>
          </a:prstGeom>
          <a:solidFill>
            <a:srgbClr val="FFFFFF"/>
          </a:solidFill>
          <a:ln w="9525">
            <a:solidFill>
              <a:srgbClr val="C8D8EC"/>
            </a:solidFill>
            <a:prstDash val="solid"/>
          </a:ln>
        </p:spPr>
      </p:sp>
      <p:sp>
        <p:nvSpPr>
          <p:cNvPr id="57" name="Shape 47"/>
          <p:cNvSpPr/>
          <p:nvPr/>
        </p:nvSpPr>
        <p:spPr>
          <a:xfrm>
            <a:off x="12669012" y="2322576"/>
            <a:ext cx="530352" cy="530352"/>
          </a:xfrm>
          <a:prstGeom prst="roundRect">
            <a:avLst>
              <a:gd name="adj" fmla="val 17241"/>
            </a:avLst>
          </a:prstGeom>
          <a:solidFill>
            <a:srgbClr val="1F6FB5"/>
          </a:solidFill>
          <a:ln w="12700">
            <a:solidFill>
              <a:srgbClr val="1F6FB5"/>
            </a:solidFill>
            <a:prstDash val="solid"/>
          </a:ln>
        </p:spPr>
      </p:sp>
      <p:pic>
        <p:nvPicPr>
          <p:cNvPr id="58" name="Image 8" descr="preencoded.png">    </p:cNvPr>
          <p:cNvPicPr>
            <a:picLocks noChangeAspect="1"/>
          </p:cNvPicPr>
          <p:nvPr/>
        </p:nvPicPr>
        <p:blipFill>
          <a:blip r:embed="rId9"/>
          <a:stretch>
            <a:fillRect/>
          </a:stretch>
        </p:blipFill>
        <p:spPr>
          <a:xfrm>
            <a:off x="12785689" y="2439253"/>
            <a:ext cx="296997" cy="296997"/>
          </a:xfrm>
          <a:prstGeom prst="rect">
            <a:avLst/>
          </a:prstGeom>
        </p:spPr>
      </p:pic>
      <p:sp>
        <p:nvSpPr>
          <p:cNvPr id="59" name="Text 48"/>
          <p:cNvSpPr txBox="1"/>
          <p:nvPr/>
        </p:nvSpPr>
        <p:spPr>
          <a:xfrm>
            <a:off x="12216384"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Data Workbench</a:t>
            </a:r>
            <a:endParaRPr lang="en-US" sz="1200" dirty="0"/>
          </a:p>
        </p:txBody>
      </p:sp>
      <p:sp>
        <p:nvSpPr>
          <p:cNvPr id="60" name="Text 49"/>
          <p:cNvSpPr txBox="1"/>
          <p:nvPr/>
        </p:nvSpPr>
        <p:spPr>
          <a:xfrm>
            <a:off x="12243816"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Issue, impact and chat per domain</a:t>
            </a:r>
            <a:endParaRPr lang="en-US" sz="900" dirty="0"/>
          </a:p>
        </p:txBody>
      </p:sp>
      <p:sp>
        <p:nvSpPr>
          <p:cNvPr id="61" name="Shape 50"/>
          <p:cNvSpPr/>
          <p:nvPr/>
        </p:nvSpPr>
        <p:spPr>
          <a:xfrm>
            <a:off x="932688" y="4645152"/>
            <a:ext cx="1527048" cy="1261872"/>
          </a:xfrm>
          <a:prstGeom prst="roundRect">
            <a:avLst>
              <a:gd name="adj" fmla="val 5797"/>
            </a:avLst>
          </a:prstGeom>
          <a:solidFill>
            <a:srgbClr val="FFFFFF"/>
          </a:solidFill>
          <a:ln w="9525">
            <a:solidFill>
              <a:srgbClr val="C8D8EC"/>
            </a:solidFill>
            <a:prstDash val="solid"/>
          </a:ln>
        </p:spPr>
      </p:sp>
      <p:sp>
        <p:nvSpPr>
          <p:cNvPr id="62" name="Shape 51"/>
          <p:cNvSpPr/>
          <p:nvPr/>
        </p:nvSpPr>
        <p:spPr>
          <a:xfrm>
            <a:off x="1431036" y="4754880"/>
            <a:ext cx="530352" cy="530352"/>
          </a:xfrm>
          <a:prstGeom prst="roundRect">
            <a:avLst>
              <a:gd name="adj" fmla="val 17241"/>
            </a:avLst>
          </a:prstGeom>
          <a:solidFill>
            <a:srgbClr val="4F7BB5"/>
          </a:solidFill>
          <a:ln w="12700">
            <a:solidFill>
              <a:srgbClr val="4F7BB5"/>
            </a:solidFill>
            <a:prstDash val="solid"/>
          </a:ln>
        </p:spPr>
      </p:sp>
      <p:pic>
        <p:nvPicPr>
          <p:cNvPr id="63" name="Image 9" descr="preencoded.png">    </p:cNvPr>
          <p:cNvPicPr>
            <a:picLocks noChangeAspect="1"/>
          </p:cNvPicPr>
          <p:nvPr/>
        </p:nvPicPr>
        <p:blipFill>
          <a:blip r:embed="rId10"/>
          <a:stretch>
            <a:fillRect/>
          </a:stretch>
        </p:blipFill>
        <p:spPr>
          <a:xfrm>
            <a:off x="1547713" y="4871557"/>
            <a:ext cx="296997" cy="296997"/>
          </a:xfrm>
          <a:prstGeom prst="rect">
            <a:avLst/>
          </a:prstGeom>
        </p:spPr>
      </p:pic>
      <p:sp>
        <p:nvSpPr>
          <p:cNvPr id="64" name="Text 52"/>
          <p:cNvSpPr txBox="1"/>
          <p:nvPr/>
        </p:nvSpPr>
        <p:spPr>
          <a:xfrm>
            <a:off x="978408" y="5349240"/>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Master / Ref Data</a:t>
            </a:r>
            <a:endParaRPr lang="en-US" sz="1200" dirty="0"/>
          </a:p>
        </p:txBody>
      </p:sp>
      <p:sp>
        <p:nvSpPr>
          <p:cNvPr id="65" name="Text 53"/>
          <p:cNvSpPr txBox="1"/>
          <p:nvPr/>
        </p:nvSpPr>
        <p:spPr>
          <a:xfrm>
            <a:off x="1005840" y="5559552"/>
            <a:ext cx="1380744"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Books, hierarchies, mappings</a:t>
            </a:r>
            <a:endParaRPr lang="en-US" sz="900" dirty="0"/>
          </a:p>
        </p:txBody>
      </p:sp>
      <p:sp>
        <p:nvSpPr>
          <p:cNvPr id="66" name="Shape 54"/>
          <p:cNvSpPr/>
          <p:nvPr/>
        </p:nvSpPr>
        <p:spPr>
          <a:xfrm>
            <a:off x="3739896" y="4645152"/>
            <a:ext cx="1527048" cy="1261872"/>
          </a:xfrm>
          <a:prstGeom prst="roundRect">
            <a:avLst>
              <a:gd name="adj" fmla="val 5797"/>
            </a:avLst>
          </a:prstGeom>
          <a:solidFill>
            <a:srgbClr val="FFFFFF"/>
          </a:solidFill>
          <a:ln w="9525">
            <a:solidFill>
              <a:srgbClr val="C8D8EC"/>
            </a:solidFill>
            <a:prstDash val="solid"/>
          </a:ln>
        </p:spPr>
      </p:sp>
      <p:sp>
        <p:nvSpPr>
          <p:cNvPr id="67" name="Shape 55"/>
          <p:cNvSpPr/>
          <p:nvPr/>
        </p:nvSpPr>
        <p:spPr>
          <a:xfrm>
            <a:off x="4238244" y="4754880"/>
            <a:ext cx="530352" cy="530352"/>
          </a:xfrm>
          <a:prstGeom prst="roundRect">
            <a:avLst>
              <a:gd name="adj" fmla="val 17241"/>
            </a:avLst>
          </a:prstGeom>
          <a:solidFill>
            <a:srgbClr val="3F86C8"/>
          </a:solidFill>
          <a:ln w="12700">
            <a:solidFill>
              <a:srgbClr val="3F86C8"/>
            </a:solidFill>
            <a:prstDash val="solid"/>
          </a:ln>
        </p:spPr>
      </p:sp>
      <p:pic>
        <p:nvPicPr>
          <p:cNvPr id="68" name="Image 10" descr="preencoded.png">    </p:cNvPr>
          <p:cNvPicPr>
            <a:picLocks noChangeAspect="1"/>
          </p:cNvPicPr>
          <p:nvPr/>
        </p:nvPicPr>
        <p:blipFill>
          <a:blip r:embed="rId11"/>
          <a:stretch>
            <a:fillRect/>
          </a:stretch>
        </p:blipFill>
        <p:spPr>
          <a:xfrm>
            <a:off x="4354921" y="4871557"/>
            <a:ext cx="296997" cy="296997"/>
          </a:xfrm>
          <a:prstGeom prst="rect">
            <a:avLst/>
          </a:prstGeom>
        </p:spPr>
      </p:pic>
      <p:sp>
        <p:nvSpPr>
          <p:cNvPr id="69" name="Text 56"/>
          <p:cNvSpPr txBox="1"/>
          <p:nvPr/>
        </p:nvSpPr>
        <p:spPr>
          <a:xfrm>
            <a:off x="3785616" y="5349240"/>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Issue Queue</a:t>
            </a:r>
            <a:endParaRPr lang="en-US" sz="1200" dirty="0"/>
          </a:p>
        </p:txBody>
      </p:sp>
      <p:sp>
        <p:nvSpPr>
          <p:cNvPr id="70" name="Text 57"/>
          <p:cNvSpPr txBox="1"/>
          <p:nvPr/>
        </p:nvSpPr>
        <p:spPr>
          <a:xfrm>
            <a:off x="3813048" y="5559552"/>
            <a:ext cx="1380744"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Grouped by data domain</a:t>
            </a:r>
            <a:endParaRPr lang="en-US" sz="900" dirty="0"/>
          </a:p>
        </p:txBody>
      </p:sp>
      <p:sp>
        <p:nvSpPr>
          <p:cNvPr id="71" name="Shape 58"/>
          <p:cNvSpPr/>
          <p:nvPr/>
        </p:nvSpPr>
        <p:spPr>
          <a:xfrm>
            <a:off x="6556248" y="4645152"/>
            <a:ext cx="1527048" cy="1261872"/>
          </a:xfrm>
          <a:prstGeom prst="roundRect">
            <a:avLst>
              <a:gd name="adj" fmla="val 5797"/>
            </a:avLst>
          </a:prstGeom>
          <a:solidFill>
            <a:srgbClr val="FFFFFF"/>
          </a:solidFill>
          <a:ln w="9525">
            <a:solidFill>
              <a:srgbClr val="C8D8EC"/>
            </a:solidFill>
            <a:prstDash val="solid"/>
          </a:ln>
        </p:spPr>
      </p:sp>
      <p:sp>
        <p:nvSpPr>
          <p:cNvPr id="72" name="Shape 59"/>
          <p:cNvSpPr/>
          <p:nvPr/>
        </p:nvSpPr>
        <p:spPr>
          <a:xfrm>
            <a:off x="7054596" y="4754880"/>
            <a:ext cx="530352" cy="530352"/>
          </a:xfrm>
          <a:prstGeom prst="roundRect">
            <a:avLst>
              <a:gd name="adj" fmla="val 17241"/>
            </a:avLst>
          </a:prstGeom>
          <a:solidFill>
            <a:srgbClr val="1E8A5A"/>
          </a:solidFill>
          <a:ln w="12700">
            <a:solidFill>
              <a:srgbClr val="1E8A5A"/>
            </a:solidFill>
            <a:prstDash val="solid"/>
          </a:ln>
        </p:spPr>
      </p:sp>
      <p:pic>
        <p:nvPicPr>
          <p:cNvPr id="73" name="Image 11" descr="preencoded.png">    </p:cNvPr>
          <p:cNvPicPr>
            <a:picLocks noChangeAspect="1"/>
          </p:cNvPicPr>
          <p:nvPr/>
        </p:nvPicPr>
        <p:blipFill>
          <a:blip r:embed="rId12"/>
          <a:stretch>
            <a:fillRect/>
          </a:stretch>
        </p:blipFill>
        <p:spPr>
          <a:xfrm>
            <a:off x="7171273" y="4871557"/>
            <a:ext cx="296997" cy="296997"/>
          </a:xfrm>
          <a:prstGeom prst="rect">
            <a:avLst/>
          </a:prstGeom>
        </p:spPr>
      </p:pic>
      <p:sp>
        <p:nvSpPr>
          <p:cNvPr id="74" name="Text 60"/>
          <p:cNvSpPr txBox="1"/>
          <p:nvPr/>
        </p:nvSpPr>
        <p:spPr>
          <a:xfrm>
            <a:off x="6601968" y="5349240"/>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Impact Check</a:t>
            </a:r>
            <a:endParaRPr lang="en-US" sz="1200" dirty="0"/>
          </a:p>
        </p:txBody>
      </p:sp>
      <p:sp>
        <p:nvSpPr>
          <p:cNvPr id="75" name="Text 61"/>
          <p:cNvSpPr txBox="1"/>
          <p:nvPr/>
        </p:nvSpPr>
        <p:spPr>
          <a:xfrm>
            <a:off x="6629400" y="5559552"/>
            <a:ext cx="1380744"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Sizes downstream impact</a:t>
            </a:r>
            <a:endParaRPr lang="en-US" sz="900" dirty="0"/>
          </a:p>
        </p:txBody>
      </p:sp>
      <p:sp>
        <p:nvSpPr>
          <p:cNvPr id="76" name="Shape 62"/>
          <p:cNvSpPr/>
          <p:nvPr/>
        </p:nvSpPr>
        <p:spPr>
          <a:xfrm>
            <a:off x="9015984" y="4645152"/>
            <a:ext cx="1051560" cy="1261872"/>
          </a:xfrm>
          <a:prstGeom prst="roundRect">
            <a:avLst>
              <a:gd name="adj" fmla="val 6957"/>
            </a:avLst>
          </a:prstGeom>
          <a:solidFill>
            <a:srgbClr val="FFFFFF"/>
          </a:solidFill>
          <a:ln w="9525">
            <a:solidFill>
              <a:srgbClr val="C8D8EC"/>
            </a:solidFill>
            <a:prstDash val="solid"/>
          </a:ln>
        </p:spPr>
      </p:sp>
      <p:sp>
        <p:nvSpPr>
          <p:cNvPr id="77" name="Shape 63"/>
          <p:cNvSpPr/>
          <p:nvPr/>
        </p:nvSpPr>
        <p:spPr>
          <a:xfrm>
            <a:off x="9276588" y="4754880"/>
            <a:ext cx="530352" cy="530352"/>
          </a:xfrm>
          <a:prstGeom prst="roundRect">
            <a:avLst>
              <a:gd name="adj" fmla="val 17241"/>
            </a:avLst>
          </a:prstGeom>
          <a:solidFill>
            <a:srgbClr val="5B4FA8"/>
          </a:solidFill>
          <a:ln w="12700">
            <a:solidFill>
              <a:srgbClr val="5B4FA8"/>
            </a:solidFill>
            <a:prstDash val="solid"/>
          </a:ln>
        </p:spPr>
      </p:sp>
      <p:pic>
        <p:nvPicPr>
          <p:cNvPr id="78" name="Image 12" descr="preencoded.png">    </p:cNvPr>
          <p:cNvPicPr>
            <a:picLocks noChangeAspect="1"/>
          </p:cNvPicPr>
          <p:nvPr/>
        </p:nvPicPr>
        <p:blipFill>
          <a:blip r:embed="rId13"/>
          <a:stretch>
            <a:fillRect/>
          </a:stretch>
        </p:blipFill>
        <p:spPr>
          <a:xfrm>
            <a:off x="9393265" y="4871557"/>
            <a:ext cx="296997" cy="296997"/>
          </a:xfrm>
          <a:prstGeom prst="rect">
            <a:avLst/>
          </a:prstGeom>
        </p:spPr>
      </p:pic>
      <p:sp>
        <p:nvSpPr>
          <p:cNvPr id="79" name="Text 64"/>
          <p:cNvSpPr txBox="1"/>
          <p:nvPr/>
        </p:nvSpPr>
        <p:spPr>
          <a:xfrm>
            <a:off x="9061704" y="5349240"/>
            <a:ext cx="960120" cy="210312"/>
          </a:xfrm>
          <a:prstGeom prst="rect">
            <a:avLst/>
          </a:prstGeom>
          <a:noFill/>
          <a:ln/>
        </p:spPr>
        <p:txBody>
          <a:bodyPr wrap="square" lIns="0" tIns="0" rIns="0" bIns="0" rtlCol="0" anchor="ctr"/>
          <a:lstStyle/>
          <a:p>
            <a:pPr algn="ctr" indent="0" marL="0">
              <a:buNone/>
            </a:pPr>
            <a:r>
              <a:rPr lang="en-US" sz="1050" b="1" dirty="0">
                <a:solidFill>
                  <a:srgbClr val="1F2D3D"/>
                </a:solidFill>
                <a:latin typeface="Calibri" pitchFamily="34" charset="0"/>
                <a:ea typeface="Calibri" pitchFamily="34" charset="-122"/>
                <a:cs typeface="Calibri" pitchFamily="34" charset="-120"/>
              </a:rPr>
              <a:t>Data (MCP)</a:t>
            </a:r>
            <a:endParaRPr lang="en-US" sz="1050" dirty="0"/>
          </a:p>
        </p:txBody>
      </p:sp>
      <p:sp>
        <p:nvSpPr>
          <p:cNvPr id="80" name="Text 65"/>
          <p:cNvSpPr txBox="1"/>
          <p:nvPr/>
        </p:nvSpPr>
        <p:spPr>
          <a:xfrm>
            <a:off x="9089136" y="5559552"/>
            <a:ext cx="905256"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Ref data, lineage, history</a:t>
            </a:r>
            <a:endParaRPr lang="en-US" sz="900" dirty="0"/>
          </a:p>
        </p:txBody>
      </p:sp>
      <p:sp>
        <p:nvSpPr>
          <p:cNvPr id="81" name="Shape 66"/>
          <p:cNvSpPr/>
          <p:nvPr/>
        </p:nvSpPr>
        <p:spPr>
          <a:xfrm>
            <a:off x="10149840" y="4645152"/>
            <a:ext cx="1051560" cy="1261872"/>
          </a:xfrm>
          <a:prstGeom prst="roundRect">
            <a:avLst>
              <a:gd name="adj" fmla="val 6957"/>
            </a:avLst>
          </a:prstGeom>
          <a:solidFill>
            <a:srgbClr val="FFFFFF"/>
          </a:solidFill>
          <a:ln w="9525">
            <a:solidFill>
              <a:srgbClr val="C8D8EC"/>
            </a:solidFill>
            <a:prstDash val="solid"/>
          </a:ln>
        </p:spPr>
      </p:sp>
      <p:sp>
        <p:nvSpPr>
          <p:cNvPr id="82" name="Shape 67"/>
          <p:cNvSpPr/>
          <p:nvPr/>
        </p:nvSpPr>
        <p:spPr>
          <a:xfrm>
            <a:off x="10410444" y="4754880"/>
            <a:ext cx="530352" cy="530352"/>
          </a:xfrm>
          <a:prstGeom prst="roundRect">
            <a:avLst>
              <a:gd name="adj" fmla="val 17241"/>
            </a:avLst>
          </a:prstGeom>
          <a:solidFill>
            <a:srgbClr val="C0392B"/>
          </a:solidFill>
          <a:ln w="12700">
            <a:solidFill>
              <a:srgbClr val="C0392B"/>
            </a:solidFill>
            <a:prstDash val="solid"/>
          </a:ln>
        </p:spPr>
      </p:sp>
      <p:pic>
        <p:nvPicPr>
          <p:cNvPr id="83" name="Image 13" descr="preencoded.png">    </p:cNvPr>
          <p:cNvPicPr>
            <a:picLocks noChangeAspect="1"/>
          </p:cNvPicPr>
          <p:nvPr/>
        </p:nvPicPr>
        <p:blipFill>
          <a:blip r:embed="rId14"/>
          <a:stretch>
            <a:fillRect/>
          </a:stretch>
        </p:blipFill>
        <p:spPr>
          <a:xfrm>
            <a:off x="10527121" y="4871557"/>
            <a:ext cx="296997" cy="296997"/>
          </a:xfrm>
          <a:prstGeom prst="rect">
            <a:avLst/>
          </a:prstGeom>
        </p:spPr>
      </p:pic>
      <p:sp>
        <p:nvSpPr>
          <p:cNvPr id="84" name="Text 68"/>
          <p:cNvSpPr txBox="1"/>
          <p:nvPr/>
        </p:nvSpPr>
        <p:spPr>
          <a:xfrm>
            <a:off x="10195560" y="5349240"/>
            <a:ext cx="960120" cy="210312"/>
          </a:xfrm>
          <a:prstGeom prst="rect">
            <a:avLst/>
          </a:prstGeom>
          <a:noFill/>
          <a:ln/>
        </p:spPr>
        <p:txBody>
          <a:bodyPr wrap="square" lIns="0" tIns="0" rIns="0" bIns="0" rtlCol="0" anchor="ctr"/>
          <a:lstStyle/>
          <a:p>
            <a:pPr algn="ctr" indent="0" marL="0">
              <a:buNone/>
            </a:pPr>
            <a:r>
              <a:rPr lang="en-US" sz="1050" b="1" dirty="0">
                <a:solidFill>
                  <a:srgbClr val="1F2D3D"/>
                </a:solidFill>
                <a:latin typeface="Calibri" pitchFamily="34" charset="0"/>
                <a:ea typeface="Calibri" pitchFamily="34" charset="-122"/>
                <a:cs typeface="Calibri" pitchFamily="34" charset="-120"/>
              </a:rPr>
              <a:t>Correction</a:t>
            </a:r>
            <a:endParaRPr lang="en-US" sz="1050" dirty="0"/>
          </a:p>
        </p:txBody>
      </p:sp>
      <p:sp>
        <p:nvSpPr>
          <p:cNvPr id="85" name="Text 69"/>
          <p:cNvSpPr txBox="1"/>
          <p:nvPr/>
        </p:nvSpPr>
        <p:spPr>
          <a:xfrm>
            <a:off x="10222992" y="5559552"/>
            <a:ext cx="905256"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Sends approved instruction</a:t>
            </a:r>
            <a:endParaRPr lang="en-US" sz="900" dirty="0"/>
          </a:p>
        </p:txBody>
      </p:sp>
      <p:sp>
        <p:nvSpPr>
          <p:cNvPr id="86" name="Shape 70"/>
          <p:cNvSpPr/>
          <p:nvPr/>
        </p:nvSpPr>
        <p:spPr>
          <a:xfrm>
            <a:off x="12170664" y="4645152"/>
            <a:ext cx="1527048" cy="1261872"/>
          </a:xfrm>
          <a:prstGeom prst="roundRect">
            <a:avLst>
              <a:gd name="adj" fmla="val 5797"/>
            </a:avLst>
          </a:prstGeom>
          <a:solidFill>
            <a:srgbClr val="FFFFFF"/>
          </a:solidFill>
          <a:ln w="9525">
            <a:solidFill>
              <a:srgbClr val="C8D8EC"/>
            </a:solidFill>
            <a:prstDash val="solid"/>
          </a:ln>
        </p:spPr>
      </p:sp>
      <p:sp>
        <p:nvSpPr>
          <p:cNvPr id="87" name="Shape 71"/>
          <p:cNvSpPr/>
          <p:nvPr/>
        </p:nvSpPr>
        <p:spPr>
          <a:xfrm>
            <a:off x="12669012" y="4754880"/>
            <a:ext cx="530352" cy="530352"/>
          </a:xfrm>
          <a:prstGeom prst="roundRect">
            <a:avLst>
              <a:gd name="adj" fmla="val 17241"/>
            </a:avLst>
          </a:prstGeom>
          <a:solidFill>
            <a:srgbClr val="1F6FB5"/>
          </a:solidFill>
          <a:ln w="12700">
            <a:solidFill>
              <a:srgbClr val="1F6FB5"/>
            </a:solidFill>
            <a:prstDash val="solid"/>
          </a:ln>
        </p:spPr>
      </p:sp>
      <p:pic>
        <p:nvPicPr>
          <p:cNvPr id="88" name="Image 14" descr="preencoded.png">    </p:cNvPr>
          <p:cNvPicPr>
            <a:picLocks noChangeAspect="1"/>
          </p:cNvPicPr>
          <p:nvPr/>
        </p:nvPicPr>
        <p:blipFill>
          <a:blip r:embed="rId15"/>
          <a:stretch>
            <a:fillRect/>
          </a:stretch>
        </p:blipFill>
        <p:spPr>
          <a:xfrm>
            <a:off x="12785689" y="4871557"/>
            <a:ext cx="296997" cy="296997"/>
          </a:xfrm>
          <a:prstGeom prst="rect">
            <a:avLst/>
          </a:prstGeom>
        </p:spPr>
      </p:pic>
      <p:sp>
        <p:nvSpPr>
          <p:cNvPr id="89" name="Text 72"/>
          <p:cNvSpPr txBox="1"/>
          <p:nvPr/>
        </p:nvSpPr>
        <p:spPr>
          <a:xfrm>
            <a:off x="12216384" y="5349240"/>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Data Owner</a:t>
            </a:r>
            <a:endParaRPr lang="en-US" sz="1200" dirty="0"/>
          </a:p>
        </p:txBody>
      </p:sp>
      <p:sp>
        <p:nvSpPr>
          <p:cNvPr id="90" name="Text 73"/>
          <p:cNvSpPr txBox="1"/>
          <p:nvPr/>
        </p:nvSpPr>
        <p:spPr>
          <a:xfrm>
            <a:off x="12243816" y="5559552"/>
            <a:ext cx="1380744"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Reviews and approves correction</a:t>
            </a:r>
            <a:endParaRPr lang="en-US" sz="900" dirty="0"/>
          </a:p>
        </p:txBody>
      </p:sp>
      <p:sp>
        <p:nvSpPr>
          <p:cNvPr id="91" name="Shape 74"/>
          <p:cNvSpPr/>
          <p:nvPr/>
        </p:nvSpPr>
        <p:spPr>
          <a:xfrm>
            <a:off x="2459736" y="2615184"/>
            <a:ext cx="1280160" cy="0"/>
          </a:xfrm>
          <a:prstGeom prst="line">
            <a:avLst/>
          </a:prstGeom>
          <a:noFill/>
          <a:ln w="19050">
            <a:solidFill>
              <a:srgbClr val="1F4E8C"/>
            </a:solidFill>
            <a:prstDash val="solid"/>
            <a:tailEnd type="triangle"/>
          </a:ln>
        </p:spPr>
      </p:sp>
      <p:sp>
        <p:nvSpPr>
          <p:cNvPr id="92" name="Shape 75"/>
          <p:cNvSpPr/>
          <p:nvPr/>
        </p:nvSpPr>
        <p:spPr>
          <a:xfrm>
            <a:off x="2532888" y="2286000"/>
            <a:ext cx="219456" cy="219456"/>
          </a:xfrm>
          <a:prstGeom prst="ellipse">
            <a:avLst/>
          </a:prstGeom>
          <a:solidFill>
            <a:srgbClr val="1F4E8C"/>
          </a:solidFill>
          <a:ln w="12700">
            <a:solidFill>
              <a:srgbClr val="1F4E8C"/>
            </a:solidFill>
            <a:prstDash val="solid"/>
          </a:ln>
        </p:spPr>
      </p:sp>
      <p:sp>
        <p:nvSpPr>
          <p:cNvPr id="93" name="Text 76"/>
          <p:cNvSpPr txBox="1"/>
          <p:nvPr/>
        </p:nvSpPr>
        <p:spPr>
          <a:xfrm>
            <a:off x="2532888" y="228600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94" name="Text 77"/>
          <p:cNvSpPr txBox="1"/>
          <p:nvPr/>
        </p:nvSpPr>
        <p:spPr>
          <a:xfrm>
            <a:off x="2788920" y="2029968"/>
            <a:ext cx="914400" cy="365760"/>
          </a:xfrm>
          <a:prstGeom prst="rect">
            <a:avLst/>
          </a:prstGeom>
          <a:solidFill>
            <a:srgbClr val="FFFFFF">
              <a:alpha val="0"/>
            </a:srgbClr>
          </a:solidFill>
          <a:ln/>
        </p:spPr>
        <p:txBody>
          <a:bodyPr wrap="square" lIns="0" tIns="0" rIns="0" bIns="0" rtlCol="0" anchor="b"/>
          <a:lstStyle/>
          <a:p>
            <a:pPr indent="0" marL="0">
              <a:buNone/>
            </a:pPr>
            <a:r>
              <a:rPr lang="en-US" sz="900" dirty="0">
                <a:solidFill>
                  <a:srgbClr val="1F2D3D"/>
                </a:solidFill>
                <a:latin typeface="Calibri" pitchFamily="34" charset="0"/>
                <a:ea typeface="Calibri" pitchFamily="34" charset="-122"/>
                <a:cs typeface="Calibri" pitchFamily="34" charset="-120"/>
              </a:rPr>
              <a:t>Data issue events</a:t>
            </a:r>
            <a:endParaRPr lang="en-US" sz="900" dirty="0"/>
          </a:p>
        </p:txBody>
      </p:sp>
      <p:sp>
        <p:nvSpPr>
          <p:cNvPr id="95" name="Shape 78"/>
          <p:cNvSpPr/>
          <p:nvPr/>
        </p:nvSpPr>
        <p:spPr>
          <a:xfrm>
            <a:off x="5266944" y="2615184"/>
            <a:ext cx="1289304" cy="0"/>
          </a:xfrm>
          <a:prstGeom prst="line">
            <a:avLst/>
          </a:prstGeom>
          <a:noFill/>
          <a:ln w="19050">
            <a:solidFill>
              <a:srgbClr val="2A6EBB"/>
            </a:solidFill>
            <a:prstDash val="solid"/>
            <a:tailEnd type="triangle"/>
          </a:ln>
        </p:spPr>
      </p:sp>
      <p:sp>
        <p:nvSpPr>
          <p:cNvPr id="96" name="Shape 79"/>
          <p:cNvSpPr/>
          <p:nvPr/>
        </p:nvSpPr>
        <p:spPr>
          <a:xfrm>
            <a:off x="5340096" y="2286000"/>
            <a:ext cx="219456" cy="219456"/>
          </a:xfrm>
          <a:prstGeom prst="ellipse">
            <a:avLst/>
          </a:prstGeom>
          <a:solidFill>
            <a:srgbClr val="2A6EBB"/>
          </a:solidFill>
          <a:ln w="12700">
            <a:solidFill>
              <a:srgbClr val="2A6EBB"/>
            </a:solidFill>
            <a:prstDash val="solid"/>
          </a:ln>
        </p:spPr>
      </p:sp>
      <p:sp>
        <p:nvSpPr>
          <p:cNvPr id="97" name="Text 80"/>
          <p:cNvSpPr txBox="1"/>
          <p:nvPr/>
        </p:nvSpPr>
        <p:spPr>
          <a:xfrm>
            <a:off x="5340096" y="228600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98" name="Text 81"/>
          <p:cNvSpPr txBox="1"/>
          <p:nvPr/>
        </p:nvSpPr>
        <p:spPr>
          <a:xfrm>
            <a:off x="5596128" y="2029968"/>
            <a:ext cx="923544" cy="365760"/>
          </a:xfrm>
          <a:prstGeom prst="rect">
            <a:avLst/>
          </a:prstGeom>
          <a:solidFill>
            <a:srgbClr val="FFFFFF">
              <a:alpha val="0"/>
            </a:srgbClr>
          </a:solidFill>
          <a:ln/>
        </p:spPr>
        <p:txBody>
          <a:bodyPr wrap="square" lIns="0" tIns="0" rIns="0" bIns="0" rtlCol="0" anchor="b"/>
          <a:lstStyle/>
          <a:p>
            <a:pPr indent="0" marL="0">
              <a:buNone/>
            </a:pPr>
            <a:r>
              <a:rPr lang="en-US" sz="900" dirty="0">
                <a:solidFill>
                  <a:srgbClr val="1F2D3D"/>
                </a:solidFill>
                <a:latin typeface="Calibri" pitchFamily="34" charset="0"/>
                <a:ea typeface="Calibri" pitchFamily="34" charset="-122"/>
                <a:cs typeface="Calibri" pitchFamily="34" charset="-120"/>
              </a:rPr>
              <a:t>Domain Ready event</a:t>
            </a:r>
            <a:endParaRPr lang="en-US" sz="900" dirty="0"/>
          </a:p>
        </p:txBody>
      </p:sp>
      <p:sp>
        <p:nvSpPr>
          <p:cNvPr id="99" name="Shape 82"/>
          <p:cNvSpPr/>
          <p:nvPr/>
        </p:nvSpPr>
        <p:spPr>
          <a:xfrm>
            <a:off x="8083296" y="2615184"/>
            <a:ext cx="1280160" cy="0"/>
          </a:xfrm>
          <a:prstGeom prst="line">
            <a:avLst/>
          </a:prstGeom>
          <a:noFill/>
          <a:ln w="19050">
            <a:solidFill>
              <a:srgbClr val="1E8A5A"/>
            </a:solidFill>
            <a:prstDash val="solid"/>
            <a:tailEnd type="triangle"/>
          </a:ln>
        </p:spPr>
      </p:sp>
      <p:sp>
        <p:nvSpPr>
          <p:cNvPr id="100" name="Shape 83"/>
          <p:cNvSpPr/>
          <p:nvPr/>
        </p:nvSpPr>
        <p:spPr>
          <a:xfrm>
            <a:off x="8156448" y="2286000"/>
            <a:ext cx="219456" cy="219456"/>
          </a:xfrm>
          <a:prstGeom prst="ellipse">
            <a:avLst/>
          </a:prstGeom>
          <a:solidFill>
            <a:srgbClr val="1E8A5A"/>
          </a:solidFill>
          <a:ln w="12700">
            <a:solidFill>
              <a:srgbClr val="1E8A5A"/>
            </a:solidFill>
            <a:prstDash val="solid"/>
          </a:ln>
        </p:spPr>
      </p:sp>
      <p:sp>
        <p:nvSpPr>
          <p:cNvPr id="101" name="Text 84"/>
          <p:cNvSpPr txBox="1"/>
          <p:nvPr/>
        </p:nvSpPr>
        <p:spPr>
          <a:xfrm>
            <a:off x="8156448" y="228600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02" name="Text 85"/>
          <p:cNvSpPr txBox="1"/>
          <p:nvPr/>
        </p:nvSpPr>
        <p:spPr>
          <a:xfrm>
            <a:off x="8412480" y="2029968"/>
            <a:ext cx="914400" cy="365760"/>
          </a:xfrm>
          <a:prstGeom prst="rect">
            <a:avLst/>
          </a:prstGeom>
          <a:solidFill>
            <a:srgbClr val="FFFFFF">
              <a:alpha val="0"/>
            </a:srgbClr>
          </a:solidFill>
          <a:ln/>
        </p:spPr>
        <p:txBody>
          <a:bodyPr wrap="square" lIns="0" tIns="0" rIns="0" bIns="0" rtlCol="0" anchor="b"/>
          <a:lstStyle/>
          <a:p>
            <a:pPr indent="0" marL="0">
              <a:buNone/>
            </a:pPr>
            <a:r>
              <a:rPr lang="en-US" sz="900" dirty="0">
                <a:solidFill>
                  <a:srgbClr val="1F2D3D"/>
                </a:solidFill>
                <a:latin typeface="Calibri" pitchFamily="34" charset="0"/>
                <a:ea typeface="Calibri" pitchFamily="34" charset="-122"/>
                <a:cs typeface="Calibri" pitchFamily="34" charset="-120"/>
              </a:rPr>
              <a:t>Start investigation</a:t>
            </a:r>
            <a:endParaRPr lang="en-US" sz="900" dirty="0"/>
          </a:p>
        </p:txBody>
      </p:sp>
      <p:sp>
        <p:nvSpPr>
          <p:cNvPr id="103" name="Shape 86"/>
          <p:cNvSpPr/>
          <p:nvPr/>
        </p:nvSpPr>
        <p:spPr>
          <a:xfrm>
            <a:off x="10890504" y="2615184"/>
            <a:ext cx="1280160" cy="0"/>
          </a:xfrm>
          <a:prstGeom prst="line">
            <a:avLst/>
          </a:prstGeom>
          <a:noFill/>
          <a:ln w="19050">
            <a:solidFill>
              <a:srgbClr val="5B4FA8"/>
            </a:solidFill>
            <a:prstDash val="solid"/>
            <a:tailEnd type="triangle"/>
          </a:ln>
        </p:spPr>
      </p:sp>
      <p:sp>
        <p:nvSpPr>
          <p:cNvPr id="104" name="Shape 87"/>
          <p:cNvSpPr/>
          <p:nvPr/>
        </p:nvSpPr>
        <p:spPr>
          <a:xfrm>
            <a:off x="10963656" y="2286000"/>
            <a:ext cx="219456" cy="219456"/>
          </a:xfrm>
          <a:prstGeom prst="ellipse">
            <a:avLst/>
          </a:prstGeom>
          <a:solidFill>
            <a:srgbClr val="5B4FA8"/>
          </a:solidFill>
          <a:ln w="12700">
            <a:solidFill>
              <a:srgbClr val="5B4FA8"/>
            </a:solidFill>
            <a:prstDash val="solid"/>
          </a:ln>
        </p:spPr>
      </p:sp>
      <p:sp>
        <p:nvSpPr>
          <p:cNvPr id="105" name="Text 88"/>
          <p:cNvSpPr txBox="1"/>
          <p:nvPr/>
        </p:nvSpPr>
        <p:spPr>
          <a:xfrm>
            <a:off x="10963656" y="228600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106" name="Text 89"/>
          <p:cNvSpPr txBox="1"/>
          <p:nvPr/>
        </p:nvSpPr>
        <p:spPr>
          <a:xfrm>
            <a:off x="11219688" y="2029968"/>
            <a:ext cx="914400" cy="365760"/>
          </a:xfrm>
          <a:prstGeom prst="rect">
            <a:avLst/>
          </a:prstGeom>
          <a:solidFill>
            <a:srgbClr val="FFFFFF">
              <a:alpha val="0"/>
            </a:srgbClr>
          </a:solidFill>
          <a:ln/>
        </p:spPr>
        <p:txBody>
          <a:bodyPr wrap="square" lIns="0" tIns="0" rIns="0" bIns="0" rtlCol="0" anchor="b"/>
          <a:lstStyle/>
          <a:p>
            <a:pPr indent="0" marL="0">
              <a:buNone/>
            </a:pPr>
            <a:r>
              <a:rPr lang="en-US" sz="900" dirty="0">
                <a:solidFill>
                  <a:srgbClr val="1F2D3D"/>
                </a:solidFill>
                <a:latin typeface="Calibri" pitchFamily="34" charset="0"/>
                <a:ea typeface="Calibri" pitchFamily="34" charset="-122"/>
                <a:cs typeface="Calibri" pitchFamily="34" charset="-120"/>
              </a:rPr>
              <a:t>Root cause published</a:t>
            </a:r>
            <a:endParaRPr lang="en-US" sz="900" dirty="0"/>
          </a:p>
        </p:txBody>
      </p:sp>
      <p:sp>
        <p:nvSpPr>
          <p:cNvPr id="107" name="Shape 90"/>
          <p:cNvSpPr/>
          <p:nvPr/>
        </p:nvSpPr>
        <p:spPr>
          <a:xfrm>
            <a:off x="10890504" y="3218688"/>
            <a:ext cx="1280160" cy="0"/>
          </a:xfrm>
          <a:prstGeom prst="line">
            <a:avLst/>
          </a:prstGeom>
          <a:noFill/>
          <a:ln w="19050">
            <a:solidFill>
              <a:srgbClr val="1F6FB5"/>
            </a:solidFill>
            <a:prstDash val="solid"/>
            <a:headEnd type="triangle"/>
          </a:ln>
        </p:spPr>
      </p:sp>
      <p:sp>
        <p:nvSpPr>
          <p:cNvPr id="108" name="Shape 91"/>
          <p:cNvSpPr/>
          <p:nvPr/>
        </p:nvSpPr>
        <p:spPr>
          <a:xfrm>
            <a:off x="10963656" y="3291840"/>
            <a:ext cx="219456" cy="219456"/>
          </a:xfrm>
          <a:prstGeom prst="ellipse">
            <a:avLst/>
          </a:prstGeom>
          <a:solidFill>
            <a:srgbClr val="1F6FB5"/>
          </a:solidFill>
          <a:ln w="12700">
            <a:solidFill>
              <a:srgbClr val="1F6FB5"/>
            </a:solidFill>
            <a:prstDash val="solid"/>
          </a:ln>
        </p:spPr>
      </p:sp>
      <p:sp>
        <p:nvSpPr>
          <p:cNvPr id="109" name="Text 92"/>
          <p:cNvSpPr txBox="1"/>
          <p:nvPr/>
        </p:nvSpPr>
        <p:spPr>
          <a:xfrm>
            <a:off x="10963656" y="329184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7</a:t>
            </a:r>
            <a:endParaRPr lang="en-US" sz="900" dirty="0"/>
          </a:p>
        </p:txBody>
      </p:sp>
      <p:sp>
        <p:nvSpPr>
          <p:cNvPr id="110" name="Text 93"/>
          <p:cNvSpPr txBox="1"/>
          <p:nvPr/>
        </p:nvSpPr>
        <p:spPr>
          <a:xfrm>
            <a:off x="11219688" y="3273552"/>
            <a:ext cx="914400" cy="365760"/>
          </a:xfrm>
          <a:prstGeom prst="rect">
            <a:avLst/>
          </a:prstGeom>
          <a:noFill/>
          <a:ln/>
        </p:spPr>
        <p:txBody>
          <a:bodyPr wrap="square" lIns="0" tIns="0" rIns="0" bIns="0" rtlCol="0" anchor="t"/>
          <a:lstStyle/>
          <a:p>
            <a:pPr indent="0" marL="0">
              <a:buNone/>
            </a:pPr>
            <a:r>
              <a:rPr lang="en-US" sz="900" dirty="0">
                <a:solidFill>
                  <a:srgbClr val="1F2D3D"/>
                </a:solidFill>
                <a:latin typeface="Calibri" pitchFamily="34" charset="0"/>
                <a:ea typeface="Calibri" pitchFamily="34" charset="-122"/>
                <a:cs typeface="Calibri" pitchFamily="34" charset="-120"/>
              </a:rPr>
              <a:t>Q&amp;A and approval</a:t>
            </a:r>
            <a:endParaRPr lang="en-US" sz="900" dirty="0"/>
          </a:p>
        </p:txBody>
      </p:sp>
      <p:sp>
        <p:nvSpPr>
          <p:cNvPr id="111" name="Shape 94"/>
          <p:cNvSpPr/>
          <p:nvPr/>
        </p:nvSpPr>
        <p:spPr>
          <a:xfrm>
            <a:off x="1696212" y="3639312"/>
            <a:ext cx="0" cy="1005840"/>
          </a:xfrm>
          <a:prstGeom prst="line">
            <a:avLst/>
          </a:prstGeom>
          <a:noFill/>
          <a:ln w="15875">
            <a:solidFill>
              <a:srgbClr val="4F7BB5"/>
            </a:solidFill>
            <a:prstDash val="dash"/>
            <a:headEnd type="triangle"/>
          </a:ln>
        </p:spPr>
      </p:sp>
      <p:sp>
        <p:nvSpPr>
          <p:cNvPr id="112" name="Text 95"/>
          <p:cNvSpPr txBox="1"/>
          <p:nvPr/>
        </p:nvSpPr>
        <p:spPr>
          <a:xfrm>
            <a:off x="1787652" y="4005072"/>
            <a:ext cx="868680" cy="274320"/>
          </a:xfrm>
          <a:prstGeom prst="rect">
            <a:avLst/>
          </a:prstGeom>
          <a:noFill/>
          <a:ln/>
        </p:spPr>
        <p:txBody>
          <a:bodyPr wrap="square" lIns="0" tIns="0" rIns="0" bIns="0" rtlCol="0" anchor="ctr"/>
          <a:lstStyle/>
          <a:p>
            <a:pPr indent="0" marL="0">
              <a:buNone/>
            </a:pPr>
            <a:r>
              <a:rPr lang="en-US" sz="900" dirty="0">
                <a:solidFill>
                  <a:srgbClr val="1F2D3D"/>
                </a:solidFill>
                <a:latin typeface="Calibri" pitchFamily="34" charset="0"/>
                <a:ea typeface="Calibri" pitchFamily="34" charset="-122"/>
                <a:cs typeface="Calibri" pitchFamily="34" charset="-120"/>
              </a:rPr>
              <a:t>Ref data</a:t>
            </a:r>
            <a:endParaRPr lang="en-US" sz="900" dirty="0"/>
          </a:p>
        </p:txBody>
      </p:sp>
      <p:sp>
        <p:nvSpPr>
          <p:cNvPr id="113" name="Shape 96"/>
          <p:cNvSpPr/>
          <p:nvPr/>
        </p:nvSpPr>
        <p:spPr>
          <a:xfrm>
            <a:off x="4503420" y="3639312"/>
            <a:ext cx="0" cy="1005840"/>
          </a:xfrm>
          <a:prstGeom prst="line">
            <a:avLst/>
          </a:prstGeom>
          <a:noFill/>
          <a:ln w="15875">
            <a:solidFill>
              <a:srgbClr val="3F86C8"/>
            </a:solidFill>
            <a:prstDash val="dash"/>
            <a:tailEnd type="triangle"/>
          </a:ln>
        </p:spPr>
      </p:sp>
      <p:sp>
        <p:nvSpPr>
          <p:cNvPr id="114" name="Text 97"/>
          <p:cNvSpPr txBox="1"/>
          <p:nvPr/>
        </p:nvSpPr>
        <p:spPr>
          <a:xfrm>
            <a:off x="4594860" y="4005072"/>
            <a:ext cx="868680" cy="274320"/>
          </a:xfrm>
          <a:prstGeom prst="rect">
            <a:avLst/>
          </a:prstGeom>
          <a:noFill/>
          <a:ln/>
        </p:spPr>
        <p:txBody>
          <a:bodyPr wrap="square" lIns="0" tIns="0" rIns="0" bIns="0" rtlCol="0" anchor="ctr"/>
          <a:lstStyle/>
          <a:p>
            <a:pPr indent="0" marL="0">
              <a:buNone/>
            </a:pPr>
            <a:r>
              <a:rPr lang="en-US" sz="900" dirty="0">
                <a:solidFill>
                  <a:srgbClr val="1F2D3D"/>
                </a:solidFill>
                <a:latin typeface="Calibri" pitchFamily="34" charset="0"/>
                <a:ea typeface="Calibri" pitchFamily="34" charset="-122"/>
                <a:cs typeface="Calibri" pitchFamily="34" charset="-120"/>
              </a:rPr>
              <a:t>Groups</a:t>
            </a:r>
            <a:endParaRPr lang="en-US" sz="900" dirty="0"/>
          </a:p>
        </p:txBody>
      </p:sp>
      <p:sp>
        <p:nvSpPr>
          <p:cNvPr id="115" name="Shape 98"/>
          <p:cNvSpPr/>
          <p:nvPr/>
        </p:nvSpPr>
        <p:spPr>
          <a:xfrm>
            <a:off x="7319772" y="3639312"/>
            <a:ext cx="0" cy="1005840"/>
          </a:xfrm>
          <a:prstGeom prst="line">
            <a:avLst/>
          </a:prstGeom>
          <a:noFill/>
          <a:ln w="15875">
            <a:solidFill>
              <a:srgbClr val="1E8A5A"/>
            </a:solidFill>
            <a:prstDash val="dash"/>
            <a:tailEnd type="triangle"/>
          </a:ln>
        </p:spPr>
      </p:sp>
      <p:sp>
        <p:nvSpPr>
          <p:cNvPr id="116" name="Text 99"/>
          <p:cNvSpPr txBox="1"/>
          <p:nvPr/>
        </p:nvSpPr>
        <p:spPr>
          <a:xfrm>
            <a:off x="7411212" y="4005072"/>
            <a:ext cx="868680" cy="274320"/>
          </a:xfrm>
          <a:prstGeom prst="rect">
            <a:avLst/>
          </a:prstGeom>
          <a:noFill/>
          <a:ln/>
        </p:spPr>
        <p:txBody>
          <a:bodyPr wrap="square" lIns="0" tIns="0" rIns="0" bIns="0" rtlCol="0" anchor="ctr"/>
          <a:lstStyle/>
          <a:p>
            <a:pPr indent="0" marL="0">
              <a:buNone/>
            </a:pPr>
            <a:r>
              <a:rPr lang="en-US" sz="900" dirty="0">
                <a:solidFill>
                  <a:srgbClr val="1F2D3D"/>
                </a:solidFill>
                <a:latin typeface="Calibri" pitchFamily="34" charset="0"/>
                <a:ea typeface="Calibri" pitchFamily="34" charset="-122"/>
                <a:cs typeface="Calibri" pitchFamily="34" charset="-120"/>
              </a:rPr>
              <a:t>Checks</a:t>
            </a:r>
            <a:endParaRPr lang="en-US" sz="900" dirty="0"/>
          </a:p>
        </p:txBody>
      </p:sp>
      <p:sp>
        <p:nvSpPr>
          <p:cNvPr id="117" name="Shape 100"/>
          <p:cNvSpPr/>
          <p:nvPr/>
        </p:nvSpPr>
        <p:spPr>
          <a:xfrm>
            <a:off x="9326880" y="3639312"/>
            <a:ext cx="0" cy="1005840"/>
          </a:xfrm>
          <a:prstGeom prst="line">
            <a:avLst/>
          </a:prstGeom>
          <a:noFill/>
          <a:ln w="19050">
            <a:solidFill>
              <a:srgbClr val="5B4FA8"/>
            </a:solidFill>
            <a:prstDash val="solid"/>
            <a:tailEnd type="triangle"/>
          </a:ln>
        </p:spPr>
      </p:sp>
      <p:sp>
        <p:nvSpPr>
          <p:cNvPr id="118" name="Shape 101"/>
          <p:cNvSpPr/>
          <p:nvPr/>
        </p:nvSpPr>
        <p:spPr>
          <a:xfrm>
            <a:off x="9418320" y="3840480"/>
            <a:ext cx="219456" cy="219456"/>
          </a:xfrm>
          <a:prstGeom prst="ellipse">
            <a:avLst/>
          </a:prstGeom>
          <a:solidFill>
            <a:srgbClr val="5B4FA8"/>
          </a:solidFill>
          <a:ln w="12700">
            <a:solidFill>
              <a:srgbClr val="5B4FA8"/>
            </a:solidFill>
            <a:prstDash val="solid"/>
          </a:ln>
        </p:spPr>
      </p:sp>
      <p:sp>
        <p:nvSpPr>
          <p:cNvPr id="119" name="Text 102"/>
          <p:cNvSpPr txBox="1"/>
          <p:nvPr/>
        </p:nvSpPr>
        <p:spPr>
          <a:xfrm>
            <a:off x="9418320" y="384048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120" name="Text 103"/>
          <p:cNvSpPr txBox="1"/>
          <p:nvPr/>
        </p:nvSpPr>
        <p:spPr>
          <a:xfrm>
            <a:off x="9418320" y="4087368"/>
            <a:ext cx="685800" cy="457200"/>
          </a:xfrm>
          <a:prstGeom prst="rect">
            <a:avLst/>
          </a:prstGeom>
          <a:noFill/>
          <a:ln/>
        </p:spPr>
        <p:txBody>
          <a:bodyPr wrap="square" lIns="0" tIns="0" rIns="0" bIns="0" rtlCol="0" anchor="t"/>
          <a:lstStyle/>
          <a:p>
            <a:pPr indent="0" marL="0">
              <a:buNone/>
            </a:pPr>
            <a:r>
              <a:rPr lang="en-US" sz="900" dirty="0">
                <a:solidFill>
                  <a:srgbClr val="1F2D3D"/>
                </a:solidFill>
                <a:latin typeface="Calibri" pitchFamily="34" charset="0"/>
                <a:ea typeface="Calibri" pitchFamily="34" charset="-122"/>
                <a:cs typeface="Calibri" pitchFamily="34" charset="-120"/>
              </a:rPr>
              <a:t>Fetch data</a:t>
            </a:r>
            <a:endParaRPr lang="en-US" sz="900" dirty="0"/>
          </a:p>
        </p:txBody>
      </p:sp>
      <p:sp>
        <p:nvSpPr>
          <p:cNvPr id="121" name="Shape 104"/>
          <p:cNvSpPr/>
          <p:nvPr/>
        </p:nvSpPr>
        <p:spPr>
          <a:xfrm>
            <a:off x="10469880" y="3639312"/>
            <a:ext cx="0" cy="1005840"/>
          </a:xfrm>
          <a:prstGeom prst="line">
            <a:avLst/>
          </a:prstGeom>
          <a:noFill/>
          <a:ln w="19050">
            <a:solidFill>
              <a:srgbClr val="C0392B"/>
            </a:solidFill>
            <a:prstDash val="solid"/>
            <a:tailEnd type="triangle"/>
          </a:ln>
        </p:spPr>
      </p:sp>
      <p:sp>
        <p:nvSpPr>
          <p:cNvPr id="122" name="Shape 105"/>
          <p:cNvSpPr/>
          <p:nvPr/>
        </p:nvSpPr>
        <p:spPr>
          <a:xfrm>
            <a:off x="10561320" y="3840480"/>
            <a:ext cx="219456" cy="219456"/>
          </a:xfrm>
          <a:prstGeom prst="ellipse">
            <a:avLst/>
          </a:prstGeom>
          <a:solidFill>
            <a:srgbClr val="C0392B"/>
          </a:solidFill>
          <a:ln w="12700">
            <a:solidFill>
              <a:srgbClr val="C0392B"/>
            </a:solidFill>
            <a:prstDash val="solid"/>
          </a:ln>
        </p:spPr>
      </p:sp>
      <p:sp>
        <p:nvSpPr>
          <p:cNvPr id="123" name="Text 106"/>
          <p:cNvSpPr txBox="1"/>
          <p:nvPr/>
        </p:nvSpPr>
        <p:spPr>
          <a:xfrm>
            <a:off x="10561320" y="384048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8</a:t>
            </a:r>
            <a:endParaRPr lang="en-US" sz="900" dirty="0"/>
          </a:p>
        </p:txBody>
      </p:sp>
      <p:sp>
        <p:nvSpPr>
          <p:cNvPr id="124" name="Text 107"/>
          <p:cNvSpPr txBox="1"/>
          <p:nvPr/>
        </p:nvSpPr>
        <p:spPr>
          <a:xfrm>
            <a:off x="10561320" y="4087368"/>
            <a:ext cx="713232" cy="502920"/>
          </a:xfrm>
          <a:prstGeom prst="rect">
            <a:avLst/>
          </a:prstGeom>
          <a:noFill/>
          <a:ln/>
        </p:spPr>
        <p:txBody>
          <a:bodyPr wrap="square" lIns="0" tIns="0" rIns="0" bIns="0" rtlCol="0" anchor="t"/>
          <a:lstStyle/>
          <a:p>
            <a:pPr indent="0" marL="0">
              <a:buNone/>
            </a:pPr>
            <a:r>
              <a:rPr lang="en-US" sz="900" dirty="0">
                <a:solidFill>
                  <a:srgbClr val="1F2D3D"/>
                </a:solidFill>
                <a:latin typeface="Calibri" pitchFamily="34" charset="0"/>
                <a:ea typeface="Calibri" pitchFamily="34" charset="-122"/>
                <a:cs typeface="Calibri" pitchFamily="34" charset="-120"/>
              </a:rPr>
              <a:t>Send approved correction</a:t>
            </a:r>
            <a:endParaRPr lang="en-US" sz="900" dirty="0"/>
          </a:p>
        </p:txBody>
      </p:sp>
      <p:sp>
        <p:nvSpPr>
          <p:cNvPr id="125" name="Shape 108"/>
          <p:cNvSpPr/>
          <p:nvPr/>
        </p:nvSpPr>
        <p:spPr>
          <a:xfrm>
            <a:off x="12934188" y="3639312"/>
            <a:ext cx="0" cy="1005840"/>
          </a:xfrm>
          <a:prstGeom prst="line">
            <a:avLst/>
          </a:prstGeom>
          <a:noFill/>
          <a:ln w="19050">
            <a:solidFill>
              <a:srgbClr val="1F6FB5"/>
            </a:solidFill>
            <a:prstDash val="solid"/>
            <a:headEnd type="triangle"/>
          </a:ln>
        </p:spPr>
      </p:sp>
      <p:sp>
        <p:nvSpPr>
          <p:cNvPr id="126" name="Shape 109"/>
          <p:cNvSpPr/>
          <p:nvPr/>
        </p:nvSpPr>
        <p:spPr>
          <a:xfrm>
            <a:off x="13043916" y="3840480"/>
            <a:ext cx="219456" cy="219456"/>
          </a:xfrm>
          <a:prstGeom prst="ellipse">
            <a:avLst/>
          </a:prstGeom>
          <a:solidFill>
            <a:srgbClr val="1F6FB5"/>
          </a:solidFill>
          <a:ln w="12700">
            <a:solidFill>
              <a:srgbClr val="1F6FB5"/>
            </a:solidFill>
            <a:prstDash val="solid"/>
          </a:ln>
        </p:spPr>
      </p:sp>
      <p:sp>
        <p:nvSpPr>
          <p:cNvPr id="127" name="Text 110"/>
          <p:cNvSpPr txBox="1"/>
          <p:nvPr/>
        </p:nvSpPr>
        <p:spPr>
          <a:xfrm>
            <a:off x="13043916" y="384048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128" name="Text 111"/>
          <p:cNvSpPr txBox="1"/>
          <p:nvPr/>
        </p:nvSpPr>
        <p:spPr>
          <a:xfrm>
            <a:off x="13318236" y="3767328"/>
            <a:ext cx="822960" cy="685800"/>
          </a:xfrm>
          <a:prstGeom prst="rect">
            <a:avLst/>
          </a:prstGeom>
          <a:noFill/>
          <a:ln/>
        </p:spPr>
        <p:txBody>
          <a:bodyPr wrap="square" lIns="0" tIns="0" rIns="0" bIns="0" rtlCol="0" anchor="t"/>
          <a:lstStyle/>
          <a:p>
            <a:pPr indent="0" marL="0">
              <a:buNone/>
            </a:pPr>
            <a:r>
              <a:rPr lang="en-US" sz="900" dirty="0">
                <a:solidFill>
                  <a:srgbClr val="1F2D3D"/>
                </a:solidFill>
                <a:latin typeface="Calibri" pitchFamily="34" charset="0"/>
                <a:ea typeface="Calibri" pitchFamily="34" charset="-122"/>
                <a:cs typeface="Calibri" pitchFamily="34" charset="-120"/>
              </a:rPr>
              <a:t>Review, ask, approve</a:t>
            </a:r>
            <a:endParaRPr lang="en-US" sz="900" dirty="0"/>
          </a:p>
        </p:txBody>
      </p:sp>
      <p:sp>
        <p:nvSpPr>
          <p:cNvPr id="129" name="Shape 112"/>
          <p:cNvSpPr/>
          <p:nvPr/>
        </p:nvSpPr>
        <p:spPr>
          <a:xfrm>
            <a:off x="512064" y="6473952"/>
            <a:ext cx="5166360" cy="1234440"/>
          </a:xfrm>
          <a:prstGeom prst="roundRect">
            <a:avLst>
              <a:gd name="adj" fmla="val 4444"/>
            </a:avLst>
          </a:prstGeom>
          <a:solidFill>
            <a:srgbClr val="F1F4F8"/>
          </a:solidFill>
          <a:ln w="12700">
            <a:solidFill>
              <a:srgbClr val="6B7C93"/>
            </a:solidFill>
            <a:prstDash val="dash"/>
          </a:ln>
        </p:spPr>
      </p:sp>
      <p:sp>
        <p:nvSpPr>
          <p:cNvPr id="130" name="Text 113"/>
          <p:cNvSpPr txBox="1"/>
          <p:nvPr/>
        </p:nvSpPr>
        <p:spPr>
          <a:xfrm>
            <a:off x="630936" y="6547104"/>
            <a:ext cx="4892040" cy="182880"/>
          </a:xfrm>
          <a:prstGeom prst="rect">
            <a:avLst/>
          </a:prstGeom>
          <a:noFill/>
          <a:ln/>
        </p:spPr>
        <p:txBody>
          <a:bodyPr wrap="square" lIns="0" tIns="0" rIns="0" bIns="0" rtlCol="0" anchor="ctr"/>
          <a:lstStyle/>
          <a:p>
            <a:pPr indent="0" marL="0">
              <a:buNone/>
            </a:pPr>
            <a:r>
              <a:rPr lang="en-US" sz="900" b="1" spc="100" kern="0" dirty="0">
                <a:solidFill>
                  <a:srgbClr val="5A6B82"/>
                </a:solidFill>
                <a:latin typeface="Calibri" pitchFamily="34" charset="0"/>
                <a:ea typeface="Calibri" pitchFamily="34" charset="-122"/>
                <a:cs typeface="Calibri" pitchFamily="34" charset="-120"/>
              </a:rPr>
              <a:t>APPLICATION AUDIT (EXISTING)</a:t>
            </a:r>
            <a:endParaRPr lang="en-US" sz="900" dirty="0"/>
          </a:p>
        </p:txBody>
      </p:sp>
      <p:sp>
        <p:nvSpPr>
          <p:cNvPr id="131" name="Shape 114"/>
          <p:cNvSpPr/>
          <p:nvPr/>
        </p:nvSpPr>
        <p:spPr>
          <a:xfrm>
            <a:off x="630936" y="6812280"/>
            <a:ext cx="1783080" cy="795528"/>
          </a:xfrm>
          <a:prstGeom prst="roundRect">
            <a:avLst>
              <a:gd name="adj" fmla="val 9195"/>
            </a:avLst>
          </a:prstGeom>
          <a:solidFill>
            <a:srgbClr val="FFFFFF"/>
          </a:solidFill>
          <a:ln w="9525">
            <a:solidFill>
              <a:srgbClr val="C8D8EC"/>
            </a:solidFill>
            <a:prstDash val="solid"/>
          </a:ln>
        </p:spPr>
      </p:sp>
      <p:sp>
        <p:nvSpPr>
          <p:cNvPr id="132" name="Shape 115"/>
          <p:cNvSpPr/>
          <p:nvPr/>
        </p:nvSpPr>
        <p:spPr>
          <a:xfrm>
            <a:off x="740664" y="6949440"/>
            <a:ext cx="457200" cy="457200"/>
          </a:xfrm>
          <a:prstGeom prst="roundRect">
            <a:avLst>
              <a:gd name="adj" fmla="val 20000"/>
            </a:avLst>
          </a:prstGeom>
          <a:solidFill>
            <a:srgbClr val="5A6B82"/>
          </a:solidFill>
          <a:ln w="12700">
            <a:solidFill>
              <a:srgbClr val="5A6B82"/>
            </a:solidFill>
            <a:prstDash val="solid"/>
          </a:ln>
        </p:spPr>
      </p:sp>
      <p:pic>
        <p:nvPicPr>
          <p:cNvPr id="133" name="Image 15" descr="preencoded.png">    </p:cNvPr>
          <p:cNvPicPr>
            <a:picLocks noChangeAspect="1"/>
          </p:cNvPicPr>
          <p:nvPr/>
        </p:nvPicPr>
        <p:blipFill>
          <a:blip r:embed="rId16"/>
          <a:stretch>
            <a:fillRect/>
          </a:stretch>
        </p:blipFill>
        <p:spPr>
          <a:xfrm>
            <a:off x="841248" y="7050024"/>
            <a:ext cx="256032" cy="256032"/>
          </a:xfrm>
          <a:prstGeom prst="rect">
            <a:avLst/>
          </a:prstGeom>
        </p:spPr>
      </p:pic>
      <p:sp>
        <p:nvSpPr>
          <p:cNvPr id="134" name="Text 116"/>
          <p:cNvSpPr txBox="1"/>
          <p:nvPr/>
        </p:nvSpPr>
        <p:spPr>
          <a:xfrm>
            <a:off x="1271016" y="6903720"/>
            <a:ext cx="1097280" cy="256032"/>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App Audit</a:t>
            </a:r>
            <a:endParaRPr lang="en-US" sz="1100" dirty="0"/>
          </a:p>
        </p:txBody>
      </p:sp>
      <p:sp>
        <p:nvSpPr>
          <p:cNvPr id="135" name="Text 117"/>
          <p:cNvSpPr txBox="1"/>
          <p:nvPr/>
        </p:nvSpPr>
        <p:spPr>
          <a:xfrm>
            <a:off x="1271016" y="7159752"/>
            <a:ext cx="1115568" cy="384048"/>
          </a:xfrm>
          <a:prstGeom prst="rect">
            <a:avLst/>
          </a:prstGeom>
          <a:noFill/>
          <a:ln/>
        </p:spPr>
        <p:txBody>
          <a:bodyPr wrap="square" lIns="0" tIns="0" rIns="0" bIns="0" rtlCol="0" anchor="t"/>
          <a:lstStyle/>
          <a:p>
            <a:pPr indent="0" marL="0">
              <a:buNone/>
            </a:pPr>
            <a:r>
              <a:rPr lang="en-US" sz="850" dirty="0">
                <a:solidFill>
                  <a:srgbClr val="4A5A6E"/>
                </a:solidFill>
                <a:latin typeface="Calibri" pitchFamily="34" charset="0"/>
                <a:ea typeface="Calibri" pitchFamily="34" charset="-122"/>
                <a:cs typeface="Calibri" pitchFamily="34" charset="-120"/>
              </a:rPr>
              <a:t>Issue sources and One Fin UX</a:t>
            </a:r>
            <a:endParaRPr lang="en-US" sz="850" dirty="0"/>
          </a:p>
        </p:txBody>
      </p:sp>
      <p:sp>
        <p:nvSpPr>
          <p:cNvPr id="136" name="Shape 118"/>
          <p:cNvSpPr/>
          <p:nvPr/>
        </p:nvSpPr>
        <p:spPr>
          <a:xfrm>
            <a:off x="2551176" y="6812280"/>
            <a:ext cx="3008376" cy="338328"/>
          </a:xfrm>
          <a:prstGeom prst="roundRect">
            <a:avLst>
              <a:gd name="adj" fmla="val 40541"/>
            </a:avLst>
          </a:prstGeom>
          <a:solidFill>
            <a:srgbClr val="FFFFFF"/>
          </a:solidFill>
          <a:ln w="9525">
            <a:solidFill>
              <a:srgbClr val="C8D8EC"/>
            </a:solidFill>
            <a:prstDash val="solid"/>
          </a:ln>
        </p:spPr>
      </p:sp>
      <p:pic>
        <p:nvPicPr>
          <p:cNvPr id="137" name="Image 16" descr="preencoded.png">    </p:cNvPr>
          <p:cNvPicPr>
            <a:picLocks noChangeAspect="1"/>
          </p:cNvPicPr>
          <p:nvPr/>
        </p:nvPicPr>
        <p:blipFill>
          <a:blip r:embed="rId17"/>
          <a:stretch>
            <a:fillRect/>
          </a:stretch>
        </p:blipFill>
        <p:spPr>
          <a:xfrm>
            <a:off x="2679192" y="6908292"/>
            <a:ext cx="146304" cy="146304"/>
          </a:xfrm>
          <a:prstGeom prst="rect">
            <a:avLst/>
          </a:prstGeom>
        </p:spPr>
      </p:pic>
      <p:sp>
        <p:nvSpPr>
          <p:cNvPr id="138" name="Text 119"/>
          <p:cNvSpPr txBox="1"/>
          <p:nvPr/>
        </p:nvSpPr>
        <p:spPr>
          <a:xfrm>
            <a:off x="2916936" y="6812280"/>
            <a:ext cx="2596896"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Issue &amp; event history</a:t>
            </a:r>
            <a:endParaRPr lang="en-US" sz="950" dirty="0"/>
          </a:p>
        </p:txBody>
      </p:sp>
      <p:sp>
        <p:nvSpPr>
          <p:cNvPr id="139" name="Shape 120"/>
          <p:cNvSpPr/>
          <p:nvPr/>
        </p:nvSpPr>
        <p:spPr>
          <a:xfrm>
            <a:off x="2551176" y="7242048"/>
            <a:ext cx="3008376" cy="338328"/>
          </a:xfrm>
          <a:prstGeom prst="roundRect">
            <a:avLst>
              <a:gd name="adj" fmla="val 40541"/>
            </a:avLst>
          </a:prstGeom>
          <a:solidFill>
            <a:srgbClr val="FFFFFF"/>
          </a:solidFill>
          <a:ln w="9525">
            <a:solidFill>
              <a:srgbClr val="C8D8EC"/>
            </a:solidFill>
            <a:prstDash val="solid"/>
          </a:ln>
        </p:spPr>
      </p:sp>
      <p:pic>
        <p:nvPicPr>
          <p:cNvPr id="140" name="Image 17" descr="preencoded.png">    </p:cNvPr>
          <p:cNvPicPr>
            <a:picLocks noChangeAspect="1"/>
          </p:cNvPicPr>
          <p:nvPr/>
        </p:nvPicPr>
        <p:blipFill>
          <a:blip r:embed="rId18"/>
          <a:stretch>
            <a:fillRect/>
          </a:stretch>
        </p:blipFill>
        <p:spPr>
          <a:xfrm>
            <a:off x="2679192" y="7338060"/>
            <a:ext cx="146304" cy="146304"/>
          </a:xfrm>
          <a:prstGeom prst="rect">
            <a:avLst/>
          </a:prstGeom>
        </p:spPr>
      </p:pic>
      <p:sp>
        <p:nvSpPr>
          <p:cNvPr id="141" name="Text 121"/>
          <p:cNvSpPr txBox="1"/>
          <p:nvPr/>
        </p:nvSpPr>
        <p:spPr>
          <a:xfrm>
            <a:off x="2916936" y="7242048"/>
            <a:ext cx="2596896"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Domain status changes</a:t>
            </a:r>
            <a:endParaRPr lang="en-US" sz="950" dirty="0"/>
          </a:p>
        </p:txBody>
      </p:sp>
      <p:sp>
        <p:nvSpPr>
          <p:cNvPr id="142" name="Shape 122"/>
          <p:cNvSpPr/>
          <p:nvPr/>
        </p:nvSpPr>
        <p:spPr>
          <a:xfrm>
            <a:off x="6117336" y="6473952"/>
            <a:ext cx="5184648" cy="1234440"/>
          </a:xfrm>
          <a:prstGeom prst="roundRect">
            <a:avLst>
              <a:gd name="adj" fmla="val 4444"/>
            </a:avLst>
          </a:prstGeom>
          <a:solidFill>
            <a:srgbClr val="F3F1FB"/>
          </a:solidFill>
          <a:ln w="12700">
            <a:solidFill>
              <a:srgbClr val="5B4FA8"/>
            </a:solidFill>
            <a:prstDash val="dash"/>
          </a:ln>
        </p:spPr>
      </p:sp>
      <p:sp>
        <p:nvSpPr>
          <p:cNvPr id="143" name="Text 123"/>
          <p:cNvSpPr txBox="1"/>
          <p:nvPr/>
        </p:nvSpPr>
        <p:spPr>
          <a:xfrm>
            <a:off x="6236208" y="6547104"/>
            <a:ext cx="4910328" cy="182880"/>
          </a:xfrm>
          <a:prstGeom prst="rect">
            <a:avLst/>
          </a:prstGeom>
          <a:noFill/>
          <a:ln/>
        </p:spPr>
        <p:txBody>
          <a:bodyPr wrap="square" lIns="0" tIns="0" rIns="0" bIns="0" rtlCol="0" anchor="ctr"/>
          <a:lstStyle/>
          <a:p>
            <a:pPr indent="0" marL="0">
              <a:buNone/>
            </a:pPr>
            <a:r>
              <a:rPr lang="en-US" sz="900" b="1" spc="100" kern="0" dirty="0">
                <a:solidFill>
                  <a:srgbClr val="5B4FA8"/>
                </a:solidFill>
                <a:latin typeface="Calibri" pitchFamily="34" charset="0"/>
                <a:ea typeface="Calibri" pitchFamily="34" charset="-122"/>
                <a:cs typeface="Calibri" pitchFamily="34" charset="-120"/>
              </a:rPr>
              <a:t>AI OBSERVABILITY</a:t>
            </a:r>
            <a:endParaRPr lang="en-US" sz="900" dirty="0"/>
          </a:p>
        </p:txBody>
      </p:sp>
      <p:sp>
        <p:nvSpPr>
          <p:cNvPr id="144" name="Shape 124"/>
          <p:cNvSpPr/>
          <p:nvPr/>
        </p:nvSpPr>
        <p:spPr>
          <a:xfrm>
            <a:off x="6236208" y="6812280"/>
            <a:ext cx="1783080" cy="795528"/>
          </a:xfrm>
          <a:prstGeom prst="roundRect">
            <a:avLst>
              <a:gd name="adj" fmla="val 9195"/>
            </a:avLst>
          </a:prstGeom>
          <a:solidFill>
            <a:srgbClr val="FFFFFF"/>
          </a:solidFill>
          <a:ln w="9525">
            <a:solidFill>
              <a:srgbClr val="C8D8EC"/>
            </a:solidFill>
            <a:prstDash val="solid"/>
          </a:ln>
        </p:spPr>
      </p:sp>
      <p:sp>
        <p:nvSpPr>
          <p:cNvPr id="145" name="Shape 125"/>
          <p:cNvSpPr/>
          <p:nvPr/>
        </p:nvSpPr>
        <p:spPr>
          <a:xfrm>
            <a:off x="6345936" y="6949440"/>
            <a:ext cx="457200" cy="457200"/>
          </a:xfrm>
          <a:prstGeom prst="roundRect">
            <a:avLst>
              <a:gd name="adj" fmla="val 20000"/>
            </a:avLst>
          </a:prstGeom>
          <a:solidFill>
            <a:srgbClr val="0B2E5E"/>
          </a:solidFill>
          <a:ln w="12700">
            <a:solidFill>
              <a:srgbClr val="0B2E5E"/>
            </a:solidFill>
            <a:prstDash val="solid"/>
          </a:ln>
        </p:spPr>
      </p:sp>
      <p:pic>
        <p:nvPicPr>
          <p:cNvPr id="146" name="Image 18" descr="preencoded.png">    </p:cNvPr>
          <p:cNvPicPr>
            <a:picLocks noChangeAspect="1"/>
          </p:cNvPicPr>
          <p:nvPr/>
        </p:nvPicPr>
        <p:blipFill>
          <a:blip r:embed="rId19"/>
          <a:stretch>
            <a:fillRect/>
          </a:stretch>
        </p:blipFill>
        <p:spPr>
          <a:xfrm>
            <a:off x="6446520" y="7050024"/>
            <a:ext cx="256032" cy="256032"/>
          </a:xfrm>
          <a:prstGeom prst="rect">
            <a:avLst/>
          </a:prstGeom>
        </p:spPr>
      </p:pic>
      <p:sp>
        <p:nvSpPr>
          <p:cNvPr id="147" name="Text 126"/>
          <p:cNvSpPr txBox="1"/>
          <p:nvPr/>
        </p:nvSpPr>
        <p:spPr>
          <a:xfrm>
            <a:off x="6876288" y="6903720"/>
            <a:ext cx="1097280" cy="256032"/>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Phoenix Eyes</a:t>
            </a:r>
            <a:endParaRPr lang="en-US" sz="1100" dirty="0"/>
          </a:p>
        </p:txBody>
      </p:sp>
      <p:sp>
        <p:nvSpPr>
          <p:cNvPr id="148" name="Text 127"/>
          <p:cNvSpPr txBox="1"/>
          <p:nvPr/>
        </p:nvSpPr>
        <p:spPr>
          <a:xfrm>
            <a:off x="6876288" y="7159752"/>
            <a:ext cx="1115568" cy="384048"/>
          </a:xfrm>
          <a:prstGeom prst="rect">
            <a:avLst/>
          </a:prstGeom>
          <a:noFill/>
          <a:ln/>
        </p:spPr>
        <p:txBody>
          <a:bodyPr wrap="square" lIns="0" tIns="0" rIns="0" bIns="0" rtlCol="0" anchor="t"/>
          <a:lstStyle/>
          <a:p>
            <a:pPr indent="0" marL="0">
              <a:buNone/>
            </a:pPr>
            <a:r>
              <a:rPr lang="en-US" sz="850" dirty="0">
                <a:solidFill>
                  <a:srgbClr val="4A5A6E"/>
                </a:solidFill>
                <a:latin typeface="Calibri" pitchFamily="34" charset="0"/>
                <a:ea typeface="Calibri" pitchFamily="34" charset="-122"/>
                <a:cs typeface="Calibri" pitchFamily="34" charset="-120"/>
              </a:rPr>
              <a:t>Data Agent and Agent One sessions</a:t>
            </a:r>
            <a:endParaRPr lang="en-US" sz="850" dirty="0"/>
          </a:p>
        </p:txBody>
      </p:sp>
      <p:sp>
        <p:nvSpPr>
          <p:cNvPr id="149" name="Shape 128"/>
          <p:cNvSpPr/>
          <p:nvPr/>
        </p:nvSpPr>
        <p:spPr>
          <a:xfrm>
            <a:off x="8156448" y="6812280"/>
            <a:ext cx="1458468" cy="338328"/>
          </a:xfrm>
          <a:prstGeom prst="roundRect">
            <a:avLst>
              <a:gd name="adj" fmla="val 40541"/>
            </a:avLst>
          </a:prstGeom>
          <a:solidFill>
            <a:srgbClr val="FFFFFF"/>
          </a:solidFill>
          <a:ln w="9525">
            <a:solidFill>
              <a:srgbClr val="C8D8EC"/>
            </a:solidFill>
            <a:prstDash val="solid"/>
          </a:ln>
        </p:spPr>
      </p:sp>
      <p:pic>
        <p:nvPicPr>
          <p:cNvPr id="150" name="Image 19" descr="preencoded.png">    </p:cNvPr>
          <p:cNvPicPr>
            <a:picLocks noChangeAspect="1"/>
          </p:cNvPicPr>
          <p:nvPr/>
        </p:nvPicPr>
        <p:blipFill>
          <a:blip r:embed="rId20"/>
          <a:stretch>
            <a:fillRect/>
          </a:stretch>
        </p:blipFill>
        <p:spPr>
          <a:xfrm>
            <a:off x="8284464" y="6908292"/>
            <a:ext cx="146304" cy="146304"/>
          </a:xfrm>
          <a:prstGeom prst="rect">
            <a:avLst/>
          </a:prstGeom>
        </p:spPr>
      </p:pic>
      <p:sp>
        <p:nvSpPr>
          <p:cNvPr id="151" name="Text 129"/>
          <p:cNvSpPr txBox="1"/>
          <p:nvPr/>
        </p:nvSpPr>
        <p:spPr>
          <a:xfrm>
            <a:off x="8522208" y="6812280"/>
            <a:ext cx="1046988"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AI session traces</a:t>
            </a:r>
            <a:endParaRPr lang="en-US" sz="950" dirty="0"/>
          </a:p>
        </p:txBody>
      </p:sp>
      <p:sp>
        <p:nvSpPr>
          <p:cNvPr id="152" name="Shape 130"/>
          <p:cNvSpPr/>
          <p:nvPr/>
        </p:nvSpPr>
        <p:spPr>
          <a:xfrm>
            <a:off x="9724644" y="6812280"/>
            <a:ext cx="1458468" cy="338328"/>
          </a:xfrm>
          <a:prstGeom prst="roundRect">
            <a:avLst>
              <a:gd name="adj" fmla="val 40541"/>
            </a:avLst>
          </a:prstGeom>
          <a:solidFill>
            <a:srgbClr val="FFFFFF"/>
          </a:solidFill>
          <a:ln w="9525">
            <a:solidFill>
              <a:srgbClr val="C8D8EC"/>
            </a:solidFill>
            <a:prstDash val="solid"/>
          </a:ln>
        </p:spPr>
      </p:sp>
      <p:pic>
        <p:nvPicPr>
          <p:cNvPr id="153" name="Image 20" descr="preencoded.png">    </p:cNvPr>
          <p:cNvPicPr>
            <a:picLocks noChangeAspect="1"/>
          </p:cNvPicPr>
          <p:nvPr/>
        </p:nvPicPr>
        <p:blipFill>
          <a:blip r:embed="rId21"/>
          <a:stretch>
            <a:fillRect/>
          </a:stretch>
        </p:blipFill>
        <p:spPr>
          <a:xfrm>
            <a:off x="9852660" y="6908292"/>
            <a:ext cx="146304" cy="146304"/>
          </a:xfrm>
          <a:prstGeom prst="rect">
            <a:avLst/>
          </a:prstGeom>
        </p:spPr>
      </p:pic>
      <p:sp>
        <p:nvSpPr>
          <p:cNvPr id="154" name="Text 131"/>
          <p:cNvSpPr txBox="1"/>
          <p:nvPr/>
        </p:nvSpPr>
        <p:spPr>
          <a:xfrm>
            <a:off x="10090404" y="6812280"/>
            <a:ext cx="1046988"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Prompts &amp; sources</a:t>
            </a:r>
            <a:endParaRPr lang="en-US" sz="950" dirty="0"/>
          </a:p>
        </p:txBody>
      </p:sp>
      <p:sp>
        <p:nvSpPr>
          <p:cNvPr id="155" name="Shape 132"/>
          <p:cNvSpPr/>
          <p:nvPr/>
        </p:nvSpPr>
        <p:spPr>
          <a:xfrm>
            <a:off x="8156448" y="7242048"/>
            <a:ext cx="1458468" cy="338328"/>
          </a:xfrm>
          <a:prstGeom prst="roundRect">
            <a:avLst>
              <a:gd name="adj" fmla="val 40541"/>
            </a:avLst>
          </a:prstGeom>
          <a:solidFill>
            <a:srgbClr val="FFFFFF"/>
          </a:solidFill>
          <a:ln w="9525">
            <a:solidFill>
              <a:srgbClr val="C8D8EC"/>
            </a:solidFill>
            <a:prstDash val="solid"/>
          </a:ln>
        </p:spPr>
      </p:sp>
      <p:pic>
        <p:nvPicPr>
          <p:cNvPr id="156" name="Image 21" descr="preencoded.png">    </p:cNvPr>
          <p:cNvPicPr>
            <a:picLocks noChangeAspect="1"/>
          </p:cNvPicPr>
          <p:nvPr/>
        </p:nvPicPr>
        <p:blipFill>
          <a:blip r:embed="rId22"/>
          <a:stretch>
            <a:fillRect/>
          </a:stretch>
        </p:blipFill>
        <p:spPr>
          <a:xfrm>
            <a:off x="8284464" y="7338060"/>
            <a:ext cx="146304" cy="146304"/>
          </a:xfrm>
          <a:prstGeom prst="rect">
            <a:avLst/>
          </a:prstGeom>
        </p:spPr>
      </p:pic>
      <p:sp>
        <p:nvSpPr>
          <p:cNvPr id="157" name="Text 133"/>
          <p:cNvSpPr txBox="1"/>
          <p:nvPr/>
        </p:nvSpPr>
        <p:spPr>
          <a:xfrm>
            <a:off x="8522208" y="7242048"/>
            <a:ext cx="1046988"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Skill gap analysis</a:t>
            </a:r>
            <a:endParaRPr lang="en-US" sz="950" dirty="0"/>
          </a:p>
        </p:txBody>
      </p:sp>
      <p:sp>
        <p:nvSpPr>
          <p:cNvPr id="158" name="Shape 134"/>
          <p:cNvSpPr/>
          <p:nvPr/>
        </p:nvSpPr>
        <p:spPr>
          <a:xfrm>
            <a:off x="9724644" y="7242048"/>
            <a:ext cx="1458468" cy="338328"/>
          </a:xfrm>
          <a:prstGeom prst="roundRect">
            <a:avLst>
              <a:gd name="adj" fmla="val 40541"/>
            </a:avLst>
          </a:prstGeom>
          <a:solidFill>
            <a:srgbClr val="FFFFFF"/>
          </a:solidFill>
          <a:ln w="9525">
            <a:solidFill>
              <a:srgbClr val="C8D8EC"/>
            </a:solidFill>
            <a:prstDash val="solid"/>
          </a:ln>
        </p:spPr>
      </p:sp>
      <p:pic>
        <p:nvPicPr>
          <p:cNvPr id="159" name="Image 22" descr="preencoded.png">    </p:cNvPr>
          <p:cNvPicPr>
            <a:picLocks noChangeAspect="1"/>
          </p:cNvPicPr>
          <p:nvPr/>
        </p:nvPicPr>
        <p:blipFill>
          <a:blip r:embed="rId23"/>
          <a:stretch>
            <a:fillRect/>
          </a:stretch>
        </p:blipFill>
        <p:spPr>
          <a:xfrm>
            <a:off x="9852660" y="7338060"/>
            <a:ext cx="146304" cy="146304"/>
          </a:xfrm>
          <a:prstGeom prst="rect">
            <a:avLst/>
          </a:prstGeom>
        </p:spPr>
      </p:pic>
      <p:sp>
        <p:nvSpPr>
          <p:cNvPr id="160" name="Text 135"/>
          <p:cNvSpPr txBox="1"/>
          <p:nvPr/>
        </p:nvSpPr>
        <p:spPr>
          <a:xfrm>
            <a:off x="10090404" y="7242048"/>
            <a:ext cx="1046988"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LLM perf &amp; health</a:t>
            </a:r>
            <a:endParaRPr lang="en-US" sz="950" dirty="0"/>
          </a:p>
        </p:txBody>
      </p:sp>
      <p:sp>
        <p:nvSpPr>
          <p:cNvPr id="161" name="Shape 136"/>
          <p:cNvSpPr/>
          <p:nvPr/>
        </p:nvSpPr>
        <p:spPr>
          <a:xfrm>
            <a:off x="11731752" y="6473952"/>
            <a:ext cx="2386584" cy="1234440"/>
          </a:xfrm>
          <a:prstGeom prst="roundRect">
            <a:avLst>
              <a:gd name="adj" fmla="val 4444"/>
            </a:avLst>
          </a:prstGeom>
          <a:solidFill>
            <a:srgbClr val="F1F4F8"/>
          </a:solidFill>
          <a:ln w="12700">
            <a:solidFill>
              <a:srgbClr val="6B7C93"/>
            </a:solidFill>
            <a:prstDash val="dash"/>
          </a:ln>
        </p:spPr>
      </p:sp>
      <p:sp>
        <p:nvSpPr>
          <p:cNvPr id="162" name="Text 137"/>
          <p:cNvSpPr txBox="1"/>
          <p:nvPr/>
        </p:nvSpPr>
        <p:spPr>
          <a:xfrm>
            <a:off x="11850624" y="6547104"/>
            <a:ext cx="2112264" cy="182880"/>
          </a:xfrm>
          <a:prstGeom prst="rect">
            <a:avLst/>
          </a:prstGeom>
          <a:noFill/>
          <a:ln/>
        </p:spPr>
        <p:txBody>
          <a:bodyPr wrap="square" lIns="0" tIns="0" rIns="0" bIns="0" rtlCol="0" anchor="ctr"/>
          <a:lstStyle/>
          <a:p>
            <a:pPr indent="0" marL="0">
              <a:buNone/>
            </a:pPr>
            <a:r>
              <a:rPr lang="en-US" sz="900" b="1" spc="100" kern="0" dirty="0">
                <a:solidFill>
                  <a:srgbClr val="5A6B82"/>
                </a:solidFill>
                <a:latin typeface="Calibri" pitchFamily="34" charset="0"/>
                <a:ea typeface="Calibri" pitchFamily="34" charset="-122"/>
                <a:cs typeface="Calibri" pitchFamily="34" charset="-120"/>
              </a:rPr>
              <a:t>APPLICATION AUDIT (EXISTING)</a:t>
            </a:r>
            <a:endParaRPr lang="en-US" sz="900" dirty="0"/>
          </a:p>
        </p:txBody>
      </p:sp>
      <p:sp>
        <p:nvSpPr>
          <p:cNvPr id="163" name="Shape 138"/>
          <p:cNvSpPr/>
          <p:nvPr/>
        </p:nvSpPr>
        <p:spPr>
          <a:xfrm>
            <a:off x="11850624" y="6812280"/>
            <a:ext cx="2148840" cy="338328"/>
          </a:xfrm>
          <a:prstGeom prst="roundRect">
            <a:avLst>
              <a:gd name="adj" fmla="val 40541"/>
            </a:avLst>
          </a:prstGeom>
          <a:solidFill>
            <a:srgbClr val="FFFFFF"/>
          </a:solidFill>
          <a:ln w="9525">
            <a:solidFill>
              <a:srgbClr val="C8D8EC"/>
            </a:solidFill>
            <a:prstDash val="solid"/>
          </a:ln>
        </p:spPr>
      </p:sp>
      <p:pic>
        <p:nvPicPr>
          <p:cNvPr id="164" name="Image 23" descr="preencoded.png">    </p:cNvPr>
          <p:cNvPicPr>
            <a:picLocks noChangeAspect="1"/>
          </p:cNvPicPr>
          <p:nvPr/>
        </p:nvPicPr>
        <p:blipFill>
          <a:blip r:embed="rId24"/>
          <a:stretch>
            <a:fillRect/>
          </a:stretch>
        </p:blipFill>
        <p:spPr>
          <a:xfrm>
            <a:off x="11978640" y="6908292"/>
            <a:ext cx="146304" cy="146304"/>
          </a:xfrm>
          <a:prstGeom prst="rect">
            <a:avLst/>
          </a:prstGeom>
        </p:spPr>
      </p:pic>
      <p:sp>
        <p:nvSpPr>
          <p:cNvPr id="165" name="Text 139"/>
          <p:cNvSpPr txBox="1"/>
          <p:nvPr/>
        </p:nvSpPr>
        <p:spPr>
          <a:xfrm>
            <a:off x="12216384" y="6812280"/>
            <a:ext cx="1737360"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Owner decisions</a:t>
            </a:r>
            <a:endParaRPr lang="en-US" sz="950" dirty="0"/>
          </a:p>
        </p:txBody>
      </p:sp>
      <p:sp>
        <p:nvSpPr>
          <p:cNvPr id="166" name="Shape 140"/>
          <p:cNvSpPr/>
          <p:nvPr/>
        </p:nvSpPr>
        <p:spPr>
          <a:xfrm>
            <a:off x="11850624" y="7242048"/>
            <a:ext cx="2148840" cy="338328"/>
          </a:xfrm>
          <a:prstGeom prst="roundRect">
            <a:avLst>
              <a:gd name="adj" fmla="val 40541"/>
            </a:avLst>
          </a:prstGeom>
          <a:solidFill>
            <a:srgbClr val="FFFFFF"/>
          </a:solidFill>
          <a:ln w="9525">
            <a:solidFill>
              <a:srgbClr val="C8D8EC"/>
            </a:solidFill>
            <a:prstDash val="solid"/>
          </a:ln>
        </p:spPr>
      </p:sp>
      <p:pic>
        <p:nvPicPr>
          <p:cNvPr id="167" name="Image 24" descr="preencoded.png">    </p:cNvPr>
          <p:cNvPicPr>
            <a:picLocks noChangeAspect="1"/>
          </p:cNvPicPr>
          <p:nvPr/>
        </p:nvPicPr>
        <p:blipFill>
          <a:blip r:embed="rId25"/>
          <a:stretch>
            <a:fillRect/>
          </a:stretch>
        </p:blipFill>
        <p:spPr>
          <a:xfrm>
            <a:off x="11978640" y="7338060"/>
            <a:ext cx="146304" cy="146304"/>
          </a:xfrm>
          <a:prstGeom prst="rect">
            <a:avLst/>
          </a:prstGeom>
        </p:spPr>
      </p:pic>
      <p:sp>
        <p:nvSpPr>
          <p:cNvPr id="168" name="Text 141"/>
          <p:cNvSpPr txBox="1"/>
          <p:nvPr/>
        </p:nvSpPr>
        <p:spPr>
          <a:xfrm>
            <a:off x="12216384" y="7242048"/>
            <a:ext cx="1737360"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Corrections applied</a:t>
            </a:r>
            <a:endParaRPr lang="en-US" sz="950" dirty="0"/>
          </a:p>
        </p:txBody>
      </p:sp>
      <p:sp>
        <p:nvSpPr>
          <p:cNvPr id="169" name="Text 142"/>
          <p:cNvSpPr txBox="1"/>
          <p:nvPr/>
        </p:nvSpPr>
        <p:spPr>
          <a:xfrm>
            <a:off x="502920" y="7818120"/>
            <a:ext cx="2743200" cy="228600"/>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Outcomes</a:t>
            </a:r>
            <a:endParaRPr lang="en-US" sz="1100" dirty="0"/>
          </a:p>
        </p:txBody>
      </p:sp>
      <p:sp>
        <p:nvSpPr>
          <p:cNvPr id="170" name="Shape 143"/>
          <p:cNvSpPr/>
          <p:nvPr/>
        </p:nvSpPr>
        <p:spPr>
          <a:xfrm>
            <a:off x="502920" y="8074152"/>
            <a:ext cx="3227832" cy="1005840"/>
          </a:xfrm>
          <a:prstGeom prst="roundRect">
            <a:avLst>
              <a:gd name="adj" fmla="val 7273"/>
            </a:avLst>
          </a:prstGeom>
          <a:solidFill>
            <a:srgbClr val="FFFFFF"/>
          </a:solidFill>
          <a:ln w="9525">
            <a:solidFill>
              <a:srgbClr val="C8D8EC"/>
            </a:solidFill>
            <a:prstDash val="solid"/>
          </a:ln>
        </p:spPr>
      </p:sp>
      <p:sp>
        <p:nvSpPr>
          <p:cNvPr id="171" name="Shape 144"/>
          <p:cNvSpPr/>
          <p:nvPr/>
        </p:nvSpPr>
        <p:spPr>
          <a:xfrm>
            <a:off x="667512" y="8321040"/>
            <a:ext cx="512064" cy="512064"/>
          </a:xfrm>
          <a:prstGeom prst="ellipse">
            <a:avLst/>
          </a:prstGeom>
          <a:solidFill>
            <a:srgbClr val="1E8A5A"/>
          </a:solidFill>
          <a:ln w="12700">
            <a:solidFill>
              <a:srgbClr val="1E8A5A"/>
            </a:solidFill>
            <a:prstDash val="solid"/>
          </a:ln>
        </p:spPr>
      </p:sp>
      <p:pic>
        <p:nvPicPr>
          <p:cNvPr id="172" name="Image 25" descr="preencoded.png">    </p:cNvPr>
          <p:cNvPicPr>
            <a:picLocks noChangeAspect="1"/>
          </p:cNvPicPr>
          <p:nvPr/>
        </p:nvPicPr>
        <p:blipFill>
          <a:blip r:embed="rId26"/>
          <a:stretch>
            <a:fillRect/>
          </a:stretch>
        </p:blipFill>
        <p:spPr>
          <a:xfrm>
            <a:off x="800649" y="8454177"/>
            <a:ext cx="245791" cy="245791"/>
          </a:xfrm>
          <a:prstGeom prst="rect">
            <a:avLst/>
          </a:prstGeom>
        </p:spPr>
      </p:pic>
      <p:sp>
        <p:nvSpPr>
          <p:cNvPr id="173" name="Text 145"/>
          <p:cNvSpPr txBox="1"/>
          <p:nvPr/>
        </p:nvSpPr>
        <p:spPr>
          <a:xfrm>
            <a:off x="1325880"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Fix causes, not symptoms</a:t>
            </a:r>
            <a:endParaRPr lang="en-US" sz="1200" dirty="0"/>
          </a:p>
        </p:txBody>
      </p:sp>
      <p:sp>
        <p:nvSpPr>
          <p:cNvPr id="174" name="Text 146"/>
          <p:cNvSpPr txBox="1"/>
          <p:nvPr/>
        </p:nvSpPr>
        <p:spPr>
          <a:xfrm>
            <a:off x="1325880"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Repeat breaks traced back to the data that caused them</a:t>
            </a:r>
            <a:endParaRPr lang="en-US" sz="950" dirty="0"/>
          </a:p>
        </p:txBody>
      </p:sp>
      <p:sp>
        <p:nvSpPr>
          <p:cNvPr id="175" name="Shape 147"/>
          <p:cNvSpPr/>
          <p:nvPr/>
        </p:nvSpPr>
        <p:spPr>
          <a:xfrm>
            <a:off x="3941064" y="8074152"/>
            <a:ext cx="3227832" cy="1005840"/>
          </a:xfrm>
          <a:prstGeom prst="roundRect">
            <a:avLst>
              <a:gd name="adj" fmla="val 7273"/>
            </a:avLst>
          </a:prstGeom>
          <a:solidFill>
            <a:srgbClr val="FFFFFF"/>
          </a:solidFill>
          <a:ln w="9525">
            <a:solidFill>
              <a:srgbClr val="C8D8EC"/>
            </a:solidFill>
            <a:prstDash val="solid"/>
          </a:ln>
        </p:spPr>
      </p:sp>
      <p:sp>
        <p:nvSpPr>
          <p:cNvPr id="176" name="Shape 148"/>
          <p:cNvSpPr/>
          <p:nvPr/>
        </p:nvSpPr>
        <p:spPr>
          <a:xfrm>
            <a:off x="4105656" y="8321040"/>
            <a:ext cx="512064" cy="512064"/>
          </a:xfrm>
          <a:prstGeom prst="ellipse">
            <a:avLst/>
          </a:prstGeom>
          <a:solidFill>
            <a:srgbClr val="2A6EBB"/>
          </a:solidFill>
          <a:ln w="12700">
            <a:solidFill>
              <a:srgbClr val="2A6EBB"/>
            </a:solidFill>
            <a:prstDash val="solid"/>
          </a:ln>
        </p:spPr>
      </p:sp>
      <p:pic>
        <p:nvPicPr>
          <p:cNvPr id="177" name="Image 26" descr="preencoded.png">    </p:cNvPr>
          <p:cNvPicPr>
            <a:picLocks noChangeAspect="1"/>
          </p:cNvPicPr>
          <p:nvPr/>
        </p:nvPicPr>
        <p:blipFill>
          <a:blip r:embed="rId27"/>
          <a:stretch>
            <a:fillRect/>
          </a:stretch>
        </p:blipFill>
        <p:spPr>
          <a:xfrm>
            <a:off x="4238793" y="8454177"/>
            <a:ext cx="245791" cy="245791"/>
          </a:xfrm>
          <a:prstGeom prst="rect">
            <a:avLst/>
          </a:prstGeom>
        </p:spPr>
      </p:pic>
      <p:sp>
        <p:nvSpPr>
          <p:cNvPr id="178" name="Text 149"/>
          <p:cNvSpPr txBox="1"/>
          <p:nvPr/>
        </p:nvSpPr>
        <p:spPr>
          <a:xfrm>
            <a:off x="4764024"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Human in the loop</a:t>
            </a:r>
            <a:endParaRPr lang="en-US" sz="1200" dirty="0"/>
          </a:p>
        </p:txBody>
      </p:sp>
      <p:sp>
        <p:nvSpPr>
          <p:cNvPr id="179" name="Text 150"/>
          <p:cNvSpPr txBox="1"/>
          <p:nvPr/>
        </p:nvSpPr>
        <p:spPr>
          <a:xfrm>
            <a:off x="4764024"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Data Owners approve every correction</a:t>
            </a:r>
            <a:endParaRPr lang="en-US" sz="950" dirty="0"/>
          </a:p>
        </p:txBody>
      </p:sp>
      <p:sp>
        <p:nvSpPr>
          <p:cNvPr id="180" name="Shape 151"/>
          <p:cNvSpPr/>
          <p:nvPr/>
        </p:nvSpPr>
        <p:spPr>
          <a:xfrm>
            <a:off x="7379208" y="8074152"/>
            <a:ext cx="3227832" cy="1005840"/>
          </a:xfrm>
          <a:prstGeom prst="roundRect">
            <a:avLst>
              <a:gd name="adj" fmla="val 7273"/>
            </a:avLst>
          </a:prstGeom>
          <a:solidFill>
            <a:srgbClr val="FFFFFF"/>
          </a:solidFill>
          <a:ln w="9525">
            <a:solidFill>
              <a:srgbClr val="C8D8EC"/>
            </a:solidFill>
            <a:prstDash val="solid"/>
          </a:ln>
        </p:spPr>
      </p:sp>
      <p:sp>
        <p:nvSpPr>
          <p:cNvPr id="181" name="Shape 152"/>
          <p:cNvSpPr/>
          <p:nvPr/>
        </p:nvSpPr>
        <p:spPr>
          <a:xfrm>
            <a:off x="7543800" y="8321040"/>
            <a:ext cx="512064" cy="512064"/>
          </a:xfrm>
          <a:prstGeom prst="ellipse">
            <a:avLst/>
          </a:prstGeom>
          <a:solidFill>
            <a:srgbClr val="5B4FA8"/>
          </a:solidFill>
          <a:ln w="12700">
            <a:solidFill>
              <a:srgbClr val="5B4FA8"/>
            </a:solidFill>
            <a:prstDash val="solid"/>
          </a:ln>
        </p:spPr>
      </p:sp>
      <p:pic>
        <p:nvPicPr>
          <p:cNvPr id="182" name="Image 27" descr="preencoded.png">    </p:cNvPr>
          <p:cNvPicPr>
            <a:picLocks noChangeAspect="1"/>
          </p:cNvPicPr>
          <p:nvPr/>
        </p:nvPicPr>
        <p:blipFill>
          <a:blip r:embed="rId28"/>
          <a:stretch>
            <a:fillRect/>
          </a:stretch>
        </p:blipFill>
        <p:spPr>
          <a:xfrm>
            <a:off x="7676937" y="8454177"/>
            <a:ext cx="245791" cy="245791"/>
          </a:xfrm>
          <a:prstGeom prst="rect">
            <a:avLst/>
          </a:prstGeom>
        </p:spPr>
      </p:pic>
      <p:sp>
        <p:nvSpPr>
          <p:cNvPr id="183" name="Text 153"/>
          <p:cNvSpPr txBox="1"/>
          <p:nvPr/>
        </p:nvSpPr>
        <p:spPr>
          <a:xfrm>
            <a:off x="8202168"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Full audit trail</a:t>
            </a:r>
            <a:endParaRPr lang="en-US" sz="1200" dirty="0"/>
          </a:p>
        </p:txBody>
      </p:sp>
      <p:sp>
        <p:nvSpPr>
          <p:cNvPr id="184" name="Text 154"/>
          <p:cNvSpPr txBox="1"/>
          <p:nvPr/>
        </p:nvSpPr>
        <p:spPr>
          <a:xfrm>
            <a:off x="8202168"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Issue, evidence and correction linked end to end</a:t>
            </a:r>
            <a:endParaRPr lang="en-US" sz="950" dirty="0"/>
          </a:p>
        </p:txBody>
      </p:sp>
      <p:sp>
        <p:nvSpPr>
          <p:cNvPr id="185" name="Shape 155"/>
          <p:cNvSpPr/>
          <p:nvPr/>
        </p:nvSpPr>
        <p:spPr>
          <a:xfrm>
            <a:off x="10817352" y="8074152"/>
            <a:ext cx="3227832" cy="1005840"/>
          </a:xfrm>
          <a:prstGeom prst="roundRect">
            <a:avLst>
              <a:gd name="adj" fmla="val 7273"/>
            </a:avLst>
          </a:prstGeom>
          <a:solidFill>
            <a:srgbClr val="FFFFFF"/>
          </a:solidFill>
          <a:ln w="9525">
            <a:solidFill>
              <a:srgbClr val="C8D8EC"/>
            </a:solidFill>
            <a:prstDash val="solid"/>
          </a:ln>
        </p:spPr>
      </p:sp>
      <p:sp>
        <p:nvSpPr>
          <p:cNvPr id="186" name="Shape 156"/>
          <p:cNvSpPr/>
          <p:nvPr/>
        </p:nvSpPr>
        <p:spPr>
          <a:xfrm>
            <a:off x="10981944" y="8321040"/>
            <a:ext cx="512064" cy="512064"/>
          </a:xfrm>
          <a:prstGeom prst="ellipse">
            <a:avLst/>
          </a:prstGeom>
          <a:solidFill>
            <a:srgbClr val="1F4E8C"/>
          </a:solidFill>
          <a:ln w="12700">
            <a:solidFill>
              <a:srgbClr val="1F4E8C"/>
            </a:solidFill>
            <a:prstDash val="solid"/>
          </a:ln>
        </p:spPr>
      </p:sp>
      <p:pic>
        <p:nvPicPr>
          <p:cNvPr id="187" name="Image 28" descr="preencoded.png">    </p:cNvPr>
          <p:cNvPicPr>
            <a:picLocks noChangeAspect="1"/>
          </p:cNvPicPr>
          <p:nvPr/>
        </p:nvPicPr>
        <p:blipFill>
          <a:blip r:embed="rId29"/>
          <a:stretch>
            <a:fillRect/>
          </a:stretch>
        </p:blipFill>
        <p:spPr>
          <a:xfrm>
            <a:off x="11115081" y="8454177"/>
            <a:ext cx="245791" cy="245791"/>
          </a:xfrm>
          <a:prstGeom prst="rect">
            <a:avLst/>
          </a:prstGeom>
        </p:spPr>
      </p:pic>
      <p:sp>
        <p:nvSpPr>
          <p:cNvPr id="188" name="Text 157"/>
          <p:cNvSpPr txBox="1"/>
          <p:nvPr/>
        </p:nvSpPr>
        <p:spPr>
          <a:xfrm>
            <a:off x="11640312"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Scales by domain</a:t>
            </a:r>
            <a:endParaRPr lang="en-US" sz="1200" dirty="0"/>
          </a:p>
        </p:txBody>
      </p:sp>
      <p:sp>
        <p:nvSpPr>
          <p:cNvPr id="189" name="Text 158"/>
          <p:cNvSpPr txBox="1"/>
          <p:nvPr/>
        </p:nvSpPr>
        <p:spPr>
          <a:xfrm>
            <a:off x="11640312"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Add data domains as new skills and tools</a:t>
            </a:r>
            <a:endParaRPr lang="en-US" sz="950" dirty="0"/>
          </a:p>
        </p:txBody>
      </p:sp>
      <p:sp>
        <p:nvSpPr>
          <p:cNvPr id="190" name="Shape 159"/>
          <p:cNvSpPr/>
          <p:nvPr/>
        </p:nvSpPr>
        <p:spPr>
          <a:xfrm>
            <a:off x="0" y="9272016"/>
            <a:ext cx="14630400" cy="484632"/>
          </a:xfrm>
          <a:prstGeom prst="rect">
            <a:avLst/>
          </a:prstGeom>
          <a:solidFill>
            <a:srgbClr val="0B2E5E"/>
          </a:solidFill>
          <a:ln w="12700">
            <a:solidFill>
              <a:srgbClr val="0B2E5E"/>
            </a:solidFill>
            <a:prstDash val="solid"/>
          </a:ln>
        </p:spPr>
      </p:sp>
      <p:sp>
        <p:nvSpPr>
          <p:cNvPr id="191" name="Text 160"/>
          <p:cNvSpPr txBox="1"/>
          <p:nvPr/>
        </p:nvSpPr>
        <p:spPr>
          <a:xfrm>
            <a:off x="0" y="9272016"/>
            <a:ext cx="14630400" cy="4846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Reference Data</a:t>
            </a:r>
            <a:pPr algn="ctr" indent="0" marL="0">
              <a:buNone/>
            </a:pPr>
            <a:r>
              <a:rPr lang="en-US" sz="1100" dirty="0">
                <a:solidFill>
                  <a:srgbClr val="FFFFFF"/>
                </a:solidFill>
                <a:latin typeface="Calibri" pitchFamily="34" charset="0"/>
                <a:ea typeface="Calibri" pitchFamily="34" charset="-122"/>
                <a:cs typeface="Calibri" pitchFamily="34" charset="-120"/>
              </a:rPr>
              <a:t>   |   Cleaner Data. Fewer Repeat Breaks. Faster Fixes.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AFD"/>
        </a:solidFill>
      </p:bgPr>
    </p:bg>
    <p:spTree>
      <p:nvGrpSpPr>
        <p:cNvPr id="1" name=""/>
        <p:cNvGrpSpPr/>
        <p:nvPr/>
      </p:nvGrpSpPr>
      <p:grpSpPr>
        <a:xfrm>
          <a:off x="0" y="0"/>
          <a:ext cx="0" cy="0"/>
          <a:chOff x="0" y="0"/>
          <a:chExt cx="0" cy="0"/>
        </a:xfrm>
      </p:grpSpPr>
      <p:sp>
        <p:nvSpPr>
          <p:cNvPr id="2" name="Shape 0"/>
          <p:cNvSpPr/>
          <p:nvPr/>
        </p:nvSpPr>
        <p:spPr>
          <a:xfrm>
            <a:off x="0" y="0"/>
            <a:ext cx="14630400" cy="1024128"/>
          </a:xfrm>
          <a:prstGeom prst="rect">
            <a:avLst/>
          </a:prstGeom>
          <a:solidFill>
            <a:srgbClr val="0B2E5E"/>
          </a:solidFill>
          <a:ln w="12700">
            <a:solidFill>
              <a:srgbClr val="0B2E5E"/>
            </a:solidFill>
            <a:prstDash val="solid"/>
          </a:ln>
        </p:spPr>
      </p:sp>
      <p:sp>
        <p:nvSpPr>
          <p:cNvPr id="3" name="Text 1"/>
          <p:cNvSpPr txBox="1"/>
          <p:nvPr/>
        </p:nvSpPr>
        <p:spPr>
          <a:xfrm>
            <a:off x="301752" y="137160"/>
            <a:ext cx="11155680" cy="475488"/>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UC8 Entitlements &amp; Workflow: Access Review</a:t>
            </a:r>
            <a:endParaRPr lang="en-US" sz="3000" dirty="0"/>
          </a:p>
        </p:txBody>
      </p:sp>
      <p:sp>
        <p:nvSpPr>
          <p:cNvPr id="4" name="Text 2"/>
          <p:cNvSpPr txBox="1"/>
          <p:nvPr/>
        </p:nvSpPr>
        <p:spPr>
          <a:xfrm>
            <a:off x="301752" y="612648"/>
            <a:ext cx="11155680" cy="301752"/>
          </a:xfrm>
          <a:prstGeom prst="rect">
            <a:avLst/>
          </a:prstGeom>
          <a:noFill/>
          <a:ln/>
        </p:spPr>
        <p:txBody>
          <a:bodyPr wrap="square" lIns="0" tIns="0" rIns="0" bIns="0" rtlCol="0" anchor="ctr"/>
          <a:lstStyle/>
          <a:p>
            <a:pPr indent="0" marL="0">
              <a:buNone/>
            </a:pPr>
            <a:r>
              <a:rPr lang="en-US" sz="1600" dirty="0">
                <a:solidFill>
                  <a:srgbClr val="DCE9F7"/>
                </a:solidFill>
                <a:latin typeface="Calibri" pitchFamily="34" charset="0"/>
                <a:ea typeface="Calibri" pitchFamily="34" charset="-122"/>
                <a:cs typeface="Calibri" pitchFamily="34" charset="-120"/>
              </a:rPr>
              <a:t>Entitlements Definition and Workflow Definition across the control functions</a:t>
            </a:r>
            <a:endParaRPr lang="en-US" sz="1600" dirty="0"/>
          </a:p>
        </p:txBody>
      </p:sp>
      <p:sp>
        <p:nvSpPr>
          <p:cNvPr id="5" name="Shape 3"/>
          <p:cNvSpPr/>
          <p:nvPr/>
        </p:nvSpPr>
        <p:spPr>
          <a:xfrm>
            <a:off x="11640312" y="192024"/>
            <a:ext cx="0" cy="649224"/>
          </a:xfrm>
          <a:prstGeom prst="line">
            <a:avLst/>
          </a:prstGeom>
          <a:noFill/>
          <a:ln w="12700">
            <a:solidFill>
              <a:srgbClr val="FFFFFF"/>
            </a:solidFill>
            <a:prstDash val="solid"/>
          </a:ln>
        </p:spPr>
      </p:sp>
      <p:sp>
        <p:nvSpPr>
          <p:cNvPr id="6" name="Text 4"/>
          <p:cNvSpPr txBox="1"/>
          <p:nvPr/>
        </p:nvSpPr>
        <p:spPr>
          <a:xfrm>
            <a:off x="11814048" y="265176"/>
            <a:ext cx="2715768"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Access &amp; Workflow</a:t>
            </a:r>
            <a:endParaRPr lang="en-US" sz="2200" dirty="0"/>
          </a:p>
        </p:txBody>
      </p:sp>
      <p:sp>
        <p:nvSpPr>
          <p:cNvPr id="7" name="Text 5"/>
          <p:cNvSpPr txBox="1"/>
          <p:nvPr/>
        </p:nvSpPr>
        <p:spPr>
          <a:xfrm>
            <a:off x="502920" y="1216152"/>
            <a:ext cx="1920240" cy="347472"/>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Campaigns (one per app)</a:t>
            </a:r>
            <a:endParaRPr lang="en-US" sz="1100" dirty="0"/>
          </a:p>
        </p:txBody>
      </p:sp>
      <p:sp>
        <p:nvSpPr>
          <p:cNvPr id="8" name="Shape 6"/>
          <p:cNvSpPr/>
          <p:nvPr/>
        </p:nvSpPr>
        <p:spPr>
          <a:xfrm>
            <a:off x="2496312" y="1243584"/>
            <a:ext cx="2075688" cy="283464"/>
          </a:xfrm>
          <a:prstGeom prst="roundRect">
            <a:avLst>
              <a:gd name="adj" fmla="val 48387"/>
            </a:avLst>
          </a:prstGeom>
          <a:solidFill>
            <a:srgbClr val="DCE9F7"/>
          </a:solidFill>
          <a:ln w="9525">
            <a:solidFill>
              <a:srgbClr val="C8D8EC"/>
            </a:solidFill>
            <a:prstDash val="solid"/>
          </a:ln>
        </p:spPr>
      </p:sp>
      <p:pic>
        <p:nvPicPr>
          <p:cNvPr id="9" name="Image 0" descr="preencoded.png">    </p:cNvPr>
          <p:cNvPicPr>
            <a:picLocks noChangeAspect="1"/>
          </p:cNvPicPr>
          <p:nvPr/>
        </p:nvPicPr>
        <p:blipFill>
          <a:blip r:embed="rId1"/>
          <a:stretch>
            <a:fillRect/>
          </a:stretch>
        </p:blipFill>
        <p:spPr>
          <a:xfrm>
            <a:off x="2606040" y="1316736"/>
            <a:ext cx="137160" cy="137160"/>
          </a:xfrm>
          <a:prstGeom prst="rect">
            <a:avLst/>
          </a:prstGeom>
        </p:spPr>
      </p:pic>
      <p:sp>
        <p:nvSpPr>
          <p:cNvPr id="10" name="Text 7"/>
          <p:cNvSpPr txBox="1"/>
          <p:nvPr/>
        </p:nvSpPr>
        <p:spPr>
          <a:xfrm>
            <a:off x="2798064" y="1243584"/>
            <a:ext cx="1737360" cy="283464"/>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Exception Hub</a:t>
            </a:r>
            <a:endParaRPr lang="en-US" sz="950" dirty="0"/>
          </a:p>
        </p:txBody>
      </p:sp>
      <p:sp>
        <p:nvSpPr>
          <p:cNvPr id="11" name="Shape 8"/>
          <p:cNvSpPr/>
          <p:nvPr/>
        </p:nvSpPr>
        <p:spPr>
          <a:xfrm>
            <a:off x="4709160" y="1243584"/>
            <a:ext cx="2075688" cy="283464"/>
          </a:xfrm>
          <a:prstGeom prst="roundRect">
            <a:avLst>
              <a:gd name="adj" fmla="val 48387"/>
            </a:avLst>
          </a:prstGeom>
          <a:solidFill>
            <a:srgbClr val="DCE9F7"/>
          </a:solidFill>
          <a:ln w="9525">
            <a:solidFill>
              <a:srgbClr val="C8D8EC"/>
            </a:solidFill>
            <a:prstDash val="solid"/>
          </a:ln>
        </p:spPr>
      </p:sp>
      <p:pic>
        <p:nvPicPr>
          <p:cNvPr id="12" name="Image 1" descr="preencoded.png">    </p:cNvPr>
          <p:cNvPicPr>
            <a:picLocks noChangeAspect="1"/>
          </p:cNvPicPr>
          <p:nvPr/>
        </p:nvPicPr>
        <p:blipFill>
          <a:blip r:embed="rId2"/>
          <a:stretch>
            <a:fillRect/>
          </a:stretch>
        </p:blipFill>
        <p:spPr>
          <a:xfrm>
            <a:off x="4818888" y="1316736"/>
            <a:ext cx="137160" cy="137160"/>
          </a:xfrm>
          <a:prstGeom prst="rect">
            <a:avLst/>
          </a:prstGeom>
        </p:spPr>
      </p:pic>
      <p:sp>
        <p:nvSpPr>
          <p:cNvPr id="13" name="Text 9"/>
          <p:cNvSpPr txBox="1"/>
          <p:nvPr/>
        </p:nvSpPr>
        <p:spPr>
          <a:xfrm>
            <a:off x="5010912" y="1243584"/>
            <a:ext cx="1737360" cy="283464"/>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Helix</a:t>
            </a:r>
            <a:endParaRPr lang="en-US" sz="950" dirty="0"/>
          </a:p>
        </p:txBody>
      </p:sp>
      <p:sp>
        <p:nvSpPr>
          <p:cNvPr id="14" name="Shape 10"/>
          <p:cNvSpPr/>
          <p:nvPr/>
        </p:nvSpPr>
        <p:spPr>
          <a:xfrm>
            <a:off x="6922008" y="1243584"/>
            <a:ext cx="2075688" cy="283464"/>
          </a:xfrm>
          <a:prstGeom prst="roundRect">
            <a:avLst>
              <a:gd name="adj" fmla="val 48387"/>
            </a:avLst>
          </a:prstGeom>
          <a:solidFill>
            <a:srgbClr val="DCE9F7"/>
          </a:solidFill>
          <a:ln w="9525">
            <a:solidFill>
              <a:srgbClr val="C8D8EC"/>
            </a:solidFill>
            <a:prstDash val="solid"/>
          </a:ln>
        </p:spPr>
      </p:sp>
      <p:pic>
        <p:nvPicPr>
          <p:cNvPr id="15" name="Image 2" descr="preencoded.png">    </p:cNvPr>
          <p:cNvPicPr>
            <a:picLocks noChangeAspect="1"/>
          </p:cNvPicPr>
          <p:nvPr/>
        </p:nvPicPr>
        <p:blipFill>
          <a:blip r:embed="rId3"/>
          <a:stretch>
            <a:fillRect/>
          </a:stretch>
        </p:blipFill>
        <p:spPr>
          <a:xfrm>
            <a:off x="7031736" y="1316736"/>
            <a:ext cx="137160" cy="137160"/>
          </a:xfrm>
          <a:prstGeom prst="rect">
            <a:avLst/>
          </a:prstGeom>
        </p:spPr>
      </p:pic>
      <p:sp>
        <p:nvSpPr>
          <p:cNvPr id="16" name="Text 11"/>
          <p:cNvSpPr txBox="1"/>
          <p:nvPr/>
        </p:nvSpPr>
        <p:spPr>
          <a:xfrm>
            <a:off x="7223760" y="1243584"/>
            <a:ext cx="1737360" cy="283464"/>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P&amp;L Lineage</a:t>
            </a:r>
            <a:endParaRPr lang="en-US" sz="950" dirty="0"/>
          </a:p>
        </p:txBody>
      </p:sp>
      <p:sp>
        <p:nvSpPr>
          <p:cNvPr id="17" name="Shape 12"/>
          <p:cNvSpPr/>
          <p:nvPr/>
        </p:nvSpPr>
        <p:spPr>
          <a:xfrm>
            <a:off x="9134856" y="1243584"/>
            <a:ext cx="2075688" cy="283464"/>
          </a:xfrm>
          <a:prstGeom prst="roundRect">
            <a:avLst>
              <a:gd name="adj" fmla="val 48387"/>
            </a:avLst>
          </a:prstGeom>
          <a:solidFill>
            <a:srgbClr val="FFFFFF"/>
          </a:solidFill>
          <a:ln w="9525">
            <a:solidFill>
              <a:srgbClr val="C8D8EC"/>
            </a:solidFill>
            <a:prstDash val="solid"/>
          </a:ln>
        </p:spPr>
      </p:sp>
      <p:pic>
        <p:nvPicPr>
          <p:cNvPr id="18" name="Image 3" descr="preencoded.png">    </p:cNvPr>
          <p:cNvPicPr>
            <a:picLocks noChangeAspect="1"/>
          </p:cNvPicPr>
          <p:nvPr/>
        </p:nvPicPr>
        <p:blipFill>
          <a:blip r:embed="rId4"/>
          <a:stretch>
            <a:fillRect/>
          </a:stretch>
        </p:blipFill>
        <p:spPr>
          <a:xfrm>
            <a:off x="9244584" y="1316736"/>
            <a:ext cx="137160" cy="137160"/>
          </a:xfrm>
          <a:prstGeom prst="rect">
            <a:avLst/>
          </a:prstGeom>
        </p:spPr>
      </p:pic>
      <p:sp>
        <p:nvSpPr>
          <p:cNvPr id="19" name="Text 13"/>
          <p:cNvSpPr txBox="1"/>
          <p:nvPr/>
        </p:nvSpPr>
        <p:spPr>
          <a:xfrm>
            <a:off x="9436608" y="1243584"/>
            <a:ext cx="1737360" cy="283464"/>
          </a:xfrm>
          <a:prstGeom prst="rect">
            <a:avLst/>
          </a:prstGeom>
          <a:noFill/>
          <a:ln/>
        </p:spPr>
        <p:txBody>
          <a:bodyPr wrap="square" lIns="0" tIns="0" rIns="0" bIns="0" rtlCol="0" anchor="ctr"/>
          <a:lstStyle/>
          <a:p>
            <a:pPr indent="0" marL="0">
              <a:buNone/>
            </a:pPr>
            <a:r>
              <a:rPr lang="en-US" sz="950" i="1" dirty="0">
                <a:solidFill>
                  <a:srgbClr val="1F2D3D"/>
                </a:solidFill>
                <a:latin typeface="Calibri" pitchFamily="34" charset="0"/>
                <a:ea typeface="Calibri" pitchFamily="34" charset="-122"/>
                <a:cs typeface="Calibri" pitchFamily="34" charset="-120"/>
              </a:rPr>
              <a:t>More applications</a:t>
            </a:r>
            <a:endParaRPr lang="en-US" sz="950" dirty="0"/>
          </a:p>
        </p:txBody>
      </p:sp>
      <p:sp>
        <p:nvSpPr>
          <p:cNvPr id="20" name="Text 14"/>
          <p:cNvSpPr txBox="1"/>
          <p:nvPr/>
        </p:nvSpPr>
        <p:spPr>
          <a:xfrm>
            <a:off x="11338560" y="1216152"/>
            <a:ext cx="2852928" cy="347472"/>
          </a:xfrm>
          <a:prstGeom prst="rect">
            <a:avLst/>
          </a:prstGeom>
          <a:noFill/>
          <a:ln/>
        </p:spPr>
        <p:txBody>
          <a:bodyPr wrap="square" lIns="0" tIns="0" rIns="0" bIns="0" rtlCol="0" anchor="ctr"/>
          <a:lstStyle/>
          <a:p>
            <a:pPr indent="0" marL="0">
              <a:buNone/>
            </a:pPr>
            <a:r>
              <a:rPr lang="en-US" sz="950" i="1" dirty="0">
                <a:solidFill>
                  <a:srgbClr val="4A5A6E"/>
                </a:solidFill>
                <a:latin typeface="Calibri" pitchFamily="34" charset="0"/>
                <a:ea typeface="Calibri" pitchFamily="34" charset="-122"/>
                <a:cs typeface="Calibri" pitchFamily="34" charset="-120"/>
              </a:rPr>
              <a:t>Status: Next wave on Central Entitlement System</a:t>
            </a:r>
            <a:endParaRPr lang="en-US" sz="950" dirty="0"/>
          </a:p>
        </p:txBody>
      </p:sp>
      <p:sp>
        <p:nvSpPr>
          <p:cNvPr id="21" name="Shape 15"/>
          <p:cNvSpPr/>
          <p:nvPr/>
        </p:nvSpPr>
        <p:spPr>
          <a:xfrm>
            <a:off x="502920" y="1737360"/>
            <a:ext cx="2377440" cy="4480560"/>
          </a:xfrm>
          <a:prstGeom prst="roundRect">
            <a:avLst>
              <a:gd name="adj" fmla="val 2308"/>
            </a:avLst>
          </a:prstGeom>
          <a:solidFill>
            <a:srgbClr val="EEF4FB"/>
          </a:solidFill>
          <a:ln w="12700">
            <a:solidFill>
              <a:srgbClr val="1B4F93"/>
            </a:solidFill>
            <a:prstDash val="dash"/>
          </a:ln>
        </p:spPr>
      </p:sp>
      <p:sp>
        <p:nvSpPr>
          <p:cNvPr id="22" name="Text 16"/>
          <p:cNvSpPr txBox="1"/>
          <p:nvPr/>
        </p:nvSpPr>
        <p:spPr>
          <a:xfrm>
            <a:off x="621792" y="1810512"/>
            <a:ext cx="2148840" cy="192024"/>
          </a:xfrm>
          <a:prstGeom prst="rect">
            <a:avLst/>
          </a:prstGeom>
          <a:noFill/>
          <a:ln/>
        </p:spPr>
        <p:txBody>
          <a:bodyPr wrap="square" lIns="0" tIns="0" rIns="0" bIns="0" rtlCol="0" anchor="ctr"/>
          <a:lstStyle/>
          <a:p>
            <a:pPr indent="0" marL="0">
              <a:buNone/>
            </a:pPr>
            <a:r>
              <a:rPr lang="en-US" sz="900" b="1" spc="100" kern="0" dirty="0">
                <a:solidFill>
                  <a:srgbClr val="1B4F93"/>
                </a:solidFill>
                <a:latin typeface="Calibri" pitchFamily="34" charset="0"/>
                <a:ea typeface="Calibri" pitchFamily="34" charset="-122"/>
                <a:cs typeface="Calibri" pitchFamily="34" charset="-120"/>
              </a:rPr>
              <a:t>ENTITLEMENT DATA</a:t>
            </a:r>
            <a:endParaRPr lang="en-US" sz="900" dirty="0"/>
          </a:p>
        </p:txBody>
      </p:sp>
      <p:sp>
        <p:nvSpPr>
          <p:cNvPr id="23" name="Shape 17"/>
          <p:cNvSpPr/>
          <p:nvPr/>
        </p:nvSpPr>
        <p:spPr>
          <a:xfrm>
            <a:off x="1691640" y="6236208"/>
            <a:ext cx="0" cy="219456"/>
          </a:xfrm>
          <a:prstGeom prst="line">
            <a:avLst/>
          </a:prstGeom>
          <a:noFill/>
          <a:ln w="15875">
            <a:solidFill>
              <a:srgbClr val="6B7C93"/>
            </a:solidFill>
            <a:prstDash val="dash"/>
            <a:tailEnd type="triangle"/>
          </a:ln>
        </p:spPr>
      </p:sp>
      <p:sp>
        <p:nvSpPr>
          <p:cNvPr id="24" name="Shape 18"/>
          <p:cNvSpPr/>
          <p:nvPr/>
        </p:nvSpPr>
        <p:spPr>
          <a:xfrm>
            <a:off x="3310128" y="1737360"/>
            <a:ext cx="2377440" cy="4480560"/>
          </a:xfrm>
          <a:prstGeom prst="roundRect">
            <a:avLst>
              <a:gd name="adj" fmla="val 2308"/>
            </a:avLst>
          </a:prstGeom>
          <a:solidFill>
            <a:srgbClr val="EEF4FB"/>
          </a:solidFill>
          <a:ln w="12700">
            <a:solidFill>
              <a:srgbClr val="2A6EBB"/>
            </a:solidFill>
            <a:prstDash val="dash"/>
          </a:ln>
        </p:spPr>
      </p:sp>
      <p:sp>
        <p:nvSpPr>
          <p:cNvPr id="25" name="Text 19"/>
          <p:cNvSpPr txBox="1"/>
          <p:nvPr/>
        </p:nvSpPr>
        <p:spPr>
          <a:xfrm>
            <a:off x="3429000" y="1810512"/>
            <a:ext cx="2148840" cy="192024"/>
          </a:xfrm>
          <a:prstGeom prst="rect">
            <a:avLst/>
          </a:prstGeom>
          <a:noFill/>
          <a:ln/>
        </p:spPr>
        <p:txBody>
          <a:bodyPr wrap="square" lIns="0" tIns="0" rIns="0" bIns="0" rtlCol="0" anchor="ctr"/>
          <a:lstStyle/>
          <a:p>
            <a:pPr indent="0" marL="0">
              <a:buNone/>
            </a:pPr>
            <a:r>
              <a:rPr lang="en-US" sz="900" b="1" spc="100" kern="0" dirty="0">
                <a:solidFill>
                  <a:srgbClr val="2A6EBB"/>
                </a:solidFill>
                <a:latin typeface="Calibri" pitchFamily="34" charset="0"/>
                <a:ea typeface="Calibri" pitchFamily="34" charset="-122"/>
                <a:cs typeface="Calibri" pitchFamily="34" charset="-120"/>
              </a:rPr>
              <a:t>EVENTS &amp; CAMPAIGNS</a:t>
            </a:r>
            <a:endParaRPr lang="en-US" sz="900" dirty="0"/>
          </a:p>
        </p:txBody>
      </p:sp>
      <p:sp>
        <p:nvSpPr>
          <p:cNvPr id="26" name="Shape 20"/>
          <p:cNvSpPr/>
          <p:nvPr/>
        </p:nvSpPr>
        <p:spPr>
          <a:xfrm>
            <a:off x="4498848" y="6236208"/>
            <a:ext cx="0" cy="219456"/>
          </a:xfrm>
          <a:prstGeom prst="line">
            <a:avLst/>
          </a:prstGeom>
          <a:noFill/>
          <a:ln w="15875">
            <a:solidFill>
              <a:srgbClr val="6B7C93"/>
            </a:solidFill>
            <a:prstDash val="dash"/>
            <a:tailEnd type="triangle"/>
          </a:ln>
        </p:spPr>
      </p:sp>
      <p:sp>
        <p:nvSpPr>
          <p:cNvPr id="27" name="Shape 21"/>
          <p:cNvSpPr/>
          <p:nvPr/>
        </p:nvSpPr>
        <p:spPr>
          <a:xfrm>
            <a:off x="6126480" y="1737360"/>
            <a:ext cx="2377440" cy="4480560"/>
          </a:xfrm>
          <a:prstGeom prst="roundRect">
            <a:avLst>
              <a:gd name="adj" fmla="val 2308"/>
            </a:avLst>
          </a:prstGeom>
          <a:solidFill>
            <a:srgbClr val="EDF7F2"/>
          </a:solidFill>
          <a:ln w="12700">
            <a:solidFill>
              <a:srgbClr val="1E8A5A"/>
            </a:solidFill>
            <a:prstDash val="dash"/>
          </a:ln>
        </p:spPr>
      </p:sp>
      <p:sp>
        <p:nvSpPr>
          <p:cNvPr id="28" name="Text 22"/>
          <p:cNvSpPr txBox="1"/>
          <p:nvPr/>
        </p:nvSpPr>
        <p:spPr>
          <a:xfrm>
            <a:off x="6245352" y="1810512"/>
            <a:ext cx="2148840" cy="192024"/>
          </a:xfrm>
          <a:prstGeom prst="rect">
            <a:avLst/>
          </a:prstGeom>
          <a:noFill/>
          <a:ln/>
        </p:spPr>
        <p:txBody>
          <a:bodyPr wrap="square" lIns="0" tIns="0" rIns="0" bIns="0" rtlCol="0" anchor="ctr"/>
          <a:lstStyle/>
          <a:p>
            <a:pPr indent="0" marL="0">
              <a:buNone/>
            </a:pPr>
            <a:r>
              <a:rPr lang="en-US" sz="900" b="1" spc="100" kern="0" dirty="0">
                <a:solidFill>
                  <a:srgbClr val="1E8A5A"/>
                </a:solidFill>
                <a:latin typeface="Calibri" pitchFamily="34" charset="0"/>
                <a:ea typeface="Calibri" pitchFamily="34" charset="-122"/>
                <a:cs typeface="Calibri" pitchFamily="34" charset="-120"/>
              </a:rPr>
              <a:t>ORCHESTRATION</a:t>
            </a:r>
            <a:endParaRPr lang="en-US" sz="900" dirty="0"/>
          </a:p>
        </p:txBody>
      </p:sp>
      <p:sp>
        <p:nvSpPr>
          <p:cNvPr id="29" name="Shape 23"/>
          <p:cNvSpPr/>
          <p:nvPr/>
        </p:nvSpPr>
        <p:spPr>
          <a:xfrm>
            <a:off x="7315200" y="6236208"/>
            <a:ext cx="0" cy="219456"/>
          </a:xfrm>
          <a:prstGeom prst="line">
            <a:avLst/>
          </a:prstGeom>
          <a:noFill/>
          <a:ln w="15875">
            <a:solidFill>
              <a:srgbClr val="6B7C93"/>
            </a:solidFill>
            <a:prstDash val="dash"/>
            <a:tailEnd type="triangle"/>
          </a:ln>
        </p:spPr>
      </p:sp>
      <p:sp>
        <p:nvSpPr>
          <p:cNvPr id="30" name="Shape 24"/>
          <p:cNvSpPr/>
          <p:nvPr/>
        </p:nvSpPr>
        <p:spPr>
          <a:xfrm>
            <a:off x="8933688" y="1737360"/>
            <a:ext cx="2377440" cy="4480560"/>
          </a:xfrm>
          <a:prstGeom prst="roundRect">
            <a:avLst>
              <a:gd name="adj" fmla="val 2308"/>
            </a:avLst>
          </a:prstGeom>
          <a:solidFill>
            <a:srgbClr val="F3F1FB"/>
          </a:solidFill>
          <a:ln w="12700">
            <a:solidFill>
              <a:srgbClr val="5B4FA8"/>
            </a:solidFill>
            <a:prstDash val="dash"/>
          </a:ln>
        </p:spPr>
      </p:sp>
      <p:sp>
        <p:nvSpPr>
          <p:cNvPr id="31" name="Text 25"/>
          <p:cNvSpPr txBox="1"/>
          <p:nvPr/>
        </p:nvSpPr>
        <p:spPr>
          <a:xfrm>
            <a:off x="9052560" y="1810512"/>
            <a:ext cx="2148840" cy="192024"/>
          </a:xfrm>
          <a:prstGeom prst="rect">
            <a:avLst/>
          </a:prstGeom>
          <a:noFill/>
          <a:ln/>
        </p:spPr>
        <p:txBody>
          <a:bodyPr wrap="square" lIns="0" tIns="0" rIns="0" bIns="0" rtlCol="0" anchor="ctr"/>
          <a:lstStyle/>
          <a:p>
            <a:pPr indent="0" marL="0">
              <a:buNone/>
            </a:pPr>
            <a:r>
              <a:rPr lang="en-US" sz="900" b="1" spc="100" kern="0" dirty="0">
                <a:solidFill>
                  <a:srgbClr val="5B4FA8"/>
                </a:solidFill>
                <a:latin typeface="Calibri" pitchFamily="34" charset="0"/>
                <a:ea typeface="Calibri" pitchFamily="34" charset="-122"/>
                <a:cs typeface="Calibri" pitchFamily="34" charset="-120"/>
              </a:rPr>
              <a:t>AI REASONING</a:t>
            </a:r>
            <a:endParaRPr lang="en-US" sz="900" dirty="0"/>
          </a:p>
        </p:txBody>
      </p:sp>
      <p:sp>
        <p:nvSpPr>
          <p:cNvPr id="32" name="Shape 26"/>
          <p:cNvSpPr/>
          <p:nvPr/>
        </p:nvSpPr>
        <p:spPr>
          <a:xfrm>
            <a:off x="10122408" y="6236208"/>
            <a:ext cx="0" cy="219456"/>
          </a:xfrm>
          <a:prstGeom prst="line">
            <a:avLst/>
          </a:prstGeom>
          <a:noFill/>
          <a:ln w="15875">
            <a:solidFill>
              <a:srgbClr val="6B7C93"/>
            </a:solidFill>
            <a:prstDash val="dash"/>
            <a:tailEnd type="triangle"/>
          </a:ln>
        </p:spPr>
      </p:sp>
      <p:sp>
        <p:nvSpPr>
          <p:cNvPr id="33" name="Shape 27"/>
          <p:cNvSpPr/>
          <p:nvPr/>
        </p:nvSpPr>
        <p:spPr>
          <a:xfrm>
            <a:off x="11740896" y="1737360"/>
            <a:ext cx="2377440" cy="4480560"/>
          </a:xfrm>
          <a:prstGeom prst="roundRect">
            <a:avLst>
              <a:gd name="adj" fmla="val 2308"/>
            </a:avLst>
          </a:prstGeom>
          <a:solidFill>
            <a:srgbClr val="EEF4FB"/>
          </a:solidFill>
          <a:ln w="12700">
            <a:solidFill>
              <a:srgbClr val="1F6FB5"/>
            </a:solidFill>
            <a:prstDash val="dash"/>
          </a:ln>
        </p:spPr>
      </p:sp>
      <p:sp>
        <p:nvSpPr>
          <p:cNvPr id="34" name="Text 28"/>
          <p:cNvSpPr txBox="1"/>
          <p:nvPr/>
        </p:nvSpPr>
        <p:spPr>
          <a:xfrm>
            <a:off x="11859768" y="1810512"/>
            <a:ext cx="2148840" cy="192024"/>
          </a:xfrm>
          <a:prstGeom prst="rect">
            <a:avLst/>
          </a:prstGeom>
          <a:noFill/>
          <a:ln/>
        </p:spPr>
        <p:txBody>
          <a:bodyPr wrap="square" lIns="0" tIns="0" rIns="0" bIns="0" rtlCol="0" anchor="ctr"/>
          <a:lstStyle/>
          <a:p>
            <a:pPr indent="0" marL="0">
              <a:buNone/>
            </a:pPr>
            <a:r>
              <a:rPr lang="en-US" sz="900" b="1" spc="100" kern="0" dirty="0">
                <a:solidFill>
                  <a:srgbClr val="1F6FB5"/>
                </a:solidFill>
                <a:latin typeface="Calibri" pitchFamily="34" charset="0"/>
                <a:ea typeface="Calibri" pitchFamily="34" charset="-122"/>
                <a:cs typeface="Calibri" pitchFamily="34" charset="-120"/>
              </a:rPr>
              <a:t>APPROVER EXPERIENCE</a:t>
            </a:r>
            <a:endParaRPr lang="en-US" sz="900" dirty="0"/>
          </a:p>
        </p:txBody>
      </p:sp>
      <p:sp>
        <p:nvSpPr>
          <p:cNvPr id="35" name="Shape 29"/>
          <p:cNvSpPr/>
          <p:nvPr/>
        </p:nvSpPr>
        <p:spPr>
          <a:xfrm>
            <a:off x="12929616" y="6236208"/>
            <a:ext cx="0" cy="219456"/>
          </a:xfrm>
          <a:prstGeom prst="line">
            <a:avLst/>
          </a:prstGeom>
          <a:noFill/>
          <a:ln w="15875">
            <a:solidFill>
              <a:srgbClr val="6B7C93"/>
            </a:solidFill>
            <a:prstDash val="dash"/>
            <a:tailEnd type="triangle"/>
          </a:ln>
        </p:spPr>
      </p:sp>
      <p:sp>
        <p:nvSpPr>
          <p:cNvPr id="36" name="Shape 30"/>
          <p:cNvSpPr/>
          <p:nvPr/>
        </p:nvSpPr>
        <p:spPr>
          <a:xfrm>
            <a:off x="932688" y="2212848"/>
            <a:ext cx="1527048" cy="1426464"/>
          </a:xfrm>
          <a:prstGeom prst="roundRect">
            <a:avLst>
              <a:gd name="adj" fmla="val 5128"/>
            </a:avLst>
          </a:prstGeom>
          <a:solidFill>
            <a:srgbClr val="FFFFFF"/>
          </a:solidFill>
          <a:ln w="9525">
            <a:solidFill>
              <a:srgbClr val="C8D8EC"/>
            </a:solidFill>
            <a:prstDash val="solid"/>
          </a:ln>
        </p:spPr>
      </p:sp>
      <p:sp>
        <p:nvSpPr>
          <p:cNvPr id="37" name="Shape 31"/>
          <p:cNvSpPr/>
          <p:nvPr/>
        </p:nvSpPr>
        <p:spPr>
          <a:xfrm>
            <a:off x="1431036" y="2322576"/>
            <a:ext cx="530352" cy="530352"/>
          </a:xfrm>
          <a:prstGeom prst="roundRect">
            <a:avLst>
              <a:gd name="adj" fmla="val 17241"/>
            </a:avLst>
          </a:prstGeom>
          <a:solidFill>
            <a:srgbClr val="1B4F93"/>
          </a:solidFill>
          <a:ln w="12700">
            <a:solidFill>
              <a:srgbClr val="1B4F93"/>
            </a:solidFill>
            <a:prstDash val="solid"/>
          </a:ln>
        </p:spPr>
      </p:sp>
      <p:pic>
        <p:nvPicPr>
          <p:cNvPr id="38" name="Image 4" descr="preencoded.png">    </p:cNvPr>
          <p:cNvPicPr>
            <a:picLocks noChangeAspect="1"/>
          </p:cNvPicPr>
          <p:nvPr/>
        </p:nvPicPr>
        <p:blipFill>
          <a:blip r:embed="rId5"/>
          <a:stretch>
            <a:fillRect/>
          </a:stretch>
        </p:blipFill>
        <p:spPr>
          <a:xfrm>
            <a:off x="1547713" y="2439253"/>
            <a:ext cx="296997" cy="296997"/>
          </a:xfrm>
          <a:prstGeom prst="rect">
            <a:avLst/>
          </a:prstGeom>
        </p:spPr>
      </p:pic>
      <p:sp>
        <p:nvSpPr>
          <p:cNvPr id="39" name="Text 32"/>
          <p:cNvSpPr txBox="1"/>
          <p:nvPr/>
        </p:nvSpPr>
        <p:spPr>
          <a:xfrm>
            <a:off x="978408"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Entitlement System</a:t>
            </a:r>
            <a:endParaRPr lang="en-US" sz="1200" dirty="0"/>
          </a:p>
        </p:txBody>
      </p:sp>
      <p:sp>
        <p:nvSpPr>
          <p:cNvPr id="40" name="Text 33"/>
          <p:cNvSpPr txBox="1"/>
          <p:nvPr/>
        </p:nvSpPr>
        <p:spPr>
          <a:xfrm>
            <a:off x="1005840"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Roles, users, departments, read-write rights</a:t>
            </a:r>
            <a:endParaRPr lang="en-US" sz="900" dirty="0"/>
          </a:p>
        </p:txBody>
      </p:sp>
      <p:sp>
        <p:nvSpPr>
          <p:cNvPr id="41" name="Shape 34"/>
          <p:cNvSpPr/>
          <p:nvPr/>
        </p:nvSpPr>
        <p:spPr>
          <a:xfrm>
            <a:off x="3739896" y="2212848"/>
            <a:ext cx="1527048" cy="1426464"/>
          </a:xfrm>
          <a:prstGeom prst="roundRect">
            <a:avLst>
              <a:gd name="adj" fmla="val 5128"/>
            </a:avLst>
          </a:prstGeom>
          <a:solidFill>
            <a:srgbClr val="FFFFFF"/>
          </a:solidFill>
          <a:ln w="9525">
            <a:solidFill>
              <a:srgbClr val="C8D8EC"/>
            </a:solidFill>
            <a:prstDash val="solid"/>
          </a:ln>
        </p:spPr>
      </p:sp>
      <p:sp>
        <p:nvSpPr>
          <p:cNvPr id="42" name="Shape 35"/>
          <p:cNvSpPr/>
          <p:nvPr/>
        </p:nvSpPr>
        <p:spPr>
          <a:xfrm>
            <a:off x="4238244" y="2322576"/>
            <a:ext cx="530352" cy="530352"/>
          </a:xfrm>
          <a:prstGeom prst="roundRect">
            <a:avLst>
              <a:gd name="adj" fmla="val 17241"/>
            </a:avLst>
          </a:prstGeom>
          <a:solidFill>
            <a:srgbClr val="2A6EBB"/>
          </a:solidFill>
          <a:ln w="12700">
            <a:solidFill>
              <a:srgbClr val="2A6EBB"/>
            </a:solidFill>
            <a:prstDash val="solid"/>
          </a:ln>
        </p:spPr>
      </p:sp>
      <p:pic>
        <p:nvPicPr>
          <p:cNvPr id="43" name="Image 5" descr="preencoded.png">    </p:cNvPr>
          <p:cNvPicPr>
            <a:picLocks noChangeAspect="1"/>
          </p:cNvPicPr>
          <p:nvPr/>
        </p:nvPicPr>
        <p:blipFill>
          <a:blip r:embed="rId6"/>
          <a:stretch>
            <a:fillRect/>
          </a:stretch>
        </p:blipFill>
        <p:spPr>
          <a:xfrm>
            <a:off x="4354921" y="2439253"/>
            <a:ext cx="296997" cy="296997"/>
          </a:xfrm>
          <a:prstGeom prst="rect">
            <a:avLst/>
          </a:prstGeom>
        </p:spPr>
      </p:pic>
      <p:sp>
        <p:nvSpPr>
          <p:cNvPr id="44" name="Text 36"/>
          <p:cNvSpPr txBox="1"/>
          <p:nvPr/>
        </p:nvSpPr>
        <p:spPr>
          <a:xfrm>
            <a:off x="3785616"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Review Cycle</a:t>
            </a:r>
            <a:endParaRPr lang="en-US" sz="1200" dirty="0"/>
          </a:p>
        </p:txBody>
      </p:sp>
      <p:sp>
        <p:nvSpPr>
          <p:cNvPr id="45" name="Text 37"/>
          <p:cNvSpPr txBox="1"/>
          <p:nvPr/>
        </p:nvSpPr>
        <p:spPr>
          <a:xfrm>
            <a:off x="3813048"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Certification campaign per application</a:t>
            </a:r>
            <a:endParaRPr lang="en-US" sz="900" dirty="0"/>
          </a:p>
        </p:txBody>
      </p:sp>
      <p:sp>
        <p:nvSpPr>
          <p:cNvPr id="46" name="Shape 38"/>
          <p:cNvSpPr/>
          <p:nvPr/>
        </p:nvSpPr>
        <p:spPr>
          <a:xfrm>
            <a:off x="6556248" y="2212848"/>
            <a:ext cx="1527048" cy="1426464"/>
          </a:xfrm>
          <a:prstGeom prst="roundRect">
            <a:avLst>
              <a:gd name="adj" fmla="val 5128"/>
            </a:avLst>
          </a:prstGeom>
          <a:solidFill>
            <a:srgbClr val="FFFFFF"/>
          </a:solidFill>
          <a:ln w="9525">
            <a:solidFill>
              <a:srgbClr val="C8D8EC"/>
            </a:solidFill>
            <a:prstDash val="solid"/>
          </a:ln>
        </p:spPr>
      </p:sp>
      <p:sp>
        <p:nvSpPr>
          <p:cNvPr id="47" name="Shape 39"/>
          <p:cNvSpPr/>
          <p:nvPr/>
        </p:nvSpPr>
        <p:spPr>
          <a:xfrm>
            <a:off x="7054596" y="2322576"/>
            <a:ext cx="530352" cy="530352"/>
          </a:xfrm>
          <a:prstGeom prst="roundRect">
            <a:avLst>
              <a:gd name="adj" fmla="val 17241"/>
            </a:avLst>
          </a:prstGeom>
          <a:solidFill>
            <a:srgbClr val="1E8A5A"/>
          </a:solidFill>
          <a:ln w="12700">
            <a:solidFill>
              <a:srgbClr val="1E8A5A"/>
            </a:solidFill>
            <a:prstDash val="solid"/>
          </a:ln>
        </p:spPr>
      </p:sp>
      <p:pic>
        <p:nvPicPr>
          <p:cNvPr id="48" name="Image 6" descr="preencoded.png">    </p:cNvPr>
          <p:cNvPicPr>
            <a:picLocks noChangeAspect="1"/>
          </p:cNvPicPr>
          <p:nvPr/>
        </p:nvPicPr>
        <p:blipFill>
          <a:blip r:embed="rId7"/>
          <a:stretch>
            <a:fillRect/>
          </a:stretch>
        </p:blipFill>
        <p:spPr>
          <a:xfrm>
            <a:off x="7171273" y="2439253"/>
            <a:ext cx="296997" cy="296997"/>
          </a:xfrm>
          <a:prstGeom prst="rect">
            <a:avLst/>
          </a:prstGeom>
        </p:spPr>
      </p:pic>
      <p:sp>
        <p:nvSpPr>
          <p:cNvPr id="49" name="Text 40"/>
          <p:cNvSpPr txBox="1"/>
          <p:nvPr/>
        </p:nvSpPr>
        <p:spPr>
          <a:xfrm>
            <a:off x="6601968"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Review Agent</a:t>
            </a:r>
            <a:endParaRPr lang="en-US" sz="1200" dirty="0"/>
          </a:p>
        </p:txBody>
      </p:sp>
      <p:sp>
        <p:nvSpPr>
          <p:cNvPr id="50" name="Text 41"/>
          <p:cNvSpPr txBox="1"/>
          <p:nvPr/>
        </p:nvSpPr>
        <p:spPr>
          <a:xfrm>
            <a:off x="6629400"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Orchestrates pre-review per campaign</a:t>
            </a:r>
            <a:endParaRPr lang="en-US" sz="900" dirty="0"/>
          </a:p>
        </p:txBody>
      </p:sp>
      <p:sp>
        <p:nvSpPr>
          <p:cNvPr id="51" name="Shape 42"/>
          <p:cNvSpPr/>
          <p:nvPr/>
        </p:nvSpPr>
        <p:spPr>
          <a:xfrm>
            <a:off x="9363456" y="2212848"/>
            <a:ext cx="1527048" cy="1426464"/>
          </a:xfrm>
          <a:prstGeom prst="roundRect">
            <a:avLst>
              <a:gd name="adj" fmla="val 5128"/>
            </a:avLst>
          </a:prstGeom>
          <a:solidFill>
            <a:srgbClr val="FFFFFF"/>
          </a:solidFill>
          <a:ln w="9525">
            <a:solidFill>
              <a:srgbClr val="C8D8EC"/>
            </a:solidFill>
            <a:prstDash val="solid"/>
          </a:ln>
        </p:spPr>
      </p:sp>
      <p:sp>
        <p:nvSpPr>
          <p:cNvPr id="52" name="Shape 43"/>
          <p:cNvSpPr/>
          <p:nvPr/>
        </p:nvSpPr>
        <p:spPr>
          <a:xfrm>
            <a:off x="9861804" y="2322576"/>
            <a:ext cx="530352" cy="530352"/>
          </a:xfrm>
          <a:prstGeom prst="roundRect">
            <a:avLst>
              <a:gd name="adj" fmla="val 17241"/>
            </a:avLst>
          </a:prstGeom>
          <a:solidFill>
            <a:srgbClr val="5B4FA8"/>
          </a:solidFill>
          <a:ln w="12700">
            <a:solidFill>
              <a:srgbClr val="5B4FA8"/>
            </a:solidFill>
            <a:prstDash val="solid"/>
          </a:ln>
        </p:spPr>
      </p:sp>
      <p:pic>
        <p:nvPicPr>
          <p:cNvPr id="53" name="Image 7" descr="preencoded.png">    </p:cNvPr>
          <p:cNvPicPr>
            <a:picLocks noChangeAspect="1"/>
          </p:cNvPicPr>
          <p:nvPr/>
        </p:nvPicPr>
        <p:blipFill>
          <a:blip r:embed="rId8"/>
          <a:stretch>
            <a:fillRect/>
          </a:stretch>
        </p:blipFill>
        <p:spPr>
          <a:xfrm>
            <a:off x="9978481" y="2439253"/>
            <a:ext cx="296997" cy="296997"/>
          </a:xfrm>
          <a:prstGeom prst="rect">
            <a:avLst/>
          </a:prstGeom>
        </p:spPr>
      </p:pic>
      <p:sp>
        <p:nvSpPr>
          <p:cNvPr id="54" name="Text 44"/>
          <p:cNvSpPr txBox="1"/>
          <p:nvPr/>
        </p:nvSpPr>
        <p:spPr>
          <a:xfrm>
            <a:off x="9409176"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Agent One</a:t>
            </a:r>
            <a:endParaRPr lang="en-US" sz="1200" dirty="0"/>
          </a:p>
        </p:txBody>
      </p:sp>
      <p:sp>
        <p:nvSpPr>
          <p:cNvPr id="55" name="Text 45"/>
          <p:cNvSpPr txBox="1"/>
          <p:nvPr/>
        </p:nvSpPr>
        <p:spPr>
          <a:xfrm>
            <a:off x="9436608"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Flag SoD conflicts, stale and excess access</a:t>
            </a:r>
            <a:endParaRPr lang="en-US" sz="900" dirty="0"/>
          </a:p>
        </p:txBody>
      </p:sp>
      <p:sp>
        <p:nvSpPr>
          <p:cNvPr id="56" name="Shape 46"/>
          <p:cNvSpPr/>
          <p:nvPr/>
        </p:nvSpPr>
        <p:spPr>
          <a:xfrm>
            <a:off x="12170664" y="2212848"/>
            <a:ext cx="1527048" cy="1426464"/>
          </a:xfrm>
          <a:prstGeom prst="roundRect">
            <a:avLst>
              <a:gd name="adj" fmla="val 5128"/>
            </a:avLst>
          </a:prstGeom>
          <a:solidFill>
            <a:srgbClr val="FFFFFF"/>
          </a:solidFill>
          <a:ln w="9525">
            <a:solidFill>
              <a:srgbClr val="C8D8EC"/>
            </a:solidFill>
            <a:prstDash val="solid"/>
          </a:ln>
        </p:spPr>
      </p:sp>
      <p:sp>
        <p:nvSpPr>
          <p:cNvPr id="57" name="Shape 47"/>
          <p:cNvSpPr/>
          <p:nvPr/>
        </p:nvSpPr>
        <p:spPr>
          <a:xfrm>
            <a:off x="12669012" y="2322576"/>
            <a:ext cx="530352" cy="530352"/>
          </a:xfrm>
          <a:prstGeom prst="roundRect">
            <a:avLst>
              <a:gd name="adj" fmla="val 17241"/>
            </a:avLst>
          </a:prstGeom>
          <a:solidFill>
            <a:srgbClr val="1F6FB5"/>
          </a:solidFill>
          <a:ln w="12700">
            <a:solidFill>
              <a:srgbClr val="1F6FB5"/>
            </a:solidFill>
            <a:prstDash val="solid"/>
          </a:ln>
        </p:spPr>
      </p:sp>
      <p:pic>
        <p:nvPicPr>
          <p:cNvPr id="58" name="Image 8" descr="preencoded.png">    </p:cNvPr>
          <p:cNvPicPr>
            <a:picLocks noChangeAspect="1"/>
          </p:cNvPicPr>
          <p:nvPr/>
        </p:nvPicPr>
        <p:blipFill>
          <a:blip r:embed="rId9"/>
          <a:stretch>
            <a:fillRect/>
          </a:stretch>
        </p:blipFill>
        <p:spPr>
          <a:xfrm>
            <a:off x="12785689" y="2439253"/>
            <a:ext cx="296997" cy="296997"/>
          </a:xfrm>
          <a:prstGeom prst="rect">
            <a:avLst/>
          </a:prstGeom>
        </p:spPr>
      </p:pic>
      <p:sp>
        <p:nvSpPr>
          <p:cNvPr id="59" name="Text 48"/>
          <p:cNvSpPr txBox="1"/>
          <p:nvPr/>
        </p:nvSpPr>
        <p:spPr>
          <a:xfrm>
            <a:off x="12216384"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Review UI</a:t>
            </a:r>
            <a:endParaRPr lang="en-US" sz="1200" dirty="0"/>
          </a:p>
        </p:txBody>
      </p:sp>
      <p:sp>
        <p:nvSpPr>
          <p:cNvPr id="60" name="Text 49"/>
          <p:cNvSpPr txBox="1"/>
          <p:nvPr/>
        </p:nvSpPr>
        <p:spPr>
          <a:xfrm>
            <a:off x="12243816"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Pre-reviewed items and chat per campaign</a:t>
            </a:r>
            <a:endParaRPr lang="en-US" sz="900" dirty="0"/>
          </a:p>
        </p:txBody>
      </p:sp>
      <p:sp>
        <p:nvSpPr>
          <p:cNvPr id="61" name="Shape 50"/>
          <p:cNvSpPr/>
          <p:nvPr/>
        </p:nvSpPr>
        <p:spPr>
          <a:xfrm>
            <a:off x="932688" y="4645152"/>
            <a:ext cx="1527048" cy="1261872"/>
          </a:xfrm>
          <a:prstGeom prst="roundRect">
            <a:avLst>
              <a:gd name="adj" fmla="val 5797"/>
            </a:avLst>
          </a:prstGeom>
          <a:solidFill>
            <a:srgbClr val="FFFFFF"/>
          </a:solidFill>
          <a:ln w="9525">
            <a:solidFill>
              <a:srgbClr val="C8D8EC"/>
            </a:solidFill>
            <a:prstDash val="solid"/>
          </a:ln>
        </p:spPr>
      </p:sp>
      <p:sp>
        <p:nvSpPr>
          <p:cNvPr id="62" name="Shape 51"/>
          <p:cNvSpPr/>
          <p:nvPr/>
        </p:nvSpPr>
        <p:spPr>
          <a:xfrm>
            <a:off x="1431036" y="4754880"/>
            <a:ext cx="530352" cy="530352"/>
          </a:xfrm>
          <a:prstGeom prst="roundRect">
            <a:avLst>
              <a:gd name="adj" fmla="val 17241"/>
            </a:avLst>
          </a:prstGeom>
          <a:solidFill>
            <a:srgbClr val="4F7BB5"/>
          </a:solidFill>
          <a:ln w="12700">
            <a:solidFill>
              <a:srgbClr val="4F7BB5"/>
            </a:solidFill>
            <a:prstDash val="solid"/>
          </a:ln>
        </p:spPr>
      </p:sp>
      <p:pic>
        <p:nvPicPr>
          <p:cNvPr id="63" name="Image 9" descr="preencoded.png">    </p:cNvPr>
          <p:cNvPicPr>
            <a:picLocks noChangeAspect="1"/>
          </p:cNvPicPr>
          <p:nvPr/>
        </p:nvPicPr>
        <p:blipFill>
          <a:blip r:embed="rId10"/>
          <a:stretch>
            <a:fillRect/>
          </a:stretch>
        </p:blipFill>
        <p:spPr>
          <a:xfrm>
            <a:off x="1547713" y="4871557"/>
            <a:ext cx="296997" cy="296997"/>
          </a:xfrm>
          <a:prstGeom prst="rect">
            <a:avLst/>
          </a:prstGeom>
        </p:spPr>
      </p:pic>
      <p:sp>
        <p:nvSpPr>
          <p:cNvPr id="64" name="Text 52"/>
          <p:cNvSpPr txBox="1"/>
          <p:nvPr/>
        </p:nvSpPr>
        <p:spPr>
          <a:xfrm>
            <a:off x="978408" y="5349240"/>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Envers Audit</a:t>
            </a:r>
            <a:endParaRPr lang="en-US" sz="1200" dirty="0"/>
          </a:p>
        </p:txBody>
      </p:sp>
      <p:sp>
        <p:nvSpPr>
          <p:cNvPr id="65" name="Text 53"/>
          <p:cNvSpPr txBox="1"/>
          <p:nvPr/>
        </p:nvSpPr>
        <p:spPr>
          <a:xfrm>
            <a:off x="1005840" y="5559552"/>
            <a:ext cx="1380744"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Full history of grants and changes</a:t>
            </a:r>
            <a:endParaRPr lang="en-US" sz="900" dirty="0"/>
          </a:p>
        </p:txBody>
      </p:sp>
      <p:sp>
        <p:nvSpPr>
          <p:cNvPr id="66" name="Shape 54"/>
          <p:cNvSpPr/>
          <p:nvPr/>
        </p:nvSpPr>
        <p:spPr>
          <a:xfrm>
            <a:off x="3739896" y="4645152"/>
            <a:ext cx="1527048" cy="1261872"/>
          </a:xfrm>
          <a:prstGeom prst="roundRect">
            <a:avLst>
              <a:gd name="adj" fmla="val 5797"/>
            </a:avLst>
          </a:prstGeom>
          <a:solidFill>
            <a:srgbClr val="FFFFFF"/>
          </a:solidFill>
          <a:ln w="9525">
            <a:solidFill>
              <a:srgbClr val="C8D8EC"/>
            </a:solidFill>
            <a:prstDash val="solid"/>
          </a:ln>
        </p:spPr>
      </p:sp>
      <p:sp>
        <p:nvSpPr>
          <p:cNvPr id="67" name="Shape 55"/>
          <p:cNvSpPr/>
          <p:nvPr/>
        </p:nvSpPr>
        <p:spPr>
          <a:xfrm>
            <a:off x="4238244" y="4754880"/>
            <a:ext cx="530352" cy="530352"/>
          </a:xfrm>
          <a:prstGeom prst="roundRect">
            <a:avLst>
              <a:gd name="adj" fmla="val 17241"/>
            </a:avLst>
          </a:prstGeom>
          <a:solidFill>
            <a:srgbClr val="3F86C8"/>
          </a:solidFill>
          <a:ln w="12700">
            <a:solidFill>
              <a:srgbClr val="3F86C8"/>
            </a:solidFill>
            <a:prstDash val="solid"/>
          </a:ln>
        </p:spPr>
      </p:sp>
      <p:pic>
        <p:nvPicPr>
          <p:cNvPr id="68" name="Image 10" descr="preencoded.png">    </p:cNvPr>
          <p:cNvPicPr>
            <a:picLocks noChangeAspect="1"/>
          </p:cNvPicPr>
          <p:nvPr/>
        </p:nvPicPr>
        <p:blipFill>
          <a:blip r:embed="rId11"/>
          <a:stretch>
            <a:fillRect/>
          </a:stretch>
        </p:blipFill>
        <p:spPr>
          <a:xfrm>
            <a:off x="4354921" y="4871557"/>
            <a:ext cx="296997" cy="296997"/>
          </a:xfrm>
          <a:prstGeom prst="rect">
            <a:avLst/>
          </a:prstGeom>
        </p:spPr>
      </p:pic>
      <p:sp>
        <p:nvSpPr>
          <p:cNvPr id="69" name="Text 56"/>
          <p:cNvSpPr txBox="1"/>
          <p:nvPr/>
        </p:nvSpPr>
        <p:spPr>
          <a:xfrm>
            <a:off x="3785616" y="5349240"/>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Joiner-Mover-Leaver</a:t>
            </a:r>
            <a:endParaRPr lang="en-US" sz="1200" dirty="0"/>
          </a:p>
        </p:txBody>
      </p:sp>
      <p:sp>
        <p:nvSpPr>
          <p:cNvPr id="70" name="Text 57"/>
          <p:cNvSpPr txBox="1"/>
          <p:nvPr/>
        </p:nvSpPr>
        <p:spPr>
          <a:xfrm>
            <a:off x="3813048" y="5559552"/>
            <a:ext cx="1380744"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HR and org change events</a:t>
            </a:r>
            <a:endParaRPr lang="en-US" sz="900" dirty="0"/>
          </a:p>
        </p:txBody>
      </p:sp>
      <p:sp>
        <p:nvSpPr>
          <p:cNvPr id="71" name="Shape 58"/>
          <p:cNvSpPr/>
          <p:nvPr/>
        </p:nvSpPr>
        <p:spPr>
          <a:xfrm>
            <a:off x="6556248" y="4645152"/>
            <a:ext cx="1527048" cy="1261872"/>
          </a:xfrm>
          <a:prstGeom prst="roundRect">
            <a:avLst>
              <a:gd name="adj" fmla="val 5797"/>
            </a:avLst>
          </a:prstGeom>
          <a:solidFill>
            <a:srgbClr val="FFFFFF"/>
          </a:solidFill>
          <a:ln w="9525">
            <a:solidFill>
              <a:srgbClr val="C8D8EC"/>
            </a:solidFill>
            <a:prstDash val="solid"/>
          </a:ln>
        </p:spPr>
      </p:sp>
      <p:sp>
        <p:nvSpPr>
          <p:cNvPr id="72" name="Shape 59"/>
          <p:cNvSpPr/>
          <p:nvPr/>
        </p:nvSpPr>
        <p:spPr>
          <a:xfrm>
            <a:off x="7054596" y="4754880"/>
            <a:ext cx="530352" cy="530352"/>
          </a:xfrm>
          <a:prstGeom prst="roundRect">
            <a:avLst>
              <a:gd name="adj" fmla="val 17241"/>
            </a:avLst>
          </a:prstGeom>
          <a:solidFill>
            <a:srgbClr val="1E8A5A"/>
          </a:solidFill>
          <a:ln w="12700">
            <a:solidFill>
              <a:srgbClr val="1E8A5A"/>
            </a:solidFill>
            <a:prstDash val="solid"/>
          </a:ln>
        </p:spPr>
      </p:sp>
      <p:pic>
        <p:nvPicPr>
          <p:cNvPr id="73" name="Image 11" descr="preencoded.png">    </p:cNvPr>
          <p:cNvPicPr>
            <a:picLocks noChangeAspect="1"/>
          </p:cNvPicPr>
          <p:nvPr/>
        </p:nvPicPr>
        <p:blipFill>
          <a:blip r:embed="rId12"/>
          <a:stretch>
            <a:fillRect/>
          </a:stretch>
        </p:blipFill>
        <p:spPr>
          <a:xfrm>
            <a:off x="7171273" y="4871557"/>
            <a:ext cx="296997" cy="296997"/>
          </a:xfrm>
          <a:prstGeom prst="rect">
            <a:avLst/>
          </a:prstGeom>
        </p:spPr>
      </p:pic>
      <p:sp>
        <p:nvSpPr>
          <p:cNvPr id="74" name="Text 60"/>
          <p:cNvSpPr txBox="1"/>
          <p:nvPr/>
        </p:nvSpPr>
        <p:spPr>
          <a:xfrm>
            <a:off x="6601968" y="5349240"/>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Scope Check</a:t>
            </a:r>
            <a:endParaRPr lang="en-US" sz="1200" dirty="0"/>
          </a:p>
        </p:txBody>
      </p:sp>
      <p:sp>
        <p:nvSpPr>
          <p:cNvPr id="75" name="Text 61"/>
          <p:cNvSpPr txBox="1"/>
          <p:nvPr/>
        </p:nvSpPr>
        <p:spPr>
          <a:xfrm>
            <a:off x="6629400" y="5559552"/>
            <a:ext cx="1380744"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Validates campaign scope</a:t>
            </a:r>
            <a:endParaRPr lang="en-US" sz="900" dirty="0"/>
          </a:p>
        </p:txBody>
      </p:sp>
      <p:sp>
        <p:nvSpPr>
          <p:cNvPr id="76" name="Shape 62"/>
          <p:cNvSpPr/>
          <p:nvPr/>
        </p:nvSpPr>
        <p:spPr>
          <a:xfrm>
            <a:off x="9015984" y="4645152"/>
            <a:ext cx="1051560" cy="1261872"/>
          </a:xfrm>
          <a:prstGeom prst="roundRect">
            <a:avLst>
              <a:gd name="adj" fmla="val 6957"/>
            </a:avLst>
          </a:prstGeom>
          <a:solidFill>
            <a:srgbClr val="FFFFFF"/>
          </a:solidFill>
          <a:ln w="9525">
            <a:solidFill>
              <a:srgbClr val="C8D8EC"/>
            </a:solidFill>
            <a:prstDash val="solid"/>
          </a:ln>
        </p:spPr>
      </p:sp>
      <p:sp>
        <p:nvSpPr>
          <p:cNvPr id="77" name="Shape 63"/>
          <p:cNvSpPr/>
          <p:nvPr/>
        </p:nvSpPr>
        <p:spPr>
          <a:xfrm>
            <a:off x="9276588" y="4754880"/>
            <a:ext cx="530352" cy="530352"/>
          </a:xfrm>
          <a:prstGeom prst="roundRect">
            <a:avLst>
              <a:gd name="adj" fmla="val 17241"/>
            </a:avLst>
          </a:prstGeom>
          <a:solidFill>
            <a:srgbClr val="5B4FA8"/>
          </a:solidFill>
          <a:ln w="12700">
            <a:solidFill>
              <a:srgbClr val="5B4FA8"/>
            </a:solidFill>
            <a:prstDash val="solid"/>
          </a:ln>
        </p:spPr>
      </p:sp>
      <p:pic>
        <p:nvPicPr>
          <p:cNvPr id="78" name="Image 12" descr="preencoded.png">    </p:cNvPr>
          <p:cNvPicPr>
            <a:picLocks noChangeAspect="1"/>
          </p:cNvPicPr>
          <p:nvPr/>
        </p:nvPicPr>
        <p:blipFill>
          <a:blip r:embed="rId13"/>
          <a:stretch>
            <a:fillRect/>
          </a:stretch>
        </p:blipFill>
        <p:spPr>
          <a:xfrm>
            <a:off x="9393265" y="4871557"/>
            <a:ext cx="296997" cy="296997"/>
          </a:xfrm>
          <a:prstGeom prst="rect">
            <a:avLst/>
          </a:prstGeom>
        </p:spPr>
      </p:pic>
      <p:sp>
        <p:nvSpPr>
          <p:cNvPr id="79" name="Text 64"/>
          <p:cNvSpPr txBox="1"/>
          <p:nvPr/>
        </p:nvSpPr>
        <p:spPr>
          <a:xfrm>
            <a:off x="9061704" y="5349240"/>
            <a:ext cx="960120" cy="210312"/>
          </a:xfrm>
          <a:prstGeom prst="rect">
            <a:avLst/>
          </a:prstGeom>
          <a:noFill/>
          <a:ln/>
        </p:spPr>
        <p:txBody>
          <a:bodyPr wrap="square" lIns="0" tIns="0" rIns="0" bIns="0" rtlCol="0" anchor="ctr"/>
          <a:lstStyle/>
          <a:p>
            <a:pPr algn="ctr" indent="0" marL="0">
              <a:buNone/>
            </a:pPr>
            <a:r>
              <a:rPr lang="en-US" sz="1050" b="1" dirty="0">
                <a:solidFill>
                  <a:srgbClr val="1F2D3D"/>
                </a:solidFill>
                <a:latin typeface="Calibri" pitchFamily="34" charset="0"/>
                <a:ea typeface="Calibri" pitchFamily="34" charset="-122"/>
                <a:cs typeface="Calibri" pitchFamily="34" charset="-120"/>
              </a:rPr>
              <a:t>Data (MCP)</a:t>
            </a:r>
            <a:endParaRPr lang="en-US" sz="1050" dirty="0"/>
          </a:p>
        </p:txBody>
      </p:sp>
      <p:sp>
        <p:nvSpPr>
          <p:cNvPr id="80" name="Text 65"/>
          <p:cNvSpPr txBox="1"/>
          <p:nvPr/>
        </p:nvSpPr>
        <p:spPr>
          <a:xfrm>
            <a:off x="9089136" y="5559552"/>
            <a:ext cx="905256"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Entitlements, org, history</a:t>
            </a:r>
            <a:endParaRPr lang="en-US" sz="900" dirty="0"/>
          </a:p>
        </p:txBody>
      </p:sp>
      <p:sp>
        <p:nvSpPr>
          <p:cNvPr id="81" name="Shape 66"/>
          <p:cNvSpPr/>
          <p:nvPr/>
        </p:nvSpPr>
        <p:spPr>
          <a:xfrm>
            <a:off x="10149840" y="4645152"/>
            <a:ext cx="1051560" cy="1261872"/>
          </a:xfrm>
          <a:prstGeom prst="roundRect">
            <a:avLst>
              <a:gd name="adj" fmla="val 6957"/>
            </a:avLst>
          </a:prstGeom>
          <a:solidFill>
            <a:srgbClr val="FFFFFF"/>
          </a:solidFill>
          <a:ln w="9525">
            <a:solidFill>
              <a:srgbClr val="C8D8EC"/>
            </a:solidFill>
            <a:prstDash val="solid"/>
          </a:ln>
        </p:spPr>
      </p:sp>
      <p:sp>
        <p:nvSpPr>
          <p:cNvPr id="82" name="Shape 67"/>
          <p:cNvSpPr/>
          <p:nvPr/>
        </p:nvSpPr>
        <p:spPr>
          <a:xfrm>
            <a:off x="10410444" y="4754880"/>
            <a:ext cx="530352" cy="530352"/>
          </a:xfrm>
          <a:prstGeom prst="roundRect">
            <a:avLst>
              <a:gd name="adj" fmla="val 17241"/>
            </a:avLst>
          </a:prstGeom>
          <a:solidFill>
            <a:srgbClr val="C0392B"/>
          </a:solidFill>
          <a:ln w="12700">
            <a:solidFill>
              <a:srgbClr val="C0392B"/>
            </a:solidFill>
            <a:prstDash val="solid"/>
          </a:ln>
        </p:spPr>
      </p:sp>
      <p:pic>
        <p:nvPicPr>
          <p:cNvPr id="83" name="Image 13" descr="preencoded.png">    </p:cNvPr>
          <p:cNvPicPr>
            <a:picLocks noChangeAspect="1"/>
          </p:cNvPicPr>
          <p:nvPr/>
        </p:nvPicPr>
        <p:blipFill>
          <a:blip r:embed="rId14"/>
          <a:stretch>
            <a:fillRect/>
          </a:stretch>
        </p:blipFill>
        <p:spPr>
          <a:xfrm>
            <a:off x="10527121" y="4871557"/>
            <a:ext cx="296997" cy="296997"/>
          </a:xfrm>
          <a:prstGeom prst="rect">
            <a:avLst/>
          </a:prstGeom>
        </p:spPr>
      </p:pic>
      <p:sp>
        <p:nvSpPr>
          <p:cNvPr id="84" name="Text 68"/>
          <p:cNvSpPr txBox="1"/>
          <p:nvPr/>
        </p:nvSpPr>
        <p:spPr>
          <a:xfrm>
            <a:off x="10195560" y="5349240"/>
            <a:ext cx="960120" cy="210312"/>
          </a:xfrm>
          <a:prstGeom prst="rect">
            <a:avLst/>
          </a:prstGeom>
          <a:noFill/>
          <a:ln/>
        </p:spPr>
        <p:txBody>
          <a:bodyPr wrap="square" lIns="0" tIns="0" rIns="0" bIns="0" rtlCol="0" anchor="ctr"/>
          <a:lstStyle/>
          <a:p>
            <a:pPr algn="ctr" indent="0" marL="0">
              <a:buNone/>
            </a:pPr>
            <a:r>
              <a:rPr lang="en-US" sz="1050" b="1" dirty="0">
                <a:solidFill>
                  <a:srgbClr val="1F2D3D"/>
                </a:solidFill>
                <a:latin typeface="Calibri" pitchFamily="34" charset="0"/>
                <a:ea typeface="Calibri" pitchFamily="34" charset="-122"/>
                <a:cs typeface="Calibri" pitchFamily="34" charset="-120"/>
              </a:rPr>
              <a:t>Ent. API</a:t>
            </a:r>
            <a:endParaRPr lang="en-US" sz="1050" dirty="0"/>
          </a:p>
        </p:txBody>
      </p:sp>
      <p:sp>
        <p:nvSpPr>
          <p:cNvPr id="85" name="Text 69"/>
          <p:cNvSpPr txBox="1"/>
          <p:nvPr/>
        </p:nvSpPr>
        <p:spPr>
          <a:xfrm>
            <a:off x="10222992" y="5559552"/>
            <a:ext cx="905256"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Revokes or updates access</a:t>
            </a:r>
            <a:endParaRPr lang="en-US" sz="900" dirty="0"/>
          </a:p>
        </p:txBody>
      </p:sp>
      <p:sp>
        <p:nvSpPr>
          <p:cNvPr id="86" name="Shape 70"/>
          <p:cNvSpPr/>
          <p:nvPr/>
        </p:nvSpPr>
        <p:spPr>
          <a:xfrm>
            <a:off x="12170664" y="4645152"/>
            <a:ext cx="1527048" cy="1261872"/>
          </a:xfrm>
          <a:prstGeom prst="roundRect">
            <a:avLst>
              <a:gd name="adj" fmla="val 5797"/>
            </a:avLst>
          </a:prstGeom>
          <a:solidFill>
            <a:srgbClr val="FFFFFF"/>
          </a:solidFill>
          <a:ln w="9525">
            <a:solidFill>
              <a:srgbClr val="C8D8EC"/>
            </a:solidFill>
            <a:prstDash val="solid"/>
          </a:ln>
        </p:spPr>
      </p:sp>
      <p:sp>
        <p:nvSpPr>
          <p:cNvPr id="87" name="Shape 71"/>
          <p:cNvSpPr/>
          <p:nvPr/>
        </p:nvSpPr>
        <p:spPr>
          <a:xfrm>
            <a:off x="12669012" y="4754880"/>
            <a:ext cx="530352" cy="530352"/>
          </a:xfrm>
          <a:prstGeom prst="roundRect">
            <a:avLst>
              <a:gd name="adj" fmla="val 17241"/>
            </a:avLst>
          </a:prstGeom>
          <a:solidFill>
            <a:srgbClr val="1F6FB5"/>
          </a:solidFill>
          <a:ln w="12700">
            <a:solidFill>
              <a:srgbClr val="1F6FB5"/>
            </a:solidFill>
            <a:prstDash val="solid"/>
          </a:ln>
        </p:spPr>
      </p:sp>
      <p:pic>
        <p:nvPicPr>
          <p:cNvPr id="88" name="Image 14" descr="preencoded.png">    </p:cNvPr>
          <p:cNvPicPr>
            <a:picLocks noChangeAspect="1"/>
          </p:cNvPicPr>
          <p:nvPr/>
        </p:nvPicPr>
        <p:blipFill>
          <a:blip r:embed="rId15"/>
          <a:stretch>
            <a:fillRect/>
          </a:stretch>
        </p:blipFill>
        <p:spPr>
          <a:xfrm>
            <a:off x="12785689" y="4871557"/>
            <a:ext cx="296997" cy="296997"/>
          </a:xfrm>
          <a:prstGeom prst="rect">
            <a:avLst/>
          </a:prstGeom>
        </p:spPr>
      </p:pic>
      <p:sp>
        <p:nvSpPr>
          <p:cNvPr id="89" name="Text 72"/>
          <p:cNvSpPr txBox="1"/>
          <p:nvPr/>
        </p:nvSpPr>
        <p:spPr>
          <a:xfrm>
            <a:off x="12216384" y="5349240"/>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Approver</a:t>
            </a:r>
            <a:endParaRPr lang="en-US" sz="1200" dirty="0"/>
          </a:p>
        </p:txBody>
      </p:sp>
      <p:sp>
        <p:nvSpPr>
          <p:cNvPr id="90" name="Text 73"/>
          <p:cNvSpPr txBox="1"/>
          <p:nvPr/>
        </p:nvSpPr>
        <p:spPr>
          <a:xfrm>
            <a:off x="12243816" y="5559552"/>
            <a:ext cx="1380744"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Certifies or revokes each item</a:t>
            </a:r>
            <a:endParaRPr lang="en-US" sz="900" dirty="0"/>
          </a:p>
        </p:txBody>
      </p:sp>
      <p:sp>
        <p:nvSpPr>
          <p:cNvPr id="91" name="Shape 74"/>
          <p:cNvSpPr/>
          <p:nvPr/>
        </p:nvSpPr>
        <p:spPr>
          <a:xfrm>
            <a:off x="2459736" y="2615184"/>
            <a:ext cx="1280160" cy="0"/>
          </a:xfrm>
          <a:prstGeom prst="line">
            <a:avLst/>
          </a:prstGeom>
          <a:noFill/>
          <a:ln w="19050">
            <a:solidFill>
              <a:srgbClr val="1F4E8C"/>
            </a:solidFill>
            <a:prstDash val="solid"/>
            <a:tailEnd type="triangle"/>
          </a:ln>
        </p:spPr>
      </p:sp>
      <p:sp>
        <p:nvSpPr>
          <p:cNvPr id="92" name="Shape 75"/>
          <p:cNvSpPr/>
          <p:nvPr/>
        </p:nvSpPr>
        <p:spPr>
          <a:xfrm>
            <a:off x="2532888" y="2286000"/>
            <a:ext cx="219456" cy="219456"/>
          </a:xfrm>
          <a:prstGeom prst="ellipse">
            <a:avLst/>
          </a:prstGeom>
          <a:solidFill>
            <a:srgbClr val="1F4E8C"/>
          </a:solidFill>
          <a:ln w="12700">
            <a:solidFill>
              <a:srgbClr val="1F4E8C"/>
            </a:solidFill>
            <a:prstDash val="solid"/>
          </a:ln>
        </p:spPr>
      </p:sp>
      <p:sp>
        <p:nvSpPr>
          <p:cNvPr id="93" name="Text 76"/>
          <p:cNvSpPr txBox="1"/>
          <p:nvPr/>
        </p:nvSpPr>
        <p:spPr>
          <a:xfrm>
            <a:off x="2532888" y="228600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94" name="Text 77"/>
          <p:cNvSpPr txBox="1"/>
          <p:nvPr/>
        </p:nvSpPr>
        <p:spPr>
          <a:xfrm>
            <a:off x="2788920" y="2029968"/>
            <a:ext cx="914400" cy="365760"/>
          </a:xfrm>
          <a:prstGeom prst="rect">
            <a:avLst/>
          </a:prstGeom>
          <a:solidFill>
            <a:srgbClr val="FFFFFF">
              <a:alpha val="0"/>
            </a:srgbClr>
          </a:solidFill>
          <a:ln/>
        </p:spPr>
        <p:txBody>
          <a:bodyPr wrap="square" lIns="0" tIns="0" rIns="0" bIns="0" rtlCol="0" anchor="b"/>
          <a:lstStyle/>
          <a:p>
            <a:pPr indent="0" marL="0">
              <a:buNone/>
            </a:pPr>
            <a:r>
              <a:rPr lang="en-US" sz="900" dirty="0">
                <a:solidFill>
                  <a:srgbClr val="1F2D3D"/>
                </a:solidFill>
                <a:latin typeface="Calibri" pitchFamily="34" charset="0"/>
                <a:ea typeface="Calibri" pitchFamily="34" charset="-122"/>
                <a:cs typeface="Calibri" pitchFamily="34" charset="-120"/>
              </a:rPr>
              <a:t>Access snapshot</a:t>
            </a:r>
            <a:endParaRPr lang="en-US" sz="900" dirty="0"/>
          </a:p>
        </p:txBody>
      </p:sp>
      <p:sp>
        <p:nvSpPr>
          <p:cNvPr id="95" name="Shape 78"/>
          <p:cNvSpPr/>
          <p:nvPr/>
        </p:nvSpPr>
        <p:spPr>
          <a:xfrm>
            <a:off x="5266944" y="2615184"/>
            <a:ext cx="1289304" cy="0"/>
          </a:xfrm>
          <a:prstGeom prst="line">
            <a:avLst/>
          </a:prstGeom>
          <a:noFill/>
          <a:ln w="19050">
            <a:solidFill>
              <a:srgbClr val="2A6EBB"/>
            </a:solidFill>
            <a:prstDash val="solid"/>
            <a:tailEnd type="triangle"/>
          </a:ln>
        </p:spPr>
      </p:sp>
      <p:sp>
        <p:nvSpPr>
          <p:cNvPr id="96" name="Shape 79"/>
          <p:cNvSpPr/>
          <p:nvPr/>
        </p:nvSpPr>
        <p:spPr>
          <a:xfrm>
            <a:off x="5340096" y="2286000"/>
            <a:ext cx="219456" cy="219456"/>
          </a:xfrm>
          <a:prstGeom prst="ellipse">
            <a:avLst/>
          </a:prstGeom>
          <a:solidFill>
            <a:srgbClr val="2A6EBB"/>
          </a:solidFill>
          <a:ln w="12700">
            <a:solidFill>
              <a:srgbClr val="2A6EBB"/>
            </a:solidFill>
            <a:prstDash val="solid"/>
          </a:ln>
        </p:spPr>
      </p:sp>
      <p:sp>
        <p:nvSpPr>
          <p:cNvPr id="97" name="Text 80"/>
          <p:cNvSpPr txBox="1"/>
          <p:nvPr/>
        </p:nvSpPr>
        <p:spPr>
          <a:xfrm>
            <a:off x="5340096" y="228600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98" name="Text 81"/>
          <p:cNvSpPr txBox="1"/>
          <p:nvPr/>
        </p:nvSpPr>
        <p:spPr>
          <a:xfrm>
            <a:off x="5596128" y="2029968"/>
            <a:ext cx="923544" cy="365760"/>
          </a:xfrm>
          <a:prstGeom prst="rect">
            <a:avLst/>
          </a:prstGeom>
          <a:solidFill>
            <a:srgbClr val="FFFFFF">
              <a:alpha val="0"/>
            </a:srgbClr>
          </a:solidFill>
          <a:ln/>
        </p:spPr>
        <p:txBody>
          <a:bodyPr wrap="square" lIns="0" tIns="0" rIns="0" bIns="0" rtlCol="0" anchor="b"/>
          <a:lstStyle/>
          <a:p>
            <a:pPr indent="0" marL="0">
              <a:buNone/>
            </a:pPr>
            <a:r>
              <a:rPr lang="en-US" sz="900" dirty="0">
                <a:solidFill>
                  <a:srgbClr val="1F2D3D"/>
                </a:solidFill>
                <a:latin typeface="Calibri" pitchFamily="34" charset="0"/>
                <a:ea typeface="Calibri" pitchFamily="34" charset="-122"/>
                <a:cs typeface="Calibri" pitchFamily="34" charset="-120"/>
              </a:rPr>
              <a:t>Campaign start event</a:t>
            </a:r>
            <a:endParaRPr lang="en-US" sz="900" dirty="0"/>
          </a:p>
        </p:txBody>
      </p:sp>
      <p:sp>
        <p:nvSpPr>
          <p:cNvPr id="99" name="Shape 82"/>
          <p:cNvSpPr/>
          <p:nvPr/>
        </p:nvSpPr>
        <p:spPr>
          <a:xfrm>
            <a:off x="8083296" y="2615184"/>
            <a:ext cx="1280160" cy="0"/>
          </a:xfrm>
          <a:prstGeom prst="line">
            <a:avLst/>
          </a:prstGeom>
          <a:noFill/>
          <a:ln w="19050">
            <a:solidFill>
              <a:srgbClr val="1E8A5A"/>
            </a:solidFill>
            <a:prstDash val="solid"/>
            <a:tailEnd type="triangle"/>
          </a:ln>
        </p:spPr>
      </p:sp>
      <p:sp>
        <p:nvSpPr>
          <p:cNvPr id="100" name="Shape 83"/>
          <p:cNvSpPr/>
          <p:nvPr/>
        </p:nvSpPr>
        <p:spPr>
          <a:xfrm>
            <a:off x="8156448" y="2286000"/>
            <a:ext cx="219456" cy="219456"/>
          </a:xfrm>
          <a:prstGeom prst="ellipse">
            <a:avLst/>
          </a:prstGeom>
          <a:solidFill>
            <a:srgbClr val="1E8A5A"/>
          </a:solidFill>
          <a:ln w="12700">
            <a:solidFill>
              <a:srgbClr val="1E8A5A"/>
            </a:solidFill>
            <a:prstDash val="solid"/>
          </a:ln>
        </p:spPr>
      </p:sp>
      <p:sp>
        <p:nvSpPr>
          <p:cNvPr id="101" name="Text 84"/>
          <p:cNvSpPr txBox="1"/>
          <p:nvPr/>
        </p:nvSpPr>
        <p:spPr>
          <a:xfrm>
            <a:off x="8156448" y="228600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02" name="Text 85"/>
          <p:cNvSpPr txBox="1"/>
          <p:nvPr/>
        </p:nvSpPr>
        <p:spPr>
          <a:xfrm>
            <a:off x="8412480" y="2029968"/>
            <a:ext cx="914400" cy="365760"/>
          </a:xfrm>
          <a:prstGeom prst="rect">
            <a:avLst/>
          </a:prstGeom>
          <a:solidFill>
            <a:srgbClr val="FFFFFF">
              <a:alpha val="0"/>
            </a:srgbClr>
          </a:solidFill>
          <a:ln/>
        </p:spPr>
        <p:txBody>
          <a:bodyPr wrap="square" lIns="0" tIns="0" rIns="0" bIns="0" rtlCol="0" anchor="b"/>
          <a:lstStyle/>
          <a:p>
            <a:pPr indent="0" marL="0">
              <a:buNone/>
            </a:pPr>
            <a:r>
              <a:rPr lang="en-US" sz="900" dirty="0">
                <a:solidFill>
                  <a:srgbClr val="1F2D3D"/>
                </a:solidFill>
                <a:latin typeface="Calibri" pitchFamily="34" charset="0"/>
                <a:ea typeface="Calibri" pitchFamily="34" charset="-122"/>
                <a:cs typeface="Calibri" pitchFamily="34" charset="-120"/>
              </a:rPr>
              <a:t>Start pre-review session</a:t>
            </a:r>
            <a:endParaRPr lang="en-US" sz="900" dirty="0"/>
          </a:p>
        </p:txBody>
      </p:sp>
      <p:sp>
        <p:nvSpPr>
          <p:cNvPr id="103" name="Shape 86"/>
          <p:cNvSpPr/>
          <p:nvPr/>
        </p:nvSpPr>
        <p:spPr>
          <a:xfrm>
            <a:off x="10890504" y="2615184"/>
            <a:ext cx="1280160" cy="0"/>
          </a:xfrm>
          <a:prstGeom prst="line">
            <a:avLst/>
          </a:prstGeom>
          <a:noFill/>
          <a:ln w="19050">
            <a:solidFill>
              <a:srgbClr val="5B4FA8"/>
            </a:solidFill>
            <a:prstDash val="solid"/>
            <a:tailEnd type="triangle"/>
          </a:ln>
        </p:spPr>
      </p:sp>
      <p:sp>
        <p:nvSpPr>
          <p:cNvPr id="104" name="Shape 87"/>
          <p:cNvSpPr/>
          <p:nvPr/>
        </p:nvSpPr>
        <p:spPr>
          <a:xfrm>
            <a:off x="10963656" y="2286000"/>
            <a:ext cx="219456" cy="219456"/>
          </a:xfrm>
          <a:prstGeom prst="ellipse">
            <a:avLst/>
          </a:prstGeom>
          <a:solidFill>
            <a:srgbClr val="5B4FA8"/>
          </a:solidFill>
          <a:ln w="12700">
            <a:solidFill>
              <a:srgbClr val="5B4FA8"/>
            </a:solidFill>
            <a:prstDash val="solid"/>
          </a:ln>
        </p:spPr>
      </p:sp>
      <p:sp>
        <p:nvSpPr>
          <p:cNvPr id="105" name="Text 88"/>
          <p:cNvSpPr txBox="1"/>
          <p:nvPr/>
        </p:nvSpPr>
        <p:spPr>
          <a:xfrm>
            <a:off x="10963656" y="228600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106" name="Text 89"/>
          <p:cNvSpPr txBox="1"/>
          <p:nvPr/>
        </p:nvSpPr>
        <p:spPr>
          <a:xfrm>
            <a:off x="11219688" y="2029968"/>
            <a:ext cx="914400" cy="365760"/>
          </a:xfrm>
          <a:prstGeom prst="rect">
            <a:avLst/>
          </a:prstGeom>
          <a:solidFill>
            <a:srgbClr val="FFFFFF">
              <a:alpha val="0"/>
            </a:srgbClr>
          </a:solidFill>
          <a:ln/>
        </p:spPr>
        <p:txBody>
          <a:bodyPr wrap="square" lIns="0" tIns="0" rIns="0" bIns="0" rtlCol="0" anchor="b"/>
          <a:lstStyle/>
          <a:p>
            <a:pPr indent="0" marL="0">
              <a:buNone/>
            </a:pPr>
            <a:r>
              <a:rPr lang="en-US" sz="900" dirty="0">
                <a:solidFill>
                  <a:srgbClr val="1F2D3D"/>
                </a:solidFill>
                <a:latin typeface="Calibri" pitchFamily="34" charset="0"/>
                <a:ea typeface="Calibri" pitchFamily="34" charset="-122"/>
                <a:cs typeface="Calibri" pitchFamily="34" charset="-120"/>
              </a:rPr>
              <a:t>Pre-review published</a:t>
            </a:r>
            <a:endParaRPr lang="en-US" sz="900" dirty="0"/>
          </a:p>
        </p:txBody>
      </p:sp>
      <p:sp>
        <p:nvSpPr>
          <p:cNvPr id="107" name="Shape 90"/>
          <p:cNvSpPr/>
          <p:nvPr/>
        </p:nvSpPr>
        <p:spPr>
          <a:xfrm>
            <a:off x="10890504" y="3218688"/>
            <a:ext cx="1280160" cy="0"/>
          </a:xfrm>
          <a:prstGeom prst="line">
            <a:avLst/>
          </a:prstGeom>
          <a:noFill/>
          <a:ln w="19050">
            <a:solidFill>
              <a:srgbClr val="1F6FB5"/>
            </a:solidFill>
            <a:prstDash val="solid"/>
            <a:headEnd type="triangle"/>
          </a:ln>
        </p:spPr>
      </p:sp>
      <p:sp>
        <p:nvSpPr>
          <p:cNvPr id="108" name="Shape 91"/>
          <p:cNvSpPr/>
          <p:nvPr/>
        </p:nvSpPr>
        <p:spPr>
          <a:xfrm>
            <a:off x="10963656" y="3291840"/>
            <a:ext cx="219456" cy="219456"/>
          </a:xfrm>
          <a:prstGeom prst="ellipse">
            <a:avLst/>
          </a:prstGeom>
          <a:solidFill>
            <a:srgbClr val="1F6FB5"/>
          </a:solidFill>
          <a:ln w="12700">
            <a:solidFill>
              <a:srgbClr val="1F6FB5"/>
            </a:solidFill>
            <a:prstDash val="solid"/>
          </a:ln>
        </p:spPr>
      </p:sp>
      <p:sp>
        <p:nvSpPr>
          <p:cNvPr id="109" name="Text 92"/>
          <p:cNvSpPr txBox="1"/>
          <p:nvPr/>
        </p:nvSpPr>
        <p:spPr>
          <a:xfrm>
            <a:off x="10963656" y="329184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7</a:t>
            </a:r>
            <a:endParaRPr lang="en-US" sz="900" dirty="0"/>
          </a:p>
        </p:txBody>
      </p:sp>
      <p:sp>
        <p:nvSpPr>
          <p:cNvPr id="110" name="Text 93"/>
          <p:cNvSpPr txBox="1"/>
          <p:nvPr/>
        </p:nvSpPr>
        <p:spPr>
          <a:xfrm>
            <a:off x="11219688" y="3273552"/>
            <a:ext cx="914400" cy="365760"/>
          </a:xfrm>
          <a:prstGeom prst="rect">
            <a:avLst/>
          </a:prstGeom>
          <a:noFill/>
          <a:ln/>
        </p:spPr>
        <p:txBody>
          <a:bodyPr wrap="square" lIns="0" tIns="0" rIns="0" bIns="0" rtlCol="0" anchor="t"/>
          <a:lstStyle/>
          <a:p>
            <a:pPr indent="0" marL="0">
              <a:buNone/>
            </a:pPr>
            <a:r>
              <a:rPr lang="en-US" sz="900" dirty="0">
                <a:solidFill>
                  <a:srgbClr val="1F2D3D"/>
                </a:solidFill>
                <a:latin typeface="Calibri" pitchFamily="34" charset="0"/>
                <a:ea typeface="Calibri" pitchFamily="34" charset="-122"/>
                <a:cs typeface="Calibri" pitchFamily="34" charset="-120"/>
              </a:rPr>
              <a:t>Q&amp;A and decision</a:t>
            </a:r>
            <a:endParaRPr lang="en-US" sz="900" dirty="0"/>
          </a:p>
        </p:txBody>
      </p:sp>
      <p:sp>
        <p:nvSpPr>
          <p:cNvPr id="111" name="Shape 94"/>
          <p:cNvSpPr/>
          <p:nvPr/>
        </p:nvSpPr>
        <p:spPr>
          <a:xfrm>
            <a:off x="1696212" y="3639312"/>
            <a:ext cx="0" cy="1005840"/>
          </a:xfrm>
          <a:prstGeom prst="line">
            <a:avLst/>
          </a:prstGeom>
          <a:noFill/>
          <a:ln w="15875">
            <a:solidFill>
              <a:srgbClr val="4F7BB5"/>
            </a:solidFill>
            <a:prstDash val="dash"/>
            <a:headEnd type="triangle"/>
          </a:ln>
        </p:spPr>
      </p:sp>
      <p:sp>
        <p:nvSpPr>
          <p:cNvPr id="112" name="Text 95"/>
          <p:cNvSpPr txBox="1"/>
          <p:nvPr/>
        </p:nvSpPr>
        <p:spPr>
          <a:xfrm>
            <a:off x="1787652" y="4005072"/>
            <a:ext cx="868680" cy="274320"/>
          </a:xfrm>
          <a:prstGeom prst="rect">
            <a:avLst/>
          </a:prstGeom>
          <a:noFill/>
          <a:ln/>
        </p:spPr>
        <p:txBody>
          <a:bodyPr wrap="square" lIns="0" tIns="0" rIns="0" bIns="0" rtlCol="0" anchor="ctr"/>
          <a:lstStyle/>
          <a:p>
            <a:pPr indent="0" marL="0">
              <a:buNone/>
            </a:pPr>
            <a:r>
              <a:rPr lang="en-US" sz="900" dirty="0">
                <a:solidFill>
                  <a:srgbClr val="1F2D3D"/>
                </a:solidFill>
                <a:latin typeface="Calibri" pitchFamily="34" charset="0"/>
                <a:ea typeface="Calibri" pitchFamily="34" charset="-122"/>
                <a:cs typeface="Calibri" pitchFamily="34" charset="-120"/>
              </a:rPr>
              <a:t>History</a:t>
            </a:r>
            <a:endParaRPr lang="en-US" sz="900" dirty="0"/>
          </a:p>
        </p:txBody>
      </p:sp>
      <p:sp>
        <p:nvSpPr>
          <p:cNvPr id="113" name="Shape 96"/>
          <p:cNvSpPr/>
          <p:nvPr/>
        </p:nvSpPr>
        <p:spPr>
          <a:xfrm>
            <a:off x="4503420" y="3639312"/>
            <a:ext cx="0" cy="1005840"/>
          </a:xfrm>
          <a:prstGeom prst="line">
            <a:avLst/>
          </a:prstGeom>
          <a:noFill/>
          <a:ln w="15875">
            <a:solidFill>
              <a:srgbClr val="3F86C8"/>
            </a:solidFill>
            <a:prstDash val="dash"/>
            <a:tailEnd type="triangle"/>
          </a:ln>
        </p:spPr>
      </p:sp>
      <p:sp>
        <p:nvSpPr>
          <p:cNvPr id="114" name="Text 97"/>
          <p:cNvSpPr txBox="1"/>
          <p:nvPr/>
        </p:nvSpPr>
        <p:spPr>
          <a:xfrm>
            <a:off x="4594860" y="4005072"/>
            <a:ext cx="868680" cy="274320"/>
          </a:xfrm>
          <a:prstGeom prst="rect">
            <a:avLst/>
          </a:prstGeom>
          <a:noFill/>
          <a:ln/>
        </p:spPr>
        <p:txBody>
          <a:bodyPr wrap="square" lIns="0" tIns="0" rIns="0" bIns="0" rtlCol="0" anchor="ctr"/>
          <a:lstStyle/>
          <a:p>
            <a:pPr indent="0" marL="0">
              <a:buNone/>
            </a:pPr>
            <a:r>
              <a:rPr lang="en-US" sz="900" dirty="0">
                <a:solidFill>
                  <a:srgbClr val="1F2D3D"/>
                </a:solidFill>
                <a:latin typeface="Calibri" pitchFamily="34" charset="0"/>
                <a:ea typeface="Calibri" pitchFamily="34" charset="-122"/>
                <a:cs typeface="Calibri" pitchFamily="34" charset="-120"/>
              </a:rPr>
              <a:t>Triggers</a:t>
            </a:r>
            <a:endParaRPr lang="en-US" sz="900" dirty="0"/>
          </a:p>
        </p:txBody>
      </p:sp>
      <p:sp>
        <p:nvSpPr>
          <p:cNvPr id="115" name="Shape 98"/>
          <p:cNvSpPr/>
          <p:nvPr/>
        </p:nvSpPr>
        <p:spPr>
          <a:xfrm>
            <a:off x="7319772" y="3639312"/>
            <a:ext cx="0" cy="1005840"/>
          </a:xfrm>
          <a:prstGeom prst="line">
            <a:avLst/>
          </a:prstGeom>
          <a:noFill/>
          <a:ln w="15875">
            <a:solidFill>
              <a:srgbClr val="1E8A5A"/>
            </a:solidFill>
            <a:prstDash val="dash"/>
            <a:tailEnd type="triangle"/>
          </a:ln>
        </p:spPr>
      </p:sp>
      <p:sp>
        <p:nvSpPr>
          <p:cNvPr id="116" name="Text 99"/>
          <p:cNvSpPr txBox="1"/>
          <p:nvPr/>
        </p:nvSpPr>
        <p:spPr>
          <a:xfrm>
            <a:off x="7411212" y="4005072"/>
            <a:ext cx="868680" cy="274320"/>
          </a:xfrm>
          <a:prstGeom prst="rect">
            <a:avLst/>
          </a:prstGeom>
          <a:noFill/>
          <a:ln/>
        </p:spPr>
        <p:txBody>
          <a:bodyPr wrap="square" lIns="0" tIns="0" rIns="0" bIns="0" rtlCol="0" anchor="ctr"/>
          <a:lstStyle/>
          <a:p>
            <a:pPr indent="0" marL="0">
              <a:buNone/>
            </a:pPr>
            <a:r>
              <a:rPr lang="en-US" sz="900" dirty="0">
                <a:solidFill>
                  <a:srgbClr val="1F2D3D"/>
                </a:solidFill>
                <a:latin typeface="Calibri" pitchFamily="34" charset="0"/>
                <a:ea typeface="Calibri" pitchFamily="34" charset="-122"/>
                <a:cs typeface="Calibri" pitchFamily="34" charset="-120"/>
              </a:rPr>
              <a:t>Checks</a:t>
            </a:r>
            <a:endParaRPr lang="en-US" sz="900" dirty="0"/>
          </a:p>
        </p:txBody>
      </p:sp>
      <p:sp>
        <p:nvSpPr>
          <p:cNvPr id="117" name="Shape 100"/>
          <p:cNvSpPr/>
          <p:nvPr/>
        </p:nvSpPr>
        <p:spPr>
          <a:xfrm>
            <a:off x="9326880" y="3639312"/>
            <a:ext cx="0" cy="1005840"/>
          </a:xfrm>
          <a:prstGeom prst="line">
            <a:avLst/>
          </a:prstGeom>
          <a:noFill/>
          <a:ln w="19050">
            <a:solidFill>
              <a:srgbClr val="5B4FA8"/>
            </a:solidFill>
            <a:prstDash val="solid"/>
            <a:tailEnd type="triangle"/>
          </a:ln>
        </p:spPr>
      </p:sp>
      <p:sp>
        <p:nvSpPr>
          <p:cNvPr id="118" name="Shape 101"/>
          <p:cNvSpPr/>
          <p:nvPr/>
        </p:nvSpPr>
        <p:spPr>
          <a:xfrm>
            <a:off x="9418320" y="3840480"/>
            <a:ext cx="219456" cy="219456"/>
          </a:xfrm>
          <a:prstGeom prst="ellipse">
            <a:avLst/>
          </a:prstGeom>
          <a:solidFill>
            <a:srgbClr val="5B4FA8"/>
          </a:solidFill>
          <a:ln w="12700">
            <a:solidFill>
              <a:srgbClr val="5B4FA8"/>
            </a:solidFill>
            <a:prstDash val="solid"/>
          </a:ln>
        </p:spPr>
      </p:sp>
      <p:sp>
        <p:nvSpPr>
          <p:cNvPr id="119" name="Text 102"/>
          <p:cNvSpPr txBox="1"/>
          <p:nvPr/>
        </p:nvSpPr>
        <p:spPr>
          <a:xfrm>
            <a:off x="9418320" y="384048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120" name="Text 103"/>
          <p:cNvSpPr txBox="1"/>
          <p:nvPr/>
        </p:nvSpPr>
        <p:spPr>
          <a:xfrm>
            <a:off x="9418320" y="4087368"/>
            <a:ext cx="685800" cy="457200"/>
          </a:xfrm>
          <a:prstGeom prst="rect">
            <a:avLst/>
          </a:prstGeom>
          <a:noFill/>
          <a:ln/>
        </p:spPr>
        <p:txBody>
          <a:bodyPr wrap="square" lIns="0" tIns="0" rIns="0" bIns="0" rtlCol="0" anchor="t"/>
          <a:lstStyle/>
          <a:p>
            <a:pPr indent="0" marL="0">
              <a:buNone/>
            </a:pPr>
            <a:r>
              <a:rPr lang="en-US" sz="900" dirty="0">
                <a:solidFill>
                  <a:srgbClr val="1F2D3D"/>
                </a:solidFill>
                <a:latin typeface="Calibri" pitchFamily="34" charset="0"/>
                <a:ea typeface="Calibri" pitchFamily="34" charset="-122"/>
                <a:cs typeface="Calibri" pitchFamily="34" charset="-120"/>
              </a:rPr>
              <a:t>Fetch data</a:t>
            </a:r>
            <a:endParaRPr lang="en-US" sz="900" dirty="0"/>
          </a:p>
        </p:txBody>
      </p:sp>
      <p:sp>
        <p:nvSpPr>
          <p:cNvPr id="121" name="Shape 104"/>
          <p:cNvSpPr/>
          <p:nvPr/>
        </p:nvSpPr>
        <p:spPr>
          <a:xfrm>
            <a:off x="10469880" y="3639312"/>
            <a:ext cx="0" cy="1005840"/>
          </a:xfrm>
          <a:prstGeom prst="line">
            <a:avLst/>
          </a:prstGeom>
          <a:noFill/>
          <a:ln w="19050">
            <a:solidFill>
              <a:srgbClr val="C0392B"/>
            </a:solidFill>
            <a:prstDash val="solid"/>
            <a:tailEnd type="triangle"/>
          </a:ln>
        </p:spPr>
      </p:sp>
      <p:sp>
        <p:nvSpPr>
          <p:cNvPr id="122" name="Shape 105"/>
          <p:cNvSpPr/>
          <p:nvPr/>
        </p:nvSpPr>
        <p:spPr>
          <a:xfrm>
            <a:off x="10561320" y="3840480"/>
            <a:ext cx="219456" cy="219456"/>
          </a:xfrm>
          <a:prstGeom prst="ellipse">
            <a:avLst/>
          </a:prstGeom>
          <a:solidFill>
            <a:srgbClr val="C0392B"/>
          </a:solidFill>
          <a:ln w="12700">
            <a:solidFill>
              <a:srgbClr val="C0392B"/>
            </a:solidFill>
            <a:prstDash val="solid"/>
          </a:ln>
        </p:spPr>
      </p:sp>
      <p:sp>
        <p:nvSpPr>
          <p:cNvPr id="123" name="Text 106"/>
          <p:cNvSpPr txBox="1"/>
          <p:nvPr/>
        </p:nvSpPr>
        <p:spPr>
          <a:xfrm>
            <a:off x="10561320" y="384048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8</a:t>
            </a:r>
            <a:endParaRPr lang="en-US" sz="900" dirty="0"/>
          </a:p>
        </p:txBody>
      </p:sp>
      <p:sp>
        <p:nvSpPr>
          <p:cNvPr id="124" name="Text 107"/>
          <p:cNvSpPr txBox="1"/>
          <p:nvPr/>
        </p:nvSpPr>
        <p:spPr>
          <a:xfrm>
            <a:off x="10561320" y="4087368"/>
            <a:ext cx="713232" cy="502920"/>
          </a:xfrm>
          <a:prstGeom prst="rect">
            <a:avLst/>
          </a:prstGeom>
          <a:noFill/>
          <a:ln/>
        </p:spPr>
        <p:txBody>
          <a:bodyPr wrap="square" lIns="0" tIns="0" rIns="0" bIns="0" rtlCol="0" anchor="t"/>
          <a:lstStyle/>
          <a:p>
            <a:pPr indent="0" marL="0">
              <a:buNone/>
            </a:pPr>
            <a:r>
              <a:rPr lang="en-US" sz="900" dirty="0">
                <a:solidFill>
                  <a:srgbClr val="1F2D3D"/>
                </a:solidFill>
                <a:latin typeface="Calibri" pitchFamily="34" charset="0"/>
                <a:ea typeface="Calibri" pitchFamily="34" charset="-122"/>
                <a:cs typeface="Calibri" pitchFamily="34" charset="-120"/>
              </a:rPr>
              <a:t>Apply approved revoke</a:t>
            </a:r>
            <a:endParaRPr lang="en-US" sz="900" dirty="0"/>
          </a:p>
        </p:txBody>
      </p:sp>
      <p:sp>
        <p:nvSpPr>
          <p:cNvPr id="125" name="Shape 108"/>
          <p:cNvSpPr/>
          <p:nvPr/>
        </p:nvSpPr>
        <p:spPr>
          <a:xfrm>
            <a:off x="12934188" y="3639312"/>
            <a:ext cx="0" cy="1005840"/>
          </a:xfrm>
          <a:prstGeom prst="line">
            <a:avLst/>
          </a:prstGeom>
          <a:noFill/>
          <a:ln w="19050">
            <a:solidFill>
              <a:srgbClr val="1F6FB5"/>
            </a:solidFill>
            <a:prstDash val="solid"/>
            <a:headEnd type="triangle"/>
          </a:ln>
        </p:spPr>
      </p:sp>
      <p:sp>
        <p:nvSpPr>
          <p:cNvPr id="126" name="Shape 109"/>
          <p:cNvSpPr/>
          <p:nvPr/>
        </p:nvSpPr>
        <p:spPr>
          <a:xfrm>
            <a:off x="13043916" y="3840480"/>
            <a:ext cx="219456" cy="219456"/>
          </a:xfrm>
          <a:prstGeom prst="ellipse">
            <a:avLst/>
          </a:prstGeom>
          <a:solidFill>
            <a:srgbClr val="1F6FB5"/>
          </a:solidFill>
          <a:ln w="12700">
            <a:solidFill>
              <a:srgbClr val="1F6FB5"/>
            </a:solidFill>
            <a:prstDash val="solid"/>
          </a:ln>
        </p:spPr>
      </p:sp>
      <p:sp>
        <p:nvSpPr>
          <p:cNvPr id="127" name="Text 110"/>
          <p:cNvSpPr txBox="1"/>
          <p:nvPr/>
        </p:nvSpPr>
        <p:spPr>
          <a:xfrm>
            <a:off x="13043916" y="384048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128" name="Text 111"/>
          <p:cNvSpPr txBox="1"/>
          <p:nvPr/>
        </p:nvSpPr>
        <p:spPr>
          <a:xfrm>
            <a:off x="13318236" y="3767328"/>
            <a:ext cx="822960" cy="685800"/>
          </a:xfrm>
          <a:prstGeom prst="rect">
            <a:avLst/>
          </a:prstGeom>
          <a:noFill/>
          <a:ln/>
        </p:spPr>
        <p:txBody>
          <a:bodyPr wrap="square" lIns="0" tIns="0" rIns="0" bIns="0" rtlCol="0" anchor="t"/>
          <a:lstStyle/>
          <a:p>
            <a:pPr indent="0" marL="0">
              <a:buNone/>
            </a:pPr>
            <a:r>
              <a:rPr lang="en-US" sz="900" dirty="0">
                <a:solidFill>
                  <a:srgbClr val="1F2D3D"/>
                </a:solidFill>
                <a:latin typeface="Calibri" pitchFamily="34" charset="0"/>
                <a:ea typeface="Calibri" pitchFamily="34" charset="-122"/>
                <a:cs typeface="Calibri" pitchFamily="34" charset="-120"/>
              </a:rPr>
              <a:t>Review, ask, certify</a:t>
            </a:r>
            <a:endParaRPr lang="en-US" sz="900" dirty="0"/>
          </a:p>
        </p:txBody>
      </p:sp>
      <p:sp>
        <p:nvSpPr>
          <p:cNvPr id="129" name="Shape 112"/>
          <p:cNvSpPr/>
          <p:nvPr/>
        </p:nvSpPr>
        <p:spPr>
          <a:xfrm>
            <a:off x="512064" y="6473952"/>
            <a:ext cx="5166360" cy="1234440"/>
          </a:xfrm>
          <a:prstGeom prst="roundRect">
            <a:avLst>
              <a:gd name="adj" fmla="val 4444"/>
            </a:avLst>
          </a:prstGeom>
          <a:solidFill>
            <a:srgbClr val="F1F4F8"/>
          </a:solidFill>
          <a:ln w="12700">
            <a:solidFill>
              <a:srgbClr val="6B7C93"/>
            </a:solidFill>
            <a:prstDash val="dash"/>
          </a:ln>
        </p:spPr>
      </p:sp>
      <p:sp>
        <p:nvSpPr>
          <p:cNvPr id="130" name="Text 113"/>
          <p:cNvSpPr txBox="1"/>
          <p:nvPr/>
        </p:nvSpPr>
        <p:spPr>
          <a:xfrm>
            <a:off x="630936" y="6547104"/>
            <a:ext cx="4892040" cy="182880"/>
          </a:xfrm>
          <a:prstGeom prst="rect">
            <a:avLst/>
          </a:prstGeom>
          <a:noFill/>
          <a:ln/>
        </p:spPr>
        <p:txBody>
          <a:bodyPr wrap="square" lIns="0" tIns="0" rIns="0" bIns="0" rtlCol="0" anchor="ctr"/>
          <a:lstStyle/>
          <a:p>
            <a:pPr indent="0" marL="0">
              <a:buNone/>
            </a:pPr>
            <a:r>
              <a:rPr lang="en-US" sz="900" b="1" spc="100" kern="0" dirty="0">
                <a:solidFill>
                  <a:srgbClr val="5A6B82"/>
                </a:solidFill>
                <a:latin typeface="Calibri" pitchFamily="34" charset="0"/>
                <a:ea typeface="Calibri" pitchFamily="34" charset="-122"/>
                <a:cs typeface="Calibri" pitchFamily="34" charset="-120"/>
              </a:rPr>
              <a:t>APPLICATION AUDIT (EXISTING)</a:t>
            </a:r>
            <a:endParaRPr lang="en-US" sz="900" dirty="0"/>
          </a:p>
        </p:txBody>
      </p:sp>
      <p:sp>
        <p:nvSpPr>
          <p:cNvPr id="131" name="Shape 114"/>
          <p:cNvSpPr/>
          <p:nvPr/>
        </p:nvSpPr>
        <p:spPr>
          <a:xfrm>
            <a:off x="630936" y="6812280"/>
            <a:ext cx="1783080" cy="795528"/>
          </a:xfrm>
          <a:prstGeom prst="roundRect">
            <a:avLst>
              <a:gd name="adj" fmla="val 9195"/>
            </a:avLst>
          </a:prstGeom>
          <a:solidFill>
            <a:srgbClr val="FFFFFF"/>
          </a:solidFill>
          <a:ln w="9525">
            <a:solidFill>
              <a:srgbClr val="C8D8EC"/>
            </a:solidFill>
            <a:prstDash val="solid"/>
          </a:ln>
        </p:spPr>
      </p:sp>
      <p:sp>
        <p:nvSpPr>
          <p:cNvPr id="132" name="Shape 115"/>
          <p:cNvSpPr/>
          <p:nvPr/>
        </p:nvSpPr>
        <p:spPr>
          <a:xfrm>
            <a:off x="740664" y="6949440"/>
            <a:ext cx="457200" cy="457200"/>
          </a:xfrm>
          <a:prstGeom prst="roundRect">
            <a:avLst>
              <a:gd name="adj" fmla="val 20000"/>
            </a:avLst>
          </a:prstGeom>
          <a:solidFill>
            <a:srgbClr val="5A6B82"/>
          </a:solidFill>
          <a:ln w="12700">
            <a:solidFill>
              <a:srgbClr val="5A6B82"/>
            </a:solidFill>
            <a:prstDash val="solid"/>
          </a:ln>
        </p:spPr>
      </p:sp>
      <p:pic>
        <p:nvPicPr>
          <p:cNvPr id="133" name="Image 15" descr="preencoded.png">    </p:cNvPr>
          <p:cNvPicPr>
            <a:picLocks noChangeAspect="1"/>
          </p:cNvPicPr>
          <p:nvPr/>
        </p:nvPicPr>
        <p:blipFill>
          <a:blip r:embed="rId16"/>
          <a:stretch>
            <a:fillRect/>
          </a:stretch>
        </p:blipFill>
        <p:spPr>
          <a:xfrm>
            <a:off x="841248" y="7050024"/>
            <a:ext cx="256032" cy="256032"/>
          </a:xfrm>
          <a:prstGeom prst="rect">
            <a:avLst/>
          </a:prstGeom>
        </p:spPr>
      </p:pic>
      <p:sp>
        <p:nvSpPr>
          <p:cNvPr id="134" name="Text 116"/>
          <p:cNvSpPr txBox="1"/>
          <p:nvPr/>
        </p:nvSpPr>
        <p:spPr>
          <a:xfrm>
            <a:off x="1271016" y="6903720"/>
            <a:ext cx="1097280" cy="256032"/>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App Audit</a:t>
            </a:r>
            <a:endParaRPr lang="en-US" sz="1100" dirty="0"/>
          </a:p>
        </p:txBody>
      </p:sp>
      <p:sp>
        <p:nvSpPr>
          <p:cNvPr id="135" name="Text 117"/>
          <p:cNvSpPr txBox="1"/>
          <p:nvPr/>
        </p:nvSpPr>
        <p:spPr>
          <a:xfrm>
            <a:off x="1271016" y="7159752"/>
            <a:ext cx="1115568" cy="384048"/>
          </a:xfrm>
          <a:prstGeom prst="rect">
            <a:avLst/>
          </a:prstGeom>
          <a:noFill/>
          <a:ln/>
        </p:spPr>
        <p:txBody>
          <a:bodyPr wrap="square" lIns="0" tIns="0" rIns="0" bIns="0" rtlCol="0" anchor="t"/>
          <a:lstStyle/>
          <a:p>
            <a:pPr indent="0" marL="0">
              <a:buNone/>
            </a:pPr>
            <a:r>
              <a:rPr lang="en-US" sz="850" dirty="0">
                <a:solidFill>
                  <a:srgbClr val="4A5A6E"/>
                </a:solidFill>
                <a:latin typeface="Calibri" pitchFamily="34" charset="0"/>
                <a:ea typeface="Calibri" pitchFamily="34" charset="-122"/>
                <a:cs typeface="Calibri" pitchFamily="34" charset="-120"/>
              </a:rPr>
              <a:t>Entitlement System (_AUD)</a:t>
            </a:r>
            <a:endParaRPr lang="en-US" sz="850" dirty="0"/>
          </a:p>
        </p:txBody>
      </p:sp>
      <p:sp>
        <p:nvSpPr>
          <p:cNvPr id="136" name="Shape 118"/>
          <p:cNvSpPr/>
          <p:nvPr/>
        </p:nvSpPr>
        <p:spPr>
          <a:xfrm>
            <a:off x="2551176" y="6812280"/>
            <a:ext cx="3008376" cy="338328"/>
          </a:xfrm>
          <a:prstGeom prst="roundRect">
            <a:avLst>
              <a:gd name="adj" fmla="val 40541"/>
            </a:avLst>
          </a:prstGeom>
          <a:solidFill>
            <a:srgbClr val="FFFFFF"/>
          </a:solidFill>
          <a:ln w="9525">
            <a:solidFill>
              <a:srgbClr val="C8D8EC"/>
            </a:solidFill>
            <a:prstDash val="solid"/>
          </a:ln>
        </p:spPr>
      </p:sp>
      <p:pic>
        <p:nvPicPr>
          <p:cNvPr id="137" name="Image 16" descr="preencoded.png">    </p:cNvPr>
          <p:cNvPicPr>
            <a:picLocks noChangeAspect="1"/>
          </p:cNvPicPr>
          <p:nvPr/>
        </p:nvPicPr>
        <p:blipFill>
          <a:blip r:embed="rId17"/>
          <a:stretch>
            <a:fillRect/>
          </a:stretch>
        </p:blipFill>
        <p:spPr>
          <a:xfrm>
            <a:off x="2679192" y="6908292"/>
            <a:ext cx="146304" cy="146304"/>
          </a:xfrm>
          <a:prstGeom prst="rect">
            <a:avLst/>
          </a:prstGeom>
        </p:spPr>
      </p:pic>
      <p:sp>
        <p:nvSpPr>
          <p:cNvPr id="138" name="Text 119"/>
          <p:cNvSpPr txBox="1"/>
          <p:nvPr/>
        </p:nvSpPr>
        <p:spPr>
          <a:xfrm>
            <a:off x="2916936" y="6812280"/>
            <a:ext cx="2596896"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Grant &amp; change history</a:t>
            </a:r>
            <a:endParaRPr lang="en-US" sz="950" dirty="0"/>
          </a:p>
        </p:txBody>
      </p:sp>
      <p:sp>
        <p:nvSpPr>
          <p:cNvPr id="139" name="Shape 120"/>
          <p:cNvSpPr/>
          <p:nvPr/>
        </p:nvSpPr>
        <p:spPr>
          <a:xfrm>
            <a:off x="2551176" y="7242048"/>
            <a:ext cx="3008376" cy="338328"/>
          </a:xfrm>
          <a:prstGeom prst="roundRect">
            <a:avLst>
              <a:gd name="adj" fmla="val 40541"/>
            </a:avLst>
          </a:prstGeom>
          <a:solidFill>
            <a:srgbClr val="FFFFFF"/>
          </a:solidFill>
          <a:ln w="9525">
            <a:solidFill>
              <a:srgbClr val="C8D8EC"/>
            </a:solidFill>
            <a:prstDash val="solid"/>
          </a:ln>
        </p:spPr>
      </p:sp>
      <p:pic>
        <p:nvPicPr>
          <p:cNvPr id="140" name="Image 17" descr="preencoded.png">    </p:cNvPr>
          <p:cNvPicPr>
            <a:picLocks noChangeAspect="1"/>
          </p:cNvPicPr>
          <p:nvPr/>
        </p:nvPicPr>
        <p:blipFill>
          <a:blip r:embed="rId18"/>
          <a:stretch>
            <a:fillRect/>
          </a:stretch>
        </p:blipFill>
        <p:spPr>
          <a:xfrm>
            <a:off x="2679192" y="7338060"/>
            <a:ext cx="146304" cy="146304"/>
          </a:xfrm>
          <a:prstGeom prst="rect">
            <a:avLst/>
          </a:prstGeom>
        </p:spPr>
      </p:pic>
      <p:sp>
        <p:nvSpPr>
          <p:cNvPr id="141" name="Text 121"/>
          <p:cNvSpPr txBox="1"/>
          <p:nvPr/>
        </p:nvSpPr>
        <p:spPr>
          <a:xfrm>
            <a:off x="2916936" y="7242048"/>
            <a:ext cx="2596896"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Campaign status changes</a:t>
            </a:r>
            <a:endParaRPr lang="en-US" sz="950" dirty="0"/>
          </a:p>
        </p:txBody>
      </p:sp>
      <p:sp>
        <p:nvSpPr>
          <p:cNvPr id="142" name="Shape 122"/>
          <p:cNvSpPr/>
          <p:nvPr/>
        </p:nvSpPr>
        <p:spPr>
          <a:xfrm>
            <a:off x="6117336" y="6473952"/>
            <a:ext cx="5184648" cy="1234440"/>
          </a:xfrm>
          <a:prstGeom prst="roundRect">
            <a:avLst>
              <a:gd name="adj" fmla="val 4444"/>
            </a:avLst>
          </a:prstGeom>
          <a:solidFill>
            <a:srgbClr val="F3F1FB"/>
          </a:solidFill>
          <a:ln w="12700">
            <a:solidFill>
              <a:srgbClr val="5B4FA8"/>
            </a:solidFill>
            <a:prstDash val="dash"/>
          </a:ln>
        </p:spPr>
      </p:sp>
      <p:sp>
        <p:nvSpPr>
          <p:cNvPr id="143" name="Text 123"/>
          <p:cNvSpPr txBox="1"/>
          <p:nvPr/>
        </p:nvSpPr>
        <p:spPr>
          <a:xfrm>
            <a:off x="6236208" y="6547104"/>
            <a:ext cx="4910328" cy="182880"/>
          </a:xfrm>
          <a:prstGeom prst="rect">
            <a:avLst/>
          </a:prstGeom>
          <a:noFill/>
          <a:ln/>
        </p:spPr>
        <p:txBody>
          <a:bodyPr wrap="square" lIns="0" tIns="0" rIns="0" bIns="0" rtlCol="0" anchor="ctr"/>
          <a:lstStyle/>
          <a:p>
            <a:pPr indent="0" marL="0">
              <a:buNone/>
            </a:pPr>
            <a:r>
              <a:rPr lang="en-US" sz="900" b="1" spc="100" kern="0" dirty="0">
                <a:solidFill>
                  <a:srgbClr val="5B4FA8"/>
                </a:solidFill>
                <a:latin typeface="Calibri" pitchFamily="34" charset="0"/>
                <a:ea typeface="Calibri" pitchFamily="34" charset="-122"/>
                <a:cs typeface="Calibri" pitchFamily="34" charset="-120"/>
              </a:rPr>
              <a:t>AI OBSERVABILITY</a:t>
            </a:r>
            <a:endParaRPr lang="en-US" sz="900" dirty="0"/>
          </a:p>
        </p:txBody>
      </p:sp>
      <p:sp>
        <p:nvSpPr>
          <p:cNvPr id="144" name="Shape 124"/>
          <p:cNvSpPr/>
          <p:nvPr/>
        </p:nvSpPr>
        <p:spPr>
          <a:xfrm>
            <a:off x="6236208" y="6812280"/>
            <a:ext cx="1783080" cy="795528"/>
          </a:xfrm>
          <a:prstGeom prst="roundRect">
            <a:avLst>
              <a:gd name="adj" fmla="val 9195"/>
            </a:avLst>
          </a:prstGeom>
          <a:solidFill>
            <a:srgbClr val="FFFFFF"/>
          </a:solidFill>
          <a:ln w="9525">
            <a:solidFill>
              <a:srgbClr val="C8D8EC"/>
            </a:solidFill>
            <a:prstDash val="solid"/>
          </a:ln>
        </p:spPr>
      </p:sp>
      <p:sp>
        <p:nvSpPr>
          <p:cNvPr id="145" name="Shape 125"/>
          <p:cNvSpPr/>
          <p:nvPr/>
        </p:nvSpPr>
        <p:spPr>
          <a:xfrm>
            <a:off x="6345936" y="6949440"/>
            <a:ext cx="457200" cy="457200"/>
          </a:xfrm>
          <a:prstGeom prst="roundRect">
            <a:avLst>
              <a:gd name="adj" fmla="val 20000"/>
            </a:avLst>
          </a:prstGeom>
          <a:solidFill>
            <a:srgbClr val="0B2E5E"/>
          </a:solidFill>
          <a:ln w="12700">
            <a:solidFill>
              <a:srgbClr val="0B2E5E"/>
            </a:solidFill>
            <a:prstDash val="solid"/>
          </a:ln>
        </p:spPr>
      </p:sp>
      <p:pic>
        <p:nvPicPr>
          <p:cNvPr id="146" name="Image 18" descr="preencoded.png">    </p:cNvPr>
          <p:cNvPicPr>
            <a:picLocks noChangeAspect="1"/>
          </p:cNvPicPr>
          <p:nvPr/>
        </p:nvPicPr>
        <p:blipFill>
          <a:blip r:embed="rId19"/>
          <a:stretch>
            <a:fillRect/>
          </a:stretch>
        </p:blipFill>
        <p:spPr>
          <a:xfrm>
            <a:off x="6446520" y="7050024"/>
            <a:ext cx="256032" cy="256032"/>
          </a:xfrm>
          <a:prstGeom prst="rect">
            <a:avLst/>
          </a:prstGeom>
        </p:spPr>
      </p:pic>
      <p:sp>
        <p:nvSpPr>
          <p:cNvPr id="147" name="Text 126"/>
          <p:cNvSpPr txBox="1"/>
          <p:nvPr/>
        </p:nvSpPr>
        <p:spPr>
          <a:xfrm>
            <a:off x="6876288" y="6903720"/>
            <a:ext cx="1097280" cy="256032"/>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Phoenix Eyes</a:t>
            </a:r>
            <a:endParaRPr lang="en-US" sz="1100" dirty="0"/>
          </a:p>
        </p:txBody>
      </p:sp>
      <p:sp>
        <p:nvSpPr>
          <p:cNvPr id="148" name="Text 127"/>
          <p:cNvSpPr txBox="1"/>
          <p:nvPr/>
        </p:nvSpPr>
        <p:spPr>
          <a:xfrm>
            <a:off x="6876288" y="7159752"/>
            <a:ext cx="1115568" cy="384048"/>
          </a:xfrm>
          <a:prstGeom prst="rect">
            <a:avLst/>
          </a:prstGeom>
          <a:noFill/>
          <a:ln/>
        </p:spPr>
        <p:txBody>
          <a:bodyPr wrap="square" lIns="0" tIns="0" rIns="0" bIns="0" rtlCol="0" anchor="t"/>
          <a:lstStyle/>
          <a:p>
            <a:pPr indent="0" marL="0">
              <a:buNone/>
            </a:pPr>
            <a:r>
              <a:rPr lang="en-US" sz="850" dirty="0">
                <a:solidFill>
                  <a:srgbClr val="4A5A6E"/>
                </a:solidFill>
                <a:latin typeface="Calibri" pitchFamily="34" charset="0"/>
                <a:ea typeface="Calibri" pitchFamily="34" charset="-122"/>
                <a:cs typeface="Calibri" pitchFamily="34" charset="-120"/>
              </a:rPr>
              <a:t>Review Agent and Agent One sessions</a:t>
            </a:r>
            <a:endParaRPr lang="en-US" sz="850" dirty="0"/>
          </a:p>
        </p:txBody>
      </p:sp>
      <p:sp>
        <p:nvSpPr>
          <p:cNvPr id="149" name="Shape 128"/>
          <p:cNvSpPr/>
          <p:nvPr/>
        </p:nvSpPr>
        <p:spPr>
          <a:xfrm>
            <a:off x="8156448" y="6812280"/>
            <a:ext cx="1458468" cy="338328"/>
          </a:xfrm>
          <a:prstGeom prst="roundRect">
            <a:avLst>
              <a:gd name="adj" fmla="val 40541"/>
            </a:avLst>
          </a:prstGeom>
          <a:solidFill>
            <a:srgbClr val="FFFFFF"/>
          </a:solidFill>
          <a:ln w="9525">
            <a:solidFill>
              <a:srgbClr val="C8D8EC"/>
            </a:solidFill>
            <a:prstDash val="solid"/>
          </a:ln>
        </p:spPr>
      </p:sp>
      <p:pic>
        <p:nvPicPr>
          <p:cNvPr id="150" name="Image 19" descr="preencoded.png">    </p:cNvPr>
          <p:cNvPicPr>
            <a:picLocks noChangeAspect="1"/>
          </p:cNvPicPr>
          <p:nvPr/>
        </p:nvPicPr>
        <p:blipFill>
          <a:blip r:embed="rId20"/>
          <a:stretch>
            <a:fillRect/>
          </a:stretch>
        </p:blipFill>
        <p:spPr>
          <a:xfrm>
            <a:off x="8284464" y="6908292"/>
            <a:ext cx="146304" cy="146304"/>
          </a:xfrm>
          <a:prstGeom prst="rect">
            <a:avLst/>
          </a:prstGeom>
        </p:spPr>
      </p:pic>
      <p:sp>
        <p:nvSpPr>
          <p:cNvPr id="151" name="Text 129"/>
          <p:cNvSpPr txBox="1"/>
          <p:nvPr/>
        </p:nvSpPr>
        <p:spPr>
          <a:xfrm>
            <a:off x="8522208" y="6812280"/>
            <a:ext cx="1046988"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AI session traces</a:t>
            </a:r>
            <a:endParaRPr lang="en-US" sz="950" dirty="0"/>
          </a:p>
        </p:txBody>
      </p:sp>
      <p:sp>
        <p:nvSpPr>
          <p:cNvPr id="152" name="Shape 130"/>
          <p:cNvSpPr/>
          <p:nvPr/>
        </p:nvSpPr>
        <p:spPr>
          <a:xfrm>
            <a:off x="9724644" y="6812280"/>
            <a:ext cx="1458468" cy="338328"/>
          </a:xfrm>
          <a:prstGeom prst="roundRect">
            <a:avLst>
              <a:gd name="adj" fmla="val 40541"/>
            </a:avLst>
          </a:prstGeom>
          <a:solidFill>
            <a:srgbClr val="FFFFFF"/>
          </a:solidFill>
          <a:ln w="9525">
            <a:solidFill>
              <a:srgbClr val="C8D8EC"/>
            </a:solidFill>
            <a:prstDash val="solid"/>
          </a:ln>
        </p:spPr>
      </p:sp>
      <p:pic>
        <p:nvPicPr>
          <p:cNvPr id="153" name="Image 20" descr="preencoded.png">    </p:cNvPr>
          <p:cNvPicPr>
            <a:picLocks noChangeAspect="1"/>
          </p:cNvPicPr>
          <p:nvPr/>
        </p:nvPicPr>
        <p:blipFill>
          <a:blip r:embed="rId21"/>
          <a:stretch>
            <a:fillRect/>
          </a:stretch>
        </p:blipFill>
        <p:spPr>
          <a:xfrm>
            <a:off x="9852660" y="6908292"/>
            <a:ext cx="146304" cy="146304"/>
          </a:xfrm>
          <a:prstGeom prst="rect">
            <a:avLst/>
          </a:prstGeom>
        </p:spPr>
      </p:pic>
      <p:sp>
        <p:nvSpPr>
          <p:cNvPr id="154" name="Text 131"/>
          <p:cNvSpPr txBox="1"/>
          <p:nvPr/>
        </p:nvSpPr>
        <p:spPr>
          <a:xfrm>
            <a:off x="10090404" y="6812280"/>
            <a:ext cx="1046988"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Prompts &amp; sources</a:t>
            </a:r>
            <a:endParaRPr lang="en-US" sz="950" dirty="0"/>
          </a:p>
        </p:txBody>
      </p:sp>
      <p:sp>
        <p:nvSpPr>
          <p:cNvPr id="155" name="Shape 132"/>
          <p:cNvSpPr/>
          <p:nvPr/>
        </p:nvSpPr>
        <p:spPr>
          <a:xfrm>
            <a:off x="8156448" y="7242048"/>
            <a:ext cx="1458468" cy="338328"/>
          </a:xfrm>
          <a:prstGeom prst="roundRect">
            <a:avLst>
              <a:gd name="adj" fmla="val 40541"/>
            </a:avLst>
          </a:prstGeom>
          <a:solidFill>
            <a:srgbClr val="FFFFFF"/>
          </a:solidFill>
          <a:ln w="9525">
            <a:solidFill>
              <a:srgbClr val="C8D8EC"/>
            </a:solidFill>
            <a:prstDash val="solid"/>
          </a:ln>
        </p:spPr>
      </p:sp>
      <p:pic>
        <p:nvPicPr>
          <p:cNvPr id="156" name="Image 21" descr="preencoded.png">    </p:cNvPr>
          <p:cNvPicPr>
            <a:picLocks noChangeAspect="1"/>
          </p:cNvPicPr>
          <p:nvPr/>
        </p:nvPicPr>
        <p:blipFill>
          <a:blip r:embed="rId22"/>
          <a:stretch>
            <a:fillRect/>
          </a:stretch>
        </p:blipFill>
        <p:spPr>
          <a:xfrm>
            <a:off x="8284464" y="7338060"/>
            <a:ext cx="146304" cy="146304"/>
          </a:xfrm>
          <a:prstGeom prst="rect">
            <a:avLst/>
          </a:prstGeom>
        </p:spPr>
      </p:pic>
      <p:sp>
        <p:nvSpPr>
          <p:cNvPr id="157" name="Text 133"/>
          <p:cNvSpPr txBox="1"/>
          <p:nvPr/>
        </p:nvSpPr>
        <p:spPr>
          <a:xfrm>
            <a:off x="8522208" y="7242048"/>
            <a:ext cx="1046988"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Skill gap analysis</a:t>
            </a:r>
            <a:endParaRPr lang="en-US" sz="950" dirty="0"/>
          </a:p>
        </p:txBody>
      </p:sp>
      <p:sp>
        <p:nvSpPr>
          <p:cNvPr id="158" name="Shape 134"/>
          <p:cNvSpPr/>
          <p:nvPr/>
        </p:nvSpPr>
        <p:spPr>
          <a:xfrm>
            <a:off x="9724644" y="7242048"/>
            <a:ext cx="1458468" cy="338328"/>
          </a:xfrm>
          <a:prstGeom prst="roundRect">
            <a:avLst>
              <a:gd name="adj" fmla="val 40541"/>
            </a:avLst>
          </a:prstGeom>
          <a:solidFill>
            <a:srgbClr val="FFFFFF"/>
          </a:solidFill>
          <a:ln w="9525">
            <a:solidFill>
              <a:srgbClr val="C8D8EC"/>
            </a:solidFill>
            <a:prstDash val="solid"/>
          </a:ln>
        </p:spPr>
      </p:sp>
      <p:pic>
        <p:nvPicPr>
          <p:cNvPr id="159" name="Image 22" descr="preencoded.png">    </p:cNvPr>
          <p:cNvPicPr>
            <a:picLocks noChangeAspect="1"/>
          </p:cNvPicPr>
          <p:nvPr/>
        </p:nvPicPr>
        <p:blipFill>
          <a:blip r:embed="rId23"/>
          <a:stretch>
            <a:fillRect/>
          </a:stretch>
        </p:blipFill>
        <p:spPr>
          <a:xfrm>
            <a:off x="9852660" y="7338060"/>
            <a:ext cx="146304" cy="146304"/>
          </a:xfrm>
          <a:prstGeom prst="rect">
            <a:avLst/>
          </a:prstGeom>
        </p:spPr>
      </p:pic>
      <p:sp>
        <p:nvSpPr>
          <p:cNvPr id="160" name="Text 135"/>
          <p:cNvSpPr txBox="1"/>
          <p:nvPr/>
        </p:nvSpPr>
        <p:spPr>
          <a:xfrm>
            <a:off x="10090404" y="7242048"/>
            <a:ext cx="1046988"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LLM perf &amp; health</a:t>
            </a:r>
            <a:endParaRPr lang="en-US" sz="950" dirty="0"/>
          </a:p>
        </p:txBody>
      </p:sp>
      <p:sp>
        <p:nvSpPr>
          <p:cNvPr id="161" name="Shape 136"/>
          <p:cNvSpPr/>
          <p:nvPr/>
        </p:nvSpPr>
        <p:spPr>
          <a:xfrm>
            <a:off x="11731752" y="6473952"/>
            <a:ext cx="2386584" cy="1234440"/>
          </a:xfrm>
          <a:prstGeom prst="roundRect">
            <a:avLst>
              <a:gd name="adj" fmla="val 4444"/>
            </a:avLst>
          </a:prstGeom>
          <a:solidFill>
            <a:srgbClr val="F1F4F8"/>
          </a:solidFill>
          <a:ln w="12700">
            <a:solidFill>
              <a:srgbClr val="6B7C93"/>
            </a:solidFill>
            <a:prstDash val="dash"/>
          </a:ln>
        </p:spPr>
      </p:sp>
      <p:sp>
        <p:nvSpPr>
          <p:cNvPr id="162" name="Text 137"/>
          <p:cNvSpPr txBox="1"/>
          <p:nvPr/>
        </p:nvSpPr>
        <p:spPr>
          <a:xfrm>
            <a:off x="11850624" y="6547104"/>
            <a:ext cx="2112264" cy="182880"/>
          </a:xfrm>
          <a:prstGeom prst="rect">
            <a:avLst/>
          </a:prstGeom>
          <a:noFill/>
          <a:ln/>
        </p:spPr>
        <p:txBody>
          <a:bodyPr wrap="square" lIns="0" tIns="0" rIns="0" bIns="0" rtlCol="0" anchor="ctr"/>
          <a:lstStyle/>
          <a:p>
            <a:pPr indent="0" marL="0">
              <a:buNone/>
            </a:pPr>
            <a:r>
              <a:rPr lang="en-US" sz="900" b="1" spc="100" kern="0" dirty="0">
                <a:solidFill>
                  <a:srgbClr val="5A6B82"/>
                </a:solidFill>
                <a:latin typeface="Calibri" pitchFamily="34" charset="0"/>
                <a:ea typeface="Calibri" pitchFamily="34" charset="-122"/>
                <a:cs typeface="Calibri" pitchFamily="34" charset="-120"/>
              </a:rPr>
              <a:t>APPLICATION AUDIT (EXISTING)</a:t>
            </a:r>
            <a:endParaRPr lang="en-US" sz="900" dirty="0"/>
          </a:p>
        </p:txBody>
      </p:sp>
      <p:sp>
        <p:nvSpPr>
          <p:cNvPr id="163" name="Shape 138"/>
          <p:cNvSpPr/>
          <p:nvPr/>
        </p:nvSpPr>
        <p:spPr>
          <a:xfrm>
            <a:off x="11850624" y="6812280"/>
            <a:ext cx="2148840" cy="338328"/>
          </a:xfrm>
          <a:prstGeom prst="roundRect">
            <a:avLst>
              <a:gd name="adj" fmla="val 40541"/>
            </a:avLst>
          </a:prstGeom>
          <a:solidFill>
            <a:srgbClr val="FFFFFF"/>
          </a:solidFill>
          <a:ln w="9525">
            <a:solidFill>
              <a:srgbClr val="C8D8EC"/>
            </a:solidFill>
            <a:prstDash val="solid"/>
          </a:ln>
        </p:spPr>
      </p:sp>
      <p:pic>
        <p:nvPicPr>
          <p:cNvPr id="164" name="Image 23" descr="preencoded.png">    </p:cNvPr>
          <p:cNvPicPr>
            <a:picLocks noChangeAspect="1"/>
          </p:cNvPicPr>
          <p:nvPr/>
        </p:nvPicPr>
        <p:blipFill>
          <a:blip r:embed="rId24"/>
          <a:stretch>
            <a:fillRect/>
          </a:stretch>
        </p:blipFill>
        <p:spPr>
          <a:xfrm>
            <a:off x="11978640" y="6908292"/>
            <a:ext cx="146304" cy="146304"/>
          </a:xfrm>
          <a:prstGeom prst="rect">
            <a:avLst/>
          </a:prstGeom>
        </p:spPr>
      </p:pic>
      <p:sp>
        <p:nvSpPr>
          <p:cNvPr id="165" name="Text 139"/>
          <p:cNvSpPr txBox="1"/>
          <p:nvPr/>
        </p:nvSpPr>
        <p:spPr>
          <a:xfrm>
            <a:off x="12216384" y="6812280"/>
            <a:ext cx="1737360"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Certify &amp; revoke decisions</a:t>
            </a:r>
            <a:endParaRPr lang="en-US" sz="950" dirty="0"/>
          </a:p>
        </p:txBody>
      </p:sp>
      <p:sp>
        <p:nvSpPr>
          <p:cNvPr id="166" name="Shape 140"/>
          <p:cNvSpPr/>
          <p:nvPr/>
        </p:nvSpPr>
        <p:spPr>
          <a:xfrm>
            <a:off x="11850624" y="7242048"/>
            <a:ext cx="2148840" cy="338328"/>
          </a:xfrm>
          <a:prstGeom prst="roundRect">
            <a:avLst>
              <a:gd name="adj" fmla="val 40541"/>
            </a:avLst>
          </a:prstGeom>
          <a:solidFill>
            <a:srgbClr val="FFFFFF"/>
          </a:solidFill>
          <a:ln w="9525">
            <a:solidFill>
              <a:srgbClr val="C8D8EC"/>
            </a:solidFill>
            <a:prstDash val="solid"/>
          </a:ln>
        </p:spPr>
      </p:sp>
      <p:pic>
        <p:nvPicPr>
          <p:cNvPr id="167" name="Image 24" descr="preencoded.png">    </p:cNvPr>
          <p:cNvPicPr>
            <a:picLocks noChangeAspect="1"/>
          </p:cNvPicPr>
          <p:nvPr/>
        </p:nvPicPr>
        <p:blipFill>
          <a:blip r:embed="rId25"/>
          <a:stretch>
            <a:fillRect/>
          </a:stretch>
        </p:blipFill>
        <p:spPr>
          <a:xfrm>
            <a:off x="11978640" y="7338060"/>
            <a:ext cx="146304" cy="146304"/>
          </a:xfrm>
          <a:prstGeom prst="rect">
            <a:avLst/>
          </a:prstGeom>
        </p:spPr>
      </p:pic>
      <p:sp>
        <p:nvSpPr>
          <p:cNvPr id="168" name="Text 141"/>
          <p:cNvSpPr txBox="1"/>
          <p:nvPr/>
        </p:nvSpPr>
        <p:spPr>
          <a:xfrm>
            <a:off x="12216384" y="7242048"/>
            <a:ext cx="1737360"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Access changes applied</a:t>
            </a:r>
            <a:endParaRPr lang="en-US" sz="950" dirty="0"/>
          </a:p>
        </p:txBody>
      </p:sp>
      <p:sp>
        <p:nvSpPr>
          <p:cNvPr id="169" name="Text 142"/>
          <p:cNvSpPr txBox="1"/>
          <p:nvPr/>
        </p:nvSpPr>
        <p:spPr>
          <a:xfrm>
            <a:off x="502920" y="7818120"/>
            <a:ext cx="2743200" cy="228600"/>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Outcomes</a:t>
            </a:r>
            <a:endParaRPr lang="en-US" sz="1100" dirty="0"/>
          </a:p>
        </p:txBody>
      </p:sp>
      <p:sp>
        <p:nvSpPr>
          <p:cNvPr id="170" name="Shape 143"/>
          <p:cNvSpPr/>
          <p:nvPr/>
        </p:nvSpPr>
        <p:spPr>
          <a:xfrm>
            <a:off x="502920" y="8074152"/>
            <a:ext cx="3227832" cy="1005840"/>
          </a:xfrm>
          <a:prstGeom prst="roundRect">
            <a:avLst>
              <a:gd name="adj" fmla="val 7273"/>
            </a:avLst>
          </a:prstGeom>
          <a:solidFill>
            <a:srgbClr val="FFFFFF"/>
          </a:solidFill>
          <a:ln w="9525">
            <a:solidFill>
              <a:srgbClr val="C8D8EC"/>
            </a:solidFill>
            <a:prstDash val="solid"/>
          </a:ln>
        </p:spPr>
      </p:sp>
      <p:sp>
        <p:nvSpPr>
          <p:cNvPr id="171" name="Shape 144"/>
          <p:cNvSpPr/>
          <p:nvPr/>
        </p:nvSpPr>
        <p:spPr>
          <a:xfrm>
            <a:off x="667512" y="8321040"/>
            <a:ext cx="512064" cy="512064"/>
          </a:xfrm>
          <a:prstGeom prst="ellipse">
            <a:avLst/>
          </a:prstGeom>
          <a:solidFill>
            <a:srgbClr val="1E8A5A"/>
          </a:solidFill>
          <a:ln w="12700">
            <a:solidFill>
              <a:srgbClr val="1E8A5A"/>
            </a:solidFill>
            <a:prstDash val="solid"/>
          </a:ln>
        </p:spPr>
      </p:sp>
      <p:pic>
        <p:nvPicPr>
          <p:cNvPr id="172" name="Image 25" descr="preencoded.png">    </p:cNvPr>
          <p:cNvPicPr>
            <a:picLocks noChangeAspect="1"/>
          </p:cNvPicPr>
          <p:nvPr/>
        </p:nvPicPr>
        <p:blipFill>
          <a:blip r:embed="rId26"/>
          <a:stretch>
            <a:fillRect/>
          </a:stretch>
        </p:blipFill>
        <p:spPr>
          <a:xfrm>
            <a:off x="800649" y="8454177"/>
            <a:ext cx="245791" cy="245791"/>
          </a:xfrm>
          <a:prstGeom prst="rect">
            <a:avLst/>
          </a:prstGeom>
        </p:spPr>
      </p:pic>
      <p:sp>
        <p:nvSpPr>
          <p:cNvPr id="173" name="Text 145"/>
          <p:cNvSpPr txBox="1"/>
          <p:nvPr/>
        </p:nvSpPr>
        <p:spPr>
          <a:xfrm>
            <a:off x="1325880"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Faster certification</a:t>
            </a:r>
            <a:endParaRPr lang="en-US" sz="1200" dirty="0"/>
          </a:p>
        </p:txBody>
      </p:sp>
      <p:sp>
        <p:nvSpPr>
          <p:cNvPr id="174" name="Text 146"/>
          <p:cNvSpPr txBox="1"/>
          <p:nvPr/>
        </p:nvSpPr>
        <p:spPr>
          <a:xfrm>
            <a:off x="1325880"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Reviewers start from a pre-reviewed, risk-ranked list</a:t>
            </a:r>
            <a:endParaRPr lang="en-US" sz="950" dirty="0"/>
          </a:p>
        </p:txBody>
      </p:sp>
      <p:sp>
        <p:nvSpPr>
          <p:cNvPr id="175" name="Shape 147"/>
          <p:cNvSpPr/>
          <p:nvPr/>
        </p:nvSpPr>
        <p:spPr>
          <a:xfrm>
            <a:off x="3941064" y="8074152"/>
            <a:ext cx="3227832" cy="1005840"/>
          </a:xfrm>
          <a:prstGeom prst="roundRect">
            <a:avLst>
              <a:gd name="adj" fmla="val 7273"/>
            </a:avLst>
          </a:prstGeom>
          <a:solidFill>
            <a:srgbClr val="FFFFFF"/>
          </a:solidFill>
          <a:ln w="9525">
            <a:solidFill>
              <a:srgbClr val="C8D8EC"/>
            </a:solidFill>
            <a:prstDash val="solid"/>
          </a:ln>
        </p:spPr>
      </p:sp>
      <p:sp>
        <p:nvSpPr>
          <p:cNvPr id="176" name="Shape 148"/>
          <p:cNvSpPr/>
          <p:nvPr/>
        </p:nvSpPr>
        <p:spPr>
          <a:xfrm>
            <a:off x="4105656" y="8321040"/>
            <a:ext cx="512064" cy="512064"/>
          </a:xfrm>
          <a:prstGeom prst="ellipse">
            <a:avLst/>
          </a:prstGeom>
          <a:solidFill>
            <a:srgbClr val="2A6EBB"/>
          </a:solidFill>
          <a:ln w="12700">
            <a:solidFill>
              <a:srgbClr val="2A6EBB"/>
            </a:solidFill>
            <a:prstDash val="solid"/>
          </a:ln>
        </p:spPr>
      </p:sp>
      <p:pic>
        <p:nvPicPr>
          <p:cNvPr id="177" name="Image 26" descr="preencoded.png">    </p:cNvPr>
          <p:cNvPicPr>
            <a:picLocks noChangeAspect="1"/>
          </p:cNvPicPr>
          <p:nvPr/>
        </p:nvPicPr>
        <p:blipFill>
          <a:blip r:embed="rId27"/>
          <a:stretch>
            <a:fillRect/>
          </a:stretch>
        </p:blipFill>
        <p:spPr>
          <a:xfrm>
            <a:off x="4238793" y="8454177"/>
            <a:ext cx="245791" cy="245791"/>
          </a:xfrm>
          <a:prstGeom prst="rect">
            <a:avLst/>
          </a:prstGeom>
        </p:spPr>
      </p:pic>
      <p:sp>
        <p:nvSpPr>
          <p:cNvPr id="178" name="Text 149"/>
          <p:cNvSpPr txBox="1"/>
          <p:nvPr/>
        </p:nvSpPr>
        <p:spPr>
          <a:xfrm>
            <a:off x="4764024"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Human in the loop</a:t>
            </a:r>
            <a:endParaRPr lang="en-US" sz="1200" dirty="0"/>
          </a:p>
        </p:txBody>
      </p:sp>
      <p:sp>
        <p:nvSpPr>
          <p:cNvPr id="179" name="Text 150"/>
          <p:cNvSpPr txBox="1"/>
          <p:nvPr/>
        </p:nvSpPr>
        <p:spPr>
          <a:xfrm>
            <a:off x="4764024"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Approvers decide every certify or revoke</a:t>
            </a:r>
            <a:endParaRPr lang="en-US" sz="950" dirty="0"/>
          </a:p>
        </p:txBody>
      </p:sp>
      <p:sp>
        <p:nvSpPr>
          <p:cNvPr id="180" name="Shape 151"/>
          <p:cNvSpPr/>
          <p:nvPr/>
        </p:nvSpPr>
        <p:spPr>
          <a:xfrm>
            <a:off x="7379208" y="8074152"/>
            <a:ext cx="3227832" cy="1005840"/>
          </a:xfrm>
          <a:prstGeom prst="roundRect">
            <a:avLst>
              <a:gd name="adj" fmla="val 7273"/>
            </a:avLst>
          </a:prstGeom>
          <a:solidFill>
            <a:srgbClr val="FFFFFF"/>
          </a:solidFill>
          <a:ln w="9525">
            <a:solidFill>
              <a:srgbClr val="C8D8EC"/>
            </a:solidFill>
            <a:prstDash val="solid"/>
          </a:ln>
        </p:spPr>
      </p:sp>
      <p:sp>
        <p:nvSpPr>
          <p:cNvPr id="181" name="Shape 152"/>
          <p:cNvSpPr/>
          <p:nvPr/>
        </p:nvSpPr>
        <p:spPr>
          <a:xfrm>
            <a:off x="7543800" y="8321040"/>
            <a:ext cx="512064" cy="512064"/>
          </a:xfrm>
          <a:prstGeom prst="ellipse">
            <a:avLst/>
          </a:prstGeom>
          <a:solidFill>
            <a:srgbClr val="5B4FA8"/>
          </a:solidFill>
          <a:ln w="12700">
            <a:solidFill>
              <a:srgbClr val="5B4FA8"/>
            </a:solidFill>
            <a:prstDash val="solid"/>
          </a:ln>
        </p:spPr>
      </p:sp>
      <p:pic>
        <p:nvPicPr>
          <p:cNvPr id="182" name="Image 27" descr="preencoded.png">    </p:cNvPr>
          <p:cNvPicPr>
            <a:picLocks noChangeAspect="1"/>
          </p:cNvPicPr>
          <p:nvPr/>
        </p:nvPicPr>
        <p:blipFill>
          <a:blip r:embed="rId28"/>
          <a:stretch>
            <a:fillRect/>
          </a:stretch>
        </p:blipFill>
        <p:spPr>
          <a:xfrm>
            <a:off x="7676937" y="8454177"/>
            <a:ext cx="245791" cy="245791"/>
          </a:xfrm>
          <a:prstGeom prst="rect">
            <a:avLst/>
          </a:prstGeom>
        </p:spPr>
      </p:pic>
      <p:sp>
        <p:nvSpPr>
          <p:cNvPr id="183" name="Text 153"/>
          <p:cNvSpPr txBox="1"/>
          <p:nvPr/>
        </p:nvSpPr>
        <p:spPr>
          <a:xfrm>
            <a:off x="8202168"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Stronger SoD control</a:t>
            </a:r>
            <a:endParaRPr lang="en-US" sz="1200" dirty="0"/>
          </a:p>
        </p:txBody>
      </p:sp>
      <p:sp>
        <p:nvSpPr>
          <p:cNvPr id="184" name="Text 154"/>
          <p:cNvSpPr txBox="1"/>
          <p:nvPr/>
        </p:nvSpPr>
        <p:spPr>
          <a:xfrm>
            <a:off x="8202168"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Conflicts and stale access surfaced every cycle</a:t>
            </a:r>
            <a:endParaRPr lang="en-US" sz="950" dirty="0"/>
          </a:p>
        </p:txBody>
      </p:sp>
      <p:sp>
        <p:nvSpPr>
          <p:cNvPr id="185" name="Shape 155"/>
          <p:cNvSpPr/>
          <p:nvPr/>
        </p:nvSpPr>
        <p:spPr>
          <a:xfrm>
            <a:off x="10817352" y="8074152"/>
            <a:ext cx="3227832" cy="1005840"/>
          </a:xfrm>
          <a:prstGeom prst="roundRect">
            <a:avLst>
              <a:gd name="adj" fmla="val 7273"/>
            </a:avLst>
          </a:prstGeom>
          <a:solidFill>
            <a:srgbClr val="FFFFFF"/>
          </a:solidFill>
          <a:ln w="9525">
            <a:solidFill>
              <a:srgbClr val="C8D8EC"/>
            </a:solidFill>
            <a:prstDash val="solid"/>
          </a:ln>
        </p:spPr>
      </p:sp>
      <p:sp>
        <p:nvSpPr>
          <p:cNvPr id="186" name="Shape 156"/>
          <p:cNvSpPr/>
          <p:nvPr/>
        </p:nvSpPr>
        <p:spPr>
          <a:xfrm>
            <a:off x="10981944" y="8321040"/>
            <a:ext cx="512064" cy="512064"/>
          </a:xfrm>
          <a:prstGeom prst="ellipse">
            <a:avLst/>
          </a:prstGeom>
          <a:solidFill>
            <a:srgbClr val="1F4E8C"/>
          </a:solidFill>
          <a:ln w="12700">
            <a:solidFill>
              <a:srgbClr val="1F4E8C"/>
            </a:solidFill>
            <a:prstDash val="solid"/>
          </a:ln>
        </p:spPr>
      </p:sp>
      <p:pic>
        <p:nvPicPr>
          <p:cNvPr id="187" name="Image 28" descr="preencoded.png">    </p:cNvPr>
          <p:cNvPicPr>
            <a:picLocks noChangeAspect="1"/>
          </p:cNvPicPr>
          <p:nvPr/>
        </p:nvPicPr>
        <p:blipFill>
          <a:blip r:embed="rId29"/>
          <a:stretch>
            <a:fillRect/>
          </a:stretch>
        </p:blipFill>
        <p:spPr>
          <a:xfrm>
            <a:off x="11115081" y="8454177"/>
            <a:ext cx="245791" cy="245791"/>
          </a:xfrm>
          <a:prstGeom prst="rect">
            <a:avLst/>
          </a:prstGeom>
        </p:spPr>
      </p:pic>
      <p:sp>
        <p:nvSpPr>
          <p:cNvPr id="188" name="Text 157"/>
          <p:cNvSpPr txBox="1"/>
          <p:nvPr/>
        </p:nvSpPr>
        <p:spPr>
          <a:xfrm>
            <a:off x="11640312"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Scales by application</a:t>
            </a:r>
            <a:endParaRPr lang="en-US" sz="1200" dirty="0"/>
          </a:p>
        </p:txBody>
      </p:sp>
      <p:sp>
        <p:nvSpPr>
          <p:cNvPr id="189" name="Text 158"/>
          <p:cNvSpPr txBox="1"/>
          <p:nvPr/>
        </p:nvSpPr>
        <p:spPr>
          <a:xfrm>
            <a:off x="11640312"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Add apps to campaigns by configuration</a:t>
            </a:r>
            <a:endParaRPr lang="en-US" sz="950" dirty="0"/>
          </a:p>
        </p:txBody>
      </p:sp>
      <p:sp>
        <p:nvSpPr>
          <p:cNvPr id="190" name="Shape 159"/>
          <p:cNvSpPr/>
          <p:nvPr/>
        </p:nvSpPr>
        <p:spPr>
          <a:xfrm>
            <a:off x="0" y="9272016"/>
            <a:ext cx="14630400" cy="484632"/>
          </a:xfrm>
          <a:prstGeom prst="rect">
            <a:avLst/>
          </a:prstGeom>
          <a:solidFill>
            <a:srgbClr val="0B2E5E"/>
          </a:solidFill>
          <a:ln w="12700">
            <a:solidFill>
              <a:srgbClr val="0B2E5E"/>
            </a:solidFill>
            <a:prstDash val="solid"/>
          </a:ln>
        </p:spPr>
      </p:sp>
      <p:sp>
        <p:nvSpPr>
          <p:cNvPr id="191" name="Text 160"/>
          <p:cNvSpPr txBox="1"/>
          <p:nvPr/>
        </p:nvSpPr>
        <p:spPr>
          <a:xfrm>
            <a:off x="0" y="9272016"/>
            <a:ext cx="14630400" cy="4846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Access &amp; Workflow</a:t>
            </a:r>
            <a:pPr algn="ctr" indent="0" marL="0">
              <a:buNone/>
            </a:pPr>
            <a:r>
              <a:rPr lang="en-US" sz="1100" dirty="0">
                <a:solidFill>
                  <a:srgbClr val="FFFFFF"/>
                </a:solidFill>
                <a:latin typeface="Calibri" pitchFamily="34" charset="0"/>
                <a:ea typeface="Calibri" pitchFamily="34" charset="-122"/>
                <a:cs typeface="Calibri" pitchFamily="34" charset="-120"/>
              </a:rPr>
              <a:t>   |   Cleaner Access. Faster Reviews. Stronger Control.</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AFD"/>
        </a:solidFill>
      </p:bgPr>
    </p:bg>
    <p:spTree>
      <p:nvGrpSpPr>
        <p:cNvPr id="1" name=""/>
        <p:cNvGrpSpPr/>
        <p:nvPr/>
      </p:nvGrpSpPr>
      <p:grpSpPr>
        <a:xfrm>
          <a:off x="0" y="0"/>
          <a:ext cx="0" cy="0"/>
          <a:chOff x="0" y="0"/>
          <a:chExt cx="0" cy="0"/>
        </a:xfrm>
      </p:grpSpPr>
      <p:sp>
        <p:nvSpPr>
          <p:cNvPr id="2" name="Shape 0"/>
          <p:cNvSpPr/>
          <p:nvPr/>
        </p:nvSpPr>
        <p:spPr>
          <a:xfrm>
            <a:off x="0" y="0"/>
            <a:ext cx="14630400" cy="1024128"/>
          </a:xfrm>
          <a:prstGeom prst="rect">
            <a:avLst/>
          </a:prstGeom>
          <a:solidFill>
            <a:srgbClr val="0B2E5E"/>
          </a:solidFill>
          <a:ln w="12700">
            <a:solidFill>
              <a:srgbClr val="0B2E5E"/>
            </a:solidFill>
            <a:prstDash val="solid"/>
          </a:ln>
        </p:spPr>
      </p:sp>
      <p:sp>
        <p:nvSpPr>
          <p:cNvPr id="3" name="Text 1"/>
          <p:cNvSpPr txBox="1"/>
          <p:nvPr/>
        </p:nvSpPr>
        <p:spPr>
          <a:xfrm>
            <a:off x="301752" y="137160"/>
            <a:ext cx="11155680" cy="475488"/>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Shared Agent Platform: Technology &amp; Governance</a:t>
            </a:r>
            <a:endParaRPr lang="en-US" sz="3000" dirty="0"/>
          </a:p>
        </p:txBody>
      </p:sp>
      <p:sp>
        <p:nvSpPr>
          <p:cNvPr id="4" name="Text 2"/>
          <p:cNvSpPr txBox="1"/>
          <p:nvPr/>
        </p:nvSpPr>
        <p:spPr>
          <a:xfrm>
            <a:off x="301752" y="612648"/>
            <a:ext cx="11155680" cy="301752"/>
          </a:xfrm>
          <a:prstGeom prst="rect">
            <a:avLst/>
          </a:prstGeom>
          <a:noFill/>
          <a:ln/>
        </p:spPr>
        <p:txBody>
          <a:bodyPr wrap="square" lIns="0" tIns="0" rIns="0" bIns="0" rtlCol="0" anchor="ctr"/>
          <a:lstStyle/>
          <a:p>
            <a:pPr indent="0" marL="0">
              <a:buNone/>
            </a:pPr>
            <a:r>
              <a:rPr lang="en-US" sz="1600" dirty="0">
                <a:solidFill>
                  <a:srgbClr val="DCE9F7"/>
                </a:solidFill>
                <a:latin typeface="Calibri" pitchFamily="34" charset="0"/>
                <a:ea typeface="Calibri" pitchFamily="34" charset="-122"/>
                <a:cs typeface="Calibri" pitchFamily="34" charset="-120"/>
              </a:rPr>
              <a:t>What every use case reuses, and how it stays in control</a:t>
            </a:r>
            <a:endParaRPr lang="en-US" sz="1600" dirty="0"/>
          </a:p>
        </p:txBody>
      </p:sp>
      <p:sp>
        <p:nvSpPr>
          <p:cNvPr id="5" name="Shape 3"/>
          <p:cNvSpPr/>
          <p:nvPr/>
        </p:nvSpPr>
        <p:spPr>
          <a:xfrm>
            <a:off x="11640312" y="192024"/>
            <a:ext cx="0" cy="649224"/>
          </a:xfrm>
          <a:prstGeom prst="line">
            <a:avLst/>
          </a:prstGeom>
          <a:noFill/>
          <a:ln w="12700">
            <a:solidFill>
              <a:srgbClr val="FFFFFF"/>
            </a:solidFill>
            <a:prstDash val="solid"/>
          </a:ln>
        </p:spPr>
      </p:sp>
      <p:sp>
        <p:nvSpPr>
          <p:cNvPr id="6" name="Text 4"/>
          <p:cNvSpPr txBox="1"/>
          <p:nvPr/>
        </p:nvSpPr>
        <p:spPr>
          <a:xfrm>
            <a:off x="11814048" y="265176"/>
            <a:ext cx="2715768"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Solutions Portfolio</a:t>
            </a:r>
            <a:endParaRPr lang="en-US" sz="2200" dirty="0"/>
          </a:p>
        </p:txBody>
      </p:sp>
      <p:sp>
        <p:nvSpPr>
          <p:cNvPr id="7" name="Shape 5"/>
          <p:cNvSpPr/>
          <p:nvPr/>
        </p:nvSpPr>
        <p:spPr>
          <a:xfrm>
            <a:off x="502920" y="1234440"/>
            <a:ext cx="13624560" cy="2240280"/>
          </a:xfrm>
          <a:prstGeom prst="roundRect">
            <a:avLst>
              <a:gd name="adj" fmla="val 2449"/>
            </a:avLst>
          </a:prstGeom>
          <a:solidFill>
            <a:srgbClr val="FFFFFF"/>
          </a:solidFill>
          <a:ln w="9525">
            <a:solidFill>
              <a:srgbClr val="C8D8EC"/>
            </a:solidFill>
            <a:prstDash val="solid"/>
          </a:ln>
        </p:spPr>
      </p:sp>
      <p:sp>
        <p:nvSpPr>
          <p:cNvPr id="8" name="Text 6"/>
          <p:cNvSpPr txBox="1"/>
          <p:nvPr/>
        </p:nvSpPr>
        <p:spPr>
          <a:xfrm>
            <a:off x="685800" y="1325880"/>
            <a:ext cx="4572000" cy="274320"/>
          </a:xfrm>
          <a:prstGeom prst="rect">
            <a:avLst/>
          </a:prstGeom>
          <a:noFill/>
          <a:ln/>
        </p:spPr>
        <p:txBody>
          <a:bodyPr wrap="square" lIns="0" tIns="0" rIns="0" bIns="0" rtlCol="0" anchor="ctr"/>
          <a:lstStyle/>
          <a:p>
            <a:pPr indent="0" marL="0">
              <a:buNone/>
            </a:pPr>
            <a:r>
              <a:rPr lang="en-US" sz="1300" b="1" dirty="0">
                <a:solidFill>
                  <a:srgbClr val="1F2D3D"/>
                </a:solidFill>
                <a:latin typeface="Calibri" pitchFamily="34" charset="0"/>
                <a:ea typeface="Calibri" pitchFamily="34" charset="-122"/>
                <a:cs typeface="Calibri" pitchFamily="34" charset="-120"/>
              </a:rPr>
              <a:t>Technology &amp; Data Flow</a:t>
            </a:r>
            <a:endParaRPr lang="en-US" sz="1300" dirty="0"/>
          </a:p>
        </p:txBody>
      </p:sp>
      <p:sp>
        <p:nvSpPr>
          <p:cNvPr id="9" name="Shape 7"/>
          <p:cNvSpPr/>
          <p:nvPr/>
        </p:nvSpPr>
        <p:spPr>
          <a:xfrm>
            <a:off x="1389888" y="1737360"/>
            <a:ext cx="548640" cy="548640"/>
          </a:xfrm>
          <a:prstGeom prst="roundRect">
            <a:avLst>
              <a:gd name="adj" fmla="val 16667"/>
            </a:avLst>
          </a:prstGeom>
          <a:solidFill>
            <a:srgbClr val="1B4F93"/>
          </a:solidFill>
          <a:ln w="12700">
            <a:solidFill>
              <a:srgbClr val="1B4F93"/>
            </a:solidFill>
            <a:prstDash val="solid"/>
          </a:ln>
        </p:spPr>
      </p:sp>
      <p:pic>
        <p:nvPicPr>
          <p:cNvPr id="10" name="Image 0" descr="preencoded.png">    </p:cNvPr>
          <p:cNvPicPr>
            <a:picLocks noChangeAspect="1"/>
          </p:cNvPicPr>
          <p:nvPr/>
        </p:nvPicPr>
        <p:blipFill>
          <a:blip r:embed="rId1"/>
          <a:stretch>
            <a:fillRect/>
          </a:stretch>
        </p:blipFill>
        <p:spPr>
          <a:xfrm>
            <a:off x="1510589" y="1858061"/>
            <a:ext cx="307238" cy="307238"/>
          </a:xfrm>
          <a:prstGeom prst="rect">
            <a:avLst/>
          </a:prstGeom>
        </p:spPr>
      </p:pic>
      <p:sp>
        <p:nvSpPr>
          <p:cNvPr id="11" name="Text 8"/>
          <p:cNvSpPr txBox="1"/>
          <p:nvPr/>
        </p:nvSpPr>
        <p:spPr>
          <a:xfrm>
            <a:off x="731520" y="2377440"/>
            <a:ext cx="1874520" cy="274320"/>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Source Systems</a:t>
            </a:r>
            <a:endParaRPr lang="en-US" sz="1200" dirty="0"/>
          </a:p>
        </p:txBody>
      </p:sp>
      <p:sp>
        <p:nvSpPr>
          <p:cNvPr id="12" name="Text 9"/>
          <p:cNvSpPr txBox="1"/>
          <p:nvPr/>
        </p:nvSpPr>
        <p:spPr>
          <a:xfrm>
            <a:off x="731520" y="2651760"/>
            <a:ext cx="1874520" cy="457200"/>
          </a:xfrm>
          <a:prstGeom prst="rect">
            <a:avLst/>
          </a:prstGeom>
          <a:noFill/>
          <a:ln/>
        </p:spPr>
        <p:txBody>
          <a:bodyPr wrap="square" lIns="0" tIns="0" rIns="0" bIns="0" rtlCol="0" anchor="t"/>
          <a:lstStyle/>
          <a:p>
            <a:pPr algn="ctr" indent="0" marL="0">
              <a:buNone/>
            </a:pPr>
            <a:r>
              <a:rPr lang="en-US" sz="950" dirty="0">
                <a:solidFill>
                  <a:srgbClr val="4A5A6E"/>
                </a:solidFill>
                <a:latin typeface="Calibri" pitchFamily="34" charset="0"/>
                <a:ea typeface="Calibri" pitchFamily="34" charset="-122"/>
                <a:cs typeface="Calibri" pitchFamily="34" charset="-120"/>
              </a:rPr>
              <a:t>Ledgers, ETB, P&amp;L, recs, ref data</a:t>
            </a:r>
            <a:endParaRPr lang="en-US" sz="950" dirty="0"/>
          </a:p>
        </p:txBody>
      </p:sp>
      <p:sp>
        <p:nvSpPr>
          <p:cNvPr id="13" name="Shape 10"/>
          <p:cNvSpPr/>
          <p:nvPr/>
        </p:nvSpPr>
        <p:spPr>
          <a:xfrm>
            <a:off x="2103120" y="2011680"/>
            <a:ext cx="822960" cy="0"/>
          </a:xfrm>
          <a:prstGeom prst="line">
            <a:avLst/>
          </a:prstGeom>
          <a:noFill/>
          <a:ln w="19050">
            <a:solidFill>
              <a:srgbClr val="6B7C93"/>
            </a:solidFill>
            <a:prstDash val="solid"/>
            <a:tailEnd type="triangle"/>
          </a:ln>
        </p:spPr>
      </p:sp>
      <p:sp>
        <p:nvSpPr>
          <p:cNvPr id="14" name="Shape 11"/>
          <p:cNvSpPr/>
          <p:nvPr/>
        </p:nvSpPr>
        <p:spPr>
          <a:xfrm>
            <a:off x="3630168" y="1737360"/>
            <a:ext cx="548640" cy="548640"/>
          </a:xfrm>
          <a:prstGeom prst="roundRect">
            <a:avLst>
              <a:gd name="adj" fmla="val 16667"/>
            </a:avLst>
          </a:prstGeom>
          <a:solidFill>
            <a:srgbClr val="2A6EBB"/>
          </a:solidFill>
          <a:ln w="12700">
            <a:solidFill>
              <a:srgbClr val="2A6EBB"/>
            </a:solidFill>
            <a:prstDash val="solid"/>
          </a:ln>
        </p:spPr>
      </p:sp>
      <p:pic>
        <p:nvPicPr>
          <p:cNvPr id="15" name="Image 1" descr="preencoded.png">    </p:cNvPr>
          <p:cNvPicPr>
            <a:picLocks noChangeAspect="1"/>
          </p:cNvPicPr>
          <p:nvPr/>
        </p:nvPicPr>
        <p:blipFill>
          <a:blip r:embed="rId2"/>
          <a:stretch>
            <a:fillRect/>
          </a:stretch>
        </p:blipFill>
        <p:spPr>
          <a:xfrm>
            <a:off x="3750869" y="1858061"/>
            <a:ext cx="307238" cy="307238"/>
          </a:xfrm>
          <a:prstGeom prst="rect">
            <a:avLst/>
          </a:prstGeom>
        </p:spPr>
      </p:pic>
      <p:sp>
        <p:nvSpPr>
          <p:cNvPr id="16" name="Text 12"/>
          <p:cNvSpPr txBox="1"/>
          <p:nvPr/>
        </p:nvSpPr>
        <p:spPr>
          <a:xfrm>
            <a:off x="2971800" y="2377440"/>
            <a:ext cx="1874520" cy="274320"/>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One Fin UX</a:t>
            </a:r>
            <a:endParaRPr lang="en-US" sz="1200" dirty="0"/>
          </a:p>
        </p:txBody>
      </p:sp>
      <p:sp>
        <p:nvSpPr>
          <p:cNvPr id="17" name="Text 13"/>
          <p:cNvSpPr txBox="1"/>
          <p:nvPr/>
        </p:nvSpPr>
        <p:spPr>
          <a:xfrm>
            <a:off x="2971800" y="2651760"/>
            <a:ext cx="1874520" cy="457200"/>
          </a:xfrm>
          <a:prstGeom prst="rect">
            <a:avLst/>
          </a:prstGeom>
          <a:noFill/>
          <a:ln/>
        </p:spPr>
        <p:txBody>
          <a:bodyPr wrap="square" lIns="0" tIns="0" rIns="0" bIns="0" rtlCol="0" anchor="t"/>
          <a:lstStyle/>
          <a:p>
            <a:pPr algn="ctr" indent="0" marL="0">
              <a:buNone/>
            </a:pPr>
            <a:r>
              <a:rPr lang="en-US" sz="950" dirty="0">
                <a:solidFill>
                  <a:srgbClr val="4A5A6E"/>
                </a:solidFill>
                <a:latin typeface="Calibri" pitchFamily="34" charset="0"/>
                <a:ea typeface="Calibri" pitchFamily="34" charset="-122"/>
                <a:cs typeface="Calibri" pitchFamily="34" charset="-120"/>
              </a:rPr>
              <a:t>Events and business outcome</a:t>
            </a:r>
            <a:endParaRPr lang="en-US" sz="950" dirty="0"/>
          </a:p>
        </p:txBody>
      </p:sp>
      <p:sp>
        <p:nvSpPr>
          <p:cNvPr id="18" name="Shape 14"/>
          <p:cNvSpPr/>
          <p:nvPr/>
        </p:nvSpPr>
        <p:spPr>
          <a:xfrm>
            <a:off x="4343400" y="2011680"/>
            <a:ext cx="822960" cy="0"/>
          </a:xfrm>
          <a:prstGeom prst="line">
            <a:avLst/>
          </a:prstGeom>
          <a:noFill/>
          <a:ln w="19050">
            <a:solidFill>
              <a:srgbClr val="6B7C93"/>
            </a:solidFill>
            <a:prstDash val="solid"/>
            <a:tailEnd type="triangle"/>
          </a:ln>
        </p:spPr>
      </p:sp>
      <p:sp>
        <p:nvSpPr>
          <p:cNvPr id="19" name="Shape 15"/>
          <p:cNvSpPr/>
          <p:nvPr/>
        </p:nvSpPr>
        <p:spPr>
          <a:xfrm>
            <a:off x="5870448" y="1737360"/>
            <a:ext cx="548640" cy="548640"/>
          </a:xfrm>
          <a:prstGeom prst="roundRect">
            <a:avLst>
              <a:gd name="adj" fmla="val 16667"/>
            </a:avLst>
          </a:prstGeom>
          <a:solidFill>
            <a:srgbClr val="1E8A5A"/>
          </a:solidFill>
          <a:ln w="12700">
            <a:solidFill>
              <a:srgbClr val="1E8A5A"/>
            </a:solidFill>
            <a:prstDash val="solid"/>
          </a:ln>
        </p:spPr>
      </p:sp>
      <p:pic>
        <p:nvPicPr>
          <p:cNvPr id="20" name="Image 2" descr="preencoded.png">    </p:cNvPr>
          <p:cNvPicPr>
            <a:picLocks noChangeAspect="1"/>
          </p:cNvPicPr>
          <p:nvPr/>
        </p:nvPicPr>
        <p:blipFill>
          <a:blip r:embed="rId3"/>
          <a:stretch>
            <a:fillRect/>
          </a:stretch>
        </p:blipFill>
        <p:spPr>
          <a:xfrm>
            <a:off x="5991149" y="1858061"/>
            <a:ext cx="307238" cy="307238"/>
          </a:xfrm>
          <a:prstGeom prst="rect">
            <a:avLst/>
          </a:prstGeom>
        </p:spPr>
      </p:pic>
      <p:sp>
        <p:nvSpPr>
          <p:cNvPr id="21" name="Text 16"/>
          <p:cNvSpPr txBox="1"/>
          <p:nvPr/>
        </p:nvSpPr>
        <p:spPr>
          <a:xfrm>
            <a:off x="5212080" y="2377440"/>
            <a:ext cx="1874520" cy="274320"/>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Solution Agent</a:t>
            </a:r>
            <a:endParaRPr lang="en-US" sz="1200" dirty="0"/>
          </a:p>
        </p:txBody>
      </p:sp>
      <p:sp>
        <p:nvSpPr>
          <p:cNvPr id="22" name="Text 17"/>
          <p:cNvSpPr txBox="1"/>
          <p:nvPr/>
        </p:nvSpPr>
        <p:spPr>
          <a:xfrm>
            <a:off x="5212080" y="2651760"/>
            <a:ext cx="1874520" cy="457200"/>
          </a:xfrm>
          <a:prstGeom prst="rect">
            <a:avLst/>
          </a:prstGeom>
          <a:noFill/>
          <a:ln/>
        </p:spPr>
        <p:txBody>
          <a:bodyPr wrap="square" lIns="0" tIns="0" rIns="0" bIns="0" rtlCol="0" anchor="t"/>
          <a:lstStyle/>
          <a:p>
            <a:pPr algn="ctr" indent="0" marL="0">
              <a:buNone/>
            </a:pPr>
            <a:r>
              <a:rPr lang="en-US" sz="950" dirty="0">
                <a:solidFill>
                  <a:srgbClr val="4A5A6E"/>
                </a:solidFill>
                <a:latin typeface="Calibri" pitchFamily="34" charset="0"/>
                <a:ea typeface="Calibri" pitchFamily="34" charset="-122"/>
                <a:cs typeface="Calibri" pitchFamily="34" charset="-120"/>
              </a:rPr>
              <a:t>Helix, P&amp;L, Controls, Close...</a:t>
            </a:r>
            <a:endParaRPr lang="en-US" sz="950" dirty="0"/>
          </a:p>
        </p:txBody>
      </p:sp>
      <p:sp>
        <p:nvSpPr>
          <p:cNvPr id="23" name="Shape 18"/>
          <p:cNvSpPr/>
          <p:nvPr/>
        </p:nvSpPr>
        <p:spPr>
          <a:xfrm>
            <a:off x="6583680" y="2011680"/>
            <a:ext cx="822960" cy="0"/>
          </a:xfrm>
          <a:prstGeom prst="line">
            <a:avLst/>
          </a:prstGeom>
          <a:noFill/>
          <a:ln w="19050">
            <a:solidFill>
              <a:srgbClr val="6B7C93"/>
            </a:solidFill>
            <a:prstDash val="solid"/>
            <a:tailEnd type="triangle"/>
          </a:ln>
        </p:spPr>
      </p:sp>
      <p:sp>
        <p:nvSpPr>
          <p:cNvPr id="24" name="Shape 19"/>
          <p:cNvSpPr/>
          <p:nvPr/>
        </p:nvSpPr>
        <p:spPr>
          <a:xfrm>
            <a:off x="8110728" y="1737360"/>
            <a:ext cx="548640" cy="548640"/>
          </a:xfrm>
          <a:prstGeom prst="roundRect">
            <a:avLst>
              <a:gd name="adj" fmla="val 16667"/>
            </a:avLst>
          </a:prstGeom>
          <a:solidFill>
            <a:srgbClr val="5B4FA8"/>
          </a:solidFill>
          <a:ln w="12700">
            <a:solidFill>
              <a:srgbClr val="5B4FA8"/>
            </a:solidFill>
            <a:prstDash val="solid"/>
          </a:ln>
        </p:spPr>
      </p:sp>
      <p:pic>
        <p:nvPicPr>
          <p:cNvPr id="25" name="Image 3" descr="preencoded.png">    </p:cNvPr>
          <p:cNvPicPr>
            <a:picLocks noChangeAspect="1"/>
          </p:cNvPicPr>
          <p:nvPr/>
        </p:nvPicPr>
        <p:blipFill>
          <a:blip r:embed="rId4"/>
          <a:stretch>
            <a:fillRect/>
          </a:stretch>
        </p:blipFill>
        <p:spPr>
          <a:xfrm>
            <a:off x="8231429" y="1858061"/>
            <a:ext cx="307238" cy="307238"/>
          </a:xfrm>
          <a:prstGeom prst="rect">
            <a:avLst/>
          </a:prstGeom>
        </p:spPr>
      </p:pic>
      <p:sp>
        <p:nvSpPr>
          <p:cNvPr id="26" name="Text 20"/>
          <p:cNvSpPr txBox="1"/>
          <p:nvPr/>
        </p:nvSpPr>
        <p:spPr>
          <a:xfrm>
            <a:off x="7452360" y="2377440"/>
            <a:ext cx="1874520" cy="274320"/>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Agent One / LLM</a:t>
            </a:r>
            <a:endParaRPr lang="en-US" sz="1200" dirty="0"/>
          </a:p>
        </p:txBody>
      </p:sp>
      <p:sp>
        <p:nvSpPr>
          <p:cNvPr id="27" name="Text 21"/>
          <p:cNvSpPr txBox="1"/>
          <p:nvPr/>
        </p:nvSpPr>
        <p:spPr>
          <a:xfrm>
            <a:off x="7452360" y="2651760"/>
            <a:ext cx="1874520" cy="457200"/>
          </a:xfrm>
          <a:prstGeom prst="rect">
            <a:avLst/>
          </a:prstGeom>
          <a:noFill/>
          <a:ln/>
        </p:spPr>
        <p:txBody>
          <a:bodyPr wrap="square" lIns="0" tIns="0" rIns="0" bIns="0" rtlCol="0" anchor="t"/>
          <a:lstStyle/>
          <a:p>
            <a:pPr algn="ctr" indent="0" marL="0">
              <a:buNone/>
            </a:pPr>
            <a:r>
              <a:rPr lang="en-US" sz="950" dirty="0">
                <a:solidFill>
                  <a:srgbClr val="4A5A6E"/>
                </a:solidFill>
                <a:latin typeface="Calibri" pitchFamily="34" charset="0"/>
                <a:ea typeface="Calibri" pitchFamily="34" charset="-122"/>
                <a:cs typeface="Calibri" pitchFamily="34" charset="-120"/>
              </a:rPr>
              <a:t>Skills, playbooks, sessions</a:t>
            </a:r>
            <a:endParaRPr lang="en-US" sz="950" dirty="0"/>
          </a:p>
        </p:txBody>
      </p:sp>
      <p:sp>
        <p:nvSpPr>
          <p:cNvPr id="28" name="Shape 22"/>
          <p:cNvSpPr/>
          <p:nvPr/>
        </p:nvSpPr>
        <p:spPr>
          <a:xfrm>
            <a:off x="8823960" y="2011680"/>
            <a:ext cx="822960" cy="0"/>
          </a:xfrm>
          <a:prstGeom prst="line">
            <a:avLst/>
          </a:prstGeom>
          <a:noFill/>
          <a:ln w="19050">
            <a:solidFill>
              <a:srgbClr val="6B7C93"/>
            </a:solidFill>
            <a:prstDash val="solid"/>
            <a:tailEnd type="triangle"/>
          </a:ln>
        </p:spPr>
      </p:sp>
      <p:sp>
        <p:nvSpPr>
          <p:cNvPr id="29" name="Shape 23"/>
          <p:cNvSpPr/>
          <p:nvPr/>
        </p:nvSpPr>
        <p:spPr>
          <a:xfrm>
            <a:off x="10351008" y="1737360"/>
            <a:ext cx="548640" cy="548640"/>
          </a:xfrm>
          <a:prstGeom prst="roundRect">
            <a:avLst>
              <a:gd name="adj" fmla="val 16667"/>
            </a:avLst>
          </a:prstGeom>
          <a:solidFill>
            <a:srgbClr val="C0392B"/>
          </a:solidFill>
          <a:ln w="12700">
            <a:solidFill>
              <a:srgbClr val="C0392B"/>
            </a:solidFill>
            <a:prstDash val="solid"/>
          </a:ln>
        </p:spPr>
      </p:sp>
      <p:pic>
        <p:nvPicPr>
          <p:cNvPr id="30" name="Image 4" descr="preencoded.png">    </p:cNvPr>
          <p:cNvPicPr>
            <a:picLocks noChangeAspect="1"/>
          </p:cNvPicPr>
          <p:nvPr/>
        </p:nvPicPr>
        <p:blipFill>
          <a:blip r:embed="rId5"/>
          <a:stretch>
            <a:fillRect/>
          </a:stretch>
        </p:blipFill>
        <p:spPr>
          <a:xfrm>
            <a:off x="10471709" y="1858061"/>
            <a:ext cx="307238" cy="307238"/>
          </a:xfrm>
          <a:prstGeom prst="rect">
            <a:avLst/>
          </a:prstGeom>
        </p:spPr>
      </p:pic>
      <p:sp>
        <p:nvSpPr>
          <p:cNvPr id="31" name="Text 24"/>
          <p:cNvSpPr txBox="1"/>
          <p:nvPr/>
        </p:nvSpPr>
        <p:spPr>
          <a:xfrm>
            <a:off x="9692640" y="2377440"/>
            <a:ext cx="1874520" cy="274320"/>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MCP Services</a:t>
            </a:r>
            <a:endParaRPr lang="en-US" sz="1200" dirty="0"/>
          </a:p>
        </p:txBody>
      </p:sp>
      <p:sp>
        <p:nvSpPr>
          <p:cNvPr id="32" name="Text 25"/>
          <p:cNvSpPr txBox="1"/>
          <p:nvPr/>
        </p:nvSpPr>
        <p:spPr>
          <a:xfrm>
            <a:off x="9692640" y="2651760"/>
            <a:ext cx="1874520" cy="457200"/>
          </a:xfrm>
          <a:prstGeom prst="rect">
            <a:avLst/>
          </a:prstGeom>
          <a:noFill/>
          <a:ln/>
        </p:spPr>
        <p:txBody>
          <a:bodyPr wrap="square" lIns="0" tIns="0" rIns="0" bIns="0" rtlCol="0" anchor="t"/>
          <a:lstStyle/>
          <a:p>
            <a:pPr algn="ctr" indent="0" marL="0">
              <a:buNone/>
            </a:pPr>
            <a:r>
              <a:rPr lang="en-US" sz="950" dirty="0">
                <a:solidFill>
                  <a:srgbClr val="4A5A6E"/>
                </a:solidFill>
                <a:latin typeface="Calibri" pitchFamily="34" charset="0"/>
                <a:ea typeface="Calibri" pitchFamily="34" charset="-122"/>
                <a:cs typeface="Calibri" pitchFamily="34" charset="-120"/>
              </a:rPr>
              <a:t>Entitled fetch and posting</a:t>
            </a:r>
            <a:endParaRPr lang="en-US" sz="950" dirty="0"/>
          </a:p>
        </p:txBody>
      </p:sp>
      <p:sp>
        <p:nvSpPr>
          <p:cNvPr id="33" name="Shape 26"/>
          <p:cNvSpPr/>
          <p:nvPr/>
        </p:nvSpPr>
        <p:spPr>
          <a:xfrm>
            <a:off x="11064240" y="2011680"/>
            <a:ext cx="822960" cy="0"/>
          </a:xfrm>
          <a:prstGeom prst="line">
            <a:avLst/>
          </a:prstGeom>
          <a:noFill/>
          <a:ln w="19050">
            <a:solidFill>
              <a:srgbClr val="6B7C93"/>
            </a:solidFill>
            <a:prstDash val="solid"/>
            <a:tailEnd type="triangle"/>
          </a:ln>
        </p:spPr>
      </p:sp>
      <p:sp>
        <p:nvSpPr>
          <p:cNvPr id="34" name="Shape 27"/>
          <p:cNvSpPr/>
          <p:nvPr/>
        </p:nvSpPr>
        <p:spPr>
          <a:xfrm>
            <a:off x="12591288" y="1737360"/>
            <a:ext cx="548640" cy="548640"/>
          </a:xfrm>
          <a:prstGeom prst="roundRect">
            <a:avLst>
              <a:gd name="adj" fmla="val 16667"/>
            </a:avLst>
          </a:prstGeom>
          <a:solidFill>
            <a:srgbClr val="0B2E5E"/>
          </a:solidFill>
          <a:ln w="12700">
            <a:solidFill>
              <a:srgbClr val="0B2E5E"/>
            </a:solidFill>
            <a:prstDash val="solid"/>
          </a:ln>
        </p:spPr>
      </p:sp>
      <p:pic>
        <p:nvPicPr>
          <p:cNvPr id="35" name="Image 5" descr="preencoded.png">    </p:cNvPr>
          <p:cNvPicPr>
            <a:picLocks noChangeAspect="1"/>
          </p:cNvPicPr>
          <p:nvPr/>
        </p:nvPicPr>
        <p:blipFill>
          <a:blip r:embed="rId6"/>
          <a:stretch>
            <a:fillRect/>
          </a:stretch>
        </p:blipFill>
        <p:spPr>
          <a:xfrm>
            <a:off x="12711989" y="1858061"/>
            <a:ext cx="307238" cy="307238"/>
          </a:xfrm>
          <a:prstGeom prst="rect">
            <a:avLst/>
          </a:prstGeom>
        </p:spPr>
      </p:pic>
      <p:sp>
        <p:nvSpPr>
          <p:cNvPr id="36" name="Text 28"/>
          <p:cNvSpPr txBox="1"/>
          <p:nvPr/>
        </p:nvSpPr>
        <p:spPr>
          <a:xfrm>
            <a:off x="11932920" y="2377440"/>
            <a:ext cx="1874520" cy="274320"/>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Phoenix Eyes</a:t>
            </a:r>
            <a:endParaRPr lang="en-US" sz="1200" dirty="0"/>
          </a:p>
        </p:txBody>
      </p:sp>
      <p:sp>
        <p:nvSpPr>
          <p:cNvPr id="37" name="Text 29"/>
          <p:cNvSpPr txBox="1"/>
          <p:nvPr/>
        </p:nvSpPr>
        <p:spPr>
          <a:xfrm>
            <a:off x="11932920" y="2651760"/>
            <a:ext cx="1874520" cy="457200"/>
          </a:xfrm>
          <a:prstGeom prst="rect">
            <a:avLst/>
          </a:prstGeom>
          <a:noFill/>
          <a:ln/>
        </p:spPr>
        <p:txBody>
          <a:bodyPr wrap="square" lIns="0" tIns="0" rIns="0" bIns="0" rtlCol="0" anchor="t"/>
          <a:lstStyle/>
          <a:p>
            <a:pPr algn="ctr" indent="0" marL="0">
              <a:buNone/>
            </a:pPr>
            <a:r>
              <a:rPr lang="en-US" sz="950" dirty="0">
                <a:solidFill>
                  <a:srgbClr val="4A5A6E"/>
                </a:solidFill>
                <a:latin typeface="Calibri" pitchFamily="34" charset="0"/>
                <a:ea typeface="Calibri" pitchFamily="34" charset="-122"/>
                <a:cs typeface="Calibri" pitchFamily="34" charset="-120"/>
              </a:rPr>
              <a:t>AI observability and evals</a:t>
            </a:r>
            <a:endParaRPr lang="en-US" sz="950" dirty="0"/>
          </a:p>
        </p:txBody>
      </p:sp>
      <p:sp>
        <p:nvSpPr>
          <p:cNvPr id="38" name="Shape 30"/>
          <p:cNvSpPr/>
          <p:nvPr/>
        </p:nvSpPr>
        <p:spPr>
          <a:xfrm>
            <a:off x="502920" y="3749040"/>
            <a:ext cx="3227832" cy="2743200"/>
          </a:xfrm>
          <a:prstGeom prst="roundRect">
            <a:avLst>
              <a:gd name="adj" fmla="val 2667"/>
            </a:avLst>
          </a:prstGeom>
          <a:solidFill>
            <a:srgbClr val="FFFFFF"/>
          </a:solidFill>
          <a:ln w="9525">
            <a:solidFill>
              <a:srgbClr val="C8D8EC"/>
            </a:solidFill>
            <a:prstDash val="solid"/>
          </a:ln>
        </p:spPr>
      </p:sp>
      <p:sp>
        <p:nvSpPr>
          <p:cNvPr id="39" name="Shape 31"/>
          <p:cNvSpPr/>
          <p:nvPr/>
        </p:nvSpPr>
        <p:spPr>
          <a:xfrm>
            <a:off x="685800" y="3913632"/>
            <a:ext cx="457200" cy="457200"/>
          </a:xfrm>
          <a:prstGeom prst="ellipse">
            <a:avLst/>
          </a:prstGeom>
          <a:solidFill>
            <a:srgbClr val="1E8A5A"/>
          </a:solidFill>
          <a:ln w="12700">
            <a:solidFill>
              <a:srgbClr val="1E8A5A"/>
            </a:solidFill>
            <a:prstDash val="solid"/>
          </a:ln>
        </p:spPr>
      </p:sp>
      <p:pic>
        <p:nvPicPr>
          <p:cNvPr id="40" name="Image 6" descr="preencoded.png">    </p:cNvPr>
          <p:cNvPicPr>
            <a:picLocks noChangeAspect="1"/>
          </p:cNvPicPr>
          <p:nvPr/>
        </p:nvPicPr>
        <p:blipFill>
          <a:blip r:embed="rId7"/>
          <a:stretch>
            <a:fillRect/>
          </a:stretch>
        </p:blipFill>
        <p:spPr>
          <a:xfrm>
            <a:off x="804672" y="4032504"/>
            <a:ext cx="219456" cy="219456"/>
          </a:xfrm>
          <a:prstGeom prst="rect">
            <a:avLst/>
          </a:prstGeom>
        </p:spPr>
      </p:pic>
      <p:sp>
        <p:nvSpPr>
          <p:cNvPr id="41" name="Text 32"/>
          <p:cNvSpPr txBox="1"/>
          <p:nvPr/>
        </p:nvSpPr>
        <p:spPr>
          <a:xfrm>
            <a:off x="1252728" y="3913632"/>
            <a:ext cx="2377440" cy="457200"/>
          </a:xfrm>
          <a:prstGeom prst="rect">
            <a:avLst/>
          </a:prstGeom>
          <a:noFill/>
          <a:ln/>
        </p:spPr>
        <p:txBody>
          <a:bodyPr wrap="square" lIns="0" tIns="0" rIns="0" bIns="0" rtlCol="0" anchor="ctr"/>
          <a:lstStyle/>
          <a:p>
            <a:pPr indent="0" marL="0">
              <a:buNone/>
            </a:pPr>
            <a:r>
              <a:rPr lang="en-US" sz="1400" b="1" dirty="0">
                <a:solidFill>
                  <a:srgbClr val="1F2D3D"/>
                </a:solidFill>
                <a:latin typeface="Calibri" pitchFamily="34" charset="0"/>
                <a:ea typeface="Calibri" pitchFamily="34" charset="-122"/>
                <a:cs typeface="Calibri" pitchFamily="34" charset="-120"/>
              </a:rPr>
              <a:t>Business Value</a:t>
            </a:r>
            <a:endParaRPr lang="en-US" sz="1400" dirty="0"/>
          </a:p>
        </p:txBody>
      </p:sp>
      <p:sp>
        <p:nvSpPr>
          <p:cNvPr id="42" name="Text 33"/>
          <p:cNvSpPr txBox="1"/>
          <p:nvPr/>
        </p:nvSpPr>
        <p:spPr>
          <a:xfrm>
            <a:off x="731520" y="4553712"/>
            <a:ext cx="2834640" cy="1783080"/>
          </a:xfrm>
          <a:prstGeom prst="rect">
            <a:avLst/>
          </a:prstGeom>
          <a:noFill/>
          <a:ln/>
        </p:spPr>
        <p:txBody>
          <a:bodyPr wrap="square" lIns="0" tIns="0" rIns="0" bIns="0" rtlCol="0" anchor="t"/>
          <a:lstStyle/>
          <a:p>
            <a:pPr marL="342900" indent="-342900">
              <a:spcAft>
                <a:spcPts val="1200"/>
              </a:spcAft>
              <a:buSzPct val="100000"/>
              <a:buChar char="•"/>
            </a:pPr>
            <a:r>
              <a:rPr lang="en-US" sz="1300" dirty="0">
                <a:solidFill>
                  <a:srgbClr val="4A5A6E"/>
                </a:solidFill>
                <a:latin typeface="Calibri" pitchFamily="34" charset="0"/>
                <a:ea typeface="Calibri" pitchFamily="34" charset="-122"/>
                <a:cs typeface="Calibri" pitchFamily="34" charset="-120"/>
              </a:rPr>
              <a:t>Work ready before the day starts</a:t>
            </a:r>
            <a:endParaRPr lang="en-US" sz="1300" dirty="0"/>
          </a:p>
          <a:p>
            <a:pPr marL="342900" indent="-342900">
              <a:spcAft>
                <a:spcPts val="1200"/>
              </a:spcAft>
              <a:buSzPct val="100000"/>
              <a:buChar char="•"/>
            </a:pPr>
            <a:r>
              <a:rPr lang="en-US" sz="1300" dirty="0">
                <a:solidFill>
                  <a:srgbClr val="4A5A6E"/>
                </a:solidFill>
                <a:latin typeface="Calibri" pitchFamily="34" charset="0"/>
                <a:ea typeface="Calibri" pitchFamily="34" charset="-122"/>
                <a:cs typeface="Calibri" pitchFamily="34" charset="-120"/>
              </a:rPr>
              <a:t>Less manual investigation</a:t>
            </a:r>
            <a:endParaRPr lang="en-US" sz="1300" dirty="0"/>
          </a:p>
          <a:p>
            <a:pPr marL="342900" indent="-342900">
              <a:spcAft>
                <a:spcPts val="1200"/>
              </a:spcAft>
              <a:buSzPct val="100000"/>
              <a:buChar char="•"/>
            </a:pPr>
            <a:r>
              <a:rPr lang="en-US" sz="1300" dirty="0">
                <a:solidFill>
                  <a:srgbClr val="4A5A6E"/>
                </a:solidFill>
                <a:latin typeface="Calibri" pitchFamily="34" charset="0"/>
                <a:ea typeface="Calibri" pitchFamily="34" charset="-122"/>
                <a:cs typeface="Calibri" pitchFamily="34" charset="-120"/>
              </a:rPr>
              <a:t>Consistent, explained outcomes</a:t>
            </a:r>
            <a:endParaRPr lang="en-US" sz="1300" dirty="0"/>
          </a:p>
          <a:p>
            <a:pPr marL="342900" indent="-342900">
              <a:spcAft>
                <a:spcPts val="1200"/>
              </a:spcAft>
              <a:buSzPct val="100000"/>
              <a:buChar char="•"/>
            </a:pPr>
            <a:r>
              <a:rPr lang="en-US" sz="1300" dirty="0">
                <a:solidFill>
                  <a:srgbClr val="4A5A6E"/>
                </a:solidFill>
                <a:latin typeface="Calibri" pitchFamily="34" charset="0"/>
                <a:ea typeface="Calibri" pitchFamily="34" charset="-122"/>
                <a:cs typeface="Calibri" pitchFamily="34" charset="-120"/>
              </a:rPr>
              <a:t>Capacity released across streams</a:t>
            </a:r>
            <a:endParaRPr lang="en-US" sz="1300" dirty="0"/>
          </a:p>
        </p:txBody>
      </p:sp>
      <p:sp>
        <p:nvSpPr>
          <p:cNvPr id="43" name="Shape 34"/>
          <p:cNvSpPr/>
          <p:nvPr/>
        </p:nvSpPr>
        <p:spPr>
          <a:xfrm>
            <a:off x="3941064" y="3749040"/>
            <a:ext cx="3227832" cy="2743200"/>
          </a:xfrm>
          <a:prstGeom prst="roundRect">
            <a:avLst>
              <a:gd name="adj" fmla="val 2667"/>
            </a:avLst>
          </a:prstGeom>
          <a:solidFill>
            <a:srgbClr val="FFFFFF"/>
          </a:solidFill>
          <a:ln w="9525">
            <a:solidFill>
              <a:srgbClr val="C8D8EC"/>
            </a:solidFill>
            <a:prstDash val="solid"/>
          </a:ln>
        </p:spPr>
      </p:sp>
      <p:sp>
        <p:nvSpPr>
          <p:cNvPr id="44" name="Shape 35"/>
          <p:cNvSpPr/>
          <p:nvPr/>
        </p:nvSpPr>
        <p:spPr>
          <a:xfrm>
            <a:off x="4123944" y="3913632"/>
            <a:ext cx="457200" cy="457200"/>
          </a:xfrm>
          <a:prstGeom prst="ellipse">
            <a:avLst/>
          </a:prstGeom>
          <a:solidFill>
            <a:srgbClr val="2A6EBB"/>
          </a:solidFill>
          <a:ln w="12700">
            <a:solidFill>
              <a:srgbClr val="2A6EBB"/>
            </a:solidFill>
            <a:prstDash val="solid"/>
          </a:ln>
        </p:spPr>
      </p:sp>
      <p:pic>
        <p:nvPicPr>
          <p:cNvPr id="45" name="Image 7" descr="preencoded.png">    </p:cNvPr>
          <p:cNvPicPr>
            <a:picLocks noChangeAspect="1"/>
          </p:cNvPicPr>
          <p:nvPr/>
        </p:nvPicPr>
        <p:blipFill>
          <a:blip r:embed="rId8"/>
          <a:stretch>
            <a:fillRect/>
          </a:stretch>
        </p:blipFill>
        <p:spPr>
          <a:xfrm>
            <a:off x="4242816" y="4032504"/>
            <a:ext cx="219456" cy="219456"/>
          </a:xfrm>
          <a:prstGeom prst="rect">
            <a:avLst/>
          </a:prstGeom>
        </p:spPr>
      </p:pic>
      <p:sp>
        <p:nvSpPr>
          <p:cNvPr id="46" name="Text 36"/>
          <p:cNvSpPr txBox="1"/>
          <p:nvPr/>
        </p:nvSpPr>
        <p:spPr>
          <a:xfrm>
            <a:off x="4690872" y="3913632"/>
            <a:ext cx="2377440" cy="457200"/>
          </a:xfrm>
          <a:prstGeom prst="rect">
            <a:avLst/>
          </a:prstGeom>
          <a:noFill/>
          <a:ln/>
        </p:spPr>
        <p:txBody>
          <a:bodyPr wrap="square" lIns="0" tIns="0" rIns="0" bIns="0" rtlCol="0" anchor="ctr"/>
          <a:lstStyle/>
          <a:p>
            <a:pPr indent="0" marL="0">
              <a:buNone/>
            </a:pPr>
            <a:r>
              <a:rPr lang="en-US" sz="1400" b="1" dirty="0">
                <a:solidFill>
                  <a:srgbClr val="1F2D3D"/>
                </a:solidFill>
                <a:latin typeface="Calibri" pitchFamily="34" charset="0"/>
                <a:ea typeface="Calibri" pitchFamily="34" charset="-122"/>
                <a:cs typeface="Calibri" pitchFamily="34" charset="-120"/>
              </a:rPr>
              <a:t>Key Capabilities</a:t>
            </a:r>
            <a:endParaRPr lang="en-US" sz="1400" dirty="0"/>
          </a:p>
        </p:txBody>
      </p:sp>
      <p:sp>
        <p:nvSpPr>
          <p:cNvPr id="47" name="Text 37"/>
          <p:cNvSpPr txBox="1"/>
          <p:nvPr/>
        </p:nvSpPr>
        <p:spPr>
          <a:xfrm>
            <a:off x="4169664" y="4553712"/>
            <a:ext cx="2834640" cy="1783080"/>
          </a:xfrm>
          <a:prstGeom prst="rect">
            <a:avLst/>
          </a:prstGeom>
          <a:noFill/>
          <a:ln/>
        </p:spPr>
        <p:txBody>
          <a:bodyPr wrap="square" lIns="0" tIns="0" rIns="0" bIns="0" rtlCol="0" anchor="t"/>
          <a:lstStyle/>
          <a:p>
            <a:pPr marL="342900" indent="-342900">
              <a:spcAft>
                <a:spcPts val="1200"/>
              </a:spcAft>
              <a:buSzPct val="100000"/>
              <a:buChar char="•"/>
            </a:pPr>
            <a:r>
              <a:rPr lang="en-US" sz="1300" dirty="0">
                <a:solidFill>
                  <a:srgbClr val="4A5A6E"/>
                </a:solidFill>
                <a:latin typeface="Calibri" pitchFamily="34" charset="0"/>
                <a:ea typeface="Calibri" pitchFamily="34" charset="-122"/>
                <a:cs typeface="Calibri" pitchFamily="34" charset="-120"/>
              </a:rPr>
              <a:t>Agent One skills and sessions</a:t>
            </a:r>
            <a:endParaRPr lang="en-US" sz="1300" dirty="0"/>
          </a:p>
          <a:p>
            <a:pPr marL="342900" indent="-342900">
              <a:spcAft>
                <a:spcPts val="1200"/>
              </a:spcAft>
              <a:buSzPct val="100000"/>
              <a:buChar char="•"/>
            </a:pPr>
            <a:r>
              <a:rPr lang="en-US" sz="1300" dirty="0">
                <a:solidFill>
                  <a:srgbClr val="4A5A6E"/>
                </a:solidFill>
                <a:latin typeface="Calibri" pitchFamily="34" charset="0"/>
                <a:ea typeface="Calibri" pitchFamily="34" charset="-122"/>
                <a:cs typeface="Calibri" pitchFamily="34" charset="-120"/>
              </a:rPr>
              <a:t>LangGraph orchestration, HITL</a:t>
            </a:r>
            <a:endParaRPr lang="en-US" sz="1300" dirty="0"/>
          </a:p>
          <a:p>
            <a:pPr marL="342900" indent="-342900">
              <a:spcAft>
                <a:spcPts val="1200"/>
              </a:spcAft>
              <a:buSzPct val="100000"/>
              <a:buChar char="•"/>
            </a:pPr>
            <a:r>
              <a:rPr lang="en-US" sz="1300" dirty="0">
                <a:solidFill>
                  <a:srgbClr val="4A5A6E"/>
                </a:solidFill>
                <a:latin typeface="Calibri" pitchFamily="34" charset="0"/>
                <a:ea typeface="Calibri" pitchFamily="34" charset="-122"/>
                <a:cs typeface="Calibri" pitchFamily="34" charset="-120"/>
              </a:rPr>
              <a:t>MCP tools with entitlements</a:t>
            </a:r>
            <a:endParaRPr lang="en-US" sz="1300" dirty="0"/>
          </a:p>
          <a:p>
            <a:pPr marL="342900" indent="-342900">
              <a:spcAft>
                <a:spcPts val="1200"/>
              </a:spcAft>
              <a:buSzPct val="100000"/>
              <a:buChar char="•"/>
            </a:pPr>
            <a:r>
              <a:rPr lang="en-US" sz="1300" dirty="0">
                <a:solidFill>
                  <a:srgbClr val="4A5A6E"/>
                </a:solidFill>
                <a:latin typeface="Calibri" pitchFamily="34" charset="0"/>
                <a:ea typeface="Calibri" pitchFamily="34" charset="-122"/>
                <a:cs typeface="Calibri" pitchFamily="34" charset="-120"/>
              </a:rPr>
              <a:t>Bitemporal knowledge graph</a:t>
            </a:r>
            <a:endParaRPr lang="en-US" sz="1300" dirty="0"/>
          </a:p>
        </p:txBody>
      </p:sp>
      <p:sp>
        <p:nvSpPr>
          <p:cNvPr id="48" name="Shape 38"/>
          <p:cNvSpPr/>
          <p:nvPr/>
        </p:nvSpPr>
        <p:spPr>
          <a:xfrm>
            <a:off x="7379208" y="3749040"/>
            <a:ext cx="3227832" cy="2743200"/>
          </a:xfrm>
          <a:prstGeom prst="roundRect">
            <a:avLst>
              <a:gd name="adj" fmla="val 2667"/>
            </a:avLst>
          </a:prstGeom>
          <a:solidFill>
            <a:srgbClr val="FFFFFF"/>
          </a:solidFill>
          <a:ln w="9525">
            <a:solidFill>
              <a:srgbClr val="C8D8EC"/>
            </a:solidFill>
            <a:prstDash val="solid"/>
          </a:ln>
        </p:spPr>
      </p:sp>
      <p:sp>
        <p:nvSpPr>
          <p:cNvPr id="49" name="Shape 39"/>
          <p:cNvSpPr/>
          <p:nvPr/>
        </p:nvSpPr>
        <p:spPr>
          <a:xfrm>
            <a:off x="7562088" y="3913632"/>
            <a:ext cx="457200" cy="457200"/>
          </a:xfrm>
          <a:prstGeom prst="ellipse">
            <a:avLst/>
          </a:prstGeom>
          <a:solidFill>
            <a:srgbClr val="5B4FA8"/>
          </a:solidFill>
          <a:ln w="12700">
            <a:solidFill>
              <a:srgbClr val="5B4FA8"/>
            </a:solidFill>
            <a:prstDash val="solid"/>
          </a:ln>
        </p:spPr>
      </p:sp>
      <p:pic>
        <p:nvPicPr>
          <p:cNvPr id="50" name="Image 8" descr="preencoded.png">    </p:cNvPr>
          <p:cNvPicPr>
            <a:picLocks noChangeAspect="1"/>
          </p:cNvPicPr>
          <p:nvPr/>
        </p:nvPicPr>
        <p:blipFill>
          <a:blip r:embed="rId9"/>
          <a:stretch>
            <a:fillRect/>
          </a:stretch>
        </p:blipFill>
        <p:spPr>
          <a:xfrm>
            <a:off x="7680960" y="4032504"/>
            <a:ext cx="219456" cy="219456"/>
          </a:xfrm>
          <a:prstGeom prst="rect">
            <a:avLst/>
          </a:prstGeom>
        </p:spPr>
      </p:pic>
      <p:sp>
        <p:nvSpPr>
          <p:cNvPr id="51" name="Text 40"/>
          <p:cNvSpPr txBox="1"/>
          <p:nvPr/>
        </p:nvSpPr>
        <p:spPr>
          <a:xfrm>
            <a:off x="8129016" y="3913632"/>
            <a:ext cx="2377440" cy="457200"/>
          </a:xfrm>
          <a:prstGeom prst="rect">
            <a:avLst/>
          </a:prstGeom>
          <a:noFill/>
          <a:ln/>
        </p:spPr>
        <p:txBody>
          <a:bodyPr wrap="square" lIns="0" tIns="0" rIns="0" bIns="0" rtlCol="0" anchor="ctr"/>
          <a:lstStyle/>
          <a:p>
            <a:pPr indent="0" marL="0">
              <a:buNone/>
            </a:pPr>
            <a:r>
              <a:rPr lang="en-US" sz="1400" b="1" dirty="0">
                <a:solidFill>
                  <a:srgbClr val="1F2D3D"/>
                </a:solidFill>
                <a:latin typeface="Calibri" pitchFamily="34" charset="0"/>
                <a:ea typeface="Calibri" pitchFamily="34" charset="-122"/>
                <a:cs typeface="Calibri" pitchFamily="34" charset="-120"/>
              </a:rPr>
              <a:t>Governance &amp; Risk</a:t>
            </a:r>
            <a:endParaRPr lang="en-US" sz="1400" dirty="0"/>
          </a:p>
        </p:txBody>
      </p:sp>
      <p:sp>
        <p:nvSpPr>
          <p:cNvPr id="52" name="Text 41"/>
          <p:cNvSpPr txBox="1"/>
          <p:nvPr/>
        </p:nvSpPr>
        <p:spPr>
          <a:xfrm>
            <a:off x="7607808" y="4553712"/>
            <a:ext cx="2834640" cy="1783080"/>
          </a:xfrm>
          <a:prstGeom prst="rect">
            <a:avLst/>
          </a:prstGeom>
          <a:noFill/>
          <a:ln/>
        </p:spPr>
        <p:txBody>
          <a:bodyPr wrap="square" lIns="0" tIns="0" rIns="0" bIns="0" rtlCol="0" anchor="t"/>
          <a:lstStyle/>
          <a:p>
            <a:pPr marL="342900" indent="-342900">
              <a:spcAft>
                <a:spcPts val="1200"/>
              </a:spcAft>
              <a:buSzPct val="100000"/>
              <a:buChar char="•"/>
            </a:pPr>
            <a:r>
              <a:rPr lang="en-US" sz="1300" dirty="0">
                <a:solidFill>
                  <a:srgbClr val="4A5A6E"/>
                </a:solidFill>
                <a:latin typeface="Calibri" pitchFamily="34" charset="0"/>
                <a:ea typeface="Calibri" pitchFamily="34" charset="-122"/>
                <a:cs typeface="Calibri" pitchFamily="34" charset="-120"/>
              </a:rPr>
              <a:t>Named owner approves every action</a:t>
            </a:r>
            <a:endParaRPr lang="en-US" sz="1300" dirty="0"/>
          </a:p>
          <a:p>
            <a:pPr marL="342900" indent="-342900">
              <a:spcAft>
                <a:spcPts val="1200"/>
              </a:spcAft>
              <a:buSzPct val="100000"/>
              <a:buChar char="•"/>
            </a:pPr>
            <a:r>
              <a:rPr lang="en-US" sz="1300" dirty="0">
                <a:solidFill>
                  <a:srgbClr val="4A5A6E"/>
                </a:solidFill>
                <a:latin typeface="Calibri" pitchFamily="34" charset="0"/>
                <a:ea typeface="Calibri" pitchFamily="34" charset="-122"/>
                <a:cs typeface="Calibri" pitchFamily="34" charset="-120"/>
              </a:rPr>
              <a:t>Numbers from code, not the LLM</a:t>
            </a:r>
            <a:endParaRPr lang="en-US" sz="1300" dirty="0"/>
          </a:p>
          <a:p>
            <a:pPr marL="342900" indent="-342900">
              <a:spcAft>
                <a:spcPts val="1200"/>
              </a:spcAft>
              <a:buSzPct val="100000"/>
              <a:buChar char="•"/>
            </a:pPr>
            <a:r>
              <a:rPr lang="en-US" sz="1300" dirty="0">
                <a:solidFill>
                  <a:srgbClr val="4A5A6E"/>
                </a:solidFill>
                <a:latin typeface="Calibri" pitchFamily="34" charset="0"/>
                <a:ea typeface="Calibri" pitchFamily="34" charset="-122"/>
                <a:cs typeface="Calibri" pitchFamily="34" charset="-120"/>
              </a:rPr>
              <a:t>AI traced in Phoenix</a:t>
            </a:r>
            <a:endParaRPr lang="en-US" sz="1300" dirty="0"/>
          </a:p>
          <a:p>
            <a:pPr marL="342900" indent="-342900">
              <a:spcAft>
                <a:spcPts val="1200"/>
              </a:spcAft>
              <a:buSzPct val="100000"/>
              <a:buChar char="•"/>
            </a:pPr>
            <a:r>
              <a:rPr lang="en-US" sz="1300" dirty="0">
                <a:solidFill>
                  <a:srgbClr val="4A5A6E"/>
                </a:solidFill>
                <a:latin typeface="Calibri" pitchFamily="34" charset="0"/>
                <a:ea typeface="Calibri" pitchFamily="34" charset="-122"/>
                <a:cs typeface="Calibri" pitchFamily="34" charset="-120"/>
              </a:rPr>
              <a:t>Existing app audit unchanged</a:t>
            </a:r>
            <a:endParaRPr lang="en-US" sz="1300" dirty="0"/>
          </a:p>
        </p:txBody>
      </p:sp>
      <p:sp>
        <p:nvSpPr>
          <p:cNvPr id="53" name="Shape 42"/>
          <p:cNvSpPr/>
          <p:nvPr/>
        </p:nvSpPr>
        <p:spPr>
          <a:xfrm>
            <a:off x="10817352" y="3749040"/>
            <a:ext cx="3227832" cy="2743200"/>
          </a:xfrm>
          <a:prstGeom prst="roundRect">
            <a:avLst>
              <a:gd name="adj" fmla="val 2667"/>
            </a:avLst>
          </a:prstGeom>
          <a:solidFill>
            <a:srgbClr val="FFFFFF"/>
          </a:solidFill>
          <a:ln w="9525">
            <a:solidFill>
              <a:srgbClr val="C8D8EC"/>
            </a:solidFill>
            <a:prstDash val="solid"/>
          </a:ln>
        </p:spPr>
      </p:sp>
      <p:sp>
        <p:nvSpPr>
          <p:cNvPr id="54" name="Shape 43"/>
          <p:cNvSpPr/>
          <p:nvPr/>
        </p:nvSpPr>
        <p:spPr>
          <a:xfrm>
            <a:off x="11000232" y="3913632"/>
            <a:ext cx="457200" cy="457200"/>
          </a:xfrm>
          <a:prstGeom prst="ellipse">
            <a:avLst/>
          </a:prstGeom>
          <a:solidFill>
            <a:srgbClr val="1F4E8C"/>
          </a:solidFill>
          <a:ln w="12700">
            <a:solidFill>
              <a:srgbClr val="1F4E8C"/>
            </a:solidFill>
            <a:prstDash val="solid"/>
          </a:ln>
        </p:spPr>
      </p:sp>
      <p:pic>
        <p:nvPicPr>
          <p:cNvPr id="55" name="Image 9" descr="preencoded.png">    </p:cNvPr>
          <p:cNvPicPr>
            <a:picLocks noChangeAspect="1"/>
          </p:cNvPicPr>
          <p:nvPr/>
        </p:nvPicPr>
        <p:blipFill>
          <a:blip r:embed="rId10"/>
          <a:stretch>
            <a:fillRect/>
          </a:stretch>
        </p:blipFill>
        <p:spPr>
          <a:xfrm>
            <a:off x="11119104" y="4032504"/>
            <a:ext cx="219456" cy="219456"/>
          </a:xfrm>
          <a:prstGeom prst="rect">
            <a:avLst/>
          </a:prstGeom>
        </p:spPr>
      </p:pic>
      <p:sp>
        <p:nvSpPr>
          <p:cNvPr id="56" name="Text 44"/>
          <p:cNvSpPr txBox="1"/>
          <p:nvPr/>
        </p:nvSpPr>
        <p:spPr>
          <a:xfrm>
            <a:off x="11567160" y="3913632"/>
            <a:ext cx="2377440" cy="457200"/>
          </a:xfrm>
          <a:prstGeom prst="rect">
            <a:avLst/>
          </a:prstGeom>
          <a:noFill/>
          <a:ln/>
        </p:spPr>
        <p:txBody>
          <a:bodyPr wrap="square" lIns="0" tIns="0" rIns="0" bIns="0" rtlCol="0" anchor="ctr"/>
          <a:lstStyle/>
          <a:p>
            <a:pPr indent="0" marL="0">
              <a:buNone/>
            </a:pPr>
            <a:r>
              <a:rPr lang="en-US" sz="1400" b="1" dirty="0">
                <a:solidFill>
                  <a:srgbClr val="1F2D3D"/>
                </a:solidFill>
                <a:latin typeface="Calibri" pitchFamily="34" charset="0"/>
                <a:ea typeface="Calibri" pitchFamily="34" charset="-122"/>
                <a:cs typeface="Calibri" pitchFamily="34" charset="-120"/>
              </a:rPr>
              <a:t>Continuous Improvement</a:t>
            </a:r>
            <a:endParaRPr lang="en-US" sz="1400" dirty="0"/>
          </a:p>
        </p:txBody>
      </p:sp>
      <p:sp>
        <p:nvSpPr>
          <p:cNvPr id="57" name="Text 45"/>
          <p:cNvSpPr txBox="1"/>
          <p:nvPr/>
        </p:nvSpPr>
        <p:spPr>
          <a:xfrm>
            <a:off x="11045952" y="4553712"/>
            <a:ext cx="2834640" cy="1783080"/>
          </a:xfrm>
          <a:prstGeom prst="rect">
            <a:avLst/>
          </a:prstGeom>
          <a:noFill/>
          <a:ln/>
        </p:spPr>
        <p:txBody>
          <a:bodyPr wrap="square" lIns="0" tIns="0" rIns="0" bIns="0" rtlCol="0" anchor="t"/>
          <a:lstStyle/>
          <a:p>
            <a:pPr marL="342900" indent="-342900">
              <a:spcAft>
                <a:spcPts val="1200"/>
              </a:spcAft>
              <a:buSzPct val="100000"/>
              <a:buChar char="•"/>
            </a:pPr>
            <a:r>
              <a:rPr lang="en-US" sz="1300" dirty="0">
                <a:solidFill>
                  <a:srgbClr val="4A5A6E"/>
                </a:solidFill>
                <a:latin typeface="Calibri" pitchFamily="34" charset="0"/>
                <a:ea typeface="Calibri" pitchFamily="34" charset="-122"/>
                <a:cs typeface="Calibri" pitchFamily="34" charset="-120"/>
              </a:rPr>
              <a:t>Eval gates before each release</a:t>
            </a:r>
            <a:endParaRPr lang="en-US" sz="1300" dirty="0"/>
          </a:p>
          <a:p>
            <a:pPr marL="342900" indent="-342900">
              <a:spcAft>
                <a:spcPts val="1200"/>
              </a:spcAft>
              <a:buSzPct val="100000"/>
              <a:buChar char="•"/>
            </a:pPr>
            <a:r>
              <a:rPr lang="en-US" sz="1300" dirty="0">
                <a:solidFill>
                  <a:srgbClr val="4A5A6E"/>
                </a:solidFill>
                <a:latin typeface="Calibri" pitchFamily="34" charset="0"/>
                <a:ea typeface="Calibri" pitchFamily="34" charset="-122"/>
                <a:cs typeface="Calibri" pitchFamily="34" charset="-120"/>
              </a:rPr>
              <a:t>Skill gap analysis from traces</a:t>
            </a:r>
            <a:endParaRPr lang="en-US" sz="1300" dirty="0"/>
          </a:p>
          <a:p>
            <a:pPr marL="342900" indent="-342900">
              <a:spcAft>
                <a:spcPts val="1200"/>
              </a:spcAft>
              <a:buSzPct val="100000"/>
              <a:buChar char="•"/>
            </a:pPr>
            <a:r>
              <a:rPr lang="en-US" sz="1300" dirty="0">
                <a:solidFill>
                  <a:srgbClr val="4A5A6E"/>
                </a:solidFill>
                <a:latin typeface="Calibri" pitchFamily="34" charset="0"/>
                <a:ea typeface="Calibri" pitchFamily="34" charset="-122"/>
                <a:cs typeface="Calibri" pitchFamily="34" charset="-120"/>
              </a:rPr>
              <a:t>Feedback loop from reviewers</a:t>
            </a:r>
            <a:endParaRPr lang="en-US" sz="1300" dirty="0"/>
          </a:p>
          <a:p>
            <a:pPr marL="342900" indent="-342900">
              <a:spcAft>
                <a:spcPts val="1200"/>
              </a:spcAft>
              <a:buSzPct val="100000"/>
              <a:buChar char="•"/>
            </a:pPr>
            <a:r>
              <a:rPr lang="en-US" sz="1300" dirty="0">
                <a:solidFill>
                  <a:srgbClr val="4A5A6E"/>
                </a:solidFill>
                <a:latin typeface="Calibri" pitchFamily="34" charset="0"/>
                <a:ea typeface="Calibri" pitchFamily="34" charset="-122"/>
                <a:cs typeface="Calibri" pitchFamily="34" charset="-120"/>
              </a:rPr>
              <a:t>Governed learning loop</a:t>
            </a:r>
            <a:endParaRPr lang="en-US" sz="1300" dirty="0"/>
          </a:p>
        </p:txBody>
      </p:sp>
      <p:sp>
        <p:nvSpPr>
          <p:cNvPr id="58" name="Text 46"/>
          <p:cNvSpPr txBox="1"/>
          <p:nvPr/>
        </p:nvSpPr>
        <p:spPr>
          <a:xfrm>
            <a:off x="502920" y="6720840"/>
            <a:ext cx="3657600" cy="274320"/>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Per new use case</a:t>
            </a:r>
            <a:endParaRPr lang="en-US" sz="1100" dirty="0"/>
          </a:p>
        </p:txBody>
      </p:sp>
      <p:sp>
        <p:nvSpPr>
          <p:cNvPr id="59" name="Shape 47"/>
          <p:cNvSpPr/>
          <p:nvPr/>
        </p:nvSpPr>
        <p:spPr>
          <a:xfrm>
            <a:off x="502920" y="7040880"/>
            <a:ext cx="6748272" cy="1097280"/>
          </a:xfrm>
          <a:prstGeom prst="roundRect">
            <a:avLst>
              <a:gd name="adj" fmla="val 6667"/>
            </a:avLst>
          </a:prstGeom>
          <a:solidFill>
            <a:srgbClr val="FFFFFF"/>
          </a:solidFill>
          <a:ln w="9525">
            <a:solidFill>
              <a:srgbClr val="C8D8EC"/>
            </a:solidFill>
            <a:prstDash val="solid"/>
          </a:ln>
        </p:spPr>
      </p:sp>
      <p:sp>
        <p:nvSpPr>
          <p:cNvPr id="60" name="Shape 48"/>
          <p:cNvSpPr/>
          <p:nvPr/>
        </p:nvSpPr>
        <p:spPr>
          <a:xfrm>
            <a:off x="685800" y="7223760"/>
            <a:ext cx="1737360" cy="310896"/>
          </a:xfrm>
          <a:prstGeom prst="roundRect">
            <a:avLst>
              <a:gd name="adj" fmla="val 50000"/>
            </a:avLst>
          </a:prstGeom>
          <a:solidFill>
            <a:srgbClr val="1E8A5A"/>
          </a:solidFill>
          <a:ln w="12700">
            <a:solidFill>
              <a:srgbClr val="1E8A5A"/>
            </a:solidFill>
            <a:prstDash val="solid"/>
          </a:ln>
        </p:spPr>
      </p:sp>
      <p:sp>
        <p:nvSpPr>
          <p:cNvPr id="61" name="Text 49"/>
          <p:cNvSpPr txBox="1"/>
          <p:nvPr/>
        </p:nvSpPr>
        <p:spPr>
          <a:xfrm>
            <a:off x="685800" y="7223760"/>
            <a:ext cx="173736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Reused as is</a:t>
            </a:r>
            <a:endParaRPr lang="en-US" sz="1050" dirty="0"/>
          </a:p>
        </p:txBody>
      </p:sp>
      <p:sp>
        <p:nvSpPr>
          <p:cNvPr id="62" name="Text 50"/>
          <p:cNvSpPr txBox="1"/>
          <p:nvPr/>
        </p:nvSpPr>
        <p:spPr>
          <a:xfrm>
            <a:off x="685800" y="7607808"/>
            <a:ext cx="6400800" cy="457200"/>
          </a:xfrm>
          <a:prstGeom prst="rect">
            <a:avLst/>
          </a:prstGeom>
          <a:noFill/>
          <a:ln/>
        </p:spPr>
        <p:txBody>
          <a:bodyPr wrap="square" lIns="0" tIns="0" rIns="0" bIns="0" rtlCol="0" anchor="t"/>
          <a:lstStyle/>
          <a:p>
            <a:pPr indent="0" marL="0">
              <a:buNone/>
            </a:pPr>
            <a:r>
              <a:rPr lang="en-US" sz="1050" dirty="0">
                <a:solidFill>
                  <a:srgbClr val="4A5A6E"/>
                </a:solidFill>
                <a:latin typeface="Calibri" pitchFamily="34" charset="0"/>
                <a:ea typeface="Calibri" pitchFamily="34" charset="-122"/>
                <a:cs typeface="Calibri" pitchFamily="34" charset="-120"/>
              </a:rPr>
              <a:t>One Fin UX events, orchestration pattern, Agent One harness, Phoenix Eyes, eval framework, audit model, workbench UI shell</a:t>
            </a:r>
            <a:endParaRPr lang="en-US" sz="1050" dirty="0"/>
          </a:p>
        </p:txBody>
      </p:sp>
      <p:sp>
        <p:nvSpPr>
          <p:cNvPr id="63" name="Shape 51"/>
          <p:cNvSpPr/>
          <p:nvPr/>
        </p:nvSpPr>
        <p:spPr>
          <a:xfrm>
            <a:off x="7379208" y="7040880"/>
            <a:ext cx="6748272" cy="1097280"/>
          </a:xfrm>
          <a:prstGeom prst="roundRect">
            <a:avLst>
              <a:gd name="adj" fmla="val 6667"/>
            </a:avLst>
          </a:prstGeom>
          <a:solidFill>
            <a:srgbClr val="FFFFFF"/>
          </a:solidFill>
          <a:ln w="9525">
            <a:solidFill>
              <a:srgbClr val="C8D8EC"/>
            </a:solidFill>
            <a:prstDash val="solid"/>
          </a:ln>
        </p:spPr>
      </p:sp>
      <p:sp>
        <p:nvSpPr>
          <p:cNvPr id="64" name="Shape 52"/>
          <p:cNvSpPr/>
          <p:nvPr/>
        </p:nvSpPr>
        <p:spPr>
          <a:xfrm>
            <a:off x="7562088" y="7223760"/>
            <a:ext cx="1737360" cy="310896"/>
          </a:xfrm>
          <a:prstGeom prst="roundRect">
            <a:avLst>
              <a:gd name="adj" fmla="val 50000"/>
            </a:avLst>
          </a:prstGeom>
          <a:solidFill>
            <a:srgbClr val="5B4FA8"/>
          </a:solidFill>
          <a:ln w="12700">
            <a:solidFill>
              <a:srgbClr val="5B4FA8"/>
            </a:solidFill>
            <a:prstDash val="solid"/>
          </a:ln>
        </p:spPr>
      </p:sp>
      <p:sp>
        <p:nvSpPr>
          <p:cNvPr id="65" name="Text 53"/>
          <p:cNvSpPr txBox="1"/>
          <p:nvPr/>
        </p:nvSpPr>
        <p:spPr>
          <a:xfrm>
            <a:off x="7562088" y="7223760"/>
            <a:ext cx="173736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Added per use case</a:t>
            </a:r>
            <a:endParaRPr lang="en-US" sz="1050" dirty="0"/>
          </a:p>
        </p:txBody>
      </p:sp>
      <p:sp>
        <p:nvSpPr>
          <p:cNvPr id="66" name="Text 54"/>
          <p:cNvSpPr txBox="1"/>
          <p:nvPr/>
        </p:nvSpPr>
        <p:spPr>
          <a:xfrm>
            <a:off x="7562088" y="7607808"/>
            <a:ext cx="6400800" cy="457200"/>
          </a:xfrm>
          <a:prstGeom prst="rect">
            <a:avLst/>
          </a:prstGeom>
          <a:noFill/>
          <a:ln/>
        </p:spPr>
        <p:txBody>
          <a:bodyPr wrap="square" lIns="0" tIns="0" rIns="0" bIns="0" rtlCol="0" anchor="t"/>
          <a:lstStyle/>
          <a:p>
            <a:pPr indent="0" marL="0">
              <a:buNone/>
            </a:pPr>
            <a:r>
              <a:rPr lang="en-US" sz="1050" dirty="0">
                <a:solidFill>
                  <a:srgbClr val="4A5A6E"/>
                </a:solidFill>
                <a:latin typeface="Calibri" pitchFamily="34" charset="0"/>
                <a:ea typeface="Calibri" pitchFamily="34" charset="-122"/>
                <a:cs typeface="Calibri" pitchFamily="34" charset="-120"/>
              </a:rPr>
              <a:t>Skills and playbooks, MCP tools for its systems, knowledge for its domain, workspace configuration, eval cases</a:t>
            </a:r>
            <a:endParaRPr lang="en-US" sz="1050" dirty="0"/>
          </a:p>
        </p:txBody>
      </p:sp>
      <p:sp>
        <p:nvSpPr>
          <p:cNvPr id="67" name="Shape 55"/>
          <p:cNvSpPr/>
          <p:nvPr/>
        </p:nvSpPr>
        <p:spPr>
          <a:xfrm>
            <a:off x="0" y="9272016"/>
            <a:ext cx="14630400" cy="484632"/>
          </a:xfrm>
          <a:prstGeom prst="rect">
            <a:avLst/>
          </a:prstGeom>
          <a:solidFill>
            <a:srgbClr val="0B2E5E"/>
          </a:solidFill>
          <a:ln w="12700">
            <a:solidFill>
              <a:srgbClr val="0B2E5E"/>
            </a:solidFill>
            <a:prstDash val="solid"/>
          </a:ln>
        </p:spPr>
      </p:sp>
      <p:sp>
        <p:nvSpPr>
          <p:cNvPr id="68" name="Text 56"/>
          <p:cNvSpPr txBox="1"/>
          <p:nvPr/>
        </p:nvSpPr>
        <p:spPr>
          <a:xfrm>
            <a:off x="0" y="9272016"/>
            <a:ext cx="14630400" cy="4846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Finance AI Solutions</a:t>
            </a:r>
            <a:pPr algn="ctr" indent="0" marL="0">
              <a:buNone/>
            </a:pPr>
            <a:r>
              <a:rPr lang="en-US" sz="1100" dirty="0">
                <a:solidFill>
                  <a:srgbClr val="FFFFFF"/>
                </a:solidFill>
                <a:latin typeface="Calibri" pitchFamily="34" charset="0"/>
                <a:ea typeface="Calibri" pitchFamily="34" charset="-122"/>
                <a:cs typeface="Calibri" pitchFamily="34" charset="-120"/>
              </a:rPr>
              <a:t>   |   Agents reason. Engines compute. People approve.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Finance AI Solutions Portfolio</dc:title>
  <dc:subject>PptxGenJS Presentation</dc:subject>
  <dc:creator>PptxGenJS</dc:creator>
  <cp:lastModifiedBy>PptxGenJS</cp:lastModifiedBy>
  <cp:revision>1</cp:revision>
  <dcterms:created xsi:type="dcterms:W3CDTF">2026-09-30T17:13:21Z</dcterms:created>
  <dcterms:modified xsi:type="dcterms:W3CDTF">2026-09-30T17:13:21Z</dcterms:modified>
</cp:coreProperties>
</file>