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9753600"/>
  <p:notesSz cx="9753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Helix: AI-Powered FOBO Reconciliation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047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architecture, executive 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4825" y="1219200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(one per L4)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55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9850" y="1323975"/>
            <a:ext cx="133350" cy="1333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8003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FI Credit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53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50" y="1323975"/>
            <a:ext cx="133350" cy="1333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101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Rates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9151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1323975"/>
            <a:ext cx="133350" cy="13335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199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Prime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91249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0" y="1323975"/>
            <a:ext cx="133350" cy="1333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97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L4 workspaces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11334750" y="12192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workspace contains X master books (FO, BO, other)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04825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EF4FB"/>
          </a:solidFill>
          <a:ln w="12700">
            <a:solidFill>
              <a:srgbClr val="1B4F93"/>
            </a:solidFill>
            <a:prstDash val="dash"/>
          </a:ln>
        </p:spPr>
      </p:sp>
      <p:sp>
        <p:nvSpPr>
          <p:cNvPr id="22" name="Text 16"/>
          <p:cNvSpPr txBox="1"/>
          <p:nvPr/>
        </p:nvSpPr>
        <p:spPr>
          <a:xfrm>
            <a:off x="619125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4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PROCESSING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314700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EF4FB"/>
          </a:solidFill>
          <a:ln w="12700">
            <a:solidFill>
              <a:srgbClr val="2A6EBB"/>
            </a:solidFill>
            <a:prstDash val="dash"/>
          </a:ln>
        </p:spPr>
      </p:sp>
      <p:sp>
        <p:nvSpPr>
          <p:cNvPr id="24" name="Text 18"/>
          <p:cNvSpPr txBox="1"/>
          <p:nvPr/>
        </p:nvSpPr>
        <p:spPr>
          <a:xfrm>
            <a:off x="3429000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READINESS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124575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DF7F2"/>
          </a:solidFill>
          <a:ln w="12700">
            <a:solidFill>
              <a:srgbClr val="1E8A5A"/>
            </a:solidFill>
            <a:prstDash val="dash"/>
          </a:ln>
        </p:spPr>
      </p:sp>
      <p:sp>
        <p:nvSpPr>
          <p:cNvPr id="26" name="Text 20"/>
          <p:cNvSpPr txBox="1"/>
          <p:nvPr/>
        </p:nvSpPr>
        <p:spPr>
          <a:xfrm>
            <a:off x="6238875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934450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F3F1FB"/>
          </a:solidFill>
          <a:ln w="12700">
            <a:solidFill>
              <a:srgbClr val="5B4FA8"/>
            </a:solidFill>
            <a:prstDash val="dash"/>
          </a:ln>
        </p:spPr>
      </p:sp>
      <p:sp>
        <p:nvSpPr>
          <p:cNvPr id="28" name="Text 22"/>
          <p:cNvSpPr txBox="1"/>
          <p:nvPr/>
        </p:nvSpPr>
        <p:spPr>
          <a:xfrm>
            <a:off x="9048750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1744325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EF4FB"/>
          </a:solidFill>
          <a:ln w="12700">
            <a:solidFill>
              <a:srgbClr val="1F6FB5"/>
            </a:solidFill>
            <a:prstDash val="dash"/>
          </a:ln>
        </p:spPr>
      </p:sp>
      <p:sp>
        <p:nvSpPr>
          <p:cNvPr id="30" name="Text 24"/>
          <p:cNvSpPr txBox="1"/>
          <p:nvPr/>
        </p:nvSpPr>
        <p:spPr>
          <a:xfrm>
            <a:off x="11858625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EXPERIENCE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933450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428750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B4F93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098" y="2441448"/>
            <a:ext cx="298704" cy="29870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90600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1009650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Master-book reconciliation of CATS vs MOTIF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743325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238625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A6EB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973" y="2441448"/>
            <a:ext cx="298704" cy="29870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800475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3819525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 and business outcome per workspace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553200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 rot="5400000">
            <a:off x="7048500" y="2324100"/>
            <a:ext cx="533400" cy="490728"/>
          </a:xfrm>
          <a:prstGeom prst="hexagon">
            <a:avLst/>
          </a:prstGeom>
          <a:solidFill>
            <a:srgbClr val="1E8A5A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7048500" y="2324100"/>
            <a:ext cx="5334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352" dirty="0"/>
          </a:p>
        </p:txBody>
      </p:sp>
      <p:sp>
        <p:nvSpPr>
          <p:cNvPr id="44" name="Text 36"/>
          <p:cNvSpPr txBox="1"/>
          <p:nvPr/>
        </p:nvSpPr>
        <p:spPr>
          <a:xfrm>
            <a:off x="6610350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6629400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automated sessions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9363075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858375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5B4FA8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5723" y="2441448"/>
            <a:ext cx="298704" cy="298704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9420225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9439275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Skill-based investigation: classify, explain, recommend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12172950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12668250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F6FB5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5598" y="2441448"/>
            <a:ext cx="298704" cy="298704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12230100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UI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12249150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analysis and chat per workspace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933450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1485900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4F7BB5"/>
          </a:solidFill>
          <a:ln/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8102" y="4854702"/>
            <a:ext cx="234696" cy="234696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990600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Books</a:t>
            </a:r>
            <a:endParaRPr lang="en-US" sz="1200" dirty="0"/>
          </a:p>
        </p:txBody>
      </p:sp>
      <p:sp>
        <p:nvSpPr>
          <p:cNvPr id="60" name="Text 49"/>
          <p:cNvSpPr txBox="1"/>
          <p:nvPr/>
        </p:nvSpPr>
        <p:spPr>
          <a:xfrm>
            <a:off x="1009650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books per workspace (FO, BO, other)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3743325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4295775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4F86C6"/>
          </a:solidFill>
          <a:ln/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7977" y="4854702"/>
            <a:ext cx="234696" cy="234696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3800475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1200" dirty="0"/>
          </a:p>
        </p:txBody>
      </p:sp>
      <p:sp>
        <p:nvSpPr>
          <p:cNvPr id="65" name="Text 53"/>
          <p:cNvSpPr txBox="1"/>
          <p:nvPr/>
        </p:nvSpPr>
        <p:spPr>
          <a:xfrm>
            <a:off x="3819525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all X books are available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6553200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67" name="Shape 55"/>
          <p:cNvSpPr/>
          <p:nvPr/>
        </p:nvSpPr>
        <p:spPr>
          <a:xfrm>
            <a:off x="7105650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AA070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7852" y="4854702"/>
            <a:ext cx="234696" cy="234696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6610350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</a:t>
            </a:r>
            <a:endParaRPr lang="en-US" sz="1200" dirty="0"/>
          </a:p>
        </p:txBody>
      </p:sp>
      <p:sp>
        <p:nvSpPr>
          <p:cNvPr id="70" name="Text 57"/>
          <p:cNvSpPr txBox="1"/>
          <p:nvPr/>
        </p:nvSpPr>
        <p:spPr>
          <a:xfrm>
            <a:off x="6629400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workspace before session start</a:t>
            </a:r>
            <a:endParaRPr lang="en-US" sz="900" dirty="0"/>
          </a:p>
        </p:txBody>
      </p:sp>
      <p:sp>
        <p:nvSpPr>
          <p:cNvPr id="71" name="Shape 58"/>
          <p:cNvSpPr/>
          <p:nvPr/>
        </p:nvSpPr>
        <p:spPr>
          <a:xfrm>
            <a:off x="9010650" y="4648200"/>
            <a:ext cx="1085850" cy="12573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9363075" y="474345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7A6FC0"/>
          </a:solidFill>
          <a:ln/>
        </p:spPr>
      </p:sp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8800" y="4829175"/>
            <a:ext cx="209550" cy="209550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9048750" y="516255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(MCP)</a:t>
            </a:r>
            <a:endParaRPr lang="en-US" sz="1100" dirty="0"/>
          </a:p>
        </p:txBody>
      </p:sp>
      <p:sp>
        <p:nvSpPr>
          <p:cNvPr id="75" name="Text 61"/>
          <p:cNvSpPr txBox="1"/>
          <p:nvPr/>
        </p:nvSpPr>
        <p:spPr>
          <a:xfrm>
            <a:off x="9067800" y="5353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data and other data</a:t>
            </a:r>
            <a:endParaRPr lang="en-US" sz="850" dirty="0"/>
          </a:p>
        </p:txBody>
      </p:sp>
      <p:sp>
        <p:nvSpPr>
          <p:cNvPr id="76" name="Shape 62"/>
          <p:cNvSpPr/>
          <p:nvPr/>
        </p:nvSpPr>
        <p:spPr>
          <a:xfrm>
            <a:off x="10153650" y="4648200"/>
            <a:ext cx="1085850" cy="12573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77" name="Shape 63"/>
          <p:cNvSpPr/>
          <p:nvPr/>
        </p:nvSpPr>
        <p:spPr>
          <a:xfrm>
            <a:off x="10506075" y="474345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C0392B"/>
          </a:solidFill>
          <a:ln/>
        </p:spPr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91800" y="4829175"/>
            <a:ext cx="209550" cy="209550"/>
          </a:xfrm>
          <a:prstGeom prst="rect">
            <a:avLst/>
          </a:prstGeom>
        </p:spPr>
      </p:pic>
      <p:sp>
        <p:nvSpPr>
          <p:cNvPr id="79" name="Text 64"/>
          <p:cNvSpPr txBox="1"/>
          <p:nvPr/>
        </p:nvSpPr>
        <p:spPr>
          <a:xfrm>
            <a:off x="10191750" y="516255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Services</a:t>
            </a:r>
            <a:endParaRPr lang="en-US" sz="1100" dirty="0"/>
          </a:p>
        </p:txBody>
      </p:sp>
      <p:sp>
        <p:nvSpPr>
          <p:cNvPr id="80" name="Text 65"/>
          <p:cNvSpPr txBox="1"/>
          <p:nvPr/>
        </p:nvSpPr>
        <p:spPr>
          <a:xfrm>
            <a:off x="10210800" y="5353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adjustments to MOTIF via MCP</a:t>
            </a:r>
            <a:endParaRPr lang="en-US" sz="850" dirty="0"/>
          </a:p>
        </p:txBody>
      </p:sp>
      <p:sp>
        <p:nvSpPr>
          <p:cNvPr id="81" name="Shape 66"/>
          <p:cNvSpPr/>
          <p:nvPr/>
        </p:nvSpPr>
        <p:spPr>
          <a:xfrm>
            <a:off x="12172950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12725400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F86C8"/>
          </a:solidFill>
          <a:ln/>
        </p:spPr>
      </p:sp>
      <p:pic>
        <p:nvPicPr>
          <p:cNvPr id="8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17602" y="4854702"/>
            <a:ext cx="234696" cy="234696"/>
          </a:xfrm>
          <a:prstGeom prst="rect">
            <a:avLst/>
          </a:prstGeom>
        </p:spPr>
      </p:pic>
      <p:sp>
        <p:nvSpPr>
          <p:cNvPr id="84" name="Text 68"/>
          <p:cNvSpPr txBox="1"/>
          <p:nvPr/>
        </p:nvSpPr>
        <p:spPr>
          <a:xfrm>
            <a:off x="12230100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5" name="Text 69"/>
          <p:cNvSpPr txBox="1"/>
          <p:nvPr/>
        </p:nvSpPr>
        <p:spPr>
          <a:xfrm>
            <a:off x="12249150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at desk time, approves adjustments</a:t>
            </a:r>
            <a:endParaRPr lang="en-US" sz="900" dirty="0"/>
          </a:p>
        </p:txBody>
      </p:sp>
      <p:sp>
        <p:nvSpPr>
          <p:cNvPr id="86" name="Shape 70"/>
          <p:cNvSpPr/>
          <p:nvPr/>
        </p:nvSpPr>
        <p:spPr>
          <a:xfrm>
            <a:off x="2495550" y="2609850"/>
            <a:ext cx="1209675" cy="0"/>
          </a:xfrm>
          <a:prstGeom prst="line">
            <a:avLst/>
          </a:prstGeom>
          <a:noFill/>
          <a:ln w="22225">
            <a:solidFill>
              <a:srgbClr val="1B4F93"/>
            </a:solidFill>
            <a:prstDash val="solid"/>
            <a:tailEnd type="triangle"/>
          </a:ln>
        </p:spPr>
      </p:sp>
      <p:sp>
        <p:nvSpPr>
          <p:cNvPr id="87" name="Shape 71"/>
          <p:cNvSpPr/>
          <p:nvPr/>
        </p:nvSpPr>
        <p:spPr>
          <a:xfrm>
            <a:off x="2533650" y="2266950"/>
            <a:ext cx="209550" cy="209550"/>
          </a:xfrm>
          <a:prstGeom prst="ellipse">
            <a:avLst/>
          </a:prstGeom>
          <a:solidFill>
            <a:srgbClr val="1B4F93"/>
          </a:solidFill>
          <a:ln/>
        </p:spPr>
      </p:sp>
      <p:sp>
        <p:nvSpPr>
          <p:cNvPr id="88" name="Text 72"/>
          <p:cNvSpPr txBox="1"/>
          <p:nvPr/>
        </p:nvSpPr>
        <p:spPr>
          <a:xfrm>
            <a:off x="2533650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Text 73"/>
          <p:cNvSpPr txBox="1"/>
          <p:nvPr/>
        </p:nvSpPr>
        <p:spPr>
          <a:xfrm>
            <a:off x="2781300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events</a:t>
            </a:r>
            <a:endParaRPr lang="en-US" sz="900" dirty="0"/>
          </a:p>
        </p:txBody>
      </p:sp>
      <p:sp>
        <p:nvSpPr>
          <p:cNvPr id="90" name="Shape 74"/>
          <p:cNvSpPr/>
          <p:nvPr/>
        </p:nvSpPr>
        <p:spPr>
          <a:xfrm>
            <a:off x="5305425" y="2609850"/>
            <a:ext cx="1209675" cy="0"/>
          </a:xfrm>
          <a:prstGeom prst="line">
            <a:avLst/>
          </a:prstGeom>
          <a:noFill/>
          <a:ln w="22225">
            <a:solidFill>
              <a:srgbClr val="2A6EBB"/>
            </a:solidFill>
            <a:prstDash val="solid"/>
            <a:tailEnd type="triangle"/>
          </a:ln>
        </p:spPr>
      </p:sp>
      <p:sp>
        <p:nvSpPr>
          <p:cNvPr id="91" name="Shape 75"/>
          <p:cNvSpPr/>
          <p:nvPr/>
        </p:nvSpPr>
        <p:spPr>
          <a:xfrm>
            <a:off x="5343525" y="2266950"/>
            <a:ext cx="209550" cy="20955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92" name="Text 76"/>
          <p:cNvSpPr txBox="1"/>
          <p:nvPr/>
        </p:nvSpPr>
        <p:spPr>
          <a:xfrm>
            <a:off x="5343525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3" name="Text 77"/>
          <p:cNvSpPr txBox="1"/>
          <p:nvPr/>
        </p:nvSpPr>
        <p:spPr>
          <a:xfrm>
            <a:off x="5591175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</a:t>
            </a:r>
            <a:endParaRPr lang="en-US" sz="900" dirty="0"/>
          </a:p>
        </p:txBody>
      </p:sp>
      <p:sp>
        <p:nvSpPr>
          <p:cNvPr id="94" name="Shape 78"/>
          <p:cNvSpPr/>
          <p:nvPr/>
        </p:nvSpPr>
        <p:spPr>
          <a:xfrm>
            <a:off x="8115300" y="2609850"/>
            <a:ext cx="1209675" cy="0"/>
          </a:xfrm>
          <a:prstGeom prst="line">
            <a:avLst/>
          </a:prstGeom>
          <a:noFill/>
          <a:ln w="22225">
            <a:solidFill>
              <a:srgbClr val="1E8A5A"/>
            </a:solidFill>
            <a:prstDash val="solid"/>
            <a:tailEnd type="triangle"/>
          </a:ln>
        </p:spPr>
      </p:sp>
      <p:sp>
        <p:nvSpPr>
          <p:cNvPr id="95" name="Shape 79"/>
          <p:cNvSpPr/>
          <p:nvPr/>
        </p:nvSpPr>
        <p:spPr>
          <a:xfrm>
            <a:off x="8153400" y="2266950"/>
            <a:ext cx="209550" cy="20955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96" name="Text 80"/>
          <p:cNvSpPr txBox="1"/>
          <p:nvPr/>
        </p:nvSpPr>
        <p:spPr>
          <a:xfrm>
            <a:off x="8153400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7" name="Text 81"/>
          <p:cNvSpPr txBox="1"/>
          <p:nvPr/>
        </p:nvSpPr>
        <p:spPr>
          <a:xfrm>
            <a:off x="8401050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automated session</a:t>
            </a:r>
            <a:endParaRPr lang="en-US" sz="900" dirty="0"/>
          </a:p>
        </p:txBody>
      </p:sp>
      <p:sp>
        <p:nvSpPr>
          <p:cNvPr id="98" name="Shape 82"/>
          <p:cNvSpPr/>
          <p:nvPr/>
        </p:nvSpPr>
        <p:spPr>
          <a:xfrm>
            <a:off x="10925175" y="2609850"/>
            <a:ext cx="1209675" cy="0"/>
          </a:xfrm>
          <a:prstGeom prst="line">
            <a:avLst/>
          </a:prstGeom>
          <a:noFill/>
          <a:ln w="22225">
            <a:solidFill>
              <a:srgbClr val="5B4FA8"/>
            </a:solidFill>
            <a:prstDash val="solid"/>
            <a:tailEnd type="triangle"/>
          </a:ln>
        </p:spPr>
      </p:sp>
      <p:sp>
        <p:nvSpPr>
          <p:cNvPr id="99" name="Shape 83"/>
          <p:cNvSpPr/>
          <p:nvPr/>
        </p:nvSpPr>
        <p:spPr>
          <a:xfrm>
            <a:off x="10963275" y="2266950"/>
            <a:ext cx="209550" cy="209550"/>
          </a:xfrm>
          <a:prstGeom prst="ellipse">
            <a:avLst/>
          </a:prstGeom>
          <a:solidFill>
            <a:srgbClr val="5B4FA8"/>
          </a:solidFill>
          <a:ln/>
        </p:spPr>
      </p:sp>
      <p:sp>
        <p:nvSpPr>
          <p:cNvPr id="100" name="Text 84"/>
          <p:cNvSpPr txBox="1"/>
          <p:nvPr/>
        </p:nvSpPr>
        <p:spPr>
          <a:xfrm>
            <a:off x="10963275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1" name="Text 85"/>
          <p:cNvSpPr txBox="1"/>
          <p:nvPr/>
        </p:nvSpPr>
        <p:spPr>
          <a:xfrm>
            <a:off x="11210925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analysis published</a:t>
            </a:r>
            <a:endParaRPr lang="en-US" sz="900" dirty="0"/>
          </a:p>
        </p:txBody>
      </p:sp>
      <p:sp>
        <p:nvSpPr>
          <p:cNvPr id="102" name="Shape 86"/>
          <p:cNvSpPr/>
          <p:nvPr/>
        </p:nvSpPr>
        <p:spPr>
          <a:xfrm>
            <a:off x="10925175" y="2895600"/>
            <a:ext cx="1209675" cy="0"/>
          </a:xfrm>
          <a:prstGeom prst="line">
            <a:avLst/>
          </a:prstGeom>
          <a:noFill/>
          <a:ln w="22225">
            <a:solidFill>
              <a:srgbClr val="1F6FB5"/>
            </a:solidFill>
            <a:prstDash val="solid"/>
            <a:headEnd type="triangle"/>
          </a:ln>
        </p:spPr>
      </p:sp>
      <p:sp>
        <p:nvSpPr>
          <p:cNvPr id="103" name="Shape 87"/>
          <p:cNvSpPr/>
          <p:nvPr/>
        </p:nvSpPr>
        <p:spPr>
          <a:xfrm>
            <a:off x="10963275" y="3009900"/>
            <a:ext cx="209550" cy="209550"/>
          </a:xfrm>
          <a:prstGeom prst="ellipse">
            <a:avLst/>
          </a:prstGeom>
          <a:solidFill>
            <a:srgbClr val="1F6FB5"/>
          </a:solidFill>
          <a:ln/>
        </p:spPr>
      </p:sp>
      <p:sp>
        <p:nvSpPr>
          <p:cNvPr id="104" name="Text 88"/>
          <p:cNvSpPr txBox="1"/>
          <p:nvPr/>
        </p:nvSpPr>
        <p:spPr>
          <a:xfrm>
            <a:off x="10963275" y="30099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5" name="Text 89"/>
          <p:cNvSpPr txBox="1"/>
          <p:nvPr/>
        </p:nvSpPr>
        <p:spPr>
          <a:xfrm>
            <a:off x="11210925" y="29908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approval (same session)</a:t>
            </a:r>
            <a:endParaRPr lang="en-US" sz="900" dirty="0"/>
          </a:p>
        </p:txBody>
      </p:sp>
      <p:sp>
        <p:nvSpPr>
          <p:cNvPr id="106" name="Shape 90"/>
          <p:cNvSpPr/>
          <p:nvPr/>
        </p:nvSpPr>
        <p:spPr>
          <a:xfrm>
            <a:off x="1695450" y="3638550"/>
            <a:ext cx="0" cy="1009650"/>
          </a:xfrm>
          <a:prstGeom prst="line">
            <a:avLst/>
          </a:prstGeom>
          <a:noFill/>
          <a:ln w="19050">
            <a:solidFill>
              <a:srgbClr val="4F7BB5"/>
            </a:solidFill>
            <a:prstDash val="dash"/>
            <a:headEnd type="triangle"/>
          </a:ln>
        </p:spPr>
      </p:sp>
      <p:sp>
        <p:nvSpPr>
          <p:cNvPr id="107" name="Text 91"/>
          <p:cNvSpPr txBox="1"/>
          <p:nvPr/>
        </p:nvSpPr>
        <p:spPr>
          <a:xfrm>
            <a:off x="1771650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data</a:t>
            </a:r>
            <a:endParaRPr lang="en-US" sz="900" dirty="0"/>
          </a:p>
        </p:txBody>
      </p:sp>
      <p:sp>
        <p:nvSpPr>
          <p:cNvPr id="108" name="Shape 92"/>
          <p:cNvSpPr/>
          <p:nvPr/>
        </p:nvSpPr>
        <p:spPr>
          <a:xfrm>
            <a:off x="4505325" y="3638550"/>
            <a:ext cx="0" cy="1009650"/>
          </a:xfrm>
          <a:prstGeom prst="line">
            <a:avLst/>
          </a:prstGeom>
          <a:noFill/>
          <a:ln w="19050">
            <a:solidFill>
              <a:srgbClr val="2A6EBB"/>
            </a:solidFill>
            <a:prstDash val="dash"/>
            <a:tailEnd type="triangle"/>
          </a:ln>
        </p:spPr>
      </p:sp>
      <p:sp>
        <p:nvSpPr>
          <p:cNvPr id="109" name="Text 93"/>
          <p:cNvSpPr txBox="1"/>
          <p:nvPr/>
        </p:nvSpPr>
        <p:spPr>
          <a:xfrm>
            <a:off x="4581525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</a:t>
            </a:r>
            <a:endParaRPr lang="en-US" sz="900" dirty="0"/>
          </a:p>
        </p:txBody>
      </p:sp>
      <p:sp>
        <p:nvSpPr>
          <p:cNvPr id="110" name="Shape 94"/>
          <p:cNvSpPr/>
          <p:nvPr/>
        </p:nvSpPr>
        <p:spPr>
          <a:xfrm>
            <a:off x="7315200" y="3638550"/>
            <a:ext cx="0" cy="1009650"/>
          </a:xfrm>
          <a:prstGeom prst="line">
            <a:avLst/>
          </a:prstGeom>
          <a:noFill/>
          <a:ln w="19050">
            <a:solidFill>
              <a:srgbClr val="1E8A5A"/>
            </a:solidFill>
            <a:prstDash val="dash"/>
            <a:tailEnd type="triangle"/>
          </a:ln>
        </p:spPr>
      </p:sp>
      <p:sp>
        <p:nvSpPr>
          <p:cNvPr id="111" name="Text 95"/>
          <p:cNvSpPr txBox="1"/>
          <p:nvPr/>
        </p:nvSpPr>
        <p:spPr>
          <a:xfrm>
            <a:off x="7391400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900" dirty="0"/>
          </a:p>
        </p:txBody>
      </p:sp>
      <p:sp>
        <p:nvSpPr>
          <p:cNvPr id="112" name="Shape 96"/>
          <p:cNvSpPr/>
          <p:nvPr/>
        </p:nvSpPr>
        <p:spPr>
          <a:xfrm>
            <a:off x="9553575" y="3638550"/>
            <a:ext cx="0" cy="1009650"/>
          </a:xfrm>
          <a:prstGeom prst="line">
            <a:avLst/>
          </a:prstGeom>
          <a:noFill/>
          <a:ln w="19050">
            <a:solidFill>
              <a:srgbClr val="5B4FA8"/>
            </a:solidFill>
            <a:prstDash val="solid"/>
            <a:tailEnd type="triangle"/>
          </a:ln>
        </p:spPr>
      </p:sp>
      <p:sp>
        <p:nvSpPr>
          <p:cNvPr id="113" name="Shape 97"/>
          <p:cNvSpPr/>
          <p:nvPr/>
        </p:nvSpPr>
        <p:spPr>
          <a:xfrm>
            <a:off x="9610725" y="3943350"/>
            <a:ext cx="209550" cy="209550"/>
          </a:xfrm>
          <a:prstGeom prst="ellipse">
            <a:avLst/>
          </a:prstGeom>
          <a:solidFill>
            <a:srgbClr val="5B4FA8"/>
          </a:solidFill>
          <a:ln/>
        </p:spPr>
      </p:sp>
      <p:sp>
        <p:nvSpPr>
          <p:cNvPr id="114" name="Text 98"/>
          <p:cNvSpPr txBox="1"/>
          <p:nvPr/>
        </p:nvSpPr>
        <p:spPr>
          <a:xfrm>
            <a:off x="9610725" y="39433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5" name="Text 99"/>
          <p:cNvSpPr txBox="1"/>
          <p:nvPr/>
        </p:nvSpPr>
        <p:spPr>
          <a:xfrm>
            <a:off x="9610725" y="41719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</a:t>
            </a:r>
            <a:endParaRPr lang="en-US" sz="850" dirty="0"/>
          </a:p>
        </p:txBody>
      </p:sp>
      <p:sp>
        <p:nvSpPr>
          <p:cNvPr id="116" name="Shape 100"/>
          <p:cNvSpPr/>
          <p:nvPr/>
        </p:nvSpPr>
        <p:spPr>
          <a:xfrm>
            <a:off x="10696575" y="3638550"/>
            <a:ext cx="0" cy="100965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17" name="Shape 101"/>
          <p:cNvSpPr/>
          <p:nvPr/>
        </p:nvSpPr>
        <p:spPr>
          <a:xfrm>
            <a:off x="10753725" y="3943350"/>
            <a:ext cx="209550" cy="2095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8" name="Text 102"/>
          <p:cNvSpPr txBox="1"/>
          <p:nvPr/>
        </p:nvSpPr>
        <p:spPr>
          <a:xfrm>
            <a:off x="10753725" y="39433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9" name="Text 103"/>
          <p:cNvSpPr txBox="1"/>
          <p:nvPr/>
        </p:nvSpPr>
        <p:spPr>
          <a:xfrm>
            <a:off x="10753725" y="4171950"/>
            <a:ext cx="59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approved adjustment</a:t>
            </a:r>
            <a:endParaRPr lang="en-US" sz="850" dirty="0"/>
          </a:p>
        </p:txBody>
      </p:sp>
      <p:sp>
        <p:nvSpPr>
          <p:cNvPr id="120" name="Shape 104"/>
          <p:cNvSpPr/>
          <p:nvPr/>
        </p:nvSpPr>
        <p:spPr>
          <a:xfrm>
            <a:off x="12934950" y="3638550"/>
            <a:ext cx="0" cy="1009650"/>
          </a:xfrm>
          <a:prstGeom prst="line">
            <a:avLst/>
          </a:prstGeom>
          <a:noFill/>
          <a:ln w="19050">
            <a:solidFill>
              <a:srgbClr val="1F6FB5"/>
            </a:solidFill>
            <a:prstDash val="solid"/>
            <a:headEnd type="triangle"/>
          </a:ln>
        </p:spPr>
      </p:sp>
      <p:sp>
        <p:nvSpPr>
          <p:cNvPr id="121" name="Shape 105"/>
          <p:cNvSpPr/>
          <p:nvPr/>
        </p:nvSpPr>
        <p:spPr>
          <a:xfrm>
            <a:off x="13011150" y="4038600"/>
            <a:ext cx="209550" cy="209550"/>
          </a:xfrm>
          <a:prstGeom prst="ellipse">
            <a:avLst/>
          </a:prstGeom>
          <a:solidFill>
            <a:srgbClr val="1F6FB5"/>
          </a:solidFill>
          <a:ln/>
        </p:spPr>
      </p:sp>
      <p:sp>
        <p:nvSpPr>
          <p:cNvPr id="122" name="Text 106"/>
          <p:cNvSpPr txBox="1"/>
          <p:nvPr/>
        </p:nvSpPr>
        <p:spPr>
          <a:xfrm>
            <a:off x="13011150" y="40386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23" name="Text 107"/>
          <p:cNvSpPr txBox="1"/>
          <p:nvPr/>
        </p:nvSpPr>
        <p:spPr>
          <a:xfrm>
            <a:off x="13277850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time: review, ask, approve</a:t>
            </a:r>
            <a:endParaRPr lang="en-US" sz="900" dirty="0"/>
          </a:p>
        </p:txBody>
      </p:sp>
      <p:sp>
        <p:nvSpPr>
          <p:cNvPr id="124" name="Shape 108"/>
          <p:cNvSpPr/>
          <p:nvPr/>
        </p:nvSpPr>
        <p:spPr>
          <a:xfrm>
            <a:off x="1695450" y="6210300"/>
            <a:ext cx="0" cy="247650"/>
          </a:xfrm>
          <a:prstGeom prst="line">
            <a:avLst/>
          </a:prstGeom>
          <a:noFill/>
          <a:ln w="12700">
            <a:solidFill>
              <a:srgbClr val="6B7C93"/>
            </a:solidFill>
            <a:prstDash val="sysDot"/>
            <a:tailEnd type="triangle"/>
          </a:ln>
        </p:spPr>
      </p:sp>
      <p:sp>
        <p:nvSpPr>
          <p:cNvPr id="125" name="Shape 109"/>
          <p:cNvSpPr/>
          <p:nvPr/>
        </p:nvSpPr>
        <p:spPr>
          <a:xfrm>
            <a:off x="4505325" y="6210300"/>
            <a:ext cx="0" cy="247650"/>
          </a:xfrm>
          <a:prstGeom prst="line">
            <a:avLst/>
          </a:prstGeom>
          <a:noFill/>
          <a:ln w="12700">
            <a:solidFill>
              <a:srgbClr val="6B7C93"/>
            </a:solidFill>
            <a:prstDash val="sysDot"/>
            <a:tailEnd type="triangle"/>
          </a:ln>
        </p:spPr>
      </p:sp>
      <p:sp>
        <p:nvSpPr>
          <p:cNvPr id="126" name="Shape 110"/>
          <p:cNvSpPr/>
          <p:nvPr/>
        </p:nvSpPr>
        <p:spPr>
          <a:xfrm>
            <a:off x="7315200" y="6210300"/>
            <a:ext cx="0" cy="247650"/>
          </a:xfrm>
          <a:prstGeom prst="line">
            <a:avLst/>
          </a:prstGeom>
          <a:noFill/>
          <a:ln w="12700">
            <a:solidFill>
              <a:srgbClr val="5B4FA8"/>
            </a:solidFill>
            <a:prstDash val="sysDot"/>
            <a:tailEnd type="triangle"/>
          </a:ln>
        </p:spPr>
      </p:sp>
      <p:sp>
        <p:nvSpPr>
          <p:cNvPr id="127" name="Shape 111"/>
          <p:cNvSpPr/>
          <p:nvPr/>
        </p:nvSpPr>
        <p:spPr>
          <a:xfrm>
            <a:off x="10125075" y="6210300"/>
            <a:ext cx="0" cy="247650"/>
          </a:xfrm>
          <a:prstGeom prst="line">
            <a:avLst/>
          </a:prstGeom>
          <a:noFill/>
          <a:ln w="12700">
            <a:solidFill>
              <a:srgbClr val="5B4FA8"/>
            </a:solidFill>
            <a:prstDash val="sysDot"/>
            <a:tailEnd type="triangle"/>
          </a:ln>
        </p:spPr>
      </p:sp>
      <p:sp>
        <p:nvSpPr>
          <p:cNvPr id="128" name="Shape 112"/>
          <p:cNvSpPr/>
          <p:nvPr/>
        </p:nvSpPr>
        <p:spPr>
          <a:xfrm>
            <a:off x="12934950" y="6210300"/>
            <a:ext cx="0" cy="247650"/>
          </a:xfrm>
          <a:prstGeom prst="line">
            <a:avLst/>
          </a:prstGeom>
          <a:noFill/>
          <a:ln w="12700">
            <a:solidFill>
              <a:srgbClr val="6B7C93"/>
            </a:solidFill>
            <a:prstDash val="sysDot"/>
            <a:tailEnd type="triangle"/>
          </a:ln>
        </p:spPr>
      </p:sp>
      <p:sp>
        <p:nvSpPr>
          <p:cNvPr id="129" name="Shape 113"/>
          <p:cNvSpPr/>
          <p:nvPr/>
        </p:nvSpPr>
        <p:spPr>
          <a:xfrm>
            <a:off x="504825" y="6477000"/>
            <a:ext cx="5191125" cy="1238250"/>
          </a:xfrm>
          <a:prstGeom prst="roundRect">
            <a:avLst>
              <a:gd name="adj" fmla="val 6154"/>
            </a:avLst>
          </a:prstGeom>
          <a:solidFill>
            <a:srgbClr val="F1F4F8"/>
          </a:solidFill>
          <a:ln w="12700">
            <a:solidFill>
              <a:srgbClr val="5A6B82"/>
            </a:solidFill>
            <a:prstDash val="dash"/>
          </a:ln>
        </p:spPr>
      </p:sp>
      <p:sp>
        <p:nvSpPr>
          <p:cNvPr id="130" name="Text 114"/>
          <p:cNvSpPr txBox="1"/>
          <p:nvPr/>
        </p:nvSpPr>
        <p:spPr>
          <a:xfrm>
            <a:off x="619125" y="65532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 (EXISTING)</a:t>
            </a:r>
            <a:endParaRPr lang="en-US" sz="900" dirty="0"/>
          </a:p>
        </p:txBody>
      </p:sp>
      <p:sp>
        <p:nvSpPr>
          <p:cNvPr id="131" name="Shape 115"/>
          <p:cNvSpPr/>
          <p:nvPr/>
        </p:nvSpPr>
        <p:spPr>
          <a:xfrm>
            <a:off x="619125" y="6781800"/>
            <a:ext cx="17716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32" name="Shape 116"/>
          <p:cNvSpPr/>
          <p:nvPr/>
        </p:nvSpPr>
        <p:spPr>
          <a:xfrm>
            <a:off x="733425" y="69151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5A6B82"/>
          </a:solidFill>
          <a:ln/>
        </p:spPr>
      </p:sp>
      <p:pic>
        <p:nvPicPr>
          <p:cNvPr id="1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725" y="7029450"/>
            <a:ext cx="228600" cy="228600"/>
          </a:xfrm>
          <a:prstGeom prst="rect">
            <a:avLst/>
          </a:prstGeom>
        </p:spPr>
      </p:pic>
      <p:sp>
        <p:nvSpPr>
          <p:cNvPr id="134" name="Text 117"/>
          <p:cNvSpPr txBox="1"/>
          <p:nvPr/>
        </p:nvSpPr>
        <p:spPr>
          <a:xfrm>
            <a:off x="1266825" y="6819900"/>
            <a:ext cx="1085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Audit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and One Fin UX</a:t>
            </a:r>
            <a:endParaRPr lang="en-US" sz="1000" dirty="0"/>
          </a:p>
        </p:txBody>
      </p:sp>
      <p:sp>
        <p:nvSpPr>
          <p:cNvPr id="135" name="Shape 118"/>
          <p:cNvSpPr/>
          <p:nvPr/>
        </p:nvSpPr>
        <p:spPr>
          <a:xfrm>
            <a:off x="2524125" y="68008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38425" y="6896100"/>
            <a:ext cx="133350" cy="133350"/>
          </a:xfrm>
          <a:prstGeom prst="rect">
            <a:avLst/>
          </a:prstGeom>
        </p:spPr>
      </p:pic>
      <p:sp>
        <p:nvSpPr>
          <p:cNvPr id="137" name="Text 119"/>
          <p:cNvSpPr txBox="1"/>
          <p:nvPr/>
        </p:nvSpPr>
        <p:spPr>
          <a:xfrm>
            <a:off x="2847975" y="68008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&amp; event history</a:t>
            </a:r>
            <a:endParaRPr lang="en-US" sz="950" dirty="0"/>
          </a:p>
        </p:txBody>
      </p:sp>
      <p:sp>
        <p:nvSpPr>
          <p:cNvPr id="138" name="Shape 120"/>
          <p:cNvSpPr/>
          <p:nvPr/>
        </p:nvSpPr>
        <p:spPr>
          <a:xfrm>
            <a:off x="2524125" y="72199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3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38425" y="7315200"/>
            <a:ext cx="133350" cy="133350"/>
          </a:xfrm>
          <a:prstGeom prst="rect">
            <a:avLst/>
          </a:prstGeom>
        </p:spPr>
      </p:pic>
      <p:sp>
        <p:nvSpPr>
          <p:cNvPr id="140" name="Text 121"/>
          <p:cNvSpPr txBox="1"/>
          <p:nvPr/>
        </p:nvSpPr>
        <p:spPr>
          <a:xfrm>
            <a:off x="2847975" y="72199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readiness status changes</a:t>
            </a:r>
            <a:endParaRPr lang="en-US" sz="950" dirty="0"/>
          </a:p>
        </p:txBody>
      </p:sp>
      <p:sp>
        <p:nvSpPr>
          <p:cNvPr id="141" name="Shape 122"/>
          <p:cNvSpPr/>
          <p:nvPr/>
        </p:nvSpPr>
        <p:spPr>
          <a:xfrm>
            <a:off x="6124575" y="6477000"/>
            <a:ext cx="5191125" cy="123825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 w="12700">
            <a:solidFill>
              <a:srgbClr val="5B4FA8"/>
            </a:solidFill>
            <a:prstDash val="dash"/>
          </a:ln>
        </p:spPr>
      </p:sp>
      <p:sp>
        <p:nvSpPr>
          <p:cNvPr id="142" name="Text 123"/>
          <p:cNvSpPr txBox="1"/>
          <p:nvPr/>
        </p:nvSpPr>
        <p:spPr>
          <a:xfrm>
            <a:off x="6238875" y="65532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</a:t>
            </a:r>
            <a:endParaRPr lang="en-US" sz="900" dirty="0"/>
          </a:p>
        </p:txBody>
      </p:sp>
      <p:sp>
        <p:nvSpPr>
          <p:cNvPr id="143" name="Shape 124"/>
          <p:cNvSpPr/>
          <p:nvPr/>
        </p:nvSpPr>
        <p:spPr>
          <a:xfrm>
            <a:off x="6238875" y="6781800"/>
            <a:ext cx="17716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44" name="Shape 125"/>
          <p:cNvSpPr/>
          <p:nvPr/>
        </p:nvSpPr>
        <p:spPr>
          <a:xfrm>
            <a:off x="6353175" y="69151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F4E8C"/>
          </a:solidFill>
          <a:ln/>
        </p:spPr>
      </p:sp>
      <p:pic>
        <p:nvPicPr>
          <p:cNvPr id="1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67475" y="7029450"/>
            <a:ext cx="228600" cy="228600"/>
          </a:xfrm>
          <a:prstGeom prst="rect">
            <a:avLst/>
          </a:prstGeom>
        </p:spPr>
      </p:pic>
      <p:sp>
        <p:nvSpPr>
          <p:cNvPr id="146" name="Text 126"/>
          <p:cNvSpPr txBox="1"/>
          <p:nvPr/>
        </p:nvSpPr>
        <p:spPr>
          <a:xfrm>
            <a:off x="6886575" y="6819900"/>
            <a:ext cx="1085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 and Agent One sessions</a:t>
            </a:r>
            <a:endParaRPr lang="en-US" sz="1000" dirty="0"/>
          </a:p>
        </p:txBody>
      </p:sp>
      <p:sp>
        <p:nvSpPr>
          <p:cNvPr id="147" name="Shape 127"/>
          <p:cNvSpPr/>
          <p:nvPr/>
        </p:nvSpPr>
        <p:spPr>
          <a:xfrm>
            <a:off x="8143875" y="68008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58175" y="6896100"/>
            <a:ext cx="133350" cy="133350"/>
          </a:xfrm>
          <a:prstGeom prst="rect">
            <a:avLst/>
          </a:prstGeom>
        </p:spPr>
      </p:pic>
      <p:sp>
        <p:nvSpPr>
          <p:cNvPr id="149" name="Text 128"/>
          <p:cNvSpPr txBox="1"/>
          <p:nvPr/>
        </p:nvSpPr>
        <p:spPr>
          <a:xfrm>
            <a:off x="8467725" y="68008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 traces</a:t>
            </a:r>
            <a:endParaRPr lang="en-US" sz="950" dirty="0"/>
          </a:p>
        </p:txBody>
      </p:sp>
      <p:sp>
        <p:nvSpPr>
          <p:cNvPr id="150" name="Shape 129"/>
          <p:cNvSpPr/>
          <p:nvPr/>
        </p:nvSpPr>
        <p:spPr>
          <a:xfrm>
            <a:off x="9705975" y="68008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20275" y="6896100"/>
            <a:ext cx="133350" cy="133350"/>
          </a:xfrm>
          <a:prstGeom prst="rect">
            <a:avLst/>
          </a:prstGeom>
        </p:spPr>
      </p:pic>
      <p:sp>
        <p:nvSpPr>
          <p:cNvPr id="152" name="Text 130"/>
          <p:cNvSpPr txBox="1"/>
          <p:nvPr/>
        </p:nvSpPr>
        <p:spPr>
          <a:xfrm>
            <a:off x="10029825" y="68008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&amp; sources</a:t>
            </a:r>
            <a:endParaRPr lang="en-US" sz="950" dirty="0"/>
          </a:p>
        </p:txBody>
      </p:sp>
      <p:sp>
        <p:nvSpPr>
          <p:cNvPr id="153" name="Shape 131"/>
          <p:cNvSpPr/>
          <p:nvPr/>
        </p:nvSpPr>
        <p:spPr>
          <a:xfrm>
            <a:off x="8143875" y="72199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5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58175" y="7315200"/>
            <a:ext cx="133350" cy="133350"/>
          </a:xfrm>
          <a:prstGeom prst="rect">
            <a:avLst/>
          </a:prstGeom>
        </p:spPr>
      </p:pic>
      <p:sp>
        <p:nvSpPr>
          <p:cNvPr id="155" name="Text 132"/>
          <p:cNvSpPr txBox="1"/>
          <p:nvPr/>
        </p:nvSpPr>
        <p:spPr>
          <a:xfrm>
            <a:off x="8467725" y="72199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950" dirty="0"/>
          </a:p>
        </p:txBody>
      </p:sp>
      <p:sp>
        <p:nvSpPr>
          <p:cNvPr id="156" name="Shape 133"/>
          <p:cNvSpPr/>
          <p:nvPr/>
        </p:nvSpPr>
        <p:spPr>
          <a:xfrm>
            <a:off x="9705975" y="72199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5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20275" y="7315200"/>
            <a:ext cx="133350" cy="133350"/>
          </a:xfrm>
          <a:prstGeom prst="rect">
            <a:avLst/>
          </a:prstGeom>
        </p:spPr>
      </p:pic>
      <p:sp>
        <p:nvSpPr>
          <p:cNvPr id="158" name="Text 134"/>
          <p:cNvSpPr txBox="1"/>
          <p:nvPr/>
        </p:nvSpPr>
        <p:spPr>
          <a:xfrm>
            <a:off x="10029825" y="72199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 &amp; health</a:t>
            </a:r>
            <a:endParaRPr lang="en-US" sz="950" dirty="0"/>
          </a:p>
        </p:txBody>
      </p:sp>
      <p:sp>
        <p:nvSpPr>
          <p:cNvPr id="159" name="Shape 135"/>
          <p:cNvSpPr/>
          <p:nvPr/>
        </p:nvSpPr>
        <p:spPr>
          <a:xfrm>
            <a:off x="11744325" y="6477000"/>
            <a:ext cx="2381250" cy="1238250"/>
          </a:xfrm>
          <a:prstGeom prst="roundRect">
            <a:avLst>
              <a:gd name="adj" fmla="val 6154"/>
            </a:avLst>
          </a:prstGeom>
          <a:solidFill>
            <a:srgbClr val="F1F4F8"/>
          </a:solidFill>
          <a:ln w="12700">
            <a:solidFill>
              <a:srgbClr val="5A6B82"/>
            </a:solidFill>
            <a:prstDash val="dash"/>
          </a:ln>
        </p:spPr>
      </p:sp>
      <p:sp>
        <p:nvSpPr>
          <p:cNvPr id="160" name="Text 136"/>
          <p:cNvSpPr txBox="1"/>
          <p:nvPr/>
        </p:nvSpPr>
        <p:spPr>
          <a:xfrm>
            <a:off x="11858625" y="65532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 (EXISTING)</a:t>
            </a:r>
            <a:endParaRPr lang="en-US" sz="900" dirty="0"/>
          </a:p>
        </p:txBody>
      </p:sp>
      <p:sp>
        <p:nvSpPr>
          <p:cNvPr id="161" name="Shape 137"/>
          <p:cNvSpPr/>
          <p:nvPr/>
        </p:nvSpPr>
        <p:spPr>
          <a:xfrm>
            <a:off x="11858625" y="6800850"/>
            <a:ext cx="21526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6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972925" y="6896100"/>
            <a:ext cx="133350" cy="133350"/>
          </a:xfrm>
          <a:prstGeom prst="rect">
            <a:avLst/>
          </a:prstGeom>
        </p:spPr>
      </p:pic>
      <p:sp>
        <p:nvSpPr>
          <p:cNvPr id="163" name="Text 138"/>
          <p:cNvSpPr txBox="1"/>
          <p:nvPr/>
        </p:nvSpPr>
        <p:spPr>
          <a:xfrm>
            <a:off x="12182475" y="680085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 &amp; approvals</a:t>
            </a:r>
            <a:endParaRPr lang="en-US" sz="950" dirty="0"/>
          </a:p>
        </p:txBody>
      </p:sp>
      <p:sp>
        <p:nvSpPr>
          <p:cNvPr id="164" name="Shape 139"/>
          <p:cNvSpPr/>
          <p:nvPr/>
        </p:nvSpPr>
        <p:spPr>
          <a:xfrm>
            <a:off x="11858625" y="7219950"/>
            <a:ext cx="21526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6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972925" y="7315200"/>
            <a:ext cx="133350" cy="133350"/>
          </a:xfrm>
          <a:prstGeom prst="rect">
            <a:avLst/>
          </a:prstGeom>
        </p:spPr>
      </p:pic>
      <p:sp>
        <p:nvSpPr>
          <p:cNvPr id="166" name="Text 140"/>
          <p:cNvSpPr txBox="1"/>
          <p:nvPr/>
        </p:nvSpPr>
        <p:spPr>
          <a:xfrm>
            <a:off x="12182475" y="721995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approvals</a:t>
            </a:r>
            <a:endParaRPr lang="en-US" sz="950" dirty="0"/>
          </a:p>
        </p:txBody>
      </p:sp>
      <p:sp>
        <p:nvSpPr>
          <p:cNvPr id="167" name="Text 141"/>
          <p:cNvSpPr txBox="1"/>
          <p:nvPr/>
        </p:nvSpPr>
        <p:spPr>
          <a:xfrm>
            <a:off x="504825" y="78295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168" name="Shape 142"/>
          <p:cNvSpPr/>
          <p:nvPr/>
        </p:nvSpPr>
        <p:spPr>
          <a:xfrm>
            <a:off x="50482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69" name="Shape 143"/>
          <p:cNvSpPr/>
          <p:nvPr/>
        </p:nvSpPr>
        <p:spPr>
          <a:xfrm>
            <a:off x="657225" y="8343900"/>
            <a:ext cx="495300" cy="495300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17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1050" y="8467725"/>
            <a:ext cx="247650" cy="247650"/>
          </a:xfrm>
          <a:prstGeom prst="rect">
            <a:avLst/>
          </a:prstGeom>
        </p:spPr>
      </p:pic>
      <p:sp>
        <p:nvSpPr>
          <p:cNvPr id="171" name="Text 144"/>
          <p:cNvSpPr txBox="1"/>
          <p:nvPr/>
        </p:nvSpPr>
        <p:spPr>
          <a:xfrm>
            <a:off x="128587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ready before desk time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run automatically once books are available</a:t>
            </a:r>
            <a:endParaRPr lang="en-US" sz="1000" dirty="0"/>
          </a:p>
        </p:txBody>
      </p:sp>
      <p:sp>
        <p:nvSpPr>
          <p:cNvPr id="172" name="Shape 145"/>
          <p:cNvSpPr/>
          <p:nvPr/>
        </p:nvSpPr>
        <p:spPr>
          <a:xfrm>
            <a:off x="395287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73" name="Shape 146"/>
          <p:cNvSpPr/>
          <p:nvPr/>
        </p:nvSpPr>
        <p:spPr>
          <a:xfrm>
            <a:off x="4105275" y="8343900"/>
            <a:ext cx="495300" cy="495300"/>
          </a:xfrm>
          <a:prstGeom prst="ellipse">
            <a:avLst/>
          </a:prstGeom>
          <a:solidFill>
            <a:srgbClr val="1F6FB5"/>
          </a:solidFill>
          <a:ln/>
        </p:spPr>
      </p:sp>
      <p:pic>
        <p:nvPicPr>
          <p:cNvPr id="17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29100" y="8467725"/>
            <a:ext cx="247650" cy="247650"/>
          </a:xfrm>
          <a:prstGeom prst="rect">
            <a:avLst/>
          </a:prstGeom>
        </p:spPr>
      </p:pic>
      <p:sp>
        <p:nvSpPr>
          <p:cNvPr id="175" name="Text 147"/>
          <p:cNvSpPr txBox="1"/>
          <p:nvPr/>
        </p:nvSpPr>
        <p:spPr>
          <a:xfrm>
            <a:off x="473392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approve every adjustment before FAS posts it to MOTIF</a:t>
            </a:r>
            <a:endParaRPr lang="en-US" sz="1000" dirty="0"/>
          </a:p>
        </p:txBody>
      </p:sp>
      <p:sp>
        <p:nvSpPr>
          <p:cNvPr id="176" name="Shape 148"/>
          <p:cNvSpPr/>
          <p:nvPr/>
        </p:nvSpPr>
        <p:spPr>
          <a:xfrm>
            <a:off x="740092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77" name="Shape 149"/>
          <p:cNvSpPr/>
          <p:nvPr/>
        </p:nvSpPr>
        <p:spPr>
          <a:xfrm>
            <a:off x="7553325" y="8343900"/>
            <a:ext cx="495300" cy="495300"/>
          </a:xfrm>
          <a:prstGeom prst="ellipse">
            <a:avLst/>
          </a:prstGeom>
          <a:solidFill>
            <a:srgbClr val="5B4FA8"/>
          </a:solidFill>
          <a:ln/>
        </p:spPr>
      </p:sp>
      <p:pic>
        <p:nvPicPr>
          <p:cNvPr id="17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77150" y="8467725"/>
            <a:ext cx="247650" cy="247650"/>
          </a:xfrm>
          <a:prstGeom prst="rect">
            <a:avLst/>
          </a:prstGeom>
        </p:spPr>
      </p:pic>
      <p:sp>
        <p:nvSpPr>
          <p:cNvPr id="179" name="Text 150"/>
          <p:cNvSpPr txBox="1"/>
          <p:nvPr/>
        </p:nvSpPr>
        <p:spPr>
          <a:xfrm>
            <a:off x="818197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traced in Phoenix, user and event actions in application audit</a:t>
            </a:r>
            <a:endParaRPr lang="en-US" sz="1000" dirty="0"/>
          </a:p>
        </p:txBody>
      </p:sp>
      <p:sp>
        <p:nvSpPr>
          <p:cNvPr id="180" name="Shape 151"/>
          <p:cNvSpPr/>
          <p:nvPr/>
        </p:nvSpPr>
        <p:spPr>
          <a:xfrm>
            <a:off x="1084897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81" name="Shape 152"/>
          <p:cNvSpPr/>
          <p:nvPr/>
        </p:nvSpPr>
        <p:spPr>
          <a:xfrm>
            <a:off x="11001375" y="8343900"/>
            <a:ext cx="495300" cy="495300"/>
          </a:xfrm>
          <a:prstGeom prst="ellipse">
            <a:avLst/>
          </a:prstGeom>
          <a:solidFill>
            <a:srgbClr val="1B4F93"/>
          </a:solidFill>
          <a:ln/>
        </p:spPr>
      </p:sp>
      <p:pic>
        <p:nvPicPr>
          <p:cNvPr id="18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125200" y="8467725"/>
            <a:ext cx="247650" cy="247650"/>
          </a:xfrm>
          <a:prstGeom prst="rect">
            <a:avLst/>
          </a:prstGeom>
        </p:spPr>
      </p:pic>
      <p:sp>
        <p:nvSpPr>
          <p:cNvPr id="183" name="Text 153"/>
          <p:cNvSpPr txBox="1"/>
          <p:nvPr/>
        </p:nvSpPr>
        <p:spPr>
          <a:xfrm>
            <a:off x="1163002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by workspace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L4 workspaces without new builds</a:t>
            </a:r>
            <a:endParaRPr lang="en-US" sz="1000" dirty="0"/>
          </a:p>
        </p:txBody>
      </p:sp>
      <p:sp>
        <p:nvSpPr>
          <p:cNvPr id="184" name="Shape 154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185" name="Text 155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Reconciliation - AI Powered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 Office &amp; Back Office Books)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047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alerts to actionable insights, faster, smarter, and auditable.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" y="1238250"/>
            <a:ext cx="2495550" cy="4743450"/>
          </a:xfrm>
          <a:prstGeom prst="roundRect">
            <a:avLst>
              <a:gd name="adj" fmla="val 3053"/>
            </a:avLst>
          </a:prstGeom>
          <a:solidFill>
            <a:srgbClr val="E6F0FA"/>
          </a:solidFill>
          <a:ln/>
        </p:spPr>
      </p:sp>
      <p:sp>
        <p:nvSpPr>
          <p:cNvPr id="8" name="Shape 6"/>
          <p:cNvSpPr/>
          <p:nvPr/>
        </p:nvSpPr>
        <p:spPr>
          <a:xfrm>
            <a:off x="247650" y="1352550"/>
            <a:ext cx="304800" cy="304800"/>
          </a:xfrm>
          <a:prstGeom prst="ellipse">
            <a:avLst/>
          </a:prstGeom>
          <a:solidFill>
            <a:srgbClr val="1F5FA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765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19375" y="3781425"/>
            <a:ext cx="8572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24150" y="1238250"/>
            <a:ext cx="2247900" cy="4743450"/>
          </a:xfrm>
          <a:prstGeom prst="roundRect">
            <a:avLst>
              <a:gd name="adj" fmla="val 3390"/>
            </a:avLst>
          </a:prstGeom>
          <a:solidFill>
            <a:srgbClr val="E6F0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857500" y="1352550"/>
            <a:ext cx="304800" cy="30480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5750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81575" y="3781425"/>
            <a:ext cx="76200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76825" y="1238250"/>
            <a:ext cx="2286000" cy="4743450"/>
          </a:xfrm>
          <a:prstGeom prst="roundRect">
            <a:avLst>
              <a:gd name="adj" fmla="val 3333"/>
            </a:avLst>
          </a:prstGeom>
          <a:solidFill>
            <a:srgbClr val="E3F4EC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0175" y="1352550"/>
            <a:ext cx="304800" cy="30480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0175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72350" y="3781425"/>
            <a:ext cx="95250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86650" y="1238250"/>
            <a:ext cx="2438400" cy="4743450"/>
          </a:xfrm>
          <a:prstGeom prst="roundRect">
            <a:avLst>
              <a:gd name="adj" fmla="val 3125"/>
            </a:avLst>
          </a:prstGeom>
          <a:solidFill>
            <a:srgbClr val="EEEA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0" y="1352550"/>
            <a:ext cx="304800" cy="304800"/>
          </a:xfrm>
          <a:prstGeom prst="ellipse">
            <a:avLst/>
          </a:prstGeom>
          <a:solidFill>
            <a:srgbClr val="5B4F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2000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934575" y="3781425"/>
            <a:ext cx="8572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39350" y="1238250"/>
            <a:ext cx="2266950" cy="4743450"/>
          </a:xfrm>
          <a:prstGeom prst="roundRect">
            <a:avLst>
              <a:gd name="adj" fmla="val 3361"/>
            </a:avLst>
          </a:prstGeom>
          <a:solidFill>
            <a:srgbClr val="E6F0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72700" y="1352550"/>
            <a:ext cx="304800" cy="304800"/>
          </a:xfrm>
          <a:prstGeom prst="ellipse">
            <a:avLst/>
          </a:prstGeom>
          <a:solidFill>
            <a:srgbClr val="1F6FB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7270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315825" y="3781425"/>
            <a:ext cx="8572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420600" y="1238250"/>
            <a:ext cx="2114550" cy="4743450"/>
          </a:xfrm>
          <a:prstGeom prst="roundRect">
            <a:avLst>
              <a:gd name="adj" fmla="val 3604"/>
            </a:avLst>
          </a:prstGeom>
          <a:solidFill>
            <a:srgbClr val="E6F0FA"/>
          </a:solidFill>
          <a:ln/>
        </p:spPr>
      </p:sp>
      <p:sp>
        <p:nvSpPr>
          <p:cNvPr id="28" name="Shape 26"/>
          <p:cNvSpPr/>
          <p:nvPr/>
        </p:nvSpPr>
        <p:spPr>
          <a:xfrm>
            <a:off x="12553950" y="1352550"/>
            <a:ext cx="304800" cy="304800"/>
          </a:xfrm>
          <a:prstGeom prst="ellipse">
            <a:avLst/>
          </a:prstGeom>
          <a:solidFill>
            <a:srgbClr val="1F4E8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55395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8650" y="1352550"/>
            <a:ext cx="1943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Workspaces (CATS vs MOTIF)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247650" y="1847850"/>
            <a:ext cx="226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L4 is a CATS vs MOTIF workspace with its own set of master books.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7650" y="2247900"/>
            <a:ext cx="2228850" cy="476250"/>
          </a:xfrm>
          <a:prstGeom prst="roundRect">
            <a:avLst>
              <a:gd name="adj" fmla="val 12000"/>
            </a:avLst>
          </a:prstGeom>
          <a:solidFill>
            <a:srgbClr val="1B4F93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333625"/>
            <a:ext cx="285750" cy="28575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800100" y="2266950"/>
            <a:ext cx="1638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Rec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workspace per L4)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47650" y="2800350"/>
            <a:ext cx="2228850" cy="1047750"/>
          </a:xfrm>
          <a:prstGeom prst="roundRect">
            <a:avLst>
              <a:gd name="adj" fmla="val 4545"/>
            </a:avLst>
          </a:prstGeom>
          <a:solidFill>
            <a:srgbClr val="F7FAFE"/>
          </a:solidFill>
          <a:ln w="12700">
            <a:solidFill>
              <a:srgbClr val="B9CF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42900" y="2838450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(examples)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1950" y="3028950"/>
            <a:ext cx="2000250" cy="228600"/>
          </a:xfrm>
          <a:prstGeom prst="roundRect">
            <a:avLst>
              <a:gd name="adj" fmla="val 16667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76575"/>
            <a:ext cx="133350" cy="13335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66750" y="30289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FI Credit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61950" y="3295650"/>
            <a:ext cx="2000250" cy="228600"/>
          </a:xfrm>
          <a:prstGeom prst="roundRect">
            <a:avLst>
              <a:gd name="adj" fmla="val 16667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43275"/>
            <a:ext cx="133350" cy="13335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666750" y="32956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Rates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361950" y="3562350"/>
            <a:ext cx="2000250" cy="228600"/>
          </a:xfrm>
          <a:prstGeom prst="roundRect">
            <a:avLst>
              <a:gd name="adj" fmla="val 16667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09975"/>
            <a:ext cx="133350" cy="13335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666750" y="35623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Prime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247650" y="3924300"/>
            <a:ext cx="2228850" cy="400050"/>
          </a:xfrm>
          <a:prstGeom prst="roundRect">
            <a:avLst>
              <a:gd name="adj" fmla="val 11905"/>
            </a:avLst>
          </a:prstGeom>
          <a:solidFill>
            <a:srgbClr val="F7FAFE"/>
          </a:solidFill>
          <a:ln w="12700">
            <a:solidFill>
              <a:srgbClr val="B9CFEA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" y="3990975"/>
            <a:ext cx="266700" cy="26670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742950" y="3943350"/>
            <a:ext cx="16954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Assigned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 owner per workspace)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247650" y="4400550"/>
            <a:ext cx="2228850" cy="1466850"/>
          </a:xfrm>
          <a:prstGeom prst="roundRect">
            <a:avLst>
              <a:gd name="adj" fmla="val 3247"/>
            </a:avLst>
          </a:prstGeom>
          <a:solidFill>
            <a:srgbClr val="F7FAFE"/>
          </a:solidFill>
          <a:ln w="12700">
            <a:solidFill>
              <a:srgbClr val="B9CFEA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323850" y="44386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workspace contains X Master Books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361950" y="4667250"/>
            <a:ext cx="2000250" cy="304800"/>
          </a:xfrm>
          <a:prstGeom prst="roundRect">
            <a:avLst>
              <a:gd name="adj" fmla="val 125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4752975"/>
            <a:ext cx="133350" cy="133350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781050" y="46672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Books</a:t>
            </a:r>
            <a:endParaRPr lang="en-US" sz="950" dirty="0"/>
          </a:p>
        </p:txBody>
      </p:sp>
      <p:sp>
        <p:nvSpPr>
          <p:cNvPr id="54" name="Shape 46"/>
          <p:cNvSpPr/>
          <p:nvPr/>
        </p:nvSpPr>
        <p:spPr>
          <a:xfrm>
            <a:off x="361950" y="5048250"/>
            <a:ext cx="2000250" cy="304800"/>
          </a:xfrm>
          <a:prstGeom prst="roundRect">
            <a:avLst>
              <a:gd name="adj" fmla="val 125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5133975"/>
            <a:ext cx="133350" cy="13335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781050" y="50482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Books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361950" y="5429250"/>
            <a:ext cx="2000250" cy="304800"/>
          </a:xfrm>
          <a:prstGeom prst="roundRect">
            <a:avLst>
              <a:gd name="adj" fmla="val 125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5514975"/>
            <a:ext cx="133350" cy="133350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781050" y="54292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related books</a:t>
            </a:r>
            <a:endParaRPr lang="en-US" sz="950" dirty="0"/>
          </a:p>
        </p:txBody>
      </p:sp>
      <p:sp>
        <p:nvSpPr>
          <p:cNvPr id="60" name="Text 50"/>
          <p:cNvSpPr txBox="1"/>
          <p:nvPr/>
        </p:nvSpPr>
        <p:spPr>
          <a:xfrm>
            <a:off x="3238500" y="1352550"/>
            <a:ext cx="1695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&amp; Readiness Events</a:t>
            </a:r>
            <a:endParaRPr lang="en-US" sz="1350" dirty="0"/>
          </a:p>
        </p:txBody>
      </p:sp>
      <p:sp>
        <p:nvSpPr>
          <p:cNvPr id="61" name="Text 51"/>
          <p:cNvSpPr txBox="1"/>
          <p:nvPr/>
        </p:nvSpPr>
        <p:spPr>
          <a:xfrm>
            <a:off x="2857500" y="18478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sends book availability to One Fin UX, which raises the final Ready event.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2838450" y="2514600"/>
            <a:ext cx="2019300" cy="3352800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952750" y="2628900"/>
            <a:ext cx="1790700" cy="438150"/>
          </a:xfrm>
          <a:prstGeom prst="roundRect">
            <a:avLst>
              <a:gd name="adj" fmla="val 8696"/>
            </a:avLst>
          </a:prstGeom>
          <a:solidFill>
            <a:srgbClr val="EEF3F9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0" y="2733675"/>
            <a:ext cx="228600" cy="228600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3371850" y="2647950"/>
            <a:ext cx="1333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recs</a:t>
            </a:r>
            <a:endParaRPr lang="en-US" sz="1000" dirty="0"/>
          </a:p>
        </p:txBody>
      </p:sp>
      <p:sp>
        <p:nvSpPr>
          <p:cNvPr id="66" name="Shape 55"/>
          <p:cNvSpPr/>
          <p:nvPr/>
        </p:nvSpPr>
        <p:spPr>
          <a:xfrm>
            <a:off x="3848100" y="3086100"/>
            <a:ext cx="0" cy="2857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67" name="Text 56"/>
          <p:cNvSpPr txBox="1"/>
          <p:nvPr/>
        </p:nvSpPr>
        <p:spPr>
          <a:xfrm>
            <a:off x="3905250" y="31051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 availability events</a:t>
            </a:r>
            <a:endParaRPr lang="en-US" sz="800" dirty="0"/>
          </a:p>
        </p:txBody>
      </p:sp>
      <p:sp>
        <p:nvSpPr>
          <p:cNvPr id="68" name="Shape 57"/>
          <p:cNvSpPr/>
          <p:nvPr/>
        </p:nvSpPr>
        <p:spPr>
          <a:xfrm>
            <a:off x="2952750" y="3409950"/>
            <a:ext cx="1790700" cy="438150"/>
          </a:xfrm>
          <a:prstGeom prst="roundRect">
            <a:avLst>
              <a:gd name="adj" fmla="val 8696"/>
            </a:avLst>
          </a:prstGeom>
          <a:solidFill>
            <a:srgbClr val="EEF3F9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0" y="3514725"/>
            <a:ext cx="228600" cy="228600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3371850" y="3429000"/>
            <a:ext cx="13525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 per workspace</a:t>
            </a:r>
            <a:endParaRPr lang="en-US" sz="1000" dirty="0"/>
          </a:p>
        </p:txBody>
      </p:sp>
      <p:sp>
        <p:nvSpPr>
          <p:cNvPr id="71" name="Shape 59"/>
          <p:cNvSpPr/>
          <p:nvPr/>
        </p:nvSpPr>
        <p:spPr>
          <a:xfrm>
            <a:off x="2952750" y="3962400"/>
            <a:ext cx="17907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2F2"/>
            </a:solidFill>
            <a:prstDash val="solid"/>
          </a:ln>
        </p:spPr>
      </p:sp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8950" y="4010025"/>
            <a:ext cx="190500" cy="190500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3295650" y="39624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 books available: Ready</a:t>
            </a:r>
            <a:endParaRPr lang="en-US" sz="900" dirty="0"/>
          </a:p>
        </p:txBody>
      </p:sp>
      <p:sp>
        <p:nvSpPr>
          <p:cNvPr id="74" name="Shape 61"/>
          <p:cNvSpPr/>
          <p:nvPr/>
        </p:nvSpPr>
        <p:spPr>
          <a:xfrm>
            <a:off x="2952750" y="4305300"/>
            <a:ext cx="17907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2F2"/>
            </a:solidFill>
            <a:prstDash val="solid"/>
          </a:ln>
        </p:spPr>
      </p:sp>
      <p:pic>
        <p:nvPicPr>
          <p:cNvPr id="7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8950" y="4352925"/>
            <a:ext cx="190500" cy="190500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3295650" y="43053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pending: Not Ready</a:t>
            </a:r>
            <a:endParaRPr lang="en-US" sz="900" dirty="0"/>
          </a:p>
        </p:txBody>
      </p:sp>
      <p:sp>
        <p:nvSpPr>
          <p:cNvPr id="77" name="Shape 63"/>
          <p:cNvSpPr/>
          <p:nvPr/>
        </p:nvSpPr>
        <p:spPr>
          <a:xfrm>
            <a:off x="3848100" y="4629150"/>
            <a:ext cx="0" cy="2095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78" name="Shape 64"/>
          <p:cNvSpPr/>
          <p:nvPr/>
        </p:nvSpPr>
        <p:spPr>
          <a:xfrm>
            <a:off x="2952750" y="4876800"/>
            <a:ext cx="1790700" cy="876300"/>
          </a:xfrm>
          <a:prstGeom prst="roundRect">
            <a:avLst>
              <a:gd name="adj" fmla="val 5435"/>
            </a:avLst>
          </a:prstGeom>
          <a:solidFill>
            <a:srgbClr val="1B4F93"/>
          </a:solidFill>
          <a:ln/>
        </p:spPr>
      </p:sp>
      <p:pic>
        <p:nvPicPr>
          <p:cNvPr id="7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0" y="4972050"/>
            <a:ext cx="190500" cy="190500"/>
          </a:xfrm>
          <a:prstGeom prst="rect">
            <a:avLst/>
          </a:prstGeom>
        </p:spPr>
      </p:pic>
      <p:sp>
        <p:nvSpPr>
          <p:cNvPr id="80" name="Text 65"/>
          <p:cNvSpPr txBox="1"/>
          <p:nvPr/>
        </p:nvSpPr>
        <p:spPr>
          <a:xfrm>
            <a:off x="3314700" y="49339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</a:t>
            </a:r>
            <a:endParaRPr lang="en-US" sz="1100" dirty="0"/>
          </a:p>
        </p:txBody>
      </p:sp>
      <p:sp>
        <p:nvSpPr>
          <p:cNvPr id="81" name="Text 66"/>
          <p:cNvSpPr txBox="1"/>
          <p:nvPr/>
        </p:nvSpPr>
        <p:spPr>
          <a:xfrm>
            <a:off x="3048000" y="5219700"/>
            <a:ext cx="1638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Helix Agent to start the automated session analysis</a:t>
            </a:r>
            <a:endParaRPr lang="en-US" sz="900" dirty="0"/>
          </a:p>
        </p:txBody>
      </p:sp>
      <p:sp>
        <p:nvSpPr>
          <p:cNvPr id="82" name="Text 67"/>
          <p:cNvSpPr txBox="1"/>
          <p:nvPr/>
        </p:nvSpPr>
        <p:spPr>
          <a:xfrm>
            <a:off x="5591175" y="1352550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350" dirty="0"/>
          </a:p>
        </p:txBody>
      </p:sp>
      <p:sp>
        <p:nvSpPr>
          <p:cNvPr id="83" name="Text 68"/>
          <p:cNvSpPr txBox="1"/>
          <p:nvPr/>
        </p:nvSpPr>
        <p:spPr>
          <a:xfrm>
            <a:off x="5210175" y="1752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final Ready event from One Fin UX, validates the workspace and starts an automated session with Agent One / LLM.</a:t>
            </a:r>
            <a:endParaRPr lang="en-US" sz="1050" dirty="0"/>
          </a:p>
        </p:txBody>
      </p:sp>
      <p:sp>
        <p:nvSpPr>
          <p:cNvPr id="84" name="Shape 69"/>
          <p:cNvSpPr/>
          <p:nvPr/>
        </p:nvSpPr>
        <p:spPr>
          <a:xfrm>
            <a:off x="5200650" y="2590800"/>
            <a:ext cx="2038350" cy="2914650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8FCBAE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 rot="5400000">
            <a:off x="5581650" y="2686050"/>
            <a:ext cx="419100" cy="385572"/>
          </a:xfrm>
          <a:prstGeom prst="hexagon">
            <a:avLst/>
          </a:prstGeom>
          <a:solidFill>
            <a:srgbClr val="1B4F93"/>
          </a:solidFill>
          <a:ln/>
        </p:spPr>
      </p:sp>
      <p:sp>
        <p:nvSpPr>
          <p:cNvPr id="86" name="Text 71"/>
          <p:cNvSpPr txBox="1"/>
          <p:nvPr/>
        </p:nvSpPr>
        <p:spPr>
          <a:xfrm>
            <a:off x="5581650" y="2686050"/>
            <a:ext cx="4191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48" dirty="0"/>
          </a:p>
        </p:txBody>
      </p:sp>
      <p:sp>
        <p:nvSpPr>
          <p:cNvPr id="87" name="Text 72"/>
          <p:cNvSpPr txBox="1"/>
          <p:nvPr/>
        </p:nvSpPr>
        <p:spPr>
          <a:xfrm>
            <a:off x="6115050" y="2724150"/>
            <a:ext cx="104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250" dirty="0"/>
          </a:p>
        </p:txBody>
      </p:sp>
      <p:sp>
        <p:nvSpPr>
          <p:cNvPr id="88" name="Shape 73"/>
          <p:cNvSpPr/>
          <p:nvPr/>
        </p:nvSpPr>
        <p:spPr>
          <a:xfrm>
            <a:off x="5314950" y="3295650"/>
            <a:ext cx="18097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8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9250" y="3419475"/>
            <a:ext cx="209550" cy="209550"/>
          </a:xfrm>
          <a:prstGeom prst="rect">
            <a:avLst/>
          </a:prstGeom>
        </p:spPr>
      </p:pic>
      <p:sp>
        <p:nvSpPr>
          <p:cNvPr id="90" name="Text 74"/>
          <p:cNvSpPr txBox="1"/>
          <p:nvPr/>
        </p:nvSpPr>
        <p:spPr>
          <a:xfrm>
            <a:off x="5772150" y="3333750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Ready event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One Fin UX)</a:t>
            </a:r>
            <a:endParaRPr lang="en-US" sz="1000" dirty="0"/>
          </a:p>
        </p:txBody>
      </p:sp>
      <p:sp>
        <p:nvSpPr>
          <p:cNvPr id="91" name="Shape 75"/>
          <p:cNvSpPr/>
          <p:nvPr/>
        </p:nvSpPr>
        <p:spPr>
          <a:xfrm>
            <a:off x="6219825" y="3771900"/>
            <a:ext cx="0" cy="1714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92" name="Shape 76"/>
          <p:cNvSpPr/>
          <p:nvPr/>
        </p:nvSpPr>
        <p:spPr>
          <a:xfrm>
            <a:off x="5314950" y="3990975"/>
            <a:ext cx="18097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9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9250" y="4114800"/>
            <a:ext cx="209550" cy="209550"/>
          </a:xfrm>
          <a:prstGeom prst="rect">
            <a:avLst/>
          </a:prstGeom>
        </p:spPr>
      </p:pic>
      <p:sp>
        <p:nvSpPr>
          <p:cNvPr id="94" name="Text 77"/>
          <p:cNvSpPr txBox="1"/>
          <p:nvPr/>
        </p:nvSpPr>
        <p:spPr>
          <a:xfrm>
            <a:off x="5772150" y="4029075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workspace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95" name="Shape 78"/>
          <p:cNvSpPr/>
          <p:nvPr/>
        </p:nvSpPr>
        <p:spPr>
          <a:xfrm>
            <a:off x="6219825" y="4467225"/>
            <a:ext cx="0" cy="1714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96" name="Shape 79"/>
          <p:cNvSpPr/>
          <p:nvPr/>
        </p:nvSpPr>
        <p:spPr>
          <a:xfrm>
            <a:off x="5314950" y="4686300"/>
            <a:ext cx="18097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29250" y="4810125"/>
            <a:ext cx="209550" cy="209550"/>
          </a:xfrm>
          <a:prstGeom prst="rect">
            <a:avLst/>
          </a:prstGeom>
        </p:spPr>
      </p:pic>
      <p:sp>
        <p:nvSpPr>
          <p:cNvPr id="98" name="Text 80"/>
          <p:cNvSpPr txBox="1"/>
          <p:nvPr/>
        </p:nvSpPr>
        <p:spPr>
          <a:xfrm>
            <a:off x="5772150" y="4724400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automated session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One / LLM)</a:t>
            </a:r>
            <a:endParaRPr lang="en-US" sz="1000" dirty="0"/>
          </a:p>
        </p:txBody>
      </p:sp>
      <p:sp>
        <p:nvSpPr>
          <p:cNvPr id="99" name="Text 81"/>
          <p:cNvSpPr txBox="1"/>
          <p:nvPr/>
        </p:nvSpPr>
        <p:spPr>
          <a:xfrm>
            <a:off x="8001000" y="1352550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Session</a:t>
            </a:r>
            <a:endParaRPr lang="en-US" sz="1350" dirty="0"/>
          </a:p>
        </p:txBody>
      </p:sp>
      <p:sp>
        <p:nvSpPr>
          <p:cNvPr id="100" name="Text 82"/>
          <p:cNvSpPr txBox="1"/>
          <p:nvPr/>
        </p:nvSpPr>
        <p:spPr>
          <a:xfrm>
            <a:off x="7620000" y="1752600"/>
            <a:ext cx="220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context, skills and files. Skills include MCP tool calls to fetch data from other systems.</a:t>
            </a:r>
            <a:endParaRPr lang="en-US" sz="1050" dirty="0"/>
          </a:p>
        </p:txBody>
      </p:sp>
      <p:sp>
        <p:nvSpPr>
          <p:cNvPr id="101" name="Shape 83"/>
          <p:cNvSpPr/>
          <p:nvPr/>
        </p:nvSpPr>
        <p:spPr>
          <a:xfrm>
            <a:off x="7581900" y="2533650"/>
            <a:ext cx="2247900" cy="3371850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B3A8DE"/>
            </a:solidFill>
            <a:prstDash val="solid"/>
          </a:ln>
        </p:spPr>
      </p:sp>
      <p:pic>
        <p:nvPicPr>
          <p:cNvPr id="10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96200" y="2628900"/>
            <a:ext cx="304800" cy="304800"/>
          </a:xfrm>
          <a:prstGeom prst="rect">
            <a:avLst/>
          </a:prstGeom>
        </p:spPr>
      </p:pic>
      <p:sp>
        <p:nvSpPr>
          <p:cNvPr id="103" name="Text 84"/>
          <p:cNvSpPr txBox="1"/>
          <p:nvPr/>
        </p:nvSpPr>
        <p:spPr>
          <a:xfrm>
            <a:off x="8115300" y="26289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 Session</a:t>
            </a:r>
            <a:endParaRPr lang="en-US" sz="1200" dirty="0"/>
          </a:p>
        </p:txBody>
      </p:sp>
      <p:sp>
        <p:nvSpPr>
          <p:cNvPr id="104" name="Shape 85"/>
          <p:cNvSpPr/>
          <p:nvPr/>
        </p:nvSpPr>
        <p:spPr>
          <a:xfrm>
            <a:off x="7677150" y="3086100"/>
            <a:ext cx="2057400" cy="1333500"/>
          </a:xfrm>
          <a:prstGeom prst="roundRect">
            <a:avLst>
              <a:gd name="adj" fmla="val 2857"/>
            </a:avLst>
          </a:prstGeom>
          <a:solidFill>
            <a:srgbClr val="F3F1FB"/>
          </a:solidFill>
          <a:ln w="12700">
            <a:solidFill>
              <a:srgbClr val="D6CFEE"/>
            </a:solidFill>
            <a:prstDash val="solid"/>
          </a:ln>
        </p:spPr>
      </p:sp>
      <p:sp>
        <p:nvSpPr>
          <p:cNvPr id="105" name="Text 86"/>
          <p:cNvSpPr txBox="1"/>
          <p:nvPr/>
        </p:nvSpPr>
        <p:spPr>
          <a:xfrm>
            <a:off x="7791450" y="31051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</a:t>
            </a:r>
            <a:endParaRPr lang="en-US" sz="1050" dirty="0"/>
          </a:p>
        </p:txBody>
      </p:sp>
      <p:sp>
        <p:nvSpPr>
          <p:cNvPr id="106" name="Shape 87"/>
          <p:cNvSpPr/>
          <p:nvPr/>
        </p:nvSpPr>
        <p:spPr>
          <a:xfrm>
            <a:off x="7677150" y="3314700"/>
            <a:ext cx="2057400" cy="0"/>
          </a:xfrm>
          <a:prstGeom prst="line">
            <a:avLst/>
          </a:prstGeom>
          <a:noFill/>
          <a:ln w="12700">
            <a:solidFill>
              <a:srgbClr val="D6CFEE"/>
            </a:solidFill>
            <a:prstDash val="solid"/>
          </a:ln>
        </p:spPr>
      </p:sp>
      <p:pic>
        <p:nvPicPr>
          <p:cNvPr id="10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48600" y="3448050"/>
            <a:ext cx="142875" cy="142875"/>
          </a:xfrm>
          <a:prstGeom prst="rect">
            <a:avLst/>
          </a:prstGeom>
        </p:spPr>
      </p:pic>
      <p:sp>
        <p:nvSpPr>
          <p:cNvPr id="108" name="Text 88"/>
          <p:cNvSpPr txBox="1"/>
          <p:nvPr/>
        </p:nvSpPr>
        <p:spPr>
          <a:xfrm>
            <a:off x="8134350" y="339090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/ Playbooks</a:t>
            </a:r>
            <a:endParaRPr lang="en-US" sz="1000" dirty="0"/>
          </a:p>
        </p:txBody>
      </p:sp>
      <p:pic>
        <p:nvPicPr>
          <p:cNvPr id="10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48600" y="3752850"/>
            <a:ext cx="142875" cy="142875"/>
          </a:xfrm>
          <a:prstGeom prst="rect">
            <a:avLst/>
          </a:prstGeom>
        </p:spPr>
      </p:pic>
      <p:sp>
        <p:nvSpPr>
          <p:cNvPr id="110" name="Text 89"/>
          <p:cNvSpPr txBox="1"/>
          <p:nvPr/>
        </p:nvSpPr>
        <p:spPr>
          <a:xfrm>
            <a:off x="8134350" y="369570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Files</a:t>
            </a:r>
            <a:endParaRPr lang="en-US" sz="1000" dirty="0"/>
          </a:p>
        </p:txBody>
      </p:sp>
      <p:pic>
        <p:nvPicPr>
          <p:cNvPr id="11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48600" y="4057650"/>
            <a:ext cx="142875" cy="142875"/>
          </a:xfrm>
          <a:prstGeom prst="rect">
            <a:avLst/>
          </a:prstGeom>
        </p:spPr>
      </p:pic>
      <p:sp>
        <p:nvSpPr>
          <p:cNvPr id="112" name="Text 90"/>
          <p:cNvSpPr txBox="1"/>
          <p:nvPr/>
        </p:nvSpPr>
        <p:spPr>
          <a:xfrm>
            <a:off x="8134350" y="4000500"/>
            <a:ext cx="1562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(MB Rec data, FAS posting)</a:t>
            </a:r>
            <a:endParaRPr lang="en-US" sz="1000" dirty="0"/>
          </a:p>
        </p:txBody>
      </p:sp>
      <p:sp>
        <p:nvSpPr>
          <p:cNvPr id="113" name="Shape 91"/>
          <p:cNvSpPr/>
          <p:nvPr/>
        </p:nvSpPr>
        <p:spPr>
          <a:xfrm>
            <a:off x="8686800" y="4438650"/>
            <a:ext cx="0" cy="1714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14" name="Shape 92"/>
          <p:cNvSpPr/>
          <p:nvPr/>
        </p:nvSpPr>
        <p:spPr>
          <a:xfrm>
            <a:off x="7677150" y="4629150"/>
            <a:ext cx="2057400" cy="1200150"/>
          </a:xfrm>
          <a:prstGeom prst="roundRect">
            <a:avLst>
              <a:gd name="adj" fmla="val 3175"/>
            </a:avLst>
          </a:prstGeom>
          <a:solidFill>
            <a:srgbClr val="F3F1FB"/>
          </a:solidFill>
          <a:ln w="12700">
            <a:solidFill>
              <a:srgbClr val="D6CFEE"/>
            </a:solidFill>
            <a:prstDash val="solid"/>
          </a:ln>
        </p:spPr>
      </p:sp>
      <p:pic>
        <p:nvPicPr>
          <p:cNvPr id="11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10500" y="4695825"/>
            <a:ext cx="152400" cy="152400"/>
          </a:xfrm>
          <a:prstGeom prst="rect">
            <a:avLst/>
          </a:prstGeom>
        </p:spPr>
      </p:pic>
      <p:sp>
        <p:nvSpPr>
          <p:cNvPr id="116" name="Text 93"/>
          <p:cNvSpPr txBox="1"/>
          <p:nvPr/>
        </p:nvSpPr>
        <p:spPr>
          <a:xfrm>
            <a:off x="8039100" y="4667250"/>
            <a:ext cx="1638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Analysis (Internal)</a:t>
            </a:r>
            <a:endParaRPr lang="en-US" sz="1000" dirty="0"/>
          </a:p>
        </p:txBody>
      </p:sp>
      <p:sp>
        <p:nvSpPr>
          <p:cNvPr id="117" name="Text 94"/>
          <p:cNvSpPr txBox="1"/>
          <p:nvPr/>
        </p:nvSpPr>
        <p:spPr>
          <a:xfrm>
            <a:off x="7734300" y="4895850"/>
            <a:ext cx="198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 vs BO by position, book, date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Missing Side, Side Double, Reapplication, False Break, DQ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Pull Factor, MTM, Trading P&amp;L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journal, DQ or no action</a:t>
            </a:r>
            <a:endParaRPr lang="en-US" sz="850" dirty="0"/>
          </a:p>
        </p:txBody>
      </p:sp>
      <p:sp>
        <p:nvSpPr>
          <p:cNvPr id="118" name="Text 95"/>
          <p:cNvSpPr txBox="1"/>
          <p:nvPr/>
        </p:nvSpPr>
        <p:spPr>
          <a:xfrm>
            <a:off x="10553700" y="1352550"/>
            <a:ext cx="171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Desk Review &amp; Action</a:t>
            </a:r>
            <a:endParaRPr lang="en-US" sz="1350" dirty="0"/>
          </a:p>
        </p:txBody>
      </p:sp>
      <p:sp>
        <p:nvSpPr>
          <p:cNvPr id="119" name="Text 96"/>
          <p:cNvSpPr txBox="1"/>
          <p:nvPr/>
        </p:nvSpPr>
        <p:spPr>
          <a:xfrm>
            <a:off x="10172700" y="1847850"/>
            <a:ext cx="20383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time, controllers arrive at their regular desk time, open the session analysis per workspace, ask questions and approve adjustments.</a:t>
            </a:r>
            <a:endParaRPr lang="en-US" sz="1050" dirty="0"/>
          </a:p>
        </p:txBody>
      </p:sp>
      <p:sp>
        <p:nvSpPr>
          <p:cNvPr id="120" name="Shape 97"/>
          <p:cNvSpPr/>
          <p:nvPr/>
        </p:nvSpPr>
        <p:spPr>
          <a:xfrm>
            <a:off x="10153650" y="2724150"/>
            <a:ext cx="2038350" cy="2762250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87000" y="2819400"/>
            <a:ext cx="304800" cy="304800"/>
          </a:xfrm>
          <a:prstGeom prst="rect">
            <a:avLst/>
          </a:prstGeom>
        </p:spPr>
      </p:pic>
      <p:sp>
        <p:nvSpPr>
          <p:cNvPr id="122" name="Text 98"/>
          <p:cNvSpPr txBox="1"/>
          <p:nvPr/>
        </p:nvSpPr>
        <p:spPr>
          <a:xfrm>
            <a:off x="10706100" y="281940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(User)</a:t>
            </a:r>
            <a:endParaRPr lang="en-US" sz="1250" dirty="0"/>
          </a:p>
        </p:txBody>
      </p:sp>
      <p:sp>
        <p:nvSpPr>
          <p:cNvPr id="123" name="Shape 99"/>
          <p:cNvSpPr/>
          <p:nvPr/>
        </p:nvSpPr>
        <p:spPr>
          <a:xfrm>
            <a:off x="10248900" y="3257550"/>
            <a:ext cx="18669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63200" y="3419475"/>
            <a:ext cx="228600" cy="228600"/>
          </a:xfrm>
          <a:prstGeom prst="rect">
            <a:avLst/>
          </a:prstGeom>
        </p:spPr>
      </p:pic>
      <p:sp>
        <p:nvSpPr>
          <p:cNvPr id="125" name="Text 100"/>
          <p:cNvSpPr txBox="1"/>
          <p:nvPr/>
        </p:nvSpPr>
        <p:spPr>
          <a:xfrm>
            <a:off x="10706100" y="329565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session analysis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workspace)</a:t>
            </a:r>
            <a:endParaRPr lang="en-US" sz="1000" dirty="0"/>
          </a:p>
        </p:txBody>
      </p:sp>
      <p:sp>
        <p:nvSpPr>
          <p:cNvPr id="126" name="Shape 101"/>
          <p:cNvSpPr/>
          <p:nvPr/>
        </p:nvSpPr>
        <p:spPr>
          <a:xfrm>
            <a:off x="11182350" y="3829050"/>
            <a:ext cx="0" cy="15240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27" name="Shape 102"/>
          <p:cNvSpPr/>
          <p:nvPr/>
        </p:nvSpPr>
        <p:spPr>
          <a:xfrm>
            <a:off x="10248900" y="4000500"/>
            <a:ext cx="18669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63200" y="4162425"/>
            <a:ext cx="228600" cy="228600"/>
          </a:xfrm>
          <a:prstGeom prst="rect">
            <a:avLst/>
          </a:prstGeom>
        </p:spPr>
      </p:pic>
      <p:sp>
        <p:nvSpPr>
          <p:cNvPr id="129" name="Text 103"/>
          <p:cNvSpPr txBox="1"/>
          <p:nvPr/>
        </p:nvSpPr>
        <p:spPr>
          <a:xfrm>
            <a:off x="10706100" y="40386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to LLM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session &amp; workspace context)</a:t>
            </a:r>
            <a:endParaRPr lang="en-US" sz="1000" dirty="0"/>
          </a:p>
        </p:txBody>
      </p:sp>
      <p:sp>
        <p:nvSpPr>
          <p:cNvPr id="130" name="Shape 104"/>
          <p:cNvSpPr/>
          <p:nvPr/>
        </p:nvSpPr>
        <p:spPr>
          <a:xfrm>
            <a:off x="11182350" y="4572000"/>
            <a:ext cx="0" cy="15240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31" name="Shape 105"/>
          <p:cNvSpPr/>
          <p:nvPr/>
        </p:nvSpPr>
        <p:spPr>
          <a:xfrm>
            <a:off x="10248900" y="4743450"/>
            <a:ext cx="18669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3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63200" y="4905375"/>
            <a:ext cx="228600" cy="228600"/>
          </a:xfrm>
          <a:prstGeom prst="rect">
            <a:avLst/>
          </a:prstGeom>
        </p:spPr>
      </p:pic>
      <p:sp>
        <p:nvSpPr>
          <p:cNvPr id="133" name="Text 106"/>
          <p:cNvSpPr txBox="1"/>
          <p:nvPr/>
        </p:nvSpPr>
        <p:spPr>
          <a:xfrm>
            <a:off x="10706100" y="478155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adjustment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(posted to MOTIF via FAS MCP)</a:t>
            </a:r>
            <a:endParaRPr lang="en-US" sz="1000" dirty="0"/>
          </a:p>
        </p:txBody>
      </p:sp>
      <p:sp>
        <p:nvSpPr>
          <p:cNvPr id="134" name="Shape 107"/>
          <p:cNvSpPr/>
          <p:nvPr/>
        </p:nvSpPr>
        <p:spPr>
          <a:xfrm>
            <a:off x="10153650" y="5562600"/>
            <a:ext cx="2038350" cy="30480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13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67950" y="5638800"/>
            <a:ext cx="152400" cy="152400"/>
          </a:xfrm>
          <a:prstGeom prst="rect">
            <a:avLst/>
          </a:prstGeom>
        </p:spPr>
      </p:pic>
      <p:sp>
        <p:nvSpPr>
          <p:cNvPr id="136" name="Text 108"/>
          <p:cNvSpPr txBox="1"/>
          <p:nvPr/>
        </p:nvSpPr>
        <p:spPr>
          <a:xfrm>
            <a:off x="10477500" y="55626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ready before desk time</a:t>
            </a:r>
            <a:endParaRPr lang="en-US" sz="900" dirty="0"/>
          </a:p>
        </p:txBody>
      </p:sp>
      <p:sp>
        <p:nvSpPr>
          <p:cNvPr id="137" name="Text 109"/>
          <p:cNvSpPr txBox="1"/>
          <p:nvPr/>
        </p:nvSpPr>
        <p:spPr>
          <a:xfrm>
            <a:off x="12934950" y="1352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 &amp; App Audit</a:t>
            </a:r>
            <a:endParaRPr lang="en-US" sz="1350" dirty="0"/>
          </a:p>
        </p:txBody>
      </p:sp>
      <p:sp>
        <p:nvSpPr>
          <p:cNvPr id="138" name="Text 110"/>
          <p:cNvSpPr txBox="1"/>
          <p:nvPr/>
        </p:nvSpPr>
        <p:spPr>
          <a:xfrm>
            <a:off x="12553950" y="1905000"/>
            <a:ext cx="1885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watches the AI side. User actions and postings stay in the application audit.</a:t>
            </a:r>
            <a:endParaRPr lang="en-US" sz="1050" dirty="0"/>
          </a:p>
        </p:txBody>
      </p:sp>
      <p:sp>
        <p:nvSpPr>
          <p:cNvPr id="139" name="Shape 111"/>
          <p:cNvSpPr/>
          <p:nvPr/>
        </p:nvSpPr>
        <p:spPr>
          <a:xfrm>
            <a:off x="12515850" y="2533650"/>
            <a:ext cx="1924050" cy="2381250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12700">
            <a:solidFill>
              <a:srgbClr val="B3A8DE"/>
            </a:solidFill>
            <a:prstDash val="solid"/>
          </a:ln>
        </p:spPr>
      </p:sp>
      <p:sp>
        <p:nvSpPr>
          <p:cNvPr id="140" name="Shape 112"/>
          <p:cNvSpPr/>
          <p:nvPr/>
        </p:nvSpPr>
        <p:spPr>
          <a:xfrm>
            <a:off x="12611100" y="2628900"/>
            <a:ext cx="381000" cy="381000"/>
          </a:xfrm>
          <a:prstGeom prst="ellipse">
            <a:avLst/>
          </a:prstGeom>
          <a:solidFill>
            <a:srgbClr val="1F4E8C"/>
          </a:solidFill>
          <a:ln/>
        </p:spPr>
      </p:sp>
      <p:pic>
        <p:nvPicPr>
          <p:cNvPr id="14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687300" y="2705100"/>
            <a:ext cx="228600" cy="228600"/>
          </a:xfrm>
          <a:prstGeom prst="rect">
            <a:avLst/>
          </a:prstGeom>
        </p:spPr>
      </p:pic>
      <p:sp>
        <p:nvSpPr>
          <p:cNvPr id="142" name="Text 113"/>
          <p:cNvSpPr txBox="1"/>
          <p:nvPr/>
        </p:nvSpPr>
        <p:spPr>
          <a:xfrm>
            <a:off x="13068300" y="2628900"/>
            <a:ext cx="1352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 only</a:t>
            </a:r>
            <a:endParaRPr lang="en-US" sz="1000" dirty="0"/>
          </a:p>
        </p:txBody>
      </p:sp>
      <p:sp>
        <p:nvSpPr>
          <p:cNvPr id="143" name="Shape 114"/>
          <p:cNvSpPr/>
          <p:nvPr/>
        </p:nvSpPr>
        <p:spPr>
          <a:xfrm>
            <a:off x="12611100" y="310515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4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706350" y="3181350"/>
            <a:ext cx="133350" cy="133350"/>
          </a:xfrm>
          <a:prstGeom prst="rect">
            <a:avLst/>
          </a:prstGeom>
        </p:spPr>
      </p:pic>
      <p:sp>
        <p:nvSpPr>
          <p:cNvPr id="145" name="Text 115"/>
          <p:cNvSpPr txBox="1"/>
          <p:nvPr/>
        </p:nvSpPr>
        <p:spPr>
          <a:xfrm>
            <a:off x="12915900" y="3105150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 traces</a:t>
            </a:r>
            <a:endParaRPr lang="en-US" sz="900" dirty="0"/>
          </a:p>
        </p:txBody>
      </p:sp>
      <p:sp>
        <p:nvSpPr>
          <p:cNvPr id="146" name="Shape 116"/>
          <p:cNvSpPr/>
          <p:nvPr/>
        </p:nvSpPr>
        <p:spPr>
          <a:xfrm>
            <a:off x="12611100" y="3457575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47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706350" y="3533775"/>
            <a:ext cx="133350" cy="133350"/>
          </a:xfrm>
          <a:prstGeom prst="rect">
            <a:avLst/>
          </a:prstGeom>
        </p:spPr>
      </p:pic>
      <p:sp>
        <p:nvSpPr>
          <p:cNvPr id="148" name="Text 117"/>
          <p:cNvSpPr txBox="1"/>
          <p:nvPr/>
        </p:nvSpPr>
        <p:spPr>
          <a:xfrm>
            <a:off x="12915900" y="3457575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prompts</a:t>
            </a:r>
            <a:endParaRPr lang="en-US" sz="900" dirty="0"/>
          </a:p>
        </p:txBody>
      </p:sp>
      <p:sp>
        <p:nvSpPr>
          <p:cNvPr id="149" name="Shape 118"/>
          <p:cNvSpPr/>
          <p:nvPr/>
        </p:nvSpPr>
        <p:spPr>
          <a:xfrm>
            <a:off x="12611100" y="381000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5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706350" y="3886200"/>
            <a:ext cx="133350" cy="133350"/>
          </a:xfrm>
          <a:prstGeom prst="rect">
            <a:avLst/>
          </a:prstGeom>
        </p:spPr>
      </p:pic>
      <p:sp>
        <p:nvSpPr>
          <p:cNvPr id="151" name="Text 119"/>
          <p:cNvSpPr txBox="1"/>
          <p:nvPr/>
        </p:nvSpPr>
        <p:spPr>
          <a:xfrm>
            <a:off x="12915900" y="3810000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900" dirty="0"/>
          </a:p>
        </p:txBody>
      </p:sp>
      <p:sp>
        <p:nvSpPr>
          <p:cNvPr id="152" name="Shape 120"/>
          <p:cNvSpPr/>
          <p:nvPr/>
        </p:nvSpPr>
        <p:spPr>
          <a:xfrm>
            <a:off x="12611100" y="4162425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5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706350" y="4238625"/>
            <a:ext cx="133350" cy="133350"/>
          </a:xfrm>
          <a:prstGeom prst="rect">
            <a:avLst/>
          </a:prstGeom>
        </p:spPr>
      </p:pic>
      <p:sp>
        <p:nvSpPr>
          <p:cNvPr id="154" name="Text 121"/>
          <p:cNvSpPr txBox="1"/>
          <p:nvPr/>
        </p:nvSpPr>
        <p:spPr>
          <a:xfrm>
            <a:off x="12915900" y="4162425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Performance &amp; Health</a:t>
            </a:r>
            <a:endParaRPr lang="en-US" sz="900" dirty="0"/>
          </a:p>
        </p:txBody>
      </p:sp>
      <p:sp>
        <p:nvSpPr>
          <p:cNvPr id="155" name="Shape 122"/>
          <p:cNvSpPr/>
          <p:nvPr/>
        </p:nvSpPr>
        <p:spPr>
          <a:xfrm>
            <a:off x="12611100" y="451485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5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706350" y="4591050"/>
            <a:ext cx="133350" cy="133350"/>
          </a:xfrm>
          <a:prstGeom prst="rect">
            <a:avLst/>
          </a:prstGeom>
        </p:spPr>
      </p:pic>
      <p:sp>
        <p:nvSpPr>
          <p:cNvPr id="157" name="Text 123"/>
          <p:cNvSpPr txBox="1"/>
          <p:nvPr/>
        </p:nvSpPr>
        <p:spPr>
          <a:xfrm>
            <a:off x="12915900" y="4514850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logic</a:t>
            </a:r>
            <a:endParaRPr lang="en-US" sz="900" dirty="0"/>
          </a:p>
        </p:txBody>
      </p:sp>
      <p:sp>
        <p:nvSpPr>
          <p:cNvPr id="158" name="Shape 124"/>
          <p:cNvSpPr/>
          <p:nvPr/>
        </p:nvSpPr>
        <p:spPr>
          <a:xfrm>
            <a:off x="12515850" y="5010150"/>
            <a:ext cx="1924050" cy="857250"/>
          </a:xfrm>
          <a:prstGeom prst="roundRect">
            <a:avLst>
              <a:gd name="adj" fmla="val 5556"/>
            </a:avLst>
          </a:prstGeom>
          <a:solidFill>
            <a:srgbClr val="F1F4F8"/>
          </a:solidFill>
          <a:ln w="12700">
            <a:solidFill>
              <a:srgbClr val="9AA8BA"/>
            </a:solidFill>
            <a:prstDash val="solid"/>
          </a:ln>
        </p:spPr>
      </p:sp>
      <p:pic>
        <p:nvPicPr>
          <p:cNvPr id="159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630150" y="5105400"/>
            <a:ext cx="171450" cy="171450"/>
          </a:xfrm>
          <a:prstGeom prst="rect">
            <a:avLst/>
          </a:prstGeom>
        </p:spPr>
      </p:pic>
      <p:sp>
        <p:nvSpPr>
          <p:cNvPr id="160" name="Text 125"/>
          <p:cNvSpPr txBox="1"/>
          <p:nvPr/>
        </p:nvSpPr>
        <p:spPr>
          <a:xfrm>
            <a:off x="12877800" y="50673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</a:t>
            </a:r>
            <a:endParaRPr lang="en-US" sz="1100" dirty="0"/>
          </a:p>
        </p:txBody>
      </p:sp>
      <p:sp>
        <p:nvSpPr>
          <p:cNvPr id="161" name="Text 126"/>
          <p:cNvSpPr txBox="1"/>
          <p:nvPr/>
        </p:nvSpPr>
        <p:spPr>
          <a:xfrm>
            <a:off x="12630150" y="5334000"/>
            <a:ext cx="1733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actions, approvals, postings and event history (existing app audit)</a:t>
            </a:r>
            <a:endParaRPr lang="en-US" sz="900" dirty="0"/>
          </a:p>
        </p:txBody>
      </p:sp>
      <p:sp>
        <p:nvSpPr>
          <p:cNvPr id="162" name="Shape 127"/>
          <p:cNvSpPr/>
          <p:nvPr/>
        </p:nvSpPr>
        <p:spPr>
          <a:xfrm>
            <a:off x="152400" y="6124575"/>
            <a:ext cx="14344650" cy="1733550"/>
          </a:xfrm>
          <a:prstGeom prst="roundRect">
            <a:avLst>
              <a:gd name="adj" fmla="val 4396"/>
            </a:avLst>
          </a:prstGeom>
          <a:solidFill>
            <a:srgbClr val="EAF1F9"/>
          </a:solidFill>
          <a:ln w="12700">
            <a:solidFill>
              <a:srgbClr val="D2E0F0"/>
            </a:solidFill>
            <a:prstDash val="solid"/>
          </a:ln>
        </p:spPr>
      </p:sp>
      <p:pic>
        <p:nvPicPr>
          <p:cNvPr id="163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85750" y="6191250"/>
            <a:ext cx="266700" cy="266700"/>
          </a:xfrm>
          <a:prstGeom prst="rect">
            <a:avLst/>
          </a:prstGeom>
        </p:spPr>
      </p:pic>
      <p:sp>
        <p:nvSpPr>
          <p:cNvPr id="164" name="Text 128"/>
          <p:cNvSpPr txBox="1"/>
          <p:nvPr/>
        </p:nvSpPr>
        <p:spPr>
          <a:xfrm>
            <a:off x="666750" y="61722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Data Flow</a:t>
            </a:r>
            <a:endParaRPr lang="en-US" sz="1400" dirty="0"/>
          </a:p>
        </p:txBody>
      </p:sp>
      <p:sp>
        <p:nvSpPr>
          <p:cNvPr id="165" name="Shape 129"/>
          <p:cNvSpPr/>
          <p:nvPr/>
        </p:nvSpPr>
        <p:spPr>
          <a:xfrm>
            <a:off x="247650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6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43000" y="6648450"/>
            <a:ext cx="323850" cy="323850"/>
          </a:xfrm>
          <a:prstGeom prst="rect">
            <a:avLst/>
          </a:prstGeom>
        </p:spPr>
      </p:pic>
      <p:sp>
        <p:nvSpPr>
          <p:cNvPr id="167" name="Text 130"/>
          <p:cNvSpPr txBox="1"/>
          <p:nvPr/>
        </p:nvSpPr>
        <p:spPr>
          <a:xfrm>
            <a:off x="304800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100" dirty="0"/>
          </a:p>
        </p:txBody>
      </p:sp>
      <p:sp>
        <p:nvSpPr>
          <p:cNvPr id="168" name="Text 131"/>
          <p:cNvSpPr txBox="1"/>
          <p:nvPr/>
        </p:nvSpPr>
        <p:spPr>
          <a:xfrm>
            <a:off x="304800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Master-book rec, sends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 availability</a:t>
            </a:r>
            <a:endParaRPr lang="en-US" sz="950" dirty="0"/>
          </a:p>
        </p:txBody>
      </p:sp>
      <p:sp>
        <p:nvSpPr>
          <p:cNvPr id="169" name="Shape 132"/>
          <p:cNvSpPr/>
          <p:nvPr/>
        </p:nvSpPr>
        <p:spPr>
          <a:xfrm>
            <a:off x="2428875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70" name="Shape 133"/>
          <p:cNvSpPr/>
          <p:nvPr/>
        </p:nvSpPr>
        <p:spPr>
          <a:xfrm>
            <a:off x="2676525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7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71875" y="6648450"/>
            <a:ext cx="323850" cy="323850"/>
          </a:xfrm>
          <a:prstGeom prst="rect">
            <a:avLst/>
          </a:prstGeom>
        </p:spPr>
      </p:pic>
      <p:sp>
        <p:nvSpPr>
          <p:cNvPr id="172" name="Text 134"/>
          <p:cNvSpPr txBox="1"/>
          <p:nvPr/>
        </p:nvSpPr>
        <p:spPr>
          <a:xfrm>
            <a:off x="2733675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100" dirty="0"/>
          </a:p>
        </p:txBody>
      </p:sp>
      <p:sp>
        <p:nvSpPr>
          <p:cNvPr id="173" name="Text 135"/>
          <p:cNvSpPr txBox="1"/>
          <p:nvPr/>
        </p:nvSpPr>
        <p:spPr>
          <a:xfrm>
            <a:off x="2733675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 per workspace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 to Helix</a:t>
            </a:r>
            <a:endParaRPr lang="en-US" sz="950" dirty="0"/>
          </a:p>
        </p:txBody>
      </p:sp>
      <p:sp>
        <p:nvSpPr>
          <p:cNvPr id="174" name="Shape 136"/>
          <p:cNvSpPr/>
          <p:nvPr/>
        </p:nvSpPr>
        <p:spPr>
          <a:xfrm>
            <a:off x="4857750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75" name="Shape 137"/>
          <p:cNvSpPr/>
          <p:nvPr/>
        </p:nvSpPr>
        <p:spPr>
          <a:xfrm>
            <a:off x="5105400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76" name="Shape 138"/>
          <p:cNvSpPr/>
          <p:nvPr/>
        </p:nvSpPr>
        <p:spPr>
          <a:xfrm rot="5400000">
            <a:off x="6000750" y="6648450"/>
            <a:ext cx="323850" cy="297942"/>
          </a:xfrm>
          <a:prstGeom prst="hexagon">
            <a:avLst/>
          </a:prstGeom>
          <a:solidFill>
            <a:srgbClr val="1B4F93"/>
          </a:solidFill>
          <a:ln/>
        </p:spPr>
      </p:sp>
      <p:sp>
        <p:nvSpPr>
          <p:cNvPr id="177" name="Text 139"/>
          <p:cNvSpPr txBox="1"/>
          <p:nvPr/>
        </p:nvSpPr>
        <p:spPr>
          <a:xfrm>
            <a:off x="6000750" y="6648450"/>
            <a:ext cx="323850" cy="29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28" dirty="0"/>
          </a:p>
        </p:txBody>
      </p:sp>
      <p:sp>
        <p:nvSpPr>
          <p:cNvPr id="178" name="Text 140"/>
          <p:cNvSpPr txBox="1"/>
          <p:nvPr/>
        </p:nvSpPr>
        <p:spPr>
          <a:xfrm>
            <a:off x="5162550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100" dirty="0"/>
          </a:p>
        </p:txBody>
      </p:sp>
      <p:sp>
        <p:nvSpPr>
          <p:cNvPr id="179" name="Text 141"/>
          <p:cNvSpPr txBox="1"/>
          <p:nvPr/>
        </p:nvSpPr>
        <p:spPr>
          <a:xfrm>
            <a:off x="5162550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Automated Sessions</a:t>
            </a:r>
            <a:endParaRPr lang="en-US" sz="950" dirty="0"/>
          </a:p>
        </p:txBody>
      </p:sp>
      <p:sp>
        <p:nvSpPr>
          <p:cNvPr id="180" name="Shape 142"/>
          <p:cNvSpPr/>
          <p:nvPr/>
        </p:nvSpPr>
        <p:spPr>
          <a:xfrm>
            <a:off x="7286625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81" name="Shape 143"/>
          <p:cNvSpPr/>
          <p:nvPr/>
        </p:nvSpPr>
        <p:spPr>
          <a:xfrm>
            <a:off x="7534275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8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429625" y="6648450"/>
            <a:ext cx="323850" cy="323850"/>
          </a:xfrm>
          <a:prstGeom prst="rect">
            <a:avLst/>
          </a:prstGeom>
        </p:spPr>
      </p:pic>
      <p:sp>
        <p:nvSpPr>
          <p:cNvPr id="183" name="Text 144"/>
          <p:cNvSpPr txBox="1"/>
          <p:nvPr/>
        </p:nvSpPr>
        <p:spPr>
          <a:xfrm>
            <a:off x="7591425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</a:t>
            </a:r>
            <a:endParaRPr lang="en-US" sz="1100" dirty="0"/>
          </a:p>
        </p:txBody>
      </p:sp>
      <p:sp>
        <p:nvSpPr>
          <p:cNvPr id="184" name="Text 145"/>
          <p:cNvSpPr txBox="1"/>
          <p:nvPr/>
        </p:nvSpPr>
        <p:spPr>
          <a:xfrm>
            <a:off x="7591425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Reasoning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Skills + MCP tools)</a:t>
            </a:r>
            <a:endParaRPr lang="en-US" sz="950" dirty="0"/>
          </a:p>
        </p:txBody>
      </p:sp>
      <p:sp>
        <p:nvSpPr>
          <p:cNvPr id="185" name="Shape 146"/>
          <p:cNvSpPr/>
          <p:nvPr/>
        </p:nvSpPr>
        <p:spPr>
          <a:xfrm>
            <a:off x="9715500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86" name="Shape 147"/>
          <p:cNvSpPr/>
          <p:nvPr/>
        </p:nvSpPr>
        <p:spPr>
          <a:xfrm>
            <a:off x="9963150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87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858500" y="6648450"/>
            <a:ext cx="323850" cy="323850"/>
          </a:xfrm>
          <a:prstGeom prst="rect">
            <a:avLst/>
          </a:prstGeom>
        </p:spPr>
      </p:pic>
      <p:sp>
        <p:nvSpPr>
          <p:cNvPr id="188" name="Text 148"/>
          <p:cNvSpPr txBox="1"/>
          <p:nvPr/>
        </p:nvSpPr>
        <p:spPr>
          <a:xfrm>
            <a:off x="10020300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</a:t>
            </a:r>
            <a:endParaRPr lang="en-US" sz="1100" dirty="0"/>
          </a:p>
        </p:txBody>
      </p:sp>
      <p:sp>
        <p:nvSpPr>
          <p:cNvPr id="189" name="Text 149"/>
          <p:cNvSpPr txBox="1"/>
          <p:nvPr/>
        </p:nvSpPr>
        <p:spPr>
          <a:xfrm>
            <a:off x="10020300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&amp; other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posting to MOTIF</a:t>
            </a:r>
            <a:endParaRPr lang="en-US" sz="950" dirty="0"/>
          </a:p>
        </p:txBody>
      </p:sp>
      <p:sp>
        <p:nvSpPr>
          <p:cNvPr id="190" name="Shape 150"/>
          <p:cNvSpPr/>
          <p:nvPr/>
        </p:nvSpPr>
        <p:spPr>
          <a:xfrm>
            <a:off x="12144375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91" name="Shape 151"/>
          <p:cNvSpPr/>
          <p:nvPr/>
        </p:nvSpPr>
        <p:spPr>
          <a:xfrm>
            <a:off x="12392025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92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87375" y="6648450"/>
            <a:ext cx="323850" cy="323850"/>
          </a:xfrm>
          <a:prstGeom prst="rect">
            <a:avLst/>
          </a:prstGeom>
        </p:spPr>
      </p:pic>
      <p:sp>
        <p:nvSpPr>
          <p:cNvPr id="193" name="Text 152"/>
          <p:cNvSpPr txBox="1"/>
          <p:nvPr/>
        </p:nvSpPr>
        <p:spPr>
          <a:xfrm>
            <a:off x="12449175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100" dirty="0"/>
          </a:p>
        </p:txBody>
      </p:sp>
      <p:sp>
        <p:nvSpPr>
          <p:cNvPr id="194" name="Text 153"/>
          <p:cNvSpPr txBox="1"/>
          <p:nvPr/>
        </p:nvSpPr>
        <p:spPr>
          <a:xfrm>
            <a:off x="12449175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(Helix + Agent One sessions)</a:t>
            </a:r>
            <a:endParaRPr lang="en-US" sz="950" dirty="0"/>
          </a:p>
        </p:txBody>
      </p:sp>
      <p:sp>
        <p:nvSpPr>
          <p:cNvPr id="195" name="Shape 154"/>
          <p:cNvSpPr/>
          <p:nvPr/>
        </p:nvSpPr>
        <p:spPr>
          <a:xfrm>
            <a:off x="152400" y="7981950"/>
            <a:ext cx="3371850" cy="1181100"/>
          </a:xfrm>
          <a:prstGeom prst="roundRect">
            <a:avLst>
              <a:gd name="adj" fmla="val 6452"/>
            </a:avLst>
          </a:prstGeom>
          <a:solidFill>
            <a:srgbClr val="E6F4EC"/>
          </a:solidFill>
          <a:ln/>
        </p:spPr>
      </p:sp>
      <p:sp>
        <p:nvSpPr>
          <p:cNvPr id="196" name="Shape 155"/>
          <p:cNvSpPr/>
          <p:nvPr/>
        </p:nvSpPr>
        <p:spPr>
          <a:xfrm>
            <a:off x="247650" y="8058150"/>
            <a:ext cx="361950" cy="361950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19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3375" y="8143875"/>
            <a:ext cx="190500" cy="190500"/>
          </a:xfrm>
          <a:prstGeom prst="rect">
            <a:avLst/>
          </a:prstGeom>
        </p:spPr>
      </p:pic>
      <p:sp>
        <p:nvSpPr>
          <p:cNvPr id="198" name="Text 156"/>
          <p:cNvSpPr txBox="1"/>
          <p:nvPr/>
        </p:nvSpPr>
        <p:spPr>
          <a:xfrm>
            <a:off x="723900" y="8058150"/>
            <a:ext cx="2705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50" dirty="0"/>
          </a:p>
        </p:txBody>
      </p:sp>
      <p:sp>
        <p:nvSpPr>
          <p:cNvPr id="199" name="Text 157"/>
          <p:cNvSpPr txBox="1"/>
          <p:nvPr/>
        </p:nvSpPr>
        <p:spPr>
          <a:xfrm>
            <a:off x="723900" y="8324850"/>
            <a:ext cx="2705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reconciliation cycles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issue detection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&amp; consistency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950" dirty="0"/>
          </a:p>
        </p:txBody>
      </p:sp>
      <p:sp>
        <p:nvSpPr>
          <p:cNvPr id="200" name="Shape 158"/>
          <p:cNvSpPr/>
          <p:nvPr/>
        </p:nvSpPr>
        <p:spPr>
          <a:xfrm>
            <a:off x="3657600" y="7981950"/>
            <a:ext cx="3581400" cy="1181100"/>
          </a:xfrm>
          <a:prstGeom prst="roundRect">
            <a:avLst>
              <a:gd name="adj" fmla="val 6452"/>
            </a:avLst>
          </a:prstGeom>
          <a:solidFill>
            <a:srgbClr val="E6F0FA"/>
          </a:solidFill>
          <a:ln/>
        </p:spPr>
      </p:sp>
      <p:sp>
        <p:nvSpPr>
          <p:cNvPr id="201" name="Shape 159"/>
          <p:cNvSpPr/>
          <p:nvPr/>
        </p:nvSpPr>
        <p:spPr>
          <a:xfrm>
            <a:off x="3752850" y="8058150"/>
            <a:ext cx="361950" cy="361950"/>
          </a:xfrm>
          <a:prstGeom prst="ellipse">
            <a:avLst/>
          </a:prstGeom>
          <a:solidFill>
            <a:srgbClr val="1F5FAD"/>
          </a:solidFill>
          <a:ln/>
        </p:spPr>
      </p:sp>
      <p:pic>
        <p:nvPicPr>
          <p:cNvPr id="20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838575" y="8143875"/>
            <a:ext cx="190500" cy="190500"/>
          </a:xfrm>
          <a:prstGeom prst="rect">
            <a:avLst/>
          </a:prstGeom>
        </p:spPr>
      </p:pic>
      <p:sp>
        <p:nvSpPr>
          <p:cNvPr id="203" name="Text 160"/>
          <p:cNvSpPr txBox="1"/>
          <p:nvPr/>
        </p:nvSpPr>
        <p:spPr>
          <a:xfrm>
            <a:off x="4229100" y="8058150"/>
            <a:ext cx="2914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50" dirty="0"/>
          </a:p>
        </p:txBody>
      </p:sp>
      <p:sp>
        <p:nvSpPr>
          <p:cNvPr id="204" name="Text 161"/>
          <p:cNvSpPr txBox="1"/>
          <p:nvPr/>
        </p:nvSpPr>
        <p:spPr>
          <a:xfrm>
            <a:off x="4229100" y="8324850"/>
            <a:ext cx="29146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based analysis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incl. FAS posting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classification &amp; explanation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&amp; recommendations</a:t>
            </a:r>
            <a:endParaRPr lang="en-US" sz="950" dirty="0"/>
          </a:p>
        </p:txBody>
      </p:sp>
      <p:sp>
        <p:nvSpPr>
          <p:cNvPr id="205" name="Shape 162"/>
          <p:cNvSpPr/>
          <p:nvPr/>
        </p:nvSpPr>
        <p:spPr>
          <a:xfrm>
            <a:off x="7372350" y="7981950"/>
            <a:ext cx="3524250" cy="1181100"/>
          </a:xfrm>
          <a:prstGeom prst="roundRect">
            <a:avLst>
              <a:gd name="adj" fmla="val 6452"/>
            </a:avLst>
          </a:prstGeom>
          <a:solidFill>
            <a:srgbClr val="EEEAF8"/>
          </a:solidFill>
          <a:ln/>
        </p:spPr>
      </p:sp>
      <p:sp>
        <p:nvSpPr>
          <p:cNvPr id="206" name="Shape 163"/>
          <p:cNvSpPr/>
          <p:nvPr/>
        </p:nvSpPr>
        <p:spPr>
          <a:xfrm>
            <a:off x="7467600" y="8058150"/>
            <a:ext cx="361950" cy="361950"/>
          </a:xfrm>
          <a:prstGeom prst="ellipse">
            <a:avLst/>
          </a:prstGeom>
          <a:solidFill>
            <a:srgbClr val="5B4FA8"/>
          </a:solidFill>
          <a:ln/>
        </p:spPr>
      </p:sp>
      <p:pic>
        <p:nvPicPr>
          <p:cNvPr id="20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553325" y="8143875"/>
            <a:ext cx="190500" cy="190500"/>
          </a:xfrm>
          <a:prstGeom prst="rect">
            <a:avLst/>
          </a:prstGeom>
        </p:spPr>
      </p:pic>
      <p:sp>
        <p:nvSpPr>
          <p:cNvPr id="208" name="Text 164"/>
          <p:cNvSpPr txBox="1"/>
          <p:nvPr/>
        </p:nvSpPr>
        <p:spPr>
          <a:xfrm>
            <a:off x="7943850" y="80581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1250" dirty="0"/>
          </a:p>
        </p:txBody>
      </p:sp>
      <p:sp>
        <p:nvSpPr>
          <p:cNvPr id="209" name="Text 165"/>
          <p:cNvSpPr txBox="1"/>
          <p:nvPr/>
        </p:nvSpPr>
        <p:spPr>
          <a:xfrm>
            <a:off x="7943850" y="8324850"/>
            <a:ext cx="2857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adjustments via FAS to MOTIF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support</a:t>
            </a:r>
            <a:endParaRPr lang="en-US" sz="950" dirty="0"/>
          </a:p>
        </p:txBody>
      </p:sp>
      <p:sp>
        <p:nvSpPr>
          <p:cNvPr id="210" name="Shape 166"/>
          <p:cNvSpPr/>
          <p:nvPr/>
        </p:nvSpPr>
        <p:spPr>
          <a:xfrm>
            <a:off x="11029950" y="7981950"/>
            <a:ext cx="3467100" cy="1181100"/>
          </a:xfrm>
          <a:prstGeom prst="roundRect">
            <a:avLst>
              <a:gd name="adj" fmla="val 6452"/>
            </a:avLst>
          </a:prstGeom>
          <a:solidFill>
            <a:srgbClr val="E3F3F6"/>
          </a:solidFill>
          <a:ln/>
        </p:spPr>
      </p:sp>
      <p:sp>
        <p:nvSpPr>
          <p:cNvPr id="211" name="Shape 167"/>
          <p:cNvSpPr/>
          <p:nvPr/>
        </p:nvSpPr>
        <p:spPr>
          <a:xfrm>
            <a:off x="11125200" y="8058150"/>
            <a:ext cx="361950" cy="361950"/>
          </a:xfrm>
          <a:prstGeom prst="ellipse">
            <a:avLst/>
          </a:prstGeom>
          <a:solidFill>
            <a:srgbClr val="1B7F95"/>
          </a:solidFill>
          <a:ln/>
        </p:spPr>
      </p:sp>
      <p:pic>
        <p:nvPicPr>
          <p:cNvPr id="212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210925" y="8143875"/>
            <a:ext cx="190500" cy="190500"/>
          </a:xfrm>
          <a:prstGeom prst="rect">
            <a:avLst/>
          </a:prstGeom>
        </p:spPr>
      </p:pic>
      <p:sp>
        <p:nvSpPr>
          <p:cNvPr id="213" name="Text 168"/>
          <p:cNvSpPr txBox="1"/>
          <p:nvPr/>
        </p:nvSpPr>
        <p:spPr>
          <a:xfrm>
            <a:off x="11601450" y="8058150"/>
            <a:ext cx="2800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50" dirty="0"/>
          </a:p>
        </p:txBody>
      </p:sp>
      <p:sp>
        <p:nvSpPr>
          <p:cNvPr id="214" name="Text 169"/>
          <p:cNvSpPr txBox="1"/>
          <p:nvPr/>
        </p:nvSpPr>
        <p:spPr>
          <a:xfrm>
            <a:off x="11601450" y="8324850"/>
            <a:ext cx="28003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identification (Phoenix)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prompt tuning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from users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 &amp; optimization</a:t>
            </a:r>
            <a:endParaRPr lang="en-US" sz="950" dirty="0"/>
          </a:p>
        </p:txBody>
      </p:sp>
      <p:sp>
        <p:nvSpPr>
          <p:cNvPr id="215" name="Shape 170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216" name="Text 171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CATS vs MOTIF, FI Credit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123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break, from the overnight rec to the controller decision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2400" y="1295400"/>
            <a:ext cx="6572250" cy="4286250"/>
          </a:xfrm>
          <a:prstGeom prst="roundRect">
            <a:avLst>
              <a:gd name="adj" fmla="val 2222"/>
            </a:avLst>
          </a:prstGeom>
          <a:solidFill>
            <a:srgbClr val="F1F4F8"/>
          </a:solidFill>
          <a:ln/>
        </p:spPr>
      </p:sp>
      <p:sp>
        <p:nvSpPr>
          <p:cNvPr id="8" name="Shape 6"/>
          <p:cNvSpPr/>
          <p:nvPr/>
        </p:nvSpPr>
        <p:spPr>
          <a:xfrm>
            <a:off x="7105650" y="1295400"/>
            <a:ext cx="7372350" cy="4286250"/>
          </a:xfrm>
          <a:prstGeom prst="roundRect">
            <a:avLst>
              <a:gd name="adj" fmla="val 2222"/>
            </a:avLst>
          </a:prstGeom>
          <a:solidFill>
            <a:srgbClr val="EDF4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" y="14287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BEFORE DESK TIME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296150" y="14287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AT DESK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8250" y="3286125"/>
            <a:ext cx="4381500" cy="0"/>
          </a:xfrm>
          <a:prstGeom prst="line">
            <a:avLst/>
          </a:prstGeom>
          <a:noFill/>
          <a:ln w="38100">
            <a:solidFill>
              <a:srgbClr val="1B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19750" y="3286125"/>
            <a:ext cx="2400300" cy="0"/>
          </a:xfrm>
          <a:prstGeom prst="line">
            <a:avLst/>
          </a:prstGeom>
          <a:noFill/>
          <a:ln w="38100">
            <a:solidFill>
              <a:srgbClr val="9AA8B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20050" y="3286125"/>
            <a:ext cx="5486400" cy="0"/>
          </a:xfrm>
          <a:prstGeom prst="line">
            <a:avLst/>
          </a:prstGeom>
          <a:noFill/>
          <a:ln w="38100">
            <a:solidFill>
              <a:srgbClr val="1F6F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8900" y="3143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AA8BA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4150" y="3209925"/>
            <a:ext cx="152400" cy="1524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724650" y="3143250"/>
            <a:ext cx="647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620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05:30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76300" y="2924175"/>
            <a:ext cx="723900" cy="723900"/>
          </a:xfrm>
          <a:prstGeom prst="ellipse">
            <a:avLst/>
          </a:prstGeom>
          <a:solidFill>
            <a:srgbClr val="1B3A5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24200"/>
            <a:ext cx="323850" cy="32385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857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completes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191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runs CATS vs MOTIF for FI Credit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096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096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295275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05:45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3067050" y="2924175"/>
            <a:ext cx="723900" cy="723900"/>
          </a:xfrm>
          <a:prstGeom prst="ellipse">
            <a:avLst/>
          </a:prstGeom>
          <a:solidFill>
            <a:srgbClr val="1B3A5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075" y="3124200"/>
            <a:ext cx="323850" cy="32385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247650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ready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260985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 master books available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2933700" y="4657725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2933700" y="4657725"/>
            <a:ext cx="99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51435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5257800" y="2924175"/>
            <a:ext cx="723900" cy="723900"/>
          </a:xfrm>
          <a:prstGeom prst="ellipse">
            <a:avLst/>
          </a:prstGeom>
          <a:solidFill>
            <a:srgbClr val="1B3A5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3124200"/>
            <a:ext cx="323850" cy="32385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6672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flagged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48006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saved to the session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857750" y="4657725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857750" y="4657725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+ Agent One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75438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76581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5" y="3124200"/>
            <a:ext cx="323850" cy="32385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70675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asks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72009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session and asks why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75914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75914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UI</a:t>
            </a:r>
            <a:endParaRPr lang="en-US" sz="950" dirty="0"/>
          </a:p>
        </p:txBody>
      </p:sp>
      <p:sp>
        <p:nvSpPr>
          <p:cNvPr id="45" name="Text 38"/>
          <p:cNvSpPr txBox="1"/>
          <p:nvPr/>
        </p:nvSpPr>
        <p:spPr>
          <a:xfrm>
            <a:off x="93726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09:14</a:t>
            </a:r>
            <a:endParaRPr lang="en-US" sz="1500" dirty="0"/>
          </a:p>
        </p:txBody>
      </p:sp>
      <p:sp>
        <p:nvSpPr>
          <p:cNvPr id="46" name="Shape 39"/>
          <p:cNvSpPr/>
          <p:nvPr/>
        </p:nvSpPr>
        <p:spPr>
          <a:xfrm>
            <a:off x="94869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6925" y="3124200"/>
            <a:ext cx="323850" cy="32385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8963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what is missing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90297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and other sources only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94202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94202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950" dirty="0"/>
          </a:p>
        </p:txBody>
      </p:sp>
      <p:sp>
        <p:nvSpPr>
          <p:cNvPr id="52" name="Text 44"/>
          <p:cNvSpPr txBox="1"/>
          <p:nvPr/>
        </p:nvSpPr>
        <p:spPr>
          <a:xfrm>
            <a:off x="112014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09:16</a:t>
            </a:r>
            <a:endParaRPr lang="en-US" sz="1500" dirty="0"/>
          </a:p>
        </p:txBody>
      </p:sp>
      <p:sp>
        <p:nvSpPr>
          <p:cNvPr id="53" name="Shape 45"/>
          <p:cNvSpPr/>
          <p:nvPr/>
        </p:nvSpPr>
        <p:spPr>
          <a:xfrm>
            <a:off x="113157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5725" y="3124200"/>
            <a:ext cx="323850" cy="323850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107251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 code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8585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the LLM</a:t>
            </a:r>
            <a:endParaRPr lang="en-US" sz="1100" dirty="0"/>
          </a:p>
        </p:txBody>
      </p:sp>
      <p:sp>
        <p:nvSpPr>
          <p:cNvPr id="57" name="Shape 48"/>
          <p:cNvSpPr/>
          <p:nvPr/>
        </p:nvSpPr>
        <p:spPr>
          <a:xfrm>
            <a:off x="10991850" y="4657725"/>
            <a:ext cx="13716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10991850" y="4657725"/>
            <a:ext cx="137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Service</a:t>
            </a:r>
            <a:endParaRPr lang="en-US" sz="950" dirty="0"/>
          </a:p>
        </p:txBody>
      </p:sp>
      <p:sp>
        <p:nvSpPr>
          <p:cNvPr id="59" name="Text 50"/>
          <p:cNvSpPr txBox="1"/>
          <p:nvPr/>
        </p:nvSpPr>
        <p:spPr>
          <a:xfrm>
            <a:off x="130302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09:20</a:t>
            </a:r>
            <a:endParaRPr lang="en-US" sz="1500" dirty="0"/>
          </a:p>
        </p:txBody>
      </p:sp>
      <p:sp>
        <p:nvSpPr>
          <p:cNvPr id="60" name="Shape 51"/>
          <p:cNvSpPr/>
          <p:nvPr/>
        </p:nvSpPr>
        <p:spPr>
          <a:xfrm>
            <a:off x="131445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44525" y="3124200"/>
            <a:ext cx="323850" cy="323850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125539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post</a:t>
            </a:r>
            <a:endParaRPr lang="en-US" sz="1400" dirty="0"/>
          </a:p>
        </p:txBody>
      </p:sp>
      <p:sp>
        <p:nvSpPr>
          <p:cNvPr id="63" name="Text 53"/>
          <p:cNvSpPr txBox="1"/>
          <p:nvPr/>
        </p:nvSpPr>
        <p:spPr>
          <a:xfrm>
            <a:off x="126873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approves, FAS posts to MOTIF</a:t>
            </a:r>
            <a:endParaRPr lang="en-US" sz="1100" dirty="0"/>
          </a:p>
        </p:txBody>
      </p:sp>
      <p:sp>
        <p:nvSpPr>
          <p:cNvPr id="64" name="Shape 54"/>
          <p:cNvSpPr/>
          <p:nvPr/>
        </p:nvSpPr>
        <p:spPr>
          <a:xfrm>
            <a:off x="130778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130778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MCP</a:t>
            </a:r>
            <a:endParaRPr lang="en-US" sz="950" dirty="0"/>
          </a:p>
        </p:txBody>
      </p:sp>
      <p:sp>
        <p:nvSpPr>
          <p:cNvPr id="66" name="Shape 56"/>
          <p:cNvSpPr/>
          <p:nvPr/>
        </p:nvSpPr>
        <p:spPr>
          <a:xfrm>
            <a:off x="152400" y="5829300"/>
            <a:ext cx="657225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381000" y="6143625"/>
            <a:ext cx="533400" cy="533400"/>
          </a:xfrm>
          <a:prstGeom prst="ellipse">
            <a:avLst/>
          </a:prstGeom>
          <a:solidFill>
            <a:srgbClr val="1F6FB5"/>
          </a:solidFill>
          <a:ln/>
        </p:spPr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6286500"/>
            <a:ext cx="247650" cy="247650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1066800" y="60388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09:10</a:t>
            </a:r>
            <a:endParaRPr lang="en-US" sz="1050" dirty="0"/>
          </a:p>
        </p:txBody>
      </p:sp>
      <p:sp>
        <p:nvSpPr>
          <p:cNvPr id="70" name="Text 59"/>
          <p:cNvSpPr txBox="1"/>
          <p:nvPr/>
        </p:nvSpPr>
        <p:spPr>
          <a:xfrm>
            <a:off x="1066800" y="6286500"/>
            <a:ext cx="542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the CATS and MOTIF values differ for this FI Credit master book?"</a:t>
            </a:r>
            <a:endParaRPr lang="en-US" sz="1700" dirty="0"/>
          </a:p>
        </p:txBody>
      </p:sp>
      <p:sp>
        <p:nvSpPr>
          <p:cNvPr id="71" name="Shape 60"/>
          <p:cNvSpPr/>
          <p:nvPr/>
        </p:nvSpPr>
        <p:spPr>
          <a:xfrm>
            <a:off x="6781800" y="6591300"/>
            <a:ext cx="266700" cy="0"/>
          </a:xfrm>
          <a:prstGeom prst="line">
            <a:avLst/>
          </a:prstGeom>
          <a:noFill/>
          <a:ln w="22225">
            <a:solidFill>
              <a:srgbClr val="1F6FB5"/>
            </a:solidFill>
            <a:prstDash val="solid"/>
            <a:tailEnd type="triangle"/>
          </a:ln>
        </p:spPr>
      </p:sp>
      <p:sp>
        <p:nvSpPr>
          <p:cNvPr id="72" name="Shape 61"/>
          <p:cNvSpPr/>
          <p:nvPr/>
        </p:nvSpPr>
        <p:spPr>
          <a:xfrm>
            <a:off x="7105650" y="5829300"/>
            <a:ext cx="737235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7334250" y="6143625"/>
            <a:ext cx="533400" cy="533400"/>
          </a:xfrm>
          <a:prstGeom prst="ellipse">
            <a:avLst/>
          </a:prstGeom>
          <a:solidFill>
            <a:srgbClr val="1B3A5F"/>
          </a:solidFill>
          <a:ln/>
        </p:spPr>
      </p:sp>
      <p:pic>
        <p:nvPicPr>
          <p:cNvPr id="7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7125" y="6286500"/>
            <a:ext cx="247650" cy="247650"/>
          </a:xfrm>
          <a:prstGeom prst="rect">
            <a:avLst/>
          </a:prstGeom>
        </p:spPr>
      </p:pic>
      <p:sp>
        <p:nvSpPr>
          <p:cNvPr id="75" name="Text 63"/>
          <p:cNvSpPr txBox="1"/>
          <p:nvPr/>
        </p:nvSpPr>
        <p:spPr>
          <a:xfrm>
            <a:off x="8020050" y="60388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Outcome, 09:20</a:t>
            </a:r>
            <a:endParaRPr lang="en-US" sz="1050" dirty="0"/>
          </a:p>
        </p:txBody>
      </p:sp>
      <p:sp>
        <p:nvSpPr>
          <p:cNvPr id="76" name="Text 64"/>
          <p:cNvSpPr txBox="1"/>
          <p:nvPr/>
        </p:nvSpPr>
        <p:spPr>
          <a:xfrm>
            <a:off x="8020050" y="6286500"/>
            <a:ext cx="628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explained, every figure traced to MB Rec or other sources, adjustment approved and posted to MOTIF via FAS.</a:t>
            </a:r>
            <a:endParaRPr lang="en-US" sz="1500" dirty="0"/>
          </a:p>
        </p:txBody>
      </p:sp>
      <p:sp>
        <p:nvSpPr>
          <p:cNvPr id="77" name="Text 65"/>
          <p:cNvSpPr txBox="1"/>
          <p:nvPr/>
        </p:nvSpPr>
        <p:spPr>
          <a:xfrm>
            <a:off x="171450" y="76200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</a:t>
            </a:r>
            <a:endParaRPr lang="en-US" sz="1200" dirty="0"/>
          </a:p>
        </p:txBody>
      </p:sp>
      <p:sp>
        <p:nvSpPr>
          <p:cNvPr id="78" name="Shape 66"/>
          <p:cNvSpPr/>
          <p:nvPr/>
        </p:nvSpPr>
        <p:spPr>
          <a:xfrm>
            <a:off x="17145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7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225" y="8201025"/>
            <a:ext cx="171450" cy="171450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64770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evidence checked first</a:t>
            </a:r>
            <a:endParaRPr lang="en-US" sz="1150" dirty="0"/>
          </a:p>
        </p:txBody>
      </p:sp>
      <p:sp>
        <p:nvSpPr>
          <p:cNvPr id="81" name="Shape 68"/>
          <p:cNvSpPr/>
          <p:nvPr/>
        </p:nvSpPr>
        <p:spPr>
          <a:xfrm>
            <a:off x="304800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8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52775" y="8201025"/>
            <a:ext cx="171450" cy="171450"/>
          </a:xfrm>
          <a:prstGeom prst="rect">
            <a:avLst/>
          </a:prstGeom>
        </p:spPr>
      </p:pic>
      <p:sp>
        <p:nvSpPr>
          <p:cNvPr id="83" name="Text 69"/>
          <p:cNvSpPr txBox="1"/>
          <p:nvPr/>
        </p:nvSpPr>
        <p:spPr>
          <a:xfrm>
            <a:off x="352425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 Store, CATS or MOTIF calls</a:t>
            </a:r>
            <a:endParaRPr lang="en-US" sz="1150" dirty="0"/>
          </a:p>
        </p:txBody>
      </p:sp>
      <p:sp>
        <p:nvSpPr>
          <p:cNvPr id="84" name="Shape 70"/>
          <p:cNvSpPr/>
          <p:nvPr/>
        </p:nvSpPr>
        <p:spPr>
          <a:xfrm>
            <a:off x="592455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8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9325" y="8201025"/>
            <a:ext cx="171450" cy="171450"/>
          </a:xfrm>
          <a:prstGeom prst="rect">
            <a:avLst/>
          </a:prstGeom>
        </p:spPr>
      </p:pic>
      <p:sp>
        <p:nvSpPr>
          <p:cNvPr id="86" name="Text 71"/>
          <p:cNvSpPr txBox="1"/>
          <p:nvPr/>
        </p:nvSpPr>
        <p:spPr>
          <a:xfrm>
            <a:off x="640080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in code, not the LLM</a:t>
            </a:r>
            <a:endParaRPr lang="en-US" sz="1150" dirty="0"/>
          </a:p>
        </p:txBody>
      </p:sp>
      <p:sp>
        <p:nvSpPr>
          <p:cNvPr id="87" name="Shape 72"/>
          <p:cNvSpPr/>
          <p:nvPr/>
        </p:nvSpPr>
        <p:spPr>
          <a:xfrm>
            <a:off x="880110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8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5875" y="8201025"/>
            <a:ext cx="171450" cy="171450"/>
          </a:xfrm>
          <a:prstGeom prst="rect">
            <a:avLst/>
          </a:prstGeom>
        </p:spPr>
      </p:pic>
      <p:sp>
        <p:nvSpPr>
          <p:cNvPr id="89" name="Text 73"/>
          <p:cNvSpPr txBox="1"/>
          <p:nvPr/>
        </p:nvSpPr>
        <p:spPr>
          <a:xfrm>
            <a:off x="927735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owns the decision</a:t>
            </a:r>
            <a:endParaRPr lang="en-US" sz="1150" dirty="0"/>
          </a:p>
        </p:txBody>
      </p:sp>
      <p:sp>
        <p:nvSpPr>
          <p:cNvPr id="90" name="Shape 74"/>
          <p:cNvSpPr/>
          <p:nvPr/>
        </p:nvSpPr>
        <p:spPr>
          <a:xfrm>
            <a:off x="1167765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9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82425" y="8201025"/>
            <a:ext cx="171450" cy="171450"/>
          </a:xfrm>
          <a:prstGeom prst="rect">
            <a:avLst/>
          </a:prstGeom>
        </p:spPr>
      </p:pic>
      <p:sp>
        <p:nvSpPr>
          <p:cNvPr id="92" name="Text 75"/>
          <p:cNvSpPr txBox="1"/>
          <p:nvPr/>
        </p:nvSpPr>
        <p:spPr>
          <a:xfrm>
            <a:off x="1215390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traced in Phoenix, actions in app audit</a:t>
            </a:r>
            <a:endParaRPr lang="en-US" sz="1150" dirty="0"/>
          </a:p>
        </p:txBody>
      </p:sp>
      <p:sp>
        <p:nvSpPr>
          <p:cNvPr id="93" name="Shape 76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94" name="Text 77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2026-09-23T02:09:45Z</dcterms:created>
  <dcterms:modified xsi:type="dcterms:W3CDTF">2026-09-23T02:09:45Z</dcterms:modified>
</cp:coreProperties>
</file>