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proof, then the arc. Tee up: one destination, two delivery routes compared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Pure business logic. Reframe agent knowledge as a governed, compounding asset.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sources, one governed road. Gold stage = business decision rights.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 A = speed, reuse, inherited governance. Honest cons: automates the as-is, bounded experience and reach. Frame as the scale 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 B = fresh perspective, agent-native redesign, compounding connector library. Honest cons: MCP build-out, new UI/adoption, controls built fresh, longer runway. Not either/or — see the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Dual-track recommendation: Route A gives scale and quick wins; Route B pilot proves the agent-native future on one flagship. Evidence decides the mix by Q1.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One: Proven Today, Built to Get Better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finance agent already runs the daily P&amp;L process end-to-end — the next move is making it improve itself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1737360"/>
          </a:xfrm>
          <a:prstGeom prst="roundRect">
            <a:avLst>
              <a:gd name="adj" fmla="val 4211"/>
            </a:avLst>
          </a:prstGeom>
          <a:solidFill>
            <a:srgbClr val="F4F7F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573" y="2071573"/>
            <a:ext cx="291694" cy="291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019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P&amp;L workflow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63040" y="222199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Rec through Commentary &amp; Sign-off, run with AI assistance every business day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80560" y="19659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173" y="2071573"/>
            <a:ext cx="291694" cy="291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9019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control by design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120640" y="222199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choose how much the agent does — from fully manual to fully automatic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773" y="2071573"/>
            <a:ext cx="291694" cy="2916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78240" y="19019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moves unchecked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778240" y="222199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needs explicit sign-off; every result is traceable and repeatable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4864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7FD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4096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2960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Assists our people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22960" y="4937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does the heavy lifting; analysts direct and approve each step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096512" y="46634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6178"/>
                </a:solidFill>
              </a:rPr>
              <a:t>→</a:t>
            </a:r>
            <a:endParaRPr lang="en-US" sz="2400" dirty="0"/>
          </a:p>
        </p:txBody>
      </p:sp>
      <p:sp>
        <p:nvSpPr>
          <p:cNvPr id="24" name="Shape 19"/>
          <p:cNvSpPr/>
          <p:nvPr/>
        </p:nvSpPr>
        <p:spPr>
          <a:xfrm>
            <a:off x="4370832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7FD"/>
          </a:solidFill>
          <a:ln/>
        </p:spPr>
      </p:sp>
      <p:sp>
        <p:nvSpPr>
          <p:cNvPr id="25" name="Text 20"/>
          <p:cNvSpPr/>
          <p:nvPr/>
        </p:nvSpPr>
        <p:spPr>
          <a:xfrm>
            <a:off x="4645152" y="4096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645152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the routine</a:t>
            </a:r>
            <a:endParaRPr lang="en-US" sz="1900" dirty="0"/>
          </a:p>
        </p:txBody>
      </p:sp>
      <p:sp>
        <p:nvSpPr>
          <p:cNvPr id="27" name="Text 22"/>
          <p:cNvSpPr/>
          <p:nvPr/>
        </p:nvSpPr>
        <p:spPr>
          <a:xfrm>
            <a:off x="4645152" y="4937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days run themselves; people focus only on exceptions and judgment calls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7918704" y="46634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6178"/>
                </a:solidFill>
              </a:rPr>
              <a:t>→</a:t>
            </a:r>
            <a:endParaRPr lang="en-US" sz="2400" dirty="0"/>
          </a:p>
        </p:txBody>
      </p:sp>
      <p:sp>
        <p:nvSpPr>
          <p:cNvPr id="29" name="Shape 24"/>
          <p:cNvSpPr/>
          <p:nvPr/>
        </p:nvSpPr>
        <p:spPr>
          <a:xfrm>
            <a:off x="8193024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7FD"/>
          </a:solidFill>
          <a:ln/>
        </p:spPr>
      </p:sp>
      <p:sp>
        <p:nvSpPr>
          <p:cNvPr id="30" name="Text 25"/>
          <p:cNvSpPr/>
          <p:nvPr/>
        </p:nvSpPr>
        <p:spPr>
          <a:xfrm>
            <a:off x="8467344" y="4096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8467344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Improves itself</a:t>
            </a:r>
            <a:endParaRPr lang="en-US" sz="1900" dirty="0"/>
          </a:p>
        </p:txBody>
      </p:sp>
      <p:sp>
        <p:nvSpPr>
          <p:cNvPr id="32" name="Text 27"/>
          <p:cNvSpPr/>
          <p:nvPr/>
        </p:nvSpPr>
        <p:spPr>
          <a:xfrm>
            <a:off x="8467344" y="4937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learns from every day in production — safely, with the business approving every change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briefing covers the destination — and the two routes we can take to get there.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Opportunity: The Agent's Knowledge Stands Still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day, production and our people discover how to make the agent better — today, none of it is captured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135" y="1719255"/>
            <a:ext cx="328818" cy="3288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5819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drifts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251960" y="1490472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playbooks are written once and updated by hand. As products, books and controls change, quality quietly erodes between updates.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35" y="2953695"/>
            <a:ext cx="328818" cy="3288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8163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goes unused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4251960" y="2724912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monitoring already sees every run — where the agent hesitated, failed or needed a human. Those insights sit in dashboards instead of fixing the agent.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0690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35" y="4188135"/>
            <a:ext cx="328818" cy="3288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0507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Know-how walks away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4251960" y="3959352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find better ways of instructing the agent daily. Those improvements live in personal notes — not in the platform — and leave when people move on.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54864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7" name="Text 12"/>
          <p:cNvSpPr/>
          <p:nvPr/>
        </p:nvSpPr>
        <p:spPr>
          <a:xfrm>
            <a:off x="822960" y="548640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reframe: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knowledge is a business asset. Managed like one — versioned, reviewed, approved — it becomes a compounding advantage instead of a slow leak.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Answer: A Governed Way for the Agent to Learn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dedicated capability — improvements flow in from two sources, and nothing changes without business approval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22392" cy="1600200"/>
          </a:xfrm>
          <a:prstGeom prst="roundRect">
            <a:avLst>
              <a:gd name="adj" fmla="val 4571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105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2938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proposes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212140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evidence is mined automatically. Recurring issues become draft improvements — each arriving with the proof of why it's needed.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422392" cy="1600200"/>
          </a:xfrm>
          <a:prstGeom prst="roundRect">
            <a:avLst>
              <a:gd name="adj" fmla="val 4571"/>
            </a:avLst>
          </a:prstGeom>
          <a:solidFill>
            <a:srgbClr val="F4F7FD"/>
          </a:solidFill>
          <a:ln/>
        </p:spPr>
      </p:sp>
      <p:sp>
        <p:nvSpPr>
          <p:cNvPr id="10" name="Shape 7"/>
          <p:cNvSpPr/>
          <p:nvPr/>
        </p:nvSpPr>
        <p:spPr>
          <a:xfrm>
            <a:off x="6473952" y="18105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192938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people propose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223760" y="212140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suggest better approaches in one click, as they work. Front-line know-how is captured in the platform, not lost in notebooks.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IMPROVEMENT TAKES THE SAME ROAD — NO EXCEPTIONS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794760"/>
            <a:ext cx="2368296" cy="77724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16" name="Text 12"/>
          <p:cNvSpPr/>
          <p:nvPr/>
        </p:nvSpPr>
        <p:spPr>
          <a:xfrm>
            <a:off x="786384" y="3794760"/>
            <a:ext cx="200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94360" y="4709160"/>
            <a:ext cx="21854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with evidence attached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798064" y="3794760"/>
            <a:ext cx="2368296" cy="77724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19" name="Text 15"/>
          <p:cNvSpPr/>
          <p:nvPr/>
        </p:nvSpPr>
        <p:spPr>
          <a:xfrm>
            <a:off x="3035808" y="3794760"/>
            <a:ext cx="200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2843784" y="4709160"/>
            <a:ext cx="21854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against agreed scenarios before anyone reviews it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047488" y="3794760"/>
            <a:ext cx="2368296" cy="777240"/>
          </a:xfrm>
          <a:prstGeom prst="chevron">
            <a:avLst/>
          </a:prstGeom>
          <a:solidFill>
            <a:srgbClr val="D9A441"/>
          </a:solidFill>
          <a:ln/>
        </p:spPr>
      </p:sp>
      <p:sp>
        <p:nvSpPr>
          <p:cNvPr id="22" name="Text 18"/>
          <p:cNvSpPr/>
          <p:nvPr/>
        </p:nvSpPr>
        <p:spPr>
          <a:xfrm>
            <a:off x="5285232" y="3794760"/>
            <a:ext cx="200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BUSINESS-APPROVED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5093208" y="4709160"/>
            <a:ext cx="21854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owns the decision: approve, reject, or ask for changes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7296912" y="3794760"/>
            <a:ext cx="2368296" cy="77724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25" name="Text 21"/>
          <p:cNvSpPr/>
          <p:nvPr/>
        </p:nvSpPr>
        <p:spPr>
          <a:xfrm>
            <a:off x="7534656" y="3794760"/>
            <a:ext cx="200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7342632" y="4709160"/>
            <a:ext cx="21854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live as a new version — reversible in minutes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9546336" y="3794760"/>
            <a:ext cx="2368296" cy="777240"/>
          </a:xfrm>
          <a:prstGeom prst="chevron">
            <a:avLst/>
          </a:prstGeom>
          <a:solidFill>
            <a:srgbClr val="3E7CB1"/>
          </a:solidFill>
          <a:ln/>
        </p:spPr>
      </p:sp>
      <p:sp>
        <p:nvSpPr>
          <p:cNvPr id="28" name="Text 24"/>
          <p:cNvSpPr/>
          <p:nvPr/>
        </p:nvSpPr>
        <p:spPr>
          <a:xfrm>
            <a:off x="9784080" y="3794760"/>
            <a:ext cx="200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9592056" y="4709160"/>
            <a:ext cx="21854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in production; results feed the next improvement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1645920" y="5806440"/>
            <a:ext cx="8869680" cy="0"/>
          </a:xfrm>
          <a:prstGeom prst="line">
            <a:avLst/>
          </a:prstGeom>
          <a:noFill/>
          <a:ln w="25400">
            <a:solidFill>
              <a:srgbClr val="3E7CB1"/>
            </a:solidFill>
            <a:prstDash val="dash"/>
            <a:headEnd type="arrow"/>
          </a:ln>
        </p:spPr>
      </p:sp>
      <p:sp>
        <p:nvSpPr>
          <p:cNvPr id="31" name="Text 27"/>
          <p:cNvSpPr/>
          <p:nvPr/>
        </p:nvSpPr>
        <p:spPr>
          <a:xfrm>
            <a:off x="3017520" y="58978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loop: every production day makes the next one better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548640" y="6309360"/>
            <a:ext cx="11091672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33" name="Text 29"/>
          <p:cNvSpPr/>
          <p:nvPr/>
        </p:nvSpPr>
        <p:spPr>
          <a:xfrm>
            <a:off x="822960" y="63093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holds the approve button. Full audit trail. Instant rollback. No change happens outside this road.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A — Plug Agent One into the Workflow Platform We Already Run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engine keeps orchestrating; Agent One snaps in as the intelligence layer inside each step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27632"/>
            <a:ext cx="621792" cy="62179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647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 · INTEGRATE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600200" y="1773936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the proven  — 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approvals, entitlements and audit stay exactly as they are — the agent is added where it pays.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5468112" cy="3063240"/>
          </a:xfrm>
          <a:prstGeom prst="roundRect">
            <a:avLst>
              <a:gd name="adj" fmla="val 2388"/>
            </a:avLst>
          </a:prstGeom>
          <a:solidFill>
            <a:srgbClr val="E8F2EC"/>
          </a:solidFill>
          <a:ln/>
        </p:spPr>
      </p:sp>
      <p:sp>
        <p:nvSpPr>
          <p:cNvPr id="10" name="Shape 7"/>
          <p:cNvSpPr/>
          <p:nvPr/>
        </p:nvSpPr>
        <p:spPr>
          <a:xfrm>
            <a:off x="804672" y="2907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3003804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89888" y="29809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GAIN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68680" y="3429000"/>
            <a:ext cx="4892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Fast: existing processes become agent-capable in weeks, by configuration rather than a build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from day one — today's approvals, entitlements and audit automatically apply to the AI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disruption: familiar screens and processes; every team on the platform inherits the agent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cost and delivery risk — we multiply two investments we have already made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72200" y="2697480"/>
            <a:ext cx="5468112" cy="3063240"/>
          </a:xfrm>
          <a:prstGeom prst="roundRect">
            <a:avLst>
              <a:gd name="adj" fmla="val 2388"/>
            </a:avLst>
          </a:prstGeom>
          <a:solidFill>
            <a:srgbClr val="FBF3E4"/>
          </a:solidFill>
          <a:ln/>
        </p:spPr>
      </p:sp>
      <p:sp>
        <p:nvSpPr>
          <p:cNvPr id="15" name="Shape 11"/>
          <p:cNvSpPr/>
          <p:nvPr/>
        </p:nvSpPr>
        <p:spPr>
          <a:xfrm>
            <a:off x="6428232" y="2907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244" y="3003804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13448" y="29809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WEIGH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92240" y="3429000"/>
            <a:ext cx="4892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automate the process as it is — the agent works within today's process design, so improvement is incremental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is bounded by the current screens; agent-first interaction is limited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only reaches what the platform already connects to — new capability arrives at the platform's pace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comfort: quick wins can defer the deeper redesign that some processes deserve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4F7FD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5989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when: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proven, high-volume processes need intelligence quickly, at scale, under existing controls.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B — Helix: The Agent-Native Route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problem, not the existing process — the agent orchestrates the work and people supervise by exception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27632"/>
            <a:ext cx="621792" cy="62179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647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 · HELIX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600200" y="1773936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Reimagine the solution  — 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perspective on long-standing problems: redesign how the work is done, rather than speed up how it was done.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5468112" cy="3063240"/>
          </a:xfrm>
          <a:prstGeom prst="roundRect">
            <a:avLst>
              <a:gd name="adj" fmla="val 2388"/>
            </a:avLst>
          </a:prstGeom>
          <a:solidFill>
            <a:srgbClr val="E8F2EC"/>
          </a:solidFill>
          <a:ln/>
        </p:spPr>
      </p:sp>
      <p:sp>
        <p:nvSpPr>
          <p:cNvPr id="10" name="Shape 7"/>
          <p:cNvSpPr/>
          <p:nvPr/>
        </p:nvSpPr>
        <p:spPr>
          <a:xfrm>
            <a:off x="804672" y="2907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3003804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89888" y="29809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GAIN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68680" y="3429000"/>
            <a:ext cx="4892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answers, not just faster ones — freedom to redesign solutions we could never change inside legacy flows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experience: one conversational workspace for running, reviewing and approving the work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grows without limits — each new secure connector (MCP) the agent gains benefits every process at once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us ahead: a platform designed for where AI is going, not retrofitted to where we have been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72200" y="2697480"/>
            <a:ext cx="5468112" cy="3063240"/>
          </a:xfrm>
          <a:prstGeom prst="roundRect">
            <a:avLst>
              <a:gd name="adj" fmla="val 2388"/>
            </a:avLst>
          </a:prstGeom>
          <a:solidFill>
            <a:srgbClr val="FBF3E4"/>
          </a:solidFill>
          <a:ln/>
        </p:spPr>
      </p:sp>
      <p:sp>
        <p:nvSpPr>
          <p:cNvPr id="15" name="Shape 11"/>
          <p:cNvSpPr/>
          <p:nvPr/>
        </p:nvSpPr>
        <p:spPr>
          <a:xfrm>
            <a:off x="6428232" y="2907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244" y="3003804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13448" y="29809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WEIGH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92240" y="3429000"/>
            <a:ext cx="4892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build-out is real work — every system the agent touches needs a secure, certified connector (MCP)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UI and ways of working — design, training and adoption effort across teams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Controls, guardrails and approvals must be built and certified fresh rather than inherited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runway and higher upfront investment before value shows at scale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4F7FD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5989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when: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problems deserve end-to-end reimagination — and we want the platform that compounds furthest.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2194560"/>
            <a:ext cx="5120640" cy="5120640"/>
          </a:xfrm>
          <a:prstGeom prst="ellipse">
            <a:avLst/>
          </a:prstGeom>
          <a:solidFill>
            <a:srgbClr val="2A378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 and the Ask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routes are not rivals — integrate for scale now, prove Helix where redesign pays most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2A3780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1947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 control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633472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captured and business-approved from day one; first existing workflow app integrates Agent One (Route A)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2A3780"/>
          </a:solidFill>
          <a:ln/>
        </p:spPr>
      </p:sp>
      <p:sp>
        <p:nvSpPr>
          <p:cNvPr id="10" name="Text 8"/>
          <p:cNvSpPr/>
          <p:nvPr/>
        </p:nvSpPr>
        <p:spPr>
          <a:xfrm>
            <a:off x="4690872" y="1947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2026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90872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Helix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90872" y="2633472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high-value process rebuilt agent-native (Route B pilot) — connectors, controls and experience proven on real 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78308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2A3780"/>
          </a:solidFill>
          <a:ln/>
        </p:spPr>
      </p:sp>
      <p:sp>
        <p:nvSpPr>
          <p:cNvPr id="14" name="Text 12"/>
          <p:cNvSpPr/>
          <p:nvPr/>
        </p:nvSpPr>
        <p:spPr>
          <a:xfrm>
            <a:off x="8302752" y="1947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2027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02752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what wins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02752" y="2633472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loop runs continuously; the Route A / Route B mix is set by evidence, not opinion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 TODAY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48056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4581144"/>
            <a:ext cx="256032" cy="2560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63040" y="4434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route mix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0" y="44348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dual track: integrate at scale now, prove the Helix route on one flagship process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22960" y="5102352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5202936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463040" y="50566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approvers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572000" y="505663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the finance owners who hold the approve button for every agent change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22960" y="5724144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5824728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63040" y="567842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one squad for Q3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4572000" y="5678424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skill capture, approval and the first Route A integration — reusing platforms we already own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822960" y="6419088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agent quality that compounds on both routes — every production day makes the platform better, with the business in control.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2026-07-27T22:44:21Z</dcterms:created>
  <dcterms:modified xsi:type="dcterms:W3CDTF">2026-07-27T22:44:21Z</dcterms:modified>
</cp:coreProperties>
</file>