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F25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One for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Control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Investment Case — Data Products, MCP Servers &amp; Delivery Plan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749040"/>
            <a:ext cx="1097280" cy="36576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Technology  |  April 2026  |  Confidential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132320" y="3474720"/>
            <a:ext cx="1645920" cy="457200"/>
          </a:xfrm>
          <a:prstGeom prst="rect">
            <a:avLst>
              <a:gd name="adj" fmla="val 10000"/>
            </a:avLst>
          </a:prstGeom>
          <a:solidFill>
            <a:srgbClr val="FFD166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0" y="34747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DRAFT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5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04672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1005840"/>
          </a:xfrm>
          <a:prstGeom prst="rect">
            <a:avLst/>
          </a:prstGeom>
          <a:solidFill>
            <a:srgbClr val="EBF4FD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1005840"/>
          </a:xfrm>
          <a:prstGeom prst="rect">
            <a:avLst/>
          </a:prstGeom>
          <a:solidFill>
            <a:srgbClr val="1560A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61872"/>
            <a:ext cx="7635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Proposal: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AI-powered Product Control plugin on Agent One Finance (AOF) — the firm's approved AI agent platform. Five Claude-powered agents automate FOBO reconciliation, daily P&amp;L build, adjustments, PLEX reclassification, and variance commentary. The platform consumes 8 data products from extended teams under the same budget umbrella, orchestrates them through MCP servers, and delivers controller-ready output with human-in-the-loop sign-off.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1874520" cy="118872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54203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560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31546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products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2468880"/>
            <a:ext cx="1874520" cy="118872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06040" y="254203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06040" y="31546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2468880"/>
            <a:ext cx="1874520" cy="118872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254203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25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£680K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63440" y="31546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20840" y="2468880"/>
            <a:ext cx="1874520" cy="118872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0840" y="254203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 wks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720840" y="31546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delivery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8862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permanent Barclays engineers — 8 resources at ~£85K blended rate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cost near-zero — MCP servers run on existing ECS/Oracle 19c; AOF provides Bedrock, governance, RBAC, audit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approach — prototype in 5 weeks proves the pattern before full commitment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teams provide data products (Oracle views) — same budget, no incremental headcount ask on their side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5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— Agent One for Product Control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MCP-connected data products  •  Claude-powered production  •  Controller-in-the-loop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1920240" cy="32004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25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6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PRODUCTS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56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REFERENCE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783080"/>
            <a:ext cx="1645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783080"/>
            <a:ext cx="36576" cy="274320"/>
          </a:xfrm>
          <a:prstGeom prst="rect">
            <a:avLst/>
          </a:prstGeom>
          <a:solidFill>
            <a:srgbClr val="1560A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7830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 Trial Balance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11480" y="2112264"/>
            <a:ext cx="1645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112264"/>
            <a:ext cx="36576" cy="274320"/>
          </a:xfrm>
          <a:prstGeom prst="rect">
            <a:avLst/>
          </a:prstGeom>
          <a:solidFill>
            <a:srgbClr val="1560A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11226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Intraday Positions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1480" y="2441448"/>
            <a:ext cx="1645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441448"/>
            <a:ext cx="36576" cy="274320"/>
          </a:xfrm>
          <a:prstGeom prst="rect">
            <a:avLst/>
          </a:prstGeom>
          <a:solidFill>
            <a:srgbClr val="1560A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4414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Store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" y="2770632"/>
            <a:ext cx="1645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770632"/>
            <a:ext cx="36576" cy="274320"/>
          </a:xfrm>
          <a:prstGeom prst="rect">
            <a:avLst/>
          </a:prstGeom>
          <a:solidFill>
            <a:srgbClr val="1560A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7706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Cashflows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1480" y="3099816"/>
            <a:ext cx="1645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099816"/>
            <a:ext cx="36576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09981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Rates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1480" y="3429000"/>
            <a:ext cx="1645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429000"/>
            <a:ext cx="36576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4290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Cpty &amp; Instrument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11480" y="3758184"/>
            <a:ext cx="1645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758184"/>
            <a:ext cx="36576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75818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&amp; Hierarchy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11480" y="4087368"/>
            <a:ext cx="1645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4087368"/>
            <a:ext cx="36576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40873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PLEX Hierarchy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19456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56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2606040" y="1280160"/>
            <a:ext cx="34747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560A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606040" y="1280160"/>
            <a:ext cx="3474720" cy="411480"/>
          </a:xfrm>
          <a:prstGeom prst="rect">
            <a:avLst/>
          </a:prstGeom>
          <a:solidFill>
            <a:srgbClr val="0F2544"/>
          </a:solidFill>
          <a:ln/>
        </p:spPr>
      </p:sp>
      <p:sp>
        <p:nvSpPr>
          <p:cNvPr id="33" name="Text 31"/>
          <p:cNvSpPr/>
          <p:nvPr/>
        </p:nvSpPr>
        <p:spPr>
          <a:xfrm>
            <a:off x="2606040" y="12801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CENTRAL TEAM — AGENT ONE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0" y="17830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56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2788920" y="2011680"/>
            <a:ext cx="1508760" cy="2011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6" name="Text 34"/>
          <p:cNvSpPr/>
          <p:nvPr/>
        </p:nvSpPr>
        <p:spPr>
          <a:xfrm>
            <a:off x="2788920" y="201168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Balance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361688" y="2011680"/>
            <a:ext cx="1508760" cy="2011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8" name="Text 36"/>
          <p:cNvSpPr/>
          <p:nvPr/>
        </p:nvSpPr>
        <p:spPr>
          <a:xfrm>
            <a:off x="4361688" y="201168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/ Rates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788920" y="2258568"/>
            <a:ext cx="1508760" cy="2011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0" name="Text 38"/>
          <p:cNvSpPr/>
          <p:nvPr/>
        </p:nvSpPr>
        <p:spPr>
          <a:xfrm>
            <a:off x="2788920" y="22585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361688" y="2258568"/>
            <a:ext cx="1508760" cy="2011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2" name="Text 40"/>
          <p:cNvSpPr/>
          <p:nvPr/>
        </p:nvSpPr>
        <p:spPr>
          <a:xfrm>
            <a:off x="4361688" y="22585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PLEX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788920" y="2505456"/>
            <a:ext cx="1508760" cy="2011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4" name="Text 42"/>
          <p:cNvSpPr/>
          <p:nvPr/>
        </p:nvSpPr>
        <p:spPr>
          <a:xfrm>
            <a:off x="2788920" y="250545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Store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361688" y="2505456"/>
            <a:ext cx="1508760" cy="2011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6" name="Text 44"/>
          <p:cNvSpPr/>
          <p:nvPr/>
        </p:nvSpPr>
        <p:spPr>
          <a:xfrm>
            <a:off x="4361688" y="250545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&amp; Hier.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788920" y="2752344"/>
            <a:ext cx="1508760" cy="2011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8" name="Text 46"/>
          <p:cNvSpPr/>
          <p:nvPr/>
        </p:nvSpPr>
        <p:spPr>
          <a:xfrm>
            <a:off x="2788920" y="275234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Cashflows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361688" y="2752344"/>
            <a:ext cx="1508760" cy="2011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0" name="Text 48"/>
          <p:cNvSpPr/>
          <p:nvPr/>
        </p:nvSpPr>
        <p:spPr>
          <a:xfrm>
            <a:off x="4361688" y="275234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Cpty / Instr.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880360" y="3063240"/>
            <a:ext cx="2926080" cy="457200"/>
          </a:xfrm>
          <a:prstGeom prst="rect">
            <a:avLst/>
          </a:prstGeom>
          <a:solidFill>
            <a:srgbClr val="1560A8"/>
          </a:solidFill>
          <a:ln/>
        </p:spPr>
      </p:sp>
      <p:sp>
        <p:nvSpPr>
          <p:cNvPr id="52" name="Text 50"/>
          <p:cNvSpPr/>
          <p:nvPr/>
        </p:nvSpPr>
        <p:spPr>
          <a:xfrm>
            <a:off x="2880360" y="3063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CORE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• Context • Routing • Guardrails • Audit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2880360" y="3611880"/>
            <a:ext cx="2926080" cy="32004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80360" y="3611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FOBO Recon • PnL Build • Adjustments • PLEX Reclass • Commentary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2880360" y="4023360"/>
            <a:ext cx="2926080" cy="320040"/>
          </a:xfrm>
          <a:prstGeom prst="rect">
            <a:avLst/>
          </a:prstGeom>
          <a:solidFill>
            <a:srgbClr val="FFFBEB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880360" y="40233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CONTROLLER-IN-THE-LOOP — Review • Challenge • Sign-off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608076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58" name="Shape 56"/>
          <p:cNvSpPr/>
          <p:nvPr/>
        </p:nvSpPr>
        <p:spPr>
          <a:xfrm>
            <a:off x="6492240" y="1280160"/>
            <a:ext cx="2377440" cy="32004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92240" y="1325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OUTPUTS PRODUCED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629400" y="1691640"/>
            <a:ext cx="2103120" cy="320040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629400" y="1691640"/>
            <a:ext cx="36576" cy="3200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2" name="Text 60"/>
          <p:cNvSpPr/>
          <p:nvPr/>
        </p:nvSpPr>
        <p:spPr>
          <a:xfrm>
            <a:off x="6720840" y="16916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FOBO Reconciliation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629400" y="2075688"/>
            <a:ext cx="2103120" cy="320040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629400" y="2075688"/>
            <a:ext cx="36576" cy="3200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5" name="Text 63"/>
          <p:cNvSpPr/>
          <p:nvPr/>
        </p:nvSpPr>
        <p:spPr>
          <a:xfrm>
            <a:off x="6720840" y="207568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P&amp;L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629400" y="2459736"/>
            <a:ext cx="2103120" cy="320040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629400" y="2459736"/>
            <a:ext cx="36576" cy="3200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8" name="Text 66"/>
          <p:cNvSpPr/>
          <p:nvPr/>
        </p:nvSpPr>
        <p:spPr>
          <a:xfrm>
            <a:off x="6720840" y="245973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Adjustments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629400" y="2843784"/>
            <a:ext cx="2103120" cy="320040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629400" y="2843784"/>
            <a:ext cx="36576" cy="3200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1" name="Text 69"/>
          <p:cNvSpPr/>
          <p:nvPr/>
        </p:nvSpPr>
        <p:spPr>
          <a:xfrm>
            <a:off x="6720840" y="284378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PLEX Reclass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629400" y="3227832"/>
            <a:ext cx="2103120" cy="320040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629400" y="3227832"/>
            <a:ext cx="36576" cy="3200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4" name="Text 72"/>
          <p:cNvSpPr/>
          <p:nvPr/>
        </p:nvSpPr>
        <p:spPr>
          <a:xfrm>
            <a:off x="6720840" y="32278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Commentary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629400" y="3611880"/>
            <a:ext cx="2103120" cy="320040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629400" y="3611880"/>
            <a:ext cx="36576" cy="3200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7" name="Text 75"/>
          <p:cNvSpPr/>
          <p:nvPr/>
        </p:nvSpPr>
        <p:spPr>
          <a:xfrm>
            <a:off x="6720840" y="36118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/ Decomp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274320" y="4617720"/>
            <a:ext cx="8595360" cy="274320"/>
          </a:xfrm>
          <a:prstGeom prst="rect">
            <a:avLst/>
          </a:prstGeom>
          <a:solidFill>
            <a:srgbClr val="0F2544"/>
          </a:solidFill>
          <a:ln/>
        </p:spPr>
      </p:sp>
      <p:sp>
        <p:nvSpPr>
          <p:cNvPr id="79" name="Text 77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OBSERVABILITY   Identity • Data lineage • Audit • Model version control • SLA telemetry • Model risk sign-off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Structure &amp; Cost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permanent Barclays engineers  •  ~£85K blended annual rate per resource  •  Same budget umbrella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56032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280160"/>
                <a:gridCol w="1828800"/>
                <a:gridCol w="164592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25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/ Architect (you)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phases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weeks (30%)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£85K (existing)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25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Engineer — MCP Servers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phases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weeks full-time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£170K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25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Engineer — Orchestration 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1–3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weeks full-time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£85K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25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Engineer — Plugin UI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2–3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weeks full-time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£85K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25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 Engineer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2–3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weeks full-time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£85K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25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Product Engineers (extended)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1–2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weeks (50%)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£170K (existing)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TEAM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£680K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A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023360"/>
            <a:ext cx="256032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4023360"/>
            <a:ext cx="45720" cy="868680"/>
          </a:xfrm>
          <a:prstGeom prst="rect">
            <a:avLst/>
          </a:prstGeom>
          <a:solidFill>
            <a:srgbClr val="0F2544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40416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(people)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85800" y="42245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5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£680K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194560" y="4251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~97%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5800" y="4572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perm engineers × £85K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383280" y="4023360"/>
            <a:ext cx="256032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83280" y="4023360"/>
            <a:ext cx="45720" cy="8686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0"/>
          <p:cNvSpPr/>
          <p:nvPr/>
        </p:nvSpPr>
        <p:spPr>
          <a:xfrm>
            <a:off x="3520440" y="40416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 tokens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520440" y="42245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£3–10K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029200" y="4251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~2%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520440" y="4572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AOF budget, $250–1K/mo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217920" y="4023360"/>
            <a:ext cx="256032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17920" y="4023360"/>
            <a:ext cx="45720" cy="8686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9" name="Text 16"/>
          <p:cNvSpPr/>
          <p:nvPr/>
        </p:nvSpPr>
        <p:spPr>
          <a:xfrm>
            <a:off x="6355080" y="40416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infra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355080" y="42245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~£0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7863840" y="4251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~1%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355080" y="4572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ECS, Oracle, VPC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5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Data Products — What Extended Teams Deliver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budget  •  Extended teams create Oracle views  •  Your team builds MCP servers that consume them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2926080"/>
        </p:xfrm>
        <a:graphic>
          <a:graphicData uri="http://schemas.openxmlformats.org/drawingml/2006/table">
            <a:tbl>
              <a:tblPr/>
              <a:tblGrid>
                <a:gridCol w="365760"/>
                <a:gridCol w="1554480"/>
                <a:gridCol w="548640"/>
                <a:gridCol w="1188720"/>
                <a:gridCol w="1371600"/>
                <a:gridCol w="1005840"/>
                <a:gridCol w="7315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Product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25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SOD Trial Balance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 / Sub-Ledger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T+0 06:00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25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Intraday Positions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mgmt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API / 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Intraday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25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 Store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 capture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 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25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Cashflows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Treasury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T+0 07:00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25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FX Rates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API + cache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Intraday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25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Cpty &amp; Instrument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 data hub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25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Books &amp; Hierarchy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master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25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PLEX Hierarchy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PLEX config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160520"/>
            <a:ext cx="8229600" cy="777240"/>
          </a:xfrm>
          <a:prstGeom prst="rect">
            <a:avLst/>
          </a:prstGeom>
          <a:solidFill>
            <a:srgbClr val="EBF4FD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4160520"/>
            <a:ext cx="54864" cy="777240"/>
          </a:xfrm>
          <a:prstGeom prst="rect">
            <a:avLst/>
          </a:prstGeom>
          <a:solidFill>
            <a:srgbClr val="1560A8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4206240"/>
            <a:ext cx="7818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team effort is minimal: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named Oracle view with stable columns and grant SELECT to the MCP service account. Most views can be created in 1–2 days — the data already exists in their systems. 2 data product engineers (existing headcount) at 50% allocation for 8 weeks covers all 8 products across both phases.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Phased Delivery — 18 Weeks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447040" cy="34747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— Discovery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7120" y="109728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AOF onboarding, Plugin Dev Guide, tool contract design, CLAUDE.md spec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995680" y="2011680"/>
            <a:ext cx="2235200" cy="347472"/>
          </a:xfrm>
          <a:prstGeom prst="rect">
            <a:avLst/>
          </a:prstGeom>
          <a:solidFill>
            <a:srgbClr val="1560A8"/>
          </a:solidFill>
          <a:ln/>
        </p:spPr>
      </p:sp>
      <p:sp>
        <p:nvSpPr>
          <p:cNvPr id="8" name="Text 6"/>
          <p:cNvSpPr/>
          <p:nvPr/>
        </p:nvSpPr>
        <p:spPr>
          <a:xfrm>
            <a:off x="995680" y="20116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Prototype + Core 4 DPs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22320" y="201168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2–6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3957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MCP servers (TB, Positions, FX, Books), 2 agents (FOBO Recon, PnL Build), CIO demo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30880" y="2926080"/>
            <a:ext cx="357632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230880" y="2926080"/>
            <a:ext cx="3576320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Full Plugin + Remaining DPs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98640" y="292608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7–14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3310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more MCP servers, 3 more agents, Plugin UI (React/TS), RBAC, UAT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07200" y="3840480"/>
            <a:ext cx="1788160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6807200" y="38404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Harden + Production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0" y="384048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15–18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42245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hardening, monitoring, quality gates live, user onboarding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4572000"/>
            <a:ext cx="3931920" cy="4114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59028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milestone: </a:t>
            </a:r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FOBO Recon + PnL Build agents running end-to-end. CIO demo. Go/no-go for full build.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4572000"/>
            <a:ext cx="4023360" cy="4114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459028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18 milestone: </a:t>
            </a:r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agents live in production. Full Plugin UI. USCB + Revenue Accounting onboarded.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 Summary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2377440"/>
        </p:xfrm>
        <a:graphic>
          <a:graphicData uri="http://schemas.openxmlformats.org/drawingml/2006/table">
            <a:tbl>
              <a:tblPr/>
              <a:tblGrid>
                <a:gridCol w="2926080"/>
                <a:gridCol w="1188720"/>
                <a:gridCol w="1188720"/>
                <a:gridCol w="310896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 (build)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2+ (run)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25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 — your central team (6 perm)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£510K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£170K (2 BAU)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× £85K build; 2 FTE ongoing 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25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 — extended data product team (2 perm)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£170K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headcount, 50% for 8 weeks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25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Bedrock tokens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£3–10K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£3–10K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AOF budget, $250–1,050/mo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25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Incremental infrastructure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~£0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£1–3K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ECS, Oracle 19c, VPC, CI/CD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25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Licensing / 3rd party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new licences — AOF + open 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~£680K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~£175K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97% is people 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A8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3657600"/>
            <a:ext cx="3657600" cy="118872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37033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— Build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" y="39319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5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£680K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85800" y="4389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engineers × £85K for 18 weeks + tokens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937760" y="3657600"/>
            <a:ext cx="3657600" cy="11887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74920" y="37033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2+ — Run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74920" y="39319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£175K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5074920" y="4389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BAU engineers + Bedrock tokens + infra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 on Investment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92024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143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25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30–40 hrs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time saved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min/user/day × 10–15 controllers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51760" y="1051560"/>
            <a:ext cx="192024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51760" y="1143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25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651760" y="1645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manual status gathering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5176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replaces system switching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192024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143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25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6 mo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754880" y="1645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 vs £680K build cost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0" y="1051560"/>
            <a:ext cx="192024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0" y="1143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25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858000" y="1645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licence cost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AOF platform + open source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2651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value is created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2971800"/>
            <a:ext cx="8046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FOBO Reconciliation: 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identifies breaks, explains root cause, proposes fix — controller reviews and approves instead of investigating manually.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P&amp;L Build: 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P&amp;L assembled from positions, trades, FX rates — explained in plain English. Controllers validate instead of building from scratch.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Commentary: 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commentary generated from variance analysis — controller edits and signs off instead of writing from zero.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b="1" dirty="0">
                <a:solidFill>
                  <a:srgbClr val="0F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Adjustments &amp; PLEX Reclass: 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Auto-proposed, justified, tracked. Controller approves — not initiates.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 &amp; Mitigations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347472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475488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25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Extended teams slow to create Oracle views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Delays MCP server build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data product contract conversations in Week 1. Views are 1–2 days of DBA work — the bottleneck is the conversation, not the code.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25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AOF Plugin Dev Guide unavailable or incomplete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 registration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 AOF platform team in Phase 0. Use Financial Reporting plugin as reference. Build to MCP standard, adapt registration later.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25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accuracy on complex reconciliation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Incorrect recommendations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Controller-in-the-loop design — agent proposes, human approves. Quality gates reject bad data before agent sees it. Prototype validates accuracy before scaling.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25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Headcount contention with existing delivery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conflicts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Phased approach — only 2 engineers committed in Phase 1. Full team (8) only after Phase 1 CIO demo proves value.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25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quality issues in upstream products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reasons over bad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server quality gates: freshness, row count, null key, schema drift checks. Reject or flag bad data before agents consume it.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0F25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914400" cy="36576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45920"/>
            <a:ext cx="365760" cy="36576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554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8 permanent engineers at £85K blended rate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90195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central team (your team) + 2 extended team data product engineers. Total: £680K Year 1, £175K Year 2+ run cost. No new headcount — reallocate from existing pool.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697480"/>
            <a:ext cx="365760" cy="36576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606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 the phased approach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295351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prototype (5 weeks, 2 engineers) proves the pattern end-to-end. Full team of 8 only commits after Phase 1 CIO demo delivers a working FOBO Recon + PnL Build agent.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749040"/>
            <a:ext cx="365760" cy="36576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6576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introductions to AOF platform team + extended data teams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400507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sponsorship accelerates two critical-path dependencies: getting the Plugin Development Guide from the AOF platform team, and getting Oracle view creation prioritised by extended data teams.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Technology  |  Agent One for Product Control  |  April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One for Product Control — CTO Investment Case</dc:title>
  <dc:subject>PptxGenJS Presentation</dc:subject>
  <dc:creator>Finance Technology</dc:creator>
  <cp:lastModifiedBy>Finance Technology</cp:lastModifiedBy>
  <cp:revision>1</cp:revision>
  <dcterms:created xsi:type="dcterms:W3CDTF">2026-04-23T16:41:48Z</dcterms:created>
  <dcterms:modified xsi:type="dcterms:W3CDTF">2026-04-23T16:41:48Z</dcterms:modified>
</cp:coreProperties>
</file>