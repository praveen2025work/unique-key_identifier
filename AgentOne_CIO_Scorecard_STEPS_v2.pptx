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proof, then the arc. Tee up: one destination, two delivery routes compared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slide, one story: left = the four risks of an unmeasured agent; right = the live scorecard that closes them, straight from Phoenix traces. Values shown are policy targets (100% grounding enforced, zero tolerated drift), not results. Land the framing: risk → control → evidence — the discipline of any regulated process, applied to AI. Principle if asked: evaluation is a watchtower, not a training loop — a person fixes what it surfaces; the model never silently retrains.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(3 min): 1) Two doors in — system-mined evidence and one-click analyst suggestions. 2) One circuit — propose, test, approve (finance holds the gold gate), release, watch. 3) The dashed line is the point: evidence returns, the loop never stops — recurring learning, not a one-off project. 4) The brake: nothing live without approval, rollback in minutes. 5) Close with the Tue-Fri story — that is what recurring learning feels like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A = speed, reuse, inherited governance. Honest cons: automates the as-is, bounded experience and reach. Frame as the scale 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B = fresh perspective, agent-native redesign, compounding connector library. Honest cons: MCP build-out, new UI/adoption, controls built fresh, longer runway. Not either/or — see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Dual-track recommendation: Route A gives scale and quick wins; Route B pilot proves the agent-native future on one flagship. Evidence decides the mix by Q1.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One: Proven Today, Built to Get Better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finance agent already runs the daily P&amp;L process end-to-end — the next move is making it improve itself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573" y="2071573"/>
            <a:ext cx="291694" cy="291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01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P&amp;L process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22219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 through Commentary &amp; Sign-off, run with AI assistance every business day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173" y="2071573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901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control by design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120640" y="22219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choose how much the agent does — from fully manual to fully automatic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773" y="2071573"/>
            <a:ext cx="291694" cy="291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0" y="1901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moves unchecked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778240" y="22219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needs explicit sign-off; every result is traceable and repeatable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Assists our people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22960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does the heavy lifting; analysts direct and approve each step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096512" y="4663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178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4370832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</p:spPr>
      </p:sp>
      <p:sp>
        <p:nvSpPr>
          <p:cNvPr id="25" name="Text 20"/>
          <p:cNvSpPr/>
          <p:nvPr/>
        </p:nvSpPr>
        <p:spPr>
          <a:xfrm>
            <a:off x="4645152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645152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the routine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4645152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days run themselves; people focus only on exceptions and judgment calls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7918704" y="4663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178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Shape 24"/>
          <p:cNvSpPr/>
          <p:nvPr/>
        </p:nvSpPr>
        <p:spPr>
          <a:xfrm>
            <a:off x="8193024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</p:spPr>
      </p:sp>
      <p:sp>
        <p:nvSpPr>
          <p:cNvPr id="30" name="Text 25"/>
          <p:cNvSpPr/>
          <p:nvPr/>
        </p:nvSpPr>
        <p:spPr>
          <a:xfrm>
            <a:off x="8467344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467344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itself</a:t>
            </a:r>
            <a:endParaRPr lang="en-US" sz="1900" dirty="0"/>
          </a:p>
        </p:txBody>
      </p:sp>
      <p:sp>
        <p:nvSpPr>
          <p:cNvPr id="32" name="Text 27"/>
          <p:cNvSpPr/>
          <p:nvPr/>
        </p:nvSpPr>
        <p:spPr>
          <a:xfrm>
            <a:off x="8467344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learns from every day in production — safely, with the business approving every change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briefing covers the destination — and the two routes we can take to get there.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Blind Spots to a Scorecard: Proving the Agent Gets Better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of an unmeasured agent is closed by a control — and every control produces a number leadership sees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MEASUREMENT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04672" y="1993392"/>
            <a:ext cx="146304" cy="146304"/>
          </a:xfrm>
          <a:prstGeom prst="ellipse">
            <a:avLst/>
          </a:prstGeom>
          <a:solidFill>
            <a:srgbClr val="A8721C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1892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drifts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60704" y="218541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Hand-updated playbooks erode as the business changes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2953512"/>
            <a:ext cx="146304" cy="146304"/>
          </a:xfrm>
          <a:prstGeom prst="ellipse">
            <a:avLst/>
          </a:prstGeom>
          <a:solidFill>
            <a:srgbClr val="A8721C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852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goes unused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60704" y="314553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traced — insights die in dashboards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" y="3913632"/>
            <a:ext cx="146304" cy="146304"/>
          </a:xfrm>
          <a:prstGeom prst="ellipse">
            <a:avLst/>
          </a:prstGeom>
          <a:solidFill>
            <a:srgbClr val="A8721C"/>
          </a:solidFill>
          <a:ln/>
        </p:spPr>
      </p:sp>
      <p:sp>
        <p:nvSpPr>
          <p:cNvPr id="13" name="Text 11"/>
          <p:cNvSpPr/>
          <p:nvPr/>
        </p:nvSpPr>
        <p:spPr>
          <a:xfrm>
            <a:off x="1060704" y="3813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Know-how walks away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60704" y="410565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fixes live in personal notes, not the platform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" y="4873752"/>
            <a:ext cx="146304" cy="146304"/>
          </a:xfrm>
          <a:prstGeom prst="ellipse">
            <a:avLst/>
          </a:prstGeom>
          <a:solidFill>
            <a:srgbClr val="A8721C"/>
          </a:solidFill>
          <a:ln/>
        </p:spPr>
      </p:sp>
      <p:sp>
        <p:nvSpPr>
          <p:cNvPr id="16" name="Text 14"/>
          <p:cNvSpPr/>
          <p:nvPr/>
        </p:nvSpPr>
        <p:spPr>
          <a:xfrm>
            <a:off x="1060704" y="4773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regressions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60704" y="506577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skill, model or system change can break quality unseen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41648" y="3291840"/>
            <a:ext cx="969264" cy="502920"/>
          </a:xfrm>
          <a:prstGeom prst="roundRect">
            <a:avLst>
              <a:gd name="adj" fmla="val 49091"/>
            </a:avLst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4041648" y="329184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BY →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74920" y="1417320"/>
            <a:ext cx="6565392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600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EVALUATION — THE SCORECARD LEADERSHIP SEES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49240" y="1874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every production run, straight from live traces (Arize Phoenix) — the same evidence as the audit trail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49240" y="2331720"/>
            <a:ext cx="2011680" cy="1627632"/>
          </a:xfrm>
          <a:prstGeom prst="roundRect">
            <a:avLst>
              <a:gd name="adj" fmla="val 3933"/>
            </a:avLst>
          </a:prstGeom>
          <a:solidFill>
            <a:srgbClr val="2A3780"/>
          </a:solidFill>
          <a:ln/>
        </p:spPr>
      </p:sp>
      <p:sp>
        <p:nvSpPr>
          <p:cNvPr id="24" name="Text 22"/>
          <p:cNvSpPr/>
          <p:nvPr/>
        </p:nvSpPr>
        <p:spPr>
          <a:xfrm>
            <a:off x="5477256" y="24231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77256" y="26060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77256" y="29900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proven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77256" y="324612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traces to a real system call — unproven figures are blocked from release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479792" y="2331720"/>
            <a:ext cx="2011680" cy="1627632"/>
          </a:xfrm>
          <a:prstGeom prst="roundRect">
            <a:avLst>
              <a:gd name="adj" fmla="val 3933"/>
            </a:avLst>
          </a:prstGeom>
          <a:solidFill>
            <a:srgbClr val="2A3780"/>
          </a:solidFill>
          <a:ln/>
        </p:spPr>
      </p:sp>
      <p:sp>
        <p:nvSpPr>
          <p:cNvPr id="29" name="Text 27"/>
          <p:cNvSpPr/>
          <p:nvPr/>
        </p:nvSpPr>
        <p:spPr>
          <a:xfrm>
            <a:off x="7607808" y="24231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07808" y="26060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drift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07808" y="29900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answer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07808" y="324612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explanations for identical inputs are flagged for expert review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610344" y="2331720"/>
            <a:ext cx="2011680" cy="1627632"/>
          </a:xfrm>
          <a:prstGeom prst="roundRect">
            <a:avLst>
              <a:gd name="adj" fmla="val 3933"/>
            </a:avLst>
          </a:prstGeom>
          <a:solidFill>
            <a:srgbClr val="2A3780"/>
          </a:solidFill>
          <a:ln/>
        </p:spPr>
      </p:sp>
      <p:sp>
        <p:nvSpPr>
          <p:cNvPr id="34" name="Text 32"/>
          <p:cNvSpPr/>
          <p:nvPr/>
        </p:nvSpPr>
        <p:spPr>
          <a:xfrm>
            <a:off x="9738360" y="24231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738360" y="26060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SME-graded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738360" y="29900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reads true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738360" y="324612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Expert-reviewed samples; miscast drivers or missing caveats are flagged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6414516" y="4069080"/>
            <a:ext cx="2011680" cy="1627632"/>
          </a:xfrm>
          <a:prstGeom prst="roundRect">
            <a:avLst>
              <a:gd name="adj" fmla="val 3933"/>
            </a:avLst>
          </a:prstGeom>
          <a:solidFill>
            <a:srgbClr val="2A3780"/>
          </a:solidFill>
          <a:ln/>
        </p:spPr>
      </p:sp>
      <p:sp>
        <p:nvSpPr>
          <p:cNvPr id="39" name="Text 37"/>
          <p:cNvSpPr/>
          <p:nvPr/>
        </p:nvSpPr>
        <p:spPr>
          <a:xfrm>
            <a:off x="6542532" y="41605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42532" y="43434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/ run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542532" y="472744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spend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42532" y="498348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cost per skill, trend-watched before it becomes a problem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545068" y="4069080"/>
            <a:ext cx="2011680" cy="1627632"/>
          </a:xfrm>
          <a:prstGeom prst="roundRect">
            <a:avLst>
              <a:gd name="adj" fmla="val 3933"/>
            </a:avLst>
          </a:prstGeom>
          <a:solidFill>
            <a:srgbClr val="2A3780"/>
          </a:solidFill>
          <a:ln/>
        </p:spPr>
      </p:sp>
      <p:sp>
        <p:nvSpPr>
          <p:cNvPr id="44" name="Text 42"/>
          <p:cNvSpPr/>
          <p:nvPr/>
        </p:nvSpPr>
        <p:spPr>
          <a:xfrm>
            <a:off x="8673084" y="41605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673084" y="43434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Overrides ↓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673084" y="472744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drive fixes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73084" y="498348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human correction is logged; recurring ones auto-trigger a skill review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548640" y="60350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4F7FD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" y="60350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→ control → evidence: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discipline we apply to any regulated process. These scores gate every skill change — and every improvement they trigger ships through the governed loop on the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Answer: A Learning Loop the Business Controls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enter from two doors and travel one governed circuit — every turn of the loop makes the agent better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385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PROPOSES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13232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 from live production traces, with proof attached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4F7FD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31729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PEOPLE PROPOSE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" y="3429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suggestions from analysts as they work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16352" y="2331720"/>
            <a:ext cx="292608" cy="0"/>
          </a:xfrm>
          <a:prstGeom prst="line">
            <a:avLst/>
          </a:prstGeom>
          <a:noFill/>
          <a:ln w="22225">
            <a:solidFill>
              <a:srgbClr val="5A617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 flipV="1">
            <a:off x="2816352" y="2432304"/>
            <a:ext cx="292608" cy="1097280"/>
          </a:xfrm>
          <a:prstGeom prst="line">
            <a:avLst/>
          </a:prstGeom>
          <a:noFill/>
          <a:ln w="22225">
            <a:solidFill>
              <a:srgbClr val="5A6178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154680" y="1965960"/>
            <a:ext cx="196596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9659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17520" y="15819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with evidence attached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23560" y="1965960"/>
            <a:ext cx="196596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623560" y="19659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0" y="15819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enterprise criteria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92440" y="1965960"/>
            <a:ext cx="1965960" cy="731520"/>
          </a:xfrm>
          <a:prstGeom prst="roundRect">
            <a:avLst>
              <a:gd name="adj" fmla="val 12500"/>
            </a:avLst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19659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BUSINESS-APPROVED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55280" y="15819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decides — approve or reject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92440" y="4434840"/>
            <a:ext cx="196596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44348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55280" y="52212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 live — reversible in minutes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23560" y="4434840"/>
            <a:ext cx="196596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44348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0" y="52212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in production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38928" y="2331720"/>
            <a:ext cx="466344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7607808" y="2331720"/>
            <a:ext cx="466344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9075420" y="2715768"/>
            <a:ext cx="0" cy="1700784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 flipH="1">
            <a:off x="8074152" y="4800600"/>
            <a:ext cx="466344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headEnd type="arrow"/>
          </a:ln>
        </p:spPr>
      </p:sp>
      <p:sp>
        <p:nvSpPr>
          <p:cNvPr id="31" name="Shape 29"/>
          <p:cNvSpPr/>
          <p:nvPr/>
        </p:nvSpPr>
        <p:spPr>
          <a:xfrm>
            <a:off x="4133088" y="4800600"/>
            <a:ext cx="1472184" cy="0"/>
          </a:xfrm>
          <a:prstGeom prst="line">
            <a:avLst/>
          </a:prstGeom>
          <a:noFill/>
          <a:ln w="28575">
            <a:solidFill>
              <a:srgbClr val="3E7CB1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V="1">
            <a:off x="4133088" y="2715768"/>
            <a:ext cx="0" cy="2084832"/>
          </a:xfrm>
          <a:prstGeom prst="line">
            <a:avLst/>
          </a:prstGeom>
          <a:noFill/>
          <a:ln w="28575">
            <a:solidFill>
              <a:srgbClr val="3E7CB1"/>
            </a:solidFill>
            <a:prstDash val="dash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2724912" y="42245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returns —</a:t>
            </a:r>
            <a:endParaRPr lang="en-US" sz="950" dirty="0"/>
          </a:p>
          <a:p>
            <a:pPr algn="r" indent="0" marL="0">
              <a:buNone/>
            </a:pPr>
            <a:r>
              <a:rPr lang="en-US" sz="950" i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never stops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40680" y="3127248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F4F7FD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312724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= A BETTER AGENT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V1 → V2 → V3 · full audit trail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0378440" y="1965960"/>
            <a:ext cx="1261872" cy="3200400"/>
          </a:xfrm>
          <a:prstGeom prst="roundRect">
            <a:avLst>
              <a:gd name="adj" fmla="val 5797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10543032" y="2148840"/>
            <a:ext cx="960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BRAKE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goes live without finance approval — and anything live can be rolled back in minutes.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594360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9436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turn of the loop: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— an analyst corrects the FX commentary.  Wed — the fix is proposed with evidence and passes testing.  Thu — finance approves.  Fri — V2 is live, watched in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A — Plug Agent One into the STEPS Platform We Already Run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keeps orchestrating deterministically; Agent One snaps in as the intelligence layer inside each step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27632"/>
            <a:ext cx="621792" cy="62179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64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 · INTEGRATE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00200" y="1773936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the proven  —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approvals, entitlements and audit stay exactly as they are — the agent is added where it pays.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5468112" cy="3063240"/>
          </a:xfrm>
          <a:prstGeom prst="roundRect">
            <a:avLst>
              <a:gd name="adj" fmla="val 2388"/>
            </a:avLst>
          </a:prstGeom>
          <a:solidFill>
            <a:srgbClr val="E8F2EC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300380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GAIN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8680" y="342900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existing processes become agent-capable in weeks, by configuration rather than a build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from day one — today's approvals, entitlements and audit automatically apply to the AI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disruption: familiar STEPS screens and processes; every team on STEPS inherits the agent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 and delivery risk — we multiply two investments we have already made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2697480"/>
            <a:ext cx="5468112" cy="3063240"/>
          </a:xfrm>
          <a:prstGeom prst="roundRect">
            <a:avLst>
              <a:gd name="adj" fmla="val 2388"/>
            </a:avLst>
          </a:prstGeom>
          <a:solidFill>
            <a:srgbClr val="FBF3E4"/>
          </a:solidFill>
          <a:ln/>
        </p:spPr>
      </p:sp>
      <p:sp>
        <p:nvSpPr>
          <p:cNvPr id="15" name="Shape 11"/>
          <p:cNvSpPr/>
          <p:nvPr/>
        </p:nvSpPr>
        <p:spPr>
          <a:xfrm>
            <a:off x="6428232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300380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13448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WEIGH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92240" y="342900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the process as it is — the agent works within today's process design, so improvement is incremental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is bounded by the current screens; agent-first interaction is limited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only reaches what STEPS already connects to — new capability arrives at the platform's pace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comfort: quick wins can defer the deeper redesign that some processes deserve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4F7FD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989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high-volume processes need intelligence quickly, at scale, under existing controls.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B — Helix: The Agent-Native Route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problem, not the existing process — the agent orchestrates the work and people supervise by exception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27632"/>
            <a:ext cx="621792" cy="62179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64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 · HELIX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00200" y="1773936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Reimagine the solution  —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perspective on long-standing problems: redesign how the work is done, rather than speed up how it was done.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5468112" cy="3063240"/>
          </a:xfrm>
          <a:prstGeom prst="roundRect">
            <a:avLst>
              <a:gd name="adj" fmla="val 2388"/>
            </a:avLst>
          </a:prstGeom>
          <a:solidFill>
            <a:srgbClr val="E8F2EC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300380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GAIN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8680" y="342900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answers, not just faster ones — freedom to redesign solutions we could never change inside legacy flows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experience: one conversational workspace for running, reviewing and approving the work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grows without limits — each new secure connector (MCP) the agent gains benefits every process at once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us ahead: a platform designed for where AI is going, not retrofitted to where we have been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2697480"/>
            <a:ext cx="5468112" cy="3063240"/>
          </a:xfrm>
          <a:prstGeom prst="roundRect">
            <a:avLst>
              <a:gd name="adj" fmla="val 2388"/>
            </a:avLst>
          </a:prstGeom>
          <a:solidFill>
            <a:srgbClr val="FBF3E4"/>
          </a:solidFill>
          <a:ln/>
        </p:spPr>
      </p:sp>
      <p:sp>
        <p:nvSpPr>
          <p:cNvPr id="15" name="Shape 11"/>
          <p:cNvSpPr/>
          <p:nvPr/>
        </p:nvSpPr>
        <p:spPr>
          <a:xfrm>
            <a:off x="6428232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300380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13448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WEIGH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92240" y="342900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build-out is real work — every system the agent touches needs a secure, certified connector (MCP)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UI and ways of working — design, training and adoption effort across teams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Controls, guardrails and approvals must be built and certified fresh rather than inherited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runway and higher upfront investment before value shows at scale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4F7FD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989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problems deserve end-to-end reimagination — and we want the platform that compounds furthest.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2194560"/>
            <a:ext cx="5120640" cy="5120640"/>
          </a:xfrm>
          <a:prstGeom prst="ellipse">
            <a:avLst/>
          </a:prstGeom>
          <a:solidFill>
            <a:srgbClr val="2A37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and the Ask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routes are not rivals — integrate for scale now, prove Helix where redesign pays most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A3780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947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63347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captured and business-approved from day one; first STEPS application integrates Agent One (Route A)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A3780"/>
          </a:solidFill>
          <a:ln/>
        </p:spPr>
      </p:sp>
      <p:sp>
        <p:nvSpPr>
          <p:cNvPr id="10" name="Text 8"/>
          <p:cNvSpPr/>
          <p:nvPr/>
        </p:nvSpPr>
        <p:spPr>
          <a:xfrm>
            <a:off x="4690872" y="1947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2026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Helix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0872" y="263347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high-value process rebuilt agent-native (Route B pilot) — connectors, controls and experience proven on real 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A378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947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2027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what wins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02752" y="263347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loop runs continuously; the Route A / Route B mix is set by evidence, not opinion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TODAY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4581144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63040" y="4434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route mix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0" y="44348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dual track: integrate at scale now, prove the Helix route on one flagship process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2960" y="510235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5202936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463040" y="50566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approvers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572000" y="50566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the finance owners who hold the approve button for every agent change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22960" y="5724144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5824728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63040" y="56784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one squad for Q3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4572000" y="567842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skill capture, approval and the first Route A integration — reusing platforms we already own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22960" y="641908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agent quality that compounds on both routes — every production day makes the platform better, with the business in control.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2026-07-27T23:02:38Z</dcterms:created>
  <dcterms:modified xsi:type="dcterms:W3CDTF">2026-07-27T23:02:38Z</dcterms:modified>
</cp:coreProperties>
</file>