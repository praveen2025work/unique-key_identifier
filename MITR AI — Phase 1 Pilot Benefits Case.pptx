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PILOT  —  BENEFITS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MITR AI to Deliver the Phase 1 Pilot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already-built conversational analytics UX for Revenue, Cost, General Ledger, and Consolidation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value in weeks, not quarters — the same surface extends into Phase 2 and Phase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Architecture Review Board deck   ·   Finance Engineering   · 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1 Pilot needs a vehicle — one already exists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calls for an AI-enabled UX plus 1–2 agents on the highest-pain stream, with a human-in-the-loop review workflow and a controls checkpoint.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hypothetical</a:t>
            </a:r>
            <a:pPr indent="0" marL="0">
              <a:lnSpc>
                <a:spcPct val="110000"/>
              </a:lnSpc>
              <a:spcAft>
                <a:spcPts val="2200"/>
              </a:spcAft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MITR AI already does plain-language querying, generated insights, and governed data access across finance data. It is demoable today.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Wrap, don’t replace</a:t>
            </a:r>
            <a:pPr indent="0" marL="0">
              <a:lnSpc>
                <a:spcPct val="110000"/>
              </a:lnSpc>
              <a:spcAft>
                <a:spcPts val="2200"/>
              </a:spcAft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it reads through governed feeds and sits above the ledgers. No change to systems of record or controls — the ARB’s own approach.</a:t>
            </a:r>
            <a:endParaRPr lang="en-US" sz="13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first user</a:t>
            </a:r>
            <a:pPr indent="0" marL="0">
              <a:lnSpc>
                <a:spcPct val="110000"/>
              </a:lnSpc>
              <a:spcAft>
                <a:spcPts val="2200"/>
              </a:spcAft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configuration plus one data connector, against the two to three quarters a pilot UX built from scratch would take.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throwaway</a:t>
            </a:r>
            <a:pPr indent="0" marL="0">
              <a:lnSpc>
                <a:spcPct val="110000"/>
              </a:lnSpc>
              <a:spcAft>
                <a:spcPts val="2200"/>
              </a:spcAft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same chat and dashboard surface is where Agent One’s drafting agents plug in for Phase 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solidFill>
            <a:srgbClr val="E4EE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</a:t>
            </a:r>
            <a:pPr indent="0" marL="0">
              <a:buNone/>
            </a:pPr>
            <a:r>
              <a:rPr lang="en-US" sz="1250" i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piloting on MITR AI tests the UX and the controls model on real finance data before the larger build commits.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it: the pilot surface today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 from the running platform — detail on the slides that follow.</a:t>
            </a:r>
            <a:endParaRPr lang="en-US" sz="1300" dirty="0"/>
          </a:p>
        </p:txBody>
      </p:sp>
      <p:pic>
        <p:nvPicPr>
          <p:cNvPr id="5" name="Image 0" descr="/private/tmp/claude-501/-Users-praveennandyala28-projects-Chatbot/c337c60b-439b-4cb3-9abe-3d70e7000b6d/scratchpad/deckgen/img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77440"/>
            <a:ext cx="3685032" cy="20728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2377440"/>
            <a:ext cx="3685032" cy="2072831"/>
          </a:xfrm>
          <a:prstGeom prst="rect">
            <a:avLst/>
          </a:prstGeom>
          <a:ln w="12700">
            <a:solidFill>
              <a:srgbClr val="D6E2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559999"/>
            <a:ext cx="3685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KPI tiles with deltas, and one-click analysis — no SQL, no report to build.</a:t>
            </a:r>
            <a:endParaRPr lang="en-US" sz="1000" dirty="0"/>
          </a:p>
        </p:txBody>
      </p:sp>
      <p:pic>
        <p:nvPicPr>
          <p:cNvPr id="8" name="Image 1" descr="/private/tmp/claude-501/-Users-praveennandyala28-projects-Chatbot/c337c60b-439b-4cb3-9abe-3d70e7000b6d/scratchpad/deckgen/img/w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377440"/>
            <a:ext cx="3685032" cy="207283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79392" y="2377440"/>
            <a:ext cx="3685032" cy="2072831"/>
          </a:xfrm>
          <a:prstGeom prst="rect">
            <a:avLst/>
          </a:prstGeom>
          <a:ln w="12700">
            <a:solidFill>
              <a:srgbClr val="D6E2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79392" y="4559999"/>
            <a:ext cx="3685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that run themselves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Freshness, threshold, trend, and anomaly rules raise alerts before anyone asks.</a:t>
            </a:r>
            <a:endParaRPr lang="en-US" sz="1000" dirty="0"/>
          </a:p>
        </p:txBody>
      </p:sp>
      <p:pic>
        <p:nvPicPr>
          <p:cNvPr id="11" name="Image 2" descr="/private/tmp/claude-501/-Users-praveennandyala28-projects-Chatbot/c337c60b-439b-4cb3-9abe-3d70e7000b6d/scratchpad/deckgen/img/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377440"/>
            <a:ext cx="3685032" cy="207283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147304" y="2377440"/>
            <a:ext cx="3685032" cy="2072831"/>
          </a:xfrm>
          <a:prstGeom prst="rect">
            <a:avLst/>
          </a:prstGeom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147304" y="4559999"/>
            <a:ext cx="3685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from one console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data scoping, connectors, vocabulary, learning, and a full audit trail.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the running MITR AI build, using a mock finance dataset.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in, data out — no SQL, no report build</a:t>
            </a:r>
            <a:endParaRPr lang="en-US" sz="2300" dirty="0"/>
          </a:p>
        </p:txBody>
      </p:sp>
      <p:pic>
        <p:nvPicPr>
          <p:cNvPr id="4" name="Image 0" descr="/private/tmp/claude-501/-Users-praveennandyala28-projects-Chatbot/c337c60b-439b-4cb3-9abe-3d70e7000b6d/scratchpad/deckgen/img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3960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7040880" cy="3960495"/>
          </a:xfrm>
          <a:prstGeom prst="rect">
            <a:avLst/>
          </a:prstGeom>
          <a:ln w="12700">
            <a:solidFill>
              <a:srgbClr val="D6E2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670423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→ run process_stats_dashboard, filters skipped.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92440" y="1645920"/>
            <a:ext cx="3550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92440" y="2057400"/>
            <a:ext cx="3550615" cy="3594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query returns a result set in about three seconds.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 are computed automatically, each with its max / min range.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runs a forecast, trend, anomaly scan, group-by, or summary.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chart, and drill-down live in the same view — nothing to export.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appears before anyone asks for it</a:t>
            </a:r>
            <a:endParaRPr lang="en-US" sz="2300" dirty="0"/>
          </a:p>
        </p:txBody>
      </p:sp>
      <p:pic>
        <p:nvPicPr>
          <p:cNvPr id="4" name="Image 0" descr="/private/tmp/claude-501/-Users-praveennandyala28-projects-Chatbot/c337c60b-439b-4cb3-9abe-3d70e7000b6d/scratchpad/deckgen/img/explor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3960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7040880" cy="3960495"/>
          </a:xfrm>
          <a:prstGeom prst="rect">
            <a:avLst/>
          </a:prstGeom>
          <a:ln w="12700">
            <a:solidFill>
              <a:srgbClr val="D6E2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670423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Explorer → process_stats_dashboard.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92440" y="1645920"/>
            <a:ext cx="3550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92440" y="2057400"/>
            <a:ext cx="3550615" cy="3594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insight is surfaced on load — “2026-05-19 has the highest volume at 15.2k.”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show direction and % change against the prior period.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chart, eight chart types, click any point to drill in.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no LLM in the path, every number is traceable to source.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before / after — most of it working today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ARB’s target experience, mapped to what the pilot delivers now versus what Agent One adds later.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605272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MITR AI  (PILOT)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user pulls a variance report and scans for outliers by 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variances are surfaced automatically, each with a plain-language explanation of the likely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today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“What’s driving the movement?” takes an analyst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Root-cause ranking by share of total, returned in the chat in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today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Cross-stream reporting means exporting and combining data by 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semantic layer — cross-stream metrics are already assembled and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today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or broken data is noticed only when someone stumbles on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and freshness monitors raise it proactively, with a full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today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entries and eliminations are typed from source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draft the entry from source data; a preparer reviews and approves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EXPERIENCE,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flags the outlier and explains it</a:t>
            </a:r>
            <a:endParaRPr lang="en-US" sz="2300" dirty="0"/>
          </a:p>
        </p:txBody>
      </p:sp>
      <p:pic>
        <p:nvPicPr>
          <p:cNvPr id="4" name="Image 0" descr="/private/tmp/claude-501/-Users-praveennandyala28-projects-Chatbot/c337c60b-439b-4cb3-9abe-3d70e7000b6d/scratchpad/deckgen/img/anomal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3960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7040880" cy="3960495"/>
          </a:xfrm>
          <a:prstGeom prst="rect">
            <a:avLst/>
          </a:prstGeom>
          <a:ln w="12700">
            <a:solidFill>
              <a:srgbClr val="D6E2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670423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→ “find outliers in support_dashboard.”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92440" y="1645920"/>
            <a:ext cx="3550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92440" y="2057400"/>
            <a:ext cx="3550615" cy="3594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runs across every numeric column, unprompted.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reason: “Resolved 16 vs avg 7.75 — unusually above average.”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mechanism drives variance explanation across all four streams.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preparer reviews the finding; nothing is hidden or auto-posted.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 AI already delivers the UX and Analytics layers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layer model. The pilot delivers the UX layer and the Analytics layer — a named differentiator — and proves the review workflow Agent One will use.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Layer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43400" y="1847088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chat, live dashboards, and grid board; AI insight and automation status surfaced by default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1091672" cy="0"/>
          </a:xfrm>
          <a:prstGeom prst="line">
            <a:avLst/>
          </a:prstGeom>
          <a:noFill/>
          <a:ln w="9525">
            <a:solidFill>
              <a:srgbClr val="E1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957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— Agent One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2395728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out of pilot scope; the pilot proves the human-in-the-loop review workflow agents post through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1091672" cy="0"/>
          </a:xfrm>
          <a:prstGeom prst="line">
            <a:avLst/>
          </a:prstGeom>
          <a:noFill/>
          <a:ln w="9525">
            <a:solidFill>
              <a:srgbClr val="E1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4436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2944368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variance narratives, anomaly detection, and root-cause — deterministic, no LLM, fully auditable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11091672" cy="0"/>
          </a:xfrm>
          <a:prstGeom prst="line">
            <a:avLst/>
          </a:prstGeom>
          <a:noFill/>
          <a:ln w="9525">
            <a:solidFill>
              <a:srgbClr val="E1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9300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 / Data Products (read-only)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3493008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SQL Server, Oracle, CSV, and REST connectors — read-only, health-monitored, circuit-broken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41648"/>
            <a:ext cx="11091672" cy="0"/>
          </a:xfrm>
          <a:prstGeom prst="line">
            <a:avLst/>
          </a:prstGeom>
          <a:noFill/>
          <a:ln w="9525">
            <a:solidFill>
              <a:srgbClr val="E1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4164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Data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4041648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per-group data scoping — the only path the platform uses to reach source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11091672" cy="0"/>
          </a:xfrm>
          <a:prstGeom prst="line">
            <a:avLst/>
          </a:prstGeom>
          <a:noFill/>
          <a:ln w="9525">
            <a:solidFill>
              <a:srgbClr val="E1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902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43400" y="4590288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Revenue, Cost, GL, and Consolidation sub-ledgers — untouched by the pilot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91672" cy="914400"/>
          </a:xfrm>
          <a:prstGeom prst="rect">
            <a:avLst/>
          </a:prstGeom>
          <a:solidFill>
            <a:srgbClr val="E4EEF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7492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already in the product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full audit trail for every action  ·  role-based access across the UX layer  ·  PII detection and masking with per-view audit  ·  read-only data access enforced at the connector  ·  end-to-end request correlation IDs. Aligns to SOX and existing control frameworks.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and anomaly rules run on their own</a:t>
            </a:r>
            <a:endParaRPr lang="en-US" sz="2300" dirty="0"/>
          </a:p>
        </p:txBody>
      </p:sp>
      <p:pic>
        <p:nvPicPr>
          <p:cNvPr id="4" name="Image 0" descr="/private/tmp/claude-501/-Users-praveennandyala28-projects-Chatbot/c337c60b-439b-4cb3-9abe-3d70e7000b6d/scratchpad/deckgen/img/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3960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7040880" cy="3960495"/>
          </a:xfrm>
          <a:prstGeom prst="rect">
            <a:avLst/>
          </a:prstGeom>
          <a:ln w="12700">
            <a:solidFill>
              <a:srgbClr val="D6E2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670423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→ rule library and recent alerts.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92440" y="1645920"/>
            <a:ext cx="3550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92440" y="2057400"/>
            <a:ext cx="3550615" cy="3594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types cover threshold, trend, freshness, and statistical anomaly.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are scheduled — alerts are raised with no one watching the screen.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is timestamped and severity-tagged for the audit trail.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coverage and detection-model training are tracked over time.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scoping, connectors, and vocabulary in one place</a:t>
            </a:r>
            <a:endParaRPr lang="en-US" sz="2300" dirty="0"/>
          </a:p>
        </p:txBody>
      </p:sp>
      <p:pic>
        <p:nvPicPr>
          <p:cNvPr id="4" name="Image 0" descr="/private/tmp/claude-501/-Users-praveennandyala28-projects-Chatbot/c337c60b-439b-4cb3-9abe-3d70e7000b6d/scratchpad/deckgen/img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3960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7040880" cy="3960495"/>
          </a:xfrm>
          <a:prstGeom prst="rect">
            <a:avLst/>
          </a:prstGeom>
          <a:ln w="12700">
            <a:solidFill>
              <a:srgbClr val="D6E2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670423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Data Groups Management.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92440" y="1645920"/>
            <a:ext cx="3550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92440" y="2057400"/>
            <a:ext cx="3550615" cy="3594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data access — five groups over nine connected sources.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are set per group (corpus, FAQ, templates).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Intents, synonyms, glossary, learning queue, and calibration all live here.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and conversation logs for every group.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I’m asking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44165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pilot new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on MITR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A8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finance 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to three quarters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pilot build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+ one connector on an existing codebase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Unproven UX and controls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150+ automated checks, load-tested, demoable 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code may be thrown away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surface carries into Phase 2–3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86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MITR AI as the Phase 1 Pilot vehicle for the AI-enabled analytics UX.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confirm the pilot stream and a business sponsor to co-own the success criteria.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short spike to connect it to one real finance data product.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measured by:  close-cycle time reduction  •  manual rework reduction  •  % of insights and entries AI-originated  •  adoption across finance teams.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UX for Finance Analytics &amp; Automation   ·   Phase 1 Pilot Benefits Case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Finance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MITR AI — Phase 1 Pilot Benefits Case</dc:title>
  <dc:subject>PptxGenJS Presentation</dc:subject>
  <dc:creator>Finance Engineering</dc:creator>
  <cp:lastModifiedBy>Finance Engineering</cp:lastModifiedBy>
  <cp:revision>1</cp:revision>
  <dcterms:created xsi:type="dcterms:W3CDTF">2026-09-08T14:34:01Z</dcterms:created>
  <dcterms:modified xsi:type="dcterms:W3CDTF">2026-09-08T14:34:01Z</dcterms:modified>
</cp:coreProperties>
</file>