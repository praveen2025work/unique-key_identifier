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Walkthrough (2 min): left — the Control Tower the team uses daily (live screenshot), human-in-loop by design. Center — the FOBO service: STEPS orchestrates deterministically; the agent reasons on AWS Bedrock (Claude) but has NO direct data access. Right — everything it touches goes through five governed enterprise APIs via MCP: STEPS, Rec Factory, MBR, FAS (posting to MOTIF), and the P&amp;L Agent handoff. Bottom — the controls: sign-off gates, grounding enforcement, Phoenix observability, audit. Close: it is one horizontal service across 280 P&amp;Ls, and the pattern reuses for any STEPS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screenshot breathe — walk the six numbered zones with the legend. Takeaways: transparency on the header, nothing silent (approval queue), one horizontal screen for 280 P&amp;Ls.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box-and-line view. Left to right: users → React SPA → (HTTPS/WSS) → Agent API + STEPS inside the AWS boundary → Agent Runtime → Bedrock (invoke) and MCP layer (tool calls) → four enterprise systems. Gold-bordered boxes = control points (entitlements, Bedrock guardrails). Bottom: Oracle, object store, Phoenix. Dashed = telemetry/audit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top-down: UI, services, AI runtime (dark = the only layer with the model), integration via MCP, data &amp; ops. Right rail: cross-cutting controls. Close on the three-fence contract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Snake flow 1→8. Gold nodes = control moments: grounding (5) and human sign-off (7). Close on the trace line — one run, one evidence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guarantees: access, data boundaries, change control, audit. Each bullet is verifiable. Close on the fences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9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One for FOBO: Architecture at a Glance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horizontal FOBO service across 280 P&amp;Ls — the agent reasons on AWS Bedrock, but touches our world only through governed enterprise APIs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EFF8F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" y="17007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Control Tower  ·  React UI</a:t>
            </a:r>
            <a:endParaRPr lang="en-US" sz="1500" dirty="0"/>
          </a:p>
        </p:txBody>
      </p:sp>
      <p:pic>
        <p:nvPicPr>
          <p:cNvPr id="7" name="Image 0" descr="/home/claude/deck/ui_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84832"/>
            <a:ext cx="3337560" cy="1426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3931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pipeline across regions — APAC · EMEA · AMER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Human-in-loop: approvals and sign-off on every adjustment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via WebSocket · scheduled agent runs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0600" y="1325880"/>
            <a:ext cx="3200400" cy="2057400"/>
          </a:xfrm>
          <a:prstGeom prst="roundRect">
            <a:avLst>
              <a:gd name="adj" fmla="val 3556"/>
            </a:avLst>
          </a:prstGeom>
          <a:solidFill>
            <a:srgbClr val="00395D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463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0" y="17007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One — FOBO Service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0" y="2084832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B9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engine drives the run deterministically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B9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validator: every number must trace to a system call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B9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audit trail and cost telemetry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00600" y="37033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3822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0" y="40599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 ·  Claude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029200" y="43708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classification, adjustment drafting, commentary — no direct data access; every action goes through governed tools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458200" y="1325880"/>
            <a:ext cx="3182112" cy="3611880"/>
          </a:xfrm>
          <a:prstGeom prst="roundRect">
            <a:avLst>
              <a:gd name="adj" fmla="val 2299"/>
            </a:avLst>
          </a:prstGeom>
          <a:solidFill>
            <a:srgbClr val="EFF8FD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0" y="1463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APIs — VIA MCP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686800" y="1700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deterministic tool calls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86800" y="2057400"/>
            <a:ext cx="272491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96528" y="205740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API  —  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orchestration, state and step control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686800" y="2633472"/>
            <a:ext cx="272491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96528" y="2633472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Factory API  —  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book-level breaks and reconciliation data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686800" y="3209544"/>
            <a:ext cx="272491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96528" y="3209544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API  —  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recs and counterparty cross-checks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686800" y="3785616"/>
            <a:ext cx="272491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96528" y="3785616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API  —  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approved adjustments to MOTIF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686800" y="4361688"/>
            <a:ext cx="272491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796528" y="4361688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Agent · Notifications  —  </a:t>
            </a:r>
            <a:pPr indent="0" marL="0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book-unlocked handoff downstream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370832" y="2240280"/>
            <a:ext cx="402336" cy="0"/>
          </a:xfrm>
          <a:prstGeom prst="line">
            <a:avLst/>
          </a:prstGeom>
          <a:noFill/>
          <a:ln w="28575">
            <a:solidFill>
              <a:srgbClr val="00395D"/>
            </a:solidFill>
            <a:prstDash val="solid"/>
            <a:headEnd type="arrow"/>
            <a:tailEnd type="arrow"/>
          </a:ln>
        </p:spPr>
      </p:sp>
      <p:sp>
        <p:nvSpPr>
          <p:cNvPr id="31" name="Shape 28"/>
          <p:cNvSpPr/>
          <p:nvPr/>
        </p:nvSpPr>
        <p:spPr>
          <a:xfrm>
            <a:off x="6400800" y="3401568"/>
            <a:ext cx="0" cy="274320"/>
          </a:xfrm>
          <a:prstGeom prst="line">
            <a:avLst/>
          </a:prstGeom>
          <a:noFill/>
          <a:ln w="28575">
            <a:solidFill>
              <a:srgbClr val="D9A441"/>
            </a:solidFill>
            <a:prstDash val="solid"/>
            <a:headEnd type="arrow"/>
            <a:tailEnd type="arrow"/>
          </a:ln>
        </p:spPr>
      </p:sp>
      <p:sp>
        <p:nvSpPr>
          <p:cNvPr id="32" name="Shape 29"/>
          <p:cNvSpPr/>
          <p:nvPr/>
        </p:nvSpPr>
        <p:spPr>
          <a:xfrm>
            <a:off x="8028432" y="2240280"/>
            <a:ext cx="402336" cy="0"/>
          </a:xfrm>
          <a:prstGeom prst="line">
            <a:avLst/>
          </a:prstGeom>
          <a:noFill/>
          <a:ln w="28575">
            <a:solidFill>
              <a:srgbClr val="00395D"/>
            </a:solidFill>
            <a:prstDash val="solid"/>
            <a:tailEnd type="arrow"/>
          </a:ln>
        </p:spPr>
      </p:sp>
      <p:sp>
        <p:nvSpPr>
          <p:cNvPr id="33" name="Shape 30"/>
          <p:cNvSpPr/>
          <p:nvPr/>
        </p:nvSpPr>
        <p:spPr>
          <a:xfrm>
            <a:off x="548640" y="5193792"/>
            <a:ext cx="11091672" cy="804672"/>
          </a:xfrm>
          <a:prstGeom prst="roundRect">
            <a:avLst>
              <a:gd name="adj" fmla="val 9091"/>
            </a:avLst>
          </a:prstGeom>
          <a:solidFill>
            <a:srgbClr val="00395D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5303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BUILT IN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22960" y="554126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gates every adjustment  ·  Grounding enforced — unproven numbers blocked  ·  Full trace observability (Arize Phoenix)  ·  End-to-end audit trail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48640" y="617220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horizontal FOBO service today — the same pattern extends to every STEPS process tomorrow.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9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FOBO Control Tower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tells the whole story — what the agent did, what it is asking permission for, and what it cost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3776" y="1271016"/>
            <a:ext cx="8659368" cy="3757185"/>
          </a:xfrm>
          <a:prstGeom prst="roundRect">
            <a:avLst>
              <a:gd name="adj" fmla="val 1460"/>
            </a:avLst>
          </a:prstGeom>
          <a:solidFill>
            <a:srgbClr val="EFF8FD"/>
          </a:solidFill>
          <a:ln/>
        </p:spPr>
      </p:sp>
      <p:pic>
        <p:nvPicPr>
          <p:cNvPr id="5" name="Image 0" descr="/home/claude/deck/ui_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549640" cy="36474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56537" y="1599034"/>
            <a:ext cx="292608" cy="292608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56537" y="15990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77156" y="1945542"/>
            <a:ext cx="292608" cy="292608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77156" y="19455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22955" y="3112728"/>
            <a:ext cx="292608" cy="292608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2955" y="3112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83271" y="2893881"/>
            <a:ext cx="292608" cy="292608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83271" y="289388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96998" y="3568661"/>
            <a:ext cx="292608" cy="292608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96998" y="356866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80206" y="4371101"/>
            <a:ext cx="292608" cy="292608"/>
          </a:xfrm>
          <a:prstGeom prst="ellipse">
            <a:avLst/>
          </a:prstGeom>
          <a:solidFill>
            <a:srgbClr val="D9A4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80206" y="437110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326880" y="1325880"/>
            <a:ext cx="2313432" cy="3647457"/>
          </a:xfrm>
          <a:prstGeom prst="roundRect">
            <a:avLst>
              <a:gd name="adj" fmla="val 3162"/>
            </a:avLst>
          </a:prstGeom>
          <a:solidFill>
            <a:srgbClr val="00395D"/>
          </a:solidFill>
          <a:ln/>
        </p:spPr>
      </p:sp>
      <p:sp>
        <p:nvSpPr>
          <p:cNvPr id="19" name="Text 16"/>
          <p:cNvSpPr/>
          <p:nvPr/>
        </p:nvSpPr>
        <p:spPr>
          <a:xfrm>
            <a:off x="9528048" y="1481328"/>
            <a:ext cx="1938528" cy="337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Run telemetry — business date, model, AI cost, MCP calls today</a:t>
            </a:r>
            <a:endParaRPr lang="en-US" sz="93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Regional command view — APAC · EMEA · AMER book status</a:t>
            </a:r>
            <a:endParaRPr lang="en-US" sz="93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Pipeline per rec — Rec Factory → Agent Analysis → Sign-off → Post to MOTIF → Notify P&amp;L</a:t>
            </a:r>
            <a:endParaRPr lang="en-US" sz="93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Human-in-loop — a person approves or rejects every adjustment</a:t>
            </a:r>
            <a:endParaRPr lang="en-US" sz="93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Grounding confidence — figures traced to system calls</a:t>
            </a:r>
            <a:endParaRPr lang="en-US" sz="93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Agent narrative + MCP call log — the why behind every action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548640" y="52578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EFF8FD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54132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by default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77240" y="572414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calls and confidence are on the header — not buried in a report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370832" y="52578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EFF8FD"/>
          </a:solidFill>
          <a:ln/>
        </p:spPr>
      </p:sp>
      <p:sp>
        <p:nvSpPr>
          <p:cNvPr id="24" name="Text 21"/>
          <p:cNvSpPr/>
          <p:nvPr/>
        </p:nvSpPr>
        <p:spPr>
          <a:xfrm>
            <a:off x="4599432" y="54132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silent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599432" y="572414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pending action sits in the approval queue until a person decides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193024" y="52578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EFF8FD"/>
          </a:solidFill>
          <a:ln/>
        </p:spPr>
      </p:sp>
      <p:sp>
        <p:nvSpPr>
          <p:cNvPr id="27" name="Text 24"/>
          <p:cNvSpPr/>
          <p:nvPr/>
        </p:nvSpPr>
        <p:spPr>
          <a:xfrm>
            <a:off x="8421624" y="54132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421624" y="572414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screen, 280 P&amp;Ls, three regions — one horizontal service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9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Diagram: Components and Connections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server-side lives inside our AWS boundary; the model reaches systems only through the MCP layer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14600" y="1325880"/>
            <a:ext cx="9144000" cy="5212080"/>
          </a:xfrm>
          <a:prstGeom prst="roundRect">
            <a:avLst>
              <a:gd name="adj" fmla="val 1754"/>
            </a:avLst>
          </a:prstGeom>
          <a:solidFill>
            <a:srgbClr val="F7FCFE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697480" y="138988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AWS BOUNDARY — VPC · PRIVATE ENDPOINTS · IAM LEAST-PRIVILEGE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91640"/>
            <a:ext cx="1453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Control users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regions · maker-checker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44168" y="2350008"/>
            <a:ext cx="0" cy="45720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8346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Control Tower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· live approvals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67128" y="3291840"/>
            <a:ext cx="50292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headEnd type="arrow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1965960" y="30358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WSS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834640" y="28346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28346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sessions · files · runs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34640" y="416052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416052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Engine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step state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49040" y="3767328"/>
            <a:ext cx="0" cy="36576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headEnd type="arrow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2834640" y="18745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7792" y="187452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Entitlements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· role-based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49040" y="2441448"/>
            <a:ext cx="0" cy="365760"/>
          </a:xfrm>
          <a:prstGeom prst="line">
            <a:avLst/>
          </a:prstGeom>
          <a:noFill/>
          <a:ln w="22225">
            <a:solidFill>
              <a:srgbClr val="D9A44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212080" y="2834640"/>
            <a:ext cx="1874520" cy="914400"/>
          </a:xfrm>
          <a:prstGeom prst="roundRect">
            <a:avLst>
              <a:gd name="adj" fmla="val 6000"/>
            </a:avLst>
          </a:prstGeom>
          <a:solidFill>
            <a:srgbClr val="00395D"/>
          </a:solidFill>
          <a:ln w="19050">
            <a:solidFill>
              <a:srgbClr val="0039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5232" y="2834640"/>
            <a:ext cx="1728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B9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harness · bounded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81728" y="3291840"/>
            <a:ext cx="50292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headEnd type="arrow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212080" y="4160520"/>
            <a:ext cx="1874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4160520"/>
            <a:ext cx="1728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Registry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versions only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44768" y="3767328"/>
            <a:ext cx="0" cy="36576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headEnd type="arrow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7635240" y="28346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00395D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08392" y="283464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B9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guardrails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04888" y="3291840"/>
            <a:ext cx="502920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headEnd type="arrow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6949440" y="30358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416052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00395D"/>
          </a:solidFill>
          <a:ln w="19050">
            <a:solidFill>
              <a:srgbClr val="0039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08392" y="4160520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Layer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B9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· typed tools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44768" y="5010912"/>
            <a:ext cx="0" cy="32004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44768" y="5330952"/>
            <a:ext cx="1490472" cy="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5240" y="5330952"/>
            <a:ext cx="0" cy="-320040"/>
          </a:xfrm>
          <a:prstGeom prst="line">
            <a:avLst/>
          </a:prstGeom>
          <a:noFill/>
          <a:ln w="22225">
            <a:solidFill>
              <a:srgbClr val="00395D"/>
            </a:solidFill>
            <a:prstDash val="solid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6400800" y="53583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921240" y="1965960"/>
            <a:ext cx="157276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94392" y="1965960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Factory API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&amp; book data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464040" y="4572000"/>
            <a:ext cx="457200" cy="-2231136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9921240" y="2898648"/>
            <a:ext cx="157276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94392" y="2898648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API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recs · cross-checks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464040" y="4572000"/>
            <a:ext cx="457200" cy="-1298448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9921240" y="3831336"/>
            <a:ext cx="157276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94392" y="383133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API → MOTIF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approved adjustments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464040" y="4572000"/>
            <a:ext cx="457200" cy="-365760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9921240" y="4764024"/>
            <a:ext cx="157276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94392" y="4764024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· P&amp;L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book-unlocked handoff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464040" y="4572000"/>
            <a:ext cx="457200" cy="566928"/>
          </a:xfrm>
          <a:prstGeom prst="line">
            <a:avLst/>
          </a:prstGeom>
          <a:noFill/>
          <a:ln w="19050">
            <a:solidFill>
              <a:srgbClr val="00395D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2834640" y="566928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07792" y="5669280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19c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state + immutable audit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029200" y="566928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02352" y="5669280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generated files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223760" y="566928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96912" y="566928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05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· evals · cost telemetry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749040" y="4983480"/>
            <a:ext cx="0" cy="685800"/>
          </a:xfrm>
          <a:prstGeom prst="line">
            <a:avLst/>
          </a:prstGeom>
          <a:noFill/>
          <a:ln w="22225">
            <a:solidFill>
              <a:srgbClr val="5A6178"/>
            </a:solidFill>
            <a:prstDash val="dash"/>
            <a:tailEnd type="arrow"/>
          </a:ln>
        </p:spPr>
      </p:sp>
      <p:sp>
        <p:nvSpPr>
          <p:cNvPr id="56" name="Shape 54"/>
          <p:cNvSpPr/>
          <p:nvPr/>
        </p:nvSpPr>
        <p:spPr>
          <a:xfrm>
            <a:off x="5943600" y="4983480"/>
            <a:ext cx="0" cy="685800"/>
          </a:xfrm>
          <a:prstGeom prst="line">
            <a:avLst/>
          </a:prstGeom>
          <a:noFill/>
          <a:ln w="22225">
            <a:solidFill>
              <a:srgbClr val="5A6178"/>
            </a:solidFill>
            <a:prstDash val="dash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8229600" y="4983480"/>
            <a:ext cx="0" cy="685800"/>
          </a:xfrm>
          <a:prstGeom prst="line">
            <a:avLst/>
          </a:prstGeom>
          <a:noFill/>
          <a:ln w="22225">
            <a:solidFill>
              <a:srgbClr val="5A6178"/>
            </a:solidFill>
            <a:prstDash val="dash"/>
            <a:tailEnd type="arrow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9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Architecture: Five Layers, One Contract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talks to the next through defined interfaces — the model never bypasses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9464040" cy="914400"/>
          </a:xfrm>
          <a:prstGeom prst="roundRect">
            <a:avLst>
              <a:gd name="adj" fmla="val 6000"/>
            </a:avLst>
          </a:prstGeom>
          <a:solidFill>
            <a:srgbClr val="EFF8F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35331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06040" y="1389888"/>
            <a:ext cx="231648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389888"/>
            <a:ext cx="213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SPA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Tower · role-based views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59680" y="1389888"/>
            <a:ext cx="231648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51120" y="1389888"/>
            <a:ext cx="213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stream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 output &amp; run status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513320" y="1389888"/>
            <a:ext cx="231648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04760" y="1389888"/>
            <a:ext cx="213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 UI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/ sign-off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04288"/>
            <a:ext cx="9464040" cy="914400"/>
          </a:xfrm>
          <a:prstGeom prst="roundRect">
            <a:avLst>
              <a:gd name="adj" fmla="val 6000"/>
            </a:avLst>
          </a:prstGeom>
          <a:solidFill>
            <a:srgbClr val="EFF8FD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37744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2414016"/>
            <a:ext cx="170307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414016"/>
            <a:ext cx="15201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API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· files · prompts · run state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46270" y="2414016"/>
            <a:ext cx="170307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7710" y="2414016"/>
            <a:ext cx="15201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engine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orchestration &amp; step state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86500" y="2414016"/>
            <a:ext cx="170307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7940" y="2414016"/>
            <a:ext cx="15201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validator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matched to tool results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26730" y="2414016"/>
            <a:ext cx="170307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8170" y="2414016"/>
            <a:ext cx="15201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store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context versioned V1→Vn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28416"/>
            <a:ext cx="9464040" cy="914400"/>
          </a:xfrm>
          <a:prstGeom prst="roundRect">
            <a:avLst>
              <a:gd name="adj" fmla="val 6000"/>
            </a:avLst>
          </a:prstGeom>
          <a:solidFill>
            <a:srgbClr val="00395D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40156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3438144"/>
            <a:ext cx="2316480" cy="694944"/>
          </a:xfrm>
          <a:prstGeom prst="roundRect">
            <a:avLst>
              <a:gd name="adj" fmla="val 6579"/>
            </a:avLst>
          </a:prstGeom>
          <a:solidFill>
            <a:srgbClr val="00527F"/>
          </a:solidFill>
          <a:ln/>
        </p:spPr>
      </p:sp>
      <p:sp>
        <p:nvSpPr>
          <p:cNvPr id="25" name="Text 23"/>
          <p:cNvSpPr/>
          <p:nvPr/>
        </p:nvSpPr>
        <p:spPr>
          <a:xfrm>
            <a:off x="2697480" y="3438144"/>
            <a:ext cx="213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· Claude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B9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drafting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59680" y="3438144"/>
            <a:ext cx="2316480" cy="694944"/>
          </a:xfrm>
          <a:prstGeom prst="roundRect">
            <a:avLst>
              <a:gd name="adj" fmla="val 6579"/>
            </a:avLst>
          </a:prstGeom>
          <a:solidFill>
            <a:srgbClr val="00527F"/>
          </a:solidFill>
          <a:ln/>
        </p:spPr>
      </p:sp>
      <p:sp>
        <p:nvSpPr>
          <p:cNvPr id="27" name="Text 25"/>
          <p:cNvSpPr/>
          <p:nvPr/>
        </p:nvSpPr>
        <p:spPr>
          <a:xfrm>
            <a:off x="5151120" y="3438144"/>
            <a:ext cx="213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harness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B9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loop, bounded actions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13320" y="3438144"/>
            <a:ext cx="2316480" cy="694944"/>
          </a:xfrm>
          <a:prstGeom prst="roundRect">
            <a:avLst>
              <a:gd name="adj" fmla="val 6579"/>
            </a:avLst>
          </a:prstGeom>
          <a:solidFill>
            <a:srgbClr val="00527F"/>
          </a:solidFill>
          <a:ln/>
        </p:spPr>
      </p:sp>
      <p:sp>
        <p:nvSpPr>
          <p:cNvPr id="29" name="Text 27"/>
          <p:cNvSpPr/>
          <p:nvPr/>
        </p:nvSpPr>
        <p:spPr>
          <a:xfrm>
            <a:off x="7604760" y="3438144"/>
            <a:ext cx="213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registry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B9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skills &amp; prompts, approved only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352544"/>
            <a:ext cx="9464040" cy="914400"/>
          </a:xfrm>
          <a:prstGeom prst="roundRect">
            <a:avLst>
              <a:gd name="adj" fmla="val 6000"/>
            </a:avLst>
          </a:prstGeom>
          <a:solidFill>
            <a:srgbClr val="EFF8FD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42569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06040" y="4462272"/>
            <a:ext cx="170307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4462272"/>
            <a:ext cx="15201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(FastMCP)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system · typed tools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46270" y="4462272"/>
            <a:ext cx="170307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37710" y="4462272"/>
            <a:ext cx="15201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Factory · MBR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· cross-checks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86500" y="4462272"/>
            <a:ext cx="170307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7940" y="4462272"/>
            <a:ext cx="15201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→ MOTIF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approved adjustments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26730" y="4462272"/>
            <a:ext cx="170307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18170" y="4462272"/>
            <a:ext cx="15201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· Notify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control · P&amp;L handoff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376672"/>
            <a:ext cx="9464040" cy="914400"/>
          </a:xfrm>
          <a:prstGeom prst="roundRect">
            <a:avLst>
              <a:gd name="adj" fmla="val 6000"/>
            </a:avLst>
          </a:prstGeom>
          <a:solidFill>
            <a:srgbClr val="EFF8FD"/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" y="544982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OPS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06040" y="5486400"/>
            <a:ext cx="170307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5486400"/>
            <a:ext cx="15201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19c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state + immutable audit history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46270" y="5486400"/>
            <a:ext cx="170307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37710" y="5486400"/>
            <a:ext cx="15201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generated files per session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86500" y="5486400"/>
            <a:ext cx="170307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77940" y="5486400"/>
            <a:ext cx="15201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per run · eval scores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26730" y="5486400"/>
            <a:ext cx="170307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9E6F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18170" y="5486400"/>
            <a:ext cx="15201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telemetry</a:t>
            </a:r>
            <a:endParaRPr lang="en-US" sz="1000" dirty="0"/>
          </a:p>
          <a:p>
            <a:pPr indent="0" marL="0">
              <a:buNone/>
            </a:pPr>
            <a:r>
              <a:rPr lang="en-US" sz="82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call · per skill · per P&amp;L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195560" y="1280160"/>
            <a:ext cx="1444752" cy="5010912"/>
          </a:xfrm>
          <a:prstGeom prst="roundRect">
            <a:avLst>
              <a:gd name="adj" fmla="val 3797"/>
            </a:avLst>
          </a:prstGeom>
          <a:solidFill>
            <a:srgbClr val="00395D"/>
          </a:solidFill>
          <a:ln/>
        </p:spPr>
      </p:sp>
      <p:sp>
        <p:nvSpPr>
          <p:cNvPr id="51" name="Text 49"/>
          <p:cNvSpPr/>
          <p:nvPr/>
        </p:nvSpPr>
        <p:spPr>
          <a:xfrm>
            <a:off x="10351008" y="1463040"/>
            <a:ext cx="115214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9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Entitlements — central, role-based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private networking — nothing leaves our AWS boundary</a:t>
            </a:r>
            <a:endParaRPr lang="en-US" sz="90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— every prompt, tool call and decision recorded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contract: the model acts only through the harness; the harness acts only through MCP; MCP acts only within entitlements. Three fences, independently enforced.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9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One Agent Run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trigger to posted adjustment — eight steps, every one traced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FF8FD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490472"/>
            <a:ext cx="457200" cy="457200"/>
          </a:xfrm>
          <a:prstGeom prst="ellipse">
            <a:avLst/>
          </a:prstGeom>
          <a:solidFill>
            <a:srgbClr val="00395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270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7568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run (e.g. 15:00 IST) or user start from the Control Tower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2194560"/>
            <a:ext cx="155448" cy="0"/>
          </a:xfrm>
          <a:prstGeom prst="line">
            <a:avLst/>
          </a:prstGeom>
          <a:noFill/>
          <a:ln w="25400">
            <a:solidFill>
              <a:srgbClr val="00395D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346704" y="13258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FF8FD"/>
          </a:solidFill>
          <a:ln/>
        </p:spPr>
      </p:sp>
      <p:sp>
        <p:nvSpPr>
          <p:cNvPr id="11" name="Shape 9"/>
          <p:cNvSpPr/>
          <p:nvPr/>
        </p:nvSpPr>
        <p:spPr>
          <a:xfrm>
            <a:off x="3511296" y="1490472"/>
            <a:ext cx="457200" cy="457200"/>
          </a:xfrm>
          <a:prstGeom prst="ellipse">
            <a:avLst/>
          </a:prstGeom>
          <a:solidFill>
            <a:srgbClr val="00395D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78224" y="15270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activates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9584" y="207568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 step opens deterministically; session attached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71032" y="2194560"/>
            <a:ext cx="155448" cy="0"/>
          </a:xfrm>
          <a:prstGeom prst="line">
            <a:avLst/>
          </a:prstGeom>
          <a:noFill/>
          <a:ln w="25400">
            <a:solidFill>
              <a:srgbClr val="00395D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144768" y="13258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FF8FD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490472"/>
            <a:ext cx="457200" cy="457200"/>
          </a:xfrm>
          <a:prstGeom prst="ellipse">
            <a:avLst/>
          </a:prstGeom>
          <a:solidFill>
            <a:srgbClr val="00527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76288" y="15270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27648" y="207568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· Claude plans the work with approved skills only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69096" y="2194560"/>
            <a:ext cx="155448" cy="0"/>
          </a:xfrm>
          <a:prstGeom prst="line">
            <a:avLst/>
          </a:prstGeom>
          <a:noFill/>
          <a:ln w="25400">
            <a:solidFill>
              <a:srgbClr val="00395D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8942832" y="13258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FF8FD"/>
          </a:solidFill>
          <a:ln/>
        </p:spPr>
      </p:sp>
      <p:sp>
        <p:nvSpPr>
          <p:cNvPr id="23" name="Shape 21"/>
          <p:cNvSpPr/>
          <p:nvPr/>
        </p:nvSpPr>
        <p:spPr>
          <a:xfrm>
            <a:off x="9107424" y="1490472"/>
            <a:ext cx="457200" cy="457200"/>
          </a:xfrm>
          <a:prstGeom prst="ellipse">
            <a:avLst/>
          </a:prstGeom>
          <a:solidFill>
            <a:srgbClr val="00527F"/>
          </a:solidFill>
          <a:ln/>
        </p:spPr>
      </p:sp>
      <p:sp>
        <p:nvSpPr>
          <p:cNvPr id="24" name="Text 22"/>
          <p:cNvSpPr/>
          <p:nvPr/>
        </p:nvSpPr>
        <p:spPr>
          <a:xfrm>
            <a:off x="9107424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74352" y="15270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via MCP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25712" y="207568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RecFactory.getBreaks · MBR.crossCheck — typed, logged calls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245852" y="3099816"/>
            <a:ext cx="0" cy="612648"/>
          </a:xfrm>
          <a:prstGeom prst="line">
            <a:avLst/>
          </a:prstGeom>
          <a:noFill/>
          <a:ln w="25400">
            <a:solidFill>
              <a:srgbClr val="00395D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8942832" y="3749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FF8FD"/>
          </a:solidFill>
          <a:ln/>
        </p:spPr>
      </p:sp>
      <p:sp>
        <p:nvSpPr>
          <p:cNvPr id="29" name="Shape 27"/>
          <p:cNvSpPr/>
          <p:nvPr/>
        </p:nvSpPr>
        <p:spPr>
          <a:xfrm>
            <a:off x="9107424" y="391363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/>
          <p:nvPr/>
        </p:nvSpPr>
        <p:spPr>
          <a:xfrm>
            <a:off x="9107424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74352" y="39502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check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25712" y="449884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matched to a tool result — unmatched output is blocked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769096" y="4617720"/>
            <a:ext cx="155448" cy="0"/>
          </a:xfrm>
          <a:prstGeom prst="line">
            <a:avLst/>
          </a:prstGeom>
          <a:noFill/>
          <a:ln w="25400">
            <a:solidFill>
              <a:srgbClr val="00395D"/>
            </a:solidFill>
            <a:prstDash val="solid"/>
            <a:headEnd type="arrow"/>
          </a:ln>
        </p:spPr>
      </p:sp>
      <p:sp>
        <p:nvSpPr>
          <p:cNvPr id="34" name="Shape 32"/>
          <p:cNvSpPr/>
          <p:nvPr/>
        </p:nvSpPr>
        <p:spPr>
          <a:xfrm>
            <a:off x="6144768" y="3749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FF8FD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9360" y="3913632"/>
            <a:ext cx="457200" cy="457200"/>
          </a:xfrm>
          <a:prstGeom prst="ellipse">
            <a:avLst/>
          </a:prstGeom>
          <a:solidFill>
            <a:srgbClr val="00527F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76288" y="39502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prepared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27648" y="449884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Auto-classified breaks + drafted adjustments and commentary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71032" y="4617720"/>
            <a:ext cx="155448" cy="0"/>
          </a:xfrm>
          <a:prstGeom prst="line">
            <a:avLst/>
          </a:prstGeom>
          <a:noFill/>
          <a:ln w="25400">
            <a:solidFill>
              <a:srgbClr val="00395D"/>
            </a:solidFill>
            <a:prstDash val="solid"/>
            <a:headEnd type="arrow"/>
          </a:ln>
        </p:spPr>
      </p:sp>
      <p:sp>
        <p:nvSpPr>
          <p:cNvPr id="40" name="Shape 38"/>
          <p:cNvSpPr/>
          <p:nvPr/>
        </p:nvSpPr>
        <p:spPr>
          <a:xfrm>
            <a:off x="3346704" y="3749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FF8FD"/>
          </a:solidFill>
          <a:ln/>
        </p:spPr>
      </p:sp>
      <p:sp>
        <p:nvSpPr>
          <p:cNvPr id="41" name="Shape 39"/>
          <p:cNvSpPr/>
          <p:nvPr/>
        </p:nvSpPr>
        <p:spPr>
          <a:xfrm>
            <a:off x="3511296" y="391363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2" name="Text 40"/>
          <p:cNvSpPr/>
          <p:nvPr/>
        </p:nvSpPr>
        <p:spPr>
          <a:xfrm>
            <a:off x="3511296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078224" y="39502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529584" y="449884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approves or rejects each adjustment in the UI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172968" y="4617720"/>
            <a:ext cx="155448" cy="0"/>
          </a:xfrm>
          <a:prstGeom prst="line">
            <a:avLst/>
          </a:prstGeom>
          <a:noFill/>
          <a:ln w="25400">
            <a:solidFill>
              <a:srgbClr val="00395D"/>
            </a:solidFill>
            <a:prstDash val="solid"/>
            <a:headEnd type="arrow"/>
          </a:ln>
        </p:spPr>
      </p:sp>
      <p:sp>
        <p:nvSpPr>
          <p:cNvPr id="46" name="Shape 44"/>
          <p:cNvSpPr/>
          <p:nvPr/>
        </p:nvSpPr>
        <p:spPr>
          <a:xfrm>
            <a:off x="548640" y="3749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FF8FD"/>
          </a:solidFill>
          <a:ln/>
        </p:spPr>
      </p:sp>
      <p:sp>
        <p:nvSpPr>
          <p:cNvPr id="47" name="Shape 45"/>
          <p:cNvSpPr/>
          <p:nvPr/>
        </p:nvSpPr>
        <p:spPr>
          <a:xfrm>
            <a:off x="713232" y="3913632"/>
            <a:ext cx="457200" cy="457200"/>
          </a:xfrm>
          <a:prstGeom prst="ellipse">
            <a:avLst/>
          </a:prstGeom>
          <a:solidFill>
            <a:srgbClr val="00395D"/>
          </a:solidFill>
          <a:ln/>
        </p:spPr>
      </p:sp>
      <p:sp>
        <p:nvSpPr>
          <p:cNvPr id="48" name="Text 46"/>
          <p:cNvSpPr/>
          <p:nvPr/>
        </p:nvSpPr>
        <p:spPr>
          <a:xfrm>
            <a:off x="713232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80160" y="39502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&amp; handoff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1520" y="4498848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posts to MOTIF · book unlocked · P&amp;L agent notified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6355080"/>
            <a:ext cx="11091672" cy="411480"/>
          </a:xfrm>
          <a:prstGeom prst="roundRect">
            <a:avLst>
              <a:gd name="adj" fmla="val 13333"/>
            </a:avLst>
          </a:prstGeom>
          <a:solidFill>
            <a:srgbClr val="00395D"/>
          </a:solidFill>
          <a:ln/>
        </p:spPr>
      </p:sp>
      <p:sp>
        <p:nvSpPr>
          <p:cNvPr id="52" name="Text 50"/>
          <p:cNvSpPr/>
          <p:nvPr/>
        </p:nvSpPr>
        <p:spPr>
          <a:xfrm>
            <a:off x="822960" y="6355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emits a trace to Arize Phoenix — one run, one complete evidence chain, replayable end to end.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9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Governance: The Technical Guarantees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guarantees management can hold us 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22392" cy="2286000"/>
          </a:xfrm>
          <a:prstGeom prst="roundRect">
            <a:avLst>
              <a:gd name="adj" fmla="val 3200"/>
            </a:avLst>
          </a:prstGeom>
          <a:solidFill>
            <a:srgbClr val="EFF8FD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4721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4672" y="17282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do what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112264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entitlement service — role-based access for UI, APIs and tools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inherits the invoking user's entitlements — never more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least-privilege on every AWS component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422392" cy="2286000"/>
          </a:xfrm>
          <a:prstGeom prst="roundRect">
            <a:avLst>
              <a:gd name="adj" fmla="val 3200"/>
            </a:avLst>
          </a:prstGeom>
          <a:solidFill>
            <a:srgbClr val="EFF8FD"/>
          </a:solidFill>
          <a:ln/>
        </p:spPr>
      </p:sp>
      <p:sp>
        <p:nvSpPr>
          <p:cNvPr id="9" name="Text 7"/>
          <p:cNvSpPr/>
          <p:nvPr/>
        </p:nvSpPr>
        <p:spPr>
          <a:xfrm>
            <a:off x="6473952" y="14721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BOUNDARIES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73952" y="17282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data can 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73952" y="2112264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processing inside our AWS boundary; private endpoints to Bedrock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does not train on our data — model isolation by contract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holds no credentials and has no direct database access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13048"/>
            <a:ext cx="5422392" cy="2286000"/>
          </a:xfrm>
          <a:prstGeom prst="roundRect">
            <a:avLst>
              <a:gd name="adj" fmla="val 3200"/>
            </a:avLst>
          </a:prstGeom>
          <a:solidFill>
            <a:srgbClr val="EFF8FD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39593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4672" y="42153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agent changes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4599432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prompts are versioned (V1→Vn); only approved versions load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passes evaluation + business approval before release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to any prior version in minutes, per P&amp;L if needed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813048"/>
            <a:ext cx="5422392" cy="2286000"/>
          </a:xfrm>
          <a:prstGeom prst="roundRect">
            <a:avLst>
              <a:gd name="adj" fmla="val 3200"/>
            </a:avLst>
          </a:prstGeom>
          <a:solidFill>
            <a:srgbClr val="EFF8FD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39593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AUDIT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73952" y="42153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prove 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3952" y="4599432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trace for every run — prompts, tool calls, outputs, scores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history for state and decisions (who, what, when, why)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latency telemetry per call, per skill, per P&amp;L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6355080"/>
            <a:ext cx="11091672" cy="411480"/>
          </a:xfrm>
          <a:prstGeom prst="roundRect">
            <a:avLst>
              <a:gd name="adj" fmla="val 13333"/>
            </a:avLst>
          </a:prstGeom>
          <a:solidFill>
            <a:srgbClr val="00395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6355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position: the AI is powerful inside the fences and powerless outside them — and we can evidence that, run by run.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2026-08-04T13:58:51Z</dcterms:created>
  <dcterms:modified xsi:type="dcterms:W3CDTF">2026-08-04T13:58:51Z</dcterms:modified>
</cp:coreProperties>
</file>