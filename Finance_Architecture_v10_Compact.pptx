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36576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Finance Process Automation  —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83464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  <a:latin typeface="Calibri"/>
              </a:rPr>
              <a:t>Data Sources  ›  Backend API (FAS)  ›  Finance Portal &amp; 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371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99BB"/>
                </a:solidFill>
                <a:latin typeface="Calibri"/>
              </a:rPr>
              <a:t>CIO Briefing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512064"/>
            <a:ext cx="1572768" cy="530352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5394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7863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Primary Accounting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512064"/>
            <a:ext cx="1572768" cy="530352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5394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RADIAL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7863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Enriched Trial Balance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0912" y="512064"/>
            <a:ext cx="1572768" cy="530352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5394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7863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General Ledger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5472" y="512064"/>
            <a:ext cx="1572768" cy="530352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539496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FLEX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786384"/>
            <a:ext cx="1572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Enriched Trial Balance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0432" y="1417320"/>
            <a:ext cx="7333488" cy="4023360"/>
          </a:xfrm>
          <a:prstGeom prst="rect">
            <a:avLst/>
          </a:prstGeom>
          <a:solidFill>
            <a:srgbClr val="EAF0FF">
              <a:alpha val="45000"/>
            </a:srgbClr>
          </a:solidFill>
          <a:ln w="2286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432" y="1417320"/>
            <a:ext cx="7333488" cy="310896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1435608"/>
            <a:ext cx="7333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Finance Portal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31936" y="1417320"/>
            <a:ext cx="3438144" cy="4023360"/>
          </a:xfrm>
          <a:prstGeom prst="rect">
            <a:avLst/>
          </a:prstGeom>
          <a:solidFill>
            <a:srgbClr val="FFF5E8">
              <a:alpha val="45000"/>
            </a:srgbClr>
          </a:solidFill>
          <a:ln w="22860">
            <a:solidFill>
              <a:srgbClr val="A05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31936" y="1417320"/>
            <a:ext cx="3438144" cy="310896"/>
          </a:xfrm>
          <a:prstGeom prst="rect">
            <a:avLst/>
          </a:prstGeom>
          <a:solidFill>
            <a:srgbClr val="A0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1936" y="1435608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16736" y="1810512"/>
            <a:ext cx="3401568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16736" y="1810512"/>
            <a:ext cx="50292" cy="548640"/>
          </a:xfrm>
          <a:prstGeom prst="rect">
            <a:avLst/>
          </a:prstGeom>
          <a:solidFill>
            <a:srgbClr val="4A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8176" y="1856231"/>
            <a:ext cx="3273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Playpen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9888" y="2084831"/>
            <a:ext cx="32735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8176" y="2093976"/>
            <a:ext cx="3273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FAS · MOTIF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4608" y="1810512"/>
            <a:ext cx="3493008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64608" y="1810512"/>
            <a:ext cx="50292" cy="548640"/>
          </a:xfrm>
          <a:prstGeom prst="rect">
            <a:avLst/>
          </a:prstGeom>
          <a:solidFill>
            <a:srgbClr val="4A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1856231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RecFactory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084831"/>
            <a:ext cx="3364991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2093976"/>
            <a:ext cx="33649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MOTIF · FAS · RADIAL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16736" y="2523744"/>
            <a:ext cx="3401568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16736" y="2523744"/>
            <a:ext cx="50292" cy="548640"/>
          </a:xfrm>
          <a:prstGeom prst="rect">
            <a:avLst/>
          </a:prstGeom>
          <a:solidFill>
            <a:srgbClr val="4A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8176" y="2569463"/>
            <a:ext cx="3273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Workflow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89888" y="2798063"/>
            <a:ext cx="3273552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8176" y="2807208"/>
            <a:ext cx="32735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FAS · GMIS/RAMP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64608" y="2523744"/>
            <a:ext cx="3493008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64608" y="2523744"/>
            <a:ext cx="50292" cy="548640"/>
          </a:xfrm>
          <a:prstGeom prst="rect">
            <a:avLst/>
          </a:prstGeom>
          <a:solidFill>
            <a:srgbClr val="4A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2569463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Analytical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2798063"/>
            <a:ext cx="3364991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56048" y="2807208"/>
            <a:ext cx="33649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BCE · FLEX · SAP · FA Hub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16736" y="3236976"/>
            <a:ext cx="7040880" cy="9144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16736" y="32735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949AB"/>
                </a:solidFill>
                <a:latin typeface="Calibri"/>
              </a:rPr>
              <a:t>Finance Portal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16736" y="3465576"/>
            <a:ext cx="7059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Unified web portal providing reconciliation, adjustment, workflow automation and AI-assisted analytical review across finance operations.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16736" y="3858768"/>
            <a:ext cx="7040880" cy="9144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16736" y="38953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949AB"/>
                </a:solidFill>
                <a:latin typeface="Calibri"/>
              </a:rPr>
              <a:t>Key Capabilities: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6736" y="4087368"/>
            <a:ext cx="7059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Daily PnL  ·  Balance Sheet Reporting  ·  Month-end Close  ·  Netting &amp; PCV  ·  FCA Attestation  ·  IFRS Adjustments  ·  AI Commentary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78240" y="1810512"/>
            <a:ext cx="3145536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78240" y="1810512"/>
            <a:ext cx="50292" cy="548640"/>
          </a:xfrm>
          <a:prstGeom prst="rect">
            <a:avLst/>
          </a:prstGeom>
          <a:solidFill>
            <a:srgbClr val="B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1856231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IFRS 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51392" y="2084831"/>
            <a:ext cx="3017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2093976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RADIAL · FLEX · SAP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78240" y="2523744"/>
            <a:ext cx="3145536" cy="548640"/>
          </a:xfrm>
          <a:prstGeom prst="rect">
            <a:avLst/>
          </a:prstGeom>
          <a:solidFill>
            <a:srgbClr val="FFFFFF"/>
          </a:solidFill>
          <a:ln w="8890">
            <a:solidFill>
              <a:srgbClr val="B8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0" y="2523744"/>
            <a:ext cx="50292" cy="548640"/>
          </a:xfrm>
          <a:prstGeom prst="rect">
            <a:avLst/>
          </a:prstGeom>
          <a:solidFill>
            <a:srgbClr val="B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9680" y="2569463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B3A"/>
                </a:solidFill>
                <a:latin typeface="Calibri"/>
              </a:rPr>
              <a:t>MAW / FCPA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51392" y="2798063"/>
            <a:ext cx="301752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2807208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6890"/>
                </a:solidFill>
                <a:latin typeface="Calibri"/>
              </a:rPr>
              <a:t>Sources: RADIAL · FLEX · SAP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78240" y="3236976"/>
            <a:ext cx="3145536" cy="9144"/>
          </a:xfrm>
          <a:prstGeom prst="rect">
            <a:avLst/>
          </a:prstGeom>
          <a:solidFill>
            <a:srgbClr val="D8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0" y="327355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5010"/>
                </a:solidFill>
                <a:latin typeface="Calibri"/>
              </a:rPr>
              <a:t>FORT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3465576"/>
            <a:ext cx="3145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Financial Operations Reporting Tool — statutory &amp; regulatory reporting.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78240" y="3858768"/>
            <a:ext cx="3145536" cy="9144"/>
          </a:xfrm>
          <a:prstGeom prst="rect">
            <a:avLst/>
          </a:prstGeom>
          <a:solidFill>
            <a:srgbClr val="D8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38953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5010"/>
                </a:solidFill>
                <a:latin typeface="Calibri"/>
              </a:rPr>
              <a:t>Key Capabilities: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4087368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Fair Value Measurement  ·  IFRS 13 Reporting  ·  Transfer Pricing  ·  EUDA Remediation  ·  Netting Automation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" y="2176272"/>
            <a:ext cx="1024128" cy="713232"/>
          </a:xfrm>
          <a:prstGeom prst="rect">
            <a:avLst/>
          </a:prstGeom>
          <a:solidFill>
            <a:srgbClr val="F4F4F4"/>
          </a:solidFill>
          <a:ln w="101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" y="2176272"/>
            <a:ext cx="1024128" cy="23774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" y="2176272"/>
            <a:ext cx="1024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" y="2432304"/>
            <a:ext cx="10241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444444"/>
                </a:solidFill>
                <a:latin typeface="Calibri"/>
              </a:rPr>
              <a:t>Backend
Service API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14600" y="5715000"/>
            <a:ext cx="1508760" cy="548640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14600" y="574243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GMIS/RAMP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14600" y="59893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Risk &amp; Mgmt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5715000"/>
            <a:ext cx="1280160" cy="548640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63440" y="574243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BCE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3440" y="59893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Consolidation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75120" y="5715000"/>
            <a:ext cx="1280160" cy="548640"/>
          </a:xfrm>
          <a:prstGeom prst="rect">
            <a:avLst/>
          </a:prstGeom>
          <a:solidFill>
            <a:srgbClr val="1A56A0"/>
          </a:solidFill>
          <a:ln w="15240">
            <a:solidFill>
              <a:srgbClr val="0F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75120" y="574243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FA Hub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0" y="59893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AACCFF"/>
                </a:solidFill>
                <a:latin typeface="Calibri"/>
              </a:rPr>
              <a:t>Banking Book TB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408176" y="1042416"/>
            <a:ext cx="0" cy="237744"/>
          </a:xfrm>
          <a:prstGeom prst="line">
            <a:avLst/>
          </a:prstGeom>
          <a:ln w="22860">
            <a:solidFill>
              <a:srgbClr val="1A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408176" y="1280160"/>
            <a:ext cx="1499615" cy="0"/>
          </a:xfrm>
          <a:prstGeom prst="line">
            <a:avLst/>
          </a:prstGeom>
          <a:ln w="22860">
            <a:solidFill>
              <a:srgbClr val="1A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907791" y="1280160"/>
            <a:ext cx="0" cy="530352"/>
          </a:xfrm>
          <a:prstGeom prst="line">
            <a:avLst/>
          </a:prstGeom>
          <a:ln w="22860">
            <a:solidFill>
              <a:srgbClr val="1A56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517904" y="1042416"/>
            <a:ext cx="0" cy="192024"/>
          </a:xfrm>
          <a:prstGeom prst="line">
            <a:avLst/>
          </a:prstGeom>
          <a:ln w="15240">
            <a:solidFill>
              <a:srgbClr val="1A56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517904" y="1234440"/>
            <a:ext cx="4864608" cy="0"/>
          </a:xfrm>
          <a:prstGeom prst="line">
            <a:avLst/>
          </a:prstGeom>
          <a:ln w="15240">
            <a:solidFill>
              <a:srgbClr val="1A56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382512" y="1234440"/>
            <a:ext cx="0" cy="576072"/>
          </a:xfrm>
          <a:prstGeom prst="line">
            <a:avLst/>
          </a:prstGeom>
          <a:ln w="15240">
            <a:solidFill>
              <a:srgbClr val="1A56A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602736" y="1042416"/>
            <a:ext cx="0" cy="237744"/>
          </a:xfrm>
          <a:prstGeom prst="line">
            <a:avLst/>
          </a:prstGeom>
          <a:ln w="22860">
            <a:solidFill>
              <a:srgbClr val="D472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602736" y="1280160"/>
            <a:ext cx="3008376" cy="0"/>
          </a:xfrm>
          <a:prstGeom prst="line">
            <a:avLst/>
          </a:prstGeom>
          <a:ln w="22860">
            <a:solidFill>
              <a:srgbClr val="D472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11112" y="1280160"/>
            <a:ext cx="0" cy="530352"/>
          </a:xfrm>
          <a:prstGeom prst="line">
            <a:avLst/>
          </a:prstGeom>
          <a:ln w="22860">
            <a:solidFill>
              <a:srgbClr val="D472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712463" y="1042416"/>
            <a:ext cx="0" cy="192024"/>
          </a:xfrm>
          <a:prstGeom prst="line">
            <a:avLst/>
          </a:prstGeom>
          <a:ln w="19050">
            <a:solidFill>
              <a:srgbClr val="D472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712463" y="1234440"/>
            <a:ext cx="6455665" cy="0"/>
          </a:xfrm>
          <a:prstGeom prst="line">
            <a:avLst/>
          </a:prstGeom>
          <a:ln w="19050">
            <a:solidFill>
              <a:srgbClr val="D472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168128" y="1234440"/>
            <a:ext cx="0" cy="576072"/>
          </a:xfrm>
          <a:prstGeom prst="line">
            <a:avLst/>
          </a:prstGeom>
          <a:ln w="19050">
            <a:solidFill>
              <a:srgbClr val="D472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797296" y="1042416"/>
            <a:ext cx="0" cy="237744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797296" y="1280160"/>
            <a:ext cx="704088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01384" y="1280160"/>
            <a:ext cx="0" cy="1243584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907024" y="1042416"/>
            <a:ext cx="0" cy="192024"/>
          </a:xfrm>
          <a:prstGeom prst="line">
            <a:avLst/>
          </a:prstGeom>
          <a:ln w="1524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907024" y="1234440"/>
            <a:ext cx="4443984" cy="0"/>
          </a:xfrm>
          <a:prstGeom prst="line">
            <a:avLst/>
          </a:prstGeom>
          <a:ln w="1524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351008" y="1234440"/>
            <a:ext cx="0" cy="576072"/>
          </a:xfrm>
          <a:prstGeom prst="line">
            <a:avLst/>
          </a:prstGeom>
          <a:ln w="15240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991856" y="1042416"/>
            <a:ext cx="0" cy="237744"/>
          </a:xfrm>
          <a:prstGeom prst="line">
            <a:avLst/>
          </a:prstGeom>
          <a:ln w="19050">
            <a:solidFill>
              <a:srgbClr val="1A8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6720840" y="1280160"/>
            <a:ext cx="1271016" cy="0"/>
          </a:xfrm>
          <a:prstGeom prst="line">
            <a:avLst/>
          </a:prstGeom>
          <a:ln w="19050">
            <a:solidFill>
              <a:srgbClr val="1A8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720840" y="1280160"/>
            <a:ext cx="0" cy="1243584"/>
          </a:xfrm>
          <a:prstGeom prst="line">
            <a:avLst/>
          </a:prstGeom>
          <a:ln w="19050">
            <a:solidFill>
              <a:srgbClr val="1A8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101583" y="1042416"/>
            <a:ext cx="0" cy="192024"/>
          </a:xfrm>
          <a:prstGeom prst="line">
            <a:avLst/>
          </a:prstGeom>
          <a:ln w="19050">
            <a:solidFill>
              <a:srgbClr val="1A8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101583" y="1234440"/>
            <a:ext cx="2432305" cy="0"/>
          </a:xfrm>
          <a:prstGeom prst="line">
            <a:avLst/>
          </a:prstGeom>
          <a:ln w="19050">
            <a:solidFill>
              <a:srgbClr val="1A8A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533888" y="1234440"/>
            <a:ext cx="0" cy="576072"/>
          </a:xfrm>
          <a:prstGeom prst="line">
            <a:avLst/>
          </a:prstGeom>
          <a:ln w="19050">
            <a:solidFill>
              <a:srgbClr val="1A8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78992" y="2084831"/>
            <a:ext cx="237744" cy="566929"/>
          </a:xfrm>
          <a:prstGeom prst="line">
            <a:avLst/>
          </a:prstGeom>
          <a:ln w="1651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66928" y="2084831"/>
            <a:ext cx="0" cy="429769"/>
          </a:xfrm>
          <a:prstGeom prst="line">
            <a:avLst/>
          </a:prstGeom>
          <a:ln w="1397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66928" y="2084831"/>
            <a:ext cx="4297680" cy="0"/>
          </a:xfrm>
          <a:prstGeom prst="line">
            <a:avLst/>
          </a:prstGeom>
          <a:ln w="13970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78992" y="2651760"/>
            <a:ext cx="237744" cy="146303"/>
          </a:xfrm>
          <a:prstGeom prst="line">
            <a:avLst/>
          </a:prstGeom>
          <a:ln w="15240">
            <a:solidFill>
              <a:srgbClr val="77777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268980" y="5440680"/>
            <a:ext cx="0" cy="274320"/>
          </a:xfrm>
          <a:prstGeom prst="line">
            <a:avLst/>
          </a:prstGeom>
          <a:ln w="22860">
            <a:solidFill>
              <a:srgbClr val="2E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2907791" y="5440680"/>
            <a:ext cx="361189" cy="0"/>
          </a:xfrm>
          <a:prstGeom prst="line">
            <a:avLst/>
          </a:prstGeom>
          <a:ln w="22860">
            <a:solidFill>
              <a:srgbClr val="2E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907791" y="3072384"/>
            <a:ext cx="0" cy="2368296"/>
          </a:xfrm>
          <a:prstGeom prst="line">
            <a:avLst/>
          </a:prstGeom>
          <a:ln w="22860">
            <a:solidFill>
              <a:srgbClr val="2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303520" y="5440680"/>
            <a:ext cx="0" cy="27432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303520" y="5440680"/>
            <a:ext cx="1234440" cy="0"/>
          </a:xfrm>
          <a:prstGeom prst="line">
            <a:avLst/>
          </a:prstGeom>
          <a:ln w="1905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537960" y="3072384"/>
            <a:ext cx="0" cy="2368296"/>
          </a:xfrm>
          <a:prstGeom prst="line">
            <a:avLst/>
          </a:prstGeom>
          <a:ln w="19050">
            <a:solidFill>
              <a:srgbClr val="7B1F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315200" y="5440680"/>
            <a:ext cx="0" cy="274320"/>
          </a:xfrm>
          <a:prstGeom prst="line">
            <a:avLst/>
          </a:prstGeom>
          <a:ln w="19050">
            <a:solidFill>
              <a:srgbClr val="C84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6720840" y="5440680"/>
            <a:ext cx="594360" cy="0"/>
          </a:xfrm>
          <a:prstGeom prst="line">
            <a:avLst/>
          </a:prstGeom>
          <a:ln w="19050">
            <a:solidFill>
              <a:srgbClr val="C84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720840" y="3072384"/>
            <a:ext cx="0" cy="2368296"/>
          </a:xfrm>
          <a:prstGeom prst="line">
            <a:avLst/>
          </a:prstGeom>
          <a:ln w="19050">
            <a:solidFill>
              <a:srgbClr val="C84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EDF1F7"/>
          </a:solidFill>
          <a:ln w="6350">
            <a:solidFill>
              <a:srgbClr val="C8D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9728" y="663854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5A6A"/>
                </a:solidFill>
                <a:latin typeface="Calibri"/>
              </a:rPr>
              <a:t>Data Flow: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005840" y="6711696"/>
            <a:ext cx="256032" cy="0"/>
          </a:xfrm>
          <a:prstGeom prst="line">
            <a:avLst/>
          </a:prstGeom>
          <a:ln w="25400">
            <a:solidFill>
              <a:srgbClr val="1A56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307592" y="662940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MOTIF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395728" y="6711696"/>
            <a:ext cx="256032" cy="0"/>
          </a:xfrm>
          <a:prstGeom prst="line">
            <a:avLst/>
          </a:prstGeom>
          <a:ln w="25400">
            <a:solidFill>
              <a:srgbClr val="D472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2697480" y="662940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RADIAL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785616" y="6711696"/>
            <a:ext cx="256032" cy="0"/>
          </a:xfrm>
          <a:prstGeom prst="line">
            <a:avLst/>
          </a:prstGeom>
          <a:ln w="2540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087368" y="662940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SAP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175504" y="6711696"/>
            <a:ext cx="256032" cy="0"/>
          </a:xfrm>
          <a:prstGeom prst="line">
            <a:avLst/>
          </a:prstGeom>
          <a:ln w="25400">
            <a:solidFill>
              <a:srgbClr val="1A8A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5477256" y="662940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FLEX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6565392" y="6711696"/>
            <a:ext cx="256032" cy="0"/>
          </a:xfrm>
          <a:prstGeom prst="line">
            <a:avLst/>
          </a:prstGeom>
          <a:ln w="25400">
            <a:solidFill>
              <a:srgbClr val="2E8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867144" y="662940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GMIS/RAMP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7955279" y="6711696"/>
            <a:ext cx="256032" cy="0"/>
          </a:xfrm>
          <a:prstGeom prst="line">
            <a:avLst/>
          </a:prstGeom>
          <a:ln w="25400">
            <a:solidFill>
              <a:srgbClr val="7B1F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8257031" y="662940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BCE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9345168" y="6711696"/>
            <a:ext cx="256032" cy="0"/>
          </a:xfrm>
          <a:prstGeom prst="line">
            <a:avLst/>
          </a:prstGeom>
          <a:ln w="25400">
            <a:solidFill>
              <a:srgbClr val="C840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9646920" y="662940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FA Hub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735056" y="6711696"/>
            <a:ext cx="256032" cy="0"/>
          </a:xfrm>
          <a:prstGeom prst="line">
            <a:avLst/>
          </a:prstGeom>
          <a:ln w="25400">
            <a:solidFill>
              <a:srgbClr val="77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1036808" y="6629400"/>
            <a:ext cx="1051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A6A"/>
                </a:solidFill>
                <a:latin typeface="Calibri"/>
              </a:rPr>
              <a:t>FAS (API)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