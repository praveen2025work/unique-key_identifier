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36576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Finance Process Automation  —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83464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  <a:latin typeface="Calibri"/>
              </a:rPr>
              <a:t>Data Sources  ›  Backend API (FAS)  ›  Finance Portal &amp; 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37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99BB"/>
                </a:solidFill>
                <a:latin typeface="Calibri"/>
              </a:rPr>
              <a:t>CIO Briefing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Primary Accounting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RADIAL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Enriched Trial Balance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091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General Ledger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547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FLEX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Enriched Trial Balance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" y="1417320"/>
            <a:ext cx="7333488" cy="2852928"/>
          </a:xfrm>
          <a:prstGeom prst="rect">
            <a:avLst/>
          </a:prstGeom>
          <a:solidFill>
            <a:srgbClr val="EAF0FF">
              <a:alpha val="45000"/>
            </a:srgbClr>
          </a:solidFill>
          <a:ln w="2286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432" y="1417320"/>
            <a:ext cx="7333488" cy="310896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1435608"/>
            <a:ext cx="7333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Finance Portal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31936" y="1417320"/>
            <a:ext cx="3438144" cy="2852928"/>
          </a:xfrm>
          <a:prstGeom prst="rect">
            <a:avLst/>
          </a:prstGeom>
          <a:solidFill>
            <a:srgbClr val="FFF5E8">
              <a:alpha val="45000"/>
            </a:srgbClr>
          </a:solidFill>
          <a:ln w="22860">
            <a:solidFill>
              <a:srgbClr val="A0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31936" y="1417320"/>
            <a:ext cx="3438144" cy="310896"/>
          </a:xfrm>
          <a:prstGeom prst="rect">
            <a:avLst/>
          </a:prstGeom>
          <a:solidFill>
            <a:srgbClr val="A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1936" y="143560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6736" y="1810512"/>
            <a:ext cx="340156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16736" y="1810512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1856231"/>
            <a:ext cx="3273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Playpen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9888" y="2084831"/>
            <a:ext cx="32735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8176" y="2093976"/>
            <a:ext cx="3273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FAS · MOTIF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4608" y="1810512"/>
            <a:ext cx="349300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64608" y="1810512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1856231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RecFactory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084831"/>
            <a:ext cx="3364991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2093976"/>
            <a:ext cx="33649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MOTIF · FAS · RADIAL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16736" y="2423160"/>
            <a:ext cx="340156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16736" y="2423160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8176" y="2468879"/>
            <a:ext cx="3273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Workflow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89888" y="2697479"/>
            <a:ext cx="32735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8176" y="2706624"/>
            <a:ext cx="3273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FAS · GMIS/RAMP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64608" y="2423160"/>
            <a:ext cx="349300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64608" y="2423160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2468879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Analytical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2697479"/>
            <a:ext cx="3364991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56048" y="2706624"/>
            <a:ext cx="33649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BCE · FLEX · SAP · FA Hub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16736" y="3035808"/>
            <a:ext cx="704088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316736" y="3035808"/>
            <a:ext cx="50292" cy="548640"/>
          </a:xfrm>
          <a:prstGeom prst="rect">
            <a:avLst/>
          </a:prstGeom>
          <a:solidFill>
            <a:srgbClr val="7B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8176" y="3081527"/>
            <a:ext cx="6912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TB-BB Exception Hub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89888" y="3310127"/>
            <a:ext cx="6912864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08176" y="3319272"/>
            <a:ext cx="6912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Finstore / EDP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16736" y="3566160"/>
            <a:ext cx="7040880" cy="9144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16736" y="36027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949AB"/>
                </a:solidFill>
                <a:latin typeface="Calibri"/>
              </a:rPr>
              <a:t>Finance Portal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9736" y="3602736"/>
            <a:ext cx="5916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Unified web portal providing reconciliation, adjustment, workflow automation, AI-assisted analytical review and TB-BB exception management.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1810512"/>
            <a:ext cx="3145536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78240" y="1810512"/>
            <a:ext cx="50292" cy="548640"/>
          </a:xfrm>
          <a:prstGeom prst="rect">
            <a:avLst/>
          </a:prstGeom>
          <a:solidFill>
            <a:srgbClr val="B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1856231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IFRS 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51392" y="2084831"/>
            <a:ext cx="3017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2093976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RADIAL · FLEX · SAP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423160"/>
            <a:ext cx="3145536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778240" y="2423160"/>
            <a:ext cx="50292" cy="548640"/>
          </a:xfrm>
          <a:prstGeom prst="rect">
            <a:avLst/>
          </a:prstGeom>
          <a:solidFill>
            <a:srgbClr val="B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24688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MAW / FCPA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51392" y="2697479"/>
            <a:ext cx="3017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69680" y="2706624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RADIAL · FLEX · SAP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0" y="3035808"/>
            <a:ext cx="3145536" cy="9144"/>
          </a:xfrm>
          <a:prstGeom prst="rect">
            <a:avLst/>
          </a:prstGeom>
          <a:solidFill>
            <a:srgbClr val="D8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30723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5010"/>
                </a:solidFill>
                <a:latin typeface="Calibri"/>
              </a:rPr>
              <a:t>FORT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3264408"/>
            <a:ext cx="3145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Financial Operations Reporting Tool — statutory &amp; regulatory reporting.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78240" y="3566160"/>
            <a:ext cx="3145536" cy="9144"/>
          </a:xfrm>
          <a:prstGeom prst="rect">
            <a:avLst/>
          </a:prstGeom>
          <a:solidFill>
            <a:srgbClr val="D8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0" y="36027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5010"/>
                </a:solidFill>
                <a:latin typeface="Calibri"/>
              </a:rPr>
              <a:t>Key Capabilities: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8240" y="3794760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Fair Value Measurement  ·  IFRS 13 Reporting  ·  Transfer Pricing  ·  EUDA Remediation  ·  Netting Automation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" y="2176272"/>
            <a:ext cx="102412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864" y="2176272"/>
            <a:ext cx="1024128" cy="23774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" y="2176272"/>
            <a:ext cx="1024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" y="2432304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4444"/>
                </a:solidFill>
                <a:latin typeface="Calibri"/>
              </a:rPr>
              <a:t>Backend
Service API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04288" y="5074920"/>
            <a:ext cx="1426464" cy="548640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04288" y="5102352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GMIS/RAMP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04288" y="5349240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Risk &amp; Mgmt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50791" y="5074920"/>
            <a:ext cx="1572768" cy="548640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50791" y="5102352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Finstore / EDP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50791" y="5349240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Enterprise Data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07024" y="5074920"/>
            <a:ext cx="1426464" cy="548640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07024" y="5102352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07024" y="5349240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Consolidation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16368" y="5074920"/>
            <a:ext cx="1426464" cy="548640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16368" y="5102352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FA Hub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16368" y="5349240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Banking Book TB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408176" y="1042416"/>
            <a:ext cx="0" cy="237744"/>
          </a:xfrm>
          <a:prstGeom prst="line">
            <a:avLst/>
          </a:prstGeom>
          <a:ln w="22860">
            <a:solidFill>
              <a:srgbClr val="1A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408176" y="1280160"/>
            <a:ext cx="1499615" cy="0"/>
          </a:xfrm>
          <a:prstGeom prst="line">
            <a:avLst/>
          </a:prstGeom>
          <a:ln w="22860">
            <a:solidFill>
              <a:srgbClr val="1A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07791" y="1280160"/>
            <a:ext cx="0" cy="530352"/>
          </a:xfrm>
          <a:prstGeom prst="line">
            <a:avLst/>
          </a:prstGeom>
          <a:ln w="22860">
            <a:solidFill>
              <a:srgbClr val="1A56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517904" y="1042416"/>
            <a:ext cx="0" cy="192024"/>
          </a:xfrm>
          <a:prstGeom prst="line">
            <a:avLst/>
          </a:prstGeom>
          <a:ln w="15240">
            <a:solidFill>
              <a:srgbClr val="1A56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517904" y="1234440"/>
            <a:ext cx="4864608" cy="0"/>
          </a:xfrm>
          <a:prstGeom prst="line">
            <a:avLst/>
          </a:prstGeom>
          <a:ln w="15240">
            <a:solidFill>
              <a:srgbClr val="1A56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382512" y="1234440"/>
            <a:ext cx="0" cy="576072"/>
          </a:xfrm>
          <a:prstGeom prst="line">
            <a:avLst/>
          </a:prstGeom>
          <a:ln w="15240">
            <a:solidFill>
              <a:srgbClr val="1A56A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602736" y="1042416"/>
            <a:ext cx="0" cy="237744"/>
          </a:xfrm>
          <a:prstGeom prst="line">
            <a:avLst/>
          </a:prstGeom>
          <a:ln w="2286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602736" y="1280160"/>
            <a:ext cx="3008376" cy="0"/>
          </a:xfrm>
          <a:prstGeom prst="line">
            <a:avLst/>
          </a:prstGeom>
          <a:ln w="2286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611112" y="1280160"/>
            <a:ext cx="0" cy="530352"/>
          </a:xfrm>
          <a:prstGeom prst="line">
            <a:avLst/>
          </a:prstGeom>
          <a:ln w="22860">
            <a:solidFill>
              <a:srgbClr val="D472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712463" y="1042416"/>
            <a:ext cx="0" cy="192024"/>
          </a:xfrm>
          <a:prstGeom prst="line">
            <a:avLst/>
          </a:prstGeom>
          <a:ln w="1905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712463" y="1234440"/>
            <a:ext cx="6455665" cy="0"/>
          </a:xfrm>
          <a:prstGeom prst="line">
            <a:avLst/>
          </a:prstGeom>
          <a:ln w="1905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168128" y="1234440"/>
            <a:ext cx="0" cy="576072"/>
          </a:xfrm>
          <a:prstGeom prst="line">
            <a:avLst/>
          </a:prstGeom>
          <a:ln w="19050">
            <a:solidFill>
              <a:srgbClr val="D472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797296" y="1042416"/>
            <a:ext cx="0" cy="237744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797296" y="1280160"/>
            <a:ext cx="704088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501384" y="1280160"/>
            <a:ext cx="0" cy="114300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907024" y="1042416"/>
            <a:ext cx="0" cy="192024"/>
          </a:xfrm>
          <a:prstGeom prst="line">
            <a:avLst/>
          </a:prstGeom>
          <a:ln w="1524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907024" y="1234440"/>
            <a:ext cx="4443984" cy="0"/>
          </a:xfrm>
          <a:prstGeom prst="line">
            <a:avLst/>
          </a:prstGeom>
          <a:ln w="1524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351008" y="1234440"/>
            <a:ext cx="0" cy="576072"/>
          </a:xfrm>
          <a:prstGeom prst="line">
            <a:avLst/>
          </a:prstGeom>
          <a:ln w="15240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91856" y="1042416"/>
            <a:ext cx="0" cy="237744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6720840" y="1280160"/>
            <a:ext cx="1271016" cy="0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720840" y="1280160"/>
            <a:ext cx="0" cy="1143000"/>
          </a:xfrm>
          <a:prstGeom prst="line">
            <a:avLst/>
          </a:prstGeom>
          <a:ln w="19050">
            <a:solidFill>
              <a:srgbClr val="1A8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101583" y="1042416"/>
            <a:ext cx="0" cy="192024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101583" y="1234440"/>
            <a:ext cx="2432305" cy="0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533888" y="1234440"/>
            <a:ext cx="0" cy="576072"/>
          </a:xfrm>
          <a:prstGeom prst="line">
            <a:avLst/>
          </a:prstGeom>
          <a:ln w="19050">
            <a:solidFill>
              <a:srgbClr val="1A8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837176" y="4846320"/>
            <a:ext cx="0" cy="228600"/>
          </a:xfrm>
          <a:prstGeom prst="line">
            <a:avLst/>
          </a:prstGeom>
          <a:ln w="25400">
            <a:solidFill>
              <a:srgbClr val="1A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837176" y="3584448"/>
            <a:ext cx="0" cy="1261872"/>
          </a:xfrm>
          <a:prstGeom prst="line">
            <a:avLst/>
          </a:prstGeom>
          <a:ln w="25400">
            <a:solidFill>
              <a:srgbClr val="1A56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78992" y="2084831"/>
            <a:ext cx="237744" cy="566929"/>
          </a:xfrm>
          <a:prstGeom prst="line">
            <a:avLst/>
          </a:prstGeom>
          <a:ln w="1651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66928" y="2084831"/>
            <a:ext cx="0" cy="429769"/>
          </a:xfrm>
          <a:prstGeom prst="line">
            <a:avLst/>
          </a:prstGeom>
          <a:ln w="1397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66928" y="2084831"/>
            <a:ext cx="4297680" cy="0"/>
          </a:xfrm>
          <a:prstGeom prst="line">
            <a:avLst/>
          </a:prstGeom>
          <a:ln w="1397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78992" y="2651760"/>
            <a:ext cx="237744" cy="45719"/>
          </a:xfrm>
          <a:prstGeom prst="line">
            <a:avLst/>
          </a:prstGeom>
          <a:ln w="15240">
            <a:solidFill>
              <a:srgbClr val="77777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017520" y="4846320"/>
            <a:ext cx="0" cy="228600"/>
          </a:xfrm>
          <a:prstGeom prst="line">
            <a:avLst/>
          </a:prstGeom>
          <a:ln w="22860">
            <a:solidFill>
              <a:srgbClr val="2E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2907791" y="4846320"/>
            <a:ext cx="109729" cy="0"/>
          </a:xfrm>
          <a:prstGeom prst="line">
            <a:avLst/>
          </a:prstGeom>
          <a:ln w="22860">
            <a:solidFill>
              <a:srgbClr val="2E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907791" y="2971800"/>
            <a:ext cx="0" cy="1874520"/>
          </a:xfrm>
          <a:prstGeom prst="line">
            <a:avLst/>
          </a:prstGeom>
          <a:ln w="22860">
            <a:solidFill>
              <a:srgbClr val="2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20256" y="4846320"/>
            <a:ext cx="0" cy="22860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6537960" y="4846320"/>
            <a:ext cx="82296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537960" y="2971800"/>
            <a:ext cx="0" cy="1874520"/>
          </a:xfrm>
          <a:prstGeom prst="line">
            <a:avLst/>
          </a:prstGeom>
          <a:ln w="19050">
            <a:solidFill>
              <a:srgbClr val="7B1F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229600" y="4846320"/>
            <a:ext cx="0" cy="228600"/>
          </a:xfrm>
          <a:prstGeom prst="line">
            <a:avLst/>
          </a:prstGeom>
          <a:ln w="19050">
            <a:solidFill>
              <a:srgbClr val="C84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6720840" y="4846320"/>
            <a:ext cx="1508760" cy="0"/>
          </a:xfrm>
          <a:prstGeom prst="line">
            <a:avLst/>
          </a:prstGeom>
          <a:ln w="19050">
            <a:solidFill>
              <a:srgbClr val="C84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720840" y="2971800"/>
            <a:ext cx="0" cy="1874520"/>
          </a:xfrm>
          <a:prstGeom prst="line">
            <a:avLst/>
          </a:prstGeom>
          <a:ln w="19050">
            <a:solidFill>
              <a:srgbClr val="C84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EDF1F7"/>
          </a:solidFill>
          <a:ln w="6350">
            <a:solidFill>
              <a:srgbClr val="C8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9728" y="6291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6A"/>
                </a:solidFill>
                <a:latin typeface="Calibri"/>
              </a:rPr>
              <a:t>Data Flow: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37160" y="6364224"/>
            <a:ext cx="219456" cy="0"/>
          </a:xfrm>
          <a:prstGeom prst="line">
            <a:avLst/>
          </a:prstGeom>
          <a:ln w="25400">
            <a:solidFill>
              <a:srgbClr val="1A56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393192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MOTIF / Finstore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472184" y="6364224"/>
            <a:ext cx="219455" cy="0"/>
          </a:xfrm>
          <a:prstGeom prst="line">
            <a:avLst/>
          </a:prstGeom>
          <a:ln w="25400">
            <a:solidFill>
              <a:srgbClr val="D472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728216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RADIAL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2807208" y="6364224"/>
            <a:ext cx="219455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3063239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SAP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4142232" y="6364224"/>
            <a:ext cx="219456" cy="0"/>
          </a:xfrm>
          <a:prstGeom prst="line">
            <a:avLst/>
          </a:prstGeom>
          <a:ln w="25400">
            <a:solidFill>
              <a:srgbClr val="1A8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398264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FLEX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477256" y="6364224"/>
            <a:ext cx="219456" cy="0"/>
          </a:xfrm>
          <a:prstGeom prst="line">
            <a:avLst/>
          </a:prstGeom>
          <a:ln w="25400">
            <a:solidFill>
              <a:srgbClr val="2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733288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GMIS/RAMP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6812280" y="6364224"/>
            <a:ext cx="219456" cy="0"/>
          </a:xfrm>
          <a:prstGeom prst="line">
            <a:avLst/>
          </a:prstGeom>
          <a:ln w="25400">
            <a:solidFill>
              <a:srgbClr val="7B1F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7068312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BCE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8147304" y="6364224"/>
            <a:ext cx="219456" cy="0"/>
          </a:xfrm>
          <a:prstGeom prst="line">
            <a:avLst/>
          </a:prstGeom>
          <a:ln w="25400">
            <a:solidFill>
              <a:srgbClr val="C84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8403336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FA Hub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9482328" y="6364224"/>
            <a:ext cx="219456" cy="0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9738359" y="6281928"/>
            <a:ext cx="1042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FAS (API)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