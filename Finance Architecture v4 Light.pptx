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6692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Process Automation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" y="33832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</a:rPr>
              <a:t>System Architecture  —  Data Flow &amp; Connections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418320" y="1828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99BB"/>
                </a:solidFill>
              </a:rPr>
              <a:t>CIO Briefing  |  Confidential – Internal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658368"/>
            <a:ext cx="11521440" cy="1188720"/>
          </a:xfrm>
          <a:prstGeom prst="rect">
            <a:avLst/>
          </a:prstGeom>
          <a:solidFill>
            <a:srgbClr val="BBDEFB">
              <a:alpha val="40000"/>
            </a:srgbClr>
          </a:solidFill>
          <a:ln w="6350">
            <a:solidFill>
              <a:srgbClr val="90CAF9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20240"/>
            <a:ext cx="11521440" cy="2761488"/>
          </a:xfrm>
          <a:prstGeom prst="rect">
            <a:avLst/>
          </a:prstGeom>
          <a:solidFill>
            <a:srgbClr val="E8EAF6">
              <a:alpha val="40000"/>
            </a:srgbClr>
          </a:solidFill>
          <a:ln w="6350">
            <a:solidFill>
              <a:srgbClr val="9FA8DA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4754880"/>
            <a:ext cx="11521440" cy="1234440"/>
          </a:xfrm>
          <a:prstGeom prst="rect">
            <a:avLst/>
          </a:prstGeom>
          <a:solidFill>
            <a:srgbClr val="E8F5E9">
              <a:alpha val="40000"/>
            </a:srgbClr>
          </a:solidFill>
          <a:ln w="6350">
            <a:solidFill>
              <a:srgbClr val="A5D6A7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58368"/>
            <a:ext cx="566928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 rot="16200000">
            <a:off x="0" y="658368"/>
            <a:ext cx="56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SOURCE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SYSTEMS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0" y="1920240"/>
            <a:ext cx="566928" cy="2761488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 rot="16200000">
            <a:off x="0" y="1920240"/>
            <a:ext cx="56692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PROCESSING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&amp; AUTOMATION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0" y="4754880"/>
            <a:ext cx="566928" cy="12344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 rot="16200000">
            <a:off x="0" y="4754880"/>
            <a:ext cx="566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REPORTING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&amp; ANALYTICS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640080" y="713232"/>
            <a:ext cx="2651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713232"/>
            <a:ext cx="2651760" cy="382219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786384"/>
            <a:ext cx="246888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MOTIF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1141171"/>
            <a:ext cx="246888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Primary Accounting · Securities · Derivatives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Repos · GL Mapping · Netting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429000" y="713232"/>
            <a:ext cx="14173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29000" y="713232"/>
            <a:ext cx="1417320" cy="382219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786384"/>
            <a:ext cx="123444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RADIAL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20440" y="1141171"/>
            <a:ext cx="123444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Enriched Trial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Balance (TETB)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983480" y="713232"/>
            <a:ext cx="14173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83480" y="713232"/>
            <a:ext cx="1417320" cy="382219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786384"/>
            <a:ext cx="123444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FLEX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4920" y="1141171"/>
            <a:ext cx="123444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Enriched Trial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Balance (TETB)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537960" y="713232"/>
            <a:ext cx="14173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37960" y="713232"/>
            <a:ext cx="1417320" cy="382219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786384"/>
            <a:ext cx="123444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29400" y="1141171"/>
            <a:ext cx="123444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General Ledger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&amp; Hierarchies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8092440" y="713232"/>
            <a:ext cx="37490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92440" y="713232"/>
            <a:ext cx="3749040" cy="382219"/>
          </a:xfrm>
          <a:prstGeom prst="rect">
            <a:avLst/>
          </a:prstGeom>
          <a:solidFill>
            <a:srgbClr val="512DA8"/>
          </a:solidFill>
          <a:ln w="12700">
            <a:solidFill>
              <a:srgbClr val="512D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786384"/>
            <a:ext cx="3566160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ORACLE / SQL Server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183880" y="1141171"/>
            <a:ext cx="356616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Central DB · Primary Storage Platform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Used by all downstream finance tools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40080" y="1993392"/>
            <a:ext cx="21945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" y="1993392"/>
            <a:ext cx="2194560" cy="3474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20665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FOBO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1520" y="238658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Reconciliation Services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&amp; Controls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971800" y="1993392"/>
            <a:ext cx="2743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971800" y="1993392"/>
            <a:ext cx="274320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63240" y="20665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MAW / FCPA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063240" y="2386584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Monthly Automation · Netting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Transfer Pricing &amp; EUDA Remediation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852160" y="1993392"/>
            <a:ext cx="21488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852160" y="1993392"/>
            <a:ext cx="214884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0" y="20665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IFRS 13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943600" y="2386584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Fair Value Measurement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Reporting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8138160" y="1993392"/>
            <a:ext cx="37033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138160" y="1993392"/>
            <a:ext cx="370332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0" y="20665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Workflow Engine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229600" y="2386584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FAS · GMIS · RAMP · Daily PNL · Netting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PCV · FCA · Auditing · Attestation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40080" y="3017520"/>
            <a:ext cx="21945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40080" y="3017520"/>
            <a:ext cx="2194560" cy="305775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" y="3090672"/>
            <a:ext cx="2011680" cy="21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31520" y="3369015"/>
            <a:ext cx="2011680" cy="42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Daily PnL Process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Automation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971800" y="3017520"/>
            <a:ext cx="21945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971800" y="3017520"/>
            <a:ext cx="2194560" cy="305775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63240" y="3090672"/>
            <a:ext cx="2011680" cy="21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Playpen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063240" y="3369015"/>
            <a:ext cx="2011680" cy="42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Unified UX · Adjustment Posting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&amp; Data Analysis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303520" y="3017520"/>
            <a:ext cx="269748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303520" y="3017520"/>
            <a:ext cx="2697480" cy="305775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4960" y="3090672"/>
            <a:ext cx="2514600" cy="21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FIRE (ETL)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394960" y="3369015"/>
            <a:ext cx="2514600" cy="42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In-house ETL · Radial · CDI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GNF · Oracle · Alpaca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8138160" y="3017520"/>
            <a:ext cx="370332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FF8F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8138160" y="3017520"/>
            <a:ext cx="3703320" cy="305775"/>
          </a:xfrm>
          <a:prstGeom prst="rect">
            <a:avLst/>
          </a:prstGeom>
          <a:solidFill>
            <a:srgbClr val="546E7A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927080" y="3063240"/>
            <a:ext cx="868680" cy="173736"/>
          </a:xfrm>
          <a:prstGeom prst="rect">
            <a:avLst/>
          </a:prstGeom>
          <a:solidFill>
            <a:srgbClr val="FFF3E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927080" y="3063240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65100"/>
                </a:solidFill>
              </a:rPr>
              <a:t>🚧 IN PROGRESS</a:t>
            </a:r>
            <a:endParaRPr lang="en-US" sz="550" dirty="0"/>
          </a:p>
        </p:txBody>
      </p:sp>
      <p:sp>
        <p:nvSpPr>
          <p:cNvPr id="68" name="Text 66"/>
          <p:cNvSpPr/>
          <p:nvPr/>
        </p:nvSpPr>
        <p:spPr>
          <a:xfrm>
            <a:off x="8229600" y="3090672"/>
            <a:ext cx="2679192" cy="21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Download Center 3.0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229600" y="3369015"/>
            <a:ext cx="3520440" cy="42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65100"/>
                </a:solidFill>
              </a:rPr>
              <a:t>Multi-file extract/upload · Schedule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65100"/>
                </a:solidFill>
              </a:rPr>
              <a:t>Share · Grid &amp; Pivot — New Framework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640080" y="3931920"/>
            <a:ext cx="1645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40080" y="3931920"/>
            <a:ext cx="1645920" cy="27102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1520" y="4005072"/>
            <a:ext cx="1463040" cy="17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BCE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31520" y="4248668"/>
            <a:ext cx="1463040" cy="369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Consolidation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Ledger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2423160" y="3931920"/>
            <a:ext cx="1645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2423160" y="3931920"/>
            <a:ext cx="1645920" cy="271028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514600" y="4005072"/>
            <a:ext cx="1463040" cy="17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FAHUB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2514600" y="4248668"/>
            <a:ext cx="1463040" cy="369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Banking Book TB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4206240" y="3931920"/>
            <a:ext cx="1645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4206240" y="3931920"/>
            <a:ext cx="1645920" cy="2710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97680" y="4005072"/>
            <a:ext cx="1463040" cy="17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Optimus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4297680" y="4248668"/>
            <a:ext cx="1463040" cy="369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Granular Trail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Balance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5989320" y="3931920"/>
            <a:ext cx="201168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FF8F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5989320" y="3931920"/>
            <a:ext cx="2011680" cy="271028"/>
          </a:xfrm>
          <a:prstGeom prst="rect">
            <a:avLst/>
          </a:prstGeom>
          <a:solidFill>
            <a:srgbClr val="0277BD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086600" y="3977640"/>
            <a:ext cx="868680" cy="173736"/>
          </a:xfrm>
          <a:prstGeom prst="rect">
            <a:avLst/>
          </a:prstGeom>
          <a:solidFill>
            <a:srgbClr val="FFF3E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086600" y="3977640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65100"/>
                </a:solidFill>
              </a:rPr>
              <a:t>🚧 IN PROGRESS</a:t>
            </a:r>
            <a:endParaRPr lang="en-US" sz="550" dirty="0"/>
          </a:p>
        </p:txBody>
      </p:sp>
      <p:sp>
        <p:nvSpPr>
          <p:cNvPr id="86" name="Text 84"/>
          <p:cNvSpPr/>
          <p:nvPr/>
        </p:nvSpPr>
        <p:spPr>
          <a:xfrm>
            <a:off x="6080760" y="4005072"/>
            <a:ext cx="987552" cy="17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STEPS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080760" y="4248668"/>
            <a:ext cx="1828800" cy="369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65100"/>
                </a:solidFill>
              </a:rPr>
              <a:t>Extended Workflow Platform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65100"/>
                </a:solidFill>
              </a:rPr>
              <a:t>Cross-group — New Framework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8138160" y="3931920"/>
            <a:ext cx="37033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8138160" y="3931920"/>
            <a:ext cx="3703320" cy="2710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229600" y="4005072"/>
            <a:ext cx="3520440" cy="17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SAP Download Automation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229600" y="4248668"/>
            <a:ext cx="3520440" cy="369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ME Balance · Daily Line Items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RDM Static Datasets → Central DB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640080" y="4800600"/>
            <a:ext cx="17830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640080" y="4800600"/>
            <a:ext cx="178308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31520" y="48737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Analytical Review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731520" y="523036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AI-assisted P&amp;L Commentary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Balance Sheet · Financial Exposures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514600" y="4800600"/>
            <a:ext cx="17830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2514600" y="4800600"/>
            <a:ext cx="178308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606040" y="48737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FinPortal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2606040" y="523036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Unified UI · All FC &amp; PC Apps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Rainbow Framework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4389120" y="4800600"/>
            <a:ext cx="17830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4389120" y="4800600"/>
            <a:ext cx="1783080" cy="38404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480560" y="48737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FastTrack Suite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4480560" y="523036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End-to-End UAT · Regression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Test Suites · Data Validation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6263640" y="4800600"/>
            <a:ext cx="17830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6263640" y="4800600"/>
            <a:ext cx="1783080" cy="38404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355080" y="48737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CC-Hub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6355080" y="523036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Data Verification &amp;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Certification Framework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8138160" y="4800600"/>
            <a:ext cx="17830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8138160" y="4800600"/>
            <a:ext cx="1783080" cy="3840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229600" y="48737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FCheck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8229600" y="523036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High-Volume Feed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Comparison &amp; Certification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10012680" y="4800600"/>
            <a:ext cx="1828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3" name="Shape 111"/>
          <p:cNvSpPr/>
          <p:nvPr/>
        </p:nvSpPr>
        <p:spPr>
          <a:xfrm>
            <a:off x="10012680" y="4800600"/>
            <a:ext cx="1828800" cy="384048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1183112" y="4846320"/>
            <a:ext cx="612648" cy="173736"/>
          </a:xfrm>
          <a:prstGeom prst="rect">
            <a:avLst/>
          </a:prstGeom>
          <a:solidFill>
            <a:srgbClr val="E8F5E9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1183112" y="4846320"/>
            <a:ext cx="612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88E3C"/>
                </a:solidFill>
              </a:rPr>
              <a:t>✦ NEW</a:t>
            </a:r>
            <a:endParaRPr lang="en-US" sz="600" dirty="0"/>
          </a:p>
        </p:txBody>
      </p:sp>
      <p:sp>
        <p:nvSpPr>
          <p:cNvPr id="116" name="Text 114"/>
          <p:cNvSpPr/>
          <p:nvPr/>
        </p:nvSpPr>
        <p:spPr>
          <a:xfrm>
            <a:off x="10104120" y="4873752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FAST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10104120" y="523036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Finance Acceleration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Support Team · New App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A6B7C"/>
                </a:solidFill>
              </a:rPr>
              <a:t>Prod Issue Resolution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1463040" y="1719072"/>
            <a:ext cx="0" cy="274320"/>
          </a:xfrm>
          <a:prstGeom prst="line">
            <a:avLst/>
          </a:prstGeom>
          <a:noFill/>
          <a:ln w="19050">
            <a:solidFill>
              <a:srgbClr val="1976D2"/>
            </a:solidFill>
            <a:prstDash val="solid"/>
            <a:tailEnd type="triangle"/>
          </a:ln>
        </p:spPr>
      </p:sp>
      <p:sp>
        <p:nvSpPr>
          <p:cNvPr id="119" name="Shape 117"/>
          <p:cNvSpPr/>
          <p:nvPr/>
        </p:nvSpPr>
        <p:spPr>
          <a:xfrm>
            <a:off x="2011680" y="1719072"/>
            <a:ext cx="0" cy="137160"/>
          </a:xfrm>
          <a:prstGeom prst="line">
            <a:avLst/>
          </a:prstGeom>
          <a:noFill/>
          <a:ln w="12700">
            <a:solidFill>
              <a:srgbClr val="1976D2"/>
            </a:solidFill>
            <a:prstDash val="dash"/>
          </a:ln>
        </p:spPr>
      </p:sp>
      <p:sp>
        <p:nvSpPr>
          <p:cNvPr id="120" name="Shape 118"/>
          <p:cNvSpPr/>
          <p:nvPr/>
        </p:nvSpPr>
        <p:spPr>
          <a:xfrm>
            <a:off x="2011680" y="1856232"/>
            <a:ext cx="1645920" cy="0"/>
          </a:xfrm>
          <a:prstGeom prst="line">
            <a:avLst/>
          </a:prstGeom>
          <a:noFill/>
          <a:ln w="12700">
            <a:solidFill>
              <a:srgbClr val="1976D2"/>
            </a:solidFill>
            <a:prstDash val="dash"/>
          </a:ln>
        </p:spPr>
      </p:sp>
      <p:sp>
        <p:nvSpPr>
          <p:cNvPr id="121" name="Shape 119"/>
          <p:cNvSpPr/>
          <p:nvPr/>
        </p:nvSpPr>
        <p:spPr>
          <a:xfrm>
            <a:off x="3657600" y="1856232"/>
            <a:ext cx="0" cy="137160"/>
          </a:xfrm>
          <a:prstGeom prst="line">
            <a:avLst/>
          </a:prstGeom>
          <a:noFill/>
          <a:ln w="12700">
            <a:solidFill>
              <a:srgbClr val="1976D2"/>
            </a:solidFill>
            <a:prstDash val="dash"/>
            <a:tailEnd type="triangle"/>
          </a:ln>
        </p:spPr>
      </p:sp>
      <p:sp>
        <p:nvSpPr>
          <p:cNvPr id="122" name="Shape 120"/>
          <p:cNvSpPr/>
          <p:nvPr/>
        </p:nvSpPr>
        <p:spPr>
          <a:xfrm>
            <a:off x="4114800" y="1719072"/>
            <a:ext cx="0" cy="274320"/>
          </a:xfrm>
          <a:prstGeom prst="line">
            <a:avLst/>
          </a:prstGeom>
          <a:noFill/>
          <a:ln w="19050">
            <a:solidFill>
              <a:srgbClr val="00838F"/>
            </a:solidFill>
            <a:prstDash val="solid"/>
            <a:tailEnd type="triangle"/>
          </a:ln>
        </p:spPr>
      </p:sp>
      <p:sp>
        <p:nvSpPr>
          <p:cNvPr id="123" name="Shape 121"/>
          <p:cNvSpPr/>
          <p:nvPr/>
        </p:nvSpPr>
        <p:spPr>
          <a:xfrm>
            <a:off x="5669280" y="1719072"/>
            <a:ext cx="0" cy="137160"/>
          </a:xfrm>
          <a:prstGeom prst="line">
            <a:avLst/>
          </a:prstGeom>
          <a:noFill/>
          <a:ln w="12700">
            <a:solidFill>
              <a:srgbClr val="00838F"/>
            </a:solidFill>
            <a:prstDash val="dash"/>
          </a:ln>
        </p:spPr>
      </p:sp>
      <p:sp>
        <p:nvSpPr>
          <p:cNvPr id="124" name="Shape 122"/>
          <p:cNvSpPr/>
          <p:nvPr/>
        </p:nvSpPr>
        <p:spPr>
          <a:xfrm>
            <a:off x="4754880" y="1856232"/>
            <a:ext cx="914400" cy="0"/>
          </a:xfrm>
          <a:prstGeom prst="line">
            <a:avLst/>
          </a:prstGeom>
          <a:noFill/>
          <a:ln w="12700">
            <a:solidFill>
              <a:srgbClr val="00838F"/>
            </a:solidFill>
            <a:prstDash val="dash"/>
          </a:ln>
        </p:spPr>
      </p:sp>
      <p:sp>
        <p:nvSpPr>
          <p:cNvPr id="125" name="Shape 123"/>
          <p:cNvSpPr/>
          <p:nvPr/>
        </p:nvSpPr>
        <p:spPr>
          <a:xfrm>
            <a:off x="4754880" y="1856232"/>
            <a:ext cx="0" cy="137160"/>
          </a:xfrm>
          <a:prstGeom prst="line">
            <a:avLst/>
          </a:prstGeom>
          <a:noFill/>
          <a:ln w="12700">
            <a:solidFill>
              <a:srgbClr val="00838F"/>
            </a:solidFill>
            <a:prstDash val="dash"/>
            <a:tailEnd type="triangle"/>
          </a:ln>
        </p:spPr>
      </p:sp>
      <p:sp>
        <p:nvSpPr>
          <p:cNvPr id="126" name="Shape 124"/>
          <p:cNvSpPr/>
          <p:nvPr/>
        </p:nvSpPr>
        <p:spPr>
          <a:xfrm>
            <a:off x="7223760" y="1719072"/>
            <a:ext cx="0" cy="137160"/>
          </a:xfrm>
          <a:prstGeom prst="line">
            <a:avLst/>
          </a:prstGeom>
          <a:noFill/>
          <a:ln w="12700">
            <a:solidFill>
              <a:srgbClr val="546E7A"/>
            </a:solidFill>
            <a:prstDash val="dash"/>
          </a:ln>
        </p:spPr>
      </p:sp>
      <p:sp>
        <p:nvSpPr>
          <p:cNvPr id="127" name="Shape 125"/>
          <p:cNvSpPr/>
          <p:nvPr/>
        </p:nvSpPr>
        <p:spPr>
          <a:xfrm>
            <a:off x="1737360" y="1856232"/>
            <a:ext cx="5486400" cy="0"/>
          </a:xfrm>
          <a:prstGeom prst="line">
            <a:avLst/>
          </a:prstGeom>
          <a:noFill/>
          <a:ln w="12700">
            <a:solidFill>
              <a:srgbClr val="546E7A"/>
            </a:solidFill>
            <a:prstDash val="dash"/>
          </a:ln>
        </p:spPr>
      </p:sp>
      <p:sp>
        <p:nvSpPr>
          <p:cNvPr id="128" name="Shape 126"/>
          <p:cNvSpPr/>
          <p:nvPr/>
        </p:nvSpPr>
        <p:spPr>
          <a:xfrm>
            <a:off x="1737360" y="1856232"/>
            <a:ext cx="0" cy="137160"/>
          </a:xfrm>
          <a:prstGeom prst="line">
            <a:avLst/>
          </a:prstGeom>
          <a:noFill/>
          <a:ln w="12700">
            <a:solidFill>
              <a:srgbClr val="546E7A"/>
            </a:solidFill>
            <a:prstDash val="dash"/>
            <a:tailEnd type="triangle"/>
          </a:ln>
        </p:spPr>
      </p:sp>
      <p:sp>
        <p:nvSpPr>
          <p:cNvPr id="129" name="Shape 127"/>
          <p:cNvSpPr/>
          <p:nvPr/>
        </p:nvSpPr>
        <p:spPr>
          <a:xfrm>
            <a:off x="7315200" y="1719072"/>
            <a:ext cx="0" cy="137160"/>
          </a:xfrm>
          <a:prstGeom prst="line">
            <a:avLst/>
          </a:prstGeom>
          <a:noFill/>
          <a:ln w="12700">
            <a:solidFill>
              <a:srgbClr val="546E7A"/>
            </a:solidFill>
            <a:prstDash val="dash"/>
          </a:ln>
        </p:spPr>
      </p:sp>
      <p:sp>
        <p:nvSpPr>
          <p:cNvPr id="130" name="Shape 128"/>
          <p:cNvSpPr/>
          <p:nvPr/>
        </p:nvSpPr>
        <p:spPr>
          <a:xfrm>
            <a:off x="7315200" y="1856232"/>
            <a:ext cx="1645920" cy="0"/>
          </a:xfrm>
          <a:prstGeom prst="line">
            <a:avLst/>
          </a:prstGeom>
          <a:noFill/>
          <a:ln w="12700">
            <a:solidFill>
              <a:srgbClr val="546E7A"/>
            </a:solidFill>
            <a:prstDash val="dash"/>
          </a:ln>
        </p:spPr>
      </p:sp>
      <p:sp>
        <p:nvSpPr>
          <p:cNvPr id="131" name="Shape 129"/>
          <p:cNvSpPr/>
          <p:nvPr/>
        </p:nvSpPr>
        <p:spPr>
          <a:xfrm>
            <a:off x="8961120" y="1856232"/>
            <a:ext cx="0" cy="137160"/>
          </a:xfrm>
          <a:prstGeom prst="line">
            <a:avLst/>
          </a:prstGeom>
          <a:noFill/>
          <a:ln w="12700">
            <a:solidFill>
              <a:srgbClr val="546E7A"/>
            </a:solidFill>
            <a:prstDash val="dash"/>
            <a:tailEnd type="triangle"/>
          </a:ln>
        </p:spPr>
      </p:sp>
      <p:sp>
        <p:nvSpPr>
          <p:cNvPr id="132" name="Shape 130"/>
          <p:cNvSpPr/>
          <p:nvPr/>
        </p:nvSpPr>
        <p:spPr>
          <a:xfrm>
            <a:off x="9966960" y="1719072"/>
            <a:ext cx="0" cy="274320"/>
          </a:xfrm>
          <a:prstGeom prst="line">
            <a:avLst/>
          </a:prstGeom>
          <a:noFill/>
          <a:ln w="25400">
            <a:solidFill>
              <a:srgbClr val="7B1FA2"/>
            </a:solidFill>
            <a:prstDash val="solid"/>
            <a:tailEnd type="triangle"/>
          </a:ln>
        </p:spPr>
      </p:sp>
      <p:sp>
        <p:nvSpPr>
          <p:cNvPr id="133" name="Shape 131"/>
          <p:cNvSpPr/>
          <p:nvPr/>
        </p:nvSpPr>
        <p:spPr>
          <a:xfrm>
            <a:off x="10241280" y="1719072"/>
            <a:ext cx="0" cy="649224"/>
          </a:xfrm>
          <a:prstGeom prst="line">
            <a:avLst/>
          </a:prstGeom>
          <a:noFill/>
          <a:ln w="12700">
            <a:solidFill>
              <a:srgbClr val="7B1FA2"/>
            </a:solidFill>
            <a:prstDash val="dash"/>
          </a:ln>
        </p:spPr>
      </p:sp>
      <p:sp>
        <p:nvSpPr>
          <p:cNvPr id="134" name="Shape 132"/>
          <p:cNvSpPr/>
          <p:nvPr/>
        </p:nvSpPr>
        <p:spPr>
          <a:xfrm>
            <a:off x="10241280" y="2368296"/>
            <a:ext cx="0" cy="0"/>
          </a:xfrm>
          <a:prstGeom prst="line">
            <a:avLst/>
          </a:prstGeom>
          <a:noFill/>
          <a:ln w="12700">
            <a:solidFill>
              <a:srgbClr val="7B1FA2"/>
            </a:solidFill>
            <a:prstDash val="dash"/>
          </a:ln>
        </p:spPr>
      </p:sp>
      <p:sp>
        <p:nvSpPr>
          <p:cNvPr id="135" name="Shape 133"/>
          <p:cNvSpPr/>
          <p:nvPr/>
        </p:nvSpPr>
        <p:spPr>
          <a:xfrm>
            <a:off x="10241280" y="2368296"/>
            <a:ext cx="0" cy="649224"/>
          </a:xfrm>
          <a:prstGeom prst="line">
            <a:avLst/>
          </a:prstGeom>
          <a:noFill/>
          <a:ln w="12700">
            <a:solidFill>
              <a:srgbClr val="7B1FA2"/>
            </a:solidFill>
            <a:prstDash val="dash"/>
            <a:tailEnd type="triangle"/>
          </a:ln>
        </p:spPr>
      </p:sp>
      <p:sp>
        <p:nvSpPr>
          <p:cNvPr id="136" name="Shape 134"/>
          <p:cNvSpPr/>
          <p:nvPr/>
        </p:nvSpPr>
        <p:spPr>
          <a:xfrm>
            <a:off x="10424160" y="1719072"/>
            <a:ext cx="0" cy="1106424"/>
          </a:xfrm>
          <a:prstGeom prst="line">
            <a:avLst/>
          </a:prstGeom>
          <a:noFill/>
          <a:ln w="12700">
            <a:solidFill>
              <a:srgbClr val="7B1FA2"/>
            </a:solidFill>
            <a:prstDash val="dash"/>
          </a:ln>
        </p:spPr>
      </p:sp>
      <p:sp>
        <p:nvSpPr>
          <p:cNvPr id="137" name="Shape 135"/>
          <p:cNvSpPr/>
          <p:nvPr/>
        </p:nvSpPr>
        <p:spPr>
          <a:xfrm>
            <a:off x="10424160" y="2825496"/>
            <a:ext cx="0" cy="0"/>
          </a:xfrm>
          <a:prstGeom prst="line">
            <a:avLst/>
          </a:prstGeom>
          <a:noFill/>
          <a:ln w="12700">
            <a:solidFill>
              <a:srgbClr val="7B1FA2"/>
            </a:solidFill>
            <a:prstDash val="dash"/>
          </a:ln>
        </p:spPr>
      </p:sp>
      <p:sp>
        <p:nvSpPr>
          <p:cNvPr id="138" name="Shape 136"/>
          <p:cNvSpPr/>
          <p:nvPr/>
        </p:nvSpPr>
        <p:spPr>
          <a:xfrm>
            <a:off x="10424160" y="2825496"/>
            <a:ext cx="0" cy="1106424"/>
          </a:xfrm>
          <a:prstGeom prst="line">
            <a:avLst/>
          </a:prstGeom>
          <a:noFill/>
          <a:ln w="12700">
            <a:solidFill>
              <a:srgbClr val="7B1FA2"/>
            </a:solidFill>
            <a:prstDash val="dash"/>
            <a:tailEnd type="triangle"/>
          </a:ln>
        </p:spPr>
      </p:sp>
      <p:sp>
        <p:nvSpPr>
          <p:cNvPr id="139" name="Shape 137"/>
          <p:cNvSpPr/>
          <p:nvPr/>
        </p:nvSpPr>
        <p:spPr>
          <a:xfrm>
            <a:off x="1463040" y="2907792"/>
            <a:ext cx="0" cy="109728"/>
          </a:xfrm>
          <a:prstGeom prst="line">
            <a:avLst/>
          </a:prstGeom>
          <a:noFill/>
          <a:ln w="19050">
            <a:solidFill>
              <a:srgbClr val="7B1FA2"/>
            </a:solidFill>
            <a:prstDash val="solid"/>
            <a:tailEnd type="triangle"/>
          </a:ln>
        </p:spPr>
      </p:sp>
      <p:sp>
        <p:nvSpPr>
          <p:cNvPr id="140" name="Shape 138"/>
          <p:cNvSpPr/>
          <p:nvPr/>
        </p:nvSpPr>
        <p:spPr>
          <a:xfrm>
            <a:off x="3840480" y="2907792"/>
            <a:ext cx="0" cy="109728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  <a:tailEnd type="triangle"/>
          </a:ln>
        </p:spPr>
      </p:sp>
      <p:sp>
        <p:nvSpPr>
          <p:cNvPr id="141" name="Shape 139"/>
          <p:cNvSpPr/>
          <p:nvPr/>
        </p:nvSpPr>
        <p:spPr>
          <a:xfrm>
            <a:off x="9966960" y="2907792"/>
            <a:ext cx="0" cy="109728"/>
          </a:xfrm>
          <a:prstGeom prst="line">
            <a:avLst/>
          </a:prstGeom>
          <a:noFill/>
          <a:ln w="19050">
            <a:solidFill>
              <a:srgbClr val="388E3C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>
            <a:off x="6583680" y="2907792"/>
            <a:ext cx="0" cy="512064"/>
          </a:xfrm>
          <a:prstGeom prst="line">
            <a:avLst/>
          </a:prstGeom>
          <a:noFill/>
          <a:ln w="12700">
            <a:solidFill>
              <a:srgbClr val="C62828"/>
            </a:solidFill>
            <a:prstDash val="sysDot"/>
          </a:ln>
        </p:spPr>
      </p:sp>
      <p:sp>
        <p:nvSpPr>
          <p:cNvPr id="143" name="Shape 141"/>
          <p:cNvSpPr/>
          <p:nvPr/>
        </p:nvSpPr>
        <p:spPr>
          <a:xfrm>
            <a:off x="1417320" y="3419856"/>
            <a:ext cx="5166360" cy="0"/>
          </a:xfrm>
          <a:prstGeom prst="line">
            <a:avLst/>
          </a:prstGeom>
          <a:noFill/>
          <a:ln w="12700">
            <a:solidFill>
              <a:srgbClr val="C62828"/>
            </a:solidFill>
            <a:prstDash val="sysDot"/>
          </a:ln>
        </p:spPr>
      </p:sp>
      <p:sp>
        <p:nvSpPr>
          <p:cNvPr id="144" name="Shape 142"/>
          <p:cNvSpPr/>
          <p:nvPr/>
        </p:nvSpPr>
        <p:spPr>
          <a:xfrm>
            <a:off x="1417320" y="3419856"/>
            <a:ext cx="0" cy="512064"/>
          </a:xfrm>
          <a:prstGeom prst="line">
            <a:avLst/>
          </a:prstGeom>
          <a:noFill/>
          <a:ln w="12700">
            <a:solidFill>
              <a:srgbClr val="C62828"/>
            </a:solidFill>
            <a:prstDash val="sysDot"/>
            <a:tailEnd type="triangle"/>
          </a:ln>
        </p:spPr>
      </p:sp>
      <p:sp>
        <p:nvSpPr>
          <p:cNvPr id="145" name="Shape 143"/>
          <p:cNvSpPr/>
          <p:nvPr/>
        </p:nvSpPr>
        <p:spPr>
          <a:xfrm>
            <a:off x="4114800" y="2907792"/>
            <a:ext cx="0" cy="512064"/>
          </a:xfrm>
          <a:prstGeom prst="line">
            <a:avLst/>
          </a:prstGeom>
          <a:noFill/>
          <a:ln w="12700">
            <a:solidFill>
              <a:srgbClr val="E65100"/>
            </a:solidFill>
            <a:prstDash val="dash"/>
          </a:ln>
        </p:spPr>
      </p:sp>
      <p:sp>
        <p:nvSpPr>
          <p:cNvPr id="146" name="Shape 144"/>
          <p:cNvSpPr/>
          <p:nvPr/>
        </p:nvSpPr>
        <p:spPr>
          <a:xfrm>
            <a:off x="3246120" y="3419856"/>
            <a:ext cx="86868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dash"/>
          </a:ln>
        </p:spPr>
      </p:sp>
      <p:sp>
        <p:nvSpPr>
          <p:cNvPr id="147" name="Shape 145"/>
          <p:cNvSpPr/>
          <p:nvPr/>
        </p:nvSpPr>
        <p:spPr>
          <a:xfrm>
            <a:off x="3246120" y="3419856"/>
            <a:ext cx="0" cy="512064"/>
          </a:xfrm>
          <a:prstGeom prst="line">
            <a:avLst/>
          </a:prstGeom>
          <a:noFill/>
          <a:ln w="12700">
            <a:solidFill>
              <a:srgbClr val="E65100"/>
            </a:solidFill>
            <a:prstDash val="dash"/>
            <a:tailEnd type="triangle"/>
          </a:ln>
        </p:spPr>
      </p:sp>
      <p:sp>
        <p:nvSpPr>
          <p:cNvPr id="148" name="Shape 146"/>
          <p:cNvSpPr/>
          <p:nvPr/>
        </p:nvSpPr>
        <p:spPr>
          <a:xfrm>
            <a:off x="10515600" y="2907792"/>
            <a:ext cx="0" cy="1024128"/>
          </a:xfrm>
          <a:prstGeom prst="line">
            <a:avLst/>
          </a:prstGeom>
          <a:noFill/>
          <a:ln w="12700">
            <a:solidFill>
              <a:srgbClr val="388E3C"/>
            </a:solidFill>
            <a:prstDash val="dash"/>
            <a:tailEnd type="triangle"/>
          </a:ln>
        </p:spPr>
      </p:sp>
      <p:sp>
        <p:nvSpPr>
          <p:cNvPr id="149" name="Shape 147"/>
          <p:cNvSpPr/>
          <p:nvPr/>
        </p:nvSpPr>
        <p:spPr>
          <a:xfrm>
            <a:off x="1463040" y="3822192"/>
            <a:ext cx="0" cy="109728"/>
          </a:xfrm>
          <a:prstGeom prst="line">
            <a:avLst/>
          </a:prstGeom>
          <a:noFill/>
          <a:ln w="12700">
            <a:solidFill>
              <a:srgbClr val="388E3C"/>
            </a:solidFill>
            <a:prstDash val="solid"/>
            <a:tailEnd type="triangle"/>
          </a:ln>
        </p:spPr>
      </p:sp>
      <p:sp>
        <p:nvSpPr>
          <p:cNvPr id="150" name="Shape 148"/>
          <p:cNvSpPr/>
          <p:nvPr/>
        </p:nvSpPr>
        <p:spPr>
          <a:xfrm>
            <a:off x="2194560" y="3822192"/>
            <a:ext cx="0" cy="54864"/>
          </a:xfrm>
          <a:prstGeom prst="line">
            <a:avLst/>
          </a:prstGeom>
          <a:noFill/>
          <a:ln w="12700">
            <a:solidFill>
              <a:srgbClr val="388E3C"/>
            </a:solidFill>
            <a:prstDash val="dash"/>
          </a:ln>
        </p:spPr>
      </p:sp>
      <p:sp>
        <p:nvSpPr>
          <p:cNvPr id="151" name="Shape 149"/>
          <p:cNvSpPr/>
          <p:nvPr/>
        </p:nvSpPr>
        <p:spPr>
          <a:xfrm>
            <a:off x="2194560" y="3877056"/>
            <a:ext cx="1051560" cy="0"/>
          </a:xfrm>
          <a:prstGeom prst="line">
            <a:avLst/>
          </a:prstGeom>
          <a:noFill/>
          <a:ln w="12700">
            <a:solidFill>
              <a:srgbClr val="388E3C"/>
            </a:solidFill>
            <a:prstDash val="dash"/>
          </a:ln>
        </p:spPr>
      </p:sp>
      <p:sp>
        <p:nvSpPr>
          <p:cNvPr id="152" name="Shape 150"/>
          <p:cNvSpPr/>
          <p:nvPr/>
        </p:nvSpPr>
        <p:spPr>
          <a:xfrm>
            <a:off x="3246120" y="3877056"/>
            <a:ext cx="0" cy="54864"/>
          </a:xfrm>
          <a:prstGeom prst="line">
            <a:avLst/>
          </a:prstGeom>
          <a:noFill/>
          <a:ln w="12700">
            <a:solidFill>
              <a:srgbClr val="388E3C"/>
            </a:solidFill>
            <a:prstDash val="dash"/>
            <a:tailEnd type="triangle"/>
          </a:ln>
        </p:spPr>
      </p:sp>
      <p:sp>
        <p:nvSpPr>
          <p:cNvPr id="153" name="Shape 151"/>
          <p:cNvSpPr/>
          <p:nvPr/>
        </p:nvSpPr>
        <p:spPr>
          <a:xfrm>
            <a:off x="6583680" y="3822192"/>
            <a:ext cx="0" cy="54864"/>
          </a:xfrm>
          <a:prstGeom prst="line">
            <a:avLst/>
          </a:prstGeom>
          <a:noFill/>
          <a:ln w="12700">
            <a:solidFill>
              <a:srgbClr val="E65100"/>
            </a:solidFill>
            <a:prstDash val="dash"/>
          </a:ln>
        </p:spPr>
      </p:sp>
      <p:sp>
        <p:nvSpPr>
          <p:cNvPr id="154" name="Shape 152"/>
          <p:cNvSpPr/>
          <p:nvPr/>
        </p:nvSpPr>
        <p:spPr>
          <a:xfrm>
            <a:off x="5029200" y="3877056"/>
            <a:ext cx="155448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dash"/>
          </a:ln>
        </p:spPr>
      </p:sp>
      <p:sp>
        <p:nvSpPr>
          <p:cNvPr id="155" name="Shape 153"/>
          <p:cNvSpPr/>
          <p:nvPr/>
        </p:nvSpPr>
        <p:spPr>
          <a:xfrm>
            <a:off x="5029200" y="3877056"/>
            <a:ext cx="0" cy="54864"/>
          </a:xfrm>
          <a:prstGeom prst="line">
            <a:avLst/>
          </a:prstGeom>
          <a:noFill/>
          <a:ln w="12700">
            <a:solidFill>
              <a:srgbClr val="E65100"/>
            </a:solidFill>
            <a:prstDash val="dash"/>
            <a:tailEnd type="triangle"/>
          </a:ln>
        </p:spPr>
      </p:sp>
      <p:sp>
        <p:nvSpPr>
          <p:cNvPr id="156" name="Shape 154"/>
          <p:cNvSpPr/>
          <p:nvPr/>
        </p:nvSpPr>
        <p:spPr>
          <a:xfrm>
            <a:off x="9966960" y="3822192"/>
            <a:ext cx="0" cy="54864"/>
          </a:xfrm>
          <a:prstGeom prst="line">
            <a:avLst/>
          </a:prstGeom>
          <a:noFill/>
          <a:ln w="12700">
            <a:solidFill>
              <a:srgbClr val="546E7A"/>
            </a:solidFill>
            <a:prstDash val="dash"/>
          </a:ln>
        </p:spPr>
      </p:sp>
      <p:sp>
        <p:nvSpPr>
          <p:cNvPr id="157" name="Shape 155"/>
          <p:cNvSpPr/>
          <p:nvPr/>
        </p:nvSpPr>
        <p:spPr>
          <a:xfrm>
            <a:off x="6995160" y="3877056"/>
            <a:ext cx="2971800" cy="0"/>
          </a:xfrm>
          <a:prstGeom prst="line">
            <a:avLst/>
          </a:prstGeom>
          <a:noFill/>
          <a:ln w="12700">
            <a:solidFill>
              <a:srgbClr val="546E7A"/>
            </a:solidFill>
            <a:prstDash val="dash"/>
          </a:ln>
        </p:spPr>
      </p:sp>
      <p:sp>
        <p:nvSpPr>
          <p:cNvPr id="158" name="Shape 156"/>
          <p:cNvSpPr/>
          <p:nvPr/>
        </p:nvSpPr>
        <p:spPr>
          <a:xfrm>
            <a:off x="6995160" y="3877056"/>
            <a:ext cx="0" cy="54864"/>
          </a:xfrm>
          <a:prstGeom prst="line">
            <a:avLst/>
          </a:prstGeom>
          <a:noFill/>
          <a:ln w="12700">
            <a:solidFill>
              <a:srgbClr val="546E7A"/>
            </a:solidFill>
            <a:prstDash val="dash"/>
            <a:tailEnd type="triangle"/>
          </a:ln>
        </p:spPr>
      </p:sp>
      <p:sp>
        <p:nvSpPr>
          <p:cNvPr id="159" name="Shape 157"/>
          <p:cNvSpPr/>
          <p:nvPr/>
        </p:nvSpPr>
        <p:spPr>
          <a:xfrm>
            <a:off x="1463040" y="4645152"/>
            <a:ext cx="0" cy="155448"/>
          </a:xfrm>
          <a:prstGeom prst="line">
            <a:avLst/>
          </a:prstGeom>
          <a:noFill/>
          <a:ln w="19050">
            <a:solidFill>
              <a:srgbClr val="7B1FA2"/>
            </a:solidFill>
            <a:prstDash val="solid"/>
            <a:tailEnd type="triangle"/>
          </a:ln>
        </p:spPr>
      </p:sp>
      <p:sp>
        <p:nvSpPr>
          <p:cNvPr id="160" name="Shape 158"/>
          <p:cNvSpPr/>
          <p:nvPr/>
        </p:nvSpPr>
        <p:spPr>
          <a:xfrm>
            <a:off x="3246120" y="4645152"/>
            <a:ext cx="0" cy="77724"/>
          </a:xfrm>
          <a:prstGeom prst="line">
            <a:avLst/>
          </a:prstGeom>
          <a:noFill/>
          <a:ln w="12700">
            <a:solidFill>
              <a:srgbClr val="E65100"/>
            </a:solidFill>
            <a:prstDash val="dash"/>
          </a:ln>
        </p:spPr>
      </p:sp>
      <p:sp>
        <p:nvSpPr>
          <p:cNvPr id="161" name="Shape 159"/>
          <p:cNvSpPr/>
          <p:nvPr/>
        </p:nvSpPr>
        <p:spPr>
          <a:xfrm>
            <a:off x="1600200" y="4722876"/>
            <a:ext cx="164592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dash"/>
          </a:ln>
        </p:spPr>
      </p:sp>
      <p:sp>
        <p:nvSpPr>
          <p:cNvPr id="162" name="Shape 160"/>
          <p:cNvSpPr/>
          <p:nvPr/>
        </p:nvSpPr>
        <p:spPr>
          <a:xfrm>
            <a:off x="1600200" y="4722876"/>
            <a:ext cx="0" cy="77724"/>
          </a:xfrm>
          <a:prstGeom prst="line">
            <a:avLst/>
          </a:prstGeom>
          <a:noFill/>
          <a:ln w="12700">
            <a:solidFill>
              <a:srgbClr val="E65100"/>
            </a:solidFill>
            <a:prstDash val="dash"/>
            <a:tailEnd type="triangle"/>
          </a:ln>
        </p:spPr>
      </p:sp>
      <p:sp>
        <p:nvSpPr>
          <p:cNvPr id="163" name="Shape 161"/>
          <p:cNvSpPr/>
          <p:nvPr/>
        </p:nvSpPr>
        <p:spPr>
          <a:xfrm>
            <a:off x="5029200" y="4645152"/>
            <a:ext cx="0" cy="77724"/>
          </a:xfrm>
          <a:prstGeom prst="line">
            <a:avLst/>
          </a:prstGeom>
          <a:noFill/>
          <a:ln w="12700">
            <a:solidFill>
              <a:srgbClr val="388E3C"/>
            </a:solidFill>
            <a:prstDash val="dash"/>
          </a:ln>
        </p:spPr>
      </p:sp>
      <p:sp>
        <p:nvSpPr>
          <p:cNvPr id="164" name="Shape 162"/>
          <p:cNvSpPr/>
          <p:nvPr/>
        </p:nvSpPr>
        <p:spPr>
          <a:xfrm>
            <a:off x="3383280" y="4722876"/>
            <a:ext cx="1645920" cy="0"/>
          </a:xfrm>
          <a:prstGeom prst="line">
            <a:avLst/>
          </a:prstGeom>
          <a:noFill/>
          <a:ln w="12700">
            <a:solidFill>
              <a:srgbClr val="388E3C"/>
            </a:solidFill>
            <a:prstDash val="dash"/>
          </a:ln>
        </p:spPr>
      </p:sp>
      <p:sp>
        <p:nvSpPr>
          <p:cNvPr id="165" name="Shape 163"/>
          <p:cNvSpPr/>
          <p:nvPr/>
        </p:nvSpPr>
        <p:spPr>
          <a:xfrm>
            <a:off x="3383280" y="4722876"/>
            <a:ext cx="0" cy="77724"/>
          </a:xfrm>
          <a:prstGeom prst="line">
            <a:avLst/>
          </a:prstGeom>
          <a:noFill/>
          <a:ln w="12700">
            <a:solidFill>
              <a:srgbClr val="388E3C"/>
            </a:solidFill>
            <a:prstDash val="dash"/>
            <a:tailEnd type="triangle"/>
          </a:ln>
        </p:spPr>
      </p:sp>
      <p:sp>
        <p:nvSpPr>
          <p:cNvPr id="166" name="Shape 164"/>
          <p:cNvSpPr/>
          <p:nvPr/>
        </p:nvSpPr>
        <p:spPr>
          <a:xfrm>
            <a:off x="6583680" y="3822192"/>
            <a:ext cx="0" cy="489204"/>
          </a:xfrm>
          <a:prstGeom prst="line">
            <a:avLst/>
          </a:prstGeom>
          <a:noFill/>
          <a:ln w="12700">
            <a:solidFill>
              <a:srgbClr val="E65100"/>
            </a:solidFill>
            <a:prstDash val="sysDot"/>
          </a:ln>
        </p:spPr>
      </p:sp>
      <p:sp>
        <p:nvSpPr>
          <p:cNvPr id="167" name="Shape 165"/>
          <p:cNvSpPr/>
          <p:nvPr/>
        </p:nvSpPr>
        <p:spPr>
          <a:xfrm>
            <a:off x="3383280" y="4311396"/>
            <a:ext cx="3200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ysDot"/>
          </a:ln>
        </p:spPr>
      </p:sp>
      <p:sp>
        <p:nvSpPr>
          <p:cNvPr id="168" name="Shape 166"/>
          <p:cNvSpPr/>
          <p:nvPr/>
        </p:nvSpPr>
        <p:spPr>
          <a:xfrm>
            <a:off x="3383280" y="4311396"/>
            <a:ext cx="0" cy="489204"/>
          </a:xfrm>
          <a:prstGeom prst="line">
            <a:avLst/>
          </a:prstGeom>
          <a:noFill/>
          <a:ln w="12700">
            <a:solidFill>
              <a:srgbClr val="E65100"/>
            </a:solidFill>
            <a:prstDash val="sysDot"/>
            <a:tailEnd type="triangle"/>
          </a:ln>
        </p:spPr>
      </p:sp>
      <p:sp>
        <p:nvSpPr>
          <p:cNvPr id="169" name="Shape 167"/>
          <p:cNvSpPr/>
          <p:nvPr/>
        </p:nvSpPr>
        <p:spPr>
          <a:xfrm>
            <a:off x="5257800" y="2907792"/>
            <a:ext cx="4709160" cy="0"/>
          </a:xfrm>
          <a:prstGeom prst="line">
            <a:avLst/>
          </a:prstGeom>
          <a:noFill/>
          <a:ln w="12700">
            <a:solidFill>
              <a:srgbClr val="388E3C"/>
            </a:solidFill>
            <a:prstDash val="dash"/>
          </a:ln>
        </p:spPr>
      </p:sp>
      <p:sp>
        <p:nvSpPr>
          <p:cNvPr id="170" name="Shape 168"/>
          <p:cNvSpPr/>
          <p:nvPr/>
        </p:nvSpPr>
        <p:spPr>
          <a:xfrm>
            <a:off x="5257800" y="2907792"/>
            <a:ext cx="0" cy="1892808"/>
          </a:xfrm>
          <a:prstGeom prst="line">
            <a:avLst/>
          </a:prstGeom>
          <a:noFill/>
          <a:ln w="12700">
            <a:solidFill>
              <a:srgbClr val="388E3C"/>
            </a:solidFill>
            <a:prstDash val="dash"/>
            <a:tailEnd type="triangle"/>
          </a:ln>
        </p:spPr>
      </p:sp>
      <p:sp>
        <p:nvSpPr>
          <p:cNvPr id="171" name="Shape 169"/>
          <p:cNvSpPr/>
          <p:nvPr/>
        </p:nvSpPr>
        <p:spPr>
          <a:xfrm>
            <a:off x="914400" y="2907792"/>
            <a:ext cx="8138160" cy="0"/>
          </a:xfrm>
          <a:prstGeom prst="line">
            <a:avLst/>
          </a:prstGeom>
          <a:noFill/>
          <a:ln w="12700">
            <a:solidFill>
              <a:srgbClr val="7B1FA2"/>
            </a:solidFill>
            <a:prstDash val="sysDot"/>
          </a:ln>
        </p:spPr>
      </p:sp>
      <p:sp>
        <p:nvSpPr>
          <p:cNvPr id="172" name="Shape 170"/>
          <p:cNvSpPr/>
          <p:nvPr/>
        </p:nvSpPr>
        <p:spPr>
          <a:xfrm>
            <a:off x="9052560" y="2907792"/>
            <a:ext cx="0" cy="1892808"/>
          </a:xfrm>
          <a:prstGeom prst="line">
            <a:avLst/>
          </a:prstGeom>
          <a:noFill/>
          <a:ln w="12700">
            <a:solidFill>
              <a:srgbClr val="7B1FA2"/>
            </a:solidFill>
            <a:prstDash val="sysDot"/>
            <a:tailEnd type="triangle"/>
          </a:ln>
        </p:spPr>
      </p:sp>
      <p:sp>
        <p:nvSpPr>
          <p:cNvPr id="173" name="Shape 171"/>
          <p:cNvSpPr/>
          <p:nvPr/>
        </p:nvSpPr>
        <p:spPr>
          <a:xfrm>
            <a:off x="10515600" y="4645152"/>
            <a:ext cx="0" cy="77724"/>
          </a:xfrm>
          <a:prstGeom prst="line">
            <a:avLst/>
          </a:prstGeom>
          <a:noFill/>
          <a:ln w="12700">
            <a:solidFill>
              <a:srgbClr val="546E7A"/>
            </a:solidFill>
            <a:prstDash val="dash"/>
          </a:ln>
        </p:spPr>
      </p:sp>
      <p:sp>
        <p:nvSpPr>
          <p:cNvPr id="174" name="Shape 172"/>
          <p:cNvSpPr/>
          <p:nvPr/>
        </p:nvSpPr>
        <p:spPr>
          <a:xfrm>
            <a:off x="7132320" y="4722876"/>
            <a:ext cx="3383280" cy="0"/>
          </a:xfrm>
          <a:prstGeom prst="line">
            <a:avLst/>
          </a:prstGeom>
          <a:noFill/>
          <a:ln w="12700">
            <a:solidFill>
              <a:srgbClr val="546E7A"/>
            </a:solidFill>
            <a:prstDash val="dash"/>
          </a:ln>
        </p:spPr>
      </p:sp>
      <p:sp>
        <p:nvSpPr>
          <p:cNvPr id="175" name="Shape 173"/>
          <p:cNvSpPr/>
          <p:nvPr/>
        </p:nvSpPr>
        <p:spPr>
          <a:xfrm>
            <a:off x="7132320" y="4722876"/>
            <a:ext cx="0" cy="77724"/>
          </a:xfrm>
          <a:prstGeom prst="line">
            <a:avLst/>
          </a:prstGeom>
          <a:noFill/>
          <a:ln w="12700">
            <a:solidFill>
              <a:srgbClr val="546E7A"/>
            </a:solidFill>
            <a:prstDash val="dash"/>
            <a:tailEnd type="triangle"/>
          </a:ln>
        </p:spPr>
      </p:sp>
      <p:sp>
        <p:nvSpPr>
          <p:cNvPr id="176" name="Shape 174"/>
          <p:cNvSpPr/>
          <p:nvPr/>
        </p:nvSpPr>
        <p:spPr>
          <a:xfrm>
            <a:off x="0" y="6016752"/>
            <a:ext cx="12188952" cy="841248"/>
          </a:xfrm>
          <a:prstGeom prst="rect">
            <a:avLst/>
          </a:prstGeom>
          <a:solidFill>
            <a:srgbClr val="DDE4EE"/>
          </a:solidFill>
          <a:ln w="12700">
            <a:solidFill>
              <a:srgbClr val="C0CCD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40080" y="6181344"/>
            <a:ext cx="21945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E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8" name="Text 176"/>
          <p:cNvSpPr/>
          <p:nvPr/>
        </p:nvSpPr>
        <p:spPr>
          <a:xfrm>
            <a:off x="749808" y="6227064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55A64"/>
                </a:solidFill>
              </a:rPr>
              <a:t>Ditto  </a:t>
            </a:r>
            <a:pPr indent="0" marL="0">
              <a:buNone/>
            </a:pPr>
            <a:r>
              <a:rPr lang="en-US" sz="750" dirty="0">
                <a:solidFill>
                  <a:srgbClr val="5A6B7C"/>
                </a:solidFill>
              </a:rPr>
              <a:t>On-demand dev DB copy (subset of live)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3017520" y="6126480"/>
            <a:ext cx="4663440" cy="475488"/>
          </a:xfrm>
          <a:prstGeom prst="rect">
            <a:avLst/>
          </a:prstGeom>
          <a:solidFill>
            <a:srgbClr val="FFF3E0"/>
          </a:solidFill>
          <a:ln w="19050">
            <a:solidFill>
              <a:srgbClr val="FF8F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0" name="Text 178"/>
          <p:cNvSpPr/>
          <p:nvPr/>
        </p:nvSpPr>
        <p:spPr>
          <a:xfrm>
            <a:off x="3127248" y="61447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5100"/>
                </a:solidFill>
              </a:rPr>
              <a:t>🚧 FAST  </a:t>
            </a:r>
            <a:pPr indent="0" marL="0">
              <a:buNone/>
            </a:pPr>
            <a:r>
              <a:rPr lang="en-US" sz="800" b="1" dirty="0">
                <a:solidFill>
                  <a:srgbClr val="1A2533"/>
                </a:solidFill>
              </a:rPr>
              <a:t>Finance Acceleration Support Team</a:t>
            </a:r>
            <a:endParaRPr lang="en-US" sz="850" dirty="0"/>
          </a:p>
        </p:txBody>
      </p:sp>
      <p:sp>
        <p:nvSpPr>
          <p:cNvPr id="181" name="Text 179"/>
          <p:cNvSpPr/>
          <p:nvPr/>
        </p:nvSpPr>
        <p:spPr>
          <a:xfrm>
            <a:off x="3127248" y="634593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7C00"/>
                </a:solidFill>
              </a:rPr>
              <a:t>New app in progress · Rapid prod issue resolution · On-call family-based support model</a:t>
            </a:r>
            <a:endParaRPr lang="en-US" sz="700" dirty="0"/>
          </a:p>
        </p:txBody>
      </p:sp>
      <p:sp>
        <p:nvSpPr>
          <p:cNvPr id="182" name="Shape 180"/>
          <p:cNvSpPr/>
          <p:nvPr/>
        </p:nvSpPr>
        <p:spPr>
          <a:xfrm>
            <a:off x="7818120" y="6318504"/>
            <a:ext cx="118872" cy="11887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7964424" y="63002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B7C"/>
                </a:solidFill>
              </a:rPr>
              <a:t>Core Accounting</a:t>
            </a:r>
            <a:endParaRPr lang="en-US" sz="600" dirty="0"/>
          </a:p>
        </p:txBody>
      </p:sp>
      <p:sp>
        <p:nvSpPr>
          <p:cNvPr id="184" name="Shape 182"/>
          <p:cNvSpPr/>
          <p:nvPr/>
        </p:nvSpPr>
        <p:spPr>
          <a:xfrm>
            <a:off x="8449056" y="6318504"/>
            <a:ext cx="118872" cy="1188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8595360" y="63002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B7C"/>
                </a:solidFill>
              </a:rPr>
              <a:t>Data Sources</a:t>
            </a:r>
            <a:endParaRPr lang="en-US" sz="600" dirty="0"/>
          </a:p>
        </p:txBody>
      </p:sp>
      <p:sp>
        <p:nvSpPr>
          <p:cNvPr id="186" name="Shape 184"/>
          <p:cNvSpPr/>
          <p:nvPr/>
        </p:nvSpPr>
        <p:spPr>
          <a:xfrm>
            <a:off x="9079992" y="6318504"/>
            <a:ext cx="118872" cy="1188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9226296" y="63002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B7C"/>
                </a:solidFill>
              </a:rPr>
              <a:t>Month-end Auto.</a:t>
            </a:r>
            <a:endParaRPr lang="en-US" sz="600" dirty="0"/>
          </a:p>
        </p:txBody>
      </p:sp>
      <p:sp>
        <p:nvSpPr>
          <p:cNvPr id="188" name="Shape 186"/>
          <p:cNvSpPr/>
          <p:nvPr/>
        </p:nvSpPr>
        <p:spPr>
          <a:xfrm>
            <a:off x="9710928" y="6318504"/>
            <a:ext cx="118872" cy="1188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9857232" y="63002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B7C"/>
                </a:solidFill>
              </a:rPr>
              <a:t>Reporting / AI</a:t>
            </a:r>
            <a:endParaRPr lang="en-US" sz="600" dirty="0"/>
          </a:p>
        </p:txBody>
      </p:sp>
      <p:sp>
        <p:nvSpPr>
          <p:cNvPr id="190" name="Shape 188"/>
          <p:cNvSpPr/>
          <p:nvPr/>
        </p:nvSpPr>
        <p:spPr>
          <a:xfrm>
            <a:off x="10341864" y="6318504"/>
            <a:ext cx="118872" cy="1188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10488168" y="63002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B7C"/>
                </a:solidFill>
              </a:rPr>
              <a:t>Controls</a:t>
            </a:r>
            <a:endParaRPr lang="en-US" sz="600" dirty="0"/>
          </a:p>
        </p:txBody>
      </p:sp>
      <p:sp>
        <p:nvSpPr>
          <p:cNvPr id="192" name="Shape 190"/>
          <p:cNvSpPr/>
          <p:nvPr/>
        </p:nvSpPr>
        <p:spPr>
          <a:xfrm>
            <a:off x="10972800" y="6318504"/>
            <a:ext cx="118872" cy="11887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11119104" y="63002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B7C"/>
                </a:solidFill>
              </a:rPr>
              <a:t>DB / Infra</a:t>
            </a:r>
            <a:endParaRPr lang="en-US" sz="600" dirty="0"/>
          </a:p>
        </p:txBody>
      </p:sp>
      <p:sp>
        <p:nvSpPr>
          <p:cNvPr id="194" name="Shape 192"/>
          <p:cNvSpPr/>
          <p:nvPr/>
        </p:nvSpPr>
        <p:spPr>
          <a:xfrm>
            <a:off x="11603736" y="6318504"/>
            <a:ext cx="118872" cy="118872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11750040" y="63002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6B7C"/>
                </a:solidFill>
              </a:rPr>
              <a:t>🚧 In Progress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2026-02-20T18:46:51Z</dcterms:created>
  <dcterms:modified xsi:type="dcterms:W3CDTF">2026-02-20T18:46:51Z</dcterms:modified>
</cp:coreProperties>
</file>