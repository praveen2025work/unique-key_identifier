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25603"/>
          </a:xfrm>
          <a:prstGeom prst="rect">
            <a:avLst/>
          </a:prstGeom>
          <a:solidFill>
            <a:srgbClr val="0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18872"/>
            <a:ext cx="5943600" cy="512064"/>
          </a:xfrm>
          <a:prstGeom prst="rect">
            <a:avLst/>
          </a:prstGeom>
          <a:solidFill>
            <a:srgbClr val="1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Helix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01168"/>
            <a:ext cx="4480560" cy="365760"/>
          </a:xfrm>
          <a:prstGeom prst="rect">
            <a:avLst/>
          </a:prstGeom>
          <a:solidFill>
            <a:srgbClr val="1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9C7DD"/>
                </a:solidFill>
                <a:latin typeface="Segoe UI"/>
              </a:rPr>
              <a:t>Event-driven reconciliation platform  ·  Solution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969264"/>
            <a:ext cx="2468880" cy="4261104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9264"/>
            <a:ext cx="2468880" cy="365760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9264"/>
            <a:ext cx="2468880" cy="365760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SOURCE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353312"/>
            <a:ext cx="2286000" cy="219456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5A6B7F"/>
                </a:solidFill>
                <a:latin typeface="Segoe UI"/>
              </a:rPr>
              <a:t>Business events and operational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1627632"/>
            <a:ext cx="2212848" cy="42062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MBR / Helix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Book-open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" y="2125980"/>
            <a:ext cx="2212848" cy="42062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MOTIF · GMIS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Reconciliation inputs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" y="2624328"/>
            <a:ext cx="2212848" cy="42062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RAMP · SAP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Finance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" y="3122676"/>
            <a:ext cx="2212848" cy="42062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Axiom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Reporting / control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3648456"/>
            <a:ext cx="2212848" cy="1828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6BC4"/>
                </a:solidFill>
                <a:latin typeface="Segoe UI"/>
              </a:rPr>
              <a:t>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" y="3895344"/>
            <a:ext cx="2212848" cy="457200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Oracle 19c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REGION_DAY · RECON_SESSION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" y="4430268"/>
            <a:ext cx="2212848" cy="457200"/>
          </a:xfrm>
          <a:prstGeom prst="roundRect">
            <a:avLst>
              <a:gd name="adj" fmla="val 14000"/>
            </a:avLst>
          </a:prstGeom>
          <a:solidFill>
            <a:srgbClr val="E2EFFB"/>
          </a:solidFill>
          <a:ln w="9525">
            <a:solidFill>
              <a:srgbClr val="0B6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Readiness / event stream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Trigger into Helix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969264"/>
            <a:ext cx="5687568" cy="4261104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15240">
            <a:solidFill>
              <a:srgbClr val="0B6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969264"/>
            <a:ext cx="5687568" cy="365760"/>
          </a:xfrm>
          <a:prstGeom prst="rect">
            <a:avLst/>
          </a:prstGeom>
          <a:solidFill>
            <a:srgbClr val="1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0" y="969264"/>
            <a:ext cx="5687568" cy="365760"/>
          </a:xfrm>
          <a:prstGeom prst="rect">
            <a:avLst/>
          </a:prstGeom>
          <a:solidFill>
            <a:srgbClr val="1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HELIX PLATFORM</a:t>
            </a:r>
            <a:r>
              <a:rPr sz="850" b="0">
                <a:solidFill>
                  <a:srgbClr val="B9C7DD"/>
                </a:solidFill>
                <a:latin typeface="Segoe UI"/>
              </a:rPr>
              <a:t>   ·   Event ingress · orchestration · AI-assisted reasoning · deterministic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1444752"/>
            <a:ext cx="5504688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10128" y="1554480"/>
            <a:ext cx="274320" cy="640080"/>
          </a:xfrm>
          <a:prstGeom prst="roundRect">
            <a:avLst>
              <a:gd name="adj" fmla="val 20000"/>
            </a:avLst>
          </a:prstGeom>
          <a:solidFill>
            <a:srgbClr val="0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5887" y="1536192"/>
            <a:ext cx="173736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2A41"/>
                </a:solidFill>
                <a:latin typeface="Segoe UI"/>
              </a:rPr>
              <a:t>EVENT INGRESS &amp;
ORCHESTRATION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20" b="0">
                <a:solidFill>
                  <a:srgbClr val="5A6B7F"/>
                </a:solidFill>
                <a:latin typeface="Segoe UI"/>
              </a:rPr>
              <a:t>Trigger · schedule · group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4688" y="1618488"/>
            <a:ext cx="981455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Readiness consumer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Subscription / wave trigger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9296" y="1618488"/>
            <a:ext cx="981455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Orchestrator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Follow-the-sun scheduling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3904" y="1618488"/>
            <a:ext cx="981455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Pattern grouper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Signature hash · 1 LLM per group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2386584"/>
            <a:ext cx="5504688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10128" y="2496312"/>
            <a:ext cx="274320" cy="640080"/>
          </a:xfrm>
          <a:prstGeom prst="roundRect">
            <a:avLst>
              <a:gd name="adj" fmla="val 20000"/>
            </a:avLst>
          </a:prstGeom>
          <a:solidFill>
            <a:srgbClr val="0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5887" y="2478024"/>
            <a:ext cx="173736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2A41"/>
                </a:solidFill>
                <a:latin typeface="Segoe UI"/>
              </a:rPr>
              <a:t>AGENT &amp; SKILLS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20" b="0">
                <a:solidFill>
                  <a:srgbClr val="5A6B7F"/>
                </a:solidFill>
                <a:latin typeface="Segoe UI"/>
              </a:rPr>
              <a:t>Playbook · prompt · tools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04688" y="2560320"/>
            <a:ext cx="981455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Skill framework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Playbook · prompt · tool allowlist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9296" y="2560320"/>
            <a:ext cx="981455" cy="512064"/>
          </a:xfrm>
          <a:prstGeom prst="roundRect">
            <a:avLst>
              <a:gd name="adj" fmla="val 14000"/>
            </a:avLst>
          </a:prstGeom>
          <a:solidFill>
            <a:srgbClr val="E2EFFB"/>
          </a:solidFill>
          <a:ln w="9525">
            <a:solidFill>
              <a:srgbClr val="0B6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LLM reasoning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AWS Bedrock · Claude Sonnet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13904" y="2560320"/>
            <a:ext cx="981455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Structured response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What · Why · Action · Risk · 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3328415"/>
            <a:ext cx="5504688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10128" y="3438144"/>
            <a:ext cx="274320" cy="640080"/>
          </a:xfrm>
          <a:prstGeom prst="roundRect">
            <a:avLst>
              <a:gd name="adj" fmla="val 20000"/>
            </a:avLst>
          </a:prstGeom>
          <a:solidFill>
            <a:srgbClr val="0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75887" y="3419856"/>
            <a:ext cx="173736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2A41"/>
                </a:solidFill>
                <a:latin typeface="Segoe UI"/>
              </a:rPr>
              <a:t>DETERMINISTIC
DECISIONING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20" b="0">
                <a:solidFill>
                  <a:srgbClr val="5A6B7F"/>
                </a:solidFill>
                <a:latin typeface="Segoe UI"/>
              </a:rPr>
              <a:t>Rule-based · auditable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04688" y="3502152"/>
            <a:ext cx="981455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Evidence assembler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MCP fan-out · evidence pack hash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59296" y="3502152"/>
            <a:ext cx="981455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Grounding validator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Numeric trace · adjustment guardrails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13904" y="3502152"/>
            <a:ext cx="981455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Draft / posting engine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Adjustment narrative · maker-checker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4270248"/>
            <a:ext cx="5504688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10128" y="4379976"/>
            <a:ext cx="274320" cy="640080"/>
          </a:xfrm>
          <a:prstGeom prst="roundRect">
            <a:avLst>
              <a:gd name="adj" fmla="val 20000"/>
            </a:avLst>
          </a:prstGeom>
          <a:solidFill>
            <a:srgbClr val="0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75887" y="4361688"/>
            <a:ext cx="173736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2A41"/>
                </a:solidFill>
                <a:latin typeface="Segoe UI"/>
              </a:rPr>
              <a:t>INTEGRATION &amp;
PERSISTENCE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20" b="0">
                <a:solidFill>
                  <a:srgbClr val="5A6B7F"/>
                </a:solidFill>
                <a:latin typeface="Segoe UI"/>
              </a:rPr>
              <a:t>MCP tools · generic recon schema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04688" y="4302252"/>
            <a:ext cx="3090671" cy="365760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MCP tool servers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CATS · MOTIF · MBR · Rec Factory · FAS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04688" y="4732020"/>
            <a:ext cx="3090671" cy="365760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Oracle 19c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ANALYSIS_CASE · PATTERN_GROUP · DRAFTED_ADJUSTMENT · RESOLUTION_HISTORY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25712" y="969264"/>
            <a:ext cx="2743200" cy="4261104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25712" y="969264"/>
            <a:ext cx="2743200" cy="365760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25712" y="969264"/>
            <a:ext cx="2743200" cy="365760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CONTROL TOWER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17152" y="1353312"/>
            <a:ext cx="2560320" cy="219456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5A6B7F"/>
                </a:solidFill>
                <a:latin typeface="Segoe UI"/>
              </a:rPr>
              <a:t>Operations, oversight and human-in-loop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53728" y="1645920"/>
            <a:ext cx="2487168" cy="493776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Run schedule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Regions · run slots · live status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53728" y="2217420"/>
            <a:ext cx="2487168" cy="493776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Agent analysis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Decision context · risk · confidence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53728" y="2788920"/>
            <a:ext cx="2487168" cy="493776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Drafted adjustments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Pattern groups · review queue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53728" y="3360420"/>
            <a:ext cx="2487168" cy="493776"/>
          </a:xfrm>
          <a:prstGeom prst="roundRect">
            <a:avLst>
              <a:gd name="adj" fmla="val 14000"/>
            </a:avLst>
          </a:prstGeom>
          <a:solidFill>
            <a:srgbClr val="E2EFFB"/>
          </a:solidFill>
          <a:ln w="9525">
            <a:solidFill>
              <a:srgbClr val="0B6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Human-in-loop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Maker-checker · sign-off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53728" y="3931920"/>
            <a:ext cx="2487168" cy="493776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Session drill-down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Pattern · book · raw entries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53728" y="4503420"/>
            <a:ext cx="2487168" cy="493776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Agent analytics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Grounding · acceptance · outcomes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788920" y="3017520"/>
            <a:ext cx="320040" cy="0"/>
          </a:xfrm>
          <a:prstGeom prst="line">
            <a:avLst/>
          </a:prstGeom>
          <a:ln w="20320">
            <a:solidFill>
              <a:srgbClr val="0B6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487168" y="2724912"/>
            <a:ext cx="9144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5A6B7F"/>
                </a:solidFill>
                <a:latin typeface="Segoe UI"/>
              </a:rPr>
              <a:t>book-open
event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788920" y="3520440"/>
            <a:ext cx="320040" cy="0"/>
          </a:xfrm>
          <a:prstGeom prst="line">
            <a:avLst/>
          </a:prstGeom>
          <a:ln w="20320">
            <a:solidFill>
              <a:srgbClr val="5A6B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2487168" y="3639312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5A6B7F"/>
                </a:solidFill>
                <a:latin typeface="Segoe UI"/>
              </a:rPr>
              <a:t>readiness stream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796528" y="3017520"/>
            <a:ext cx="329184" cy="0"/>
          </a:xfrm>
          <a:prstGeom prst="line">
            <a:avLst/>
          </a:prstGeom>
          <a:ln w="20320">
            <a:solidFill>
              <a:srgbClr val="0B6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8503920" y="2724912"/>
            <a:ext cx="96012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5A6B7F"/>
                </a:solidFill>
                <a:latin typeface="Segoe UI"/>
              </a:rPr>
              <a:t>REST / WebSocket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796528" y="3520440"/>
            <a:ext cx="329184" cy="0"/>
          </a:xfrm>
          <a:prstGeom prst="line">
            <a:avLst/>
          </a:prstGeom>
          <a:ln w="20320">
            <a:solidFill>
              <a:srgbClr val="5A6B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503920" y="3639312"/>
            <a:ext cx="9601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5A6B7F"/>
                </a:solidFill>
                <a:latin typeface="Segoe UI"/>
              </a:rPr>
              <a:t>controller decision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0040" y="5413248"/>
            <a:ext cx="11548872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5488" y="5687568"/>
            <a:ext cx="1051560" cy="2743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6BC4"/>
                </a:solidFill>
                <a:latin typeface="Segoe UI"/>
              </a:rPr>
              <a:t>FOUNDATION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627632" y="5559552"/>
            <a:ext cx="1463040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AWS EKS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Application runtime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45536" y="5559552"/>
            <a:ext cx="1463040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AWS Bedrock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Model access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663440" y="5559552"/>
            <a:ext cx="1463040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AWS SQS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Async work queue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81344" y="5559552"/>
            <a:ext cx="1463040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AWS S3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Prompt / config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699248" y="5559552"/>
            <a:ext cx="1463040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CloudWatch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Observability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17152" y="5559552"/>
            <a:ext cx="1463040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Oracle 19c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Persistence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735056" y="5559552"/>
            <a:ext cx="1463040" cy="512064"/>
          </a:xfrm>
          <a:prstGeom prst="roundRect">
            <a:avLst>
              <a:gd name="adj" fmla="val 14000"/>
            </a:avLst>
          </a:prstGeom>
          <a:solidFill>
            <a:srgbClr val="EDF1F7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B2A41"/>
                </a:solidFill>
                <a:latin typeface="Segoe UI"/>
              </a:rPr>
              <a:t>Multi-region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A6B7F"/>
                </a:solidFill>
                <a:latin typeface="Segoe UI"/>
              </a:rPr>
              <a:t>Follow-the-sun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" y="6419088"/>
            <a:ext cx="274320" cy="27432"/>
          </a:xfrm>
          <a:prstGeom prst="rect">
            <a:avLst/>
          </a:prstGeom>
          <a:solidFill>
            <a:srgbClr val="0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" y="6309360"/>
            <a:ext cx="14630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54864" tIns="18288" bIns="18288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B7F"/>
                </a:solidFill>
                <a:latin typeface="Segoe UI"/>
              </a:rPr>
              <a:t>Synchronous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" y="6547104"/>
            <a:ext cx="27432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84048" y="6560820"/>
            <a:ext cx="274320" cy="0"/>
          </a:xfrm>
          <a:prstGeom prst="line">
            <a:avLst/>
          </a:prstGeom>
          <a:ln w="15240">
            <a:solidFill>
              <a:srgbClr val="5A6B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31520" y="6437376"/>
            <a:ext cx="1645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54864" tIns="18288" bIns="18288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B7F"/>
                </a:solidFill>
                <a:latin typeface="Segoe UI"/>
              </a:rPr>
              <a:t>Asynchronous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6419088"/>
            <a:ext cx="352044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54864" tIns="18288" bIns="18288"/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A6B7F"/>
                </a:solidFill>
                <a:latin typeface="Segoe UI"/>
              </a:rPr>
              <a:t>CONFIDENTIAL · Helix Architecture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