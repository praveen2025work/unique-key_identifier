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notesMasterIdLst>
    <p:notesMasterId r:id="rId10"/>
  </p:notesMasterIdLst>
  <p:sldSz cx="14630400" cy="9753600"/>
  <p:notesSz cx="9753600" cy="146304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notesMaster" Target="notesMasters/notesMaster1.xml"/><Relationship Id="rId11" Type="http://schemas.openxmlformats.org/officeDocument/2006/relationships/presProps" Target="presProps.xml"/><Relationship Id="rId12" Type="http://schemas.openxmlformats.org/officeDocument/2006/relationships/viewProps" Target="viewProps.xml"/><Relationship Id="rId13" Type="http://schemas.openxmlformats.org/officeDocument/2006/relationships/theme" Target="theme/theme1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image" Target="../media/image-1-2.png"/><Relationship Id="rId3" Type="http://schemas.openxmlformats.org/officeDocument/2006/relationships/image" Target="../media/image-1-3.png"/><Relationship Id="rId4" Type="http://schemas.openxmlformats.org/officeDocument/2006/relationships/image" Target="../media/image-1-4.png"/><Relationship Id="rId5" Type="http://schemas.openxmlformats.org/officeDocument/2006/relationships/image" Target="../media/image-1-5.png"/><Relationship Id="rId6" Type="http://schemas.openxmlformats.org/officeDocument/2006/relationships/image" Target="../media/image-1-6.png"/><Relationship Id="rId7" Type="http://schemas.openxmlformats.org/officeDocument/2006/relationships/image" Target="../media/image-1-7.png"/><Relationship Id="rId8" Type="http://schemas.openxmlformats.org/officeDocument/2006/relationships/image" Target="../media/image-1-8.png"/><Relationship Id="rId9" Type="http://schemas.openxmlformats.org/officeDocument/2006/relationships/image" Target="../media/image-1-9.png"/><Relationship Id="rId10" Type="http://schemas.openxmlformats.org/officeDocument/2006/relationships/image" Target="../media/image-1-10.png"/><Relationship Id="rId11" Type="http://schemas.openxmlformats.org/officeDocument/2006/relationships/image" Target="../media/image-1-11.png"/><Relationship Id="rId12" Type="http://schemas.openxmlformats.org/officeDocument/2006/relationships/image" Target="../media/image-1-12.png"/><Relationship Id="rId13" Type="http://schemas.openxmlformats.org/officeDocument/2006/relationships/image" Target="../media/image-1-13.png"/><Relationship Id="rId14" Type="http://schemas.openxmlformats.org/officeDocument/2006/relationships/image" Target="../media/image-1-14.png"/><Relationship Id="rId15" Type="http://schemas.openxmlformats.org/officeDocument/2006/relationships/image" Target="../media/image-1-15.png"/><Relationship Id="rId16" Type="http://schemas.openxmlformats.org/officeDocument/2006/relationships/image" Target="../media/image-1-16.png"/><Relationship Id="rId17" Type="http://schemas.openxmlformats.org/officeDocument/2006/relationships/image" Target="../media/image-1-17.png"/><Relationship Id="rId18" Type="http://schemas.openxmlformats.org/officeDocument/2006/relationships/image" Target="../media/image-1-18.png"/><Relationship Id="rId19" Type="http://schemas.openxmlformats.org/officeDocument/2006/relationships/image" Target="../media/image-1-19.png"/><Relationship Id="rId20" Type="http://schemas.openxmlformats.org/officeDocument/2006/relationships/image" Target="../media/image-1-20.png"/><Relationship Id="rId21" Type="http://schemas.openxmlformats.org/officeDocument/2006/relationships/image" Target="../media/image-1-21.png"/><Relationship Id="rId22" Type="http://schemas.openxmlformats.org/officeDocument/2006/relationships/image" Target="../media/image-1-22.png"/><Relationship Id="rId23" Type="http://schemas.openxmlformats.org/officeDocument/2006/relationships/image" Target="../media/image-1-23.png"/><Relationship Id="rId24" Type="http://schemas.openxmlformats.org/officeDocument/2006/relationships/image" Target="../media/image-1-24.png"/><Relationship Id="rId25" Type="http://schemas.openxmlformats.org/officeDocument/2006/relationships/image" Target="../media/image-1-25.png"/><Relationship Id="rId26" Type="http://schemas.openxmlformats.org/officeDocument/2006/relationships/image" Target="../media/image-1-26.png"/><Relationship Id="rId27" Type="http://schemas.openxmlformats.org/officeDocument/2006/relationships/image" Target="../media/image-1-27.png"/><Relationship Id="rId28" Type="http://schemas.openxmlformats.org/officeDocument/2006/relationships/image" Target="../media/image-1-28.png"/><Relationship Id="rId29" Type="http://schemas.openxmlformats.org/officeDocument/2006/relationships/slideLayout" Target="../slideLayouts/slideLayout1.xml"/><Relationship Id="rId30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image" Target="../media/image-2-3.png"/><Relationship Id="rId4" Type="http://schemas.openxmlformats.org/officeDocument/2006/relationships/image" Target="../media/image-2-4.png"/><Relationship Id="rId5" Type="http://schemas.openxmlformats.org/officeDocument/2006/relationships/image" Target="../media/image-2-5.png"/><Relationship Id="rId6" Type="http://schemas.openxmlformats.org/officeDocument/2006/relationships/image" Target="../media/image-2-6.png"/><Relationship Id="rId7" Type="http://schemas.openxmlformats.org/officeDocument/2006/relationships/image" Target="../media/image-2-7.png"/><Relationship Id="rId8" Type="http://schemas.openxmlformats.org/officeDocument/2006/relationships/image" Target="../media/image-2-8.png"/><Relationship Id="rId9" Type="http://schemas.openxmlformats.org/officeDocument/2006/relationships/image" Target="../media/image-2-9.png"/><Relationship Id="rId10" Type="http://schemas.openxmlformats.org/officeDocument/2006/relationships/image" Target="../media/image-2-10.png"/><Relationship Id="rId11" Type="http://schemas.openxmlformats.org/officeDocument/2006/relationships/image" Target="../media/image-2-11.png"/><Relationship Id="rId12" Type="http://schemas.openxmlformats.org/officeDocument/2006/relationships/image" Target="../media/image-2-12.png"/><Relationship Id="rId13" Type="http://schemas.openxmlformats.org/officeDocument/2006/relationships/image" Target="../media/image-2-13.png"/><Relationship Id="rId14" Type="http://schemas.openxmlformats.org/officeDocument/2006/relationships/image" Target="../media/image-2-14.png"/><Relationship Id="rId15" Type="http://schemas.openxmlformats.org/officeDocument/2006/relationships/image" Target="../media/image-2-15.png"/><Relationship Id="rId16" Type="http://schemas.openxmlformats.org/officeDocument/2006/relationships/image" Target="../media/image-2-16.png"/><Relationship Id="rId17" Type="http://schemas.openxmlformats.org/officeDocument/2006/relationships/image" Target="../media/image-2-17.png"/><Relationship Id="rId18" Type="http://schemas.openxmlformats.org/officeDocument/2006/relationships/image" Target="../media/image-2-18.png"/><Relationship Id="rId19" Type="http://schemas.openxmlformats.org/officeDocument/2006/relationships/image" Target="../media/image-2-19.png"/><Relationship Id="rId20" Type="http://schemas.openxmlformats.org/officeDocument/2006/relationships/image" Target="../media/image-2-20.png"/><Relationship Id="rId21" Type="http://schemas.openxmlformats.org/officeDocument/2006/relationships/image" Target="../media/image-2-21.png"/><Relationship Id="rId22" Type="http://schemas.openxmlformats.org/officeDocument/2006/relationships/image" Target="../media/image-2-22.png"/><Relationship Id="rId23" Type="http://schemas.openxmlformats.org/officeDocument/2006/relationships/image" Target="../media/image-2-23.png"/><Relationship Id="rId24" Type="http://schemas.openxmlformats.org/officeDocument/2006/relationships/image" Target="../media/image-2-24.png"/><Relationship Id="rId25" Type="http://schemas.openxmlformats.org/officeDocument/2006/relationships/image" Target="../media/image-2-25.png"/><Relationship Id="rId26" Type="http://schemas.openxmlformats.org/officeDocument/2006/relationships/image" Target="../media/image-2-26.png"/><Relationship Id="rId27" Type="http://schemas.openxmlformats.org/officeDocument/2006/relationships/image" Target="../media/image-2-27.png"/><Relationship Id="rId28" Type="http://schemas.openxmlformats.org/officeDocument/2006/relationships/image" Target="../media/image-2-28.png"/><Relationship Id="rId29" Type="http://schemas.openxmlformats.org/officeDocument/2006/relationships/image" Target="../media/image-2-29.png"/><Relationship Id="rId30" Type="http://schemas.openxmlformats.org/officeDocument/2006/relationships/image" Target="../media/image-2-30.png"/><Relationship Id="rId31" Type="http://schemas.openxmlformats.org/officeDocument/2006/relationships/image" Target="../media/image-2-31.png"/><Relationship Id="rId32" Type="http://schemas.openxmlformats.org/officeDocument/2006/relationships/image" Target="../media/image-2-32.png"/><Relationship Id="rId33" Type="http://schemas.openxmlformats.org/officeDocument/2006/relationships/image" Target="../media/image-2-33.png"/><Relationship Id="rId34" Type="http://schemas.openxmlformats.org/officeDocument/2006/relationships/image" Target="../media/image-2-34.png"/><Relationship Id="rId35" Type="http://schemas.openxmlformats.org/officeDocument/2006/relationships/image" Target="../media/image-2-35.png"/><Relationship Id="rId36" Type="http://schemas.openxmlformats.org/officeDocument/2006/relationships/image" Target="../media/image-2-36.png"/><Relationship Id="rId37" Type="http://schemas.openxmlformats.org/officeDocument/2006/relationships/image" Target="../media/image-2-37.png"/><Relationship Id="rId38" Type="http://schemas.openxmlformats.org/officeDocument/2006/relationships/image" Target="../media/image-2-38.png"/><Relationship Id="rId39" Type="http://schemas.openxmlformats.org/officeDocument/2006/relationships/image" Target="../media/image-2-39.png"/><Relationship Id="rId40" Type="http://schemas.openxmlformats.org/officeDocument/2006/relationships/image" Target="../media/image-2-40.png"/><Relationship Id="rId41" Type="http://schemas.openxmlformats.org/officeDocument/2006/relationships/image" Target="../media/image-2-41.png"/><Relationship Id="rId42" Type="http://schemas.openxmlformats.org/officeDocument/2006/relationships/image" Target="../media/image-2-42.png"/><Relationship Id="rId43" Type="http://schemas.openxmlformats.org/officeDocument/2006/relationships/image" Target="../media/image-2-43.png"/><Relationship Id="rId44" Type="http://schemas.openxmlformats.org/officeDocument/2006/relationships/slideLayout" Target="../slideLayouts/slideLayout1.xml"/><Relationship Id="rId45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png"/><Relationship Id="rId3" Type="http://schemas.openxmlformats.org/officeDocument/2006/relationships/image" Target="../media/image-4-3.png"/><Relationship Id="rId4" Type="http://schemas.openxmlformats.org/officeDocument/2006/relationships/image" Target="../media/image-4-4.png"/><Relationship Id="rId5" Type="http://schemas.openxmlformats.org/officeDocument/2006/relationships/image" Target="../media/image-4-5.png"/><Relationship Id="rId6" Type="http://schemas.openxmlformats.org/officeDocument/2006/relationships/image" Target="../media/image-4-6.png"/><Relationship Id="rId7" Type="http://schemas.openxmlformats.org/officeDocument/2006/relationships/image" Target="../media/image-4-7.png"/><Relationship Id="rId8" Type="http://schemas.openxmlformats.org/officeDocument/2006/relationships/image" Target="../media/image-4-8.png"/><Relationship Id="rId9" Type="http://schemas.openxmlformats.org/officeDocument/2006/relationships/image" Target="../media/image-4-9.png"/><Relationship Id="rId10" Type="http://schemas.openxmlformats.org/officeDocument/2006/relationships/image" Target="../media/image-4-10.png"/><Relationship Id="rId11" Type="http://schemas.openxmlformats.org/officeDocument/2006/relationships/image" Target="../media/image-4-11.png"/><Relationship Id="rId12" Type="http://schemas.openxmlformats.org/officeDocument/2006/relationships/image" Target="../media/image-4-12.png"/><Relationship Id="rId13" Type="http://schemas.openxmlformats.org/officeDocument/2006/relationships/slideLayout" Target="../slideLayouts/slideLayout1.xml"/><Relationship Id="rId14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image" Target="../media/image-7-2.png"/><Relationship Id="rId3" Type="http://schemas.openxmlformats.org/officeDocument/2006/relationships/image" Target="../media/image-7-3.png"/><Relationship Id="rId4" Type="http://schemas.openxmlformats.org/officeDocument/2006/relationships/image" Target="../media/image-7-4.png"/><Relationship Id="rId5" Type="http://schemas.openxmlformats.org/officeDocument/2006/relationships/image" Target="../media/image-7-5.png"/><Relationship Id="rId6" Type="http://schemas.openxmlformats.org/officeDocument/2006/relationships/image" Target="../media/image-7-6.png"/><Relationship Id="rId7" Type="http://schemas.openxmlformats.org/officeDocument/2006/relationships/image" Target="../media/image-7-7.png"/><Relationship Id="rId8" Type="http://schemas.openxmlformats.org/officeDocument/2006/relationships/image" Target="../media/image-7-8.png"/><Relationship Id="rId9" Type="http://schemas.openxmlformats.org/officeDocument/2006/relationships/image" Target="../media/image-7-9.png"/><Relationship Id="rId10" Type="http://schemas.openxmlformats.org/officeDocument/2006/relationships/image" Target="../media/image-7-10.png"/><Relationship Id="rId11" Type="http://schemas.openxmlformats.org/officeDocument/2006/relationships/image" Target="../media/image-7-11.png"/><Relationship Id="rId12" Type="http://schemas.openxmlformats.org/officeDocument/2006/relationships/image" Target="../media/image-7-12.png"/><Relationship Id="rId13" Type="http://schemas.openxmlformats.org/officeDocument/2006/relationships/image" Target="../media/image-7-13.png"/><Relationship Id="rId14" Type="http://schemas.openxmlformats.org/officeDocument/2006/relationships/image" Target="../media/image-7-14.png"/><Relationship Id="rId15" Type="http://schemas.openxmlformats.org/officeDocument/2006/relationships/image" Target="../media/image-7-15.png"/><Relationship Id="rId16" Type="http://schemas.openxmlformats.org/officeDocument/2006/relationships/slideLayout" Target="../slideLayouts/slideLayout1.xml"/><Relationship Id="rId17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7FAF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1028700"/>
          </a:xfrm>
          <a:prstGeom prst="rect">
            <a:avLst/>
          </a:prstGeom>
          <a:solidFill>
            <a:srgbClr val="0B2E5E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304800" y="133350"/>
            <a:ext cx="11144250" cy="4762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Helix: AI-Powered FOBO Reconciliation</a:t>
            </a:r>
            <a:endParaRPr lang="en-US" sz="3000" dirty="0"/>
          </a:p>
        </p:txBody>
      </p:sp>
      <p:sp>
        <p:nvSpPr>
          <p:cNvPr id="4" name="Text 2"/>
          <p:cNvSpPr txBox="1"/>
          <p:nvPr/>
        </p:nvSpPr>
        <p:spPr>
          <a:xfrm>
            <a:off x="304800" y="590550"/>
            <a:ext cx="1047750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E3EC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Solution architecture, executive view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11639550" y="190500"/>
            <a:ext cx="0" cy="647700"/>
          </a:xfrm>
          <a:prstGeom prst="line">
            <a:avLst/>
          </a:prstGeom>
          <a:noFill/>
          <a:ln w="15875">
            <a:solidFill>
              <a:srgbClr val="FFFFFF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11811000" y="266700"/>
            <a:ext cx="2714625" cy="4953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Helix Architecture</a:t>
            </a:r>
            <a:endParaRPr lang="en-US" sz="2400" dirty="0"/>
          </a:p>
        </p:txBody>
      </p:sp>
      <p:sp>
        <p:nvSpPr>
          <p:cNvPr id="7" name="Text 5"/>
          <p:cNvSpPr txBox="1"/>
          <p:nvPr/>
        </p:nvSpPr>
        <p:spPr>
          <a:xfrm>
            <a:off x="504825" y="1219200"/>
            <a:ext cx="2095500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F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Workspaces (one per L4)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2495550" y="1247775"/>
            <a:ext cx="2076450" cy="285750"/>
          </a:xfrm>
          <a:prstGeom prst="roundRect">
            <a:avLst>
              <a:gd name="adj" fmla="val 50000"/>
            </a:avLst>
          </a:prstGeom>
          <a:solidFill>
            <a:srgbClr val="DCE9F7"/>
          </a:solidFill>
          <a:ln w="12700">
            <a:solidFill>
              <a:srgbClr val="A9C4E6"/>
            </a:solidFill>
            <a:prstDash val="solid"/>
          </a:ln>
        </p:spPr>
      </p:sp>
      <p:pic>
        <p:nvPicPr>
          <p:cNvPr id="9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609850" y="1323975"/>
            <a:ext cx="133350" cy="133350"/>
          </a:xfrm>
          <a:prstGeom prst="rect">
            <a:avLst/>
          </a:prstGeom>
        </p:spPr>
      </p:pic>
      <p:sp>
        <p:nvSpPr>
          <p:cNvPr id="10" name="Text 7"/>
          <p:cNvSpPr txBox="1"/>
          <p:nvPr/>
        </p:nvSpPr>
        <p:spPr>
          <a:xfrm>
            <a:off x="2800350" y="1247775"/>
            <a:ext cx="1733550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F2D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CATS vs MOTIF - FI Credit</a:t>
            </a:r>
            <a:endParaRPr lang="en-US" sz="950" dirty="0"/>
          </a:p>
        </p:txBody>
      </p:sp>
      <p:sp>
        <p:nvSpPr>
          <p:cNvPr id="11" name="Shape 8"/>
          <p:cNvSpPr/>
          <p:nvPr/>
        </p:nvSpPr>
        <p:spPr>
          <a:xfrm>
            <a:off x="4705350" y="1247775"/>
            <a:ext cx="2076450" cy="285750"/>
          </a:xfrm>
          <a:prstGeom prst="roundRect">
            <a:avLst>
              <a:gd name="adj" fmla="val 50000"/>
            </a:avLst>
          </a:prstGeom>
          <a:solidFill>
            <a:srgbClr val="DCE9F7"/>
          </a:solidFill>
          <a:ln w="12700">
            <a:solidFill>
              <a:srgbClr val="A9C4E6"/>
            </a:solidFill>
            <a:prstDash val="solid"/>
          </a:ln>
        </p:spPr>
      </p:sp>
      <p:pic>
        <p:nvPicPr>
          <p:cNvPr id="12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819650" y="1323975"/>
            <a:ext cx="133350" cy="133350"/>
          </a:xfrm>
          <a:prstGeom prst="rect">
            <a:avLst/>
          </a:prstGeom>
        </p:spPr>
      </p:pic>
      <p:sp>
        <p:nvSpPr>
          <p:cNvPr id="13" name="Text 9"/>
          <p:cNvSpPr txBox="1"/>
          <p:nvPr/>
        </p:nvSpPr>
        <p:spPr>
          <a:xfrm>
            <a:off x="5010150" y="1247775"/>
            <a:ext cx="1733550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F2D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CATS vs MOTIF - Rates</a:t>
            </a:r>
            <a:endParaRPr lang="en-US" sz="950" dirty="0"/>
          </a:p>
        </p:txBody>
      </p:sp>
      <p:sp>
        <p:nvSpPr>
          <p:cNvPr id="14" name="Shape 10"/>
          <p:cNvSpPr/>
          <p:nvPr/>
        </p:nvSpPr>
        <p:spPr>
          <a:xfrm>
            <a:off x="6915150" y="1247775"/>
            <a:ext cx="2076450" cy="285750"/>
          </a:xfrm>
          <a:prstGeom prst="roundRect">
            <a:avLst>
              <a:gd name="adj" fmla="val 50000"/>
            </a:avLst>
          </a:prstGeom>
          <a:solidFill>
            <a:srgbClr val="DCE9F7"/>
          </a:solidFill>
          <a:ln w="12700">
            <a:solidFill>
              <a:srgbClr val="A9C4E6"/>
            </a:solidFill>
            <a:prstDash val="solid"/>
          </a:ln>
        </p:spPr>
      </p:sp>
      <p:pic>
        <p:nvPicPr>
          <p:cNvPr id="15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029450" y="1323975"/>
            <a:ext cx="133350" cy="133350"/>
          </a:xfrm>
          <a:prstGeom prst="rect">
            <a:avLst/>
          </a:prstGeom>
        </p:spPr>
      </p:pic>
      <p:sp>
        <p:nvSpPr>
          <p:cNvPr id="16" name="Text 11"/>
          <p:cNvSpPr txBox="1"/>
          <p:nvPr/>
        </p:nvSpPr>
        <p:spPr>
          <a:xfrm>
            <a:off x="7219950" y="1247775"/>
            <a:ext cx="1733550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F2D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CATS vs MOTIF - Prime</a:t>
            </a:r>
            <a:endParaRPr lang="en-US" sz="950" dirty="0"/>
          </a:p>
        </p:txBody>
      </p:sp>
      <p:sp>
        <p:nvSpPr>
          <p:cNvPr id="17" name="Shape 12"/>
          <p:cNvSpPr/>
          <p:nvPr/>
        </p:nvSpPr>
        <p:spPr>
          <a:xfrm>
            <a:off x="9124950" y="1247775"/>
            <a:ext cx="2076450" cy="28575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2700">
            <a:solidFill>
              <a:srgbClr val="A9C4E6"/>
            </a:solidFill>
            <a:prstDash val="solid"/>
          </a:ln>
        </p:spPr>
      </p:sp>
      <p:pic>
        <p:nvPicPr>
          <p:cNvPr id="18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239250" y="1323975"/>
            <a:ext cx="133350" cy="133350"/>
          </a:xfrm>
          <a:prstGeom prst="rect">
            <a:avLst/>
          </a:prstGeom>
        </p:spPr>
      </p:pic>
      <p:sp>
        <p:nvSpPr>
          <p:cNvPr id="19" name="Text 13"/>
          <p:cNvSpPr txBox="1"/>
          <p:nvPr/>
        </p:nvSpPr>
        <p:spPr>
          <a:xfrm>
            <a:off x="9429750" y="1247775"/>
            <a:ext cx="1733550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1F2D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More L4 workspaces</a:t>
            </a:r>
            <a:endParaRPr lang="en-US" sz="950" dirty="0"/>
          </a:p>
        </p:txBody>
      </p:sp>
      <p:sp>
        <p:nvSpPr>
          <p:cNvPr id="20" name="Text 14"/>
          <p:cNvSpPr txBox="1"/>
          <p:nvPr/>
        </p:nvSpPr>
        <p:spPr>
          <a:xfrm>
            <a:off x="11334750" y="1219200"/>
            <a:ext cx="2857500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4A5A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Each workspace contains X master books (FO, BO, other)</a:t>
            </a:r>
            <a:endParaRPr lang="en-US" sz="950" dirty="0"/>
          </a:p>
        </p:txBody>
      </p:sp>
      <p:sp>
        <p:nvSpPr>
          <p:cNvPr id="21" name="Shape 15"/>
          <p:cNvSpPr/>
          <p:nvPr/>
        </p:nvSpPr>
        <p:spPr>
          <a:xfrm>
            <a:off x="504825" y="1733550"/>
            <a:ext cx="2381250" cy="4476750"/>
          </a:xfrm>
          <a:prstGeom prst="roundRect">
            <a:avLst>
              <a:gd name="adj" fmla="val 3200"/>
            </a:avLst>
          </a:prstGeom>
          <a:solidFill>
            <a:srgbClr val="EEF4FB"/>
          </a:solidFill>
          <a:ln w="12700">
            <a:solidFill>
              <a:srgbClr val="1B4F93"/>
            </a:solidFill>
            <a:prstDash val="dash"/>
          </a:ln>
        </p:spPr>
      </p:sp>
      <p:sp>
        <p:nvSpPr>
          <p:cNvPr id="22" name="Text 16"/>
          <p:cNvSpPr txBox="1"/>
          <p:nvPr/>
        </p:nvSpPr>
        <p:spPr>
          <a:xfrm>
            <a:off x="619125" y="1809750"/>
            <a:ext cx="215265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100" kern="0" dirty="0">
                <a:solidFill>
                  <a:srgbClr val="1B4F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 PROCESSING</a:t>
            </a:r>
            <a:endParaRPr lang="en-US" sz="900" dirty="0"/>
          </a:p>
        </p:txBody>
      </p:sp>
      <p:sp>
        <p:nvSpPr>
          <p:cNvPr id="23" name="Shape 17"/>
          <p:cNvSpPr/>
          <p:nvPr/>
        </p:nvSpPr>
        <p:spPr>
          <a:xfrm>
            <a:off x="3314700" y="1733550"/>
            <a:ext cx="2381250" cy="4476750"/>
          </a:xfrm>
          <a:prstGeom prst="roundRect">
            <a:avLst>
              <a:gd name="adj" fmla="val 3200"/>
            </a:avLst>
          </a:prstGeom>
          <a:solidFill>
            <a:srgbClr val="EEF4FB"/>
          </a:solidFill>
          <a:ln w="12700">
            <a:solidFill>
              <a:srgbClr val="2A6EBB"/>
            </a:solidFill>
            <a:prstDash val="dash"/>
          </a:ln>
        </p:spPr>
      </p:sp>
      <p:sp>
        <p:nvSpPr>
          <p:cNvPr id="24" name="Text 18"/>
          <p:cNvSpPr txBox="1"/>
          <p:nvPr/>
        </p:nvSpPr>
        <p:spPr>
          <a:xfrm>
            <a:off x="3429000" y="1809750"/>
            <a:ext cx="215265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100" kern="0" dirty="0">
                <a:solidFill>
                  <a:srgbClr val="2A6EB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EVENTS &amp; READINESS</a:t>
            </a:r>
            <a:endParaRPr lang="en-US" sz="900" dirty="0"/>
          </a:p>
        </p:txBody>
      </p:sp>
      <p:sp>
        <p:nvSpPr>
          <p:cNvPr id="25" name="Shape 19"/>
          <p:cNvSpPr/>
          <p:nvPr/>
        </p:nvSpPr>
        <p:spPr>
          <a:xfrm>
            <a:off x="6124575" y="1733550"/>
            <a:ext cx="2381250" cy="4476750"/>
          </a:xfrm>
          <a:prstGeom prst="roundRect">
            <a:avLst>
              <a:gd name="adj" fmla="val 3200"/>
            </a:avLst>
          </a:prstGeom>
          <a:solidFill>
            <a:srgbClr val="EDF7F2"/>
          </a:solidFill>
          <a:ln w="12700">
            <a:solidFill>
              <a:srgbClr val="1E8A5A"/>
            </a:solidFill>
            <a:prstDash val="dash"/>
          </a:ln>
        </p:spPr>
      </p:sp>
      <p:sp>
        <p:nvSpPr>
          <p:cNvPr id="26" name="Text 20"/>
          <p:cNvSpPr txBox="1"/>
          <p:nvPr/>
        </p:nvSpPr>
        <p:spPr>
          <a:xfrm>
            <a:off x="6238875" y="1809750"/>
            <a:ext cx="215265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100" kern="0" dirty="0">
                <a:solidFill>
                  <a:srgbClr val="1E8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ORCHESTRATION</a:t>
            </a:r>
            <a:endParaRPr lang="en-US" sz="900" dirty="0"/>
          </a:p>
        </p:txBody>
      </p:sp>
      <p:sp>
        <p:nvSpPr>
          <p:cNvPr id="27" name="Shape 21"/>
          <p:cNvSpPr/>
          <p:nvPr/>
        </p:nvSpPr>
        <p:spPr>
          <a:xfrm>
            <a:off x="8934450" y="1733550"/>
            <a:ext cx="2381250" cy="4476750"/>
          </a:xfrm>
          <a:prstGeom prst="roundRect">
            <a:avLst>
              <a:gd name="adj" fmla="val 3200"/>
            </a:avLst>
          </a:prstGeom>
          <a:solidFill>
            <a:srgbClr val="F3F1FB"/>
          </a:solidFill>
          <a:ln w="12700">
            <a:solidFill>
              <a:srgbClr val="5B4FA8"/>
            </a:solidFill>
            <a:prstDash val="dash"/>
          </a:ln>
        </p:spPr>
      </p:sp>
      <p:sp>
        <p:nvSpPr>
          <p:cNvPr id="28" name="Text 22"/>
          <p:cNvSpPr txBox="1"/>
          <p:nvPr/>
        </p:nvSpPr>
        <p:spPr>
          <a:xfrm>
            <a:off x="9048750" y="1809750"/>
            <a:ext cx="215265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100" kern="0" dirty="0">
                <a:solidFill>
                  <a:srgbClr val="5B4F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REASONING</a:t>
            </a:r>
            <a:endParaRPr lang="en-US" sz="900" dirty="0"/>
          </a:p>
        </p:txBody>
      </p:sp>
      <p:sp>
        <p:nvSpPr>
          <p:cNvPr id="29" name="Shape 23"/>
          <p:cNvSpPr/>
          <p:nvPr/>
        </p:nvSpPr>
        <p:spPr>
          <a:xfrm>
            <a:off x="11744325" y="1733550"/>
            <a:ext cx="2381250" cy="4476750"/>
          </a:xfrm>
          <a:prstGeom prst="roundRect">
            <a:avLst>
              <a:gd name="adj" fmla="val 3200"/>
            </a:avLst>
          </a:prstGeom>
          <a:solidFill>
            <a:srgbClr val="EEF4FB"/>
          </a:solidFill>
          <a:ln w="12700">
            <a:solidFill>
              <a:srgbClr val="1F6FB5"/>
            </a:solidFill>
            <a:prstDash val="dash"/>
          </a:ln>
        </p:spPr>
      </p:sp>
      <p:sp>
        <p:nvSpPr>
          <p:cNvPr id="30" name="Text 24"/>
          <p:cNvSpPr txBox="1"/>
          <p:nvPr/>
        </p:nvSpPr>
        <p:spPr>
          <a:xfrm>
            <a:off x="11858625" y="1809750"/>
            <a:ext cx="215265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100" kern="0" dirty="0">
                <a:solidFill>
                  <a:srgbClr val="1F6F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CONTROLLER EXPERIENCE</a:t>
            </a:r>
            <a:endParaRPr lang="en-US" sz="900" dirty="0"/>
          </a:p>
        </p:txBody>
      </p:sp>
      <p:sp>
        <p:nvSpPr>
          <p:cNvPr id="31" name="Shape 25"/>
          <p:cNvSpPr/>
          <p:nvPr/>
        </p:nvSpPr>
        <p:spPr>
          <a:xfrm>
            <a:off x="933450" y="2209800"/>
            <a:ext cx="1524000" cy="142875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C8D8EC"/>
            </a:solidFill>
            <a:prstDash val="solid"/>
          </a:ln>
        </p:spPr>
      </p:sp>
      <p:sp>
        <p:nvSpPr>
          <p:cNvPr id="32" name="Shape 26"/>
          <p:cNvSpPr/>
          <p:nvPr/>
        </p:nvSpPr>
        <p:spPr>
          <a:xfrm>
            <a:off x="1428750" y="2324100"/>
            <a:ext cx="533400" cy="533400"/>
          </a:xfrm>
          <a:prstGeom prst="roundRect">
            <a:avLst>
              <a:gd name="adj" fmla="val 17857"/>
            </a:avLst>
          </a:prstGeom>
          <a:solidFill>
            <a:srgbClr val="1B4F93"/>
          </a:solidFill>
          <a:ln/>
        </p:spPr>
      </p:sp>
      <p:pic>
        <p:nvPicPr>
          <p:cNvPr id="33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546098" y="2441448"/>
            <a:ext cx="298704" cy="298704"/>
          </a:xfrm>
          <a:prstGeom prst="rect">
            <a:avLst/>
          </a:prstGeom>
        </p:spPr>
      </p:pic>
      <p:sp>
        <p:nvSpPr>
          <p:cNvPr id="34" name="Text 27"/>
          <p:cNvSpPr txBox="1"/>
          <p:nvPr/>
        </p:nvSpPr>
        <p:spPr>
          <a:xfrm>
            <a:off x="990600" y="2914650"/>
            <a:ext cx="1409700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F2D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MBREC</a:t>
            </a:r>
            <a:endParaRPr lang="en-US" sz="1200" dirty="0"/>
          </a:p>
        </p:txBody>
      </p:sp>
      <p:sp>
        <p:nvSpPr>
          <p:cNvPr id="35" name="Text 28"/>
          <p:cNvSpPr txBox="1"/>
          <p:nvPr/>
        </p:nvSpPr>
        <p:spPr>
          <a:xfrm>
            <a:off x="1009650" y="3124200"/>
            <a:ext cx="1371600" cy="476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900" dirty="0">
                <a:solidFill>
                  <a:srgbClr val="4A5A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Master-book reconciliation of CATS vs MOTIF</a:t>
            </a:r>
            <a:endParaRPr lang="en-US" sz="900" dirty="0"/>
          </a:p>
        </p:txBody>
      </p:sp>
      <p:sp>
        <p:nvSpPr>
          <p:cNvPr id="36" name="Shape 29"/>
          <p:cNvSpPr/>
          <p:nvPr/>
        </p:nvSpPr>
        <p:spPr>
          <a:xfrm>
            <a:off x="3743325" y="2209800"/>
            <a:ext cx="1524000" cy="142875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C8D8EC"/>
            </a:solidFill>
            <a:prstDash val="solid"/>
          </a:ln>
        </p:spPr>
      </p:sp>
      <p:sp>
        <p:nvSpPr>
          <p:cNvPr id="37" name="Shape 30"/>
          <p:cNvSpPr/>
          <p:nvPr/>
        </p:nvSpPr>
        <p:spPr>
          <a:xfrm>
            <a:off x="4238625" y="2324100"/>
            <a:ext cx="533400" cy="533400"/>
          </a:xfrm>
          <a:prstGeom prst="roundRect">
            <a:avLst>
              <a:gd name="adj" fmla="val 17857"/>
            </a:avLst>
          </a:prstGeom>
          <a:solidFill>
            <a:srgbClr val="2A6EBB"/>
          </a:solidFill>
          <a:ln/>
        </p:spPr>
      </p:sp>
      <p:pic>
        <p:nvPicPr>
          <p:cNvPr id="38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355973" y="2441448"/>
            <a:ext cx="298704" cy="298704"/>
          </a:xfrm>
          <a:prstGeom prst="rect">
            <a:avLst/>
          </a:prstGeom>
        </p:spPr>
      </p:pic>
      <p:sp>
        <p:nvSpPr>
          <p:cNvPr id="39" name="Text 31"/>
          <p:cNvSpPr txBox="1"/>
          <p:nvPr/>
        </p:nvSpPr>
        <p:spPr>
          <a:xfrm>
            <a:off x="3800475" y="2914650"/>
            <a:ext cx="1409700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F2D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Fin UX</a:t>
            </a:r>
            <a:endParaRPr lang="en-US" sz="1200" dirty="0"/>
          </a:p>
        </p:txBody>
      </p:sp>
      <p:sp>
        <p:nvSpPr>
          <p:cNvPr id="40" name="Text 32"/>
          <p:cNvSpPr txBox="1"/>
          <p:nvPr/>
        </p:nvSpPr>
        <p:spPr>
          <a:xfrm>
            <a:off x="3819525" y="3124200"/>
            <a:ext cx="1371600" cy="476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900" dirty="0">
                <a:solidFill>
                  <a:srgbClr val="4A5A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Event hub and business outcome per workspace</a:t>
            </a:r>
            <a:endParaRPr lang="en-US" sz="900" dirty="0"/>
          </a:p>
        </p:txBody>
      </p:sp>
      <p:sp>
        <p:nvSpPr>
          <p:cNvPr id="41" name="Shape 33"/>
          <p:cNvSpPr/>
          <p:nvPr/>
        </p:nvSpPr>
        <p:spPr>
          <a:xfrm>
            <a:off x="6553200" y="2209800"/>
            <a:ext cx="1524000" cy="142875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C8D8EC"/>
            </a:solidFill>
            <a:prstDash val="solid"/>
          </a:ln>
        </p:spPr>
      </p:sp>
      <p:sp>
        <p:nvSpPr>
          <p:cNvPr id="42" name="Shape 34"/>
          <p:cNvSpPr/>
          <p:nvPr/>
        </p:nvSpPr>
        <p:spPr>
          <a:xfrm rot="5400000">
            <a:off x="7048500" y="2324100"/>
            <a:ext cx="533400" cy="490728"/>
          </a:xfrm>
          <a:prstGeom prst="hexagon">
            <a:avLst/>
          </a:prstGeom>
          <a:solidFill>
            <a:srgbClr val="1E8A5A"/>
          </a:solidFill>
          <a:ln/>
        </p:spPr>
      </p:sp>
      <p:sp>
        <p:nvSpPr>
          <p:cNvPr id="43" name="Text 35"/>
          <p:cNvSpPr txBox="1"/>
          <p:nvPr/>
        </p:nvSpPr>
        <p:spPr>
          <a:xfrm>
            <a:off x="7048500" y="2324100"/>
            <a:ext cx="533400" cy="490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352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</a:t>
            </a:r>
            <a:endParaRPr lang="en-US" sz="2352" dirty="0"/>
          </a:p>
        </p:txBody>
      </p:sp>
      <p:sp>
        <p:nvSpPr>
          <p:cNvPr id="44" name="Text 36"/>
          <p:cNvSpPr txBox="1"/>
          <p:nvPr/>
        </p:nvSpPr>
        <p:spPr>
          <a:xfrm>
            <a:off x="6610350" y="2914650"/>
            <a:ext cx="1409700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F2D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Helix Agent</a:t>
            </a:r>
            <a:endParaRPr lang="en-US" sz="1200" dirty="0"/>
          </a:p>
        </p:txBody>
      </p:sp>
      <p:sp>
        <p:nvSpPr>
          <p:cNvPr id="45" name="Text 37"/>
          <p:cNvSpPr txBox="1"/>
          <p:nvPr/>
        </p:nvSpPr>
        <p:spPr>
          <a:xfrm>
            <a:off x="6629400" y="3124200"/>
            <a:ext cx="1371600" cy="476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900" dirty="0">
                <a:solidFill>
                  <a:srgbClr val="4A5A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Orchestrates automated sessions</a:t>
            </a:r>
            <a:endParaRPr lang="en-US" sz="900" dirty="0"/>
          </a:p>
        </p:txBody>
      </p:sp>
      <p:sp>
        <p:nvSpPr>
          <p:cNvPr id="46" name="Shape 38"/>
          <p:cNvSpPr/>
          <p:nvPr/>
        </p:nvSpPr>
        <p:spPr>
          <a:xfrm>
            <a:off x="9363075" y="2209800"/>
            <a:ext cx="1524000" cy="142875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C8D8EC"/>
            </a:solidFill>
            <a:prstDash val="solid"/>
          </a:ln>
        </p:spPr>
      </p:sp>
      <p:sp>
        <p:nvSpPr>
          <p:cNvPr id="47" name="Shape 39"/>
          <p:cNvSpPr/>
          <p:nvPr/>
        </p:nvSpPr>
        <p:spPr>
          <a:xfrm>
            <a:off x="9858375" y="2324100"/>
            <a:ext cx="533400" cy="533400"/>
          </a:xfrm>
          <a:prstGeom prst="roundRect">
            <a:avLst>
              <a:gd name="adj" fmla="val 17857"/>
            </a:avLst>
          </a:prstGeom>
          <a:solidFill>
            <a:srgbClr val="5B4FA8"/>
          </a:solidFill>
          <a:ln/>
        </p:spPr>
      </p:sp>
      <p:pic>
        <p:nvPicPr>
          <p:cNvPr id="48" name="Image 6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9975723" y="2441448"/>
            <a:ext cx="298704" cy="298704"/>
          </a:xfrm>
          <a:prstGeom prst="rect">
            <a:avLst/>
          </a:prstGeom>
        </p:spPr>
      </p:pic>
      <p:sp>
        <p:nvSpPr>
          <p:cNvPr id="49" name="Text 40"/>
          <p:cNvSpPr txBox="1"/>
          <p:nvPr/>
        </p:nvSpPr>
        <p:spPr>
          <a:xfrm>
            <a:off x="9420225" y="2914650"/>
            <a:ext cx="1409700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F2D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 One</a:t>
            </a:r>
            <a:endParaRPr lang="en-US" sz="1200" dirty="0"/>
          </a:p>
        </p:txBody>
      </p:sp>
      <p:sp>
        <p:nvSpPr>
          <p:cNvPr id="50" name="Text 41"/>
          <p:cNvSpPr txBox="1"/>
          <p:nvPr/>
        </p:nvSpPr>
        <p:spPr>
          <a:xfrm>
            <a:off x="9439275" y="3124200"/>
            <a:ext cx="1371600" cy="476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900" dirty="0">
                <a:solidFill>
                  <a:srgbClr val="4A5A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Skill-based investigation: classify, explain, recommend</a:t>
            </a:r>
            <a:endParaRPr lang="en-US" sz="900" dirty="0"/>
          </a:p>
        </p:txBody>
      </p:sp>
      <p:sp>
        <p:nvSpPr>
          <p:cNvPr id="51" name="Shape 42"/>
          <p:cNvSpPr/>
          <p:nvPr/>
        </p:nvSpPr>
        <p:spPr>
          <a:xfrm>
            <a:off x="12172950" y="2209800"/>
            <a:ext cx="1524000" cy="142875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C8D8EC"/>
            </a:solidFill>
            <a:prstDash val="solid"/>
          </a:ln>
        </p:spPr>
      </p:sp>
      <p:sp>
        <p:nvSpPr>
          <p:cNvPr id="52" name="Shape 43"/>
          <p:cNvSpPr/>
          <p:nvPr/>
        </p:nvSpPr>
        <p:spPr>
          <a:xfrm>
            <a:off x="12668250" y="2324100"/>
            <a:ext cx="533400" cy="533400"/>
          </a:xfrm>
          <a:prstGeom prst="roundRect">
            <a:avLst>
              <a:gd name="adj" fmla="val 17857"/>
            </a:avLst>
          </a:prstGeom>
          <a:solidFill>
            <a:srgbClr val="1F6FB5"/>
          </a:solidFill>
          <a:ln/>
        </p:spPr>
      </p:sp>
      <p:pic>
        <p:nvPicPr>
          <p:cNvPr id="53" name="Image 7" descr="preencoded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2785598" y="2441448"/>
            <a:ext cx="298704" cy="298704"/>
          </a:xfrm>
          <a:prstGeom prst="rect">
            <a:avLst/>
          </a:prstGeom>
        </p:spPr>
      </p:pic>
      <p:sp>
        <p:nvSpPr>
          <p:cNvPr id="54" name="Text 44"/>
          <p:cNvSpPr txBox="1"/>
          <p:nvPr/>
        </p:nvSpPr>
        <p:spPr>
          <a:xfrm>
            <a:off x="12230100" y="2914650"/>
            <a:ext cx="1409700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F2D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Helix UI</a:t>
            </a:r>
            <a:endParaRPr lang="en-US" sz="1200" dirty="0"/>
          </a:p>
        </p:txBody>
      </p:sp>
      <p:sp>
        <p:nvSpPr>
          <p:cNvPr id="55" name="Text 45"/>
          <p:cNvSpPr txBox="1"/>
          <p:nvPr/>
        </p:nvSpPr>
        <p:spPr>
          <a:xfrm>
            <a:off x="12249150" y="3124200"/>
            <a:ext cx="1371600" cy="476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900" dirty="0">
                <a:solidFill>
                  <a:srgbClr val="4A5A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Session analysis and chat per workspace</a:t>
            </a:r>
            <a:endParaRPr lang="en-US" sz="900" dirty="0"/>
          </a:p>
        </p:txBody>
      </p:sp>
      <p:sp>
        <p:nvSpPr>
          <p:cNvPr id="56" name="Shape 46"/>
          <p:cNvSpPr/>
          <p:nvPr/>
        </p:nvSpPr>
        <p:spPr>
          <a:xfrm>
            <a:off x="933450" y="4648200"/>
            <a:ext cx="1524000" cy="1257300"/>
          </a:xfrm>
          <a:prstGeom prst="roundRect">
            <a:avLst>
              <a:gd name="adj" fmla="val 4545"/>
            </a:avLst>
          </a:prstGeom>
          <a:solidFill>
            <a:srgbClr val="FFFFFF"/>
          </a:solidFill>
          <a:ln w="12700">
            <a:solidFill>
              <a:srgbClr val="C8D8EC"/>
            </a:solidFill>
            <a:prstDash val="solid"/>
          </a:ln>
        </p:spPr>
      </p:sp>
      <p:sp>
        <p:nvSpPr>
          <p:cNvPr id="57" name="Shape 47"/>
          <p:cNvSpPr/>
          <p:nvPr/>
        </p:nvSpPr>
        <p:spPr>
          <a:xfrm>
            <a:off x="1485900" y="4762500"/>
            <a:ext cx="419100" cy="419100"/>
          </a:xfrm>
          <a:prstGeom prst="roundRect">
            <a:avLst>
              <a:gd name="adj" fmla="val 22727"/>
            </a:avLst>
          </a:prstGeom>
          <a:solidFill>
            <a:srgbClr val="4F7BB5"/>
          </a:solidFill>
          <a:ln/>
        </p:spPr>
      </p:sp>
      <p:pic>
        <p:nvPicPr>
          <p:cNvPr id="58" name="Image 8" descr="preencoded.png">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1578102" y="4854702"/>
            <a:ext cx="234696" cy="234696"/>
          </a:xfrm>
          <a:prstGeom prst="rect">
            <a:avLst/>
          </a:prstGeom>
        </p:spPr>
      </p:pic>
      <p:sp>
        <p:nvSpPr>
          <p:cNvPr id="59" name="Text 48"/>
          <p:cNvSpPr txBox="1"/>
          <p:nvPr/>
        </p:nvSpPr>
        <p:spPr>
          <a:xfrm>
            <a:off x="990600" y="5238750"/>
            <a:ext cx="1409700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F2D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Master Books</a:t>
            </a:r>
            <a:endParaRPr lang="en-US" sz="1200" dirty="0"/>
          </a:p>
        </p:txBody>
      </p:sp>
      <p:sp>
        <p:nvSpPr>
          <p:cNvPr id="60" name="Text 49"/>
          <p:cNvSpPr txBox="1"/>
          <p:nvPr/>
        </p:nvSpPr>
        <p:spPr>
          <a:xfrm>
            <a:off x="1009650" y="5448300"/>
            <a:ext cx="1371600" cy="4191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900" dirty="0">
                <a:solidFill>
                  <a:srgbClr val="4A5A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X books per workspace (FO, BO, other)</a:t>
            </a:r>
            <a:endParaRPr lang="en-US" sz="900" dirty="0"/>
          </a:p>
        </p:txBody>
      </p:sp>
      <p:sp>
        <p:nvSpPr>
          <p:cNvPr id="61" name="Shape 50"/>
          <p:cNvSpPr/>
          <p:nvPr/>
        </p:nvSpPr>
        <p:spPr>
          <a:xfrm>
            <a:off x="3743325" y="4648200"/>
            <a:ext cx="1524000" cy="1257300"/>
          </a:xfrm>
          <a:prstGeom prst="roundRect">
            <a:avLst>
              <a:gd name="adj" fmla="val 4545"/>
            </a:avLst>
          </a:prstGeom>
          <a:solidFill>
            <a:srgbClr val="FFFFFF"/>
          </a:solidFill>
          <a:ln w="12700">
            <a:solidFill>
              <a:srgbClr val="C8D8EC"/>
            </a:solidFill>
            <a:prstDash val="solid"/>
          </a:ln>
        </p:spPr>
      </p:sp>
      <p:sp>
        <p:nvSpPr>
          <p:cNvPr id="62" name="Shape 51"/>
          <p:cNvSpPr/>
          <p:nvPr/>
        </p:nvSpPr>
        <p:spPr>
          <a:xfrm>
            <a:off x="4295775" y="4762500"/>
            <a:ext cx="419100" cy="419100"/>
          </a:xfrm>
          <a:prstGeom prst="roundRect">
            <a:avLst>
              <a:gd name="adj" fmla="val 22727"/>
            </a:avLst>
          </a:prstGeom>
          <a:solidFill>
            <a:srgbClr val="4F86C6"/>
          </a:solidFill>
          <a:ln/>
        </p:spPr>
      </p:sp>
      <p:pic>
        <p:nvPicPr>
          <p:cNvPr id="63" name="Image 9" descr="preencoded.png">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4387977" y="4854702"/>
            <a:ext cx="234696" cy="234696"/>
          </a:xfrm>
          <a:prstGeom prst="rect">
            <a:avLst/>
          </a:prstGeom>
        </p:spPr>
      </p:pic>
      <p:sp>
        <p:nvSpPr>
          <p:cNvPr id="64" name="Text 52"/>
          <p:cNvSpPr txBox="1"/>
          <p:nvPr/>
        </p:nvSpPr>
        <p:spPr>
          <a:xfrm>
            <a:off x="3800475" y="5238750"/>
            <a:ext cx="1409700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F2D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Business Outcome</a:t>
            </a:r>
            <a:endParaRPr lang="en-US" sz="1200" dirty="0"/>
          </a:p>
        </p:txBody>
      </p:sp>
      <p:sp>
        <p:nvSpPr>
          <p:cNvPr id="65" name="Text 53"/>
          <p:cNvSpPr txBox="1"/>
          <p:nvPr/>
        </p:nvSpPr>
        <p:spPr>
          <a:xfrm>
            <a:off x="3819525" y="5448300"/>
            <a:ext cx="1371600" cy="4191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900" dirty="0">
                <a:solidFill>
                  <a:srgbClr val="4A5A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Ready when all X books are available</a:t>
            </a:r>
            <a:endParaRPr lang="en-US" sz="900" dirty="0"/>
          </a:p>
        </p:txBody>
      </p:sp>
      <p:sp>
        <p:nvSpPr>
          <p:cNvPr id="66" name="Shape 54"/>
          <p:cNvSpPr/>
          <p:nvPr/>
        </p:nvSpPr>
        <p:spPr>
          <a:xfrm>
            <a:off x="6553200" y="4648200"/>
            <a:ext cx="1524000" cy="1257300"/>
          </a:xfrm>
          <a:prstGeom prst="roundRect">
            <a:avLst>
              <a:gd name="adj" fmla="val 4545"/>
            </a:avLst>
          </a:prstGeom>
          <a:solidFill>
            <a:srgbClr val="FFFFFF"/>
          </a:solidFill>
          <a:ln w="12700">
            <a:solidFill>
              <a:srgbClr val="C8D8EC"/>
            </a:solidFill>
            <a:prstDash val="solid"/>
          </a:ln>
        </p:spPr>
      </p:sp>
      <p:sp>
        <p:nvSpPr>
          <p:cNvPr id="67" name="Shape 55"/>
          <p:cNvSpPr/>
          <p:nvPr/>
        </p:nvSpPr>
        <p:spPr>
          <a:xfrm>
            <a:off x="7105650" y="4762500"/>
            <a:ext cx="419100" cy="419100"/>
          </a:xfrm>
          <a:prstGeom prst="roundRect">
            <a:avLst>
              <a:gd name="adj" fmla="val 22727"/>
            </a:avLst>
          </a:prstGeom>
          <a:solidFill>
            <a:srgbClr val="3AA070"/>
          </a:solidFill>
          <a:ln/>
        </p:spPr>
      </p:sp>
      <p:pic>
        <p:nvPicPr>
          <p:cNvPr id="68" name="Image 10" descr="preencoded.png">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7197852" y="4854702"/>
            <a:ext cx="234696" cy="234696"/>
          </a:xfrm>
          <a:prstGeom prst="rect">
            <a:avLst/>
          </a:prstGeom>
        </p:spPr>
      </p:pic>
      <p:sp>
        <p:nvSpPr>
          <p:cNvPr id="69" name="Text 56"/>
          <p:cNvSpPr txBox="1"/>
          <p:nvPr/>
        </p:nvSpPr>
        <p:spPr>
          <a:xfrm>
            <a:off x="6610350" y="5238750"/>
            <a:ext cx="1409700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F2D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Readiness Check</a:t>
            </a:r>
            <a:endParaRPr lang="en-US" sz="1200" dirty="0"/>
          </a:p>
        </p:txBody>
      </p:sp>
      <p:sp>
        <p:nvSpPr>
          <p:cNvPr id="70" name="Text 57"/>
          <p:cNvSpPr txBox="1"/>
          <p:nvPr/>
        </p:nvSpPr>
        <p:spPr>
          <a:xfrm>
            <a:off x="6629400" y="5448300"/>
            <a:ext cx="1371600" cy="4191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900" dirty="0">
                <a:solidFill>
                  <a:srgbClr val="4A5A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Validates workspace before session start</a:t>
            </a:r>
            <a:endParaRPr lang="en-US" sz="900" dirty="0"/>
          </a:p>
        </p:txBody>
      </p:sp>
      <p:sp>
        <p:nvSpPr>
          <p:cNvPr id="71" name="Shape 58"/>
          <p:cNvSpPr/>
          <p:nvPr/>
        </p:nvSpPr>
        <p:spPr>
          <a:xfrm>
            <a:off x="9010650" y="4648200"/>
            <a:ext cx="1085850" cy="1257300"/>
          </a:xfrm>
          <a:prstGeom prst="roundRect">
            <a:avLst>
              <a:gd name="adj" fmla="val 5263"/>
            </a:avLst>
          </a:prstGeom>
          <a:solidFill>
            <a:srgbClr val="FFFFFF"/>
          </a:solidFill>
          <a:ln w="12700">
            <a:solidFill>
              <a:srgbClr val="C8D8EC"/>
            </a:solidFill>
            <a:prstDash val="solid"/>
          </a:ln>
        </p:spPr>
      </p:sp>
      <p:sp>
        <p:nvSpPr>
          <p:cNvPr id="72" name="Shape 59"/>
          <p:cNvSpPr/>
          <p:nvPr/>
        </p:nvSpPr>
        <p:spPr>
          <a:xfrm>
            <a:off x="9363075" y="4743450"/>
            <a:ext cx="381000" cy="381000"/>
          </a:xfrm>
          <a:prstGeom prst="roundRect">
            <a:avLst>
              <a:gd name="adj" fmla="val 22500"/>
            </a:avLst>
          </a:prstGeom>
          <a:solidFill>
            <a:srgbClr val="7A6FC0"/>
          </a:solidFill>
          <a:ln/>
        </p:spPr>
      </p:sp>
      <p:pic>
        <p:nvPicPr>
          <p:cNvPr id="73" name="Image 11" descr="preencoded.png">    </p:cNvPr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9448800" y="4829175"/>
            <a:ext cx="209550" cy="209550"/>
          </a:xfrm>
          <a:prstGeom prst="rect">
            <a:avLst/>
          </a:prstGeom>
        </p:spPr>
      </p:pic>
      <p:sp>
        <p:nvSpPr>
          <p:cNvPr id="74" name="Text 60"/>
          <p:cNvSpPr txBox="1"/>
          <p:nvPr/>
        </p:nvSpPr>
        <p:spPr>
          <a:xfrm>
            <a:off x="9048750" y="5162550"/>
            <a:ext cx="100965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F2D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(MCP)</a:t>
            </a:r>
            <a:endParaRPr lang="en-US" sz="1100" dirty="0"/>
          </a:p>
        </p:txBody>
      </p:sp>
      <p:sp>
        <p:nvSpPr>
          <p:cNvPr id="75" name="Text 61"/>
          <p:cNvSpPr txBox="1"/>
          <p:nvPr/>
        </p:nvSpPr>
        <p:spPr>
          <a:xfrm>
            <a:off x="9067800" y="5353050"/>
            <a:ext cx="971550" cy="533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850" dirty="0">
                <a:solidFill>
                  <a:srgbClr val="4A5A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MB Rec data and other data</a:t>
            </a:r>
            <a:endParaRPr lang="en-US" sz="850" dirty="0"/>
          </a:p>
        </p:txBody>
      </p:sp>
      <p:sp>
        <p:nvSpPr>
          <p:cNvPr id="76" name="Shape 62"/>
          <p:cNvSpPr/>
          <p:nvPr/>
        </p:nvSpPr>
        <p:spPr>
          <a:xfrm>
            <a:off x="10153650" y="4648200"/>
            <a:ext cx="1085850" cy="1257300"/>
          </a:xfrm>
          <a:prstGeom prst="roundRect">
            <a:avLst>
              <a:gd name="adj" fmla="val 5263"/>
            </a:avLst>
          </a:prstGeom>
          <a:solidFill>
            <a:srgbClr val="FFFFFF"/>
          </a:solidFill>
          <a:ln w="12700">
            <a:solidFill>
              <a:srgbClr val="C8D8EC"/>
            </a:solidFill>
            <a:prstDash val="solid"/>
          </a:ln>
        </p:spPr>
      </p:sp>
      <p:sp>
        <p:nvSpPr>
          <p:cNvPr id="77" name="Shape 63"/>
          <p:cNvSpPr/>
          <p:nvPr/>
        </p:nvSpPr>
        <p:spPr>
          <a:xfrm>
            <a:off x="10506075" y="4743450"/>
            <a:ext cx="381000" cy="381000"/>
          </a:xfrm>
          <a:prstGeom prst="roundRect">
            <a:avLst>
              <a:gd name="adj" fmla="val 22500"/>
            </a:avLst>
          </a:prstGeom>
          <a:solidFill>
            <a:srgbClr val="C0392B"/>
          </a:solidFill>
          <a:ln/>
        </p:spPr>
      </p:sp>
      <p:pic>
        <p:nvPicPr>
          <p:cNvPr id="78" name="Image 12" descr="preencoded.png">    </p:cNvPr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10591800" y="4829175"/>
            <a:ext cx="209550" cy="209550"/>
          </a:xfrm>
          <a:prstGeom prst="rect">
            <a:avLst/>
          </a:prstGeom>
        </p:spPr>
      </p:pic>
      <p:sp>
        <p:nvSpPr>
          <p:cNvPr id="79" name="Text 64"/>
          <p:cNvSpPr txBox="1"/>
          <p:nvPr/>
        </p:nvSpPr>
        <p:spPr>
          <a:xfrm>
            <a:off x="10191750" y="5162550"/>
            <a:ext cx="100965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F2D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FAS Services</a:t>
            </a:r>
            <a:endParaRPr lang="en-US" sz="1100" dirty="0"/>
          </a:p>
        </p:txBody>
      </p:sp>
      <p:sp>
        <p:nvSpPr>
          <p:cNvPr id="80" name="Text 65"/>
          <p:cNvSpPr txBox="1"/>
          <p:nvPr/>
        </p:nvSpPr>
        <p:spPr>
          <a:xfrm>
            <a:off x="10210800" y="5353050"/>
            <a:ext cx="971550" cy="533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850" dirty="0">
                <a:solidFill>
                  <a:srgbClr val="4A5A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Posts adjustments to MOTIF via MCP</a:t>
            </a:r>
            <a:endParaRPr lang="en-US" sz="850" dirty="0"/>
          </a:p>
        </p:txBody>
      </p:sp>
      <p:sp>
        <p:nvSpPr>
          <p:cNvPr id="81" name="Shape 66"/>
          <p:cNvSpPr/>
          <p:nvPr/>
        </p:nvSpPr>
        <p:spPr>
          <a:xfrm>
            <a:off x="12172950" y="4648200"/>
            <a:ext cx="1524000" cy="1257300"/>
          </a:xfrm>
          <a:prstGeom prst="roundRect">
            <a:avLst>
              <a:gd name="adj" fmla="val 4545"/>
            </a:avLst>
          </a:prstGeom>
          <a:solidFill>
            <a:srgbClr val="FFFFFF"/>
          </a:solidFill>
          <a:ln w="12700">
            <a:solidFill>
              <a:srgbClr val="C8D8EC"/>
            </a:solidFill>
            <a:prstDash val="solid"/>
          </a:ln>
        </p:spPr>
      </p:sp>
      <p:sp>
        <p:nvSpPr>
          <p:cNvPr id="82" name="Shape 67"/>
          <p:cNvSpPr/>
          <p:nvPr/>
        </p:nvSpPr>
        <p:spPr>
          <a:xfrm>
            <a:off x="12725400" y="4762500"/>
            <a:ext cx="419100" cy="419100"/>
          </a:xfrm>
          <a:prstGeom prst="roundRect">
            <a:avLst>
              <a:gd name="adj" fmla="val 22727"/>
            </a:avLst>
          </a:prstGeom>
          <a:solidFill>
            <a:srgbClr val="3F86C8"/>
          </a:solidFill>
          <a:ln/>
        </p:spPr>
      </p:sp>
      <p:pic>
        <p:nvPicPr>
          <p:cNvPr id="83" name="Image 13" descr="preencoded.png">    </p:cNvPr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12817602" y="4854702"/>
            <a:ext cx="234696" cy="234696"/>
          </a:xfrm>
          <a:prstGeom prst="rect">
            <a:avLst/>
          </a:prstGeom>
        </p:spPr>
      </p:pic>
      <p:sp>
        <p:nvSpPr>
          <p:cNvPr id="84" name="Text 68"/>
          <p:cNvSpPr txBox="1"/>
          <p:nvPr/>
        </p:nvSpPr>
        <p:spPr>
          <a:xfrm>
            <a:off x="12230100" y="5238750"/>
            <a:ext cx="1409700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F2D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Controller</a:t>
            </a:r>
            <a:endParaRPr lang="en-US" sz="1200" dirty="0"/>
          </a:p>
        </p:txBody>
      </p:sp>
      <p:sp>
        <p:nvSpPr>
          <p:cNvPr id="85" name="Text 69"/>
          <p:cNvSpPr txBox="1"/>
          <p:nvPr/>
        </p:nvSpPr>
        <p:spPr>
          <a:xfrm>
            <a:off x="12249150" y="5448300"/>
            <a:ext cx="1371600" cy="4191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900" dirty="0">
                <a:solidFill>
                  <a:srgbClr val="4A5A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Arrives at desk time, approves adjustments</a:t>
            </a:r>
            <a:endParaRPr lang="en-US" sz="900" dirty="0"/>
          </a:p>
        </p:txBody>
      </p:sp>
      <p:sp>
        <p:nvSpPr>
          <p:cNvPr id="86" name="Shape 70"/>
          <p:cNvSpPr/>
          <p:nvPr/>
        </p:nvSpPr>
        <p:spPr>
          <a:xfrm>
            <a:off x="2495550" y="2609850"/>
            <a:ext cx="1209675" cy="0"/>
          </a:xfrm>
          <a:prstGeom prst="line">
            <a:avLst/>
          </a:prstGeom>
          <a:noFill/>
          <a:ln w="22225">
            <a:solidFill>
              <a:srgbClr val="1B4F93"/>
            </a:solidFill>
            <a:prstDash val="solid"/>
            <a:tailEnd type="triangle"/>
          </a:ln>
        </p:spPr>
      </p:sp>
      <p:sp>
        <p:nvSpPr>
          <p:cNvPr id="87" name="Shape 71"/>
          <p:cNvSpPr/>
          <p:nvPr/>
        </p:nvSpPr>
        <p:spPr>
          <a:xfrm>
            <a:off x="2533650" y="2266950"/>
            <a:ext cx="209550" cy="209550"/>
          </a:xfrm>
          <a:prstGeom prst="ellipse">
            <a:avLst/>
          </a:prstGeom>
          <a:solidFill>
            <a:srgbClr val="1B4F93"/>
          </a:solidFill>
          <a:ln/>
        </p:spPr>
      </p:sp>
      <p:sp>
        <p:nvSpPr>
          <p:cNvPr id="88" name="Text 72"/>
          <p:cNvSpPr txBox="1"/>
          <p:nvPr/>
        </p:nvSpPr>
        <p:spPr>
          <a:xfrm>
            <a:off x="2533650" y="2266950"/>
            <a:ext cx="209550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000" dirty="0"/>
          </a:p>
        </p:txBody>
      </p:sp>
      <p:sp>
        <p:nvSpPr>
          <p:cNvPr id="89" name="Text 73"/>
          <p:cNvSpPr txBox="1"/>
          <p:nvPr/>
        </p:nvSpPr>
        <p:spPr>
          <a:xfrm>
            <a:off x="2781300" y="2190750"/>
            <a:ext cx="904875" cy="285750"/>
          </a:xfrm>
          <a:prstGeom prst="rect">
            <a:avLst/>
          </a:prstGeom>
          <a:solidFill>
            <a:srgbClr val="F7FAFD"/>
          </a:solidFill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900" dirty="0">
                <a:solidFill>
                  <a:srgbClr val="1F2D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Book availability events</a:t>
            </a:r>
            <a:endParaRPr lang="en-US" sz="900" dirty="0"/>
          </a:p>
        </p:txBody>
      </p:sp>
      <p:sp>
        <p:nvSpPr>
          <p:cNvPr id="90" name="Shape 74"/>
          <p:cNvSpPr/>
          <p:nvPr/>
        </p:nvSpPr>
        <p:spPr>
          <a:xfrm>
            <a:off x="5305425" y="2609850"/>
            <a:ext cx="1209675" cy="0"/>
          </a:xfrm>
          <a:prstGeom prst="line">
            <a:avLst/>
          </a:prstGeom>
          <a:noFill/>
          <a:ln w="22225">
            <a:solidFill>
              <a:srgbClr val="2A6EBB"/>
            </a:solidFill>
            <a:prstDash val="solid"/>
            <a:tailEnd type="triangle"/>
          </a:ln>
        </p:spPr>
      </p:sp>
      <p:sp>
        <p:nvSpPr>
          <p:cNvPr id="91" name="Shape 75"/>
          <p:cNvSpPr/>
          <p:nvPr/>
        </p:nvSpPr>
        <p:spPr>
          <a:xfrm>
            <a:off x="5343525" y="2266950"/>
            <a:ext cx="209550" cy="209550"/>
          </a:xfrm>
          <a:prstGeom prst="ellipse">
            <a:avLst/>
          </a:prstGeom>
          <a:solidFill>
            <a:srgbClr val="2A6EBB"/>
          </a:solidFill>
          <a:ln/>
        </p:spPr>
      </p:sp>
      <p:sp>
        <p:nvSpPr>
          <p:cNvPr id="92" name="Text 76"/>
          <p:cNvSpPr txBox="1"/>
          <p:nvPr/>
        </p:nvSpPr>
        <p:spPr>
          <a:xfrm>
            <a:off x="5343525" y="2266950"/>
            <a:ext cx="209550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000" dirty="0"/>
          </a:p>
        </p:txBody>
      </p:sp>
      <p:sp>
        <p:nvSpPr>
          <p:cNvPr id="93" name="Text 77"/>
          <p:cNvSpPr txBox="1"/>
          <p:nvPr/>
        </p:nvSpPr>
        <p:spPr>
          <a:xfrm>
            <a:off x="5591175" y="2190750"/>
            <a:ext cx="904875" cy="285750"/>
          </a:xfrm>
          <a:prstGeom prst="rect">
            <a:avLst/>
          </a:prstGeom>
          <a:solidFill>
            <a:srgbClr val="F7FAFD"/>
          </a:solidFill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900" dirty="0">
                <a:solidFill>
                  <a:srgbClr val="1F2D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Final Ready event</a:t>
            </a:r>
            <a:endParaRPr lang="en-US" sz="900" dirty="0"/>
          </a:p>
        </p:txBody>
      </p:sp>
      <p:sp>
        <p:nvSpPr>
          <p:cNvPr id="94" name="Shape 78"/>
          <p:cNvSpPr/>
          <p:nvPr/>
        </p:nvSpPr>
        <p:spPr>
          <a:xfrm>
            <a:off x="8115300" y="2609850"/>
            <a:ext cx="1209675" cy="0"/>
          </a:xfrm>
          <a:prstGeom prst="line">
            <a:avLst/>
          </a:prstGeom>
          <a:noFill/>
          <a:ln w="22225">
            <a:solidFill>
              <a:srgbClr val="1E8A5A"/>
            </a:solidFill>
            <a:prstDash val="solid"/>
            <a:tailEnd type="triangle"/>
          </a:ln>
        </p:spPr>
      </p:sp>
      <p:sp>
        <p:nvSpPr>
          <p:cNvPr id="95" name="Shape 79"/>
          <p:cNvSpPr/>
          <p:nvPr/>
        </p:nvSpPr>
        <p:spPr>
          <a:xfrm>
            <a:off x="8153400" y="2266950"/>
            <a:ext cx="209550" cy="209550"/>
          </a:xfrm>
          <a:prstGeom prst="ellipse">
            <a:avLst/>
          </a:prstGeom>
          <a:solidFill>
            <a:srgbClr val="1E8A5A"/>
          </a:solidFill>
          <a:ln/>
        </p:spPr>
      </p:sp>
      <p:sp>
        <p:nvSpPr>
          <p:cNvPr id="96" name="Text 80"/>
          <p:cNvSpPr txBox="1"/>
          <p:nvPr/>
        </p:nvSpPr>
        <p:spPr>
          <a:xfrm>
            <a:off x="8153400" y="2266950"/>
            <a:ext cx="209550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000" dirty="0"/>
          </a:p>
        </p:txBody>
      </p:sp>
      <p:sp>
        <p:nvSpPr>
          <p:cNvPr id="97" name="Text 81"/>
          <p:cNvSpPr txBox="1"/>
          <p:nvPr/>
        </p:nvSpPr>
        <p:spPr>
          <a:xfrm>
            <a:off x="8401050" y="2190750"/>
            <a:ext cx="904875" cy="285750"/>
          </a:xfrm>
          <a:prstGeom prst="rect">
            <a:avLst/>
          </a:prstGeom>
          <a:solidFill>
            <a:srgbClr val="F7FAFD"/>
          </a:solidFill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900" dirty="0">
                <a:solidFill>
                  <a:srgbClr val="1F2D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Start automated session</a:t>
            </a:r>
            <a:endParaRPr lang="en-US" sz="900" dirty="0"/>
          </a:p>
        </p:txBody>
      </p:sp>
      <p:sp>
        <p:nvSpPr>
          <p:cNvPr id="98" name="Shape 82"/>
          <p:cNvSpPr/>
          <p:nvPr/>
        </p:nvSpPr>
        <p:spPr>
          <a:xfrm>
            <a:off x="10925175" y="2609850"/>
            <a:ext cx="1209675" cy="0"/>
          </a:xfrm>
          <a:prstGeom prst="line">
            <a:avLst/>
          </a:prstGeom>
          <a:noFill/>
          <a:ln w="22225">
            <a:solidFill>
              <a:srgbClr val="5B4FA8"/>
            </a:solidFill>
            <a:prstDash val="solid"/>
            <a:tailEnd type="triangle"/>
          </a:ln>
        </p:spPr>
      </p:sp>
      <p:sp>
        <p:nvSpPr>
          <p:cNvPr id="99" name="Shape 83"/>
          <p:cNvSpPr/>
          <p:nvPr/>
        </p:nvSpPr>
        <p:spPr>
          <a:xfrm>
            <a:off x="10963275" y="2266950"/>
            <a:ext cx="209550" cy="209550"/>
          </a:xfrm>
          <a:prstGeom prst="ellipse">
            <a:avLst/>
          </a:prstGeom>
          <a:solidFill>
            <a:srgbClr val="5B4FA8"/>
          </a:solidFill>
          <a:ln/>
        </p:spPr>
      </p:sp>
      <p:sp>
        <p:nvSpPr>
          <p:cNvPr id="100" name="Text 84"/>
          <p:cNvSpPr txBox="1"/>
          <p:nvPr/>
        </p:nvSpPr>
        <p:spPr>
          <a:xfrm>
            <a:off x="10963275" y="2266950"/>
            <a:ext cx="209550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000" dirty="0"/>
          </a:p>
        </p:txBody>
      </p:sp>
      <p:sp>
        <p:nvSpPr>
          <p:cNvPr id="101" name="Text 85"/>
          <p:cNvSpPr txBox="1"/>
          <p:nvPr/>
        </p:nvSpPr>
        <p:spPr>
          <a:xfrm>
            <a:off x="11210925" y="2190750"/>
            <a:ext cx="904875" cy="285750"/>
          </a:xfrm>
          <a:prstGeom prst="rect">
            <a:avLst/>
          </a:prstGeom>
          <a:solidFill>
            <a:srgbClr val="F7FAFD"/>
          </a:solidFill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900" dirty="0">
                <a:solidFill>
                  <a:srgbClr val="1F2D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Session analysis published</a:t>
            </a:r>
            <a:endParaRPr lang="en-US" sz="900" dirty="0"/>
          </a:p>
        </p:txBody>
      </p:sp>
      <p:sp>
        <p:nvSpPr>
          <p:cNvPr id="102" name="Shape 86"/>
          <p:cNvSpPr/>
          <p:nvPr/>
        </p:nvSpPr>
        <p:spPr>
          <a:xfrm>
            <a:off x="10925175" y="2895600"/>
            <a:ext cx="1209675" cy="0"/>
          </a:xfrm>
          <a:prstGeom prst="line">
            <a:avLst/>
          </a:prstGeom>
          <a:noFill/>
          <a:ln w="22225">
            <a:solidFill>
              <a:srgbClr val="1F6FB5"/>
            </a:solidFill>
            <a:prstDash val="solid"/>
            <a:headEnd type="triangle"/>
          </a:ln>
        </p:spPr>
      </p:sp>
      <p:sp>
        <p:nvSpPr>
          <p:cNvPr id="103" name="Shape 87"/>
          <p:cNvSpPr/>
          <p:nvPr/>
        </p:nvSpPr>
        <p:spPr>
          <a:xfrm>
            <a:off x="10963275" y="3009900"/>
            <a:ext cx="209550" cy="209550"/>
          </a:xfrm>
          <a:prstGeom prst="ellipse">
            <a:avLst/>
          </a:prstGeom>
          <a:solidFill>
            <a:srgbClr val="1F6FB5"/>
          </a:solidFill>
          <a:ln/>
        </p:spPr>
      </p:sp>
      <p:sp>
        <p:nvSpPr>
          <p:cNvPr id="104" name="Text 88"/>
          <p:cNvSpPr txBox="1"/>
          <p:nvPr/>
        </p:nvSpPr>
        <p:spPr>
          <a:xfrm>
            <a:off x="10963275" y="3009900"/>
            <a:ext cx="209550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1000" dirty="0"/>
          </a:p>
        </p:txBody>
      </p:sp>
      <p:sp>
        <p:nvSpPr>
          <p:cNvPr id="105" name="Text 89"/>
          <p:cNvSpPr txBox="1"/>
          <p:nvPr/>
        </p:nvSpPr>
        <p:spPr>
          <a:xfrm>
            <a:off x="11210925" y="2990850"/>
            <a:ext cx="904875" cy="285750"/>
          </a:xfrm>
          <a:prstGeom prst="rect">
            <a:avLst/>
          </a:prstGeom>
          <a:solidFill>
            <a:srgbClr val="F7FAFD"/>
          </a:solidFill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1F2D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Q&amp;A and approval (same session)</a:t>
            </a:r>
            <a:endParaRPr lang="en-US" sz="900" dirty="0"/>
          </a:p>
        </p:txBody>
      </p:sp>
      <p:sp>
        <p:nvSpPr>
          <p:cNvPr id="106" name="Shape 90"/>
          <p:cNvSpPr/>
          <p:nvPr/>
        </p:nvSpPr>
        <p:spPr>
          <a:xfrm>
            <a:off x="1695450" y="3638550"/>
            <a:ext cx="0" cy="1009650"/>
          </a:xfrm>
          <a:prstGeom prst="line">
            <a:avLst/>
          </a:prstGeom>
          <a:noFill/>
          <a:ln w="19050">
            <a:solidFill>
              <a:srgbClr val="4F7BB5"/>
            </a:solidFill>
            <a:prstDash val="dash"/>
            <a:headEnd type="triangle"/>
          </a:ln>
        </p:spPr>
      </p:sp>
      <p:sp>
        <p:nvSpPr>
          <p:cNvPr id="107" name="Text 91"/>
          <p:cNvSpPr txBox="1"/>
          <p:nvPr/>
        </p:nvSpPr>
        <p:spPr>
          <a:xfrm>
            <a:off x="1771650" y="3971925"/>
            <a:ext cx="857250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F2D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 data</a:t>
            </a:r>
            <a:endParaRPr lang="en-US" sz="900" dirty="0"/>
          </a:p>
        </p:txBody>
      </p:sp>
      <p:sp>
        <p:nvSpPr>
          <p:cNvPr id="108" name="Shape 92"/>
          <p:cNvSpPr/>
          <p:nvPr/>
        </p:nvSpPr>
        <p:spPr>
          <a:xfrm>
            <a:off x="4505325" y="3638550"/>
            <a:ext cx="0" cy="1009650"/>
          </a:xfrm>
          <a:prstGeom prst="line">
            <a:avLst/>
          </a:prstGeom>
          <a:noFill/>
          <a:ln w="19050">
            <a:solidFill>
              <a:srgbClr val="2A6EBB"/>
            </a:solidFill>
            <a:prstDash val="dash"/>
            <a:tailEnd type="triangle"/>
          </a:ln>
        </p:spPr>
      </p:sp>
      <p:sp>
        <p:nvSpPr>
          <p:cNvPr id="109" name="Text 93"/>
          <p:cNvSpPr txBox="1"/>
          <p:nvPr/>
        </p:nvSpPr>
        <p:spPr>
          <a:xfrm>
            <a:off x="4581525" y="3971925"/>
            <a:ext cx="857250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F2D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Evaluates</a:t>
            </a:r>
            <a:endParaRPr lang="en-US" sz="900" dirty="0"/>
          </a:p>
        </p:txBody>
      </p:sp>
      <p:sp>
        <p:nvSpPr>
          <p:cNvPr id="110" name="Shape 94"/>
          <p:cNvSpPr/>
          <p:nvPr/>
        </p:nvSpPr>
        <p:spPr>
          <a:xfrm>
            <a:off x="7315200" y="3638550"/>
            <a:ext cx="0" cy="1009650"/>
          </a:xfrm>
          <a:prstGeom prst="line">
            <a:avLst/>
          </a:prstGeom>
          <a:noFill/>
          <a:ln w="19050">
            <a:solidFill>
              <a:srgbClr val="1E8A5A"/>
            </a:solidFill>
            <a:prstDash val="dash"/>
            <a:tailEnd type="triangle"/>
          </a:ln>
        </p:spPr>
      </p:sp>
      <p:sp>
        <p:nvSpPr>
          <p:cNvPr id="111" name="Text 95"/>
          <p:cNvSpPr txBox="1"/>
          <p:nvPr/>
        </p:nvSpPr>
        <p:spPr>
          <a:xfrm>
            <a:off x="7391400" y="3971925"/>
            <a:ext cx="857250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F2D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Checks</a:t>
            </a:r>
            <a:endParaRPr lang="en-US" sz="900" dirty="0"/>
          </a:p>
        </p:txBody>
      </p:sp>
      <p:sp>
        <p:nvSpPr>
          <p:cNvPr id="112" name="Shape 96"/>
          <p:cNvSpPr/>
          <p:nvPr/>
        </p:nvSpPr>
        <p:spPr>
          <a:xfrm>
            <a:off x="9553575" y="3638550"/>
            <a:ext cx="0" cy="1009650"/>
          </a:xfrm>
          <a:prstGeom prst="line">
            <a:avLst/>
          </a:prstGeom>
          <a:noFill/>
          <a:ln w="19050">
            <a:solidFill>
              <a:srgbClr val="5B4FA8"/>
            </a:solidFill>
            <a:prstDash val="solid"/>
            <a:tailEnd type="triangle"/>
          </a:ln>
        </p:spPr>
      </p:sp>
      <p:sp>
        <p:nvSpPr>
          <p:cNvPr id="113" name="Shape 97"/>
          <p:cNvSpPr/>
          <p:nvPr/>
        </p:nvSpPr>
        <p:spPr>
          <a:xfrm>
            <a:off x="9610725" y="3943350"/>
            <a:ext cx="209550" cy="209550"/>
          </a:xfrm>
          <a:prstGeom prst="ellipse">
            <a:avLst/>
          </a:prstGeom>
          <a:solidFill>
            <a:srgbClr val="5B4FA8"/>
          </a:solidFill>
          <a:ln/>
        </p:spPr>
      </p:sp>
      <p:sp>
        <p:nvSpPr>
          <p:cNvPr id="114" name="Text 98"/>
          <p:cNvSpPr txBox="1"/>
          <p:nvPr/>
        </p:nvSpPr>
        <p:spPr>
          <a:xfrm>
            <a:off x="9610725" y="3943350"/>
            <a:ext cx="209550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000" dirty="0"/>
          </a:p>
        </p:txBody>
      </p:sp>
      <p:sp>
        <p:nvSpPr>
          <p:cNvPr id="115" name="Text 99"/>
          <p:cNvSpPr txBox="1"/>
          <p:nvPr/>
        </p:nvSpPr>
        <p:spPr>
          <a:xfrm>
            <a:off x="9610725" y="4171950"/>
            <a:ext cx="57150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1F2D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Fetch data</a:t>
            </a:r>
            <a:endParaRPr lang="en-US" sz="850" dirty="0"/>
          </a:p>
        </p:txBody>
      </p:sp>
      <p:sp>
        <p:nvSpPr>
          <p:cNvPr id="116" name="Shape 100"/>
          <p:cNvSpPr/>
          <p:nvPr/>
        </p:nvSpPr>
        <p:spPr>
          <a:xfrm>
            <a:off x="10696575" y="3638550"/>
            <a:ext cx="0" cy="1009650"/>
          </a:xfrm>
          <a:prstGeom prst="line">
            <a:avLst/>
          </a:prstGeom>
          <a:noFill/>
          <a:ln w="19050">
            <a:solidFill>
              <a:srgbClr val="C0392B"/>
            </a:solidFill>
            <a:prstDash val="solid"/>
            <a:tailEnd type="triangle"/>
          </a:ln>
        </p:spPr>
      </p:sp>
      <p:sp>
        <p:nvSpPr>
          <p:cNvPr id="117" name="Shape 101"/>
          <p:cNvSpPr/>
          <p:nvPr/>
        </p:nvSpPr>
        <p:spPr>
          <a:xfrm>
            <a:off x="10753725" y="3943350"/>
            <a:ext cx="209550" cy="209550"/>
          </a:xfrm>
          <a:prstGeom prst="ellipse">
            <a:avLst/>
          </a:prstGeom>
          <a:solidFill>
            <a:srgbClr val="C0392B"/>
          </a:solidFill>
          <a:ln/>
        </p:spPr>
      </p:sp>
      <p:sp>
        <p:nvSpPr>
          <p:cNvPr id="118" name="Text 102"/>
          <p:cNvSpPr txBox="1"/>
          <p:nvPr/>
        </p:nvSpPr>
        <p:spPr>
          <a:xfrm>
            <a:off x="10753725" y="3943350"/>
            <a:ext cx="209550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1000" dirty="0"/>
          </a:p>
        </p:txBody>
      </p:sp>
      <p:sp>
        <p:nvSpPr>
          <p:cNvPr id="119" name="Text 103"/>
          <p:cNvSpPr txBox="1"/>
          <p:nvPr/>
        </p:nvSpPr>
        <p:spPr>
          <a:xfrm>
            <a:off x="10753725" y="4171950"/>
            <a:ext cx="590550" cy="3238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1F2D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Post approved adjustment</a:t>
            </a:r>
            <a:endParaRPr lang="en-US" sz="850" dirty="0"/>
          </a:p>
        </p:txBody>
      </p:sp>
      <p:sp>
        <p:nvSpPr>
          <p:cNvPr id="120" name="Shape 104"/>
          <p:cNvSpPr/>
          <p:nvPr/>
        </p:nvSpPr>
        <p:spPr>
          <a:xfrm>
            <a:off x="12934950" y="3638550"/>
            <a:ext cx="0" cy="1009650"/>
          </a:xfrm>
          <a:prstGeom prst="line">
            <a:avLst/>
          </a:prstGeom>
          <a:noFill/>
          <a:ln w="19050">
            <a:solidFill>
              <a:srgbClr val="1F6FB5"/>
            </a:solidFill>
            <a:prstDash val="solid"/>
            <a:headEnd type="triangle"/>
          </a:ln>
        </p:spPr>
      </p:sp>
      <p:sp>
        <p:nvSpPr>
          <p:cNvPr id="121" name="Shape 105"/>
          <p:cNvSpPr/>
          <p:nvPr/>
        </p:nvSpPr>
        <p:spPr>
          <a:xfrm>
            <a:off x="13011150" y="4038600"/>
            <a:ext cx="209550" cy="209550"/>
          </a:xfrm>
          <a:prstGeom prst="ellipse">
            <a:avLst/>
          </a:prstGeom>
          <a:solidFill>
            <a:srgbClr val="1F6FB5"/>
          </a:solidFill>
          <a:ln/>
        </p:spPr>
      </p:sp>
      <p:sp>
        <p:nvSpPr>
          <p:cNvPr id="122" name="Text 106"/>
          <p:cNvSpPr txBox="1"/>
          <p:nvPr/>
        </p:nvSpPr>
        <p:spPr>
          <a:xfrm>
            <a:off x="13011150" y="4038600"/>
            <a:ext cx="209550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000" dirty="0"/>
          </a:p>
        </p:txBody>
      </p:sp>
      <p:sp>
        <p:nvSpPr>
          <p:cNvPr id="123" name="Text 107"/>
          <p:cNvSpPr txBox="1"/>
          <p:nvPr/>
        </p:nvSpPr>
        <p:spPr>
          <a:xfrm>
            <a:off x="13277850" y="3971925"/>
            <a:ext cx="857250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F2D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After X time: review, ask, approve</a:t>
            </a:r>
            <a:endParaRPr lang="en-US" sz="900" dirty="0"/>
          </a:p>
        </p:txBody>
      </p:sp>
      <p:sp>
        <p:nvSpPr>
          <p:cNvPr id="124" name="Shape 108"/>
          <p:cNvSpPr/>
          <p:nvPr/>
        </p:nvSpPr>
        <p:spPr>
          <a:xfrm>
            <a:off x="1695450" y="6210300"/>
            <a:ext cx="0" cy="247650"/>
          </a:xfrm>
          <a:prstGeom prst="line">
            <a:avLst/>
          </a:prstGeom>
          <a:noFill/>
          <a:ln w="12700">
            <a:solidFill>
              <a:srgbClr val="6B7C93"/>
            </a:solidFill>
            <a:prstDash val="sysDot"/>
            <a:tailEnd type="triangle"/>
          </a:ln>
        </p:spPr>
      </p:sp>
      <p:sp>
        <p:nvSpPr>
          <p:cNvPr id="125" name="Shape 109"/>
          <p:cNvSpPr/>
          <p:nvPr/>
        </p:nvSpPr>
        <p:spPr>
          <a:xfrm>
            <a:off x="4505325" y="6210300"/>
            <a:ext cx="0" cy="247650"/>
          </a:xfrm>
          <a:prstGeom prst="line">
            <a:avLst/>
          </a:prstGeom>
          <a:noFill/>
          <a:ln w="12700">
            <a:solidFill>
              <a:srgbClr val="6B7C93"/>
            </a:solidFill>
            <a:prstDash val="sysDot"/>
            <a:tailEnd type="triangle"/>
          </a:ln>
        </p:spPr>
      </p:sp>
      <p:sp>
        <p:nvSpPr>
          <p:cNvPr id="126" name="Shape 110"/>
          <p:cNvSpPr/>
          <p:nvPr/>
        </p:nvSpPr>
        <p:spPr>
          <a:xfrm>
            <a:off x="7315200" y="6210300"/>
            <a:ext cx="0" cy="247650"/>
          </a:xfrm>
          <a:prstGeom prst="line">
            <a:avLst/>
          </a:prstGeom>
          <a:noFill/>
          <a:ln w="12700">
            <a:solidFill>
              <a:srgbClr val="5B4FA8"/>
            </a:solidFill>
            <a:prstDash val="sysDot"/>
            <a:tailEnd type="triangle"/>
          </a:ln>
        </p:spPr>
      </p:sp>
      <p:sp>
        <p:nvSpPr>
          <p:cNvPr id="127" name="Shape 111"/>
          <p:cNvSpPr/>
          <p:nvPr/>
        </p:nvSpPr>
        <p:spPr>
          <a:xfrm>
            <a:off x="10125075" y="6210300"/>
            <a:ext cx="0" cy="247650"/>
          </a:xfrm>
          <a:prstGeom prst="line">
            <a:avLst/>
          </a:prstGeom>
          <a:noFill/>
          <a:ln w="12700">
            <a:solidFill>
              <a:srgbClr val="5B4FA8"/>
            </a:solidFill>
            <a:prstDash val="sysDot"/>
            <a:tailEnd type="triangle"/>
          </a:ln>
        </p:spPr>
      </p:sp>
      <p:sp>
        <p:nvSpPr>
          <p:cNvPr id="128" name="Shape 112"/>
          <p:cNvSpPr/>
          <p:nvPr/>
        </p:nvSpPr>
        <p:spPr>
          <a:xfrm>
            <a:off x="12934950" y="6210300"/>
            <a:ext cx="0" cy="247650"/>
          </a:xfrm>
          <a:prstGeom prst="line">
            <a:avLst/>
          </a:prstGeom>
          <a:noFill/>
          <a:ln w="12700">
            <a:solidFill>
              <a:srgbClr val="6B7C93"/>
            </a:solidFill>
            <a:prstDash val="sysDot"/>
            <a:tailEnd type="triangle"/>
          </a:ln>
        </p:spPr>
      </p:sp>
      <p:sp>
        <p:nvSpPr>
          <p:cNvPr id="129" name="Shape 113"/>
          <p:cNvSpPr/>
          <p:nvPr/>
        </p:nvSpPr>
        <p:spPr>
          <a:xfrm>
            <a:off x="504825" y="6477000"/>
            <a:ext cx="5191125" cy="1238250"/>
          </a:xfrm>
          <a:prstGeom prst="roundRect">
            <a:avLst>
              <a:gd name="adj" fmla="val 6154"/>
            </a:avLst>
          </a:prstGeom>
          <a:solidFill>
            <a:srgbClr val="F1F4F8"/>
          </a:solidFill>
          <a:ln w="12700">
            <a:solidFill>
              <a:srgbClr val="5A6B82"/>
            </a:solidFill>
            <a:prstDash val="dash"/>
          </a:ln>
        </p:spPr>
      </p:sp>
      <p:sp>
        <p:nvSpPr>
          <p:cNvPr id="130" name="Text 114"/>
          <p:cNvSpPr txBox="1"/>
          <p:nvPr/>
        </p:nvSpPr>
        <p:spPr>
          <a:xfrm>
            <a:off x="619125" y="6553200"/>
            <a:ext cx="4962525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100" kern="0" dirty="0">
                <a:solidFill>
                  <a:srgbClr val="5A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APPLICATION AUDIT (EXISTING)</a:t>
            </a:r>
            <a:endParaRPr lang="en-US" sz="900" dirty="0"/>
          </a:p>
        </p:txBody>
      </p:sp>
      <p:sp>
        <p:nvSpPr>
          <p:cNvPr id="131" name="Shape 115"/>
          <p:cNvSpPr/>
          <p:nvPr/>
        </p:nvSpPr>
        <p:spPr>
          <a:xfrm>
            <a:off x="619125" y="6781800"/>
            <a:ext cx="1771650" cy="800100"/>
          </a:xfrm>
          <a:prstGeom prst="roundRect">
            <a:avLst>
              <a:gd name="adj" fmla="val 7143"/>
            </a:avLst>
          </a:prstGeom>
          <a:solidFill>
            <a:srgbClr val="FFFFFF"/>
          </a:solidFill>
          <a:ln w="12700">
            <a:solidFill>
              <a:srgbClr val="C8D8EC"/>
            </a:solidFill>
            <a:prstDash val="solid"/>
          </a:ln>
        </p:spPr>
      </p:sp>
      <p:sp>
        <p:nvSpPr>
          <p:cNvPr id="132" name="Shape 116"/>
          <p:cNvSpPr/>
          <p:nvPr/>
        </p:nvSpPr>
        <p:spPr>
          <a:xfrm>
            <a:off x="733425" y="6915150"/>
            <a:ext cx="457200" cy="457200"/>
          </a:xfrm>
          <a:prstGeom prst="roundRect">
            <a:avLst>
              <a:gd name="adj" fmla="val 20833"/>
            </a:avLst>
          </a:prstGeom>
          <a:solidFill>
            <a:srgbClr val="5A6B82"/>
          </a:solidFill>
          <a:ln/>
        </p:spPr>
      </p:sp>
      <p:pic>
        <p:nvPicPr>
          <p:cNvPr id="133" name="Image 14" descr="preencoded.png">    </p:cNvPr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847725" y="7029450"/>
            <a:ext cx="228600" cy="228600"/>
          </a:xfrm>
          <a:prstGeom prst="rect">
            <a:avLst/>
          </a:prstGeom>
        </p:spPr>
      </p:pic>
      <p:sp>
        <p:nvSpPr>
          <p:cNvPr id="134" name="Text 117"/>
          <p:cNvSpPr txBox="1"/>
          <p:nvPr/>
        </p:nvSpPr>
        <p:spPr>
          <a:xfrm>
            <a:off x="1266825" y="6819900"/>
            <a:ext cx="1085850" cy="7239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F2D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 Audit</a:t>
            </a:r>
            <a:endParaRPr lang="en-US" sz="1000" dirty="0"/>
          </a:p>
          <a:p>
            <a:pPr indent="0" marL="0">
              <a:buNone/>
            </a:pPr>
            <a:r>
              <a:rPr lang="en-US" sz="900" dirty="0">
                <a:solidFill>
                  <a:srgbClr val="4A5A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MBREC and One Fin UX</a:t>
            </a:r>
            <a:endParaRPr lang="en-US" sz="1000" dirty="0"/>
          </a:p>
        </p:txBody>
      </p:sp>
      <p:sp>
        <p:nvSpPr>
          <p:cNvPr id="135" name="Shape 118"/>
          <p:cNvSpPr/>
          <p:nvPr/>
        </p:nvSpPr>
        <p:spPr>
          <a:xfrm>
            <a:off x="2524125" y="6800850"/>
            <a:ext cx="3048000" cy="32385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2700">
            <a:solidFill>
              <a:srgbClr val="C8D8EC"/>
            </a:solidFill>
            <a:prstDash val="solid"/>
          </a:ln>
        </p:spPr>
      </p:sp>
      <p:pic>
        <p:nvPicPr>
          <p:cNvPr id="136" name="Image 15" descr="preencoded.png">    </p:cNvPr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>
            <a:off x="2638425" y="6896100"/>
            <a:ext cx="133350" cy="133350"/>
          </a:xfrm>
          <a:prstGeom prst="rect">
            <a:avLst/>
          </a:prstGeom>
        </p:spPr>
      </p:pic>
      <p:sp>
        <p:nvSpPr>
          <p:cNvPr id="137" name="Text 119"/>
          <p:cNvSpPr txBox="1"/>
          <p:nvPr/>
        </p:nvSpPr>
        <p:spPr>
          <a:xfrm>
            <a:off x="2847975" y="6800850"/>
            <a:ext cx="2667000" cy="3238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F2D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Book availability &amp; event history</a:t>
            </a:r>
            <a:endParaRPr lang="en-US" sz="950" dirty="0"/>
          </a:p>
        </p:txBody>
      </p:sp>
      <p:sp>
        <p:nvSpPr>
          <p:cNvPr id="138" name="Shape 120"/>
          <p:cNvSpPr/>
          <p:nvPr/>
        </p:nvSpPr>
        <p:spPr>
          <a:xfrm>
            <a:off x="2524125" y="7219950"/>
            <a:ext cx="3048000" cy="32385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2700">
            <a:solidFill>
              <a:srgbClr val="C8D8EC"/>
            </a:solidFill>
            <a:prstDash val="solid"/>
          </a:ln>
        </p:spPr>
      </p:sp>
      <p:pic>
        <p:nvPicPr>
          <p:cNvPr id="139" name="Image 16" descr="preencoded.png">    </p:cNvPr>
          <p:cNvPicPr>
            <a:picLocks noChangeAspect="1"/>
          </p:cNvPicPr>
          <p:nvPr/>
        </p:nvPicPr>
        <p:blipFill>
          <a:blip r:embed="rId17"/>
          <a:stretch>
            <a:fillRect/>
          </a:stretch>
        </p:blipFill>
        <p:spPr>
          <a:xfrm>
            <a:off x="2638425" y="7315200"/>
            <a:ext cx="133350" cy="133350"/>
          </a:xfrm>
          <a:prstGeom prst="rect">
            <a:avLst/>
          </a:prstGeom>
        </p:spPr>
      </p:pic>
      <p:sp>
        <p:nvSpPr>
          <p:cNvPr id="140" name="Text 121"/>
          <p:cNvSpPr txBox="1"/>
          <p:nvPr/>
        </p:nvSpPr>
        <p:spPr>
          <a:xfrm>
            <a:off x="2847975" y="7219950"/>
            <a:ext cx="2667000" cy="3238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F2D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Workspace readiness status changes</a:t>
            </a:r>
            <a:endParaRPr lang="en-US" sz="950" dirty="0"/>
          </a:p>
        </p:txBody>
      </p:sp>
      <p:sp>
        <p:nvSpPr>
          <p:cNvPr id="141" name="Shape 122"/>
          <p:cNvSpPr/>
          <p:nvPr/>
        </p:nvSpPr>
        <p:spPr>
          <a:xfrm>
            <a:off x="6124575" y="6477000"/>
            <a:ext cx="5191125" cy="1238250"/>
          </a:xfrm>
          <a:prstGeom prst="roundRect">
            <a:avLst>
              <a:gd name="adj" fmla="val 6154"/>
            </a:avLst>
          </a:prstGeom>
          <a:solidFill>
            <a:srgbClr val="F3F1FB"/>
          </a:solidFill>
          <a:ln w="12700">
            <a:solidFill>
              <a:srgbClr val="5B4FA8"/>
            </a:solidFill>
            <a:prstDash val="dash"/>
          </a:ln>
        </p:spPr>
      </p:sp>
      <p:sp>
        <p:nvSpPr>
          <p:cNvPr id="142" name="Text 123"/>
          <p:cNvSpPr txBox="1"/>
          <p:nvPr/>
        </p:nvSpPr>
        <p:spPr>
          <a:xfrm>
            <a:off x="6238875" y="6553200"/>
            <a:ext cx="4962525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100" kern="0" dirty="0">
                <a:solidFill>
                  <a:srgbClr val="5B4F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OBSERVABILITY</a:t>
            </a:r>
            <a:endParaRPr lang="en-US" sz="900" dirty="0"/>
          </a:p>
        </p:txBody>
      </p:sp>
      <p:sp>
        <p:nvSpPr>
          <p:cNvPr id="143" name="Shape 124"/>
          <p:cNvSpPr/>
          <p:nvPr/>
        </p:nvSpPr>
        <p:spPr>
          <a:xfrm>
            <a:off x="6238875" y="6781800"/>
            <a:ext cx="1771650" cy="800100"/>
          </a:xfrm>
          <a:prstGeom prst="roundRect">
            <a:avLst>
              <a:gd name="adj" fmla="val 7143"/>
            </a:avLst>
          </a:prstGeom>
          <a:solidFill>
            <a:srgbClr val="FFFFFF"/>
          </a:solidFill>
          <a:ln w="12700">
            <a:solidFill>
              <a:srgbClr val="C8D8EC"/>
            </a:solidFill>
            <a:prstDash val="solid"/>
          </a:ln>
        </p:spPr>
      </p:sp>
      <p:sp>
        <p:nvSpPr>
          <p:cNvPr id="144" name="Shape 125"/>
          <p:cNvSpPr/>
          <p:nvPr/>
        </p:nvSpPr>
        <p:spPr>
          <a:xfrm>
            <a:off x="6353175" y="6915150"/>
            <a:ext cx="457200" cy="457200"/>
          </a:xfrm>
          <a:prstGeom prst="roundRect">
            <a:avLst>
              <a:gd name="adj" fmla="val 20833"/>
            </a:avLst>
          </a:prstGeom>
          <a:solidFill>
            <a:srgbClr val="1F4E8C"/>
          </a:solidFill>
          <a:ln/>
        </p:spPr>
      </p:sp>
      <p:pic>
        <p:nvPicPr>
          <p:cNvPr id="145" name="Image 17" descr="preencoded.png">    </p:cNvPr>
          <p:cNvPicPr>
            <a:picLocks noChangeAspect="1"/>
          </p:cNvPicPr>
          <p:nvPr/>
        </p:nvPicPr>
        <p:blipFill>
          <a:blip r:embed="rId18"/>
          <a:stretch>
            <a:fillRect/>
          </a:stretch>
        </p:blipFill>
        <p:spPr>
          <a:xfrm>
            <a:off x="6467475" y="7029450"/>
            <a:ext cx="228600" cy="228600"/>
          </a:xfrm>
          <a:prstGeom prst="rect">
            <a:avLst/>
          </a:prstGeom>
        </p:spPr>
      </p:pic>
      <p:sp>
        <p:nvSpPr>
          <p:cNvPr id="146" name="Text 126"/>
          <p:cNvSpPr txBox="1"/>
          <p:nvPr/>
        </p:nvSpPr>
        <p:spPr>
          <a:xfrm>
            <a:off x="6886575" y="6819900"/>
            <a:ext cx="1085850" cy="7239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F2D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Phoenix Eyes</a:t>
            </a:r>
            <a:endParaRPr lang="en-US" sz="1000" dirty="0"/>
          </a:p>
          <a:p>
            <a:pPr indent="0" marL="0">
              <a:buNone/>
            </a:pPr>
            <a:r>
              <a:rPr lang="en-US" sz="900" dirty="0">
                <a:solidFill>
                  <a:srgbClr val="4A5A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Helix Agent and Agent One sessions</a:t>
            </a:r>
            <a:endParaRPr lang="en-US" sz="1000" dirty="0"/>
          </a:p>
        </p:txBody>
      </p:sp>
      <p:sp>
        <p:nvSpPr>
          <p:cNvPr id="147" name="Shape 127"/>
          <p:cNvSpPr/>
          <p:nvPr/>
        </p:nvSpPr>
        <p:spPr>
          <a:xfrm>
            <a:off x="8143875" y="6800850"/>
            <a:ext cx="1485900" cy="32385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2700">
            <a:solidFill>
              <a:srgbClr val="C8D8EC"/>
            </a:solidFill>
            <a:prstDash val="solid"/>
          </a:ln>
        </p:spPr>
      </p:sp>
      <p:pic>
        <p:nvPicPr>
          <p:cNvPr id="148" name="Image 18" descr="preencoded.png">    </p:cNvPr>
          <p:cNvPicPr>
            <a:picLocks noChangeAspect="1"/>
          </p:cNvPicPr>
          <p:nvPr/>
        </p:nvPicPr>
        <p:blipFill>
          <a:blip r:embed="rId19"/>
          <a:stretch>
            <a:fillRect/>
          </a:stretch>
        </p:blipFill>
        <p:spPr>
          <a:xfrm>
            <a:off x="8258175" y="6896100"/>
            <a:ext cx="133350" cy="133350"/>
          </a:xfrm>
          <a:prstGeom prst="rect">
            <a:avLst/>
          </a:prstGeom>
        </p:spPr>
      </p:pic>
      <p:sp>
        <p:nvSpPr>
          <p:cNvPr id="149" name="Text 128"/>
          <p:cNvSpPr txBox="1"/>
          <p:nvPr/>
        </p:nvSpPr>
        <p:spPr>
          <a:xfrm>
            <a:off x="8467725" y="6800850"/>
            <a:ext cx="1104900" cy="3238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F2D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session traces</a:t>
            </a:r>
            <a:endParaRPr lang="en-US" sz="950" dirty="0"/>
          </a:p>
        </p:txBody>
      </p:sp>
      <p:sp>
        <p:nvSpPr>
          <p:cNvPr id="150" name="Shape 129"/>
          <p:cNvSpPr/>
          <p:nvPr/>
        </p:nvSpPr>
        <p:spPr>
          <a:xfrm>
            <a:off x="9705975" y="6800850"/>
            <a:ext cx="1485900" cy="32385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2700">
            <a:solidFill>
              <a:srgbClr val="C8D8EC"/>
            </a:solidFill>
            <a:prstDash val="solid"/>
          </a:ln>
        </p:spPr>
      </p:sp>
      <p:pic>
        <p:nvPicPr>
          <p:cNvPr id="151" name="Image 19" descr="preencoded.png">    </p:cNvPr>
          <p:cNvPicPr>
            <a:picLocks noChangeAspect="1"/>
          </p:cNvPicPr>
          <p:nvPr/>
        </p:nvPicPr>
        <p:blipFill>
          <a:blip r:embed="rId20"/>
          <a:stretch>
            <a:fillRect/>
          </a:stretch>
        </p:blipFill>
        <p:spPr>
          <a:xfrm>
            <a:off x="9820275" y="6896100"/>
            <a:ext cx="133350" cy="133350"/>
          </a:xfrm>
          <a:prstGeom prst="rect">
            <a:avLst/>
          </a:prstGeom>
        </p:spPr>
      </p:pic>
      <p:sp>
        <p:nvSpPr>
          <p:cNvPr id="152" name="Text 130"/>
          <p:cNvSpPr txBox="1"/>
          <p:nvPr/>
        </p:nvSpPr>
        <p:spPr>
          <a:xfrm>
            <a:off x="10029825" y="6800850"/>
            <a:ext cx="1104900" cy="3238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F2D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Prompts &amp; sources</a:t>
            </a:r>
            <a:endParaRPr lang="en-US" sz="950" dirty="0"/>
          </a:p>
        </p:txBody>
      </p:sp>
      <p:sp>
        <p:nvSpPr>
          <p:cNvPr id="153" name="Shape 131"/>
          <p:cNvSpPr/>
          <p:nvPr/>
        </p:nvSpPr>
        <p:spPr>
          <a:xfrm>
            <a:off x="8143875" y="7219950"/>
            <a:ext cx="1485900" cy="32385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2700">
            <a:solidFill>
              <a:srgbClr val="C8D8EC"/>
            </a:solidFill>
            <a:prstDash val="solid"/>
          </a:ln>
        </p:spPr>
      </p:sp>
      <p:pic>
        <p:nvPicPr>
          <p:cNvPr id="154" name="Image 20" descr="preencoded.png">    </p:cNvPr>
          <p:cNvPicPr>
            <a:picLocks noChangeAspect="1"/>
          </p:cNvPicPr>
          <p:nvPr/>
        </p:nvPicPr>
        <p:blipFill>
          <a:blip r:embed="rId21"/>
          <a:stretch>
            <a:fillRect/>
          </a:stretch>
        </p:blipFill>
        <p:spPr>
          <a:xfrm>
            <a:off x="8258175" y="7315200"/>
            <a:ext cx="133350" cy="133350"/>
          </a:xfrm>
          <a:prstGeom prst="rect">
            <a:avLst/>
          </a:prstGeom>
        </p:spPr>
      </p:pic>
      <p:sp>
        <p:nvSpPr>
          <p:cNvPr id="155" name="Text 132"/>
          <p:cNvSpPr txBox="1"/>
          <p:nvPr/>
        </p:nvSpPr>
        <p:spPr>
          <a:xfrm>
            <a:off x="8467725" y="7219950"/>
            <a:ext cx="1104900" cy="3238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F2D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Skill gap analysis</a:t>
            </a:r>
            <a:endParaRPr lang="en-US" sz="950" dirty="0"/>
          </a:p>
        </p:txBody>
      </p:sp>
      <p:sp>
        <p:nvSpPr>
          <p:cNvPr id="156" name="Shape 133"/>
          <p:cNvSpPr/>
          <p:nvPr/>
        </p:nvSpPr>
        <p:spPr>
          <a:xfrm>
            <a:off x="9705975" y="7219950"/>
            <a:ext cx="1485900" cy="32385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2700">
            <a:solidFill>
              <a:srgbClr val="C8D8EC"/>
            </a:solidFill>
            <a:prstDash val="solid"/>
          </a:ln>
        </p:spPr>
      </p:sp>
      <p:pic>
        <p:nvPicPr>
          <p:cNvPr id="157" name="Image 21" descr="preencoded.png">    </p:cNvPr>
          <p:cNvPicPr>
            <a:picLocks noChangeAspect="1"/>
          </p:cNvPicPr>
          <p:nvPr/>
        </p:nvPicPr>
        <p:blipFill>
          <a:blip r:embed="rId22"/>
          <a:stretch>
            <a:fillRect/>
          </a:stretch>
        </p:blipFill>
        <p:spPr>
          <a:xfrm>
            <a:off x="9820275" y="7315200"/>
            <a:ext cx="133350" cy="133350"/>
          </a:xfrm>
          <a:prstGeom prst="rect">
            <a:avLst/>
          </a:prstGeom>
        </p:spPr>
      </p:pic>
      <p:sp>
        <p:nvSpPr>
          <p:cNvPr id="158" name="Text 134"/>
          <p:cNvSpPr txBox="1"/>
          <p:nvPr/>
        </p:nvSpPr>
        <p:spPr>
          <a:xfrm>
            <a:off x="10029825" y="7219950"/>
            <a:ext cx="1104900" cy="3238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F2D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LLM perf &amp; health</a:t>
            </a:r>
            <a:endParaRPr lang="en-US" sz="950" dirty="0"/>
          </a:p>
        </p:txBody>
      </p:sp>
      <p:sp>
        <p:nvSpPr>
          <p:cNvPr id="159" name="Shape 135"/>
          <p:cNvSpPr/>
          <p:nvPr/>
        </p:nvSpPr>
        <p:spPr>
          <a:xfrm>
            <a:off x="11744325" y="6477000"/>
            <a:ext cx="2381250" cy="1238250"/>
          </a:xfrm>
          <a:prstGeom prst="roundRect">
            <a:avLst>
              <a:gd name="adj" fmla="val 6154"/>
            </a:avLst>
          </a:prstGeom>
          <a:solidFill>
            <a:srgbClr val="F1F4F8"/>
          </a:solidFill>
          <a:ln w="12700">
            <a:solidFill>
              <a:srgbClr val="5A6B82"/>
            </a:solidFill>
            <a:prstDash val="dash"/>
          </a:ln>
        </p:spPr>
      </p:sp>
      <p:sp>
        <p:nvSpPr>
          <p:cNvPr id="160" name="Text 136"/>
          <p:cNvSpPr txBox="1"/>
          <p:nvPr/>
        </p:nvSpPr>
        <p:spPr>
          <a:xfrm>
            <a:off x="11858625" y="6553200"/>
            <a:ext cx="215265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100" kern="0" dirty="0">
                <a:solidFill>
                  <a:srgbClr val="5A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APPLICATION AUDIT (EXISTING)</a:t>
            </a:r>
            <a:endParaRPr lang="en-US" sz="900" dirty="0"/>
          </a:p>
        </p:txBody>
      </p:sp>
      <p:sp>
        <p:nvSpPr>
          <p:cNvPr id="161" name="Shape 137"/>
          <p:cNvSpPr/>
          <p:nvPr/>
        </p:nvSpPr>
        <p:spPr>
          <a:xfrm>
            <a:off x="11858625" y="6800850"/>
            <a:ext cx="2152650" cy="32385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2700">
            <a:solidFill>
              <a:srgbClr val="C8D8EC"/>
            </a:solidFill>
            <a:prstDash val="solid"/>
          </a:ln>
        </p:spPr>
      </p:sp>
      <p:pic>
        <p:nvPicPr>
          <p:cNvPr id="162" name="Image 22" descr="preencoded.png">    </p:cNvPr>
          <p:cNvPicPr>
            <a:picLocks noChangeAspect="1"/>
          </p:cNvPicPr>
          <p:nvPr/>
        </p:nvPicPr>
        <p:blipFill>
          <a:blip r:embed="rId23"/>
          <a:stretch>
            <a:fillRect/>
          </a:stretch>
        </p:blipFill>
        <p:spPr>
          <a:xfrm>
            <a:off x="11972925" y="6896100"/>
            <a:ext cx="133350" cy="133350"/>
          </a:xfrm>
          <a:prstGeom prst="rect">
            <a:avLst/>
          </a:prstGeom>
        </p:spPr>
      </p:pic>
      <p:sp>
        <p:nvSpPr>
          <p:cNvPr id="163" name="Text 138"/>
          <p:cNvSpPr txBox="1"/>
          <p:nvPr/>
        </p:nvSpPr>
        <p:spPr>
          <a:xfrm>
            <a:off x="12182475" y="6800850"/>
            <a:ext cx="1771650" cy="3238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F2D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 actions &amp; approvals</a:t>
            </a:r>
            <a:endParaRPr lang="en-US" sz="950" dirty="0"/>
          </a:p>
        </p:txBody>
      </p:sp>
      <p:sp>
        <p:nvSpPr>
          <p:cNvPr id="164" name="Shape 139"/>
          <p:cNvSpPr/>
          <p:nvPr/>
        </p:nvSpPr>
        <p:spPr>
          <a:xfrm>
            <a:off x="11858625" y="7219950"/>
            <a:ext cx="2152650" cy="32385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2700">
            <a:solidFill>
              <a:srgbClr val="C8D8EC"/>
            </a:solidFill>
            <a:prstDash val="solid"/>
          </a:ln>
        </p:spPr>
      </p:sp>
      <p:pic>
        <p:nvPicPr>
          <p:cNvPr id="165" name="Image 23" descr="preencoded.png">    </p:cNvPr>
          <p:cNvPicPr>
            <a:picLocks noChangeAspect="1"/>
          </p:cNvPicPr>
          <p:nvPr/>
        </p:nvPicPr>
        <p:blipFill>
          <a:blip r:embed="rId24"/>
          <a:stretch>
            <a:fillRect/>
          </a:stretch>
        </p:blipFill>
        <p:spPr>
          <a:xfrm>
            <a:off x="11972925" y="7315200"/>
            <a:ext cx="133350" cy="133350"/>
          </a:xfrm>
          <a:prstGeom prst="rect">
            <a:avLst/>
          </a:prstGeom>
        </p:spPr>
      </p:pic>
      <p:sp>
        <p:nvSpPr>
          <p:cNvPr id="166" name="Text 140"/>
          <p:cNvSpPr txBox="1"/>
          <p:nvPr/>
        </p:nvSpPr>
        <p:spPr>
          <a:xfrm>
            <a:off x="12182475" y="7219950"/>
            <a:ext cx="1771650" cy="3238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F2D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Adjustment approvals</a:t>
            </a:r>
            <a:endParaRPr lang="en-US" sz="950" dirty="0"/>
          </a:p>
        </p:txBody>
      </p:sp>
      <p:sp>
        <p:nvSpPr>
          <p:cNvPr id="167" name="Text 141"/>
          <p:cNvSpPr txBox="1"/>
          <p:nvPr/>
        </p:nvSpPr>
        <p:spPr>
          <a:xfrm>
            <a:off x="504825" y="7829550"/>
            <a:ext cx="28575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F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Outcomes</a:t>
            </a:r>
            <a:endParaRPr lang="en-US" sz="1100" dirty="0"/>
          </a:p>
        </p:txBody>
      </p:sp>
      <p:sp>
        <p:nvSpPr>
          <p:cNvPr id="168" name="Shape 142"/>
          <p:cNvSpPr/>
          <p:nvPr/>
        </p:nvSpPr>
        <p:spPr>
          <a:xfrm>
            <a:off x="504825" y="8077200"/>
            <a:ext cx="3276600" cy="1047750"/>
          </a:xfrm>
          <a:prstGeom prst="roundRect">
            <a:avLst>
              <a:gd name="adj" fmla="val 5455"/>
            </a:avLst>
          </a:prstGeom>
          <a:solidFill>
            <a:srgbClr val="FFFFFF"/>
          </a:solidFill>
          <a:ln w="12700">
            <a:solidFill>
              <a:srgbClr val="C8D8EC"/>
            </a:solidFill>
            <a:prstDash val="solid"/>
          </a:ln>
        </p:spPr>
      </p:sp>
      <p:sp>
        <p:nvSpPr>
          <p:cNvPr id="169" name="Shape 143"/>
          <p:cNvSpPr/>
          <p:nvPr/>
        </p:nvSpPr>
        <p:spPr>
          <a:xfrm>
            <a:off x="657225" y="8343900"/>
            <a:ext cx="495300" cy="495300"/>
          </a:xfrm>
          <a:prstGeom prst="ellipse">
            <a:avLst/>
          </a:prstGeom>
          <a:solidFill>
            <a:srgbClr val="1E8A5A"/>
          </a:solidFill>
          <a:ln/>
        </p:spPr>
      </p:sp>
      <p:pic>
        <p:nvPicPr>
          <p:cNvPr id="170" name="Image 24" descr="preencoded.png">    </p:cNvPr>
          <p:cNvPicPr>
            <a:picLocks noChangeAspect="1"/>
          </p:cNvPicPr>
          <p:nvPr/>
        </p:nvPicPr>
        <p:blipFill>
          <a:blip r:embed="rId25"/>
          <a:stretch>
            <a:fillRect/>
          </a:stretch>
        </p:blipFill>
        <p:spPr>
          <a:xfrm>
            <a:off x="781050" y="8467725"/>
            <a:ext cx="247650" cy="247650"/>
          </a:xfrm>
          <a:prstGeom prst="rect">
            <a:avLst/>
          </a:prstGeom>
        </p:spPr>
      </p:pic>
      <p:sp>
        <p:nvSpPr>
          <p:cNvPr id="171" name="Text 144"/>
          <p:cNvSpPr txBox="1"/>
          <p:nvPr/>
        </p:nvSpPr>
        <p:spPr>
          <a:xfrm>
            <a:off x="1285875" y="8153400"/>
            <a:ext cx="2381250" cy="8953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F2D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Analysis ready before desk time</a:t>
            </a:r>
            <a:endParaRPr lang="en-US" sz="1000" dirty="0"/>
          </a:p>
          <a:p>
            <a:pPr indent="0" marL="0">
              <a:buNone/>
            </a:pPr>
            <a:r>
              <a:rPr lang="en-US" sz="950" dirty="0">
                <a:solidFill>
                  <a:srgbClr val="4A5A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Sessions run automatically once books are available</a:t>
            </a:r>
            <a:endParaRPr lang="en-US" sz="1000" dirty="0"/>
          </a:p>
        </p:txBody>
      </p:sp>
      <p:sp>
        <p:nvSpPr>
          <p:cNvPr id="172" name="Shape 145"/>
          <p:cNvSpPr/>
          <p:nvPr/>
        </p:nvSpPr>
        <p:spPr>
          <a:xfrm>
            <a:off x="3952875" y="8077200"/>
            <a:ext cx="3276600" cy="1047750"/>
          </a:xfrm>
          <a:prstGeom prst="roundRect">
            <a:avLst>
              <a:gd name="adj" fmla="val 5455"/>
            </a:avLst>
          </a:prstGeom>
          <a:solidFill>
            <a:srgbClr val="FFFFFF"/>
          </a:solidFill>
          <a:ln w="12700">
            <a:solidFill>
              <a:srgbClr val="C8D8EC"/>
            </a:solidFill>
            <a:prstDash val="solid"/>
          </a:ln>
        </p:spPr>
      </p:sp>
      <p:sp>
        <p:nvSpPr>
          <p:cNvPr id="173" name="Shape 146"/>
          <p:cNvSpPr/>
          <p:nvPr/>
        </p:nvSpPr>
        <p:spPr>
          <a:xfrm>
            <a:off x="4105275" y="8343900"/>
            <a:ext cx="495300" cy="495300"/>
          </a:xfrm>
          <a:prstGeom prst="ellipse">
            <a:avLst/>
          </a:prstGeom>
          <a:solidFill>
            <a:srgbClr val="1F6FB5"/>
          </a:solidFill>
          <a:ln/>
        </p:spPr>
      </p:sp>
      <p:pic>
        <p:nvPicPr>
          <p:cNvPr id="174" name="Image 25" descr="preencoded.png">    </p:cNvPr>
          <p:cNvPicPr>
            <a:picLocks noChangeAspect="1"/>
          </p:cNvPicPr>
          <p:nvPr/>
        </p:nvPicPr>
        <p:blipFill>
          <a:blip r:embed="rId26"/>
          <a:stretch>
            <a:fillRect/>
          </a:stretch>
        </p:blipFill>
        <p:spPr>
          <a:xfrm>
            <a:off x="4229100" y="8467725"/>
            <a:ext cx="247650" cy="247650"/>
          </a:xfrm>
          <a:prstGeom prst="rect">
            <a:avLst/>
          </a:prstGeom>
        </p:spPr>
      </p:pic>
      <p:sp>
        <p:nvSpPr>
          <p:cNvPr id="175" name="Text 147"/>
          <p:cNvSpPr txBox="1"/>
          <p:nvPr/>
        </p:nvSpPr>
        <p:spPr>
          <a:xfrm>
            <a:off x="4733925" y="8153400"/>
            <a:ext cx="2381250" cy="8953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F2D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Human in the loop</a:t>
            </a:r>
            <a:endParaRPr lang="en-US" sz="1000" dirty="0"/>
          </a:p>
          <a:p>
            <a:pPr indent="0" marL="0">
              <a:buNone/>
            </a:pPr>
            <a:r>
              <a:rPr lang="en-US" sz="950" dirty="0">
                <a:solidFill>
                  <a:srgbClr val="4A5A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Controllers approve every adjustment before FAS posts it to MOTIF</a:t>
            </a:r>
            <a:endParaRPr lang="en-US" sz="1000" dirty="0"/>
          </a:p>
        </p:txBody>
      </p:sp>
      <p:sp>
        <p:nvSpPr>
          <p:cNvPr id="176" name="Shape 148"/>
          <p:cNvSpPr/>
          <p:nvPr/>
        </p:nvSpPr>
        <p:spPr>
          <a:xfrm>
            <a:off x="7400925" y="8077200"/>
            <a:ext cx="3276600" cy="1047750"/>
          </a:xfrm>
          <a:prstGeom prst="roundRect">
            <a:avLst>
              <a:gd name="adj" fmla="val 5455"/>
            </a:avLst>
          </a:prstGeom>
          <a:solidFill>
            <a:srgbClr val="FFFFFF"/>
          </a:solidFill>
          <a:ln w="12700">
            <a:solidFill>
              <a:srgbClr val="C8D8EC"/>
            </a:solidFill>
            <a:prstDash val="solid"/>
          </a:ln>
        </p:spPr>
      </p:sp>
      <p:sp>
        <p:nvSpPr>
          <p:cNvPr id="177" name="Shape 149"/>
          <p:cNvSpPr/>
          <p:nvPr/>
        </p:nvSpPr>
        <p:spPr>
          <a:xfrm>
            <a:off x="7553325" y="8343900"/>
            <a:ext cx="495300" cy="495300"/>
          </a:xfrm>
          <a:prstGeom prst="ellipse">
            <a:avLst/>
          </a:prstGeom>
          <a:solidFill>
            <a:srgbClr val="5B4FA8"/>
          </a:solidFill>
          <a:ln/>
        </p:spPr>
      </p:sp>
      <p:pic>
        <p:nvPicPr>
          <p:cNvPr id="178" name="Image 26" descr="preencoded.png">    </p:cNvPr>
          <p:cNvPicPr>
            <a:picLocks noChangeAspect="1"/>
          </p:cNvPicPr>
          <p:nvPr/>
        </p:nvPicPr>
        <p:blipFill>
          <a:blip r:embed="rId27"/>
          <a:stretch>
            <a:fillRect/>
          </a:stretch>
        </p:blipFill>
        <p:spPr>
          <a:xfrm>
            <a:off x="7677150" y="8467725"/>
            <a:ext cx="247650" cy="247650"/>
          </a:xfrm>
          <a:prstGeom prst="rect">
            <a:avLst/>
          </a:prstGeom>
        </p:spPr>
      </p:pic>
      <p:sp>
        <p:nvSpPr>
          <p:cNvPr id="179" name="Text 150"/>
          <p:cNvSpPr txBox="1"/>
          <p:nvPr/>
        </p:nvSpPr>
        <p:spPr>
          <a:xfrm>
            <a:off x="8181975" y="8153400"/>
            <a:ext cx="2381250" cy="8953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F2D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 audit trail</a:t>
            </a:r>
            <a:endParaRPr lang="en-US" sz="1000" dirty="0"/>
          </a:p>
          <a:p>
            <a:pPr indent="0" marL="0">
              <a:buNone/>
            </a:pPr>
            <a:r>
              <a:rPr lang="en-US" sz="950" dirty="0">
                <a:solidFill>
                  <a:srgbClr val="4A5A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traced in Phoenix, user and event actions in application audit</a:t>
            </a:r>
            <a:endParaRPr lang="en-US" sz="1000" dirty="0"/>
          </a:p>
        </p:txBody>
      </p:sp>
      <p:sp>
        <p:nvSpPr>
          <p:cNvPr id="180" name="Shape 151"/>
          <p:cNvSpPr/>
          <p:nvPr/>
        </p:nvSpPr>
        <p:spPr>
          <a:xfrm>
            <a:off x="10848975" y="8077200"/>
            <a:ext cx="3276600" cy="1047750"/>
          </a:xfrm>
          <a:prstGeom prst="roundRect">
            <a:avLst>
              <a:gd name="adj" fmla="val 5455"/>
            </a:avLst>
          </a:prstGeom>
          <a:solidFill>
            <a:srgbClr val="FFFFFF"/>
          </a:solidFill>
          <a:ln w="12700">
            <a:solidFill>
              <a:srgbClr val="C8D8EC"/>
            </a:solidFill>
            <a:prstDash val="solid"/>
          </a:ln>
        </p:spPr>
      </p:sp>
      <p:sp>
        <p:nvSpPr>
          <p:cNvPr id="181" name="Shape 152"/>
          <p:cNvSpPr/>
          <p:nvPr/>
        </p:nvSpPr>
        <p:spPr>
          <a:xfrm>
            <a:off x="11001375" y="8343900"/>
            <a:ext cx="495300" cy="495300"/>
          </a:xfrm>
          <a:prstGeom prst="ellipse">
            <a:avLst/>
          </a:prstGeom>
          <a:solidFill>
            <a:srgbClr val="1B4F93"/>
          </a:solidFill>
          <a:ln/>
        </p:spPr>
      </p:sp>
      <p:pic>
        <p:nvPicPr>
          <p:cNvPr id="182" name="Image 27" descr="preencoded.png">    </p:cNvPr>
          <p:cNvPicPr>
            <a:picLocks noChangeAspect="1"/>
          </p:cNvPicPr>
          <p:nvPr/>
        </p:nvPicPr>
        <p:blipFill>
          <a:blip r:embed="rId28"/>
          <a:stretch>
            <a:fillRect/>
          </a:stretch>
        </p:blipFill>
        <p:spPr>
          <a:xfrm>
            <a:off x="11125200" y="8467725"/>
            <a:ext cx="247650" cy="247650"/>
          </a:xfrm>
          <a:prstGeom prst="rect">
            <a:avLst/>
          </a:prstGeom>
        </p:spPr>
      </p:pic>
      <p:sp>
        <p:nvSpPr>
          <p:cNvPr id="183" name="Text 153"/>
          <p:cNvSpPr txBox="1"/>
          <p:nvPr/>
        </p:nvSpPr>
        <p:spPr>
          <a:xfrm>
            <a:off x="11630025" y="8153400"/>
            <a:ext cx="2381250" cy="8953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F2D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Scales by workspace</a:t>
            </a:r>
            <a:endParaRPr lang="en-US" sz="1000" dirty="0"/>
          </a:p>
          <a:p>
            <a:pPr indent="0" marL="0">
              <a:buNone/>
            </a:pPr>
            <a:r>
              <a:rPr lang="en-US" sz="950" dirty="0">
                <a:solidFill>
                  <a:srgbClr val="4A5A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 new L4 workspaces without new builds</a:t>
            </a:r>
            <a:endParaRPr lang="en-US" sz="1000" dirty="0"/>
          </a:p>
        </p:txBody>
      </p:sp>
      <p:sp>
        <p:nvSpPr>
          <p:cNvPr id="184" name="Shape 154"/>
          <p:cNvSpPr/>
          <p:nvPr/>
        </p:nvSpPr>
        <p:spPr>
          <a:xfrm>
            <a:off x="0" y="9277350"/>
            <a:ext cx="14630400" cy="476250"/>
          </a:xfrm>
          <a:prstGeom prst="rect">
            <a:avLst/>
          </a:prstGeom>
          <a:solidFill>
            <a:srgbClr val="0B2E5E"/>
          </a:solidFill>
          <a:ln/>
        </p:spPr>
      </p:sp>
      <p:sp>
        <p:nvSpPr>
          <p:cNvPr id="185" name="Text 155"/>
          <p:cNvSpPr txBox="1"/>
          <p:nvPr/>
        </p:nvSpPr>
        <p:spPr>
          <a:xfrm>
            <a:off x="0" y="9277350"/>
            <a:ext cx="14630400" cy="4762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Helix Architecture</a:t>
            </a:r>
            <a:pPr algn="ctr"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|   Smarter Reconciliation. Stronger Control. Greater Insight.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4F8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1028700"/>
          </a:xfrm>
          <a:prstGeom prst="rect">
            <a:avLst/>
          </a:prstGeom>
          <a:solidFill>
            <a:srgbClr val="0B2E5E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304800" y="133350"/>
            <a:ext cx="11144250" cy="4762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FOBO Reconciliation - AI Powered </a:t>
            </a:r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(Front Office &amp; Back Office Books)</a:t>
            </a:r>
            <a:endParaRPr lang="en-US" sz="1000" dirty="0"/>
          </a:p>
        </p:txBody>
      </p:sp>
      <p:sp>
        <p:nvSpPr>
          <p:cNvPr id="4" name="Text 2"/>
          <p:cNvSpPr txBox="1"/>
          <p:nvPr/>
        </p:nvSpPr>
        <p:spPr>
          <a:xfrm>
            <a:off x="304800" y="590550"/>
            <a:ext cx="1047750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E3EC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From alerts to actionable insights, faster, smarter, and auditable.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11639550" y="190500"/>
            <a:ext cx="0" cy="647700"/>
          </a:xfrm>
          <a:prstGeom prst="line">
            <a:avLst/>
          </a:prstGeom>
          <a:noFill/>
          <a:ln w="15875">
            <a:solidFill>
              <a:srgbClr val="FFFFFF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11811000" y="266700"/>
            <a:ext cx="2714625" cy="4953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Helix Architecture</a:t>
            </a:r>
            <a:endParaRPr lang="en-US" sz="2400" dirty="0"/>
          </a:p>
        </p:txBody>
      </p:sp>
      <p:sp>
        <p:nvSpPr>
          <p:cNvPr id="7" name="Shape 5"/>
          <p:cNvSpPr/>
          <p:nvPr/>
        </p:nvSpPr>
        <p:spPr>
          <a:xfrm>
            <a:off x="114300" y="1238250"/>
            <a:ext cx="2495550" cy="4743450"/>
          </a:xfrm>
          <a:prstGeom prst="roundRect">
            <a:avLst>
              <a:gd name="adj" fmla="val 3053"/>
            </a:avLst>
          </a:prstGeom>
          <a:solidFill>
            <a:srgbClr val="E6F0FA"/>
          </a:solidFill>
          <a:ln/>
        </p:spPr>
      </p:sp>
      <p:sp>
        <p:nvSpPr>
          <p:cNvPr id="8" name="Shape 6"/>
          <p:cNvSpPr/>
          <p:nvPr/>
        </p:nvSpPr>
        <p:spPr>
          <a:xfrm>
            <a:off x="247650" y="1352550"/>
            <a:ext cx="304800" cy="304800"/>
          </a:xfrm>
          <a:prstGeom prst="ellipse">
            <a:avLst/>
          </a:prstGeom>
          <a:solidFill>
            <a:srgbClr val="1F5FAD"/>
          </a:solidFill>
          <a:ln/>
        </p:spPr>
      </p:sp>
      <p:sp>
        <p:nvSpPr>
          <p:cNvPr id="9" name="Text 7"/>
          <p:cNvSpPr txBox="1"/>
          <p:nvPr/>
        </p:nvSpPr>
        <p:spPr>
          <a:xfrm>
            <a:off x="247650" y="1352550"/>
            <a:ext cx="30480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500" dirty="0"/>
          </a:p>
        </p:txBody>
      </p:sp>
      <p:sp>
        <p:nvSpPr>
          <p:cNvPr id="10" name="Shape 8"/>
          <p:cNvSpPr/>
          <p:nvPr/>
        </p:nvSpPr>
        <p:spPr>
          <a:xfrm>
            <a:off x="2619375" y="3781425"/>
            <a:ext cx="85725" cy="0"/>
          </a:xfrm>
          <a:prstGeom prst="line">
            <a:avLst/>
          </a:prstGeom>
          <a:noFill/>
          <a:ln w="22225">
            <a:solidFill>
              <a:srgbClr val="2B4A6F"/>
            </a:solidFill>
            <a:prstDash val="solid"/>
            <a:tailEnd type="triangle"/>
          </a:ln>
        </p:spPr>
      </p:sp>
      <p:sp>
        <p:nvSpPr>
          <p:cNvPr id="11" name="Shape 9"/>
          <p:cNvSpPr/>
          <p:nvPr/>
        </p:nvSpPr>
        <p:spPr>
          <a:xfrm>
            <a:off x="2724150" y="1238250"/>
            <a:ext cx="2247900" cy="4743450"/>
          </a:xfrm>
          <a:prstGeom prst="roundRect">
            <a:avLst>
              <a:gd name="adj" fmla="val 3390"/>
            </a:avLst>
          </a:prstGeom>
          <a:solidFill>
            <a:srgbClr val="E6F0FA"/>
          </a:solidFill>
          <a:ln/>
        </p:spPr>
      </p:sp>
      <p:sp>
        <p:nvSpPr>
          <p:cNvPr id="12" name="Shape 10"/>
          <p:cNvSpPr/>
          <p:nvPr/>
        </p:nvSpPr>
        <p:spPr>
          <a:xfrm>
            <a:off x="2857500" y="1352550"/>
            <a:ext cx="304800" cy="304800"/>
          </a:xfrm>
          <a:prstGeom prst="ellipse">
            <a:avLst/>
          </a:prstGeom>
          <a:solidFill>
            <a:srgbClr val="2A6EBB"/>
          </a:solidFill>
          <a:ln/>
        </p:spPr>
      </p:sp>
      <p:sp>
        <p:nvSpPr>
          <p:cNvPr id="13" name="Text 11"/>
          <p:cNvSpPr txBox="1"/>
          <p:nvPr/>
        </p:nvSpPr>
        <p:spPr>
          <a:xfrm>
            <a:off x="2857500" y="1352550"/>
            <a:ext cx="30480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500" dirty="0"/>
          </a:p>
        </p:txBody>
      </p:sp>
      <p:sp>
        <p:nvSpPr>
          <p:cNvPr id="14" name="Shape 12"/>
          <p:cNvSpPr/>
          <p:nvPr/>
        </p:nvSpPr>
        <p:spPr>
          <a:xfrm>
            <a:off x="4981575" y="3781425"/>
            <a:ext cx="76200" cy="0"/>
          </a:xfrm>
          <a:prstGeom prst="line">
            <a:avLst/>
          </a:prstGeom>
          <a:noFill/>
          <a:ln w="22225">
            <a:solidFill>
              <a:srgbClr val="2B4A6F"/>
            </a:solidFill>
            <a:prstDash val="solid"/>
            <a:tailEnd type="triangle"/>
          </a:ln>
        </p:spPr>
      </p:sp>
      <p:sp>
        <p:nvSpPr>
          <p:cNvPr id="15" name="Shape 13"/>
          <p:cNvSpPr/>
          <p:nvPr/>
        </p:nvSpPr>
        <p:spPr>
          <a:xfrm>
            <a:off x="5076825" y="1238250"/>
            <a:ext cx="2286000" cy="4743450"/>
          </a:xfrm>
          <a:prstGeom prst="roundRect">
            <a:avLst>
              <a:gd name="adj" fmla="val 3333"/>
            </a:avLst>
          </a:prstGeom>
          <a:solidFill>
            <a:srgbClr val="E3F4EC"/>
          </a:solidFill>
          <a:ln/>
        </p:spPr>
      </p:sp>
      <p:sp>
        <p:nvSpPr>
          <p:cNvPr id="16" name="Shape 14"/>
          <p:cNvSpPr/>
          <p:nvPr/>
        </p:nvSpPr>
        <p:spPr>
          <a:xfrm>
            <a:off x="5210175" y="1352550"/>
            <a:ext cx="304800" cy="304800"/>
          </a:xfrm>
          <a:prstGeom prst="ellipse">
            <a:avLst/>
          </a:prstGeom>
          <a:solidFill>
            <a:srgbClr val="1E8A5A"/>
          </a:solidFill>
          <a:ln/>
        </p:spPr>
      </p:sp>
      <p:sp>
        <p:nvSpPr>
          <p:cNvPr id="17" name="Text 15"/>
          <p:cNvSpPr txBox="1"/>
          <p:nvPr/>
        </p:nvSpPr>
        <p:spPr>
          <a:xfrm>
            <a:off x="5210175" y="1352550"/>
            <a:ext cx="30480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500" dirty="0"/>
          </a:p>
        </p:txBody>
      </p:sp>
      <p:sp>
        <p:nvSpPr>
          <p:cNvPr id="18" name="Shape 16"/>
          <p:cNvSpPr/>
          <p:nvPr/>
        </p:nvSpPr>
        <p:spPr>
          <a:xfrm>
            <a:off x="7372350" y="3781425"/>
            <a:ext cx="95250" cy="0"/>
          </a:xfrm>
          <a:prstGeom prst="line">
            <a:avLst/>
          </a:prstGeom>
          <a:noFill/>
          <a:ln w="22225">
            <a:solidFill>
              <a:srgbClr val="2B4A6F"/>
            </a:solidFill>
            <a:prstDash val="solid"/>
            <a:tailEnd type="triangle"/>
          </a:ln>
        </p:spPr>
      </p:sp>
      <p:sp>
        <p:nvSpPr>
          <p:cNvPr id="19" name="Shape 17"/>
          <p:cNvSpPr/>
          <p:nvPr/>
        </p:nvSpPr>
        <p:spPr>
          <a:xfrm>
            <a:off x="7486650" y="1238250"/>
            <a:ext cx="2438400" cy="4743450"/>
          </a:xfrm>
          <a:prstGeom prst="roundRect">
            <a:avLst>
              <a:gd name="adj" fmla="val 3125"/>
            </a:avLst>
          </a:prstGeom>
          <a:solidFill>
            <a:srgbClr val="EEEAF8"/>
          </a:solidFill>
          <a:ln/>
        </p:spPr>
      </p:sp>
      <p:sp>
        <p:nvSpPr>
          <p:cNvPr id="20" name="Shape 18"/>
          <p:cNvSpPr/>
          <p:nvPr/>
        </p:nvSpPr>
        <p:spPr>
          <a:xfrm>
            <a:off x="7620000" y="1352550"/>
            <a:ext cx="304800" cy="304800"/>
          </a:xfrm>
          <a:prstGeom prst="ellipse">
            <a:avLst/>
          </a:prstGeom>
          <a:solidFill>
            <a:srgbClr val="5B4FA8"/>
          </a:solidFill>
          <a:ln/>
        </p:spPr>
      </p:sp>
      <p:sp>
        <p:nvSpPr>
          <p:cNvPr id="21" name="Text 19"/>
          <p:cNvSpPr txBox="1"/>
          <p:nvPr/>
        </p:nvSpPr>
        <p:spPr>
          <a:xfrm>
            <a:off x="7620000" y="1352550"/>
            <a:ext cx="30480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500" dirty="0"/>
          </a:p>
        </p:txBody>
      </p:sp>
      <p:sp>
        <p:nvSpPr>
          <p:cNvPr id="22" name="Shape 20"/>
          <p:cNvSpPr/>
          <p:nvPr/>
        </p:nvSpPr>
        <p:spPr>
          <a:xfrm>
            <a:off x="9934575" y="3781425"/>
            <a:ext cx="85725" cy="0"/>
          </a:xfrm>
          <a:prstGeom prst="line">
            <a:avLst/>
          </a:prstGeom>
          <a:noFill/>
          <a:ln w="22225">
            <a:solidFill>
              <a:srgbClr val="2B4A6F"/>
            </a:solidFill>
            <a:prstDash val="solid"/>
            <a:tailEnd type="triangle"/>
          </a:ln>
        </p:spPr>
      </p:sp>
      <p:sp>
        <p:nvSpPr>
          <p:cNvPr id="23" name="Shape 21"/>
          <p:cNvSpPr/>
          <p:nvPr/>
        </p:nvSpPr>
        <p:spPr>
          <a:xfrm>
            <a:off x="10039350" y="1238250"/>
            <a:ext cx="2266950" cy="4743450"/>
          </a:xfrm>
          <a:prstGeom prst="roundRect">
            <a:avLst>
              <a:gd name="adj" fmla="val 3361"/>
            </a:avLst>
          </a:prstGeom>
          <a:solidFill>
            <a:srgbClr val="E6F0FA"/>
          </a:solidFill>
          <a:ln/>
        </p:spPr>
      </p:sp>
      <p:sp>
        <p:nvSpPr>
          <p:cNvPr id="24" name="Shape 22"/>
          <p:cNvSpPr/>
          <p:nvPr/>
        </p:nvSpPr>
        <p:spPr>
          <a:xfrm>
            <a:off x="10172700" y="1352550"/>
            <a:ext cx="304800" cy="304800"/>
          </a:xfrm>
          <a:prstGeom prst="ellipse">
            <a:avLst/>
          </a:prstGeom>
          <a:solidFill>
            <a:srgbClr val="1F6FB5"/>
          </a:solidFill>
          <a:ln/>
        </p:spPr>
      </p:sp>
      <p:sp>
        <p:nvSpPr>
          <p:cNvPr id="25" name="Text 23"/>
          <p:cNvSpPr txBox="1"/>
          <p:nvPr/>
        </p:nvSpPr>
        <p:spPr>
          <a:xfrm>
            <a:off x="10172700" y="1352550"/>
            <a:ext cx="30480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500" dirty="0"/>
          </a:p>
        </p:txBody>
      </p:sp>
      <p:sp>
        <p:nvSpPr>
          <p:cNvPr id="26" name="Shape 24"/>
          <p:cNvSpPr/>
          <p:nvPr/>
        </p:nvSpPr>
        <p:spPr>
          <a:xfrm>
            <a:off x="12315825" y="3781425"/>
            <a:ext cx="85725" cy="0"/>
          </a:xfrm>
          <a:prstGeom prst="line">
            <a:avLst/>
          </a:prstGeom>
          <a:noFill/>
          <a:ln w="22225">
            <a:solidFill>
              <a:srgbClr val="2B4A6F"/>
            </a:solidFill>
            <a:prstDash val="solid"/>
            <a:tailEnd type="triangle"/>
          </a:ln>
        </p:spPr>
      </p:sp>
      <p:sp>
        <p:nvSpPr>
          <p:cNvPr id="27" name="Shape 25"/>
          <p:cNvSpPr/>
          <p:nvPr/>
        </p:nvSpPr>
        <p:spPr>
          <a:xfrm>
            <a:off x="12420600" y="1238250"/>
            <a:ext cx="2114550" cy="4743450"/>
          </a:xfrm>
          <a:prstGeom prst="roundRect">
            <a:avLst>
              <a:gd name="adj" fmla="val 3604"/>
            </a:avLst>
          </a:prstGeom>
          <a:solidFill>
            <a:srgbClr val="E6F0FA"/>
          </a:solidFill>
          <a:ln/>
        </p:spPr>
      </p:sp>
      <p:sp>
        <p:nvSpPr>
          <p:cNvPr id="28" name="Shape 26"/>
          <p:cNvSpPr/>
          <p:nvPr/>
        </p:nvSpPr>
        <p:spPr>
          <a:xfrm>
            <a:off x="12553950" y="1352550"/>
            <a:ext cx="304800" cy="304800"/>
          </a:xfrm>
          <a:prstGeom prst="ellipse">
            <a:avLst/>
          </a:prstGeom>
          <a:solidFill>
            <a:srgbClr val="1F4E8C"/>
          </a:solidFill>
          <a:ln/>
        </p:spPr>
      </p:sp>
      <p:sp>
        <p:nvSpPr>
          <p:cNvPr id="29" name="Text 27"/>
          <p:cNvSpPr txBox="1"/>
          <p:nvPr/>
        </p:nvSpPr>
        <p:spPr>
          <a:xfrm>
            <a:off x="12553950" y="1352550"/>
            <a:ext cx="30480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500" dirty="0"/>
          </a:p>
        </p:txBody>
      </p:sp>
      <p:sp>
        <p:nvSpPr>
          <p:cNvPr id="30" name="Text 28"/>
          <p:cNvSpPr txBox="1"/>
          <p:nvPr/>
        </p:nvSpPr>
        <p:spPr>
          <a:xfrm>
            <a:off x="628650" y="1352550"/>
            <a:ext cx="194310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F4E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 Workspaces (CATS vs MOTIF)</a:t>
            </a:r>
            <a:endParaRPr lang="en-US" sz="1350" dirty="0"/>
          </a:p>
        </p:txBody>
      </p:sp>
      <p:sp>
        <p:nvSpPr>
          <p:cNvPr id="31" name="Text 29"/>
          <p:cNvSpPr txBox="1"/>
          <p:nvPr/>
        </p:nvSpPr>
        <p:spPr>
          <a:xfrm>
            <a:off x="247650" y="1847850"/>
            <a:ext cx="226695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1F2D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Each L4 is a CATS vs MOTIF workspace with its own set of master books.</a:t>
            </a:r>
            <a:endParaRPr lang="en-US" sz="1050" dirty="0"/>
          </a:p>
        </p:txBody>
      </p:sp>
      <p:sp>
        <p:nvSpPr>
          <p:cNvPr id="32" name="Shape 30"/>
          <p:cNvSpPr/>
          <p:nvPr/>
        </p:nvSpPr>
        <p:spPr>
          <a:xfrm>
            <a:off x="247650" y="2247900"/>
            <a:ext cx="2228850" cy="476250"/>
          </a:xfrm>
          <a:prstGeom prst="roundRect">
            <a:avLst>
              <a:gd name="adj" fmla="val 12000"/>
            </a:avLst>
          </a:prstGeom>
          <a:solidFill>
            <a:srgbClr val="1B4F93"/>
          </a:solidFill>
          <a:ln/>
        </p:spPr>
      </p:sp>
      <p:pic>
        <p:nvPicPr>
          <p:cNvPr id="3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81000" y="2333625"/>
            <a:ext cx="285750" cy="285750"/>
          </a:xfrm>
          <a:prstGeom prst="rect">
            <a:avLst/>
          </a:prstGeom>
        </p:spPr>
      </p:pic>
      <p:sp>
        <p:nvSpPr>
          <p:cNvPr id="34" name="Text 31"/>
          <p:cNvSpPr txBox="1"/>
          <p:nvPr/>
        </p:nvSpPr>
        <p:spPr>
          <a:xfrm>
            <a:off x="800100" y="2266950"/>
            <a:ext cx="1638300" cy="4381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CATS vs MOTIF Rec</a:t>
            </a:r>
            <a:endParaRPr lang="en-US" sz="1000" dirty="0"/>
          </a:p>
          <a:p>
            <a:pPr indent="0" marL="0">
              <a:buNone/>
            </a:pPr>
            <a:r>
              <a:rPr lang="en-US" sz="9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(one workspace per L4)</a:t>
            </a:r>
            <a:endParaRPr lang="en-US" sz="1000" dirty="0"/>
          </a:p>
        </p:txBody>
      </p:sp>
      <p:sp>
        <p:nvSpPr>
          <p:cNvPr id="35" name="Shape 32"/>
          <p:cNvSpPr/>
          <p:nvPr/>
        </p:nvSpPr>
        <p:spPr>
          <a:xfrm>
            <a:off x="247650" y="2800350"/>
            <a:ext cx="2228850" cy="1047750"/>
          </a:xfrm>
          <a:prstGeom prst="roundRect">
            <a:avLst>
              <a:gd name="adj" fmla="val 4545"/>
            </a:avLst>
          </a:prstGeom>
          <a:solidFill>
            <a:srgbClr val="F7FAFE"/>
          </a:solidFill>
          <a:ln w="12700">
            <a:solidFill>
              <a:srgbClr val="B9CFEA"/>
            </a:solidFill>
            <a:prstDash val="solid"/>
          </a:ln>
        </p:spPr>
      </p:sp>
      <p:sp>
        <p:nvSpPr>
          <p:cNvPr id="36" name="Text 33"/>
          <p:cNvSpPr txBox="1"/>
          <p:nvPr/>
        </p:nvSpPr>
        <p:spPr>
          <a:xfrm>
            <a:off x="342900" y="2838450"/>
            <a:ext cx="2057400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1F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Workspaces (examples)</a:t>
            </a:r>
            <a:endParaRPr lang="en-US" sz="900" dirty="0"/>
          </a:p>
        </p:txBody>
      </p:sp>
      <p:sp>
        <p:nvSpPr>
          <p:cNvPr id="37" name="Shape 34"/>
          <p:cNvSpPr/>
          <p:nvPr/>
        </p:nvSpPr>
        <p:spPr>
          <a:xfrm>
            <a:off x="361950" y="3028950"/>
            <a:ext cx="2000250" cy="228600"/>
          </a:xfrm>
          <a:prstGeom prst="roundRect">
            <a:avLst>
              <a:gd name="adj" fmla="val 16667"/>
            </a:avLst>
          </a:prstGeom>
          <a:solidFill>
            <a:srgbClr val="DCE9F7"/>
          </a:solidFill>
          <a:ln w="12700">
            <a:solidFill>
              <a:srgbClr val="C2D6EE"/>
            </a:solidFill>
            <a:prstDash val="solid"/>
          </a:ln>
        </p:spPr>
      </p:sp>
      <p:pic>
        <p:nvPicPr>
          <p:cNvPr id="38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3076575"/>
            <a:ext cx="133350" cy="133350"/>
          </a:xfrm>
          <a:prstGeom prst="rect">
            <a:avLst/>
          </a:prstGeom>
        </p:spPr>
      </p:pic>
      <p:sp>
        <p:nvSpPr>
          <p:cNvPr id="39" name="Text 35"/>
          <p:cNvSpPr txBox="1"/>
          <p:nvPr/>
        </p:nvSpPr>
        <p:spPr>
          <a:xfrm>
            <a:off x="666750" y="3028950"/>
            <a:ext cx="167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F2D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CATS vs MOTIF - FI Credit</a:t>
            </a:r>
            <a:endParaRPr lang="en-US" sz="950" dirty="0"/>
          </a:p>
        </p:txBody>
      </p:sp>
      <p:sp>
        <p:nvSpPr>
          <p:cNvPr id="40" name="Shape 36"/>
          <p:cNvSpPr/>
          <p:nvPr/>
        </p:nvSpPr>
        <p:spPr>
          <a:xfrm>
            <a:off x="361950" y="3295650"/>
            <a:ext cx="2000250" cy="228600"/>
          </a:xfrm>
          <a:prstGeom prst="roundRect">
            <a:avLst>
              <a:gd name="adj" fmla="val 16667"/>
            </a:avLst>
          </a:prstGeom>
          <a:solidFill>
            <a:srgbClr val="DCE9F7"/>
          </a:solidFill>
          <a:ln w="12700">
            <a:solidFill>
              <a:srgbClr val="C2D6EE"/>
            </a:solidFill>
            <a:prstDash val="solid"/>
          </a:ln>
        </p:spPr>
      </p:sp>
      <p:pic>
        <p:nvPicPr>
          <p:cNvPr id="41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0" y="3343275"/>
            <a:ext cx="133350" cy="133350"/>
          </a:xfrm>
          <a:prstGeom prst="rect">
            <a:avLst/>
          </a:prstGeom>
        </p:spPr>
      </p:pic>
      <p:sp>
        <p:nvSpPr>
          <p:cNvPr id="42" name="Text 37"/>
          <p:cNvSpPr txBox="1"/>
          <p:nvPr/>
        </p:nvSpPr>
        <p:spPr>
          <a:xfrm>
            <a:off x="666750" y="3295650"/>
            <a:ext cx="167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F2D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CATS vs MOTIF - Rates</a:t>
            </a:r>
            <a:endParaRPr lang="en-US" sz="950" dirty="0"/>
          </a:p>
        </p:txBody>
      </p:sp>
      <p:sp>
        <p:nvSpPr>
          <p:cNvPr id="43" name="Shape 38"/>
          <p:cNvSpPr/>
          <p:nvPr/>
        </p:nvSpPr>
        <p:spPr>
          <a:xfrm>
            <a:off x="361950" y="3562350"/>
            <a:ext cx="2000250" cy="228600"/>
          </a:xfrm>
          <a:prstGeom prst="roundRect">
            <a:avLst>
              <a:gd name="adj" fmla="val 16667"/>
            </a:avLst>
          </a:prstGeom>
          <a:solidFill>
            <a:srgbClr val="DCE9F7"/>
          </a:solidFill>
          <a:ln w="12700">
            <a:solidFill>
              <a:srgbClr val="C2D6EE"/>
            </a:solidFill>
            <a:prstDash val="solid"/>
          </a:ln>
        </p:spPr>
      </p:sp>
      <p:pic>
        <p:nvPicPr>
          <p:cNvPr id="44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7200" y="3609975"/>
            <a:ext cx="133350" cy="133350"/>
          </a:xfrm>
          <a:prstGeom prst="rect">
            <a:avLst/>
          </a:prstGeom>
        </p:spPr>
      </p:pic>
      <p:sp>
        <p:nvSpPr>
          <p:cNvPr id="45" name="Text 39"/>
          <p:cNvSpPr txBox="1"/>
          <p:nvPr/>
        </p:nvSpPr>
        <p:spPr>
          <a:xfrm>
            <a:off x="666750" y="3562350"/>
            <a:ext cx="167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F2D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CATS vs MOTIF - Prime</a:t>
            </a:r>
            <a:endParaRPr lang="en-US" sz="950" dirty="0"/>
          </a:p>
        </p:txBody>
      </p:sp>
      <p:sp>
        <p:nvSpPr>
          <p:cNvPr id="46" name="Shape 40"/>
          <p:cNvSpPr/>
          <p:nvPr/>
        </p:nvSpPr>
        <p:spPr>
          <a:xfrm>
            <a:off x="247650" y="3924300"/>
            <a:ext cx="2228850" cy="400050"/>
          </a:xfrm>
          <a:prstGeom prst="roundRect">
            <a:avLst>
              <a:gd name="adj" fmla="val 11905"/>
            </a:avLst>
          </a:prstGeom>
          <a:solidFill>
            <a:srgbClr val="F7FAFE"/>
          </a:solidFill>
          <a:ln w="12700">
            <a:solidFill>
              <a:srgbClr val="B9CFEA"/>
            </a:solidFill>
            <a:prstDash val="solid"/>
          </a:ln>
        </p:spPr>
      </p:sp>
      <p:pic>
        <p:nvPicPr>
          <p:cNvPr id="47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61950" y="3990975"/>
            <a:ext cx="266700" cy="266700"/>
          </a:xfrm>
          <a:prstGeom prst="rect">
            <a:avLst/>
          </a:prstGeom>
        </p:spPr>
      </p:pic>
      <p:sp>
        <p:nvSpPr>
          <p:cNvPr id="48" name="Text 41"/>
          <p:cNvSpPr txBox="1"/>
          <p:nvPr/>
        </p:nvSpPr>
        <p:spPr>
          <a:xfrm>
            <a:off x="742950" y="3943350"/>
            <a:ext cx="1695450" cy="3619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F2D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 Assigned</a:t>
            </a:r>
            <a:endParaRPr lang="en-US" sz="1000" dirty="0"/>
          </a:p>
          <a:p>
            <a:pPr indent="0" marL="0">
              <a:buNone/>
            </a:pPr>
            <a:r>
              <a:rPr lang="en-US" sz="900" dirty="0">
                <a:solidFill>
                  <a:srgbClr val="1F2D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(Rec owner per workspace)</a:t>
            </a:r>
            <a:endParaRPr lang="en-US" sz="1000" dirty="0"/>
          </a:p>
        </p:txBody>
      </p:sp>
      <p:sp>
        <p:nvSpPr>
          <p:cNvPr id="49" name="Shape 42"/>
          <p:cNvSpPr/>
          <p:nvPr/>
        </p:nvSpPr>
        <p:spPr>
          <a:xfrm>
            <a:off x="247650" y="4400550"/>
            <a:ext cx="2228850" cy="1466850"/>
          </a:xfrm>
          <a:prstGeom prst="roundRect">
            <a:avLst>
              <a:gd name="adj" fmla="val 3247"/>
            </a:avLst>
          </a:prstGeom>
          <a:solidFill>
            <a:srgbClr val="F7FAFE"/>
          </a:solidFill>
          <a:ln w="12700">
            <a:solidFill>
              <a:srgbClr val="B9CFEA"/>
            </a:solidFill>
            <a:prstDash val="solid"/>
          </a:ln>
        </p:spPr>
      </p:sp>
      <p:sp>
        <p:nvSpPr>
          <p:cNvPr id="50" name="Text 43"/>
          <p:cNvSpPr txBox="1"/>
          <p:nvPr/>
        </p:nvSpPr>
        <p:spPr>
          <a:xfrm>
            <a:off x="323850" y="4438650"/>
            <a:ext cx="213360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1F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Each workspace contains X Master Books</a:t>
            </a:r>
            <a:endParaRPr lang="en-US" sz="900" dirty="0"/>
          </a:p>
        </p:txBody>
      </p:sp>
      <p:sp>
        <p:nvSpPr>
          <p:cNvPr id="51" name="Shape 44"/>
          <p:cNvSpPr/>
          <p:nvPr/>
        </p:nvSpPr>
        <p:spPr>
          <a:xfrm>
            <a:off x="361950" y="4667250"/>
            <a:ext cx="2000250" cy="304800"/>
          </a:xfrm>
          <a:prstGeom prst="roundRect">
            <a:avLst>
              <a:gd name="adj" fmla="val 12500"/>
            </a:avLst>
          </a:prstGeom>
          <a:solidFill>
            <a:srgbClr val="DCE9F7"/>
          </a:solidFill>
          <a:ln w="12700">
            <a:solidFill>
              <a:srgbClr val="C2D6EE"/>
            </a:solidFill>
            <a:prstDash val="solid"/>
          </a:ln>
        </p:spPr>
      </p:sp>
      <p:pic>
        <p:nvPicPr>
          <p:cNvPr id="52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95300" y="4752975"/>
            <a:ext cx="133350" cy="133350"/>
          </a:xfrm>
          <a:prstGeom prst="rect">
            <a:avLst/>
          </a:prstGeom>
        </p:spPr>
      </p:pic>
      <p:sp>
        <p:nvSpPr>
          <p:cNvPr id="53" name="Text 45"/>
          <p:cNvSpPr txBox="1"/>
          <p:nvPr/>
        </p:nvSpPr>
        <p:spPr>
          <a:xfrm>
            <a:off x="781050" y="4667250"/>
            <a:ext cx="152400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F2D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Front Office Books</a:t>
            </a:r>
            <a:endParaRPr lang="en-US" sz="950" dirty="0"/>
          </a:p>
        </p:txBody>
      </p:sp>
      <p:sp>
        <p:nvSpPr>
          <p:cNvPr id="54" name="Shape 46"/>
          <p:cNvSpPr/>
          <p:nvPr/>
        </p:nvSpPr>
        <p:spPr>
          <a:xfrm>
            <a:off x="361950" y="5048250"/>
            <a:ext cx="2000250" cy="304800"/>
          </a:xfrm>
          <a:prstGeom prst="roundRect">
            <a:avLst>
              <a:gd name="adj" fmla="val 12500"/>
            </a:avLst>
          </a:prstGeom>
          <a:solidFill>
            <a:srgbClr val="DCE9F7"/>
          </a:solidFill>
          <a:ln w="12700">
            <a:solidFill>
              <a:srgbClr val="C2D6EE"/>
            </a:solidFill>
            <a:prstDash val="solid"/>
          </a:ln>
        </p:spPr>
      </p:sp>
      <p:pic>
        <p:nvPicPr>
          <p:cNvPr id="55" name="Image 6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95300" y="5133975"/>
            <a:ext cx="133350" cy="133350"/>
          </a:xfrm>
          <a:prstGeom prst="rect">
            <a:avLst/>
          </a:prstGeom>
        </p:spPr>
      </p:pic>
      <p:sp>
        <p:nvSpPr>
          <p:cNvPr id="56" name="Text 47"/>
          <p:cNvSpPr txBox="1"/>
          <p:nvPr/>
        </p:nvSpPr>
        <p:spPr>
          <a:xfrm>
            <a:off x="781050" y="5048250"/>
            <a:ext cx="152400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F2D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Back Office Books</a:t>
            </a:r>
            <a:endParaRPr lang="en-US" sz="950" dirty="0"/>
          </a:p>
        </p:txBody>
      </p:sp>
      <p:sp>
        <p:nvSpPr>
          <p:cNvPr id="57" name="Shape 48"/>
          <p:cNvSpPr/>
          <p:nvPr/>
        </p:nvSpPr>
        <p:spPr>
          <a:xfrm>
            <a:off x="361950" y="5429250"/>
            <a:ext cx="2000250" cy="304800"/>
          </a:xfrm>
          <a:prstGeom prst="roundRect">
            <a:avLst>
              <a:gd name="adj" fmla="val 12500"/>
            </a:avLst>
          </a:prstGeom>
          <a:solidFill>
            <a:srgbClr val="DCE9F7"/>
          </a:solidFill>
          <a:ln w="12700">
            <a:solidFill>
              <a:srgbClr val="C2D6EE"/>
            </a:solidFill>
            <a:prstDash val="solid"/>
          </a:ln>
        </p:spPr>
      </p:sp>
      <p:pic>
        <p:nvPicPr>
          <p:cNvPr id="58" name="Image 7" descr="preencoded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495300" y="5514975"/>
            <a:ext cx="133350" cy="133350"/>
          </a:xfrm>
          <a:prstGeom prst="rect">
            <a:avLst/>
          </a:prstGeom>
        </p:spPr>
      </p:pic>
      <p:sp>
        <p:nvSpPr>
          <p:cNvPr id="59" name="Text 49"/>
          <p:cNvSpPr txBox="1"/>
          <p:nvPr/>
        </p:nvSpPr>
        <p:spPr>
          <a:xfrm>
            <a:off x="781050" y="5429250"/>
            <a:ext cx="152400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F2D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Other related books</a:t>
            </a:r>
            <a:endParaRPr lang="en-US" sz="950" dirty="0"/>
          </a:p>
        </p:txBody>
      </p:sp>
      <p:sp>
        <p:nvSpPr>
          <p:cNvPr id="60" name="Text 50"/>
          <p:cNvSpPr txBox="1"/>
          <p:nvPr/>
        </p:nvSpPr>
        <p:spPr>
          <a:xfrm>
            <a:off x="3238500" y="1352550"/>
            <a:ext cx="169545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F4E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Book Availability &amp; Readiness Events</a:t>
            </a:r>
            <a:endParaRPr lang="en-US" sz="1350" dirty="0"/>
          </a:p>
        </p:txBody>
      </p:sp>
      <p:sp>
        <p:nvSpPr>
          <p:cNvPr id="61" name="Text 51"/>
          <p:cNvSpPr txBox="1"/>
          <p:nvPr/>
        </p:nvSpPr>
        <p:spPr>
          <a:xfrm>
            <a:off x="2857500" y="1847850"/>
            <a:ext cx="2019300" cy="5905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1F2D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MBREC sends book availability to One Fin UX, which raises the final Ready event.</a:t>
            </a:r>
            <a:endParaRPr lang="en-US" sz="1050" dirty="0"/>
          </a:p>
        </p:txBody>
      </p:sp>
      <p:sp>
        <p:nvSpPr>
          <p:cNvPr id="62" name="Shape 52"/>
          <p:cNvSpPr/>
          <p:nvPr/>
        </p:nvSpPr>
        <p:spPr>
          <a:xfrm>
            <a:off x="2838450" y="2514600"/>
            <a:ext cx="2019300" cy="3352800"/>
          </a:xfrm>
          <a:prstGeom prst="roundRect">
            <a:avLst>
              <a:gd name="adj" fmla="val 2358"/>
            </a:avLst>
          </a:prstGeom>
          <a:solidFill>
            <a:srgbClr val="FFFFFF"/>
          </a:solidFill>
          <a:ln w="12700">
            <a:solidFill>
              <a:srgbClr val="A9C4E6"/>
            </a:solidFill>
            <a:prstDash val="solid"/>
          </a:ln>
        </p:spPr>
      </p:sp>
      <p:sp>
        <p:nvSpPr>
          <p:cNvPr id="63" name="Shape 53"/>
          <p:cNvSpPr/>
          <p:nvPr/>
        </p:nvSpPr>
        <p:spPr>
          <a:xfrm>
            <a:off x="2952750" y="2628900"/>
            <a:ext cx="1790700" cy="438150"/>
          </a:xfrm>
          <a:prstGeom prst="roundRect">
            <a:avLst>
              <a:gd name="adj" fmla="val 8696"/>
            </a:avLst>
          </a:prstGeom>
          <a:solidFill>
            <a:srgbClr val="EEF3F9"/>
          </a:solidFill>
          <a:ln w="12700">
            <a:solidFill>
              <a:srgbClr val="C8D8EC"/>
            </a:solidFill>
            <a:prstDash val="solid"/>
          </a:ln>
        </p:spPr>
      </p:sp>
      <p:pic>
        <p:nvPicPr>
          <p:cNvPr id="64" name="Image 8" descr="preencoded.png">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3048000" y="2733675"/>
            <a:ext cx="228600" cy="228600"/>
          </a:xfrm>
          <a:prstGeom prst="rect">
            <a:avLst/>
          </a:prstGeom>
        </p:spPr>
      </p:pic>
      <p:sp>
        <p:nvSpPr>
          <p:cNvPr id="65" name="Text 54"/>
          <p:cNvSpPr txBox="1"/>
          <p:nvPr/>
        </p:nvSpPr>
        <p:spPr>
          <a:xfrm>
            <a:off x="3371850" y="2647950"/>
            <a:ext cx="1333500" cy="4000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F2D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MBREC</a:t>
            </a:r>
            <a:endParaRPr lang="en-US" sz="1000" dirty="0"/>
          </a:p>
          <a:p>
            <a:pPr indent="0" marL="0">
              <a:buNone/>
            </a:pPr>
            <a:r>
              <a:rPr lang="en-US" sz="900" dirty="0">
                <a:solidFill>
                  <a:srgbClr val="4A5A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Processes recs</a:t>
            </a:r>
            <a:endParaRPr lang="en-US" sz="1000" dirty="0"/>
          </a:p>
        </p:txBody>
      </p:sp>
      <p:sp>
        <p:nvSpPr>
          <p:cNvPr id="66" name="Shape 55"/>
          <p:cNvSpPr/>
          <p:nvPr/>
        </p:nvSpPr>
        <p:spPr>
          <a:xfrm>
            <a:off x="3848100" y="3086100"/>
            <a:ext cx="0" cy="285750"/>
          </a:xfrm>
          <a:prstGeom prst="line">
            <a:avLst/>
          </a:prstGeom>
          <a:noFill/>
          <a:ln w="15875">
            <a:solidFill>
              <a:srgbClr val="2B4A6F"/>
            </a:solidFill>
            <a:prstDash val="solid"/>
            <a:tailEnd type="triangle"/>
          </a:ln>
        </p:spPr>
      </p:sp>
      <p:sp>
        <p:nvSpPr>
          <p:cNvPr id="67" name="Text 56"/>
          <p:cNvSpPr txBox="1"/>
          <p:nvPr/>
        </p:nvSpPr>
        <p:spPr>
          <a:xfrm>
            <a:off x="3905250" y="3105150"/>
            <a:ext cx="91440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4A5A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Master book availability events</a:t>
            </a:r>
            <a:endParaRPr lang="en-US" sz="800" dirty="0"/>
          </a:p>
        </p:txBody>
      </p:sp>
      <p:sp>
        <p:nvSpPr>
          <p:cNvPr id="68" name="Shape 57"/>
          <p:cNvSpPr/>
          <p:nvPr/>
        </p:nvSpPr>
        <p:spPr>
          <a:xfrm>
            <a:off x="2952750" y="3409950"/>
            <a:ext cx="1790700" cy="438150"/>
          </a:xfrm>
          <a:prstGeom prst="roundRect">
            <a:avLst>
              <a:gd name="adj" fmla="val 8696"/>
            </a:avLst>
          </a:prstGeom>
          <a:solidFill>
            <a:srgbClr val="EEF3F9"/>
          </a:solidFill>
          <a:ln w="12700">
            <a:solidFill>
              <a:srgbClr val="C8D8EC"/>
            </a:solidFill>
            <a:prstDash val="solid"/>
          </a:ln>
        </p:spPr>
      </p:sp>
      <p:pic>
        <p:nvPicPr>
          <p:cNvPr id="69" name="Image 9" descr="preencoded.png">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3048000" y="3514725"/>
            <a:ext cx="228600" cy="228600"/>
          </a:xfrm>
          <a:prstGeom prst="rect">
            <a:avLst/>
          </a:prstGeom>
        </p:spPr>
      </p:pic>
      <p:sp>
        <p:nvSpPr>
          <p:cNvPr id="70" name="Text 58"/>
          <p:cNvSpPr txBox="1"/>
          <p:nvPr/>
        </p:nvSpPr>
        <p:spPr>
          <a:xfrm>
            <a:off x="3371850" y="3429000"/>
            <a:ext cx="1352550" cy="4000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F2D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Fin UX</a:t>
            </a:r>
            <a:endParaRPr lang="en-US" sz="1000" dirty="0"/>
          </a:p>
          <a:p>
            <a:pPr indent="0" marL="0">
              <a:buNone/>
            </a:pPr>
            <a:r>
              <a:rPr lang="en-US" sz="850" dirty="0">
                <a:solidFill>
                  <a:srgbClr val="4A5A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Business outcome per workspace</a:t>
            </a:r>
            <a:endParaRPr lang="en-US" sz="1000" dirty="0"/>
          </a:p>
        </p:txBody>
      </p:sp>
      <p:sp>
        <p:nvSpPr>
          <p:cNvPr id="71" name="Shape 59"/>
          <p:cNvSpPr/>
          <p:nvPr/>
        </p:nvSpPr>
        <p:spPr>
          <a:xfrm>
            <a:off x="2952750" y="3962400"/>
            <a:ext cx="1790700" cy="285750"/>
          </a:xfrm>
          <a:prstGeom prst="roundRect">
            <a:avLst>
              <a:gd name="adj" fmla="val 13333"/>
            </a:avLst>
          </a:prstGeom>
          <a:solidFill>
            <a:srgbClr val="FFFFFF"/>
          </a:solidFill>
          <a:ln w="12700">
            <a:solidFill>
              <a:srgbClr val="D5E2F2"/>
            </a:solidFill>
            <a:prstDash val="solid"/>
          </a:ln>
        </p:spPr>
      </p:sp>
      <p:pic>
        <p:nvPicPr>
          <p:cNvPr id="72" name="Image 10" descr="preencoded.png">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3028950" y="4010025"/>
            <a:ext cx="190500" cy="190500"/>
          </a:xfrm>
          <a:prstGeom prst="rect">
            <a:avLst/>
          </a:prstGeom>
        </p:spPr>
      </p:pic>
      <p:sp>
        <p:nvSpPr>
          <p:cNvPr id="73" name="Text 60"/>
          <p:cNvSpPr txBox="1"/>
          <p:nvPr/>
        </p:nvSpPr>
        <p:spPr>
          <a:xfrm>
            <a:off x="3295650" y="3962400"/>
            <a:ext cx="1428750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F2D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X books available: Ready</a:t>
            </a:r>
            <a:endParaRPr lang="en-US" sz="900" dirty="0"/>
          </a:p>
        </p:txBody>
      </p:sp>
      <p:sp>
        <p:nvSpPr>
          <p:cNvPr id="74" name="Shape 61"/>
          <p:cNvSpPr/>
          <p:nvPr/>
        </p:nvSpPr>
        <p:spPr>
          <a:xfrm>
            <a:off x="2952750" y="4305300"/>
            <a:ext cx="1790700" cy="285750"/>
          </a:xfrm>
          <a:prstGeom prst="roundRect">
            <a:avLst>
              <a:gd name="adj" fmla="val 13333"/>
            </a:avLst>
          </a:prstGeom>
          <a:solidFill>
            <a:srgbClr val="FFFFFF"/>
          </a:solidFill>
          <a:ln w="12700">
            <a:solidFill>
              <a:srgbClr val="D5E2F2"/>
            </a:solidFill>
            <a:prstDash val="solid"/>
          </a:ln>
        </p:spPr>
      </p:sp>
      <p:pic>
        <p:nvPicPr>
          <p:cNvPr id="75" name="Image 11" descr="preencoded.png">    </p:cNvPr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3028950" y="4352925"/>
            <a:ext cx="190500" cy="190500"/>
          </a:xfrm>
          <a:prstGeom prst="rect">
            <a:avLst/>
          </a:prstGeom>
        </p:spPr>
      </p:pic>
      <p:sp>
        <p:nvSpPr>
          <p:cNvPr id="76" name="Text 62"/>
          <p:cNvSpPr txBox="1"/>
          <p:nvPr/>
        </p:nvSpPr>
        <p:spPr>
          <a:xfrm>
            <a:off x="3295650" y="4305300"/>
            <a:ext cx="1428750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F2D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Books pending: Not Ready</a:t>
            </a:r>
            <a:endParaRPr lang="en-US" sz="900" dirty="0"/>
          </a:p>
        </p:txBody>
      </p:sp>
      <p:sp>
        <p:nvSpPr>
          <p:cNvPr id="77" name="Shape 63"/>
          <p:cNvSpPr/>
          <p:nvPr/>
        </p:nvSpPr>
        <p:spPr>
          <a:xfrm>
            <a:off x="3848100" y="4629150"/>
            <a:ext cx="0" cy="209550"/>
          </a:xfrm>
          <a:prstGeom prst="line">
            <a:avLst/>
          </a:prstGeom>
          <a:noFill/>
          <a:ln w="15875">
            <a:solidFill>
              <a:srgbClr val="2B4A6F"/>
            </a:solidFill>
            <a:prstDash val="solid"/>
            <a:tailEnd type="triangle"/>
          </a:ln>
        </p:spPr>
      </p:sp>
      <p:sp>
        <p:nvSpPr>
          <p:cNvPr id="78" name="Shape 64"/>
          <p:cNvSpPr/>
          <p:nvPr/>
        </p:nvSpPr>
        <p:spPr>
          <a:xfrm>
            <a:off x="2952750" y="4876800"/>
            <a:ext cx="1790700" cy="876300"/>
          </a:xfrm>
          <a:prstGeom prst="roundRect">
            <a:avLst>
              <a:gd name="adj" fmla="val 5435"/>
            </a:avLst>
          </a:prstGeom>
          <a:solidFill>
            <a:srgbClr val="1B4F93"/>
          </a:solidFill>
          <a:ln/>
        </p:spPr>
      </p:sp>
      <p:pic>
        <p:nvPicPr>
          <p:cNvPr id="79" name="Image 12" descr="preencoded.png">    </p:cNvPr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3048000" y="4972050"/>
            <a:ext cx="190500" cy="190500"/>
          </a:xfrm>
          <a:prstGeom prst="rect">
            <a:avLst/>
          </a:prstGeom>
        </p:spPr>
      </p:pic>
      <p:sp>
        <p:nvSpPr>
          <p:cNvPr id="80" name="Text 65"/>
          <p:cNvSpPr txBox="1"/>
          <p:nvPr/>
        </p:nvSpPr>
        <p:spPr>
          <a:xfrm>
            <a:off x="3314700" y="4933950"/>
            <a:ext cx="139065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Final Ready event</a:t>
            </a:r>
            <a:endParaRPr lang="en-US" sz="1100" dirty="0"/>
          </a:p>
        </p:txBody>
      </p:sp>
      <p:sp>
        <p:nvSpPr>
          <p:cNvPr id="81" name="Text 66"/>
          <p:cNvSpPr txBox="1"/>
          <p:nvPr/>
        </p:nvSpPr>
        <p:spPr>
          <a:xfrm>
            <a:off x="3048000" y="5219700"/>
            <a:ext cx="1638300" cy="476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E3EC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Sent to Helix Agent to start the automated session analysis</a:t>
            </a:r>
            <a:endParaRPr lang="en-US" sz="900" dirty="0"/>
          </a:p>
        </p:txBody>
      </p:sp>
      <p:sp>
        <p:nvSpPr>
          <p:cNvPr id="82" name="Text 67"/>
          <p:cNvSpPr txBox="1"/>
          <p:nvPr/>
        </p:nvSpPr>
        <p:spPr>
          <a:xfrm>
            <a:off x="5591175" y="1352550"/>
            <a:ext cx="173355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760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Helix Agent</a:t>
            </a:r>
            <a:endParaRPr lang="en-US" sz="1350" dirty="0"/>
          </a:p>
        </p:txBody>
      </p:sp>
      <p:sp>
        <p:nvSpPr>
          <p:cNvPr id="83" name="Text 68"/>
          <p:cNvSpPr txBox="1"/>
          <p:nvPr/>
        </p:nvSpPr>
        <p:spPr>
          <a:xfrm>
            <a:off x="5210175" y="1752600"/>
            <a:ext cx="20574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1F2D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Receives the final Ready event from One Fin UX, validates the workspace and starts an automated session with Agent One / LLM.</a:t>
            </a:r>
            <a:endParaRPr lang="en-US" sz="1050" dirty="0"/>
          </a:p>
        </p:txBody>
      </p:sp>
      <p:sp>
        <p:nvSpPr>
          <p:cNvPr id="84" name="Shape 69"/>
          <p:cNvSpPr/>
          <p:nvPr/>
        </p:nvSpPr>
        <p:spPr>
          <a:xfrm>
            <a:off x="5200650" y="2590800"/>
            <a:ext cx="2038350" cy="2914650"/>
          </a:xfrm>
          <a:prstGeom prst="roundRect">
            <a:avLst>
              <a:gd name="adj" fmla="val 2336"/>
            </a:avLst>
          </a:prstGeom>
          <a:solidFill>
            <a:srgbClr val="FFFFFF"/>
          </a:solidFill>
          <a:ln w="12700">
            <a:solidFill>
              <a:srgbClr val="8FCBAE"/>
            </a:solidFill>
            <a:prstDash val="solid"/>
          </a:ln>
        </p:spPr>
      </p:sp>
      <p:sp>
        <p:nvSpPr>
          <p:cNvPr id="85" name="Shape 70"/>
          <p:cNvSpPr/>
          <p:nvPr/>
        </p:nvSpPr>
        <p:spPr>
          <a:xfrm rot="5400000">
            <a:off x="5581650" y="2686050"/>
            <a:ext cx="419100" cy="385572"/>
          </a:xfrm>
          <a:prstGeom prst="hexagon">
            <a:avLst/>
          </a:prstGeom>
          <a:solidFill>
            <a:srgbClr val="1B4F93"/>
          </a:solidFill>
          <a:ln/>
        </p:spPr>
      </p:sp>
      <p:sp>
        <p:nvSpPr>
          <p:cNvPr id="86" name="Text 71"/>
          <p:cNvSpPr txBox="1"/>
          <p:nvPr/>
        </p:nvSpPr>
        <p:spPr>
          <a:xfrm>
            <a:off x="5581650" y="2686050"/>
            <a:ext cx="419100" cy="3855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48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</a:t>
            </a:r>
            <a:endParaRPr lang="en-US" sz="1848" dirty="0"/>
          </a:p>
        </p:txBody>
      </p:sp>
      <p:sp>
        <p:nvSpPr>
          <p:cNvPr id="87" name="Text 72"/>
          <p:cNvSpPr txBox="1"/>
          <p:nvPr/>
        </p:nvSpPr>
        <p:spPr>
          <a:xfrm>
            <a:off x="6115050" y="2724150"/>
            <a:ext cx="1047750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F2D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Helix Agent</a:t>
            </a:r>
            <a:endParaRPr lang="en-US" sz="1250" dirty="0"/>
          </a:p>
        </p:txBody>
      </p:sp>
      <p:sp>
        <p:nvSpPr>
          <p:cNvPr id="88" name="Shape 73"/>
          <p:cNvSpPr/>
          <p:nvPr/>
        </p:nvSpPr>
        <p:spPr>
          <a:xfrm>
            <a:off x="5314950" y="3295650"/>
            <a:ext cx="1809750" cy="457200"/>
          </a:xfrm>
          <a:prstGeom prst="roundRect">
            <a:avLst>
              <a:gd name="adj" fmla="val 8333"/>
            </a:avLst>
          </a:prstGeom>
          <a:solidFill>
            <a:srgbClr val="FFFFFF"/>
          </a:solidFill>
          <a:ln w="12700">
            <a:solidFill>
              <a:srgbClr val="A9C4E6"/>
            </a:solidFill>
            <a:prstDash val="solid"/>
          </a:ln>
        </p:spPr>
      </p:sp>
      <p:pic>
        <p:nvPicPr>
          <p:cNvPr id="89" name="Image 13" descr="preencoded.png">    </p:cNvPr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5429250" y="3419475"/>
            <a:ext cx="209550" cy="209550"/>
          </a:xfrm>
          <a:prstGeom prst="rect">
            <a:avLst/>
          </a:prstGeom>
        </p:spPr>
      </p:pic>
      <p:sp>
        <p:nvSpPr>
          <p:cNvPr id="90" name="Text 74"/>
          <p:cNvSpPr txBox="1"/>
          <p:nvPr/>
        </p:nvSpPr>
        <p:spPr>
          <a:xfrm>
            <a:off x="5772150" y="3333750"/>
            <a:ext cx="131445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F2D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Receive Ready event</a:t>
            </a:r>
            <a:endParaRPr lang="en-US" sz="1000" dirty="0"/>
          </a:p>
          <a:p>
            <a:pPr indent="0" marL="0">
              <a:buNone/>
            </a:pPr>
            <a:r>
              <a:rPr lang="en-US" sz="900" dirty="0">
                <a:solidFill>
                  <a:srgbClr val="4A5A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(from One Fin UX)</a:t>
            </a:r>
            <a:endParaRPr lang="en-US" sz="1000" dirty="0"/>
          </a:p>
        </p:txBody>
      </p:sp>
      <p:sp>
        <p:nvSpPr>
          <p:cNvPr id="91" name="Shape 75"/>
          <p:cNvSpPr/>
          <p:nvPr/>
        </p:nvSpPr>
        <p:spPr>
          <a:xfrm>
            <a:off x="6219825" y="3771900"/>
            <a:ext cx="0" cy="171450"/>
          </a:xfrm>
          <a:prstGeom prst="line">
            <a:avLst/>
          </a:prstGeom>
          <a:noFill/>
          <a:ln w="15875">
            <a:solidFill>
              <a:srgbClr val="2B4A6F"/>
            </a:solidFill>
            <a:prstDash val="solid"/>
            <a:tailEnd type="triangle"/>
          </a:ln>
        </p:spPr>
      </p:sp>
      <p:sp>
        <p:nvSpPr>
          <p:cNvPr id="92" name="Shape 76"/>
          <p:cNvSpPr/>
          <p:nvPr/>
        </p:nvSpPr>
        <p:spPr>
          <a:xfrm>
            <a:off x="5314950" y="3990975"/>
            <a:ext cx="1809750" cy="457200"/>
          </a:xfrm>
          <a:prstGeom prst="roundRect">
            <a:avLst>
              <a:gd name="adj" fmla="val 8333"/>
            </a:avLst>
          </a:prstGeom>
          <a:solidFill>
            <a:srgbClr val="FFFFFF"/>
          </a:solidFill>
          <a:ln w="12700">
            <a:solidFill>
              <a:srgbClr val="A9C4E6"/>
            </a:solidFill>
            <a:prstDash val="solid"/>
          </a:ln>
        </p:spPr>
      </p:sp>
      <p:pic>
        <p:nvPicPr>
          <p:cNvPr id="93" name="Image 14" descr="preencoded.png">    </p:cNvPr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5429250" y="4114800"/>
            <a:ext cx="209550" cy="209550"/>
          </a:xfrm>
          <a:prstGeom prst="rect">
            <a:avLst/>
          </a:prstGeom>
        </p:spPr>
      </p:pic>
      <p:sp>
        <p:nvSpPr>
          <p:cNvPr id="94" name="Text 77"/>
          <p:cNvSpPr txBox="1"/>
          <p:nvPr/>
        </p:nvSpPr>
        <p:spPr>
          <a:xfrm>
            <a:off x="5772150" y="4029075"/>
            <a:ext cx="131445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F2D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Validate workspace</a:t>
            </a:r>
            <a:endParaRPr lang="en-US" sz="1000" dirty="0"/>
          </a:p>
          <a:p>
            <a:pPr indent="0" marL="0">
              <a:buNone/>
            </a:pPr>
            <a:r>
              <a:rPr lang="en-US" sz="900" dirty="0">
                <a:solidFill>
                  <a:srgbClr val="4A5A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readiness</a:t>
            </a:r>
            <a:endParaRPr lang="en-US" sz="1000" dirty="0"/>
          </a:p>
        </p:txBody>
      </p:sp>
      <p:sp>
        <p:nvSpPr>
          <p:cNvPr id="95" name="Shape 78"/>
          <p:cNvSpPr/>
          <p:nvPr/>
        </p:nvSpPr>
        <p:spPr>
          <a:xfrm>
            <a:off x="6219825" y="4467225"/>
            <a:ext cx="0" cy="171450"/>
          </a:xfrm>
          <a:prstGeom prst="line">
            <a:avLst/>
          </a:prstGeom>
          <a:noFill/>
          <a:ln w="15875">
            <a:solidFill>
              <a:srgbClr val="2B4A6F"/>
            </a:solidFill>
            <a:prstDash val="solid"/>
            <a:tailEnd type="triangle"/>
          </a:ln>
        </p:spPr>
      </p:sp>
      <p:sp>
        <p:nvSpPr>
          <p:cNvPr id="96" name="Shape 79"/>
          <p:cNvSpPr/>
          <p:nvPr/>
        </p:nvSpPr>
        <p:spPr>
          <a:xfrm>
            <a:off x="5314950" y="4686300"/>
            <a:ext cx="1809750" cy="457200"/>
          </a:xfrm>
          <a:prstGeom prst="roundRect">
            <a:avLst>
              <a:gd name="adj" fmla="val 8333"/>
            </a:avLst>
          </a:prstGeom>
          <a:solidFill>
            <a:srgbClr val="FFFFFF"/>
          </a:solidFill>
          <a:ln w="12700">
            <a:solidFill>
              <a:srgbClr val="A9C4E6"/>
            </a:solidFill>
            <a:prstDash val="solid"/>
          </a:ln>
        </p:spPr>
      </p:sp>
      <p:pic>
        <p:nvPicPr>
          <p:cNvPr id="97" name="Image 15" descr="preencoded.png">    </p:cNvPr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>
            <a:off x="5429250" y="4810125"/>
            <a:ext cx="209550" cy="209550"/>
          </a:xfrm>
          <a:prstGeom prst="rect">
            <a:avLst/>
          </a:prstGeom>
        </p:spPr>
      </p:pic>
      <p:sp>
        <p:nvSpPr>
          <p:cNvPr id="98" name="Text 80"/>
          <p:cNvSpPr txBox="1"/>
          <p:nvPr/>
        </p:nvSpPr>
        <p:spPr>
          <a:xfrm>
            <a:off x="5772150" y="4724400"/>
            <a:ext cx="131445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F2D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Start automated session</a:t>
            </a:r>
            <a:endParaRPr lang="en-US" sz="1000" dirty="0"/>
          </a:p>
          <a:p>
            <a:pPr indent="0" marL="0">
              <a:buNone/>
            </a:pPr>
            <a:r>
              <a:rPr lang="en-US" sz="900" dirty="0">
                <a:solidFill>
                  <a:srgbClr val="4A5A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(Agent One / LLM)</a:t>
            </a:r>
            <a:endParaRPr lang="en-US" sz="1000" dirty="0"/>
          </a:p>
        </p:txBody>
      </p:sp>
      <p:sp>
        <p:nvSpPr>
          <p:cNvPr id="99" name="Text 81"/>
          <p:cNvSpPr txBox="1"/>
          <p:nvPr/>
        </p:nvSpPr>
        <p:spPr>
          <a:xfrm>
            <a:off x="8001000" y="1352550"/>
            <a:ext cx="188595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3E359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 One Session</a:t>
            </a:r>
            <a:endParaRPr lang="en-US" sz="1350" dirty="0"/>
          </a:p>
        </p:txBody>
      </p:sp>
      <p:sp>
        <p:nvSpPr>
          <p:cNvPr id="100" name="Text 82"/>
          <p:cNvSpPr txBox="1"/>
          <p:nvPr/>
        </p:nvSpPr>
        <p:spPr>
          <a:xfrm>
            <a:off x="7620000" y="1752600"/>
            <a:ext cx="2209800" cy="609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1F2D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Attach context, skills and files. Skills include MCP tool calls to fetch data from other systems.</a:t>
            </a:r>
            <a:endParaRPr lang="en-US" sz="1050" dirty="0"/>
          </a:p>
        </p:txBody>
      </p:sp>
      <p:sp>
        <p:nvSpPr>
          <p:cNvPr id="101" name="Shape 83"/>
          <p:cNvSpPr/>
          <p:nvPr/>
        </p:nvSpPr>
        <p:spPr>
          <a:xfrm>
            <a:off x="7581900" y="2533650"/>
            <a:ext cx="2247900" cy="3371850"/>
          </a:xfrm>
          <a:prstGeom prst="roundRect">
            <a:avLst>
              <a:gd name="adj" fmla="val 2119"/>
            </a:avLst>
          </a:prstGeom>
          <a:solidFill>
            <a:srgbClr val="FFFFFF"/>
          </a:solidFill>
          <a:ln w="12700">
            <a:solidFill>
              <a:srgbClr val="B3A8DE"/>
            </a:solidFill>
            <a:prstDash val="solid"/>
          </a:ln>
        </p:spPr>
      </p:sp>
      <p:pic>
        <p:nvPicPr>
          <p:cNvPr id="102" name="Image 16" descr="preencoded.png">    </p:cNvPr>
          <p:cNvPicPr>
            <a:picLocks noChangeAspect="1"/>
          </p:cNvPicPr>
          <p:nvPr/>
        </p:nvPicPr>
        <p:blipFill>
          <a:blip r:embed="rId17"/>
          <a:stretch>
            <a:fillRect/>
          </a:stretch>
        </p:blipFill>
        <p:spPr>
          <a:xfrm>
            <a:off x="7696200" y="2628900"/>
            <a:ext cx="304800" cy="304800"/>
          </a:xfrm>
          <a:prstGeom prst="rect">
            <a:avLst/>
          </a:prstGeom>
        </p:spPr>
      </p:pic>
      <p:sp>
        <p:nvSpPr>
          <p:cNvPr id="103" name="Text 84"/>
          <p:cNvSpPr txBox="1"/>
          <p:nvPr/>
        </p:nvSpPr>
        <p:spPr>
          <a:xfrm>
            <a:off x="8115300" y="2628900"/>
            <a:ext cx="167640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2C24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 One / LLM Session</a:t>
            </a:r>
            <a:endParaRPr lang="en-US" sz="1200" dirty="0"/>
          </a:p>
        </p:txBody>
      </p:sp>
      <p:sp>
        <p:nvSpPr>
          <p:cNvPr id="104" name="Shape 85"/>
          <p:cNvSpPr/>
          <p:nvPr/>
        </p:nvSpPr>
        <p:spPr>
          <a:xfrm>
            <a:off x="7677150" y="3086100"/>
            <a:ext cx="2057400" cy="1333500"/>
          </a:xfrm>
          <a:prstGeom prst="roundRect">
            <a:avLst>
              <a:gd name="adj" fmla="val 2857"/>
            </a:avLst>
          </a:prstGeom>
          <a:solidFill>
            <a:srgbClr val="F3F1FB"/>
          </a:solidFill>
          <a:ln w="12700">
            <a:solidFill>
              <a:srgbClr val="D6CFEE"/>
            </a:solidFill>
            <a:prstDash val="solid"/>
          </a:ln>
        </p:spPr>
      </p:sp>
      <p:sp>
        <p:nvSpPr>
          <p:cNvPr id="105" name="Text 86"/>
          <p:cNvSpPr txBox="1"/>
          <p:nvPr/>
        </p:nvSpPr>
        <p:spPr>
          <a:xfrm>
            <a:off x="7791450" y="3105150"/>
            <a:ext cx="1905000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3E359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Attach Context</a:t>
            </a:r>
            <a:endParaRPr lang="en-US" sz="1050" dirty="0"/>
          </a:p>
        </p:txBody>
      </p:sp>
      <p:sp>
        <p:nvSpPr>
          <p:cNvPr id="106" name="Shape 87"/>
          <p:cNvSpPr/>
          <p:nvPr/>
        </p:nvSpPr>
        <p:spPr>
          <a:xfrm>
            <a:off x="7677150" y="3314700"/>
            <a:ext cx="2057400" cy="0"/>
          </a:xfrm>
          <a:prstGeom prst="line">
            <a:avLst/>
          </a:prstGeom>
          <a:noFill/>
          <a:ln w="12700">
            <a:solidFill>
              <a:srgbClr val="D6CFEE"/>
            </a:solidFill>
            <a:prstDash val="solid"/>
          </a:ln>
        </p:spPr>
      </p:sp>
      <p:pic>
        <p:nvPicPr>
          <p:cNvPr id="107" name="Image 17" descr="preencoded.png">    </p:cNvPr>
          <p:cNvPicPr>
            <a:picLocks noChangeAspect="1"/>
          </p:cNvPicPr>
          <p:nvPr/>
        </p:nvPicPr>
        <p:blipFill>
          <a:blip r:embed="rId18"/>
          <a:stretch>
            <a:fillRect/>
          </a:stretch>
        </p:blipFill>
        <p:spPr>
          <a:xfrm>
            <a:off x="7848600" y="3448050"/>
            <a:ext cx="142875" cy="142875"/>
          </a:xfrm>
          <a:prstGeom prst="rect">
            <a:avLst/>
          </a:prstGeom>
        </p:spPr>
      </p:pic>
      <p:sp>
        <p:nvSpPr>
          <p:cNvPr id="108" name="Text 88"/>
          <p:cNvSpPr txBox="1"/>
          <p:nvPr/>
        </p:nvSpPr>
        <p:spPr>
          <a:xfrm>
            <a:off x="8134350" y="3390900"/>
            <a:ext cx="156210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F2D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Skills / Playbooks</a:t>
            </a:r>
            <a:endParaRPr lang="en-US" sz="1000" dirty="0"/>
          </a:p>
        </p:txBody>
      </p:sp>
      <p:pic>
        <p:nvPicPr>
          <p:cNvPr id="109" name="Image 18" descr="preencoded.png">    </p:cNvPr>
          <p:cNvPicPr>
            <a:picLocks noChangeAspect="1"/>
          </p:cNvPicPr>
          <p:nvPr/>
        </p:nvPicPr>
        <p:blipFill>
          <a:blip r:embed="rId19"/>
          <a:stretch>
            <a:fillRect/>
          </a:stretch>
        </p:blipFill>
        <p:spPr>
          <a:xfrm>
            <a:off x="7848600" y="3752850"/>
            <a:ext cx="142875" cy="142875"/>
          </a:xfrm>
          <a:prstGeom prst="rect">
            <a:avLst/>
          </a:prstGeom>
        </p:spPr>
      </p:pic>
      <p:sp>
        <p:nvSpPr>
          <p:cNvPr id="110" name="Text 89"/>
          <p:cNvSpPr txBox="1"/>
          <p:nvPr/>
        </p:nvSpPr>
        <p:spPr>
          <a:xfrm>
            <a:off x="8134350" y="3695700"/>
            <a:ext cx="156210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F2D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Reference Files</a:t>
            </a:r>
            <a:endParaRPr lang="en-US" sz="1000" dirty="0"/>
          </a:p>
        </p:txBody>
      </p:sp>
      <p:pic>
        <p:nvPicPr>
          <p:cNvPr id="111" name="Image 19" descr="preencoded.png">    </p:cNvPr>
          <p:cNvPicPr>
            <a:picLocks noChangeAspect="1"/>
          </p:cNvPicPr>
          <p:nvPr/>
        </p:nvPicPr>
        <p:blipFill>
          <a:blip r:embed="rId20"/>
          <a:stretch>
            <a:fillRect/>
          </a:stretch>
        </p:blipFill>
        <p:spPr>
          <a:xfrm>
            <a:off x="7848600" y="4057650"/>
            <a:ext cx="142875" cy="142875"/>
          </a:xfrm>
          <a:prstGeom prst="rect">
            <a:avLst/>
          </a:prstGeom>
        </p:spPr>
      </p:pic>
      <p:sp>
        <p:nvSpPr>
          <p:cNvPr id="112" name="Text 90"/>
          <p:cNvSpPr txBox="1"/>
          <p:nvPr/>
        </p:nvSpPr>
        <p:spPr>
          <a:xfrm>
            <a:off x="8134350" y="4000500"/>
            <a:ext cx="1562100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F2D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MCP Tool Calls</a:t>
            </a:r>
            <a:endParaRPr lang="en-US" sz="1000" dirty="0"/>
          </a:p>
          <a:p>
            <a:pPr indent="0" marL="0">
              <a:buNone/>
            </a:pPr>
            <a:r>
              <a:rPr lang="en-US" sz="850" dirty="0">
                <a:solidFill>
                  <a:srgbClr val="4A5A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(MB Rec data, FAS posting)</a:t>
            </a:r>
            <a:endParaRPr lang="en-US" sz="1000" dirty="0"/>
          </a:p>
        </p:txBody>
      </p:sp>
      <p:sp>
        <p:nvSpPr>
          <p:cNvPr id="113" name="Shape 91"/>
          <p:cNvSpPr/>
          <p:nvPr/>
        </p:nvSpPr>
        <p:spPr>
          <a:xfrm>
            <a:off x="8686800" y="4438650"/>
            <a:ext cx="0" cy="171450"/>
          </a:xfrm>
          <a:prstGeom prst="line">
            <a:avLst/>
          </a:prstGeom>
          <a:noFill/>
          <a:ln w="15875">
            <a:solidFill>
              <a:srgbClr val="2B4A6F"/>
            </a:solidFill>
            <a:prstDash val="solid"/>
            <a:tailEnd type="triangle"/>
          </a:ln>
        </p:spPr>
      </p:sp>
      <p:sp>
        <p:nvSpPr>
          <p:cNvPr id="114" name="Shape 92"/>
          <p:cNvSpPr/>
          <p:nvPr/>
        </p:nvSpPr>
        <p:spPr>
          <a:xfrm>
            <a:off x="7677150" y="4629150"/>
            <a:ext cx="2057400" cy="1200150"/>
          </a:xfrm>
          <a:prstGeom prst="roundRect">
            <a:avLst>
              <a:gd name="adj" fmla="val 3175"/>
            </a:avLst>
          </a:prstGeom>
          <a:solidFill>
            <a:srgbClr val="F3F1FB"/>
          </a:solidFill>
          <a:ln w="12700">
            <a:solidFill>
              <a:srgbClr val="D6CFEE"/>
            </a:solidFill>
            <a:prstDash val="solid"/>
          </a:ln>
        </p:spPr>
      </p:sp>
      <p:pic>
        <p:nvPicPr>
          <p:cNvPr id="115" name="Image 20" descr="preencoded.png">    </p:cNvPr>
          <p:cNvPicPr>
            <a:picLocks noChangeAspect="1"/>
          </p:cNvPicPr>
          <p:nvPr/>
        </p:nvPicPr>
        <p:blipFill>
          <a:blip r:embed="rId21"/>
          <a:stretch>
            <a:fillRect/>
          </a:stretch>
        </p:blipFill>
        <p:spPr>
          <a:xfrm>
            <a:off x="7810500" y="4695825"/>
            <a:ext cx="152400" cy="152400"/>
          </a:xfrm>
          <a:prstGeom prst="rect">
            <a:avLst/>
          </a:prstGeom>
        </p:spPr>
      </p:pic>
      <p:sp>
        <p:nvSpPr>
          <p:cNvPr id="116" name="Text 93"/>
          <p:cNvSpPr txBox="1"/>
          <p:nvPr/>
        </p:nvSpPr>
        <p:spPr>
          <a:xfrm>
            <a:off x="8039100" y="4667250"/>
            <a:ext cx="1638300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2C24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 Analysis (Internal)</a:t>
            </a:r>
            <a:endParaRPr lang="en-US" sz="1000" dirty="0"/>
          </a:p>
        </p:txBody>
      </p:sp>
      <p:sp>
        <p:nvSpPr>
          <p:cNvPr id="117" name="Text 94"/>
          <p:cNvSpPr txBox="1"/>
          <p:nvPr/>
        </p:nvSpPr>
        <p:spPr>
          <a:xfrm>
            <a:off x="7734300" y="4895850"/>
            <a:ext cx="19812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27000" indent="-127000">
              <a:spcAft>
                <a:spcPts val="200"/>
              </a:spcAft>
              <a:buSzPct val="100000"/>
              <a:buChar char="•"/>
            </a:pPr>
            <a:r>
              <a:rPr lang="en-US" sz="850" dirty="0">
                <a:solidFill>
                  <a:srgbClr val="1F2D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Compare FO vs BO by position, book, date</a:t>
            </a:r>
            <a:endParaRPr lang="en-US" sz="850" dirty="0"/>
          </a:p>
          <a:p>
            <a:pPr marL="127000" indent="-127000">
              <a:spcAft>
                <a:spcPts val="200"/>
              </a:spcAft>
              <a:buSzPct val="100000"/>
              <a:buChar char="•"/>
            </a:pPr>
            <a:r>
              <a:rPr lang="en-US" sz="850" dirty="0">
                <a:solidFill>
                  <a:srgbClr val="1F2D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Classify: Missing Side, Side Double, Reapplication, False Break, DQ</a:t>
            </a:r>
            <a:endParaRPr lang="en-US" sz="850" dirty="0"/>
          </a:p>
          <a:p>
            <a:pPr marL="127000" indent="-127000">
              <a:spcAft>
                <a:spcPts val="200"/>
              </a:spcAft>
              <a:buSzPct val="100000"/>
              <a:buChar char="•"/>
            </a:pPr>
            <a:r>
              <a:rPr lang="en-US" sz="850" dirty="0">
                <a:solidFill>
                  <a:srgbClr val="1F2D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Explain: Pull Factor, MTM, Trading P&amp;L</a:t>
            </a:r>
            <a:endParaRPr lang="en-US" sz="850" dirty="0"/>
          </a:p>
          <a:p>
            <a:pPr marL="127000" indent="-127000">
              <a:spcAft>
                <a:spcPts val="200"/>
              </a:spcAft>
              <a:buSzPct val="100000"/>
              <a:buChar char="•"/>
            </a:pPr>
            <a:r>
              <a:rPr lang="en-US" sz="850" dirty="0">
                <a:solidFill>
                  <a:srgbClr val="1F2D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Recommend: journal, DQ or no action</a:t>
            </a:r>
            <a:endParaRPr lang="en-US" sz="850" dirty="0"/>
          </a:p>
        </p:txBody>
      </p:sp>
      <p:sp>
        <p:nvSpPr>
          <p:cNvPr id="118" name="Text 95"/>
          <p:cNvSpPr txBox="1"/>
          <p:nvPr/>
        </p:nvSpPr>
        <p:spPr>
          <a:xfrm>
            <a:off x="10553700" y="1352550"/>
            <a:ext cx="171450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F4E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Controller Desk Review &amp; Action</a:t>
            </a:r>
            <a:endParaRPr lang="en-US" sz="1350" dirty="0"/>
          </a:p>
        </p:txBody>
      </p:sp>
      <p:sp>
        <p:nvSpPr>
          <p:cNvPr id="119" name="Text 96"/>
          <p:cNvSpPr txBox="1"/>
          <p:nvPr/>
        </p:nvSpPr>
        <p:spPr>
          <a:xfrm>
            <a:off x="10172700" y="1847850"/>
            <a:ext cx="2038350" cy="8191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1F2D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After X time, controllers arrive at their regular desk time, open the session analysis per workspace, ask questions and approve adjustments.</a:t>
            </a:r>
            <a:endParaRPr lang="en-US" sz="1050" dirty="0"/>
          </a:p>
        </p:txBody>
      </p:sp>
      <p:sp>
        <p:nvSpPr>
          <p:cNvPr id="120" name="Shape 97"/>
          <p:cNvSpPr/>
          <p:nvPr/>
        </p:nvSpPr>
        <p:spPr>
          <a:xfrm>
            <a:off x="10153650" y="2724150"/>
            <a:ext cx="2038350" cy="2762250"/>
          </a:xfrm>
          <a:prstGeom prst="roundRect">
            <a:avLst>
              <a:gd name="adj" fmla="val 2336"/>
            </a:avLst>
          </a:prstGeom>
          <a:solidFill>
            <a:srgbClr val="FFFFFF"/>
          </a:solidFill>
          <a:ln w="12700">
            <a:solidFill>
              <a:srgbClr val="A9C4E6"/>
            </a:solidFill>
            <a:prstDash val="solid"/>
          </a:ln>
        </p:spPr>
      </p:sp>
      <p:pic>
        <p:nvPicPr>
          <p:cNvPr id="121" name="Image 21" descr="preencoded.png">    </p:cNvPr>
          <p:cNvPicPr>
            <a:picLocks noChangeAspect="1"/>
          </p:cNvPicPr>
          <p:nvPr/>
        </p:nvPicPr>
        <p:blipFill>
          <a:blip r:embed="rId22"/>
          <a:stretch>
            <a:fillRect/>
          </a:stretch>
        </p:blipFill>
        <p:spPr>
          <a:xfrm>
            <a:off x="10287000" y="2819400"/>
            <a:ext cx="304800" cy="304800"/>
          </a:xfrm>
          <a:prstGeom prst="rect">
            <a:avLst/>
          </a:prstGeom>
        </p:spPr>
      </p:pic>
      <p:sp>
        <p:nvSpPr>
          <p:cNvPr id="122" name="Text 98"/>
          <p:cNvSpPr txBox="1"/>
          <p:nvPr/>
        </p:nvSpPr>
        <p:spPr>
          <a:xfrm>
            <a:off x="10706100" y="2819400"/>
            <a:ext cx="142875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F2D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Controller (User)</a:t>
            </a:r>
            <a:endParaRPr lang="en-US" sz="1250" dirty="0"/>
          </a:p>
        </p:txBody>
      </p:sp>
      <p:sp>
        <p:nvSpPr>
          <p:cNvPr id="123" name="Shape 99"/>
          <p:cNvSpPr/>
          <p:nvPr/>
        </p:nvSpPr>
        <p:spPr>
          <a:xfrm>
            <a:off x="10248900" y="3257550"/>
            <a:ext cx="1866900" cy="552450"/>
          </a:xfrm>
          <a:prstGeom prst="roundRect">
            <a:avLst>
              <a:gd name="adj" fmla="val 6897"/>
            </a:avLst>
          </a:prstGeom>
          <a:solidFill>
            <a:srgbClr val="FFFFFF"/>
          </a:solidFill>
          <a:ln w="12700">
            <a:solidFill>
              <a:srgbClr val="A9C4E6"/>
            </a:solidFill>
            <a:prstDash val="solid"/>
          </a:ln>
        </p:spPr>
      </p:sp>
      <p:pic>
        <p:nvPicPr>
          <p:cNvPr id="124" name="Image 22" descr="preencoded.png">    </p:cNvPr>
          <p:cNvPicPr>
            <a:picLocks noChangeAspect="1"/>
          </p:cNvPicPr>
          <p:nvPr/>
        </p:nvPicPr>
        <p:blipFill>
          <a:blip r:embed="rId23"/>
          <a:stretch>
            <a:fillRect/>
          </a:stretch>
        </p:blipFill>
        <p:spPr>
          <a:xfrm>
            <a:off x="10363200" y="3419475"/>
            <a:ext cx="228600" cy="228600"/>
          </a:xfrm>
          <a:prstGeom prst="rect">
            <a:avLst/>
          </a:prstGeom>
        </p:spPr>
      </p:pic>
      <p:sp>
        <p:nvSpPr>
          <p:cNvPr id="125" name="Text 100"/>
          <p:cNvSpPr txBox="1"/>
          <p:nvPr/>
        </p:nvSpPr>
        <p:spPr>
          <a:xfrm>
            <a:off x="10706100" y="3295650"/>
            <a:ext cx="1371600" cy="4762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F2D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 session analysis</a:t>
            </a:r>
            <a:endParaRPr lang="en-US" sz="1000" dirty="0"/>
          </a:p>
          <a:p>
            <a:pPr indent="0" marL="0">
              <a:buNone/>
            </a:pPr>
            <a:r>
              <a:rPr lang="en-US" sz="850" dirty="0">
                <a:solidFill>
                  <a:srgbClr val="4A5A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(per workspace)</a:t>
            </a:r>
            <a:endParaRPr lang="en-US" sz="1000" dirty="0"/>
          </a:p>
        </p:txBody>
      </p:sp>
      <p:sp>
        <p:nvSpPr>
          <p:cNvPr id="126" name="Shape 101"/>
          <p:cNvSpPr/>
          <p:nvPr/>
        </p:nvSpPr>
        <p:spPr>
          <a:xfrm>
            <a:off x="11182350" y="3829050"/>
            <a:ext cx="0" cy="152400"/>
          </a:xfrm>
          <a:prstGeom prst="line">
            <a:avLst/>
          </a:prstGeom>
          <a:noFill/>
          <a:ln w="15875">
            <a:solidFill>
              <a:srgbClr val="2B4A6F"/>
            </a:solidFill>
            <a:prstDash val="solid"/>
            <a:tailEnd type="triangle"/>
          </a:ln>
        </p:spPr>
      </p:sp>
      <p:sp>
        <p:nvSpPr>
          <p:cNvPr id="127" name="Shape 102"/>
          <p:cNvSpPr/>
          <p:nvPr/>
        </p:nvSpPr>
        <p:spPr>
          <a:xfrm>
            <a:off x="10248900" y="4000500"/>
            <a:ext cx="1866900" cy="552450"/>
          </a:xfrm>
          <a:prstGeom prst="roundRect">
            <a:avLst>
              <a:gd name="adj" fmla="val 6897"/>
            </a:avLst>
          </a:prstGeom>
          <a:solidFill>
            <a:srgbClr val="FFFFFF"/>
          </a:solidFill>
          <a:ln w="12700">
            <a:solidFill>
              <a:srgbClr val="A9C4E6"/>
            </a:solidFill>
            <a:prstDash val="solid"/>
          </a:ln>
        </p:spPr>
      </p:sp>
      <p:pic>
        <p:nvPicPr>
          <p:cNvPr id="128" name="Image 23" descr="preencoded.png">    </p:cNvPr>
          <p:cNvPicPr>
            <a:picLocks noChangeAspect="1"/>
          </p:cNvPicPr>
          <p:nvPr/>
        </p:nvPicPr>
        <p:blipFill>
          <a:blip r:embed="rId24"/>
          <a:stretch>
            <a:fillRect/>
          </a:stretch>
        </p:blipFill>
        <p:spPr>
          <a:xfrm>
            <a:off x="10363200" y="4162425"/>
            <a:ext cx="228600" cy="228600"/>
          </a:xfrm>
          <a:prstGeom prst="rect">
            <a:avLst/>
          </a:prstGeom>
        </p:spPr>
      </p:pic>
      <p:sp>
        <p:nvSpPr>
          <p:cNvPr id="129" name="Text 103"/>
          <p:cNvSpPr txBox="1"/>
          <p:nvPr/>
        </p:nvSpPr>
        <p:spPr>
          <a:xfrm>
            <a:off x="10706100" y="4038600"/>
            <a:ext cx="1371600" cy="4762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F2D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Ask questions to LLM</a:t>
            </a:r>
            <a:endParaRPr lang="en-US" sz="1000" dirty="0"/>
          </a:p>
          <a:p>
            <a:pPr indent="0" marL="0">
              <a:buNone/>
            </a:pPr>
            <a:r>
              <a:rPr lang="en-US" sz="850" dirty="0">
                <a:solidFill>
                  <a:srgbClr val="4A5A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(same session &amp; workspace context)</a:t>
            </a:r>
            <a:endParaRPr lang="en-US" sz="1000" dirty="0"/>
          </a:p>
        </p:txBody>
      </p:sp>
      <p:sp>
        <p:nvSpPr>
          <p:cNvPr id="130" name="Shape 104"/>
          <p:cNvSpPr/>
          <p:nvPr/>
        </p:nvSpPr>
        <p:spPr>
          <a:xfrm>
            <a:off x="11182350" y="4572000"/>
            <a:ext cx="0" cy="152400"/>
          </a:xfrm>
          <a:prstGeom prst="line">
            <a:avLst/>
          </a:prstGeom>
          <a:noFill/>
          <a:ln w="15875">
            <a:solidFill>
              <a:srgbClr val="2B4A6F"/>
            </a:solidFill>
            <a:prstDash val="solid"/>
            <a:tailEnd type="triangle"/>
          </a:ln>
        </p:spPr>
      </p:sp>
      <p:sp>
        <p:nvSpPr>
          <p:cNvPr id="131" name="Shape 105"/>
          <p:cNvSpPr/>
          <p:nvPr/>
        </p:nvSpPr>
        <p:spPr>
          <a:xfrm>
            <a:off x="10248900" y="4743450"/>
            <a:ext cx="1866900" cy="552450"/>
          </a:xfrm>
          <a:prstGeom prst="roundRect">
            <a:avLst>
              <a:gd name="adj" fmla="val 6897"/>
            </a:avLst>
          </a:prstGeom>
          <a:solidFill>
            <a:srgbClr val="FFFFFF"/>
          </a:solidFill>
          <a:ln w="12700">
            <a:solidFill>
              <a:srgbClr val="A9C4E6"/>
            </a:solidFill>
            <a:prstDash val="solid"/>
          </a:ln>
        </p:spPr>
      </p:sp>
      <p:pic>
        <p:nvPicPr>
          <p:cNvPr id="132" name="Image 24" descr="preencoded.png">    </p:cNvPr>
          <p:cNvPicPr>
            <a:picLocks noChangeAspect="1"/>
          </p:cNvPicPr>
          <p:nvPr/>
        </p:nvPicPr>
        <p:blipFill>
          <a:blip r:embed="rId25"/>
          <a:stretch>
            <a:fillRect/>
          </a:stretch>
        </p:blipFill>
        <p:spPr>
          <a:xfrm>
            <a:off x="10363200" y="4905375"/>
            <a:ext cx="228600" cy="228600"/>
          </a:xfrm>
          <a:prstGeom prst="rect">
            <a:avLst/>
          </a:prstGeom>
        </p:spPr>
      </p:pic>
      <p:sp>
        <p:nvSpPr>
          <p:cNvPr id="133" name="Text 106"/>
          <p:cNvSpPr txBox="1"/>
          <p:nvPr/>
        </p:nvSpPr>
        <p:spPr>
          <a:xfrm>
            <a:off x="10706100" y="4781550"/>
            <a:ext cx="1371600" cy="4762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F2D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Approve adjustment</a:t>
            </a:r>
            <a:endParaRPr lang="en-US" sz="1000" dirty="0"/>
          </a:p>
          <a:p>
            <a:pPr indent="0" marL="0">
              <a:buNone/>
            </a:pPr>
            <a:r>
              <a:rPr lang="en-US" sz="850" dirty="0">
                <a:solidFill>
                  <a:srgbClr val="4A5A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(posted to MOTIF via FAS MCP)</a:t>
            </a:r>
            <a:endParaRPr lang="en-US" sz="1000" dirty="0"/>
          </a:p>
        </p:txBody>
      </p:sp>
      <p:sp>
        <p:nvSpPr>
          <p:cNvPr id="134" name="Shape 107"/>
          <p:cNvSpPr/>
          <p:nvPr/>
        </p:nvSpPr>
        <p:spPr>
          <a:xfrm>
            <a:off x="10153650" y="5562600"/>
            <a:ext cx="2038350" cy="304800"/>
          </a:xfrm>
          <a:prstGeom prst="roundRect">
            <a:avLst>
              <a:gd name="adj" fmla="val 50000"/>
            </a:avLst>
          </a:prstGeom>
          <a:solidFill>
            <a:srgbClr val="DCE9F7"/>
          </a:solidFill>
          <a:ln w="12700">
            <a:solidFill>
              <a:srgbClr val="C2D6EE"/>
            </a:solidFill>
            <a:prstDash val="solid"/>
          </a:ln>
        </p:spPr>
      </p:sp>
      <p:pic>
        <p:nvPicPr>
          <p:cNvPr id="135" name="Image 25" descr="preencoded.png">    </p:cNvPr>
          <p:cNvPicPr>
            <a:picLocks noChangeAspect="1"/>
          </p:cNvPicPr>
          <p:nvPr/>
        </p:nvPicPr>
        <p:blipFill>
          <a:blip r:embed="rId26"/>
          <a:stretch>
            <a:fillRect/>
          </a:stretch>
        </p:blipFill>
        <p:spPr>
          <a:xfrm>
            <a:off x="10267950" y="5638800"/>
            <a:ext cx="152400" cy="152400"/>
          </a:xfrm>
          <a:prstGeom prst="rect">
            <a:avLst/>
          </a:prstGeom>
        </p:spPr>
      </p:pic>
      <p:sp>
        <p:nvSpPr>
          <p:cNvPr id="136" name="Text 108"/>
          <p:cNvSpPr txBox="1"/>
          <p:nvPr/>
        </p:nvSpPr>
        <p:spPr>
          <a:xfrm>
            <a:off x="10477500" y="5562600"/>
            <a:ext cx="167640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1F3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Analysis ready before desk time</a:t>
            </a:r>
            <a:endParaRPr lang="en-US" sz="900" dirty="0"/>
          </a:p>
        </p:txBody>
      </p:sp>
      <p:sp>
        <p:nvSpPr>
          <p:cNvPr id="137" name="Text 109"/>
          <p:cNvSpPr txBox="1"/>
          <p:nvPr/>
        </p:nvSpPr>
        <p:spPr>
          <a:xfrm>
            <a:off x="12934950" y="1352550"/>
            <a:ext cx="156210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F3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Observability &amp; App Audit</a:t>
            </a:r>
            <a:endParaRPr lang="en-US" sz="1350" dirty="0"/>
          </a:p>
        </p:txBody>
      </p:sp>
      <p:sp>
        <p:nvSpPr>
          <p:cNvPr id="138" name="Text 110"/>
          <p:cNvSpPr txBox="1"/>
          <p:nvPr/>
        </p:nvSpPr>
        <p:spPr>
          <a:xfrm>
            <a:off x="12553950" y="1905000"/>
            <a:ext cx="1885950" cy="571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b="1" dirty="0">
                <a:solidFill>
                  <a:srgbClr val="1F2D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Phoenix Eyes</a:t>
            </a:r>
            <a:pPr indent="0" marL="0">
              <a:buNone/>
            </a:pPr>
            <a:r>
              <a:rPr lang="en-US" sz="1050" dirty="0">
                <a:solidFill>
                  <a:srgbClr val="1F2D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watches the AI side. User actions and postings stay in the application audit.</a:t>
            </a:r>
            <a:endParaRPr lang="en-US" sz="1050" dirty="0"/>
          </a:p>
        </p:txBody>
      </p:sp>
      <p:sp>
        <p:nvSpPr>
          <p:cNvPr id="139" name="Shape 111"/>
          <p:cNvSpPr/>
          <p:nvPr/>
        </p:nvSpPr>
        <p:spPr>
          <a:xfrm>
            <a:off x="12515850" y="2533650"/>
            <a:ext cx="1924050" cy="2381250"/>
          </a:xfrm>
          <a:prstGeom prst="roundRect">
            <a:avLst>
              <a:gd name="adj" fmla="val 2475"/>
            </a:avLst>
          </a:prstGeom>
          <a:solidFill>
            <a:srgbClr val="FFFFFF"/>
          </a:solidFill>
          <a:ln w="12700">
            <a:solidFill>
              <a:srgbClr val="B3A8DE"/>
            </a:solidFill>
            <a:prstDash val="solid"/>
          </a:ln>
        </p:spPr>
      </p:sp>
      <p:sp>
        <p:nvSpPr>
          <p:cNvPr id="140" name="Shape 112"/>
          <p:cNvSpPr/>
          <p:nvPr/>
        </p:nvSpPr>
        <p:spPr>
          <a:xfrm>
            <a:off x="12611100" y="2628900"/>
            <a:ext cx="381000" cy="381000"/>
          </a:xfrm>
          <a:prstGeom prst="ellipse">
            <a:avLst/>
          </a:prstGeom>
          <a:solidFill>
            <a:srgbClr val="1F4E8C"/>
          </a:solidFill>
          <a:ln/>
        </p:spPr>
      </p:sp>
      <p:pic>
        <p:nvPicPr>
          <p:cNvPr id="141" name="Image 26" descr="preencoded.png">    </p:cNvPr>
          <p:cNvPicPr>
            <a:picLocks noChangeAspect="1"/>
          </p:cNvPicPr>
          <p:nvPr/>
        </p:nvPicPr>
        <p:blipFill>
          <a:blip r:embed="rId27"/>
          <a:stretch>
            <a:fillRect/>
          </a:stretch>
        </p:blipFill>
        <p:spPr>
          <a:xfrm>
            <a:off x="12687300" y="2705100"/>
            <a:ext cx="228600" cy="228600"/>
          </a:xfrm>
          <a:prstGeom prst="rect">
            <a:avLst/>
          </a:prstGeom>
        </p:spPr>
      </p:pic>
      <p:sp>
        <p:nvSpPr>
          <p:cNvPr id="142" name="Text 113"/>
          <p:cNvSpPr txBox="1"/>
          <p:nvPr/>
        </p:nvSpPr>
        <p:spPr>
          <a:xfrm>
            <a:off x="13068300" y="2628900"/>
            <a:ext cx="135255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F2D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Phoenix Eyes</a:t>
            </a:r>
            <a:endParaRPr lang="en-US" sz="1000" dirty="0"/>
          </a:p>
          <a:p>
            <a:pPr indent="0" marL="0">
              <a:buNone/>
            </a:pPr>
            <a:r>
              <a:rPr lang="en-US" sz="850" dirty="0">
                <a:solidFill>
                  <a:srgbClr val="4A5A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observability only</a:t>
            </a:r>
            <a:endParaRPr lang="en-US" sz="1000" dirty="0"/>
          </a:p>
        </p:txBody>
      </p:sp>
      <p:sp>
        <p:nvSpPr>
          <p:cNvPr id="143" name="Shape 114"/>
          <p:cNvSpPr/>
          <p:nvPr/>
        </p:nvSpPr>
        <p:spPr>
          <a:xfrm>
            <a:off x="12611100" y="3105150"/>
            <a:ext cx="1733550" cy="285750"/>
          </a:xfrm>
          <a:prstGeom prst="roundRect">
            <a:avLst>
              <a:gd name="adj" fmla="val 13333"/>
            </a:avLst>
          </a:prstGeom>
          <a:solidFill>
            <a:srgbClr val="F3F1FB"/>
          </a:solidFill>
          <a:ln w="12700">
            <a:solidFill>
              <a:srgbClr val="DCD6F0"/>
            </a:solidFill>
            <a:prstDash val="solid"/>
          </a:ln>
        </p:spPr>
      </p:sp>
      <p:pic>
        <p:nvPicPr>
          <p:cNvPr id="144" name="Image 27" descr="preencoded.png">    </p:cNvPr>
          <p:cNvPicPr>
            <a:picLocks noChangeAspect="1"/>
          </p:cNvPicPr>
          <p:nvPr/>
        </p:nvPicPr>
        <p:blipFill>
          <a:blip r:embed="rId28"/>
          <a:stretch>
            <a:fillRect/>
          </a:stretch>
        </p:blipFill>
        <p:spPr>
          <a:xfrm>
            <a:off x="12706350" y="3181350"/>
            <a:ext cx="133350" cy="133350"/>
          </a:xfrm>
          <a:prstGeom prst="rect">
            <a:avLst/>
          </a:prstGeom>
        </p:spPr>
      </p:pic>
      <p:sp>
        <p:nvSpPr>
          <p:cNvPr id="145" name="Text 115"/>
          <p:cNvSpPr txBox="1"/>
          <p:nvPr/>
        </p:nvSpPr>
        <p:spPr>
          <a:xfrm>
            <a:off x="12915900" y="3105150"/>
            <a:ext cx="1390650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F2D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session traces</a:t>
            </a:r>
            <a:endParaRPr lang="en-US" sz="900" dirty="0"/>
          </a:p>
        </p:txBody>
      </p:sp>
      <p:sp>
        <p:nvSpPr>
          <p:cNvPr id="146" name="Shape 116"/>
          <p:cNvSpPr/>
          <p:nvPr/>
        </p:nvSpPr>
        <p:spPr>
          <a:xfrm>
            <a:off x="12611100" y="3457575"/>
            <a:ext cx="1733550" cy="285750"/>
          </a:xfrm>
          <a:prstGeom prst="roundRect">
            <a:avLst>
              <a:gd name="adj" fmla="val 13333"/>
            </a:avLst>
          </a:prstGeom>
          <a:solidFill>
            <a:srgbClr val="F3F1FB"/>
          </a:solidFill>
          <a:ln w="12700">
            <a:solidFill>
              <a:srgbClr val="DCD6F0"/>
            </a:solidFill>
            <a:prstDash val="solid"/>
          </a:ln>
        </p:spPr>
      </p:sp>
      <p:pic>
        <p:nvPicPr>
          <p:cNvPr id="147" name="Image 28" descr="preencoded.png">    </p:cNvPr>
          <p:cNvPicPr>
            <a:picLocks noChangeAspect="1"/>
          </p:cNvPicPr>
          <p:nvPr/>
        </p:nvPicPr>
        <p:blipFill>
          <a:blip r:embed="rId29"/>
          <a:stretch>
            <a:fillRect/>
          </a:stretch>
        </p:blipFill>
        <p:spPr>
          <a:xfrm>
            <a:off x="12706350" y="3533775"/>
            <a:ext cx="133350" cy="133350"/>
          </a:xfrm>
          <a:prstGeom prst="rect">
            <a:avLst/>
          </a:prstGeom>
        </p:spPr>
      </p:pic>
      <p:sp>
        <p:nvSpPr>
          <p:cNvPr id="148" name="Text 117"/>
          <p:cNvSpPr txBox="1"/>
          <p:nvPr/>
        </p:nvSpPr>
        <p:spPr>
          <a:xfrm>
            <a:off x="12915900" y="3457575"/>
            <a:ext cx="1390650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F2D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sources &amp; prompts</a:t>
            </a:r>
            <a:endParaRPr lang="en-US" sz="900" dirty="0"/>
          </a:p>
        </p:txBody>
      </p:sp>
      <p:sp>
        <p:nvSpPr>
          <p:cNvPr id="149" name="Shape 118"/>
          <p:cNvSpPr/>
          <p:nvPr/>
        </p:nvSpPr>
        <p:spPr>
          <a:xfrm>
            <a:off x="12611100" y="3810000"/>
            <a:ext cx="1733550" cy="285750"/>
          </a:xfrm>
          <a:prstGeom prst="roundRect">
            <a:avLst>
              <a:gd name="adj" fmla="val 13333"/>
            </a:avLst>
          </a:prstGeom>
          <a:solidFill>
            <a:srgbClr val="F3F1FB"/>
          </a:solidFill>
          <a:ln w="12700">
            <a:solidFill>
              <a:srgbClr val="DCD6F0"/>
            </a:solidFill>
            <a:prstDash val="solid"/>
          </a:ln>
        </p:spPr>
      </p:sp>
      <p:pic>
        <p:nvPicPr>
          <p:cNvPr id="150" name="Image 29" descr="preencoded.png">    </p:cNvPr>
          <p:cNvPicPr>
            <a:picLocks noChangeAspect="1"/>
          </p:cNvPicPr>
          <p:nvPr/>
        </p:nvPicPr>
        <p:blipFill>
          <a:blip r:embed="rId30"/>
          <a:stretch>
            <a:fillRect/>
          </a:stretch>
        </p:blipFill>
        <p:spPr>
          <a:xfrm>
            <a:off x="12706350" y="3886200"/>
            <a:ext cx="133350" cy="133350"/>
          </a:xfrm>
          <a:prstGeom prst="rect">
            <a:avLst/>
          </a:prstGeom>
        </p:spPr>
      </p:pic>
      <p:sp>
        <p:nvSpPr>
          <p:cNvPr id="151" name="Text 119"/>
          <p:cNvSpPr txBox="1"/>
          <p:nvPr/>
        </p:nvSpPr>
        <p:spPr>
          <a:xfrm>
            <a:off x="12915900" y="3810000"/>
            <a:ext cx="1390650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F2D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Skill Gap Analysis</a:t>
            </a:r>
            <a:endParaRPr lang="en-US" sz="900" dirty="0"/>
          </a:p>
        </p:txBody>
      </p:sp>
      <p:sp>
        <p:nvSpPr>
          <p:cNvPr id="152" name="Shape 120"/>
          <p:cNvSpPr/>
          <p:nvPr/>
        </p:nvSpPr>
        <p:spPr>
          <a:xfrm>
            <a:off x="12611100" y="4162425"/>
            <a:ext cx="1733550" cy="285750"/>
          </a:xfrm>
          <a:prstGeom prst="roundRect">
            <a:avLst>
              <a:gd name="adj" fmla="val 13333"/>
            </a:avLst>
          </a:prstGeom>
          <a:solidFill>
            <a:srgbClr val="F3F1FB"/>
          </a:solidFill>
          <a:ln w="12700">
            <a:solidFill>
              <a:srgbClr val="DCD6F0"/>
            </a:solidFill>
            <a:prstDash val="solid"/>
          </a:ln>
        </p:spPr>
      </p:sp>
      <p:pic>
        <p:nvPicPr>
          <p:cNvPr id="153" name="Image 30" descr="preencoded.png">    </p:cNvPr>
          <p:cNvPicPr>
            <a:picLocks noChangeAspect="1"/>
          </p:cNvPicPr>
          <p:nvPr/>
        </p:nvPicPr>
        <p:blipFill>
          <a:blip r:embed="rId31"/>
          <a:stretch>
            <a:fillRect/>
          </a:stretch>
        </p:blipFill>
        <p:spPr>
          <a:xfrm>
            <a:off x="12706350" y="4238625"/>
            <a:ext cx="133350" cy="133350"/>
          </a:xfrm>
          <a:prstGeom prst="rect">
            <a:avLst/>
          </a:prstGeom>
        </p:spPr>
      </p:pic>
      <p:sp>
        <p:nvSpPr>
          <p:cNvPr id="154" name="Text 121"/>
          <p:cNvSpPr txBox="1"/>
          <p:nvPr/>
        </p:nvSpPr>
        <p:spPr>
          <a:xfrm>
            <a:off x="12915900" y="4162425"/>
            <a:ext cx="1390650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F2D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LLM Performance &amp; Health</a:t>
            </a:r>
            <a:endParaRPr lang="en-US" sz="900" dirty="0"/>
          </a:p>
        </p:txBody>
      </p:sp>
      <p:sp>
        <p:nvSpPr>
          <p:cNvPr id="155" name="Shape 122"/>
          <p:cNvSpPr/>
          <p:nvPr/>
        </p:nvSpPr>
        <p:spPr>
          <a:xfrm>
            <a:off x="12611100" y="4514850"/>
            <a:ext cx="1733550" cy="285750"/>
          </a:xfrm>
          <a:prstGeom prst="roundRect">
            <a:avLst>
              <a:gd name="adj" fmla="val 13333"/>
            </a:avLst>
          </a:prstGeom>
          <a:solidFill>
            <a:srgbClr val="F3F1FB"/>
          </a:solidFill>
          <a:ln w="12700">
            <a:solidFill>
              <a:srgbClr val="DCD6F0"/>
            </a:solidFill>
            <a:prstDash val="solid"/>
          </a:ln>
        </p:spPr>
      </p:sp>
      <p:pic>
        <p:nvPicPr>
          <p:cNvPr id="156" name="Image 31" descr="preencoded.png">    </p:cNvPr>
          <p:cNvPicPr>
            <a:picLocks noChangeAspect="1"/>
          </p:cNvPicPr>
          <p:nvPr/>
        </p:nvPicPr>
        <p:blipFill>
          <a:blip r:embed="rId32"/>
          <a:stretch>
            <a:fillRect/>
          </a:stretch>
        </p:blipFill>
        <p:spPr>
          <a:xfrm>
            <a:off x="12706350" y="4591050"/>
            <a:ext cx="133350" cy="133350"/>
          </a:xfrm>
          <a:prstGeom prst="rect">
            <a:avLst/>
          </a:prstGeom>
        </p:spPr>
      </p:pic>
      <p:sp>
        <p:nvSpPr>
          <p:cNvPr id="157" name="Text 123"/>
          <p:cNvSpPr txBox="1"/>
          <p:nvPr/>
        </p:nvSpPr>
        <p:spPr>
          <a:xfrm>
            <a:off x="12915900" y="4514850"/>
            <a:ext cx="1390650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F2D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decision logic</a:t>
            </a:r>
            <a:endParaRPr lang="en-US" sz="900" dirty="0"/>
          </a:p>
        </p:txBody>
      </p:sp>
      <p:sp>
        <p:nvSpPr>
          <p:cNvPr id="158" name="Shape 124"/>
          <p:cNvSpPr/>
          <p:nvPr/>
        </p:nvSpPr>
        <p:spPr>
          <a:xfrm>
            <a:off x="12515850" y="5010150"/>
            <a:ext cx="1924050" cy="857250"/>
          </a:xfrm>
          <a:prstGeom prst="roundRect">
            <a:avLst>
              <a:gd name="adj" fmla="val 5556"/>
            </a:avLst>
          </a:prstGeom>
          <a:solidFill>
            <a:srgbClr val="F1F4F8"/>
          </a:solidFill>
          <a:ln w="12700">
            <a:solidFill>
              <a:srgbClr val="9AA8BA"/>
            </a:solidFill>
            <a:prstDash val="solid"/>
          </a:ln>
        </p:spPr>
      </p:sp>
      <p:pic>
        <p:nvPicPr>
          <p:cNvPr id="159" name="Image 32" descr="preencoded.png">    </p:cNvPr>
          <p:cNvPicPr>
            <a:picLocks noChangeAspect="1"/>
          </p:cNvPicPr>
          <p:nvPr/>
        </p:nvPicPr>
        <p:blipFill>
          <a:blip r:embed="rId33"/>
          <a:stretch>
            <a:fillRect/>
          </a:stretch>
        </p:blipFill>
        <p:spPr>
          <a:xfrm>
            <a:off x="12630150" y="5105400"/>
            <a:ext cx="171450" cy="171450"/>
          </a:xfrm>
          <a:prstGeom prst="rect">
            <a:avLst/>
          </a:prstGeom>
        </p:spPr>
      </p:pic>
      <p:sp>
        <p:nvSpPr>
          <p:cNvPr id="160" name="Text 125"/>
          <p:cNvSpPr txBox="1"/>
          <p:nvPr/>
        </p:nvSpPr>
        <p:spPr>
          <a:xfrm>
            <a:off x="12877800" y="5067300"/>
            <a:ext cx="1524000" cy="2476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2E3B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Application Audit</a:t>
            </a:r>
            <a:endParaRPr lang="en-US" sz="1100" dirty="0"/>
          </a:p>
        </p:txBody>
      </p:sp>
      <p:sp>
        <p:nvSpPr>
          <p:cNvPr id="161" name="Text 126"/>
          <p:cNvSpPr txBox="1"/>
          <p:nvPr/>
        </p:nvSpPr>
        <p:spPr>
          <a:xfrm>
            <a:off x="12630150" y="5334000"/>
            <a:ext cx="1733550" cy="495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1F2D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 actions, approvals, postings and event history (existing app audit)</a:t>
            </a:r>
            <a:endParaRPr lang="en-US" sz="900" dirty="0"/>
          </a:p>
        </p:txBody>
      </p:sp>
      <p:sp>
        <p:nvSpPr>
          <p:cNvPr id="162" name="Shape 127"/>
          <p:cNvSpPr/>
          <p:nvPr/>
        </p:nvSpPr>
        <p:spPr>
          <a:xfrm>
            <a:off x="152400" y="6124575"/>
            <a:ext cx="14344650" cy="1733550"/>
          </a:xfrm>
          <a:prstGeom prst="roundRect">
            <a:avLst>
              <a:gd name="adj" fmla="val 4396"/>
            </a:avLst>
          </a:prstGeom>
          <a:solidFill>
            <a:srgbClr val="EAF1F9"/>
          </a:solidFill>
          <a:ln w="12700">
            <a:solidFill>
              <a:srgbClr val="D2E0F0"/>
            </a:solidFill>
            <a:prstDash val="solid"/>
          </a:ln>
        </p:spPr>
      </p:sp>
      <p:pic>
        <p:nvPicPr>
          <p:cNvPr id="163" name="Image 33" descr="preencoded.png">    </p:cNvPr>
          <p:cNvPicPr>
            <a:picLocks noChangeAspect="1"/>
          </p:cNvPicPr>
          <p:nvPr/>
        </p:nvPicPr>
        <p:blipFill>
          <a:blip r:embed="rId34"/>
          <a:stretch>
            <a:fillRect/>
          </a:stretch>
        </p:blipFill>
        <p:spPr>
          <a:xfrm>
            <a:off x="285750" y="6191250"/>
            <a:ext cx="266700" cy="266700"/>
          </a:xfrm>
          <a:prstGeom prst="rect">
            <a:avLst/>
          </a:prstGeom>
        </p:spPr>
      </p:pic>
      <p:sp>
        <p:nvSpPr>
          <p:cNvPr id="164" name="Text 128"/>
          <p:cNvSpPr txBox="1"/>
          <p:nvPr/>
        </p:nvSpPr>
        <p:spPr>
          <a:xfrm>
            <a:off x="666750" y="6172200"/>
            <a:ext cx="3810000" cy="3238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F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Technology &amp; Data Flow</a:t>
            </a:r>
            <a:endParaRPr lang="en-US" sz="1400" dirty="0"/>
          </a:p>
        </p:txBody>
      </p:sp>
      <p:sp>
        <p:nvSpPr>
          <p:cNvPr id="165" name="Shape 129"/>
          <p:cNvSpPr/>
          <p:nvPr/>
        </p:nvSpPr>
        <p:spPr>
          <a:xfrm>
            <a:off x="247650" y="6572250"/>
            <a:ext cx="2114550" cy="1143000"/>
          </a:xfrm>
          <a:prstGeom prst="roundRect">
            <a:avLst>
              <a:gd name="adj" fmla="val 4167"/>
            </a:avLst>
          </a:prstGeom>
          <a:solidFill>
            <a:srgbClr val="FFFFFF"/>
          </a:solidFill>
          <a:ln w="12700">
            <a:solidFill>
              <a:srgbClr val="C8D8EC"/>
            </a:solidFill>
            <a:prstDash val="solid"/>
          </a:ln>
        </p:spPr>
      </p:sp>
      <p:pic>
        <p:nvPicPr>
          <p:cNvPr id="166" name="Image 34" descr="preencoded.png">    </p:cNvPr>
          <p:cNvPicPr>
            <a:picLocks noChangeAspect="1"/>
          </p:cNvPicPr>
          <p:nvPr/>
        </p:nvPicPr>
        <p:blipFill>
          <a:blip r:embed="rId35"/>
          <a:stretch>
            <a:fillRect/>
          </a:stretch>
        </p:blipFill>
        <p:spPr>
          <a:xfrm>
            <a:off x="1143000" y="6648450"/>
            <a:ext cx="323850" cy="323850"/>
          </a:xfrm>
          <a:prstGeom prst="rect">
            <a:avLst/>
          </a:prstGeom>
        </p:spPr>
      </p:pic>
      <p:sp>
        <p:nvSpPr>
          <p:cNvPr id="167" name="Text 130"/>
          <p:cNvSpPr txBox="1"/>
          <p:nvPr/>
        </p:nvSpPr>
        <p:spPr>
          <a:xfrm>
            <a:off x="304800" y="7029450"/>
            <a:ext cx="2000250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F3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MBREC</a:t>
            </a:r>
            <a:endParaRPr lang="en-US" sz="1100" dirty="0"/>
          </a:p>
        </p:txBody>
      </p:sp>
      <p:sp>
        <p:nvSpPr>
          <p:cNvPr id="168" name="Text 131"/>
          <p:cNvSpPr txBox="1"/>
          <p:nvPr/>
        </p:nvSpPr>
        <p:spPr>
          <a:xfrm>
            <a:off x="304800" y="7239000"/>
            <a:ext cx="2000250" cy="4000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950" dirty="0">
                <a:solidFill>
                  <a:srgbClr val="2E4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Master-book rec, sends</a:t>
            </a:r>
            <a:endParaRPr lang="en-US" sz="950" dirty="0"/>
          </a:p>
          <a:p>
            <a:pPr algn="ctr" indent="0" marL="0">
              <a:buNone/>
            </a:pPr>
            <a:r>
              <a:rPr lang="en-US" sz="950" dirty="0">
                <a:solidFill>
                  <a:srgbClr val="2E4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master book availability</a:t>
            </a:r>
            <a:endParaRPr lang="en-US" sz="950" dirty="0"/>
          </a:p>
        </p:txBody>
      </p:sp>
      <p:sp>
        <p:nvSpPr>
          <p:cNvPr id="169" name="Shape 132"/>
          <p:cNvSpPr/>
          <p:nvPr/>
        </p:nvSpPr>
        <p:spPr>
          <a:xfrm>
            <a:off x="2428875" y="7143750"/>
            <a:ext cx="180975" cy="0"/>
          </a:xfrm>
          <a:prstGeom prst="line">
            <a:avLst/>
          </a:prstGeom>
          <a:noFill/>
          <a:ln w="22225">
            <a:solidFill>
              <a:srgbClr val="2B4A6F"/>
            </a:solidFill>
            <a:prstDash val="solid"/>
            <a:tailEnd type="triangle"/>
          </a:ln>
        </p:spPr>
      </p:sp>
      <p:sp>
        <p:nvSpPr>
          <p:cNvPr id="170" name="Shape 133"/>
          <p:cNvSpPr/>
          <p:nvPr/>
        </p:nvSpPr>
        <p:spPr>
          <a:xfrm>
            <a:off x="2676525" y="6572250"/>
            <a:ext cx="2114550" cy="1143000"/>
          </a:xfrm>
          <a:prstGeom prst="roundRect">
            <a:avLst>
              <a:gd name="adj" fmla="val 4167"/>
            </a:avLst>
          </a:prstGeom>
          <a:solidFill>
            <a:srgbClr val="FFFFFF"/>
          </a:solidFill>
          <a:ln w="12700">
            <a:solidFill>
              <a:srgbClr val="C8D8EC"/>
            </a:solidFill>
            <a:prstDash val="solid"/>
          </a:ln>
        </p:spPr>
      </p:sp>
      <p:pic>
        <p:nvPicPr>
          <p:cNvPr id="171" name="Image 35" descr="preencoded.png">    </p:cNvPr>
          <p:cNvPicPr>
            <a:picLocks noChangeAspect="1"/>
          </p:cNvPicPr>
          <p:nvPr/>
        </p:nvPicPr>
        <p:blipFill>
          <a:blip r:embed="rId36"/>
          <a:stretch>
            <a:fillRect/>
          </a:stretch>
        </p:blipFill>
        <p:spPr>
          <a:xfrm>
            <a:off x="3571875" y="6648450"/>
            <a:ext cx="323850" cy="323850"/>
          </a:xfrm>
          <a:prstGeom prst="rect">
            <a:avLst/>
          </a:prstGeom>
        </p:spPr>
      </p:pic>
      <p:sp>
        <p:nvSpPr>
          <p:cNvPr id="172" name="Text 134"/>
          <p:cNvSpPr txBox="1"/>
          <p:nvPr/>
        </p:nvSpPr>
        <p:spPr>
          <a:xfrm>
            <a:off x="2733675" y="7029450"/>
            <a:ext cx="2000250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F3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Fin UX</a:t>
            </a:r>
            <a:endParaRPr lang="en-US" sz="1100" dirty="0"/>
          </a:p>
        </p:txBody>
      </p:sp>
      <p:sp>
        <p:nvSpPr>
          <p:cNvPr id="173" name="Text 135"/>
          <p:cNvSpPr txBox="1"/>
          <p:nvPr/>
        </p:nvSpPr>
        <p:spPr>
          <a:xfrm>
            <a:off x="2733675" y="7239000"/>
            <a:ext cx="2000250" cy="4000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950" dirty="0">
                <a:solidFill>
                  <a:srgbClr val="2E4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Business outcome per workspace</a:t>
            </a:r>
            <a:endParaRPr lang="en-US" sz="950" dirty="0"/>
          </a:p>
          <a:p>
            <a:pPr algn="ctr" indent="0" marL="0">
              <a:buNone/>
            </a:pPr>
            <a:r>
              <a:rPr lang="en-US" sz="950" dirty="0">
                <a:solidFill>
                  <a:srgbClr val="2E4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final Ready event to Helix</a:t>
            </a:r>
            <a:endParaRPr lang="en-US" sz="950" dirty="0"/>
          </a:p>
        </p:txBody>
      </p:sp>
      <p:sp>
        <p:nvSpPr>
          <p:cNvPr id="174" name="Shape 136"/>
          <p:cNvSpPr/>
          <p:nvPr/>
        </p:nvSpPr>
        <p:spPr>
          <a:xfrm>
            <a:off x="4857750" y="7143750"/>
            <a:ext cx="180975" cy="0"/>
          </a:xfrm>
          <a:prstGeom prst="line">
            <a:avLst/>
          </a:prstGeom>
          <a:noFill/>
          <a:ln w="22225">
            <a:solidFill>
              <a:srgbClr val="2B4A6F"/>
            </a:solidFill>
            <a:prstDash val="solid"/>
            <a:tailEnd type="triangle"/>
          </a:ln>
        </p:spPr>
      </p:sp>
      <p:sp>
        <p:nvSpPr>
          <p:cNvPr id="175" name="Shape 137"/>
          <p:cNvSpPr/>
          <p:nvPr/>
        </p:nvSpPr>
        <p:spPr>
          <a:xfrm>
            <a:off x="5105400" y="6572250"/>
            <a:ext cx="2114550" cy="1143000"/>
          </a:xfrm>
          <a:prstGeom prst="roundRect">
            <a:avLst>
              <a:gd name="adj" fmla="val 4167"/>
            </a:avLst>
          </a:prstGeom>
          <a:solidFill>
            <a:srgbClr val="FFFFFF"/>
          </a:solidFill>
          <a:ln w="12700">
            <a:solidFill>
              <a:srgbClr val="C8D8EC"/>
            </a:solidFill>
            <a:prstDash val="solid"/>
          </a:ln>
        </p:spPr>
      </p:sp>
      <p:sp>
        <p:nvSpPr>
          <p:cNvPr id="176" name="Shape 138"/>
          <p:cNvSpPr/>
          <p:nvPr/>
        </p:nvSpPr>
        <p:spPr>
          <a:xfrm rot="5400000">
            <a:off x="6000750" y="6648450"/>
            <a:ext cx="323850" cy="297942"/>
          </a:xfrm>
          <a:prstGeom prst="hexagon">
            <a:avLst/>
          </a:prstGeom>
          <a:solidFill>
            <a:srgbClr val="1B4F93"/>
          </a:solidFill>
          <a:ln/>
        </p:spPr>
      </p:sp>
      <p:sp>
        <p:nvSpPr>
          <p:cNvPr id="177" name="Text 139"/>
          <p:cNvSpPr txBox="1"/>
          <p:nvPr/>
        </p:nvSpPr>
        <p:spPr>
          <a:xfrm>
            <a:off x="6000750" y="6648450"/>
            <a:ext cx="323850" cy="2979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28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</a:t>
            </a:r>
            <a:endParaRPr lang="en-US" sz="1428" dirty="0"/>
          </a:p>
        </p:txBody>
      </p:sp>
      <p:sp>
        <p:nvSpPr>
          <p:cNvPr id="178" name="Text 140"/>
          <p:cNvSpPr txBox="1"/>
          <p:nvPr/>
        </p:nvSpPr>
        <p:spPr>
          <a:xfrm>
            <a:off x="5162550" y="7029450"/>
            <a:ext cx="2000250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F3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Helix Agent</a:t>
            </a:r>
            <a:endParaRPr lang="en-US" sz="1100" dirty="0"/>
          </a:p>
        </p:txBody>
      </p:sp>
      <p:sp>
        <p:nvSpPr>
          <p:cNvPr id="179" name="Text 141"/>
          <p:cNvSpPr txBox="1"/>
          <p:nvPr/>
        </p:nvSpPr>
        <p:spPr>
          <a:xfrm>
            <a:off x="5162550" y="7239000"/>
            <a:ext cx="2000250" cy="4000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950" dirty="0">
                <a:solidFill>
                  <a:srgbClr val="2E4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Orchestration</a:t>
            </a:r>
            <a:endParaRPr lang="en-US" sz="950" dirty="0"/>
          </a:p>
          <a:p>
            <a:pPr algn="ctr" indent="0" marL="0">
              <a:buNone/>
            </a:pPr>
            <a:r>
              <a:rPr lang="en-US" sz="950" dirty="0">
                <a:solidFill>
                  <a:srgbClr val="2E4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&amp; Automated Sessions</a:t>
            </a:r>
            <a:endParaRPr lang="en-US" sz="950" dirty="0"/>
          </a:p>
        </p:txBody>
      </p:sp>
      <p:sp>
        <p:nvSpPr>
          <p:cNvPr id="180" name="Shape 142"/>
          <p:cNvSpPr/>
          <p:nvPr/>
        </p:nvSpPr>
        <p:spPr>
          <a:xfrm>
            <a:off x="7286625" y="7143750"/>
            <a:ext cx="180975" cy="0"/>
          </a:xfrm>
          <a:prstGeom prst="line">
            <a:avLst/>
          </a:prstGeom>
          <a:noFill/>
          <a:ln w="22225">
            <a:solidFill>
              <a:srgbClr val="2B4A6F"/>
            </a:solidFill>
            <a:prstDash val="solid"/>
            <a:tailEnd type="triangle"/>
          </a:ln>
        </p:spPr>
      </p:sp>
      <p:sp>
        <p:nvSpPr>
          <p:cNvPr id="181" name="Shape 143"/>
          <p:cNvSpPr/>
          <p:nvPr/>
        </p:nvSpPr>
        <p:spPr>
          <a:xfrm>
            <a:off x="7534275" y="6572250"/>
            <a:ext cx="2114550" cy="1143000"/>
          </a:xfrm>
          <a:prstGeom prst="roundRect">
            <a:avLst>
              <a:gd name="adj" fmla="val 4167"/>
            </a:avLst>
          </a:prstGeom>
          <a:solidFill>
            <a:srgbClr val="FFFFFF"/>
          </a:solidFill>
          <a:ln w="12700">
            <a:solidFill>
              <a:srgbClr val="C8D8EC"/>
            </a:solidFill>
            <a:prstDash val="solid"/>
          </a:ln>
        </p:spPr>
      </p:sp>
      <p:pic>
        <p:nvPicPr>
          <p:cNvPr id="182" name="Image 36" descr="preencoded.png">    </p:cNvPr>
          <p:cNvPicPr>
            <a:picLocks noChangeAspect="1"/>
          </p:cNvPicPr>
          <p:nvPr/>
        </p:nvPicPr>
        <p:blipFill>
          <a:blip r:embed="rId37"/>
          <a:stretch>
            <a:fillRect/>
          </a:stretch>
        </p:blipFill>
        <p:spPr>
          <a:xfrm>
            <a:off x="8429625" y="6648450"/>
            <a:ext cx="323850" cy="323850"/>
          </a:xfrm>
          <a:prstGeom prst="rect">
            <a:avLst/>
          </a:prstGeom>
        </p:spPr>
      </p:pic>
      <p:sp>
        <p:nvSpPr>
          <p:cNvPr id="183" name="Text 144"/>
          <p:cNvSpPr txBox="1"/>
          <p:nvPr/>
        </p:nvSpPr>
        <p:spPr>
          <a:xfrm>
            <a:off x="7591425" y="7029450"/>
            <a:ext cx="2000250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F3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 One / LLM</a:t>
            </a:r>
            <a:endParaRPr lang="en-US" sz="1100" dirty="0"/>
          </a:p>
        </p:txBody>
      </p:sp>
      <p:sp>
        <p:nvSpPr>
          <p:cNvPr id="184" name="Text 145"/>
          <p:cNvSpPr txBox="1"/>
          <p:nvPr/>
        </p:nvSpPr>
        <p:spPr>
          <a:xfrm>
            <a:off x="7591425" y="7239000"/>
            <a:ext cx="2000250" cy="4000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950" dirty="0">
                <a:solidFill>
                  <a:srgbClr val="2E4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Analysis &amp; Reasoning</a:t>
            </a:r>
            <a:endParaRPr lang="en-US" sz="950" dirty="0"/>
          </a:p>
          <a:p>
            <a:pPr algn="ctr" indent="0" marL="0">
              <a:buNone/>
            </a:pPr>
            <a:r>
              <a:rPr lang="en-US" sz="950" dirty="0">
                <a:solidFill>
                  <a:srgbClr val="2E4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(with Skills + MCP tools)</a:t>
            </a:r>
            <a:endParaRPr lang="en-US" sz="950" dirty="0"/>
          </a:p>
        </p:txBody>
      </p:sp>
      <p:sp>
        <p:nvSpPr>
          <p:cNvPr id="185" name="Shape 146"/>
          <p:cNvSpPr/>
          <p:nvPr/>
        </p:nvSpPr>
        <p:spPr>
          <a:xfrm>
            <a:off x="9715500" y="7143750"/>
            <a:ext cx="180975" cy="0"/>
          </a:xfrm>
          <a:prstGeom prst="line">
            <a:avLst/>
          </a:prstGeom>
          <a:noFill/>
          <a:ln w="22225">
            <a:solidFill>
              <a:srgbClr val="2B4A6F"/>
            </a:solidFill>
            <a:prstDash val="solid"/>
            <a:tailEnd type="triangle"/>
          </a:ln>
        </p:spPr>
      </p:sp>
      <p:sp>
        <p:nvSpPr>
          <p:cNvPr id="186" name="Shape 147"/>
          <p:cNvSpPr/>
          <p:nvPr/>
        </p:nvSpPr>
        <p:spPr>
          <a:xfrm>
            <a:off x="9963150" y="6572250"/>
            <a:ext cx="2114550" cy="1143000"/>
          </a:xfrm>
          <a:prstGeom prst="roundRect">
            <a:avLst>
              <a:gd name="adj" fmla="val 4167"/>
            </a:avLst>
          </a:prstGeom>
          <a:solidFill>
            <a:srgbClr val="FFFFFF"/>
          </a:solidFill>
          <a:ln w="12700">
            <a:solidFill>
              <a:srgbClr val="C8D8EC"/>
            </a:solidFill>
            <a:prstDash val="solid"/>
          </a:ln>
        </p:spPr>
      </p:sp>
      <p:pic>
        <p:nvPicPr>
          <p:cNvPr id="187" name="Image 37" descr="preencoded.png">    </p:cNvPr>
          <p:cNvPicPr>
            <a:picLocks noChangeAspect="1"/>
          </p:cNvPicPr>
          <p:nvPr/>
        </p:nvPicPr>
        <p:blipFill>
          <a:blip r:embed="rId38"/>
          <a:stretch>
            <a:fillRect/>
          </a:stretch>
        </p:blipFill>
        <p:spPr>
          <a:xfrm>
            <a:off x="10858500" y="6648450"/>
            <a:ext cx="323850" cy="323850"/>
          </a:xfrm>
          <a:prstGeom prst="rect">
            <a:avLst/>
          </a:prstGeom>
        </p:spPr>
      </p:pic>
      <p:sp>
        <p:nvSpPr>
          <p:cNvPr id="188" name="Text 148"/>
          <p:cNvSpPr txBox="1"/>
          <p:nvPr/>
        </p:nvSpPr>
        <p:spPr>
          <a:xfrm>
            <a:off x="10020300" y="7029450"/>
            <a:ext cx="2000250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F3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MCP Services</a:t>
            </a:r>
            <a:endParaRPr lang="en-US" sz="1100" dirty="0"/>
          </a:p>
        </p:txBody>
      </p:sp>
      <p:sp>
        <p:nvSpPr>
          <p:cNvPr id="189" name="Text 149"/>
          <p:cNvSpPr txBox="1"/>
          <p:nvPr/>
        </p:nvSpPr>
        <p:spPr>
          <a:xfrm>
            <a:off x="10020300" y="7239000"/>
            <a:ext cx="2000250" cy="4000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950" dirty="0">
                <a:solidFill>
                  <a:srgbClr val="2E4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MB Rec &amp; other data</a:t>
            </a:r>
            <a:endParaRPr lang="en-US" sz="950" dirty="0"/>
          </a:p>
          <a:p>
            <a:pPr algn="ctr" indent="0" marL="0">
              <a:buNone/>
            </a:pPr>
            <a:r>
              <a:rPr lang="en-US" sz="950" dirty="0">
                <a:solidFill>
                  <a:srgbClr val="2E4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FAS posting to MOTIF</a:t>
            </a:r>
            <a:endParaRPr lang="en-US" sz="950" dirty="0"/>
          </a:p>
        </p:txBody>
      </p:sp>
      <p:sp>
        <p:nvSpPr>
          <p:cNvPr id="190" name="Shape 150"/>
          <p:cNvSpPr/>
          <p:nvPr/>
        </p:nvSpPr>
        <p:spPr>
          <a:xfrm>
            <a:off x="12144375" y="7143750"/>
            <a:ext cx="180975" cy="0"/>
          </a:xfrm>
          <a:prstGeom prst="line">
            <a:avLst/>
          </a:prstGeom>
          <a:noFill/>
          <a:ln w="22225">
            <a:solidFill>
              <a:srgbClr val="2B4A6F"/>
            </a:solidFill>
            <a:prstDash val="solid"/>
            <a:tailEnd type="triangle"/>
          </a:ln>
        </p:spPr>
      </p:sp>
      <p:sp>
        <p:nvSpPr>
          <p:cNvPr id="191" name="Shape 151"/>
          <p:cNvSpPr/>
          <p:nvPr/>
        </p:nvSpPr>
        <p:spPr>
          <a:xfrm>
            <a:off x="12392025" y="6572250"/>
            <a:ext cx="2114550" cy="1143000"/>
          </a:xfrm>
          <a:prstGeom prst="roundRect">
            <a:avLst>
              <a:gd name="adj" fmla="val 4167"/>
            </a:avLst>
          </a:prstGeom>
          <a:solidFill>
            <a:srgbClr val="FFFFFF"/>
          </a:solidFill>
          <a:ln w="12700">
            <a:solidFill>
              <a:srgbClr val="C8D8EC"/>
            </a:solidFill>
            <a:prstDash val="solid"/>
          </a:ln>
        </p:spPr>
      </p:sp>
      <p:pic>
        <p:nvPicPr>
          <p:cNvPr id="192" name="Image 38" descr="preencoded.png">    </p:cNvPr>
          <p:cNvPicPr>
            <a:picLocks noChangeAspect="1"/>
          </p:cNvPicPr>
          <p:nvPr/>
        </p:nvPicPr>
        <p:blipFill>
          <a:blip r:embed="rId39"/>
          <a:stretch>
            <a:fillRect/>
          </a:stretch>
        </p:blipFill>
        <p:spPr>
          <a:xfrm>
            <a:off x="13287375" y="6648450"/>
            <a:ext cx="323850" cy="323850"/>
          </a:xfrm>
          <a:prstGeom prst="rect">
            <a:avLst/>
          </a:prstGeom>
        </p:spPr>
      </p:pic>
      <p:sp>
        <p:nvSpPr>
          <p:cNvPr id="193" name="Text 152"/>
          <p:cNvSpPr txBox="1"/>
          <p:nvPr/>
        </p:nvSpPr>
        <p:spPr>
          <a:xfrm>
            <a:off x="12449175" y="7029450"/>
            <a:ext cx="2000250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F3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Phoenix Eyes</a:t>
            </a:r>
            <a:endParaRPr lang="en-US" sz="1100" dirty="0"/>
          </a:p>
        </p:txBody>
      </p:sp>
      <p:sp>
        <p:nvSpPr>
          <p:cNvPr id="194" name="Text 153"/>
          <p:cNvSpPr txBox="1"/>
          <p:nvPr/>
        </p:nvSpPr>
        <p:spPr>
          <a:xfrm>
            <a:off x="12449175" y="7239000"/>
            <a:ext cx="2000250" cy="4000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950" dirty="0">
                <a:solidFill>
                  <a:srgbClr val="2E4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observability</a:t>
            </a:r>
            <a:endParaRPr lang="en-US" sz="950" dirty="0"/>
          </a:p>
          <a:p>
            <a:pPr algn="ctr" indent="0" marL="0">
              <a:buNone/>
            </a:pPr>
            <a:r>
              <a:rPr lang="en-US" sz="950" dirty="0">
                <a:solidFill>
                  <a:srgbClr val="2E4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(Helix + Agent One sessions)</a:t>
            </a:r>
            <a:endParaRPr lang="en-US" sz="950" dirty="0"/>
          </a:p>
        </p:txBody>
      </p:sp>
      <p:sp>
        <p:nvSpPr>
          <p:cNvPr id="195" name="Shape 154"/>
          <p:cNvSpPr/>
          <p:nvPr/>
        </p:nvSpPr>
        <p:spPr>
          <a:xfrm>
            <a:off x="152400" y="7981950"/>
            <a:ext cx="3371850" cy="1181100"/>
          </a:xfrm>
          <a:prstGeom prst="roundRect">
            <a:avLst>
              <a:gd name="adj" fmla="val 6452"/>
            </a:avLst>
          </a:prstGeom>
          <a:solidFill>
            <a:srgbClr val="E6F4EC"/>
          </a:solidFill>
          <a:ln/>
        </p:spPr>
      </p:sp>
      <p:sp>
        <p:nvSpPr>
          <p:cNvPr id="196" name="Shape 155"/>
          <p:cNvSpPr/>
          <p:nvPr/>
        </p:nvSpPr>
        <p:spPr>
          <a:xfrm>
            <a:off x="247650" y="8058150"/>
            <a:ext cx="361950" cy="361950"/>
          </a:xfrm>
          <a:prstGeom prst="ellipse">
            <a:avLst/>
          </a:prstGeom>
          <a:solidFill>
            <a:srgbClr val="1E8A5A"/>
          </a:solidFill>
          <a:ln/>
        </p:spPr>
      </p:sp>
      <p:pic>
        <p:nvPicPr>
          <p:cNvPr id="197" name="Image 39" descr="preencoded.png">    </p:cNvPr>
          <p:cNvPicPr>
            <a:picLocks noChangeAspect="1"/>
          </p:cNvPicPr>
          <p:nvPr/>
        </p:nvPicPr>
        <p:blipFill>
          <a:blip r:embed="rId40"/>
          <a:stretch>
            <a:fillRect/>
          </a:stretch>
        </p:blipFill>
        <p:spPr>
          <a:xfrm>
            <a:off x="333375" y="8143875"/>
            <a:ext cx="190500" cy="190500"/>
          </a:xfrm>
          <a:prstGeom prst="rect">
            <a:avLst/>
          </a:prstGeom>
        </p:spPr>
      </p:pic>
      <p:sp>
        <p:nvSpPr>
          <p:cNvPr id="198" name="Text 156"/>
          <p:cNvSpPr txBox="1"/>
          <p:nvPr/>
        </p:nvSpPr>
        <p:spPr>
          <a:xfrm>
            <a:off x="723900" y="8058150"/>
            <a:ext cx="2705100" cy="2476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760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Business Value</a:t>
            </a:r>
            <a:endParaRPr lang="en-US" sz="1250" dirty="0"/>
          </a:p>
        </p:txBody>
      </p:sp>
      <p:sp>
        <p:nvSpPr>
          <p:cNvPr id="199" name="Text 157"/>
          <p:cNvSpPr txBox="1"/>
          <p:nvPr/>
        </p:nvSpPr>
        <p:spPr>
          <a:xfrm>
            <a:off x="723900" y="8324850"/>
            <a:ext cx="2705100" cy="7810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39700" indent="-139700">
              <a:spcAft>
                <a:spcPts val="200"/>
              </a:spcAft>
              <a:buSzPct val="100000"/>
              <a:buChar char="•"/>
            </a:pPr>
            <a:r>
              <a:rPr lang="en-US" sz="950" dirty="0">
                <a:solidFill>
                  <a:srgbClr val="1F2D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Faster reconciliation cycles</a:t>
            </a:r>
            <a:endParaRPr lang="en-US" sz="950" dirty="0"/>
          </a:p>
          <a:p>
            <a:pPr marL="139700" indent="-139700">
              <a:spcAft>
                <a:spcPts val="200"/>
              </a:spcAft>
              <a:buSzPct val="100000"/>
              <a:buChar char="•"/>
            </a:pPr>
            <a:r>
              <a:rPr lang="en-US" sz="950" dirty="0">
                <a:solidFill>
                  <a:srgbClr val="1F2D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Proactive issue detection</a:t>
            </a:r>
            <a:endParaRPr lang="en-US" sz="950" dirty="0"/>
          </a:p>
          <a:p>
            <a:pPr marL="139700" indent="-139700">
              <a:spcAft>
                <a:spcPts val="200"/>
              </a:spcAft>
              <a:buSzPct val="100000"/>
              <a:buChar char="•"/>
            </a:pPr>
            <a:r>
              <a:rPr lang="en-US" sz="950" dirty="0">
                <a:solidFill>
                  <a:srgbClr val="1F2D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Higher accuracy &amp; consistency</a:t>
            </a:r>
            <a:endParaRPr lang="en-US" sz="950" dirty="0"/>
          </a:p>
          <a:p>
            <a:pPr marL="139700" indent="-139700">
              <a:spcAft>
                <a:spcPts val="200"/>
              </a:spcAft>
              <a:buSzPct val="100000"/>
              <a:buChar char="•"/>
            </a:pPr>
            <a:r>
              <a:rPr lang="en-US" sz="950" dirty="0">
                <a:solidFill>
                  <a:srgbClr val="1F2D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Better user experience</a:t>
            </a:r>
            <a:endParaRPr lang="en-US" sz="950" dirty="0"/>
          </a:p>
        </p:txBody>
      </p:sp>
      <p:sp>
        <p:nvSpPr>
          <p:cNvPr id="200" name="Shape 158"/>
          <p:cNvSpPr/>
          <p:nvPr/>
        </p:nvSpPr>
        <p:spPr>
          <a:xfrm>
            <a:off x="3657600" y="7981950"/>
            <a:ext cx="3581400" cy="1181100"/>
          </a:xfrm>
          <a:prstGeom prst="roundRect">
            <a:avLst>
              <a:gd name="adj" fmla="val 6452"/>
            </a:avLst>
          </a:prstGeom>
          <a:solidFill>
            <a:srgbClr val="E6F0FA"/>
          </a:solidFill>
          <a:ln/>
        </p:spPr>
      </p:sp>
      <p:sp>
        <p:nvSpPr>
          <p:cNvPr id="201" name="Shape 159"/>
          <p:cNvSpPr/>
          <p:nvPr/>
        </p:nvSpPr>
        <p:spPr>
          <a:xfrm>
            <a:off x="3752850" y="8058150"/>
            <a:ext cx="361950" cy="361950"/>
          </a:xfrm>
          <a:prstGeom prst="ellipse">
            <a:avLst/>
          </a:prstGeom>
          <a:solidFill>
            <a:srgbClr val="1F5FAD"/>
          </a:solidFill>
          <a:ln/>
        </p:spPr>
      </p:sp>
      <p:pic>
        <p:nvPicPr>
          <p:cNvPr id="202" name="Image 40" descr="preencoded.png">    </p:cNvPr>
          <p:cNvPicPr>
            <a:picLocks noChangeAspect="1"/>
          </p:cNvPicPr>
          <p:nvPr/>
        </p:nvPicPr>
        <p:blipFill>
          <a:blip r:embed="rId41"/>
          <a:stretch>
            <a:fillRect/>
          </a:stretch>
        </p:blipFill>
        <p:spPr>
          <a:xfrm>
            <a:off x="3838575" y="8143875"/>
            <a:ext cx="190500" cy="190500"/>
          </a:xfrm>
          <a:prstGeom prst="rect">
            <a:avLst/>
          </a:prstGeom>
        </p:spPr>
      </p:pic>
      <p:sp>
        <p:nvSpPr>
          <p:cNvPr id="203" name="Text 160"/>
          <p:cNvSpPr txBox="1"/>
          <p:nvPr/>
        </p:nvSpPr>
        <p:spPr>
          <a:xfrm>
            <a:off x="4229100" y="8058150"/>
            <a:ext cx="2914650" cy="2476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F3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Capabilities</a:t>
            </a:r>
            <a:endParaRPr lang="en-US" sz="1250" dirty="0"/>
          </a:p>
        </p:txBody>
      </p:sp>
      <p:sp>
        <p:nvSpPr>
          <p:cNvPr id="204" name="Text 161"/>
          <p:cNvSpPr txBox="1"/>
          <p:nvPr/>
        </p:nvSpPr>
        <p:spPr>
          <a:xfrm>
            <a:off x="4229100" y="8324850"/>
            <a:ext cx="2914650" cy="7810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39700" indent="-139700">
              <a:spcAft>
                <a:spcPts val="200"/>
              </a:spcAft>
              <a:buSzPct val="100000"/>
              <a:buChar char="•"/>
            </a:pPr>
            <a:r>
              <a:rPr lang="en-US" sz="950" dirty="0">
                <a:solidFill>
                  <a:srgbClr val="1F2D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AI/LLM based analysis</a:t>
            </a:r>
            <a:endParaRPr lang="en-US" sz="950" dirty="0"/>
          </a:p>
          <a:p>
            <a:pPr marL="139700" indent="-139700">
              <a:spcAft>
                <a:spcPts val="200"/>
              </a:spcAft>
              <a:buSzPct val="100000"/>
              <a:buChar char="•"/>
            </a:pPr>
            <a:r>
              <a:rPr lang="en-US" sz="950" dirty="0">
                <a:solidFill>
                  <a:srgbClr val="1F2D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MCP tools incl. FAS posting</a:t>
            </a:r>
            <a:endParaRPr lang="en-US" sz="950" dirty="0"/>
          </a:p>
          <a:p>
            <a:pPr marL="139700" indent="-139700">
              <a:spcAft>
                <a:spcPts val="200"/>
              </a:spcAft>
              <a:buSzPct val="100000"/>
              <a:buChar char="•"/>
            </a:pPr>
            <a:r>
              <a:rPr lang="en-US" sz="950" dirty="0">
                <a:solidFill>
                  <a:srgbClr val="1F2D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Break classification &amp; explanation</a:t>
            </a:r>
            <a:endParaRPr lang="en-US" sz="950" dirty="0"/>
          </a:p>
          <a:p>
            <a:pPr marL="139700" indent="-139700">
              <a:spcAft>
                <a:spcPts val="200"/>
              </a:spcAft>
              <a:buSzPct val="100000"/>
              <a:buChar char="•"/>
            </a:pPr>
            <a:r>
              <a:rPr lang="en-US" sz="950" dirty="0">
                <a:solidFill>
                  <a:srgbClr val="1F2D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Actionable insights &amp; recommendations</a:t>
            </a:r>
            <a:endParaRPr lang="en-US" sz="950" dirty="0"/>
          </a:p>
        </p:txBody>
      </p:sp>
      <p:sp>
        <p:nvSpPr>
          <p:cNvPr id="205" name="Shape 162"/>
          <p:cNvSpPr/>
          <p:nvPr/>
        </p:nvSpPr>
        <p:spPr>
          <a:xfrm>
            <a:off x="7372350" y="7981950"/>
            <a:ext cx="3524250" cy="1181100"/>
          </a:xfrm>
          <a:prstGeom prst="roundRect">
            <a:avLst>
              <a:gd name="adj" fmla="val 6452"/>
            </a:avLst>
          </a:prstGeom>
          <a:solidFill>
            <a:srgbClr val="EEEAF8"/>
          </a:solidFill>
          <a:ln/>
        </p:spPr>
      </p:sp>
      <p:sp>
        <p:nvSpPr>
          <p:cNvPr id="206" name="Shape 163"/>
          <p:cNvSpPr/>
          <p:nvPr/>
        </p:nvSpPr>
        <p:spPr>
          <a:xfrm>
            <a:off x="7467600" y="8058150"/>
            <a:ext cx="361950" cy="361950"/>
          </a:xfrm>
          <a:prstGeom prst="ellipse">
            <a:avLst/>
          </a:prstGeom>
          <a:solidFill>
            <a:srgbClr val="5B4FA8"/>
          </a:solidFill>
          <a:ln/>
        </p:spPr>
      </p:sp>
      <p:pic>
        <p:nvPicPr>
          <p:cNvPr id="207" name="Image 41" descr="preencoded.png">    </p:cNvPr>
          <p:cNvPicPr>
            <a:picLocks noChangeAspect="1"/>
          </p:cNvPicPr>
          <p:nvPr/>
        </p:nvPicPr>
        <p:blipFill>
          <a:blip r:embed="rId42"/>
          <a:stretch>
            <a:fillRect/>
          </a:stretch>
        </p:blipFill>
        <p:spPr>
          <a:xfrm>
            <a:off x="7553325" y="8143875"/>
            <a:ext cx="190500" cy="190500"/>
          </a:xfrm>
          <a:prstGeom prst="rect">
            <a:avLst/>
          </a:prstGeom>
        </p:spPr>
      </p:pic>
      <p:sp>
        <p:nvSpPr>
          <p:cNvPr id="208" name="Text 164"/>
          <p:cNvSpPr txBox="1"/>
          <p:nvPr/>
        </p:nvSpPr>
        <p:spPr>
          <a:xfrm>
            <a:off x="7943850" y="8058150"/>
            <a:ext cx="2857500" cy="2476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2C24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Governance &amp; Risk</a:t>
            </a:r>
            <a:endParaRPr lang="en-US" sz="1250" dirty="0"/>
          </a:p>
        </p:txBody>
      </p:sp>
      <p:sp>
        <p:nvSpPr>
          <p:cNvPr id="209" name="Text 165"/>
          <p:cNvSpPr txBox="1"/>
          <p:nvPr/>
        </p:nvSpPr>
        <p:spPr>
          <a:xfrm>
            <a:off x="7943850" y="8324850"/>
            <a:ext cx="2857500" cy="7810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39700" indent="-139700">
              <a:spcAft>
                <a:spcPts val="200"/>
              </a:spcAft>
              <a:buSzPct val="100000"/>
              <a:buChar char="•"/>
            </a:pPr>
            <a:r>
              <a:rPr lang="en-US" sz="950" dirty="0">
                <a:solidFill>
                  <a:srgbClr val="1F2D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 audit trail</a:t>
            </a:r>
            <a:endParaRPr lang="en-US" sz="950" dirty="0"/>
          </a:p>
          <a:p>
            <a:pPr marL="139700" indent="-139700">
              <a:spcAft>
                <a:spcPts val="200"/>
              </a:spcAft>
              <a:buSzPct val="100000"/>
              <a:buChar char="•"/>
            </a:pPr>
            <a:r>
              <a:rPr lang="en-US" sz="950" dirty="0">
                <a:solidFill>
                  <a:srgbClr val="1F2D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Evidence capture</a:t>
            </a:r>
            <a:endParaRPr lang="en-US" sz="950" dirty="0"/>
          </a:p>
          <a:p>
            <a:pPr marL="139700" indent="-139700">
              <a:spcAft>
                <a:spcPts val="200"/>
              </a:spcAft>
              <a:buSzPct val="100000"/>
              <a:buChar char="•"/>
            </a:pPr>
            <a:r>
              <a:rPr lang="en-US" sz="950" dirty="0">
                <a:solidFill>
                  <a:srgbClr val="1F2D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Approved adjustments via FAS to MOTIF</a:t>
            </a:r>
            <a:endParaRPr lang="en-US" sz="950" dirty="0"/>
          </a:p>
          <a:p>
            <a:pPr marL="139700" indent="-139700">
              <a:spcAft>
                <a:spcPts val="200"/>
              </a:spcAft>
              <a:buSzPct val="100000"/>
              <a:buChar char="•"/>
            </a:pPr>
            <a:r>
              <a:rPr lang="en-US" sz="950" dirty="0">
                <a:solidFill>
                  <a:srgbClr val="1F2D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Compliance &amp; regulatory support</a:t>
            </a:r>
            <a:endParaRPr lang="en-US" sz="950" dirty="0"/>
          </a:p>
        </p:txBody>
      </p:sp>
      <p:sp>
        <p:nvSpPr>
          <p:cNvPr id="210" name="Shape 166"/>
          <p:cNvSpPr/>
          <p:nvPr/>
        </p:nvSpPr>
        <p:spPr>
          <a:xfrm>
            <a:off x="11029950" y="7981950"/>
            <a:ext cx="3467100" cy="1181100"/>
          </a:xfrm>
          <a:prstGeom prst="roundRect">
            <a:avLst>
              <a:gd name="adj" fmla="val 6452"/>
            </a:avLst>
          </a:prstGeom>
          <a:solidFill>
            <a:srgbClr val="E3F3F6"/>
          </a:solidFill>
          <a:ln/>
        </p:spPr>
      </p:sp>
      <p:sp>
        <p:nvSpPr>
          <p:cNvPr id="211" name="Shape 167"/>
          <p:cNvSpPr/>
          <p:nvPr/>
        </p:nvSpPr>
        <p:spPr>
          <a:xfrm>
            <a:off x="11125200" y="8058150"/>
            <a:ext cx="361950" cy="361950"/>
          </a:xfrm>
          <a:prstGeom prst="ellipse">
            <a:avLst/>
          </a:prstGeom>
          <a:solidFill>
            <a:srgbClr val="1B7F95"/>
          </a:solidFill>
          <a:ln/>
        </p:spPr>
      </p:sp>
      <p:pic>
        <p:nvPicPr>
          <p:cNvPr id="212" name="Image 42" descr="preencoded.png">    </p:cNvPr>
          <p:cNvPicPr>
            <a:picLocks noChangeAspect="1"/>
          </p:cNvPicPr>
          <p:nvPr/>
        </p:nvPicPr>
        <p:blipFill>
          <a:blip r:embed="rId43"/>
          <a:stretch>
            <a:fillRect/>
          </a:stretch>
        </p:blipFill>
        <p:spPr>
          <a:xfrm>
            <a:off x="11210925" y="8143875"/>
            <a:ext cx="190500" cy="190500"/>
          </a:xfrm>
          <a:prstGeom prst="rect">
            <a:avLst/>
          </a:prstGeom>
        </p:spPr>
      </p:pic>
      <p:sp>
        <p:nvSpPr>
          <p:cNvPr id="213" name="Text 168"/>
          <p:cNvSpPr txBox="1"/>
          <p:nvPr/>
        </p:nvSpPr>
        <p:spPr>
          <a:xfrm>
            <a:off x="11601450" y="8058150"/>
            <a:ext cx="2800350" cy="2476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55E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Continuous Improvement</a:t>
            </a:r>
            <a:endParaRPr lang="en-US" sz="1250" dirty="0"/>
          </a:p>
        </p:txBody>
      </p:sp>
      <p:sp>
        <p:nvSpPr>
          <p:cNvPr id="214" name="Text 169"/>
          <p:cNvSpPr txBox="1"/>
          <p:nvPr/>
        </p:nvSpPr>
        <p:spPr>
          <a:xfrm>
            <a:off x="11601450" y="8324850"/>
            <a:ext cx="2800350" cy="7810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39700" indent="-139700">
              <a:spcAft>
                <a:spcPts val="200"/>
              </a:spcAft>
              <a:buSzPct val="100000"/>
              <a:buChar char="•"/>
            </a:pPr>
            <a:r>
              <a:rPr lang="en-US" sz="950" dirty="0">
                <a:solidFill>
                  <a:srgbClr val="1F2D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Skill gap identification (Phoenix)</a:t>
            </a:r>
            <a:endParaRPr lang="en-US" sz="950" dirty="0"/>
          </a:p>
          <a:p>
            <a:pPr marL="139700" indent="-139700">
              <a:spcAft>
                <a:spcPts val="200"/>
              </a:spcAft>
              <a:buSzPct val="100000"/>
              <a:buChar char="•"/>
            </a:pPr>
            <a:r>
              <a:rPr lang="en-US" sz="950" dirty="0">
                <a:solidFill>
                  <a:srgbClr val="1F2D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 / prompt tuning</a:t>
            </a:r>
            <a:endParaRPr lang="en-US" sz="950" dirty="0"/>
          </a:p>
          <a:p>
            <a:pPr marL="139700" indent="-139700">
              <a:spcAft>
                <a:spcPts val="200"/>
              </a:spcAft>
              <a:buSzPct val="100000"/>
              <a:buChar char="•"/>
            </a:pPr>
            <a:r>
              <a:rPr lang="en-US" sz="950" dirty="0">
                <a:solidFill>
                  <a:srgbClr val="1F2D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Feedback loop from users</a:t>
            </a:r>
            <a:endParaRPr lang="en-US" sz="950" dirty="0"/>
          </a:p>
          <a:p>
            <a:pPr marL="139700" indent="-139700">
              <a:spcAft>
                <a:spcPts val="200"/>
              </a:spcAft>
              <a:buSzPct val="100000"/>
              <a:buChar char="•"/>
            </a:pPr>
            <a:r>
              <a:rPr lang="en-US" sz="950" dirty="0">
                <a:solidFill>
                  <a:srgbClr val="1F2D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Ongoing monitoring &amp; optimization</a:t>
            </a:r>
            <a:endParaRPr lang="en-US" sz="950" dirty="0"/>
          </a:p>
        </p:txBody>
      </p:sp>
      <p:sp>
        <p:nvSpPr>
          <p:cNvPr id="215" name="Shape 170"/>
          <p:cNvSpPr/>
          <p:nvPr/>
        </p:nvSpPr>
        <p:spPr>
          <a:xfrm>
            <a:off x="0" y="9277350"/>
            <a:ext cx="14630400" cy="476250"/>
          </a:xfrm>
          <a:prstGeom prst="rect">
            <a:avLst/>
          </a:prstGeom>
          <a:solidFill>
            <a:srgbClr val="0B2E5E"/>
          </a:solidFill>
          <a:ln/>
        </p:spPr>
      </p:sp>
      <p:sp>
        <p:nvSpPr>
          <p:cNvPr id="216" name="Text 171"/>
          <p:cNvSpPr txBox="1"/>
          <p:nvPr/>
        </p:nvSpPr>
        <p:spPr>
          <a:xfrm>
            <a:off x="0" y="9277350"/>
            <a:ext cx="14630400" cy="4762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Helix Architecture</a:t>
            </a:r>
            <a:pPr algn="ctr"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|   Smarter Reconciliation. Stronger Control. Greater Insight.</a:t>
            </a:r>
            <a:endParaRPr lang="en-US" sz="12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685800"/>
          </a:xfrm>
          <a:prstGeom prst="rect">
            <a:avLst/>
          </a:prstGeom>
          <a:solidFill>
            <a:srgbClr val="00395D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304800" y="0"/>
            <a:ext cx="114300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FOBO Reconciliation - AI Powered</a:t>
            </a:r>
            <a:pPr indent="0" marL="0">
              <a:buNone/>
            </a:pPr>
            <a:r>
              <a:rPr lang="en-US" sz="1400" dirty="0">
                <a:solidFill>
                  <a:srgbClr val="D9F0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|   From alerts to actionable insights, faster, smarter, and auditable</a:t>
            </a:r>
            <a:endParaRPr lang="en-US" sz="1000" dirty="0"/>
          </a:p>
        </p:txBody>
      </p:sp>
      <p:sp>
        <p:nvSpPr>
          <p:cNvPr id="4" name="Text 2"/>
          <p:cNvSpPr txBox="1"/>
          <p:nvPr/>
        </p:nvSpPr>
        <p:spPr>
          <a:xfrm>
            <a:off x="11772900" y="0"/>
            <a:ext cx="27051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Helix Architecture</a:t>
            </a:r>
            <a:endParaRPr lang="en-US" sz="1800" dirty="0"/>
          </a:p>
        </p:txBody>
      </p:sp>
      <p:sp>
        <p:nvSpPr>
          <p:cNvPr id="5" name="Shape 3"/>
          <p:cNvSpPr/>
          <p:nvPr/>
        </p:nvSpPr>
        <p:spPr>
          <a:xfrm>
            <a:off x="152400" y="838200"/>
            <a:ext cx="2228850" cy="1028700"/>
          </a:xfrm>
          <a:prstGeom prst="roundRect">
            <a:avLst>
              <a:gd name="adj" fmla="val 7407"/>
            </a:avLst>
          </a:prstGeom>
          <a:solidFill>
            <a:srgbClr val="00395D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266700" y="914400"/>
            <a:ext cx="2038350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00AEE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  </a:t>
            </a:r>
            <a:pPr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 Workspaces</a:t>
            </a:r>
            <a:endParaRPr lang="en-US" sz="1000" dirty="0"/>
          </a:p>
        </p:txBody>
      </p:sp>
      <p:sp>
        <p:nvSpPr>
          <p:cNvPr id="7" name="Text 5"/>
          <p:cNvSpPr txBox="1"/>
          <p:nvPr/>
        </p:nvSpPr>
        <p:spPr>
          <a:xfrm>
            <a:off x="266700" y="1238250"/>
            <a:ext cx="2019300" cy="5905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D9F0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Each L4 is a CATS vs MOTIF workspace with its own set of master books.</a:t>
            </a:r>
            <a:endParaRPr lang="en-US" sz="950" dirty="0"/>
          </a:p>
        </p:txBody>
      </p:sp>
      <p:sp>
        <p:nvSpPr>
          <p:cNvPr id="8" name="Shape 6"/>
          <p:cNvSpPr/>
          <p:nvPr/>
        </p:nvSpPr>
        <p:spPr>
          <a:xfrm>
            <a:off x="152400" y="1924050"/>
            <a:ext cx="2228850" cy="3448050"/>
          </a:xfrm>
          <a:prstGeom prst="roundRect">
            <a:avLst>
              <a:gd name="adj" fmla="val 3419"/>
            </a:avLst>
          </a:prstGeom>
          <a:solidFill>
            <a:srgbClr val="F5FBFE"/>
          </a:solidFill>
          <a:ln w="12700">
            <a:solidFill>
              <a:srgbClr val="B3E3F7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2400300" y="1352550"/>
            <a:ext cx="152400" cy="0"/>
          </a:xfrm>
          <a:prstGeom prst="line">
            <a:avLst/>
          </a:prstGeom>
          <a:noFill/>
          <a:ln w="22225">
            <a:solidFill>
              <a:srgbClr val="00395D"/>
            </a:solidFill>
            <a:prstDash val="solid"/>
            <a:tailEnd type="triangle"/>
          </a:ln>
        </p:spPr>
      </p:sp>
      <p:sp>
        <p:nvSpPr>
          <p:cNvPr id="10" name="Shape 8"/>
          <p:cNvSpPr/>
          <p:nvPr/>
        </p:nvSpPr>
        <p:spPr>
          <a:xfrm>
            <a:off x="2571750" y="838200"/>
            <a:ext cx="2228850" cy="1028700"/>
          </a:xfrm>
          <a:prstGeom prst="roundRect">
            <a:avLst>
              <a:gd name="adj" fmla="val 7407"/>
            </a:avLst>
          </a:prstGeom>
          <a:solidFill>
            <a:srgbClr val="00395D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2686050" y="914400"/>
            <a:ext cx="2038350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00AEE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 </a:t>
            </a:r>
            <a:pPr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Book Readiness</a:t>
            </a:r>
            <a:endParaRPr lang="en-US" sz="1000" dirty="0"/>
          </a:p>
        </p:txBody>
      </p:sp>
      <p:sp>
        <p:nvSpPr>
          <p:cNvPr id="12" name="Text 10"/>
          <p:cNvSpPr txBox="1"/>
          <p:nvPr/>
        </p:nvSpPr>
        <p:spPr>
          <a:xfrm>
            <a:off x="2686050" y="1238250"/>
            <a:ext cx="2019300" cy="5905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D9F0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MBREC sends book availability to One Fin UX, which raises the final Ready event.</a:t>
            </a:r>
            <a:endParaRPr lang="en-US" sz="950" dirty="0"/>
          </a:p>
        </p:txBody>
      </p:sp>
      <p:sp>
        <p:nvSpPr>
          <p:cNvPr id="13" name="Shape 11"/>
          <p:cNvSpPr/>
          <p:nvPr/>
        </p:nvSpPr>
        <p:spPr>
          <a:xfrm>
            <a:off x="2571750" y="1924050"/>
            <a:ext cx="2228850" cy="3448050"/>
          </a:xfrm>
          <a:prstGeom prst="roundRect">
            <a:avLst>
              <a:gd name="adj" fmla="val 3419"/>
            </a:avLst>
          </a:prstGeom>
          <a:solidFill>
            <a:srgbClr val="F5FBFE"/>
          </a:solidFill>
          <a:ln w="12700">
            <a:solidFill>
              <a:srgbClr val="B3E3F7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4819650" y="1352550"/>
            <a:ext cx="152400" cy="0"/>
          </a:xfrm>
          <a:prstGeom prst="line">
            <a:avLst/>
          </a:prstGeom>
          <a:noFill/>
          <a:ln w="22225">
            <a:solidFill>
              <a:srgbClr val="00395D"/>
            </a:solidFill>
            <a:prstDash val="solid"/>
            <a:tailEnd type="triangle"/>
          </a:ln>
        </p:spPr>
      </p:sp>
      <p:sp>
        <p:nvSpPr>
          <p:cNvPr id="15" name="Shape 13"/>
          <p:cNvSpPr/>
          <p:nvPr/>
        </p:nvSpPr>
        <p:spPr>
          <a:xfrm>
            <a:off x="4991100" y="838200"/>
            <a:ext cx="2228850" cy="1028700"/>
          </a:xfrm>
          <a:prstGeom prst="roundRect">
            <a:avLst>
              <a:gd name="adj" fmla="val 7407"/>
            </a:avLst>
          </a:prstGeom>
          <a:solidFill>
            <a:srgbClr val="00395D"/>
          </a:solidFill>
          <a:ln/>
        </p:spPr>
      </p:sp>
      <p:sp>
        <p:nvSpPr>
          <p:cNvPr id="16" name="Text 14"/>
          <p:cNvSpPr txBox="1"/>
          <p:nvPr/>
        </p:nvSpPr>
        <p:spPr>
          <a:xfrm>
            <a:off x="5105400" y="914400"/>
            <a:ext cx="2038350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00AEE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 </a:t>
            </a:r>
            <a:pPr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Helix Agent</a:t>
            </a:r>
            <a:endParaRPr lang="en-US" sz="1000" dirty="0"/>
          </a:p>
        </p:txBody>
      </p:sp>
      <p:sp>
        <p:nvSpPr>
          <p:cNvPr id="17" name="Text 15"/>
          <p:cNvSpPr txBox="1"/>
          <p:nvPr/>
        </p:nvSpPr>
        <p:spPr>
          <a:xfrm>
            <a:off x="5105400" y="1238250"/>
            <a:ext cx="2019300" cy="5905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D9F0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Receives the final Ready event, validates the workspace and starts an automated Agent One session.</a:t>
            </a:r>
            <a:endParaRPr lang="en-US" sz="950" dirty="0"/>
          </a:p>
        </p:txBody>
      </p:sp>
      <p:sp>
        <p:nvSpPr>
          <p:cNvPr id="18" name="Shape 16"/>
          <p:cNvSpPr/>
          <p:nvPr/>
        </p:nvSpPr>
        <p:spPr>
          <a:xfrm>
            <a:off x="4991100" y="1924050"/>
            <a:ext cx="2228850" cy="3448050"/>
          </a:xfrm>
          <a:prstGeom prst="roundRect">
            <a:avLst>
              <a:gd name="adj" fmla="val 3419"/>
            </a:avLst>
          </a:prstGeom>
          <a:solidFill>
            <a:srgbClr val="F5FBFE"/>
          </a:solidFill>
          <a:ln w="12700">
            <a:solidFill>
              <a:srgbClr val="B3E3F7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7239000" y="1352550"/>
            <a:ext cx="152400" cy="0"/>
          </a:xfrm>
          <a:prstGeom prst="line">
            <a:avLst/>
          </a:prstGeom>
          <a:noFill/>
          <a:ln w="22225">
            <a:solidFill>
              <a:srgbClr val="00395D"/>
            </a:solidFill>
            <a:prstDash val="solid"/>
            <a:tailEnd type="triangle"/>
          </a:ln>
        </p:spPr>
      </p:sp>
      <p:sp>
        <p:nvSpPr>
          <p:cNvPr id="20" name="Shape 18"/>
          <p:cNvSpPr/>
          <p:nvPr/>
        </p:nvSpPr>
        <p:spPr>
          <a:xfrm>
            <a:off x="7410450" y="838200"/>
            <a:ext cx="2228850" cy="1028700"/>
          </a:xfrm>
          <a:prstGeom prst="roundRect">
            <a:avLst>
              <a:gd name="adj" fmla="val 7407"/>
            </a:avLst>
          </a:prstGeom>
          <a:solidFill>
            <a:srgbClr val="00395D"/>
          </a:solidFill>
          <a:ln/>
        </p:spPr>
      </p:sp>
      <p:sp>
        <p:nvSpPr>
          <p:cNvPr id="21" name="Text 19"/>
          <p:cNvSpPr txBox="1"/>
          <p:nvPr/>
        </p:nvSpPr>
        <p:spPr>
          <a:xfrm>
            <a:off x="7524750" y="914400"/>
            <a:ext cx="2038350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00AEE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 </a:t>
            </a:r>
            <a:pPr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 One Session</a:t>
            </a:r>
            <a:endParaRPr lang="en-US" sz="1000" dirty="0"/>
          </a:p>
        </p:txBody>
      </p:sp>
      <p:sp>
        <p:nvSpPr>
          <p:cNvPr id="22" name="Text 20"/>
          <p:cNvSpPr txBox="1"/>
          <p:nvPr/>
        </p:nvSpPr>
        <p:spPr>
          <a:xfrm>
            <a:off x="7524750" y="1238250"/>
            <a:ext cx="2019300" cy="5905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D9F0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Attach context, skills and files. MCP tool calls fetch data from other systems.</a:t>
            </a:r>
            <a:endParaRPr lang="en-US" sz="950" dirty="0"/>
          </a:p>
        </p:txBody>
      </p:sp>
      <p:sp>
        <p:nvSpPr>
          <p:cNvPr id="23" name="Shape 21"/>
          <p:cNvSpPr/>
          <p:nvPr/>
        </p:nvSpPr>
        <p:spPr>
          <a:xfrm>
            <a:off x="7410450" y="1924050"/>
            <a:ext cx="2228850" cy="3448050"/>
          </a:xfrm>
          <a:prstGeom prst="roundRect">
            <a:avLst>
              <a:gd name="adj" fmla="val 3419"/>
            </a:avLst>
          </a:prstGeom>
          <a:solidFill>
            <a:srgbClr val="F5FBFE"/>
          </a:solidFill>
          <a:ln w="12700">
            <a:solidFill>
              <a:srgbClr val="B3E3F7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9658350" y="1352550"/>
            <a:ext cx="152400" cy="0"/>
          </a:xfrm>
          <a:prstGeom prst="line">
            <a:avLst/>
          </a:prstGeom>
          <a:noFill/>
          <a:ln w="22225">
            <a:solidFill>
              <a:srgbClr val="00395D"/>
            </a:solidFill>
            <a:prstDash val="solid"/>
            <a:tailEnd type="triangle"/>
          </a:ln>
        </p:spPr>
      </p:sp>
      <p:sp>
        <p:nvSpPr>
          <p:cNvPr id="25" name="Shape 23"/>
          <p:cNvSpPr/>
          <p:nvPr/>
        </p:nvSpPr>
        <p:spPr>
          <a:xfrm>
            <a:off x="9829800" y="838200"/>
            <a:ext cx="2228850" cy="1028700"/>
          </a:xfrm>
          <a:prstGeom prst="roundRect">
            <a:avLst>
              <a:gd name="adj" fmla="val 7407"/>
            </a:avLst>
          </a:prstGeom>
          <a:solidFill>
            <a:srgbClr val="00395D"/>
          </a:solidFill>
          <a:ln/>
        </p:spPr>
      </p:sp>
      <p:sp>
        <p:nvSpPr>
          <p:cNvPr id="26" name="Text 24"/>
          <p:cNvSpPr txBox="1"/>
          <p:nvPr/>
        </p:nvSpPr>
        <p:spPr>
          <a:xfrm>
            <a:off x="9944100" y="914400"/>
            <a:ext cx="2038350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00AEE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 </a:t>
            </a:r>
            <a:pPr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Controller Review</a:t>
            </a:r>
            <a:endParaRPr lang="en-US" sz="1000" dirty="0"/>
          </a:p>
        </p:txBody>
      </p:sp>
      <p:sp>
        <p:nvSpPr>
          <p:cNvPr id="27" name="Text 25"/>
          <p:cNvSpPr txBox="1"/>
          <p:nvPr/>
        </p:nvSpPr>
        <p:spPr>
          <a:xfrm>
            <a:off x="9944100" y="1238250"/>
            <a:ext cx="2019300" cy="5905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D9F0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After X time, controllers open the session per workspace, ask questions and approve adjustments.</a:t>
            </a:r>
            <a:endParaRPr lang="en-US" sz="950" dirty="0"/>
          </a:p>
        </p:txBody>
      </p:sp>
      <p:sp>
        <p:nvSpPr>
          <p:cNvPr id="28" name="Shape 26"/>
          <p:cNvSpPr/>
          <p:nvPr/>
        </p:nvSpPr>
        <p:spPr>
          <a:xfrm>
            <a:off x="9829800" y="1924050"/>
            <a:ext cx="2228850" cy="3448050"/>
          </a:xfrm>
          <a:prstGeom prst="roundRect">
            <a:avLst>
              <a:gd name="adj" fmla="val 3419"/>
            </a:avLst>
          </a:prstGeom>
          <a:solidFill>
            <a:srgbClr val="F5FBFE"/>
          </a:solidFill>
          <a:ln w="12700">
            <a:solidFill>
              <a:srgbClr val="B3E3F7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12077700" y="1352550"/>
            <a:ext cx="152400" cy="0"/>
          </a:xfrm>
          <a:prstGeom prst="line">
            <a:avLst/>
          </a:prstGeom>
          <a:noFill/>
          <a:ln w="22225">
            <a:solidFill>
              <a:srgbClr val="00395D"/>
            </a:solidFill>
            <a:prstDash val="solid"/>
            <a:tailEnd type="triangle"/>
          </a:ln>
        </p:spPr>
      </p:sp>
      <p:sp>
        <p:nvSpPr>
          <p:cNvPr id="30" name="Shape 28"/>
          <p:cNvSpPr/>
          <p:nvPr/>
        </p:nvSpPr>
        <p:spPr>
          <a:xfrm>
            <a:off x="12249150" y="838200"/>
            <a:ext cx="2228850" cy="1028700"/>
          </a:xfrm>
          <a:prstGeom prst="roundRect">
            <a:avLst>
              <a:gd name="adj" fmla="val 7407"/>
            </a:avLst>
          </a:prstGeom>
          <a:solidFill>
            <a:srgbClr val="00395D"/>
          </a:solidFill>
          <a:ln/>
        </p:spPr>
      </p:sp>
      <p:sp>
        <p:nvSpPr>
          <p:cNvPr id="31" name="Text 29"/>
          <p:cNvSpPr txBox="1"/>
          <p:nvPr/>
        </p:nvSpPr>
        <p:spPr>
          <a:xfrm>
            <a:off x="12363450" y="914400"/>
            <a:ext cx="2038350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00AEE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  </a:t>
            </a:r>
            <a:pPr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Observability &amp; Audit</a:t>
            </a:r>
            <a:endParaRPr lang="en-US" sz="1000" dirty="0"/>
          </a:p>
        </p:txBody>
      </p:sp>
      <p:sp>
        <p:nvSpPr>
          <p:cNvPr id="32" name="Text 30"/>
          <p:cNvSpPr txBox="1"/>
          <p:nvPr/>
        </p:nvSpPr>
        <p:spPr>
          <a:xfrm>
            <a:off x="12363450" y="1238250"/>
            <a:ext cx="2019300" cy="5905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D9F0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Phoenix Eyes watches the AI side. User actions and postings stay in the application audit.</a:t>
            </a:r>
            <a:endParaRPr lang="en-US" sz="950" dirty="0"/>
          </a:p>
        </p:txBody>
      </p:sp>
      <p:sp>
        <p:nvSpPr>
          <p:cNvPr id="33" name="Shape 31"/>
          <p:cNvSpPr/>
          <p:nvPr/>
        </p:nvSpPr>
        <p:spPr>
          <a:xfrm>
            <a:off x="12249150" y="1924050"/>
            <a:ext cx="2228850" cy="3448050"/>
          </a:xfrm>
          <a:prstGeom prst="roundRect">
            <a:avLst>
              <a:gd name="adj" fmla="val 3419"/>
            </a:avLst>
          </a:prstGeom>
          <a:solidFill>
            <a:srgbClr val="F5FBFE"/>
          </a:solidFill>
          <a:ln w="12700">
            <a:solidFill>
              <a:srgbClr val="B3E3F7"/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266700" y="2038350"/>
            <a:ext cx="2000250" cy="419100"/>
          </a:xfrm>
          <a:prstGeom prst="roundRect">
            <a:avLst>
              <a:gd name="adj" fmla="val 11364"/>
            </a:avLst>
          </a:prstGeom>
          <a:solidFill>
            <a:srgbClr val="00395D"/>
          </a:solidFill>
          <a:ln/>
        </p:spPr>
      </p:sp>
      <p:sp>
        <p:nvSpPr>
          <p:cNvPr id="35" name="Text 33"/>
          <p:cNvSpPr txBox="1"/>
          <p:nvPr/>
        </p:nvSpPr>
        <p:spPr>
          <a:xfrm>
            <a:off x="361950" y="2057400"/>
            <a:ext cx="182880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CATS vs MOTIF Rec</a:t>
            </a:r>
            <a:endParaRPr lang="en-US" sz="1000" dirty="0"/>
          </a:p>
          <a:p>
            <a:pPr indent="0" marL="0">
              <a:buNone/>
            </a:pPr>
            <a:r>
              <a:rPr lang="en-US" sz="900" dirty="0">
                <a:solidFill>
                  <a:srgbClr val="D9F0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workspace per L4</a:t>
            </a:r>
            <a:endParaRPr lang="en-US" sz="1000" dirty="0"/>
          </a:p>
        </p:txBody>
      </p:sp>
      <p:sp>
        <p:nvSpPr>
          <p:cNvPr id="36" name="Text 34"/>
          <p:cNvSpPr txBox="1"/>
          <p:nvPr/>
        </p:nvSpPr>
        <p:spPr>
          <a:xfrm>
            <a:off x="266700" y="2552700"/>
            <a:ext cx="2000250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spc="50" kern="0" dirty="0">
                <a:solidFill>
                  <a:srgbClr val="00395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WORKSPACES (EXAMPLES)</a:t>
            </a:r>
            <a:endParaRPr lang="en-US" sz="850" dirty="0"/>
          </a:p>
        </p:txBody>
      </p:sp>
      <p:sp>
        <p:nvSpPr>
          <p:cNvPr id="37" name="Shape 35"/>
          <p:cNvSpPr/>
          <p:nvPr/>
        </p:nvSpPr>
        <p:spPr>
          <a:xfrm>
            <a:off x="266700" y="2743200"/>
            <a:ext cx="2000250" cy="247650"/>
          </a:xfrm>
          <a:prstGeom prst="roundRect">
            <a:avLst>
              <a:gd name="adj" fmla="val 19231"/>
            </a:avLst>
          </a:prstGeom>
          <a:solidFill>
            <a:srgbClr val="EAF6FC"/>
          </a:solidFill>
          <a:ln/>
        </p:spPr>
      </p:sp>
      <p:sp>
        <p:nvSpPr>
          <p:cNvPr id="38" name="Text 36"/>
          <p:cNvSpPr txBox="1"/>
          <p:nvPr/>
        </p:nvSpPr>
        <p:spPr>
          <a:xfrm>
            <a:off x="361950" y="2762250"/>
            <a:ext cx="1828800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F2D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CATS vs MOTIF - FI Credit</a:t>
            </a:r>
            <a:endParaRPr lang="en-US" sz="1000" dirty="0"/>
          </a:p>
        </p:txBody>
      </p:sp>
      <p:sp>
        <p:nvSpPr>
          <p:cNvPr id="39" name="Shape 37"/>
          <p:cNvSpPr/>
          <p:nvPr/>
        </p:nvSpPr>
        <p:spPr>
          <a:xfrm>
            <a:off x="266700" y="3028950"/>
            <a:ext cx="2000250" cy="247650"/>
          </a:xfrm>
          <a:prstGeom prst="roundRect">
            <a:avLst>
              <a:gd name="adj" fmla="val 19231"/>
            </a:avLst>
          </a:prstGeom>
          <a:solidFill>
            <a:srgbClr val="EAF6FC"/>
          </a:solidFill>
          <a:ln/>
        </p:spPr>
      </p:sp>
      <p:sp>
        <p:nvSpPr>
          <p:cNvPr id="40" name="Text 38"/>
          <p:cNvSpPr txBox="1"/>
          <p:nvPr/>
        </p:nvSpPr>
        <p:spPr>
          <a:xfrm>
            <a:off x="361950" y="3048000"/>
            <a:ext cx="1828800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F2D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CATS vs MOTIF - Rates</a:t>
            </a:r>
            <a:endParaRPr lang="en-US" sz="1000" dirty="0"/>
          </a:p>
        </p:txBody>
      </p:sp>
      <p:sp>
        <p:nvSpPr>
          <p:cNvPr id="41" name="Shape 39"/>
          <p:cNvSpPr/>
          <p:nvPr/>
        </p:nvSpPr>
        <p:spPr>
          <a:xfrm>
            <a:off x="266700" y="3314700"/>
            <a:ext cx="2000250" cy="247650"/>
          </a:xfrm>
          <a:prstGeom prst="roundRect">
            <a:avLst>
              <a:gd name="adj" fmla="val 19231"/>
            </a:avLst>
          </a:prstGeom>
          <a:solidFill>
            <a:srgbClr val="EAF6FC"/>
          </a:solidFill>
          <a:ln/>
        </p:spPr>
      </p:sp>
      <p:sp>
        <p:nvSpPr>
          <p:cNvPr id="42" name="Text 40"/>
          <p:cNvSpPr txBox="1"/>
          <p:nvPr/>
        </p:nvSpPr>
        <p:spPr>
          <a:xfrm>
            <a:off x="361950" y="3333750"/>
            <a:ext cx="1828800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F2D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CATS vs MOTIF - Prime</a:t>
            </a:r>
            <a:endParaRPr lang="en-US" sz="1000" dirty="0"/>
          </a:p>
        </p:txBody>
      </p:sp>
      <p:sp>
        <p:nvSpPr>
          <p:cNvPr id="43" name="Shape 41"/>
          <p:cNvSpPr/>
          <p:nvPr/>
        </p:nvSpPr>
        <p:spPr>
          <a:xfrm>
            <a:off x="266700" y="3676650"/>
            <a:ext cx="2000250" cy="400050"/>
          </a:xfrm>
          <a:prstGeom prst="roundRect">
            <a:avLst>
              <a:gd name="adj" fmla="val 11905"/>
            </a:avLst>
          </a:prstGeom>
          <a:solidFill>
            <a:srgbClr val="FFFFFF"/>
          </a:solidFill>
          <a:ln w="12700">
            <a:solidFill>
              <a:srgbClr val="B3E3F7"/>
            </a:solidFill>
            <a:prstDash val="solid"/>
          </a:ln>
        </p:spPr>
      </p:sp>
      <p:sp>
        <p:nvSpPr>
          <p:cNvPr id="44" name="Text 42"/>
          <p:cNvSpPr txBox="1"/>
          <p:nvPr/>
        </p:nvSpPr>
        <p:spPr>
          <a:xfrm>
            <a:off x="361950" y="3695700"/>
            <a:ext cx="1828800" cy="3619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F2D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 Assigned</a:t>
            </a:r>
            <a:endParaRPr lang="en-US" sz="1000" dirty="0"/>
          </a:p>
          <a:p>
            <a:pPr indent="0" marL="0">
              <a:buNone/>
            </a:pPr>
            <a:r>
              <a:rPr lang="en-US" sz="900" dirty="0">
                <a:solidFill>
                  <a:srgbClr val="4A5A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 owner per workspace</a:t>
            </a:r>
            <a:endParaRPr lang="en-US" sz="1000" dirty="0"/>
          </a:p>
        </p:txBody>
      </p:sp>
      <p:sp>
        <p:nvSpPr>
          <p:cNvPr id="45" name="Text 43"/>
          <p:cNvSpPr txBox="1"/>
          <p:nvPr/>
        </p:nvSpPr>
        <p:spPr>
          <a:xfrm>
            <a:off x="266700" y="4191000"/>
            <a:ext cx="2000250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spc="50" kern="0" dirty="0">
                <a:solidFill>
                  <a:srgbClr val="00395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X MASTER BOOKS PER WORKSPACE</a:t>
            </a:r>
            <a:endParaRPr lang="en-US" sz="850" dirty="0"/>
          </a:p>
        </p:txBody>
      </p:sp>
      <p:sp>
        <p:nvSpPr>
          <p:cNvPr id="46" name="Shape 44"/>
          <p:cNvSpPr/>
          <p:nvPr/>
        </p:nvSpPr>
        <p:spPr>
          <a:xfrm>
            <a:off x="266700" y="4381500"/>
            <a:ext cx="2000250" cy="247650"/>
          </a:xfrm>
          <a:prstGeom prst="roundRect">
            <a:avLst>
              <a:gd name="adj" fmla="val 19231"/>
            </a:avLst>
          </a:prstGeom>
          <a:solidFill>
            <a:srgbClr val="EAF6FC"/>
          </a:solidFill>
          <a:ln/>
        </p:spPr>
      </p:sp>
      <p:sp>
        <p:nvSpPr>
          <p:cNvPr id="47" name="Text 45"/>
          <p:cNvSpPr txBox="1"/>
          <p:nvPr/>
        </p:nvSpPr>
        <p:spPr>
          <a:xfrm>
            <a:off x="361950" y="4400550"/>
            <a:ext cx="1828800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F2D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Front Office Books</a:t>
            </a:r>
            <a:endParaRPr lang="en-US" sz="1000" dirty="0"/>
          </a:p>
        </p:txBody>
      </p:sp>
      <p:sp>
        <p:nvSpPr>
          <p:cNvPr id="48" name="Shape 46"/>
          <p:cNvSpPr/>
          <p:nvPr/>
        </p:nvSpPr>
        <p:spPr>
          <a:xfrm>
            <a:off x="266700" y="4667250"/>
            <a:ext cx="2000250" cy="247650"/>
          </a:xfrm>
          <a:prstGeom prst="roundRect">
            <a:avLst>
              <a:gd name="adj" fmla="val 19231"/>
            </a:avLst>
          </a:prstGeom>
          <a:solidFill>
            <a:srgbClr val="EAF6FC"/>
          </a:solidFill>
          <a:ln/>
        </p:spPr>
      </p:sp>
      <p:sp>
        <p:nvSpPr>
          <p:cNvPr id="49" name="Text 47"/>
          <p:cNvSpPr txBox="1"/>
          <p:nvPr/>
        </p:nvSpPr>
        <p:spPr>
          <a:xfrm>
            <a:off x="361950" y="4686300"/>
            <a:ext cx="1828800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F2D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Back Office Books</a:t>
            </a:r>
            <a:endParaRPr lang="en-US" sz="1000" dirty="0"/>
          </a:p>
        </p:txBody>
      </p:sp>
      <p:sp>
        <p:nvSpPr>
          <p:cNvPr id="50" name="Shape 48"/>
          <p:cNvSpPr/>
          <p:nvPr/>
        </p:nvSpPr>
        <p:spPr>
          <a:xfrm>
            <a:off x="266700" y="4953000"/>
            <a:ext cx="2000250" cy="247650"/>
          </a:xfrm>
          <a:prstGeom prst="roundRect">
            <a:avLst>
              <a:gd name="adj" fmla="val 19231"/>
            </a:avLst>
          </a:prstGeom>
          <a:solidFill>
            <a:srgbClr val="EAF6FC"/>
          </a:solidFill>
          <a:ln/>
        </p:spPr>
      </p:sp>
      <p:sp>
        <p:nvSpPr>
          <p:cNvPr id="51" name="Text 49"/>
          <p:cNvSpPr txBox="1"/>
          <p:nvPr/>
        </p:nvSpPr>
        <p:spPr>
          <a:xfrm>
            <a:off x="361950" y="4972050"/>
            <a:ext cx="1828800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F2D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Other related books</a:t>
            </a:r>
            <a:endParaRPr lang="en-US" sz="1000" dirty="0"/>
          </a:p>
        </p:txBody>
      </p:sp>
      <p:sp>
        <p:nvSpPr>
          <p:cNvPr id="52" name="Shape 50"/>
          <p:cNvSpPr/>
          <p:nvPr/>
        </p:nvSpPr>
        <p:spPr>
          <a:xfrm>
            <a:off x="2686050" y="2038350"/>
            <a:ext cx="2000250" cy="400050"/>
          </a:xfrm>
          <a:prstGeom prst="roundRect">
            <a:avLst>
              <a:gd name="adj" fmla="val 11905"/>
            </a:avLst>
          </a:prstGeom>
          <a:solidFill>
            <a:srgbClr val="FFFFFF"/>
          </a:solidFill>
          <a:ln w="12700">
            <a:solidFill>
              <a:srgbClr val="B3E3F7"/>
            </a:solidFill>
            <a:prstDash val="solid"/>
          </a:ln>
        </p:spPr>
      </p:sp>
      <p:sp>
        <p:nvSpPr>
          <p:cNvPr id="53" name="Text 51"/>
          <p:cNvSpPr txBox="1"/>
          <p:nvPr/>
        </p:nvSpPr>
        <p:spPr>
          <a:xfrm>
            <a:off x="2781300" y="2057400"/>
            <a:ext cx="1828800" cy="3619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F2D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MBREC</a:t>
            </a:r>
            <a:endParaRPr lang="en-US" sz="1000" dirty="0"/>
          </a:p>
          <a:p>
            <a:pPr indent="0" marL="0">
              <a:buNone/>
            </a:pPr>
            <a:r>
              <a:rPr lang="en-US" sz="900" dirty="0">
                <a:solidFill>
                  <a:srgbClr val="4A5A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Processes recs</a:t>
            </a:r>
            <a:endParaRPr lang="en-US" sz="1000" dirty="0"/>
          </a:p>
        </p:txBody>
      </p:sp>
      <p:sp>
        <p:nvSpPr>
          <p:cNvPr id="54" name="Shape 52"/>
          <p:cNvSpPr/>
          <p:nvPr/>
        </p:nvSpPr>
        <p:spPr>
          <a:xfrm>
            <a:off x="2971800" y="2457450"/>
            <a:ext cx="0" cy="247650"/>
          </a:xfrm>
          <a:prstGeom prst="line">
            <a:avLst/>
          </a:prstGeom>
          <a:noFill/>
          <a:ln w="15875">
            <a:solidFill>
              <a:srgbClr val="00395D"/>
            </a:solidFill>
            <a:prstDash val="solid"/>
            <a:tailEnd type="triangle"/>
          </a:ln>
        </p:spPr>
      </p:sp>
      <p:sp>
        <p:nvSpPr>
          <p:cNvPr id="55" name="Text 53"/>
          <p:cNvSpPr txBox="1"/>
          <p:nvPr/>
        </p:nvSpPr>
        <p:spPr>
          <a:xfrm>
            <a:off x="3086100" y="2457450"/>
            <a:ext cx="158115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4A5A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Master book availability events</a:t>
            </a:r>
            <a:endParaRPr lang="en-US" sz="850" dirty="0"/>
          </a:p>
        </p:txBody>
      </p:sp>
      <p:sp>
        <p:nvSpPr>
          <p:cNvPr id="56" name="Shape 54"/>
          <p:cNvSpPr/>
          <p:nvPr/>
        </p:nvSpPr>
        <p:spPr>
          <a:xfrm>
            <a:off x="2686050" y="2743200"/>
            <a:ext cx="2000250" cy="400050"/>
          </a:xfrm>
          <a:prstGeom prst="roundRect">
            <a:avLst>
              <a:gd name="adj" fmla="val 11905"/>
            </a:avLst>
          </a:prstGeom>
          <a:solidFill>
            <a:srgbClr val="FFFFFF"/>
          </a:solidFill>
          <a:ln w="12700">
            <a:solidFill>
              <a:srgbClr val="B3E3F7"/>
            </a:solidFill>
            <a:prstDash val="solid"/>
          </a:ln>
        </p:spPr>
      </p:sp>
      <p:sp>
        <p:nvSpPr>
          <p:cNvPr id="57" name="Text 55"/>
          <p:cNvSpPr txBox="1"/>
          <p:nvPr/>
        </p:nvSpPr>
        <p:spPr>
          <a:xfrm>
            <a:off x="2781300" y="2762250"/>
            <a:ext cx="1828800" cy="3619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F2D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Fin UX</a:t>
            </a:r>
            <a:endParaRPr lang="en-US" sz="1000" dirty="0"/>
          </a:p>
          <a:p>
            <a:pPr indent="0" marL="0">
              <a:buNone/>
            </a:pPr>
            <a:r>
              <a:rPr lang="en-US" sz="900" dirty="0">
                <a:solidFill>
                  <a:srgbClr val="4A5A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Business outcome per workspace</a:t>
            </a:r>
            <a:endParaRPr lang="en-US" sz="1000" dirty="0"/>
          </a:p>
        </p:txBody>
      </p:sp>
      <p:sp>
        <p:nvSpPr>
          <p:cNvPr id="58" name="Shape 56"/>
          <p:cNvSpPr/>
          <p:nvPr/>
        </p:nvSpPr>
        <p:spPr>
          <a:xfrm>
            <a:off x="2686050" y="3219450"/>
            <a:ext cx="2000250" cy="247650"/>
          </a:xfrm>
          <a:prstGeom prst="roundRect">
            <a:avLst>
              <a:gd name="adj" fmla="val 19231"/>
            </a:avLst>
          </a:prstGeom>
          <a:solidFill>
            <a:srgbClr val="EAF6FC"/>
          </a:solidFill>
          <a:ln/>
        </p:spPr>
      </p:sp>
      <p:sp>
        <p:nvSpPr>
          <p:cNvPr id="59" name="Text 57"/>
          <p:cNvSpPr txBox="1"/>
          <p:nvPr/>
        </p:nvSpPr>
        <p:spPr>
          <a:xfrm>
            <a:off x="2781300" y="3238500"/>
            <a:ext cx="1828800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F2D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X books available: Ready</a:t>
            </a:r>
            <a:endParaRPr lang="en-US" sz="1000" dirty="0"/>
          </a:p>
        </p:txBody>
      </p:sp>
      <p:sp>
        <p:nvSpPr>
          <p:cNvPr id="60" name="Shape 58"/>
          <p:cNvSpPr/>
          <p:nvPr/>
        </p:nvSpPr>
        <p:spPr>
          <a:xfrm>
            <a:off x="2686050" y="3505200"/>
            <a:ext cx="2000250" cy="247650"/>
          </a:xfrm>
          <a:prstGeom prst="roundRect">
            <a:avLst>
              <a:gd name="adj" fmla="val 19231"/>
            </a:avLst>
          </a:prstGeom>
          <a:solidFill>
            <a:srgbClr val="EAF6FC"/>
          </a:solidFill>
          <a:ln/>
        </p:spPr>
      </p:sp>
      <p:sp>
        <p:nvSpPr>
          <p:cNvPr id="61" name="Text 59"/>
          <p:cNvSpPr txBox="1"/>
          <p:nvPr/>
        </p:nvSpPr>
        <p:spPr>
          <a:xfrm>
            <a:off x="2781300" y="3524250"/>
            <a:ext cx="1828800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F2D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Books pending: Not Ready</a:t>
            </a:r>
            <a:endParaRPr lang="en-US" sz="1000" dirty="0"/>
          </a:p>
        </p:txBody>
      </p:sp>
      <p:sp>
        <p:nvSpPr>
          <p:cNvPr id="62" name="Shape 60"/>
          <p:cNvSpPr/>
          <p:nvPr/>
        </p:nvSpPr>
        <p:spPr>
          <a:xfrm>
            <a:off x="3686175" y="3790950"/>
            <a:ext cx="0" cy="171450"/>
          </a:xfrm>
          <a:prstGeom prst="line">
            <a:avLst/>
          </a:prstGeom>
          <a:noFill/>
          <a:ln w="15875">
            <a:solidFill>
              <a:srgbClr val="00395D"/>
            </a:solidFill>
            <a:prstDash val="solid"/>
            <a:tailEnd type="triangle"/>
          </a:ln>
        </p:spPr>
      </p:sp>
      <p:sp>
        <p:nvSpPr>
          <p:cNvPr id="63" name="Shape 61"/>
          <p:cNvSpPr/>
          <p:nvPr/>
        </p:nvSpPr>
        <p:spPr>
          <a:xfrm>
            <a:off x="2686050" y="4000500"/>
            <a:ext cx="2000250" cy="628650"/>
          </a:xfrm>
          <a:prstGeom prst="roundRect">
            <a:avLst>
              <a:gd name="adj" fmla="val 7576"/>
            </a:avLst>
          </a:prstGeom>
          <a:solidFill>
            <a:srgbClr val="00395D"/>
          </a:solidFill>
          <a:ln/>
        </p:spPr>
      </p:sp>
      <p:sp>
        <p:nvSpPr>
          <p:cNvPr id="64" name="Text 62"/>
          <p:cNvSpPr txBox="1"/>
          <p:nvPr/>
        </p:nvSpPr>
        <p:spPr>
          <a:xfrm>
            <a:off x="2781300" y="4019550"/>
            <a:ext cx="1828800" cy="5905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Final Ready event</a:t>
            </a:r>
            <a:endParaRPr lang="en-US" sz="1000" dirty="0"/>
          </a:p>
          <a:p>
            <a:pPr indent="0" marL="0">
              <a:buNone/>
            </a:pPr>
            <a:r>
              <a:rPr lang="en-US" sz="900" dirty="0">
                <a:solidFill>
                  <a:srgbClr val="D9F0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Sent to Helix Agent to start the automated session analysis</a:t>
            </a:r>
            <a:endParaRPr lang="en-US" sz="1000" dirty="0"/>
          </a:p>
        </p:txBody>
      </p:sp>
      <p:sp>
        <p:nvSpPr>
          <p:cNvPr id="65" name="Text 63"/>
          <p:cNvSpPr txBox="1"/>
          <p:nvPr/>
        </p:nvSpPr>
        <p:spPr>
          <a:xfrm>
            <a:off x="5105400" y="2038350"/>
            <a:ext cx="2000250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spc="50" kern="0" dirty="0">
                <a:solidFill>
                  <a:srgbClr val="00395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HELIX AGENT</a:t>
            </a:r>
            <a:endParaRPr lang="en-US" sz="850" dirty="0"/>
          </a:p>
        </p:txBody>
      </p:sp>
      <p:sp>
        <p:nvSpPr>
          <p:cNvPr id="66" name="Shape 64"/>
          <p:cNvSpPr/>
          <p:nvPr/>
        </p:nvSpPr>
        <p:spPr>
          <a:xfrm>
            <a:off x="5105400" y="2247900"/>
            <a:ext cx="2000250" cy="438150"/>
          </a:xfrm>
          <a:prstGeom prst="roundRect">
            <a:avLst>
              <a:gd name="adj" fmla="val 10870"/>
            </a:avLst>
          </a:prstGeom>
          <a:solidFill>
            <a:srgbClr val="FFFFFF"/>
          </a:solidFill>
          <a:ln w="12700">
            <a:solidFill>
              <a:srgbClr val="B3E3F7"/>
            </a:solidFill>
            <a:prstDash val="solid"/>
          </a:ln>
        </p:spPr>
      </p:sp>
      <p:sp>
        <p:nvSpPr>
          <p:cNvPr id="67" name="Text 65"/>
          <p:cNvSpPr txBox="1"/>
          <p:nvPr/>
        </p:nvSpPr>
        <p:spPr>
          <a:xfrm>
            <a:off x="5200650" y="2266950"/>
            <a:ext cx="1828800" cy="4000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F2D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Receive Ready event</a:t>
            </a:r>
            <a:endParaRPr lang="en-US" sz="1000" dirty="0"/>
          </a:p>
          <a:p>
            <a:pPr indent="0" marL="0">
              <a:buNone/>
            </a:pPr>
            <a:r>
              <a:rPr lang="en-US" sz="900" dirty="0">
                <a:solidFill>
                  <a:srgbClr val="4A5A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From One Fin UX</a:t>
            </a:r>
            <a:endParaRPr lang="en-US" sz="1000" dirty="0"/>
          </a:p>
        </p:txBody>
      </p:sp>
      <p:sp>
        <p:nvSpPr>
          <p:cNvPr id="68" name="Shape 66"/>
          <p:cNvSpPr/>
          <p:nvPr/>
        </p:nvSpPr>
        <p:spPr>
          <a:xfrm>
            <a:off x="6105525" y="2705100"/>
            <a:ext cx="0" cy="190500"/>
          </a:xfrm>
          <a:prstGeom prst="line">
            <a:avLst/>
          </a:prstGeom>
          <a:noFill/>
          <a:ln w="15875">
            <a:solidFill>
              <a:srgbClr val="00395D"/>
            </a:solidFill>
            <a:prstDash val="solid"/>
            <a:tailEnd type="triangle"/>
          </a:ln>
        </p:spPr>
      </p:sp>
      <p:sp>
        <p:nvSpPr>
          <p:cNvPr id="69" name="Shape 67"/>
          <p:cNvSpPr/>
          <p:nvPr/>
        </p:nvSpPr>
        <p:spPr>
          <a:xfrm>
            <a:off x="5105400" y="2933700"/>
            <a:ext cx="2000250" cy="438150"/>
          </a:xfrm>
          <a:prstGeom prst="roundRect">
            <a:avLst>
              <a:gd name="adj" fmla="val 10870"/>
            </a:avLst>
          </a:prstGeom>
          <a:solidFill>
            <a:srgbClr val="FFFFFF"/>
          </a:solidFill>
          <a:ln w="12700">
            <a:solidFill>
              <a:srgbClr val="B3E3F7"/>
            </a:solidFill>
            <a:prstDash val="solid"/>
          </a:ln>
        </p:spPr>
      </p:sp>
      <p:sp>
        <p:nvSpPr>
          <p:cNvPr id="70" name="Text 68"/>
          <p:cNvSpPr txBox="1"/>
          <p:nvPr/>
        </p:nvSpPr>
        <p:spPr>
          <a:xfrm>
            <a:off x="5200650" y="2952750"/>
            <a:ext cx="1828800" cy="4000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F2D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Validate workspace</a:t>
            </a:r>
            <a:endParaRPr lang="en-US" sz="1000" dirty="0"/>
          </a:p>
          <a:p>
            <a:pPr indent="0" marL="0">
              <a:buNone/>
            </a:pPr>
            <a:r>
              <a:rPr lang="en-US" sz="900" dirty="0">
                <a:solidFill>
                  <a:srgbClr val="4A5A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Readiness check</a:t>
            </a:r>
            <a:endParaRPr lang="en-US" sz="1000" dirty="0"/>
          </a:p>
        </p:txBody>
      </p:sp>
      <p:sp>
        <p:nvSpPr>
          <p:cNvPr id="71" name="Shape 69"/>
          <p:cNvSpPr/>
          <p:nvPr/>
        </p:nvSpPr>
        <p:spPr>
          <a:xfrm>
            <a:off x="6105525" y="3390900"/>
            <a:ext cx="0" cy="190500"/>
          </a:xfrm>
          <a:prstGeom prst="line">
            <a:avLst/>
          </a:prstGeom>
          <a:noFill/>
          <a:ln w="15875">
            <a:solidFill>
              <a:srgbClr val="00395D"/>
            </a:solidFill>
            <a:prstDash val="solid"/>
            <a:tailEnd type="triangle"/>
          </a:ln>
        </p:spPr>
      </p:sp>
      <p:sp>
        <p:nvSpPr>
          <p:cNvPr id="72" name="Shape 70"/>
          <p:cNvSpPr/>
          <p:nvPr/>
        </p:nvSpPr>
        <p:spPr>
          <a:xfrm>
            <a:off x="5105400" y="3619500"/>
            <a:ext cx="2000250" cy="438150"/>
          </a:xfrm>
          <a:prstGeom prst="roundRect">
            <a:avLst>
              <a:gd name="adj" fmla="val 10870"/>
            </a:avLst>
          </a:prstGeom>
          <a:solidFill>
            <a:srgbClr val="FFFFFF"/>
          </a:solidFill>
          <a:ln w="12700">
            <a:solidFill>
              <a:srgbClr val="B3E3F7"/>
            </a:solidFill>
            <a:prstDash val="solid"/>
          </a:ln>
        </p:spPr>
      </p:sp>
      <p:sp>
        <p:nvSpPr>
          <p:cNvPr id="73" name="Text 71"/>
          <p:cNvSpPr txBox="1"/>
          <p:nvPr/>
        </p:nvSpPr>
        <p:spPr>
          <a:xfrm>
            <a:off x="5200650" y="3638550"/>
            <a:ext cx="1828800" cy="4000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F2D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Start automated session</a:t>
            </a:r>
            <a:endParaRPr lang="en-US" sz="1000" dirty="0"/>
          </a:p>
          <a:p>
            <a:pPr indent="0" marL="0">
              <a:buNone/>
            </a:pPr>
            <a:r>
              <a:rPr lang="en-US" sz="900" dirty="0">
                <a:solidFill>
                  <a:srgbClr val="4A5A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 One / LLM</a:t>
            </a:r>
            <a:endParaRPr lang="en-US" sz="1000" dirty="0"/>
          </a:p>
        </p:txBody>
      </p:sp>
      <p:sp>
        <p:nvSpPr>
          <p:cNvPr id="74" name="Text 72"/>
          <p:cNvSpPr txBox="1"/>
          <p:nvPr/>
        </p:nvSpPr>
        <p:spPr>
          <a:xfrm>
            <a:off x="7524750" y="2038350"/>
            <a:ext cx="2000250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spc="50" kern="0" dirty="0">
                <a:solidFill>
                  <a:srgbClr val="00395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 ONE / LLM SESSION</a:t>
            </a:r>
            <a:endParaRPr lang="en-US" sz="850" dirty="0"/>
          </a:p>
        </p:txBody>
      </p:sp>
      <p:sp>
        <p:nvSpPr>
          <p:cNvPr id="75" name="Text 73"/>
          <p:cNvSpPr txBox="1"/>
          <p:nvPr/>
        </p:nvSpPr>
        <p:spPr>
          <a:xfrm>
            <a:off x="7524750" y="2247900"/>
            <a:ext cx="2000250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spc="50" kern="0" dirty="0">
                <a:solidFill>
                  <a:srgbClr val="00395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ATTACH CONTEXT</a:t>
            </a:r>
            <a:endParaRPr lang="en-US" sz="850" dirty="0"/>
          </a:p>
        </p:txBody>
      </p:sp>
      <p:sp>
        <p:nvSpPr>
          <p:cNvPr id="76" name="Shape 74"/>
          <p:cNvSpPr/>
          <p:nvPr/>
        </p:nvSpPr>
        <p:spPr>
          <a:xfrm>
            <a:off x="7524750" y="2438400"/>
            <a:ext cx="2000250" cy="247650"/>
          </a:xfrm>
          <a:prstGeom prst="roundRect">
            <a:avLst>
              <a:gd name="adj" fmla="val 19231"/>
            </a:avLst>
          </a:prstGeom>
          <a:solidFill>
            <a:srgbClr val="EAF6FC"/>
          </a:solidFill>
          <a:ln/>
        </p:spPr>
      </p:sp>
      <p:sp>
        <p:nvSpPr>
          <p:cNvPr id="77" name="Text 75"/>
          <p:cNvSpPr txBox="1"/>
          <p:nvPr/>
        </p:nvSpPr>
        <p:spPr>
          <a:xfrm>
            <a:off x="7620000" y="2457450"/>
            <a:ext cx="1828800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F2D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Skills / Playbooks</a:t>
            </a:r>
            <a:endParaRPr lang="en-US" sz="1000" dirty="0"/>
          </a:p>
        </p:txBody>
      </p:sp>
      <p:sp>
        <p:nvSpPr>
          <p:cNvPr id="78" name="Shape 76"/>
          <p:cNvSpPr/>
          <p:nvPr/>
        </p:nvSpPr>
        <p:spPr>
          <a:xfrm>
            <a:off x="7524750" y="2724150"/>
            <a:ext cx="2000250" cy="247650"/>
          </a:xfrm>
          <a:prstGeom prst="roundRect">
            <a:avLst>
              <a:gd name="adj" fmla="val 19231"/>
            </a:avLst>
          </a:prstGeom>
          <a:solidFill>
            <a:srgbClr val="EAF6FC"/>
          </a:solidFill>
          <a:ln/>
        </p:spPr>
      </p:sp>
      <p:sp>
        <p:nvSpPr>
          <p:cNvPr id="79" name="Text 77"/>
          <p:cNvSpPr txBox="1"/>
          <p:nvPr/>
        </p:nvSpPr>
        <p:spPr>
          <a:xfrm>
            <a:off x="7620000" y="2743200"/>
            <a:ext cx="1828800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F2D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Reference Files</a:t>
            </a:r>
            <a:endParaRPr lang="en-US" sz="1000" dirty="0"/>
          </a:p>
        </p:txBody>
      </p:sp>
      <p:sp>
        <p:nvSpPr>
          <p:cNvPr id="80" name="Shape 78"/>
          <p:cNvSpPr/>
          <p:nvPr/>
        </p:nvSpPr>
        <p:spPr>
          <a:xfrm>
            <a:off x="7524750" y="3009900"/>
            <a:ext cx="2000250" cy="381000"/>
          </a:xfrm>
          <a:prstGeom prst="roundRect">
            <a:avLst>
              <a:gd name="adj" fmla="val 12500"/>
            </a:avLst>
          </a:prstGeom>
          <a:solidFill>
            <a:srgbClr val="EAF6FC"/>
          </a:solidFill>
          <a:ln/>
        </p:spPr>
      </p:sp>
      <p:sp>
        <p:nvSpPr>
          <p:cNvPr id="81" name="Text 79"/>
          <p:cNvSpPr txBox="1"/>
          <p:nvPr/>
        </p:nvSpPr>
        <p:spPr>
          <a:xfrm>
            <a:off x="7620000" y="3028950"/>
            <a:ext cx="1828800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F2D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MCP Tool Calls</a:t>
            </a:r>
            <a:endParaRPr lang="en-US" sz="1000" dirty="0"/>
          </a:p>
          <a:p>
            <a:pPr indent="0" marL="0">
              <a:buNone/>
            </a:pPr>
            <a:r>
              <a:rPr lang="en-US" sz="900" dirty="0">
                <a:solidFill>
                  <a:srgbClr val="4A5A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MB Rec data, FAS posting</a:t>
            </a:r>
            <a:endParaRPr lang="en-US" sz="1000" dirty="0"/>
          </a:p>
        </p:txBody>
      </p:sp>
      <p:sp>
        <p:nvSpPr>
          <p:cNvPr id="82" name="Shape 80"/>
          <p:cNvSpPr/>
          <p:nvPr/>
        </p:nvSpPr>
        <p:spPr>
          <a:xfrm>
            <a:off x="8524875" y="3429000"/>
            <a:ext cx="0" cy="171450"/>
          </a:xfrm>
          <a:prstGeom prst="line">
            <a:avLst/>
          </a:prstGeom>
          <a:noFill/>
          <a:ln w="15875">
            <a:solidFill>
              <a:srgbClr val="00395D"/>
            </a:solidFill>
            <a:prstDash val="solid"/>
            <a:tailEnd type="triangle"/>
          </a:ln>
        </p:spPr>
      </p:sp>
      <p:sp>
        <p:nvSpPr>
          <p:cNvPr id="83" name="Shape 81"/>
          <p:cNvSpPr/>
          <p:nvPr/>
        </p:nvSpPr>
        <p:spPr>
          <a:xfrm>
            <a:off x="7524750" y="3638550"/>
            <a:ext cx="2000250" cy="1638300"/>
          </a:xfrm>
          <a:prstGeom prst="roundRect">
            <a:avLst>
              <a:gd name="adj" fmla="val 2907"/>
            </a:avLst>
          </a:prstGeom>
          <a:solidFill>
            <a:srgbClr val="FFFFFF"/>
          </a:solidFill>
          <a:ln w="12700">
            <a:solidFill>
              <a:srgbClr val="B3E3F7"/>
            </a:solidFill>
            <a:prstDash val="solid"/>
          </a:ln>
        </p:spPr>
      </p:sp>
      <p:sp>
        <p:nvSpPr>
          <p:cNvPr id="84" name="Text 82"/>
          <p:cNvSpPr txBox="1"/>
          <p:nvPr/>
        </p:nvSpPr>
        <p:spPr>
          <a:xfrm>
            <a:off x="7620000" y="3676650"/>
            <a:ext cx="1828800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F2D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 Analysis (Internal)</a:t>
            </a:r>
            <a:endParaRPr lang="en-US" sz="1050" dirty="0"/>
          </a:p>
        </p:txBody>
      </p:sp>
      <p:sp>
        <p:nvSpPr>
          <p:cNvPr id="85" name="Text 83"/>
          <p:cNvSpPr txBox="1"/>
          <p:nvPr/>
        </p:nvSpPr>
        <p:spPr>
          <a:xfrm>
            <a:off x="7600950" y="3924300"/>
            <a:ext cx="1866900" cy="13144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27000" indent="-127000">
              <a:spcAft>
                <a:spcPts val="500"/>
              </a:spcAft>
              <a:buSzPct val="100000"/>
              <a:buChar char="•"/>
            </a:pPr>
            <a:r>
              <a:rPr lang="en-US" sz="950" dirty="0">
                <a:solidFill>
                  <a:srgbClr val="1F2D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Compare FO vs BO by position, book, date</a:t>
            </a:r>
            <a:endParaRPr lang="en-US" sz="950" dirty="0"/>
          </a:p>
          <a:p>
            <a:pPr marL="127000" indent="-127000">
              <a:spcAft>
                <a:spcPts val="500"/>
              </a:spcAft>
              <a:buSzPct val="100000"/>
              <a:buChar char="•"/>
            </a:pPr>
            <a:r>
              <a:rPr lang="en-US" sz="950" dirty="0">
                <a:solidFill>
                  <a:srgbClr val="1F2D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Classify: Missing Side, Side Double, Reapplication, False Break, DQ</a:t>
            </a:r>
            <a:endParaRPr lang="en-US" sz="950" dirty="0"/>
          </a:p>
          <a:p>
            <a:pPr marL="127000" indent="-127000">
              <a:spcAft>
                <a:spcPts val="500"/>
              </a:spcAft>
              <a:buSzPct val="100000"/>
              <a:buChar char="•"/>
            </a:pPr>
            <a:r>
              <a:rPr lang="en-US" sz="950" dirty="0">
                <a:solidFill>
                  <a:srgbClr val="1F2D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Explain: Pull Factor, MTM, Trading P&amp;L</a:t>
            </a:r>
            <a:endParaRPr lang="en-US" sz="950" dirty="0"/>
          </a:p>
          <a:p>
            <a:pPr marL="127000" indent="-127000">
              <a:spcAft>
                <a:spcPts val="500"/>
              </a:spcAft>
              <a:buSzPct val="100000"/>
              <a:buChar char="•"/>
            </a:pPr>
            <a:r>
              <a:rPr lang="en-US" sz="950" dirty="0">
                <a:solidFill>
                  <a:srgbClr val="1F2D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Recommend: journal, DQ or no action</a:t>
            </a:r>
            <a:endParaRPr lang="en-US" sz="950" dirty="0"/>
          </a:p>
        </p:txBody>
      </p:sp>
      <p:sp>
        <p:nvSpPr>
          <p:cNvPr id="86" name="Text 84"/>
          <p:cNvSpPr txBox="1"/>
          <p:nvPr/>
        </p:nvSpPr>
        <p:spPr>
          <a:xfrm>
            <a:off x="9944100" y="2038350"/>
            <a:ext cx="2000250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spc="50" kern="0" dirty="0">
                <a:solidFill>
                  <a:srgbClr val="00395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CONTROLLER (USER)</a:t>
            </a:r>
            <a:endParaRPr lang="en-US" sz="850" dirty="0"/>
          </a:p>
        </p:txBody>
      </p:sp>
      <p:sp>
        <p:nvSpPr>
          <p:cNvPr id="87" name="Shape 85"/>
          <p:cNvSpPr/>
          <p:nvPr/>
        </p:nvSpPr>
        <p:spPr>
          <a:xfrm>
            <a:off x="9944100" y="2247900"/>
            <a:ext cx="2000250" cy="47625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2700">
            <a:solidFill>
              <a:srgbClr val="B3E3F7"/>
            </a:solidFill>
            <a:prstDash val="solid"/>
          </a:ln>
        </p:spPr>
      </p:sp>
      <p:sp>
        <p:nvSpPr>
          <p:cNvPr id="88" name="Text 86"/>
          <p:cNvSpPr txBox="1"/>
          <p:nvPr/>
        </p:nvSpPr>
        <p:spPr>
          <a:xfrm>
            <a:off x="10039350" y="2266950"/>
            <a:ext cx="1828800" cy="4381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F2D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 session analysis</a:t>
            </a:r>
            <a:endParaRPr lang="en-US" sz="1000" dirty="0"/>
          </a:p>
          <a:p>
            <a:pPr indent="0" marL="0">
              <a:buNone/>
            </a:pPr>
            <a:r>
              <a:rPr lang="en-US" sz="900" dirty="0">
                <a:solidFill>
                  <a:srgbClr val="4A5A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 workspace</a:t>
            </a:r>
            <a:endParaRPr lang="en-US" sz="1000" dirty="0"/>
          </a:p>
        </p:txBody>
      </p:sp>
      <p:sp>
        <p:nvSpPr>
          <p:cNvPr id="89" name="Shape 87"/>
          <p:cNvSpPr/>
          <p:nvPr/>
        </p:nvSpPr>
        <p:spPr>
          <a:xfrm>
            <a:off x="10944225" y="2743200"/>
            <a:ext cx="0" cy="190500"/>
          </a:xfrm>
          <a:prstGeom prst="line">
            <a:avLst/>
          </a:prstGeom>
          <a:noFill/>
          <a:ln w="15875">
            <a:solidFill>
              <a:srgbClr val="00395D"/>
            </a:solidFill>
            <a:prstDash val="solid"/>
            <a:tailEnd type="triangle"/>
          </a:ln>
        </p:spPr>
      </p:sp>
      <p:sp>
        <p:nvSpPr>
          <p:cNvPr id="90" name="Shape 88"/>
          <p:cNvSpPr/>
          <p:nvPr/>
        </p:nvSpPr>
        <p:spPr>
          <a:xfrm>
            <a:off x="9944100" y="2971800"/>
            <a:ext cx="2000250" cy="47625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2700">
            <a:solidFill>
              <a:srgbClr val="B3E3F7"/>
            </a:solidFill>
            <a:prstDash val="solid"/>
          </a:ln>
        </p:spPr>
      </p:sp>
      <p:sp>
        <p:nvSpPr>
          <p:cNvPr id="91" name="Text 89"/>
          <p:cNvSpPr txBox="1"/>
          <p:nvPr/>
        </p:nvSpPr>
        <p:spPr>
          <a:xfrm>
            <a:off x="10039350" y="2990850"/>
            <a:ext cx="1828800" cy="4381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F2D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Ask questions to LLM</a:t>
            </a:r>
            <a:endParaRPr lang="en-US" sz="1000" dirty="0"/>
          </a:p>
          <a:p>
            <a:pPr indent="0" marL="0">
              <a:buNone/>
            </a:pPr>
            <a:r>
              <a:rPr lang="en-US" sz="900" dirty="0">
                <a:solidFill>
                  <a:srgbClr val="4A5A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Same session and workspace context</a:t>
            </a:r>
            <a:endParaRPr lang="en-US" sz="1000" dirty="0"/>
          </a:p>
        </p:txBody>
      </p:sp>
      <p:sp>
        <p:nvSpPr>
          <p:cNvPr id="92" name="Shape 90"/>
          <p:cNvSpPr/>
          <p:nvPr/>
        </p:nvSpPr>
        <p:spPr>
          <a:xfrm>
            <a:off x="10944225" y="3467100"/>
            <a:ext cx="0" cy="190500"/>
          </a:xfrm>
          <a:prstGeom prst="line">
            <a:avLst/>
          </a:prstGeom>
          <a:noFill/>
          <a:ln w="15875">
            <a:solidFill>
              <a:srgbClr val="00395D"/>
            </a:solidFill>
            <a:prstDash val="solid"/>
            <a:tailEnd type="triangle"/>
          </a:ln>
        </p:spPr>
      </p:sp>
      <p:sp>
        <p:nvSpPr>
          <p:cNvPr id="93" name="Shape 91"/>
          <p:cNvSpPr/>
          <p:nvPr/>
        </p:nvSpPr>
        <p:spPr>
          <a:xfrm>
            <a:off x="9944100" y="3695700"/>
            <a:ext cx="2000250" cy="47625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2700">
            <a:solidFill>
              <a:srgbClr val="B3E3F7"/>
            </a:solidFill>
            <a:prstDash val="solid"/>
          </a:ln>
        </p:spPr>
      </p:sp>
      <p:sp>
        <p:nvSpPr>
          <p:cNvPr id="94" name="Text 92"/>
          <p:cNvSpPr txBox="1"/>
          <p:nvPr/>
        </p:nvSpPr>
        <p:spPr>
          <a:xfrm>
            <a:off x="10039350" y="3714750"/>
            <a:ext cx="1828800" cy="4381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F2D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Approve adjustment</a:t>
            </a:r>
            <a:endParaRPr lang="en-US" sz="1000" dirty="0"/>
          </a:p>
          <a:p>
            <a:pPr indent="0" marL="0">
              <a:buNone/>
            </a:pPr>
            <a:r>
              <a:rPr lang="en-US" sz="900" dirty="0">
                <a:solidFill>
                  <a:srgbClr val="4A5A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Posted to MOTIF via FAS MCP</a:t>
            </a:r>
            <a:endParaRPr lang="en-US" sz="1000" dirty="0"/>
          </a:p>
        </p:txBody>
      </p:sp>
      <p:sp>
        <p:nvSpPr>
          <p:cNvPr id="95" name="Shape 93"/>
          <p:cNvSpPr/>
          <p:nvPr/>
        </p:nvSpPr>
        <p:spPr>
          <a:xfrm>
            <a:off x="9944100" y="4533900"/>
            <a:ext cx="2000250" cy="285750"/>
          </a:xfrm>
          <a:prstGeom prst="roundRect">
            <a:avLst>
              <a:gd name="adj" fmla="val 50000"/>
            </a:avLst>
          </a:prstGeom>
          <a:solidFill>
            <a:srgbClr val="00AEEF"/>
          </a:solidFill>
          <a:ln/>
        </p:spPr>
      </p:sp>
      <p:sp>
        <p:nvSpPr>
          <p:cNvPr id="96" name="Text 94"/>
          <p:cNvSpPr txBox="1"/>
          <p:nvPr/>
        </p:nvSpPr>
        <p:spPr>
          <a:xfrm>
            <a:off x="9944100" y="4533900"/>
            <a:ext cx="2000250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Analysis ready before desk time</a:t>
            </a:r>
            <a:endParaRPr lang="en-US" sz="950" dirty="0"/>
          </a:p>
        </p:txBody>
      </p:sp>
      <p:sp>
        <p:nvSpPr>
          <p:cNvPr id="97" name="Text 95"/>
          <p:cNvSpPr txBox="1"/>
          <p:nvPr/>
        </p:nvSpPr>
        <p:spPr>
          <a:xfrm>
            <a:off x="12363450" y="2038350"/>
            <a:ext cx="2000250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spc="50" kern="0" dirty="0">
                <a:solidFill>
                  <a:srgbClr val="00395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PHOENIX EYES (AI ONLY)</a:t>
            </a:r>
            <a:endParaRPr lang="en-US" sz="850" dirty="0"/>
          </a:p>
        </p:txBody>
      </p:sp>
      <p:sp>
        <p:nvSpPr>
          <p:cNvPr id="98" name="Shape 96"/>
          <p:cNvSpPr/>
          <p:nvPr/>
        </p:nvSpPr>
        <p:spPr>
          <a:xfrm>
            <a:off x="12363450" y="2247900"/>
            <a:ext cx="2000250" cy="247650"/>
          </a:xfrm>
          <a:prstGeom prst="roundRect">
            <a:avLst>
              <a:gd name="adj" fmla="val 19231"/>
            </a:avLst>
          </a:prstGeom>
          <a:solidFill>
            <a:srgbClr val="EAF6FC"/>
          </a:solidFill>
          <a:ln/>
        </p:spPr>
      </p:sp>
      <p:sp>
        <p:nvSpPr>
          <p:cNvPr id="99" name="Text 97"/>
          <p:cNvSpPr txBox="1"/>
          <p:nvPr/>
        </p:nvSpPr>
        <p:spPr>
          <a:xfrm>
            <a:off x="12458700" y="2266950"/>
            <a:ext cx="1828800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F2D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session traces</a:t>
            </a:r>
            <a:endParaRPr lang="en-US" sz="1000" dirty="0"/>
          </a:p>
        </p:txBody>
      </p:sp>
      <p:sp>
        <p:nvSpPr>
          <p:cNvPr id="100" name="Shape 98"/>
          <p:cNvSpPr/>
          <p:nvPr/>
        </p:nvSpPr>
        <p:spPr>
          <a:xfrm>
            <a:off x="12363450" y="2533650"/>
            <a:ext cx="2000250" cy="247650"/>
          </a:xfrm>
          <a:prstGeom prst="roundRect">
            <a:avLst>
              <a:gd name="adj" fmla="val 19231"/>
            </a:avLst>
          </a:prstGeom>
          <a:solidFill>
            <a:srgbClr val="EAF6FC"/>
          </a:solidFill>
          <a:ln/>
        </p:spPr>
      </p:sp>
      <p:sp>
        <p:nvSpPr>
          <p:cNvPr id="101" name="Text 99"/>
          <p:cNvSpPr txBox="1"/>
          <p:nvPr/>
        </p:nvSpPr>
        <p:spPr>
          <a:xfrm>
            <a:off x="12458700" y="2552700"/>
            <a:ext cx="1828800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F2D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sources &amp; prompts</a:t>
            </a:r>
            <a:endParaRPr lang="en-US" sz="1000" dirty="0"/>
          </a:p>
        </p:txBody>
      </p:sp>
      <p:sp>
        <p:nvSpPr>
          <p:cNvPr id="102" name="Shape 100"/>
          <p:cNvSpPr/>
          <p:nvPr/>
        </p:nvSpPr>
        <p:spPr>
          <a:xfrm>
            <a:off x="12363450" y="2819400"/>
            <a:ext cx="2000250" cy="247650"/>
          </a:xfrm>
          <a:prstGeom prst="roundRect">
            <a:avLst>
              <a:gd name="adj" fmla="val 19231"/>
            </a:avLst>
          </a:prstGeom>
          <a:solidFill>
            <a:srgbClr val="EAF6FC"/>
          </a:solidFill>
          <a:ln/>
        </p:spPr>
      </p:sp>
      <p:sp>
        <p:nvSpPr>
          <p:cNvPr id="103" name="Text 101"/>
          <p:cNvSpPr txBox="1"/>
          <p:nvPr/>
        </p:nvSpPr>
        <p:spPr>
          <a:xfrm>
            <a:off x="12458700" y="2838450"/>
            <a:ext cx="1828800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F2D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Skill gap analysis</a:t>
            </a:r>
            <a:endParaRPr lang="en-US" sz="1000" dirty="0"/>
          </a:p>
        </p:txBody>
      </p:sp>
      <p:sp>
        <p:nvSpPr>
          <p:cNvPr id="104" name="Shape 102"/>
          <p:cNvSpPr/>
          <p:nvPr/>
        </p:nvSpPr>
        <p:spPr>
          <a:xfrm>
            <a:off x="12363450" y="3105150"/>
            <a:ext cx="2000250" cy="247650"/>
          </a:xfrm>
          <a:prstGeom prst="roundRect">
            <a:avLst>
              <a:gd name="adj" fmla="val 19231"/>
            </a:avLst>
          </a:prstGeom>
          <a:solidFill>
            <a:srgbClr val="EAF6FC"/>
          </a:solidFill>
          <a:ln/>
        </p:spPr>
      </p:sp>
      <p:sp>
        <p:nvSpPr>
          <p:cNvPr id="105" name="Text 103"/>
          <p:cNvSpPr txBox="1"/>
          <p:nvPr/>
        </p:nvSpPr>
        <p:spPr>
          <a:xfrm>
            <a:off x="12458700" y="3124200"/>
            <a:ext cx="1828800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F2D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LLM performance &amp; health</a:t>
            </a:r>
            <a:endParaRPr lang="en-US" sz="1000" dirty="0"/>
          </a:p>
        </p:txBody>
      </p:sp>
      <p:sp>
        <p:nvSpPr>
          <p:cNvPr id="106" name="Shape 104"/>
          <p:cNvSpPr/>
          <p:nvPr/>
        </p:nvSpPr>
        <p:spPr>
          <a:xfrm>
            <a:off x="12363450" y="3390900"/>
            <a:ext cx="2000250" cy="247650"/>
          </a:xfrm>
          <a:prstGeom prst="roundRect">
            <a:avLst>
              <a:gd name="adj" fmla="val 19231"/>
            </a:avLst>
          </a:prstGeom>
          <a:solidFill>
            <a:srgbClr val="EAF6FC"/>
          </a:solidFill>
          <a:ln/>
        </p:spPr>
      </p:sp>
      <p:sp>
        <p:nvSpPr>
          <p:cNvPr id="107" name="Text 105"/>
          <p:cNvSpPr txBox="1"/>
          <p:nvPr/>
        </p:nvSpPr>
        <p:spPr>
          <a:xfrm>
            <a:off x="12458700" y="3409950"/>
            <a:ext cx="1828800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F2D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decision logic</a:t>
            </a:r>
            <a:endParaRPr lang="en-US" sz="1000" dirty="0"/>
          </a:p>
        </p:txBody>
      </p:sp>
      <p:sp>
        <p:nvSpPr>
          <p:cNvPr id="108" name="Text 106"/>
          <p:cNvSpPr txBox="1"/>
          <p:nvPr/>
        </p:nvSpPr>
        <p:spPr>
          <a:xfrm>
            <a:off x="12363450" y="3790950"/>
            <a:ext cx="2000250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spc="50" kern="0" dirty="0">
                <a:solidFill>
                  <a:srgbClr val="00395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APPLICATION AUDIT</a:t>
            </a:r>
            <a:endParaRPr lang="en-US" sz="850" dirty="0"/>
          </a:p>
        </p:txBody>
      </p:sp>
      <p:sp>
        <p:nvSpPr>
          <p:cNvPr id="109" name="Shape 107"/>
          <p:cNvSpPr/>
          <p:nvPr/>
        </p:nvSpPr>
        <p:spPr>
          <a:xfrm>
            <a:off x="12363450" y="4000500"/>
            <a:ext cx="2000250" cy="552450"/>
          </a:xfrm>
          <a:prstGeom prst="roundRect">
            <a:avLst>
              <a:gd name="adj" fmla="val 8621"/>
            </a:avLst>
          </a:prstGeom>
          <a:solidFill>
            <a:srgbClr val="FFFFFF"/>
          </a:solidFill>
          <a:ln w="12700">
            <a:solidFill>
              <a:srgbClr val="B3E3F7"/>
            </a:solidFill>
            <a:prstDash val="solid"/>
          </a:ln>
        </p:spPr>
      </p:sp>
      <p:sp>
        <p:nvSpPr>
          <p:cNvPr id="110" name="Text 108"/>
          <p:cNvSpPr txBox="1"/>
          <p:nvPr/>
        </p:nvSpPr>
        <p:spPr>
          <a:xfrm>
            <a:off x="12458700" y="4019550"/>
            <a:ext cx="1828800" cy="5143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F2D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Existing app audit</a:t>
            </a:r>
            <a:endParaRPr lang="en-US" sz="1000" dirty="0"/>
          </a:p>
          <a:p>
            <a:pPr indent="0" marL="0">
              <a:buNone/>
            </a:pPr>
            <a:r>
              <a:rPr lang="en-US" sz="900" dirty="0">
                <a:solidFill>
                  <a:srgbClr val="4A5A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 actions, approvals, postings and event history</a:t>
            </a:r>
            <a:endParaRPr lang="en-US" sz="1000" dirty="0"/>
          </a:p>
        </p:txBody>
      </p:sp>
      <p:sp>
        <p:nvSpPr>
          <p:cNvPr id="111" name="Text 109"/>
          <p:cNvSpPr txBox="1"/>
          <p:nvPr/>
        </p:nvSpPr>
        <p:spPr>
          <a:xfrm>
            <a:off x="152400" y="5505450"/>
            <a:ext cx="3810000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spc="50" kern="0" dirty="0">
                <a:solidFill>
                  <a:srgbClr val="00395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TECHNOLOGY &amp; DATA FLOW</a:t>
            </a:r>
            <a:endParaRPr lang="en-US" sz="850" dirty="0"/>
          </a:p>
        </p:txBody>
      </p:sp>
      <p:sp>
        <p:nvSpPr>
          <p:cNvPr id="112" name="Shape 110"/>
          <p:cNvSpPr/>
          <p:nvPr/>
        </p:nvSpPr>
        <p:spPr>
          <a:xfrm>
            <a:off x="152400" y="5715000"/>
            <a:ext cx="2228850" cy="590550"/>
          </a:xfrm>
          <a:prstGeom prst="roundRect">
            <a:avLst>
              <a:gd name="adj" fmla="val 9677"/>
            </a:avLst>
          </a:prstGeom>
          <a:solidFill>
            <a:srgbClr val="FFFFFF"/>
          </a:solidFill>
          <a:ln w="12700">
            <a:solidFill>
              <a:srgbClr val="B3E3F7"/>
            </a:solidFill>
            <a:prstDash val="solid"/>
          </a:ln>
        </p:spPr>
      </p:sp>
      <p:sp>
        <p:nvSpPr>
          <p:cNvPr id="113" name="Shape 111"/>
          <p:cNvSpPr/>
          <p:nvPr/>
        </p:nvSpPr>
        <p:spPr>
          <a:xfrm>
            <a:off x="152400" y="5715000"/>
            <a:ext cx="38100" cy="590550"/>
          </a:xfrm>
          <a:prstGeom prst="rect">
            <a:avLst/>
          </a:prstGeom>
          <a:solidFill>
            <a:srgbClr val="00AEEF"/>
          </a:solidFill>
          <a:ln/>
        </p:spPr>
      </p:sp>
      <p:sp>
        <p:nvSpPr>
          <p:cNvPr id="114" name="Text 112"/>
          <p:cNvSpPr txBox="1"/>
          <p:nvPr/>
        </p:nvSpPr>
        <p:spPr>
          <a:xfrm>
            <a:off x="285750" y="5734050"/>
            <a:ext cx="2038350" cy="5524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0395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MBREC</a:t>
            </a:r>
            <a:endParaRPr lang="en-US" sz="1000" dirty="0"/>
          </a:p>
          <a:p>
            <a:pPr indent="0" marL="0">
              <a:buNone/>
            </a:pPr>
            <a:r>
              <a:rPr lang="en-US" sz="900" dirty="0">
                <a:solidFill>
                  <a:srgbClr val="4A5A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Master-book rec, book availability</a:t>
            </a:r>
            <a:endParaRPr lang="en-US" sz="1000" dirty="0"/>
          </a:p>
        </p:txBody>
      </p:sp>
      <p:sp>
        <p:nvSpPr>
          <p:cNvPr id="115" name="Shape 113"/>
          <p:cNvSpPr/>
          <p:nvPr/>
        </p:nvSpPr>
        <p:spPr>
          <a:xfrm>
            <a:off x="2400300" y="6010275"/>
            <a:ext cx="152400" cy="0"/>
          </a:xfrm>
          <a:prstGeom prst="line">
            <a:avLst/>
          </a:prstGeom>
          <a:noFill/>
          <a:ln w="22225">
            <a:solidFill>
              <a:srgbClr val="00395D"/>
            </a:solidFill>
            <a:prstDash val="solid"/>
            <a:tailEnd type="triangle"/>
          </a:ln>
        </p:spPr>
      </p:sp>
      <p:sp>
        <p:nvSpPr>
          <p:cNvPr id="116" name="Shape 114"/>
          <p:cNvSpPr/>
          <p:nvPr/>
        </p:nvSpPr>
        <p:spPr>
          <a:xfrm>
            <a:off x="2571750" y="5715000"/>
            <a:ext cx="2228850" cy="590550"/>
          </a:xfrm>
          <a:prstGeom prst="roundRect">
            <a:avLst>
              <a:gd name="adj" fmla="val 9677"/>
            </a:avLst>
          </a:prstGeom>
          <a:solidFill>
            <a:srgbClr val="FFFFFF"/>
          </a:solidFill>
          <a:ln w="12700">
            <a:solidFill>
              <a:srgbClr val="B3E3F7"/>
            </a:solidFill>
            <a:prstDash val="solid"/>
          </a:ln>
        </p:spPr>
      </p:sp>
      <p:sp>
        <p:nvSpPr>
          <p:cNvPr id="117" name="Shape 115"/>
          <p:cNvSpPr/>
          <p:nvPr/>
        </p:nvSpPr>
        <p:spPr>
          <a:xfrm>
            <a:off x="2571750" y="5715000"/>
            <a:ext cx="38100" cy="590550"/>
          </a:xfrm>
          <a:prstGeom prst="rect">
            <a:avLst/>
          </a:prstGeom>
          <a:solidFill>
            <a:srgbClr val="00AEEF"/>
          </a:solidFill>
          <a:ln/>
        </p:spPr>
      </p:sp>
      <p:sp>
        <p:nvSpPr>
          <p:cNvPr id="118" name="Text 116"/>
          <p:cNvSpPr txBox="1"/>
          <p:nvPr/>
        </p:nvSpPr>
        <p:spPr>
          <a:xfrm>
            <a:off x="2705100" y="5734050"/>
            <a:ext cx="2038350" cy="5524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0395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Fin UX</a:t>
            </a:r>
            <a:endParaRPr lang="en-US" sz="1000" dirty="0"/>
          </a:p>
          <a:p>
            <a:pPr indent="0" marL="0">
              <a:buNone/>
            </a:pPr>
            <a:r>
              <a:rPr lang="en-US" sz="900" dirty="0">
                <a:solidFill>
                  <a:srgbClr val="4A5A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Business outcome, final Ready event</a:t>
            </a:r>
            <a:endParaRPr lang="en-US" sz="1000" dirty="0"/>
          </a:p>
        </p:txBody>
      </p:sp>
      <p:sp>
        <p:nvSpPr>
          <p:cNvPr id="119" name="Shape 117"/>
          <p:cNvSpPr/>
          <p:nvPr/>
        </p:nvSpPr>
        <p:spPr>
          <a:xfrm>
            <a:off x="4819650" y="6010275"/>
            <a:ext cx="152400" cy="0"/>
          </a:xfrm>
          <a:prstGeom prst="line">
            <a:avLst/>
          </a:prstGeom>
          <a:noFill/>
          <a:ln w="22225">
            <a:solidFill>
              <a:srgbClr val="00395D"/>
            </a:solidFill>
            <a:prstDash val="solid"/>
            <a:tailEnd type="triangle"/>
          </a:ln>
        </p:spPr>
      </p:sp>
      <p:sp>
        <p:nvSpPr>
          <p:cNvPr id="120" name="Shape 118"/>
          <p:cNvSpPr/>
          <p:nvPr/>
        </p:nvSpPr>
        <p:spPr>
          <a:xfrm>
            <a:off x="4991100" y="5715000"/>
            <a:ext cx="2228850" cy="590550"/>
          </a:xfrm>
          <a:prstGeom prst="roundRect">
            <a:avLst>
              <a:gd name="adj" fmla="val 9677"/>
            </a:avLst>
          </a:prstGeom>
          <a:solidFill>
            <a:srgbClr val="FFFFFF"/>
          </a:solidFill>
          <a:ln w="12700">
            <a:solidFill>
              <a:srgbClr val="B3E3F7"/>
            </a:solidFill>
            <a:prstDash val="solid"/>
          </a:ln>
        </p:spPr>
      </p:sp>
      <p:sp>
        <p:nvSpPr>
          <p:cNvPr id="121" name="Shape 119"/>
          <p:cNvSpPr/>
          <p:nvPr/>
        </p:nvSpPr>
        <p:spPr>
          <a:xfrm>
            <a:off x="4991100" y="5715000"/>
            <a:ext cx="38100" cy="590550"/>
          </a:xfrm>
          <a:prstGeom prst="rect">
            <a:avLst/>
          </a:prstGeom>
          <a:solidFill>
            <a:srgbClr val="00AEEF"/>
          </a:solidFill>
          <a:ln/>
        </p:spPr>
      </p:sp>
      <p:sp>
        <p:nvSpPr>
          <p:cNvPr id="122" name="Text 120"/>
          <p:cNvSpPr txBox="1"/>
          <p:nvPr/>
        </p:nvSpPr>
        <p:spPr>
          <a:xfrm>
            <a:off x="5124450" y="5734050"/>
            <a:ext cx="2038350" cy="5524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0395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Helix Agent</a:t>
            </a:r>
            <a:endParaRPr lang="en-US" sz="1000" dirty="0"/>
          </a:p>
          <a:p>
            <a:pPr indent="0" marL="0">
              <a:buNone/>
            </a:pPr>
            <a:r>
              <a:rPr lang="en-US" sz="900" dirty="0">
                <a:solidFill>
                  <a:srgbClr val="4A5A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Orchestration, automated sessions</a:t>
            </a:r>
            <a:endParaRPr lang="en-US" sz="1000" dirty="0"/>
          </a:p>
        </p:txBody>
      </p:sp>
      <p:sp>
        <p:nvSpPr>
          <p:cNvPr id="123" name="Shape 121"/>
          <p:cNvSpPr/>
          <p:nvPr/>
        </p:nvSpPr>
        <p:spPr>
          <a:xfrm>
            <a:off x="7239000" y="6010275"/>
            <a:ext cx="152400" cy="0"/>
          </a:xfrm>
          <a:prstGeom prst="line">
            <a:avLst/>
          </a:prstGeom>
          <a:noFill/>
          <a:ln w="22225">
            <a:solidFill>
              <a:srgbClr val="00395D"/>
            </a:solidFill>
            <a:prstDash val="solid"/>
            <a:tailEnd type="triangle"/>
          </a:ln>
        </p:spPr>
      </p:sp>
      <p:sp>
        <p:nvSpPr>
          <p:cNvPr id="124" name="Shape 122"/>
          <p:cNvSpPr/>
          <p:nvPr/>
        </p:nvSpPr>
        <p:spPr>
          <a:xfrm>
            <a:off x="7410450" y="5715000"/>
            <a:ext cx="2228850" cy="590550"/>
          </a:xfrm>
          <a:prstGeom prst="roundRect">
            <a:avLst>
              <a:gd name="adj" fmla="val 9677"/>
            </a:avLst>
          </a:prstGeom>
          <a:solidFill>
            <a:srgbClr val="FFFFFF"/>
          </a:solidFill>
          <a:ln w="12700">
            <a:solidFill>
              <a:srgbClr val="B3E3F7"/>
            </a:solidFill>
            <a:prstDash val="solid"/>
          </a:ln>
        </p:spPr>
      </p:sp>
      <p:sp>
        <p:nvSpPr>
          <p:cNvPr id="125" name="Shape 123"/>
          <p:cNvSpPr/>
          <p:nvPr/>
        </p:nvSpPr>
        <p:spPr>
          <a:xfrm>
            <a:off x="7410450" y="5715000"/>
            <a:ext cx="38100" cy="590550"/>
          </a:xfrm>
          <a:prstGeom prst="rect">
            <a:avLst/>
          </a:prstGeom>
          <a:solidFill>
            <a:srgbClr val="00AEEF"/>
          </a:solidFill>
          <a:ln/>
        </p:spPr>
      </p:sp>
      <p:sp>
        <p:nvSpPr>
          <p:cNvPr id="126" name="Text 124"/>
          <p:cNvSpPr txBox="1"/>
          <p:nvPr/>
        </p:nvSpPr>
        <p:spPr>
          <a:xfrm>
            <a:off x="7543800" y="5734050"/>
            <a:ext cx="2038350" cy="5524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0395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 One / LLM</a:t>
            </a:r>
            <a:endParaRPr lang="en-US" sz="1000" dirty="0"/>
          </a:p>
          <a:p>
            <a:pPr indent="0" marL="0">
              <a:buNone/>
            </a:pPr>
            <a:r>
              <a:rPr lang="en-US" sz="900" dirty="0">
                <a:solidFill>
                  <a:srgbClr val="4A5A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Analysis with skills and MCP tools</a:t>
            </a:r>
            <a:endParaRPr lang="en-US" sz="1000" dirty="0"/>
          </a:p>
        </p:txBody>
      </p:sp>
      <p:sp>
        <p:nvSpPr>
          <p:cNvPr id="127" name="Shape 125"/>
          <p:cNvSpPr/>
          <p:nvPr/>
        </p:nvSpPr>
        <p:spPr>
          <a:xfrm>
            <a:off x="9658350" y="6010275"/>
            <a:ext cx="152400" cy="0"/>
          </a:xfrm>
          <a:prstGeom prst="line">
            <a:avLst/>
          </a:prstGeom>
          <a:noFill/>
          <a:ln w="22225">
            <a:solidFill>
              <a:srgbClr val="00395D"/>
            </a:solidFill>
            <a:prstDash val="solid"/>
            <a:tailEnd type="triangle"/>
          </a:ln>
        </p:spPr>
      </p:sp>
      <p:sp>
        <p:nvSpPr>
          <p:cNvPr id="128" name="Shape 126"/>
          <p:cNvSpPr/>
          <p:nvPr/>
        </p:nvSpPr>
        <p:spPr>
          <a:xfrm>
            <a:off x="9829800" y="5715000"/>
            <a:ext cx="2228850" cy="590550"/>
          </a:xfrm>
          <a:prstGeom prst="roundRect">
            <a:avLst>
              <a:gd name="adj" fmla="val 9677"/>
            </a:avLst>
          </a:prstGeom>
          <a:solidFill>
            <a:srgbClr val="FFFFFF"/>
          </a:solidFill>
          <a:ln w="12700">
            <a:solidFill>
              <a:srgbClr val="B3E3F7"/>
            </a:solidFill>
            <a:prstDash val="solid"/>
          </a:ln>
        </p:spPr>
      </p:sp>
      <p:sp>
        <p:nvSpPr>
          <p:cNvPr id="129" name="Shape 127"/>
          <p:cNvSpPr/>
          <p:nvPr/>
        </p:nvSpPr>
        <p:spPr>
          <a:xfrm>
            <a:off x="9829800" y="5715000"/>
            <a:ext cx="38100" cy="590550"/>
          </a:xfrm>
          <a:prstGeom prst="rect">
            <a:avLst/>
          </a:prstGeom>
          <a:solidFill>
            <a:srgbClr val="00AEEF"/>
          </a:solidFill>
          <a:ln/>
        </p:spPr>
      </p:sp>
      <p:sp>
        <p:nvSpPr>
          <p:cNvPr id="130" name="Text 128"/>
          <p:cNvSpPr txBox="1"/>
          <p:nvPr/>
        </p:nvSpPr>
        <p:spPr>
          <a:xfrm>
            <a:off x="9963150" y="5734050"/>
            <a:ext cx="2038350" cy="5524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0395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MCP Services</a:t>
            </a:r>
            <a:endParaRPr lang="en-US" sz="1000" dirty="0"/>
          </a:p>
          <a:p>
            <a:pPr indent="0" marL="0">
              <a:buNone/>
            </a:pPr>
            <a:r>
              <a:rPr lang="en-US" sz="900" dirty="0">
                <a:solidFill>
                  <a:srgbClr val="4A5A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MB Rec and other data, FAS posting</a:t>
            </a:r>
            <a:endParaRPr lang="en-US" sz="1000" dirty="0"/>
          </a:p>
        </p:txBody>
      </p:sp>
      <p:sp>
        <p:nvSpPr>
          <p:cNvPr id="131" name="Shape 129"/>
          <p:cNvSpPr/>
          <p:nvPr/>
        </p:nvSpPr>
        <p:spPr>
          <a:xfrm>
            <a:off x="12077700" y="6010275"/>
            <a:ext cx="152400" cy="0"/>
          </a:xfrm>
          <a:prstGeom prst="line">
            <a:avLst/>
          </a:prstGeom>
          <a:noFill/>
          <a:ln w="22225">
            <a:solidFill>
              <a:srgbClr val="00395D"/>
            </a:solidFill>
            <a:prstDash val="solid"/>
            <a:tailEnd type="triangle"/>
          </a:ln>
        </p:spPr>
      </p:sp>
      <p:sp>
        <p:nvSpPr>
          <p:cNvPr id="132" name="Shape 130"/>
          <p:cNvSpPr/>
          <p:nvPr/>
        </p:nvSpPr>
        <p:spPr>
          <a:xfrm>
            <a:off x="12249150" y="5715000"/>
            <a:ext cx="2228850" cy="590550"/>
          </a:xfrm>
          <a:prstGeom prst="roundRect">
            <a:avLst>
              <a:gd name="adj" fmla="val 9677"/>
            </a:avLst>
          </a:prstGeom>
          <a:solidFill>
            <a:srgbClr val="FFFFFF"/>
          </a:solidFill>
          <a:ln w="12700">
            <a:solidFill>
              <a:srgbClr val="B3E3F7"/>
            </a:solidFill>
            <a:prstDash val="solid"/>
          </a:ln>
        </p:spPr>
      </p:sp>
      <p:sp>
        <p:nvSpPr>
          <p:cNvPr id="133" name="Shape 131"/>
          <p:cNvSpPr/>
          <p:nvPr/>
        </p:nvSpPr>
        <p:spPr>
          <a:xfrm>
            <a:off x="12249150" y="5715000"/>
            <a:ext cx="38100" cy="590550"/>
          </a:xfrm>
          <a:prstGeom prst="rect">
            <a:avLst/>
          </a:prstGeom>
          <a:solidFill>
            <a:srgbClr val="00AEEF"/>
          </a:solidFill>
          <a:ln/>
        </p:spPr>
      </p:sp>
      <p:sp>
        <p:nvSpPr>
          <p:cNvPr id="134" name="Text 132"/>
          <p:cNvSpPr txBox="1"/>
          <p:nvPr/>
        </p:nvSpPr>
        <p:spPr>
          <a:xfrm>
            <a:off x="12382500" y="5734050"/>
            <a:ext cx="2038350" cy="5524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0395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Phoenix Eyes</a:t>
            </a:r>
            <a:endParaRPr lang="en-US" sz="1000" dirty="0"/>
          </a:p>
          <a:p>
            <a:pPr indent="0" marL="0">
              <a:buNone/>
            </a:pPr>
            <a:r>
              <a:rPr lang="en-US" sz="900" dirty="0">
                <a:solidFill>
                  <a:srgbClr val="4A5A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observability</a:t>
            </a:r>
            <a:endParaRPr lang="en-US" sz="1000" dirty="0"/>
          </a:p>
        </p:txBody>
      </p:sp>
      <p:sp>
        <p:nvSpPr>
          <p:cNvPr id="135" name="Shape 133"/>
          <p:cNvSpPr/>
          <p:nvPr/>
        </p:nvSpPr>
        <p:spPr>
          <a:xfrm>
            <a:off x="152400" y="6496050"/>
            <a:ext cx="3467100" cy="2647950"/>
          </a:xfrm>
          <a:prstGeom prst="roundRect">
            <a:avLst>
              <a:gd name="adj" fmla="val 2878"/>
            </a:avLst>
          </a:prstGeom>
          <a:solidFill>
            <a:srgbClr val="F5FBFE"/>
          </a:solidFill>
          <a:ln w="12700">
            <a:solidFill>
              <a:srgbClr val="B3E3F7"/>
            </a:solidFill>
            <a:prstDash val="solid"/>
          </a:ln>
        </p:spPr>
      </p:sp>
      <p:sp>
        <p:nvSpPr>
          <p:cNvPr id="136" name="Shape 134"/>
          <p:cNvSpPr/>
          <p:nvPr/>
        </p:nvSpPr>
        <p:spPr>
          <a:xfrm>
            <a:off x="152400" y="6496050"/>
            <a:ext cx="3467100" cy="47625"/>
          </a:xfrm>
          <a:prstGeom prst="rect">
            <a:avLst/>
          </a:prstGeom>
          <a:solidFill>
            <a:srgbClr val="00395D"/>
          </a:solidFill>
          <a:ln/>
        </p:spPr>
      </p:sp>
      <p:sp>
        <p:nvSpPr>
          <p:cNvPr id="137" name="Text 135"/>
          <p:cNvSpPr txBox="1"/>
          <p:nvPr/>
        </p:nvSpPr>
        <p:spPr>
          <a:xfrm>
            <a:off x="323850" y="6667500"/>
            <a:ext cx="3181350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0395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Business Value</a:t>
            </a:r>
            <a:endParaRPr lang="en-US" sz="1500" dirty="0"/>
          </a:p>
        </p:txBody>
      </p:sp>
      <p:sp>
        <p:nvSpPr>
          <p:cNvPr id="138" name="Text 136"/>
          <p:cNvSpPr txBox="1"/>
          <p:nvPr/>
        </p:nvSpPr>
        <p:spPr>
          <a:xfrm>
            <a:off x="323850" y="7105650"/>
            <a:ext cx="3181350" cy="1905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52400" indent="-152400">
              <a:spcAft>
                <a:spcPts val="1800"/>
              </a:spcAft>
              <a:buSzPct val="100000"/>
              <a:buChar char="•"/>
            </a:pPr>
            <a:r>
              <a:rPr lang="en-US" sz="1350" dirty="0">
                <a:solidFill>
                  <a:srgbClr val="1F2D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Faster reconciliation cycles</a:t>
            </a:r>
            <a:endParaRPr lang="en-US" sz="1350" dirty="0"/>
          </a:p>
          <a:p>
            <a:pPr marL="152400" indent="-152400">
              <a:spcAft>
                <a:spcPts val="1800"/>
              </a:spcAft>
              <a:buSzPct val="100000"/>
              <a:buChar char="•"/>
            </a:pPr>
            <a:r>
              <a:rPr lang="en-US" sz="1350" dirty="0">
                <a:solidFill>
                  <a:srgbClr val="1F2D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Proactive issue detection</a:t>
            </a:r>
            <a:endParaRPr lang="en-US" sz="1350" dirty="0"/>
          </a:p>
          <a:p>
            <a:pPr marL="152400" indent="-152400">
              <a:spcAft>
                <a:spcPts val="1800"/>
              </a:spcAft>
              <a:buSzPct val="100000"/>
              <a:buChar char="•"/>
            </a:pPr>
            <a:r>
              <a:rPr lang="en-US" sz="1350" dirty="0">
                <a:solidFill>
                  <a:srgbClr val="1F2D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Higher accuracy &amp; consistency</a:t>
            </a:r>
            <a:endParaRPr lang="en-US" sz="1350" dirty="0"/>
          </a:p>
          <a:p>
            <a:pPr marL="152400" indent="-152400">
              <a:spcAft>
                <a:spcPts val="1800"/>
              </a:spcAft>
              <a:buSzPct val="100000"/>
              <a:buChar char="•"/>
            </a:pPr>
            <a:r>
              <a:rPr lang="en-US" sz="1350" dirty="0">
                <a:solidFill>
                  <a:srgbClr val="1F2D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Better user experience</a:t>
            </a:r>
            <a:endParaRPr lang="en-US" sz="1350" dirty="0"/>
          </a:p>
        </p:txBody>
      </p:sp>
      <p:sp>
        <p:nvSpPr>
          <p:cNvPr id="139" name="Shape 137"/>
          <p:cNvSpPr/>
          <p:nvPr/>
        </p:nvSpPr>
        <p:spPr>
          <a:xfrm>
            <a:off x="3771900" y="6496050"/>
            <a:ext cx="3467100" cy="2647950"/>
          </a:xfrm>
          <a:prstGeom prst="roundRect">
            <a:avLst>
              <a:gd name="adj" fmla="val 2878"/>
            </a:avLst>
          </a:prstGeom>
          <a:solidFill>
            <a:srgbClr val="F5FBFE"/>
          </a:solidFill>
          <a:ln w="12700">
            <a:solidFill>
              <a:srgbClr val="B3E3F7"/>
            </a:solidFill>
            <a:prstDash val="solid"/>
          </a:ln>
        </p:spPr>
      </p:sp>
      <p:sp>
        <p:nvSpPr>
          <p:cNvPr id="140" name="Shape 138"/>
          <p:cNvSpPr/>
          <p:nvPr/>
        </p:nvSpPr>
        <p:spPr>
          <a:xfrm>
            <a:off x="3771900" y="6496050"/>
            <a:ext cx="3467100" cy="47625"/>
          </a:xfrm>
          <a:prstGeom prst="rect">
            <a:avLst/>
          </a:prstGeom>
          <a:solidFill>
            <a:srgbClr val="00AEEF"/>
          </a:solidFill>
          <a:ln/>
        </p:spPr>
      </p:sp>
      <p:sp>
        <p:nvSpPr>
          <p:cNvPr id="141" name="Text 139"/>
          <p:cNvSpPr txBox="1"/>
          <p:nvPr/>
        </p:nvSpPr>
        <p:spPr>
          <a:xfrm>
            <a:off x="3943350" y="6667500"/>
            <a:ext cx="3181350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0395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Capabilities</a:t>
            </a:r>
            <a:endParaRPr lang="en-US" sz="1500" dirty="0"/>
          </a:p>
        </p:txBody>
      </p:sp>
      <p:sp>
        <p:nvSpPr>
          <p:cNvPr id="142" name="Text 140"/>
          <p:cNvSpPr txBox="1"/>
          <p:nvPr/>
        </p:nvSpPr>
        <p:spPr>
          <a:xfrm>
            <a:off x="3943350" y="7105650"/>
            <a:ext cx="3181350" cy="1905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52400" indent="-152400">
              <a:spcAft>
                <a:spcPts val="1800"/>
              </a:spcAft>
              <a:buSzPct val="100000"/>
              <a:buChar char="•"/>
            </a:pPr>
            <a:r>
              <a:rPr lang="en-US" sz="1350" dirty="0">
                <a:solidFill>
                  <a:srgbClr val="1F2D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AI/LLM based analysis</a:t>
            </a:r>
            <a:endParaRPr lang="en-US" sz="1350" dirty="0"/>
          </a:p>
          <a:p>
            <a:pPr marL="152400" indent="-152400">
              <a:spcAft>
                <a:spcPts val="1800"/>
              </a:spcAft>
              <a:buSzPct val="100000"/>
              <a:buChar char="•"/>
            </a:pPr>
            <a:r>
              <a:rPr lang="en-US" sz="1350" dirty="0">
                <a:solidFill>
                  <a:srgbClr val="1F2D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MCP tools incl. FAS posting</a:t>
            </a:r>
            <a:endParaRPr lang="en-US" sz="1350" dirty="0"/>
          </a:p>
          <a:p>
            <a:pPr marL="152400" indent="-152400">
              <a:spcAft>
                <a:spcPts val="1800"/>
              </a:spcAft>
              <a:buSzPct val="100000"/>
              <a:buChar char="•"/>
            </a:pPr>
            <a:r>
              <a:rPr lang="en-US" sz="1350" dirty="0">
                <a:solidFill>
                  <a:srgbClr val="1F2D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Break classification &amp; explanation</a:t>
            </a:r>
            <a:endParaRPr lang="en-US" sz="1350" dirty="0"/>
          </a:p>
          <a:p>
            <a:pPr marL="152400" indent="-152400">
              <a:spcAft>
                <a:spcPts val="1800"/>
              </a:spcAft>
              <a:buSzPct val="100000"/>
              <a:buChar char="•"/>
            </a:pPr>
            <a:r>
              <a:rPr lang="en-US" sz="1350" dirty="0">
                <a:solidFill>
                  <a:srgbClr val="1F2D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Actionable insights &amp; recommendations</a:t>
            </a:r>
            <a:endParaRPr lang="en-US" sz="1350" dirty="0"/>
          </a:p>
        </p:txBody>
      </p:sp>
      <p:sp>
        <p:nvSpPr>
          <p:cNvPr id="143" name="Shape 141"/>
          <p:cNvSpPr/>
          <p:nvPr/>
        </p:nvSpPr>
        <p:spPr>
          <a:xfrm>
            <a:off x="7391400" y="6496050"/>
            <a:ext cx="3467100" cy="2647950"/>
          </a:xfrm>
          <a:prstGeom prst="roundRect">
            <a:avLst>
              <a:gd name="adj" fmla="val 2878"/>
            </a:avLst>
          </a:prstGeom>
          <a:solidFill>
            <a:srgbClr val="F5FBFE"/>
          </a:solidFill>
          <a:ln w="12700">
            <a:solidFill>
              <a:srgbClr val="B3E3F7"/>
            </a:solidFill>
            <a:prstDash val="solid"/>
          </a:ln>
        </p:spPr>
      </p:sp>
      <p:sp>
        <p:nvSpPr>
          <p:cNvPr id="144" name="Shape 142"/>
          <p:cNvSpPr/>
          <p:nvPr/>
        </p:nvSpPr>
        <p:spPr>
          <a:xfrm>
            <a:off x="7391400" y="6496050"/>
            <a:ext cx="3467100" cy="47625"/>
          </a:xfrm>
          <a:prstGeom prst="rect">
            <a:avLst/>
          </a:prstGeom>
          <a:solidFill>
            <a:srgbClr val="00395D"/>
          </a:solidFill>
          <a:ln/>
        </p:spPr>
      </p:sp>
      <p:sp>
        <p:nvSpPr>
          <p:cNvPr id="145" name="Text 143"/>
          <p:cNvSpPr txBox="1"/>
          <p:nvPr/>
        </p:nvSpPr>
        <p:spPr>
          <a:xfrm>
            <a:off x="7562850" y="6667500"/>
            <a:ext cx="3181350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0395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Governance &amp; Risk</a:t>
            </a:r>
            <a:endParaRPr lang="en-US" sz="1500" dirty="0"/>
          </a:p>
        </p:txBody>
      </p:sp>
      <p:sp>
        <p:nvSpPr>
          <p:cNvPr id="146" name="Text 144"/>
          <p:cNvSpPr txBox="1"/>
          <p:nvPr/>
        </p:nvSpPr>
        <p:spPr>
          <a:xfrm>
            <a:off x="7562850" y="7105650"/>
            <a:ext cx="3181350" cy="1905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52400" indent="-152400">
              <a:spcAft>
                <a:spcPts val="1800"/>
              </a:spcAft>
              <a:buSzPct val="100000"/>
              <a:buChar char="•"/>
            </a:pPr>
            <a:r>
              <a:rPr lang="en-US" sz="1350" dirty="0">
                <a:solidFill>
                  <a:srgbClr val="1F2D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 audit trail</a:t>
            </a:r>
            <a:endParaRPr lang="en-US" sz="1350" dirty="0"/>
          </a:p>
          <a:p>
            <a:pPr marL="152400" indent="-152400">
              <a:spcAft>
                <a:spcPts val="1800"/>
              </a:spcAft>
              <a:buSzPct val="100000"/>
              <a:buChar char="•"/>
            </a:pPr>
            <a:r>
              <a:rPr lang="en-US" sz="1350" dirty="0">
                <a:solidFill>
                  <a:srgbClr val="1F2D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Evidence capture</a:t>
            </a:r>
            <a:endParaRPr lang="en-US" sz="1350" dirty="0"/>
          </a:p>
          <a:p>
            <a:pPr marL="152400" indent="-152400">
              <a:spcAft>
                <a:spcPts val="1800"/>
              </a:spcAft>
              <a:buSzPct val="100000"/>
              <a:buChar char="•"/>
            </a:pPr>
            <a:r>
              <a:rPr lang="en-US" sz="1350" dirty="0">
                <a:solidFill>
                  <a:srgbClr val="1F2D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Approved adjustments via FAS to MOTIF</a:t>
            </a:r>
            <a:endParaRPr lang="en-US" sz="1350" dirty="0"/>
          </a:p>
          <a:p>
            <a:pPr marL="152400" indent="-152400">
              <a:spcAft>
                <a:spcPts val="1800"/>
              </a:spcAft>
              <a:buSzPct val="100000"/>
              <a:buChar char="•"/>
            </a:pPr>
            <a:r>
              <a:rPr lang="en-US" sz="1350" dirty="0">
                <a:solidFill>
                  <a:srgbClr val="1F2D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Compliance &amp; regulatory support</a:t>
            </a:r>
            <a:endParaRPr lang="en-US" sz="1350" dirty="0"/>
          </a:p>
        </p:txBody>
      </p:sp>
      <p:sp>
        <p:nvSpPr>
          <p:cNvPr id="147" name="Shape 145"/>
          <p:cNvSpPr/>
          <p:nvPr/>
        </p:nvSpPr>
        <p:spPr>
          <a:xfrm>
            <a:off x="11010900" y="6496050"/>
            <a:ext cx="3467100" cy="2647950"/>
          </a:xfrm>
          <a:prstGeom prst="roundRect">
            <a:avLst>
              <a:gd name="adj" fmla="val 2878"/>
            </a:avLst>
          </a:prstGeom>
          <a:solidFill>
            <a:srgbClr val="F5FBFE"/>
          </a:solidFill>
          <a:ln w="12700">
            <a:solidFill>
              <a:srgbClr val="B3E3F7"/>
            </a:solidFill>
            <a:prstDash val="solid"/>
          </a:ln>
        </p:spPr>
      </p:sp>
      <p:sp>
        <p:nvSpPr>
          <p:cNvPr id="148" name="Shape 146"/>
          <p:cNvSpPr/>
          <p:nvPr/>
        </p:nvSpPr>
        <p:spPr>
          <a:xfrm>
            <a:off x="11010900" y="6496050"/>
            <a:ext cx="3467100" cy="47625"/>
          </a:xfrm>
          <a:prstGeom prst="rect">
            <a:avLst/>
          </a:prstGeom>
          <a:solidFill>
            <a:srgbClr val="00AEEF"/>
          </a:solidFill>
          <a:ln/>
        </p:spPr>
      </p:sp>
      <p:sp>
        <p:nvSpPr>
          <p:cNvPr id="149" name="Text 147"/>
          <p:cNvSpPr txBox="1"/>
          <p:nvPr/>
        </p:nvSpPr>
        <p:spPr>
          <a:xfrm>
            <a:off x="11182350" y="6667500"/>
            <a:ext cx="3181350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0395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Continuous Improvement</a:t>
            </a:r>
            <a:endParaRPr lang="en-US" sz="1500" dirty="0"/>
          </a:p>
        </p:txBody>
      </p:sp>
      <p:sp>
        <p:nvSpPr>
          <p:cNvPr id="150" name="Text 148"/>
          <p:cNvSpPr txBox="1"/>
          <p:nvPr/>
        </p:nvSpPr>
        <p:spPr>
          <a:xfrm>
            <a:off x="11182350" y="7105650"/>
            <a:ext cx="3181350" cy="1905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52400" indent="-152400">
              <a:spcAft>
                <a:spcPts val="1800"/>
              </a:spcAft>
              <a:buSzPct val="100000"/>
              <a:buChar char="•"/>
            </a:pPr>
            <a:r>
              <a:rPr lang="en-US" sz="1350" dirty="0">
                <a:solidFill>
                  <a:srgbClr val="1F2D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Skill gap identification (Phoenix)</a:t>
            </a:r>
            <a:endParaRPr lang="en-US" sz="1350" dirty="0"/>
          </a:p>
          <a:p>
            <a:pPr marL="152400" indent="-152400">
              <a:spcAft>
                <a:spcPts val="1800"/>
              </a:spcAft>
              <a:buSzPct val="100000"/>
              <a:buChar char="•"/>
            </a:pPr>
            <a:r>
              <a:rPr lang="en-US" sz="1350" dirty="0">
                <a:solidFill>
                  <a:srgbClr val="1F2D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 / prompt tuning</a:t>
            </a:r>
            <a:endParaRPr lang="en-US" sz="1350" dirty="0"/>
          </a:p>
          <a:p>
            <a:pPr marL="152400" indent="-152400">
              <a:spcAft>
                <a:spcPts val="1800"/>
              </a:spcAft>
              <a:buSzPct val="100000"/>
              <a:buChar char="•"/>
            </a:pPr>
            <a:r>
              <a:rPr lang="en-US" sz="1350" dirty="0">
                <a:solidFill>
                  <a:srgbClr val="1F2D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Feedback loop from users</a:t>
            </a:r>
            <a:endParaRPr lang="en-US" sz="1350" dirty="0"/>
          </a:p>
          <a:p>
            <a:pPr marL="152400" indent="-152400">
              <a:spcAft>
                <a:spcPts val="1800"/>
              </a:spcAft>
              <a:buSzPct val="100000"/>
              <a:buChar char="•"/>
            </a:pPr>
            <a:r>
              <a:rPr lang="en-US" sz="1350" dirty="0">
                <a:solidFill>
                  <a:srgbClr val="1F2D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Ongoing monitoring &amp; optimization</a:t>
            </a:r>
            <a:endParaRPr lang="en-US" sz="1350" dirty="0"/>
          </a:p>
        </p:txBody>
      </p:sp>
      <p:sp>
        <p:nvSpPr>
          <p:cNvPr id="151" name="Shape 149"/>
          <p:cNvSpPr/>
          <p:nvPr/>
        </p:nvSpPr>
        <p:spPr>
          <a:xfrm>
            <a:off x="0" y="9277350"/>
            <a:ext cx="14630400" cy="476250"/>
          </a:xfrm>
          <a:prstGeom prst="rect">
            <a:avLst/>
          </a:prstGeom>
          <a:solidFill>
            <a:srgbClr val="00395D"/>
          </a:solidFill>
          <a:ln/>
        </p:spPr>
      </p:sp>
      <p:sp>
        <p:nvSpPr>
          <p:cNvPr id="152" name="Text 150"/>
          <p:cNvSpPr txBox="1"/>
          <p:nvPr/>
        </p:nvSpPr>
        <p:spPr>
          <a:xfrm>
            <a:off x="0" y="9277350"/>
            <a:ext cx="14630400" cy="4762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Helix Architecture</a:t>
            </a:r>
            <a:pPr algn="ctr"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|   Smarter Reconciliation. Stronger Control. Greater Insight.</a:t>
            </a:r>
            <a:endParaRPr lang="en-US" sz="12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1028700"/>
          </a:xfrm>
          <a:prstGeom prst="rect">
            <a:avLst/>
          </a:prstGeom>
          <a:solidFill>
            <a:srgbClr val="00395D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304800" y="133350"/>
            <a:ext cx="11144250" cy="4762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Helix Flow: Swimlane View</a:t>
            </a:r>
            <a:endParaRPr lang="en-US" sz="3000" dirty="0"/>
          </a:p>
        </p:txBody>
      </p:sp>
      <p:sp>
        <p:nvSpPr>
          <p:cNvPr id="4" name="Text 2"/>
          <p:cNvSpPr txBox="1"/>
          <p:nvPr/>
        </p:nvSpPr>
        <p:spPr>
          <a:xfrm>
            <a:off x="304800" y="590550"/>
            <a:ext cx="1047750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D9F0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Who does what, in order, for each CATS vs MOTIF workspace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11639550" y="190500"/>
            <a:ext cx="0" cy="647700"/>
          </a:xfrm>
          <a:prstGeom prst="line">
            <a:avLst/>
          </a:prstGeom>
          <a:noFill/>
          <a:ln w="15875">
            <a:solidFill>
              <a:srgbClr val="FFFFFF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11811000" y="266700"/>
            <a:ext cx="2714625" cy="4953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Helix Architecture</a:t>
            </a:r>
            <a:endParaRPr lang="en-US" sz="2400" dirty="0"/>
          </a:p>
        </p:txBody>
      </p:sp>
      <p:sp>
        <p:nvSpPr>
          <p:cNvPr id="7" name="Shape 5"/>
          <p:cNvSpPr/>
          <p:nvPr/>
        </p:nvSpPr>
        <p:spPr>
          <a:xfrm>
            <a:off x="2000250" y="1524000"/>
            <a:ext cx="12477750" cy="952500"/>
          </a:xfrm>
          <a:prstGeom prst="rect">
            <a:avLst/>
          </a:prstGeom>
          <a:solidFill>
            <a:srgbClr val="F5FBFE"/>
          </a:solidFill>
          <a:ln/>
        </p:spPr>
      </p:sp>
      <p:sp>
        <p:nvSpPr>
          <p:cNvPr id="8" name="Shape 6"/>
          <p:cNvSpPr/>
          <p:nvPr/>
        </p:nvSpPr>
        <p:spPr>
          <a:xfrm>
            <a:off x="152400" y="1562100"/>
            <a:ext cx="1771650" cy="876300"/>
          </a:xfrm>
          <a:prstGeom prst="roundRect">
            <a:avLst>
              <a:gd name="adj" fmla="val 6522"/>
            </a:avLst>
          </a:prstGeom>
          <a:solidFill>
            <a:srgbClr val="EAF6FC"/>
          </a:solidFill>
          <a:ln/>
        </p:spPr>
      </p:sp>
      <p:sp>
        <p:nvSpPr>
          <p:cNvPr id="9" name="Shape 7"/>
          <p:cNvSpPr/>
          <p:nvPr/>
        </p:nvSpPr>
        <p:spPr>
          <a:xfrm>
            <a:off x="266700" y="1838325"/>
            <a:ext cx="323850" cy="323850"/>
          </a:xfrm>
          <a:prstGeom prst="roundRect">
            <a:avLst>
              <a:gd name="adj" fmla="val 20588"/>
            </a:avLst>
          </a:prstGeom>
          <a:solidFill>
            <a:srgbClr val="00395D"/>
          </a:solidFill>
          <a:ln/>
        </p:spPr>
      </p:sp>
      <p:pic>
        <p:nvPicPr>
          <p:cNvPr id="10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42900" y="1914525"/>
            <a:ext cx="171450" cy="171450"/>
          </a:xfrm>
          <a:prstGeom prst="rect">
            <a:avLst/>
          </a:prstGeom>
        </p:spPr>
      </p:pic>
      <p:sp>
        <p:nvSpPr>
          <p:cNvPr id="11" name="Text 8"/>
          <p:cNvSpPr txBox="1"/>
          <p:nvPr/>
        </p:nvSpPr>
        <p:spPr>
          <a:xfrm>
            <a:off x="666750" y="1600200"/>
            <a:ext cx="1219200" cy="8001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00395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MBREC</a:t>
            </a:r>
            <a:endParaRPr lang="en-US" sz="1000" dirty="0"/>
          </a:p>
          <a:p>
            <a:pPr indent="0" marL="0">
              <a:buNone/>
            </a:pPr>
            <a:r>
              <a:rPr lang="en-US" sz="950" dirty="0">
                <a:solidFill>
                  <a:srgbClr val="4A5A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 processing</a:t>
            </a:r>
            <a:endParaRPr lang="en-US" sz="1000" dirty="0"/>
          </a:p>
        </p:txBody>
      </p:sp>
      <p:sp>
        <p:nvSpPr>
          <p:cNvPr id="12" name="Shape 9"/>
          <p:cNvSpPr/>
          <p:nvPr/>
        </p:nvSpPr>
        <p:spPr>
          <a:xfrm>
            <a:off x="2000250" y="2476500"/>
            <a:ext cx="12477750" cy="95250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13" name="Shape 10"/>
          <p:cNvSpPr/>
          <p:nvPr/>
        </p:nvSpPr>
        <p:spPr>
          <a:xfrm>
            <a:off x="152400" y="2514600"/>
            <a:ext cx="1771650" cy="876300"/>
          </a:xfrm>
          <a:prstGeom prst="roundRect">
            <a:avLst>
              <a:gd name="adj" fmla="val 6522"/>
            </a:avLst>
          </a:prstGeom>
          <a:solidFill>
            <a:srgbClr val="EAF6FC"/>
          </a:solidFill>
          <a:ln/>
        </p:spPr>
      </p:sp>
      <p:sp>
        <p:nvSpPr>
          <p:cNvPr id="14" name="Shape 11"/>
          <p:cNvSpPr/>
          <p:nvPr/>
        </p:nvSpPr>
        <p:spPr>
          <a:xfrm>
            <a:off x="266700" y="2790825"/>
            <a:ext cx="323850" cy="323850"/>
          </a:xfrm>
          <a:prstGeom prst="roundRect">
            <a:avLst>
              <a:gd name="adj" fmla="val 20588"/>
            </a:avLst>
          </a:prstGeom>
          <a:solidFill>
            <a:srgbClr val="00395D"/>
          </a:solidFill>
          <a:ln/>
        </p:spPr>
      </p:sp>
      <p:pic>
        <p:nvPicPr>
          <p:cNvPr id="15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42900" y="2867025"/>
            <a:ext cx="171450" cy="171450"/>
          </a:xfrm>
          <a:prstGeom prst="rect">
            <a:avLst/>
          </a:prstGeom>
        </p:spPr>
      </p:pic>
      <p:sp>
        <p:nvSpPr>
          <p:cNvPr id="16" name="Text 12"/>
          <p:cNvSpPr txBox="1"/>
          <p:nvPr/>
        </p:nvSpPr>
        <p:spPr>
          <a:xfrm>
            <a:off x="666750" y="2552700"/>
            <a:ext cx="1219200" cy="8001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00395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Fin UX</a:t>
            </a:r>
            <a:endParaRPr lang="en-US" sz="1000" dirty="0"/>
          </a:p>
          <a:p>
            <a:pPr indent="0" marL="0">
              <a:buNone/>
            </a:pPr>
            <a:r>
              <a:rPr lang="en-US" sz="950" dirty="0">
                <a:solidFill>
                  <a:srgbClr val="4A5A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Events &amp; readiness</a:t>
            </a:r>
            <a:endParaRPr lang="en-US" sz="1000" dirty="0"/>
          </a:p>
        </p:txBody>
      </p:sp>
      <p:sp>
        <p:nvSpPr>
          <p:cNvPr id="17" name="Shape 13"/>
          <p:cNvSpPr/>
          <p:nvPr/>
        </p:nvSpPr>
        <p:spPr>
          <a:xfrm>
            <a:off x="2000250" y="3429000"/>
            <a:ext cx="12477750" cy="952500"/>
          </a:xfrm>
          <a:prstGeom prst="rect">
            <a:avLst/>
          </a:prstGeom>
          <a:solidFill>
            <a:srgbClr val="F5FBFE"/>
          </a:solidFill>
          <a:ln/>
        </p:spPr>
      </p:sp>
      <p:sp>
        <p:nvSpPr>
          <p:cNvPr id="18" name="Shape 14"/>
          <p:cNvSpPr/>
          <p:nvPr/>
        </p:nvSpPr>
        <p:spPr>
          <a:xfrm>
            <a:off x="152400" y="3467100"/>
            <a:ext cx="1771650" cy="876300"/>
          </a:xfrm>
          <a:prstGeom prst="roundRect">
            <a:avLst>
              <a:gd name="adj" fmla="val 6522"/>
            </a:avLst>
          </a:prstGeom>
          <a:solidFill>
            <a:srgbClr val="EAF6FC"/>
          </a:solidFill>
          <a:ln/>
        </p:spPr>
      </p:sp>
      <p:sp>
        <p:nvSpPr>
          <p:cNvPr id="19" name="Shape 15"/>
          <p:cNvSpPr/>
          <p:nvPr/>
        </p:nvSpPr>
        <p:spPr>
          <a:xfrm rot="5400000">
            <a:off x="266700" y="3743325"/>
            <a:ext cx="323850" cy="297942"/>
          </a:xfrm>
          <a:prstGeom prst="hexagon">
            <a:avLst/>
          </a:prstGeom>
          <a:solidFill>
            <a:srgbClr val="00395D"/>
          </a:solidFill>
          <a:ln/>
        </p:spPr>
      </p:sp>
      <p:sp>
        <p:nvSpPr>
          <p:cNvPr id="20" name="Text 16"/>
          <p:cNvSpPr txBox="1"/>
          <p:nvPr/>
        </p:nvSpPr>
        <p:spPr>
          <a:xfrm>
            <a:off x="266700" y="3743325"/>
            <a:ext cx="323850" cy="2979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28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</a:t>
            </a:r>
            <a:endParaRPr lang="en-US" sz="1428" dirty="0"/>
          </a:p>
        </p:txBody>
      </p:sp>
      <p:sp>
        <p:nvSpPr>
          <p:cNvPr id="21" name="Text 17"/>
          <p:cNvSpPr txBox="1"/>
          <p:nvPr/>
        </p:nvSpPr>
        <p:spPr>
          <a:xfrm>
            <a:off x="666750" y="3505200"/>
            <a:ext cx="1219200" cy="8001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00395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Helix Agent</a:t>
            </a:r>
            <a:endParaRPr lang="en-US" sz="1000" dirty="0"/>
          </a:p>
          <a:p>
            <a:pPr indent="0" marL="0">
              <a:buNone/>
            </a:pPr>
            <a:r>
              <a:rPr lang="en-US" sz="950" dirty="0">
                <a:solidFill>
                  <a:srgbClr val="4A5A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Orchestration</a:t>
            </a:r>
            <a:endParaRPr lang="en-US" sz="1000" dirty="0"/>
          </a:p>
        </p:txBody>
      </p:sp>
      <p:sp>
        <p:nvSpPr>
          <p:cNvPr id="22" name="Shape 18"/>
          <p:cNvSpPr/>
          <p:nvPr/>
        </p:nvSpPr>
        <p:spPr>
          <a:xfrm>
            <a:off x="2000250" y="4381500"/>
            <a:ext cx="12477750" cy="95250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23" name="Shape 19"/>
          <p:cNvSpPr/>
          <p:nvPr/>
        </p:nvSpPr>
        <p:spPr>
          <a:xfrm>
            <a:off x="152400" y="4419600"/>
            <a:ext cx="1771650" cy="876300"/>
          </a:xfrm>
          <a:prstGeom prst="roundRect">
            <a:avLst>
              <a:gd name="adj" fmla="val 6522"/>
            </a:avLst>
          </a:prstGeom>
          <a:solidFill>
            <a:srgbClr val="EAF6FC"/>
          </a:solidFill>
          <a:ln/>
        </p:spPr>
      </p:sp>
      <p:sp>
        <p:nvSpPr>
          <p:cNvPr id="24" name="Shape 20"/>
          <p:cNvSpPr/>
          <p:nvPr/>
        </p:nvSpPr>
        <p:spPr>
          <a:xfrm>
            <a:off x="266700" y="4695825"/>
            <a:ext cx="323850" cy="323850"/>
          </a:xfrm>
          <a:prstGeom prst="roundRect">
            <a:avLst>
              <a:gd name="adj" fmla="val 20588"/>
            </a:avLst>
          </a:prstGeom>
          <a:solidFill>
            <a:srgbClr val="00395D"/>
          </a:solidFill>
          <a:ln/>
        </p:spPr>
      </p:sp>
      <p:pic>
        <p:nvPicPr>
          <p:cNvPr id="25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42900" y="4772025"/>
            <a:ext cx="171450" cy="171450"/>
          </a:xfrm>
          <a:prstGeom prst="rect">
            <a:avLst/>
          </a:prstGeom>
        </p:spPr>
      </p:pic>
      <p:sp>
        <p:nvSpPr>
          <p:cNvPr id="26" name="Text 21"/>
          <p:cNvSpPr txBox="1"/>
          <p:nvPr/>
        </p:nvSpPr>
        <p:spPr>
          <a:xfrm>
            <a:off x="666750" y="4457700"/>
            <a:ext cx="1219200" cy="8001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00395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 One</a:t>
            </a:r>
            <a:endParaRPr lang="en-US" sz="1000" dirty="0"/>
          </a:p>
          <a:p>
            <a:pPr indent="0" marL="0">
              <a:buNone/>
            </a:pPr>
            <a:r>
              <a:rPr lang="en-US" sz="950" dirty="0">
                <a:solidFill>
                  <a:srgbClr val="4A5A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LLM harness + MCP</a:t>
            </a:r>
            <a:endParaRPr lang="en-US" sz="1000" dirty="0"/>
          </a:p>
        </p:txBody>
      </p:sp>
      <p:sp>
        <p:nvSpPr>
          <p:cNvPr id="27" name="Shape 22"/>
          <p:cNvSpPr/>
          <p:nvPr/>
        </p:nvSpPr>
        <p:spPr>
          <a:xfrm>
            <a:off x="2000250" y="5334000"/>
            <a:ext cx="12477750" cy="952500"/>
          </a:xfrm>
          <a:prstGeom prst="rect">
            <a:avLst/>
          </a:prstGeom>
          <a:solidFill>
            <a:srgbClr val="F5FBFE"/>
          </a:solidFill>
          <a:ln/>
        </p:spPr>
      </p:sp>
      <p:sp>
        <p:nvSpPr>
          <p:cNvPr id="28" name="Shape 23"/>
          <p:cNvSpPr/>
          <p:nvPr/>
        </p:nvSpPr>
        <p:spPr>
          <a:xfrm>
            <a:off x="152400" y="5372100"/>
            <a:ext cx="1771650" cy="876300"/>
          </a:xfrm>
          <a:prstGeom prst="roundRect">
            <a:avLst>
              <a:gd name="adj" fmla="val 6522"/>
            </a:avLst>
          </a:prstGeom>
          <a:solidFill>
            <a:srgbClr val="EAF6FC"/>
          </a:solidFill>
          <a:ln/>
        </p:spPr>
      </p:sp>
      <p:sp>
        <p:nvSpPr>
          <p:cNvPr id="29" name="Shape 24"/>
          <p:cNvSpPr/>
          <p:nvPr/>
        </p:nvSpPr>
        <p:spPr>
          <a:xfrm>
            <a:off x="266700" y="5648325"/>
            <a:ext cx="323850" cy="323850"/>
          </a:xfrm>
          <a:prstGeom prst="roundRect">
            <a:avLst>
              <a:gd name="adj" fmla="val 20588"/>
            </a:avLst>
          </a:prstGeom>
          <a:solidFill>
            <a:srgbClr val="00395D"/>
          </a:solidFill>
          <a:ln/>
        </p:spPr>
      </p:sp>
      <p:pic>
        <p:nvPicPr>
          <p:cNvPr id="30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42900" y="5724525"/>
            <a:ext cx="171450" cy="171450"/>
          </a:xfrm>
          <a:prstGeom prst="rect">
            <a:avLst/>
          </a:prstGeom>
        </p:spPr>
      </p:pic>
      <p:sp>
        <p:nvSpPr>
          <p:cNvPr id="31" name="Text 25"/>
          <p:cNvSpPr txBox="1"/>
          <p:nvPr/>
        </p:nvSpPr>
        <p:spPr>
          <a:xfrm>
            <a:off x="666750" y="5410200"/>
            <a:ext cx="1219200" cy="8001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00395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Helix UI</a:t>
            </a:r>
            <a:endParaRPr lang="en-US" sz="1000" dirty="0"/>
          </a:p>
          <a:p>
            <a:pPr indent="0" marL="0">
              <a:buNone/>
            </a:pPr>
            <a:r>
              <a:rPr lang="en-US" sz="950" dirty="0">
                <a:solidFill>
                  <a:srgbClr val="4A5A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Controller</a:t>
            </a:r>
            <a:endParaRPr lang="en-US" sz="1000" dirty="0"/>
          </a:p>
        </p:txBody>
      </p:sp>
      <p:sp>
        <p:nvSpPr>
          <p:cNvPr id="32" name="Shape 26"/>
          <p:cNvSpPr/>
          <p:nvPr/>
        </p:nvSpPr>
        <p:spPr>
          <a:xfrm>
            <a:off x="2000250" y="6286500"/>
            <a:ext cx="12477750" cy="95250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33" name="Shape 27"/>
          <p:cNvSpPr/>
          <p:nvPr/>
        </p:nvSpPr>
        <p:spPr>
          <a:xfrm>
            <a:off x="152400" y="6324600"/>
            <a:ext cx="1771650" cy="876300"/>
          </a:xfrm>
          <a:prstGeom prst="roundRect">
            <a:avLst>
              <a:gd name="adj" fmla="val 6522"/>
            </a:avLst>
          </a:prstGeom>
          <a:solidFill>
            <a:srgbClr val="EAF6FC"/>
          </a:solidFill>
          <a:ln/>
        </p:spPr>
      </p:sp>
      <p:sp>
        <p:nvSpPr>
          <p:cNvPr id="34" name="Shape 28"/>
          <p:cNvSpPr/>
          <p:nvPr/>
        </p:nvSpPr>
        <p:spPr>
          <a:xfrm>
            <a:off x="266700" y="6600825"/>
            <a:ext cx="323850" cy="323850"/>
          </a:xfrm>
          <a:prstGeom prst="roundRect">
            <a:avLst>
              <a:gd name="adj" fmla="val 20588"/>
            </a:avLst>
          </a:prstGeom>
          <a:solidFill>
            <a:srgbClr val="00395D"/>
          </a:solidFill>
          <a:ln/>
        </p:spPr>
      </p:sp>
      <p:pic>
        <p:nvPicPr>
          <p:cNvPr id="35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42900" y="6677025"/>
            <a:ext cx="171450" cy="171450"/>
          </a:xfrm>
          <a:prstGeom prst="rect">
            <a:avLst/>
          </a:prstGeom>
        </p:spPr>
      </p:pic>
      <p:sp>
        <p:nvSpPr>
          <p:cNvPr id="36" name="Text 29"/>
          <p:cNvSpPr txBox="1"/>
          <p:nvPr/>
        </p:nvSpPr>
        <p:spPr>
          <a:xfrm>
            <a:off x="666750" y="6362700"/>
            <a:ext cx="1219200" cy="8001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00395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FAS Services</a:t>
            </a:r>
            <a:endParaRPr lang="en-US" sz="1000" dirty="0"/>
          </a:p>
          <a:p>
            <a:pPr indent="0" marL="0">
              <a:buNone/>
            </a:pPr>
            <a:r>
              <a:rPr lang="en-US" sz="950" dirty="0">
                <a:solidFill>
                  <a:srgbClr val="4A5A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Posting to MOTIF</a:t>
            </a:r>
            <a:endParaRPr lang="en-US" sz="1000" dirty="0"/>
          </a:p>
        </p:txBody>
      </p:sp>
      <p:sp>
        <p:nvSpPr>
          <p:cNvPr id="37" name="Shape 30"/>
          <p:cNvSpPr/>
          <p:nvPr/>
        </p:nvSpPr>
        <p:spPr>
          <a:xfrm>
            <a:off x="2000250" y="7239000"/>
            <a:ext cx="12477750" cy="0"/>
          </a:xfrm>
          <a:prstGeom prst="line">
            <a:avLst/>
          </a:prstGeom>
          <a:noFill/>
          <a:ln w="12700">
            <a:solidFill>
              <a:srgbClr val="B3E3F7"/>
            </a:solidFill>
            <a:prstDash val="solid"/>
          </a:ln>
        </p:spPr>
      </p:sp>
      <p:sp>
        <p:nvSpPr>
          <p:cNvPr id="38" name="Shape 31"/>
          <p:cNvSpPr/>
          <p:nvPr/>
        </p:nvSpPr>
        <p:spPr>
          <a:xfrm>
            <a:off x="2000250" y="2476500"/>
            <a:ext cx="12477750" cy="0"/>
          </a:xfrm>
          <a:prstGeom prst="line">
            <a:avLst/>
          </a:prstGeom>
          <a:noFill/>
          <a:ln w="9525">
            <a:solidFill>
              <a:srgbClr val="E3EEF5"/>
            </a:solidFill>
            <a:prstDash val="solid"/>
          </a:ln>
        </p:spPr>
      </p:sp>
      <p:sp>
        <p:nvSpPr>
          <p:cNvPr id="39" name="Shape 32"/>
          <p:cNvSpPr/>
          <p:nvPr/>
        </p:nvSpPr>
        <p:spPr>
          <a:xfrm>
            <a:off x="2000250" y="3429000"/>
            <a:ext cx="12477750" cy="0"/>
          </a:xfrm>
          <a:prstGeom prst="line">
            <a:avLst/>
          </a:prstGeom>
          <a:noFill/>
          <a:ln w="9525">
            <a:solidFill>
              <a:srgbClr val="E3EEF5"/>
            </a:solidFill>
            <a:prstDash val="solid"/>
          </a:ln>
        </p:spPr>
      </p:sp>
      <p:sp>
        <p:nvSpPr>
          <p:cNvPr id="40" name="Shape 33"/>
          <p:cNvSpPr/>
          <p:nvPr/>
        </p:nvSpPr>
        <p:spPr>
          <a:xfrm>
            <a:off x="2000250" y="4381500"/>
            <a:ext cx="12477750" cy="0"/>
          </a:xfrm>
          <a:prstGeom prst="line">
            <a:avLst/>
          </a:prstGeom>
          <a:noFill/>
          <a:ln w="9525">
            <a:solidFill>
              <a:srgbClr val="E3EEF5"/>
            </a:solidFill>
            <a:prstDash val="solid"/>
          </a:ln>
        </p:spPr>
      </p:sp>
      <p:sp>
        <p:nvSpPr>
          <p:cNvPr id="41" name="Shape 34"/>
          <p:cNvSpPr/>
          <p:nvPr/>
        </p:nvSpPr>
        <p:spPr>
          <a:xfrm>
            <a:off x="2000250" y="5334000"/>
            <a:ext cx="12477750" cy="0"/>
          </a:xfrm>
          <a:prstGeom prst="line">
            <a:avLst/>
          </a:prstGeom>
          <a:noFill/>
          <a:ln w="9525">
            <a:solidFill>
              <a:srgbClr val="E3EEF5"/>
            </a:solidFill>
            <a:prstDash val="solid"/>
          </a:ln>
        </p:spPr>
      </p:sp>
      <p:sp>
        <p:nvSpPr>
          <p:cNvPr id="42" name="Shape 35"/>
          <p:cNvSpPr/>
          <p:nvPr/>
        </p:nvSpPr>
        <p:spPr>
          <a:xfrm>
            <a:off x="2000250" y="6286500"/>
            <a:ext cx="12477750" cy="0"/>
          </a:xfrm>
          <a:prstGeom prst="line">
            <a:avLst/>
          </a:prstGeom>
          <a:noFill/>
          <a:ln w="9525">
            <a:solidFill>
              <a:srgbClr val="E3EEF5"/>
            </a:solidFill>
            <a:prstDash val="solid"/>
          </a:ln>
        </p:spPr>
      </p:sp>
      <p:sp>
        <p:nvSpPr>
          <p:cNvPr id="43" name="Text 36"/>
          <p:cNvSpPr txBox="1"/>
          <p:nvPr/>
        </p:nvSpPr>
        <p:spPr>
          <a:xfrm>
            <a:off x="2057400" y="1162050"/>
            <a:ext cx="4044950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spc="100" kern="0" dirty="0">
                <a:solidFill>
                  <a:srgbClr val="00395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READINESS</a:t>
            </a:r>
            <a:endParaRPr lang="en-US" sz="1000" dirty="0"/>
          </a:p>
        </p:txBody>
      </p:sp>
      <p:sp>
        <p:nvSpPr>
          <p:cNvPr id="44" name="Shape 37"/>
          <p:cNvSpPr/>
          <p:nvPr/>
        </p:nvSpPr>
        <p:spPr>
          <a:xfrm>
            <a:off x="2057400" y="1409700"/>
            <a:ext cx="4044950" cy="0"/>
          </a:xfrm>
          <a:prstGeom prst="line">
            <a:avLst/>
          </a:prstGeom>
          <a:noFill/>
          <a:ln w="25400">
            <a:solidFill>
              <a:srgbClr val="00395D"/>
            </a:solidFill>
            <a:prstDash val="solid"/>
          </a:ln>
        </p:spPr>
      </p:sp>
      <p:sp>
        <p:nvSpPr>
          <p:cNvPr id="45" name="Text 38"/>
          <p:cNvSpPr txBox="1"/>
          <p:nvPr/>
        </p:nvSpPr>
        <p:spPr>
          <a:xfrm>
            <a:off x="6216650" y="1162050"/>
            <a:ext cx="4044950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spc="100" kern="0" dirty="0">
                <a:solidFill>
                  <a:srgbClr val="00395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AUTOMATED ANALYSIS</a:t>
            </a:r>
            <a:endParaRPr lang="en-US" sz="1000" dirty="0"/>
          </a:p>
        </p:txBody>
      </p:sp>
      <p:sp>
        <p:nvSpPr>
          <p:cNvPr id="46" name="Shape 39"/>
          <p:cNvSpPr/>
          <p:nvPr/>
        </p:nvSpPr>
        <p:spPr>
          <a:xfrm>
            <a:off x="6216650" y="1409700"/>
            <a:ext cx="4044950" cy="0"/>
          </a:xfrm>
          <a:prstGeom prst="line">
            <a:avLst/>
          </a:prstGeom>
          <a:noFill/>
          <a:ln w="25400">
            <a:solidFill>
              <a:srgbClr val="00395D"/>
            </a:solidFill>
            <a:prstDash val="solid"/>
          </a:ln>
        </p:spPr>
      </p:sp>
      <p:sp>
        <p:nvSpPr>
          <p:cNvPr id="47" name="Text 40"/>
          <p:cNvSpPr txBox="1"/>
          <p:nvPr/>
        </p:nvSpPr>
        <p:spPr>
          <a:xfrm>
            <a:off x="10375900" y="1162050"/>
            <a:ext cx="4044950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spc="100" kern="0" dirty="0">
                <a:solidFill>
                  <a:srgbClr val="00AEE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CONTROLLER REVIEW &amp; POSTING</a:t>
            </a:r>
            <a:endParaRPr lang="en-US" sz="1000" dirty="0"/>
          </a:p>
        </p:txBody>
      </p:sp>
      <p:sp>
        <p:nvSpPr>
          <p:cNvPr id="48" name="Shape 41"/>
          <p:cNvSpPr/>
          <p:nvPr/>
        </p:nvSpPr>
        <p:spPr>
          <a:xfrm>
            <a:off x="10375900" y="1409700"/>
            <a:ext cx="4044950" cy="0"/>
          </a:xfrm>
          <a:prstGeom prst="line">
            <a:avLst/>
          </a:prstGeom>
          <a:noFill/>
          <a:ln w="25400">
            <a:solidFill>
              <a:srgbClr val="00AEEF"/>
            </a:solidFill>
            <a:prstDash val="solid"/>
          </a:ln>
        </p:spPr>
      </p:sp>
      <p:sp>
        <p:nvSpPr>
          <p:cNvPr id="49" name="Shape 42"/>
          <p:cNvSpPr/>
          <p:nvPr/>
        </p:nvSpPr>
        <p:spPr>
          <a:xfrm>
            <a:off x="3303058" y="2000250"/>
            <a:ext cx="133350" cy="0"/>
          </a:xfrm>
          <a:prstGeom prst="line">
            <a:avLst/>
          </a:prstGeom>
          <a:noFill/>
          <a:ln w="19050">
            <a:solidFill>
              <a:srgbClr val="00395D"/>
            </a:solidFill>
            <a:prstDash val="solid"/>
          </a:ln>
        </p:spPr>
      </p:sp>
      <p:sp>
        <p:nvSpPr>
          <p:cNvPr id="50" name="Shape 43"/>
          <p:cNvSpPr/>
          <p:nvPr/>
        </p:nvSpPr>
        <p:spPr>
          <a:xfrm>
            <a:off x="3436408" y="2000250"/>
            <a:ext cx="0" cy="952500"/>
          </a:xfrm>
          <a:prstGeom prst="line">
            <a:avLst/>
          </a:prstGeom>
          <a:noFill/>
          <a:ln w="19050">
            <a:solidFill>
              <a:srgbClr val="00395D"/>
            </a:solidFill>
            <a:prstDash val="solid"/>
          </a:ln>
        </p:spPr>
      </p:sp>
      <p:sp>
        <p:nvSpPr>
          <p:cNvPr id="51" name="Shape 44"/>
          <p:cNvSpPr/>
          <p:nvPr/>
        </p:nvSpPr>
        <p:spPr>
          <a:xfrm>
            <a:off x="3436408" y="2952750"/>
            <a:ext cx="224367" cy="0"/>
          </a:xfrm>
          <a:prstGeom prst="line">
            <a:avLst/>
          </a:prstGeom>
          <a:noFill/>
          <a:ln w="19050">
            <a:solidFill>
              <a:srgbClr val="00395D"/>
            </a:solidFill>
            <a:prstDash val="solid"/>
            <a:tailEnd type="triangle"/>
          </a:ln>
        </p:spPr>
      </p:sp>
      <p:sp>
        <p:nvSpPr>
          <p:cNvPr id="52" name="Shape 45"/>
          <p:cNvSpPr/>
          <p:nvPr/>
        </p:nvSpPr>
        <p:spPr>
          <a:xfrm>
            <a:off x="4498975" y="2952750"/>
            <a:ext cx="357717" cy="0"/>
          </a:xfrm>
          <a:prstGeom prst="line">
            <a:avLst/>
          </a:prstGeom>
          <a:noFill/>
          <a:ln w="19050">
            <a:solidFill>
              <a:srgbClr val="00395D"/>
            </a:solidFill>
            <a:prstDash val="solid"/>
            <a:tailEnd type="triangle"/>
          </a:ln>
        </p:spPr>
      </p:sp>
      <p:sp>
        <p:nvSpPr>
          <p:cNvPr id="53" name="Shape 46"/>
          <p:cNvSpPr/>
          <p:nvPr/>
        </p:nvSpPr>
        <p:spPr>
          <a:xfrm>
            <a:off x="6075892" y="2952750"/>
            <a:ext cx="133350" cy="0"/>
          </a:xfrm>
          <a:prstGeom prst="line">
            <a:avLst/>
          </a:prstGeom>
          <a:noFill/>
          <a:ln w="19050">
            <a:solidFill>
              <a:srgbClr val="00395D"/>
            </a:solidFill>
            <a:prstDash val="solid"/>
          </a:ln>
        </p:spPr>
      </p:sp>
      <p:sp>
        <p:nvSpPr>
          <p:cNvPr id="54" name="Shape 47"/>
          <p:cNvSpPr/>
          <p:nvPr/>
        </p:nvSpPr>
        <p:spPr>
          <a:xfrm>
            <a:off x="6209242" y="2952750"/>
            <a:ext cx="0" cy="952500"/>
          </a:xfrm>
          <a:prstGeom prst="line">
            <a:avLst/>
          </a:prstGeom>
          <a:noFill/>
          <a:ln w="19050">
            <a:solidFill>
              <a:srgbClr val="00395D"/>
            </a:solidFill>
            <a:prstDash val="solid"/>
          </a:ln>
        </p:spPr>
      </p:sp>
      <p:sp>
        <p:nvSpPr>
          <p:cNvPr id="55" name="Shape 48"/>
          <p:cNvSpPr/>
          <p:nvPr/>
        </p:nvSpPr>
        <p:spPr>
          <a:xfrm>
            <a:off x="6209242" y="3905250"/>
            <a:ext cx="33867" cy="0"/>
          </a:xfrm>
          <a:prstGeom prst="line">
            <a:avLst/>
          </a:prstGeom>
          <a:noFill/>
          <a:ln w="19050">
            <a:solidFill>
              <a:srgbClr val="00395D"/>
            </a:solidFill>
            <a:prstDash val="solid"/>
            <a:tailEnd type="triangle"/>
          </a:ln>
        </p:spPr>
      </p:sp>
      <p:sp>
        <p:nvSpPr>
          <p:cNvPr id="56" name="Shape 49"/>
          <p:cNvSpPr/>
          <p:nvPr/>
        </p:nvSpPr>
        <p:spPr>
          <a:xfrm>
            <a:off x="7462308" y="3905250"/>
            <a:ext cx="133350" cy="0"/>
          </a:xfrm>
          <a:prstGeom prst="line">
            <a:avLst/>
          </a:prstGeom>
          <a:noFill/>
          <a:ln w="19050">
            <a:solidFill>
              <a:srgbClr val="00395D"/>
            </a:solidFill>
            <a:prstDash val="solid"/>
          </a:ln>
        </p:spPr>
      </p:sp>
      <p:sp>
        <p:nvSpPr>
          <p:cNvPr id="57" name="Shape 50"/>
          <p:cNvSpPr/>
          <p:nvPr/>
        </p:nvSpPr>
        <p:spPr>
          <a:xfrm>
            <a:off x="7595658" y="3905250"/>
            <a:ext cx="0" cy="952500"/>
          </a:xfrm>
          <a:prstGeom prst="line">
            <a:avLst/>
          </a:prstGeom>
          <a:noFill/>
          <a:ln w="19050">
            <a:solidFill>
              <a:srgbClr val="00395D"/>
            </a:solidFill>
            <a:prstDash val="solid"/>
          </a:ln>
        </p:spPr>
      </p:sp>
      <p:sp>
        <p:nvSpPr>
          <p:cNvPr id="58" name="Shape 51"/>
          <p:cNvSpPr/>
          <p:nvPr/>
        </p:nvSpPr>
        <p:spPr>
          <a:xfrm>
            <a:off x="7595658" y="4857750"/>
            <a:ext cx="33867" cy="0"/>
          </a:xfrm>
          <a:prstGeom prst="line">
            <a:avLst/>
          </a:prstGeom>
          <a:noFill/>
          <a:ln w="19050">
            <a:solidFill>
              <a:srgbClr val="00395D"/>
            </a:solidFill>
            <a:prstDash val="solid"/>
            <a:tailEnd type="triangle"/>
          </a:ln>
        </p:spPr>
      </p:sp>
      <p:sp>
        <p:nvSpPr>
          <p:cNvPr id="59" name="Shape 52"/>
          <p:cNvSpPr/>
          <p:nvPr/>
        </p:nvSpPr>
        <p:spPr>
          <a:xfrm>
            <a:off x="8848725" y="4857750"/>
            <a:ext cx="167217" cy="0"/>
          </a:xfrm>
          <a:prstGeom prst="line">
            <a:avLst/>
          </a:prstGeom>
          <a:noFill/>
          <a:ln w="19050">
            <a:solidFill>
              <a:srgbClr val="00395D"/>
            </a:solidFill>
            <a:prstDash val="solid"/>
            <a:tailEnd type="triangle"/>
          </a:ln>
        </p:spPr>
      </p:sp>
      <p:sp>
        <p:nvSpPr>
          <p:cNvPr id="60" name="Shape 53"/>
          <p:cNvSpPr/>
          <p:nvPr/>
        </p:nvSpPr>
        <p:spPr>
          <a:xfrm>
            <a:off x="10235142" y="4857750"/>
            <a:ext cx="133350" cy="0"/>
          </a:xfrm>
          <a:prstGeom prst="line">
            <a:avLst/>
          </a:prstGeom>
          <a:noFill/>
          <a:ln w="19050">
            <a:solidFill>
              <a:srgbClr val="00395D"/>
            </a:solidFill>
            <a:prstDash val="solid"/>
          </a:ln>
        </p:spPr>
      </p:sp>
      <p:sp>
        <p:nvSpPr>
          <p:cNvPr id="61" name="Shape 54"/>
          <p:cNvSpPr/>
          <p:nvPr/>
        </p:nvSpPr>
        <p:spPr>
          <a:xfrm>
            <a:off x="10368492" y="4857750"/>
            <a:ext cx="0" cy="952500"/>
          </a:xfrm>
          <a:prstGeom prst="line">
            <a:avLst/>
          </a:prstGeom>
          <a:noFill/>
          <a:ln w="19050">
            <a:solidFill>
              <a:srgbClr val="00395D"/>
            </a:solidFill>
            <a:prstDash val="solid"/>
          </a:ln>
        </p:spPr>
      </p:sp>
      <p:sp>
        <p:nvSpPr>
          <p:cNvPr id="62" name="Shape 55"/>
          <p:cNvSpPr/>
          <p:nvPr/>
        </p:nvSpPr>
        <p:spPr>
          <a:xfrm>
            <a:off x="10368492" y="5810250"/>
            <a:ext cx="33867" cy="0"/>
          </a:xfrm>
          <a:prstGeom prst="line">
            <a:avLst/>
          </a:prstGeom>
          <a:noFill/>
          <a:ln w="19050">
            <a:solidFill>
              <a:srgbClr val="00395D"/>
            </a:solidFill>
            <a:prstDash val="solid"/>
            <a:tailEnd type="triangle"/>
          </a:ln>
        </p:spPr>
      </p:sp>
      <p:sp>
        <p:nvSpPr>
          <p:cNvPr id="63" name="Shape 56"/>
          <p:cNvSpPr/>
          <p:nvPr/>
        </p:nvSpPr>
        <p:spPr>
          <a:xfrm>
            <a:off x="11621558" y="5810250"/>
            <a:ext cx="167217" cy="0"/>
          </a:xfrm>
          <a:prstGeom prst="line">
            <a:avLst/>
          </a:prstGeom>
          <a:noFill/>
          <a:ln w="19050">
            <a:solidFill>
              <a:srgbClr val="00395D"/>
            </a:solidFill>
            <a:prstDash val="solid"/>
            <a:tailEnd type="triangle"/>
          </a:ln>
        </p:spPr>
      </p:sp>
      <p:sp>
        <p:nvSpPr>
          <p:cNvPr id="64" name="Shape 57"/>
          <p:cNvSpPr/>
          <p:nvPr/>
        </p:nvSpPr>
        <p:spPr>
          <a:xfrm>
            <a:off x="13007975" y="5810250"/>
            <a:ext cx="133350" cy="0"/>
          </a:xfrm>
          <a:prstGeom prst="line">
            <a:avLst/>
          </a:prstGeom>
          <a:noFill/>
          <a:ln w="19050">
            <a:solidFill>
              <a:srgbClr val="00395D"/>
            </a:solidFill>
            <a:prstDash val="solid"/>
          </a:ln>
        </p:spPr>
      </p:sp>
      <p:sp>
        <p:nvSpPr>
          <p:cNvPr id="65" name="Shape 58"/>
          <p:cNvSpPr/>
          <p:nvPr/>
        </p:nvSpPr>
        <p:spPr>
          <a:xfrm>
            <a:off x="13141325" y="5810250"/>
            <a:ext cx="0" cy="952500"/>
          </a:xfrm>
          <a:prstGeom prst="line">
            <a:avLst/>
          </a:prstGeom>
          <a:noFill/>
          <a:ln w="19050">
            <a:solidFill>
              <a:srgbClr val="00395D"/>
            </a:solidFill>
            <a:prstDash val="solid"/>
          </a:ln>
        </p:spPr>
      </p:sp>
      <p:sp>
        <p:nvSpPr>
          <p:cNvPr id="66" name="Shape 59"/>
          <p:cNvSpPr/>
          <p:nvPr/>
        </p:nvSpPr>
        <p:spPr>
          <a:xfrm>
            <a:off x="13141325" y="6762750"/>
            <a:ext cx="33867" cy="0"/>
          </a:xfrm>
          <a:prstGeom prst="line">
            <a:avLst/>
          </a:prstGeom>
          <a:noFill/>
          <a:ln w="19050">
            <a:solidFill>
              <a:srgbClr val="00395D"/>
            </a:solidFill>
            <a:prstDash val="solid"/>
            <a:tailEnd type="triangle"/>
          </a:ln>
        </p:spPr>
      </p:sp>
      <p:sp>
        <p:nvSpPr>
          <p:cNvPr id="67" name="Text 60"/>
          <p:cNvSpPr txBox="1"/>
          <p:nvPr/>
        </p:nvSpPr>
        <p:spPr>
          <a:xfrm>
            <a:off x="4518025" y="2762250"/>
            <a:ext cx="285750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00395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Yes</a:t>
            </a:r>
            <a:endParaRPr lang="en-US" sz="900" dirty="0"/>
          </a:p>
        </p:txBody>
      </p:sp>
      <p:sp>
        <p:nvSpPr>
          <p:cNvPr id="68" name="Shape 61"/>
          <p:cNvSpPr/>
          <p:nvPr/>
        </p:nvSpPr>
        <p:spPr>
          <a:xfrm>
            <a:off x="4079875" y="3286125"/>
            <a:ext cx="0" cy="66675"/>
          </a:xfrm>
          <a:prstGeom prst="line">
            <a:avLst/>
          </a:prstGeom>
          <a:noFill/>
          <a:ln w="19050">
            <a:solidFill>
              <a:srgbClr val="7F8C9A"/>
            </a:solidFill>
            <a:prstDash val="dash"/>
          </a:ln>
        </p:spPr>
      </p:sp>
      <p:sp>
        <p:nvSpPr>
          <p:cNvPr id="69" name="Shape 62"/>
          <p:cNvSpPr/>
          <p:nvPr/>
        </p:nvSpPr>
        <p:spPr>
          <a:xfrm>
            <a:off x="2407708" y="3352800"/>
            <a:ext cx="1672167" cy="0"/>
          </a:xfrm>
          <a:prstGeom prst="line">
            <a:avLst/>
          </a:prstGeom>
          <a:noFill/>
          <a:ln w="19050">
            <a:solidFill>
              <a:srgbClr val="7F8C9A"/>
            </a:solidFill>
            <a:prstDash val="dash"/>
          </a:ln>
        </p:spPr>
      </p:sp>
      <p:sp>
        <p:nvSpPr>
          <p:cNvPr id="70" name="Shape 63"/>
          <p:cNvSpPr/>
          <p:nvPr/>
        </p:nvSpPr>
        <p:spPr>
          <a:xfrm>
            <a:off x="2407708" y="2286000"/>
            <a:ext cx="0" cy="1066800"/>
          </a:xfrm>
          <a:prstGeom prst="line">
            <a:avLst/>
          </a:prstGeom>
          <a:noFill/>
          <a:ln w="19050">
            <a:solidFill>
              <a:srgbClr val="7F8C9A"/>
            </a:solidFill>
            <a:prstDash val="dash"/>
            <a:headEnd type="triangle"/>
          </a:ln>
        </p:spPr>
      </p:sp>
      <p:sp>
        <p:nvSpPr>
          <p:cNvPr id="71" name="Text 64"/>
          <p:cNvSpPr txBox="1"/>
          <p:nvPr/>
        </p:nvSpPr>
        <p:spPr>
          <a:xfrm>
            <a:off x="2445808" y="3343275"/>
            <a:ext cx="1143000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5A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No: wait for events</a:t>
            </a:r>
            <a:endParaRPr lang="en-US" sz="800" dirty="0"/>
          </a:p>
        </p:txBody>
      </p:sp>
      <p:sp>
        <p:nvSpPr>
          <p:cNvPr id="72" name="Shape 65"/>
          <p:cNvSpPr/>
          <p:nvPr/>
        </p:nvSpPr>
        <p:spPr>
          <a:xfrm>
            <a:off x="11107208" y="5524500"/>
            <a:ext cx="0" cy="-590550"/>
          </a:xfrm>
          <a:prstGeom prst="line">
            <a:avLst/>
          </a:prstGeom>
          <a:noFill/>
          <a:ln w="19050">
            <a:solidFill>
              <a:srgbClr val="00AEEF"/>
            </a:solidFill>
            <a:prstDash val="dash"/>
          </a:ln>
        </p:spPr>
      </p:sp>
      <p:sp>
        <p:nvSpPr>
          <p:cNvPr id="73" name="Shape 66"/>
          <p:cNvSpPr/>
          <p:nvPr/>
        </p:nvSpPr>
        <p:spPr>
          <a:xfrm>
            <a:off x="10235142" y="4933950"/>
            <a:ext cx="872067" cy="0"/>
          </a:xfrm>
          <a:prstGeom prst="line">
            <a:avLst/>
          </a:prstGeom>
          <a:noFill/>
          <a:ln w="19050">
            <a:solidFill>
              <a:srgbClr val="00AEEF"/>
            </a:solidFill>
            <a:prstDash val="dash"/>
            <a:headEnd type="triangle"/>
          </a:ln>
        </p:spPr>
      </p:sp>
      <p:sp>
        <p:nvSpPr>
          <p:cNvPr id="74" name="Text 67"/>
          <p:cNvSpPr txBox="1"/>
          <p:nvPr/>
        </p:nvSpPr>
        <p:spPr>
          <a:xfrm>
            <a:off x="11145308" y="4991100"/>
            <a:ext cx="1047750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00AEE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Q&amp;A, same session</a:t>
            </a:r>
            <a:endParaRPr lang="en-US" sz="800" dirty="0"/>
          </a:p>
        </p:txBody>
      </p:sp>
      <p:sp>
        <p:nvSpPr>
          <p:cNvPr id="75" name="Shape 68"/>
          <p:cNvSpPr/>
          <p:nvPr/>
        </p:nvSpPr>
        <p:spPr>
          <a:xfrm>
            <a:off x="9854142" y="5210175"/>
            <a:ext cx="1028700" cy="24765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2700">
            <a:solidFill>
              <a:srgbClr val="9AA8BA"/>
            </a:solidFill>
            <a:prstDash val="solid"/>
          </a:ln>
        </p:spPr>
      </p:sp>
      <p:pic>
        <p:nvPicPr>
          <p:cNvPr id="76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930342" y="5267325"/>
            <a:ext cx="133350" cy="133350"/>
          </a:xfrm>
          <a:prstGeom prst="rect">
            <a:avLst/>
          </a:prstGeom>
        </p:spPr>
      </p:pic>
      <p:sp>
        <p:nvSpPr>
          <p:cNvPr id="77" name="Text 69"/>
          <p:cNvSpPr txBox="1"/>
          <p:nvPr/>
        </p:nvSpPr>
        <p:spPr>
          <a:xfrm>
            <a:off x="10101792" y="5210175"/>
            <a:ext cx="762000" cy="2476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5A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After X time</a:t>
            </a:r>
            <a:endParaRPr lang="en-US" sz="900" dirty="0"/>
          </a:p>
        </p:txBody>
      </p:sp>
      <p:sp>
        <p:nvSpPr>
          <p:cNvPr id="78" name="Shape 70"/>
          <p:cNvSpPr/>
          <p:nvPr/>
        </p:nvSpPr>
        <p:spPr>
          <a:xfrm>
            <a:off x="2083858" y="1714500"/>
            <a:ext cx="1219200" cy="57150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9050">
            <a:solidFill>
              <a:srgbClr val="00395D"/>
            </a:solidFill>
            <a:prstDash val="solid"/>
          </a:ln>
        </p:spPr>
      </p:sp>
      <p:sp>
        <p:nvSpPr>
          <p:cNvPr id="79" name="Text 71"/>
          <p:cNvSpPr txBox="1"/>
          <p:nvPr/>
        </p:nvSpPr>
        <p:spPr>
          <a:xfrm>
            <a:off x="2293408" y="1733550"/>
            <a:ext cx="971550" cy="533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F2D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Process recs, publish book availability</a:t>
            </a:r>
            <a:endParaRPr lang="en-US" sz="950" dirty="0"/>
          </a:p>
        </p:txBody>
      </p:sp>
      <p:sp>
        <p:nvSpPr>
          <p:cNvPr id="80" name="Shape 72"/>
          <p:cNvSpPr/>
          <p:nvPr/>
        </p:nvSpPr>
        <p:spPr>
          <a:xfrm>
            <a:off x="1998133" y="1628775"/>
            <a:ext cx="228600" cy="228600"/>
          </a:xfrm>
          <a:prstGeom prst="ellipse">
            <a:avLst/>
          </a:prstGeom>
          <a:solidFill>
            <a:srgbClr val="00395D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81" name="Text 73"/>
          <p:cNvSpPr txBox="1"/>
          <p:nvPr/>
        </p:nvSpPr>
        <p:spPr>
          <a:xfrm>
            <a:off x="1998133" y="1628775"/>
            <a:ext cx="228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000" dirty="0"/>
          </a:p>
        </p:txBody>
      </p:sp>
      <p:sp>
        <p:nvSpPr>
          <p:cNvPr id="82" name="Shape 74"/>
          <p:cNvSpPr/>
          <p:nvPr/>
        </p:nvSpPr>
        <p:spPr>
          <a:xfrm>
            <a:off x="3660775" y="2619375"/>
            <a:ext cx="838200" cy="666750"/>
          </a:xfrm>
          <a:prstGeom prst="diamond">
            <a:avLst/>
          </a:prstGeom>
          <a:solidFill>
            <a:srgbClr val="FFFFFF"/>
          </a:solidFill>
          <a:ln w="19050">
            <a:solidFill>
              <a:srgbClr val="00AEEF"/>
            </a:solidFill>
            <a:prstDash val="solid"/>
          </a:ln>
        </p:spPr>
      </p:sp>
      <p:sp>
        <p:nvSpPr>
          <p:cNvPr id="83" name="Text 75"/>
          <p:cNvSpPr txBox="1"/>
          <p:nvPr/>
        </p:nvSpPr>
        <p:spPr>
          <a:xfrm>
            <a:off x="3756025" y="2762250"/>
            <a:ext cx="64770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0395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X books in?</a:t>
            </a:r>
            <a:endParaRPr lang="en-US" sz="900" dirty="0"/>
          </a:p>
        </p:txBody>
      </p:sp>
      <p:sp>
        <p:nvSpPr>
          <p:cNvPr id="84" name="Shape 76"/>
          <p:cNvSpPr/>
          <p:nvPr/>
        </p:nvSpPr>
        <p:spPr>
          <a:xfrm>
            <a:off x="3584575" y="2571750"/>
            <a:ext cx="228600" cy="228600"/>
          </a:xfrm>
          <a:prstGeom prst="ellipse">
            <a:avLst/>
          </a:prstGeom>
          <a:solidFill>
            <a:srgbClr val="00395D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85" name="Text 77"/>
          <p:cNvSpPr txBox="1"/>
          <p:nvPr/>
        </p:nvSpPr>
        <p:spPr>
          <a:xfrm>
            <a:off x="3584575" y="2571750"/>
            <a:ext cx="228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000" dirty="0"/>
          </a:p>
        </p:txBody>
      </p:sp>
      <p:sp>
        <p:nvSpPr>
          <p:cNvPr id="86" name="Shape 78"/>
          <p:cNvSpPr/>
          <p:nvPr/>
        </p:nvSpPr>
        <p:spPr>
          <a:xfrm>
            <a:off x="4856692" y="2667000"/>
            <a:ext cx="1219200" cy="57150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9050">
            <a:solidFill>
              <a:srgbClr val="00395D"/>
            </a:solidFill>
            <a:prstDash val="solid"/>
          </a:ln>
        </p:spPr>
      </p:sp>
      <p:sp>
        <p:nvSpPr>
          <p:cNvPr id="87" name="Text 79"/>
          <p:cNvSpPr txBox="1"/>
          <p:nvPr/>
        </p:nvSpPr>
        <p:spPr>
          <a:xfrm>
            <a:off x="5066242" y="2686050"/>
            <a:ext cx="971550" cy="533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F2D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Emit final Ready event</a:t>
            </a:r>
            <a:endParaRPr lang="en-US" sz="950" dirty="0"/>
          </a:p>
        </p:txBody>
      </p:sp>
      <p:sp>
        <p:nvSpPr>
          <p:cNvPr id="88" name="Shape 80"/>
          <p:cNvSpPr/>
          <p:nvPr/>
        </p:nvSpPr>
        <p:spPr>
          <a:xfrm>
            <a:off x="4770967" y="2581275"/>
            <a:ext cx="228600" cy="228600"/>
          </a:xfrm>
          <a:prstGeom prst="ellipse">
            <a:avLst/>
          </a:prstGeom>
          <a:solidFill>
            <a:srgbClr val="00395D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89" name="Text 81"/>
          <p:cNvSpPr txBox="1"/>
          <p:nvPr/>
        </p:nvSpPr>
        <p:spPr>
          <a:xfrm>
            <a:off x="4770967" y="2581275"/>
            <a:ext cx="228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000" dirty="0"/>
          </a:p>
        </p:txBody>
      </p:sp>
      <p:sp>
        <p:nvSpPr>
          <p:cNvPr id="90" name="Shape 82"/>
          <p:cNvSpPr/>
          <p:nvPr/>
        </p:nvSpPr>
        <p:spPr>
          <a:xfrm>
            <a:off x="6243108" y="3619500"/>
            <a:ext cx="1219200" cy="57150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9050">
            <a:solidFill>
              <a:srgbClr val="00395D"/>
            </a:solidFill>
            <a:prstDash val="solid"/>
          </a:ln>
        </p:spPr>
      </p:sp>
      <p:sp>
        <p:nvSpPr>
          <p:cNvPr id="91" name="Text 83"/>
          <p:cNvSpPr txBox="1"/>
          <p:nvPr/>
        </p:nvSpPr>
        <p:spPr>
          <a:xfrm>
            <a:off x="6452658" y="3638550"/>
            <a:ext cx="971550" cy="533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F2D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Validate workspace, start session</a:t>
            </a:r>
            <a:endParaRPr lang="en-US" sz="950" dirty="0"/>
          </a:p>
        </p:txBody>
      </p:sp>
      <p:sp>
        <p:nvSpPr>
          <p:cNvPr id="92" name="Shape 84"/>
          <p:cNvSpPr/>
          <p:nvPr/>
        </p:nvSpPr>
        <p:spPr>
          <a:xfrm>
            <a:off x="6157383" y="3533775"/>
            <a:ext cx="228600" cy="228600"/>
          </a:xfrm>
          <a:prstGeom prst="ellipse">
            <a:avLst/>
          </a:prstGeom>
          <a:solidFill>
            <a:srgbClr val="00395D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93" name="Text 85"/>
          <p:cNvSpPr txBox="1"/>
          <p:nvPr/>
        </p:nvSpPr>
        <p:spPr>
          <a:xfrm>
            <a:off x="6157383" y="3533775"/>
            <a:ext cx="228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000" dirty="0"/>
          </a:p>
        </p:txBody>
      </p:sp>
      <p:sp>
        <p:nvSpPr>
          <p:cNvPr id="94" name="Shape 86"/>
          <p:cNvSpPr/>
          <p:nvPr/>
        </p:nvSpPr>
        <p:spPr>
          <a:xfrm>
            <a:off x="7629525" y="4572000"/>
            <a:ext cx="1219200" cy="57150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9050">
            <a:solidFill>
              <a:srgbClr val="00395D"/>
            </a:solidFill>
            <a:prstDash val="solid"/>
          </a:ln>
        </p:spPr>
      </p:sp>
      <p:sp>
        <p:nvSpPr>
          <p:cNvPr id="95" name="Text 87"/>
          <p:cNvSpPr txBox="1"/>
          <p:nvPr/>
        </p:nvSpPr>
        <p:spPr>
          <a:xfrm>
            <a:off x="7839075" y="4591050"/>
            <a:ext cx="971550" cy="533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F2D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Fetch MB Rec and other data (MCP)</a:t>
            </a:r>
            <a:endParaRPr lang="en-US" sz="950" dirty="0"/>
          </a:p>
        </p:txBody>
      </p:sp>
      <p:sp>
        <p:nvSpPr>
          <p:cNvPr id="96" name="Shape 88"/>
          <p:cNvSpPr/>
          <p:nvPr/>
        </p:nvSpPr>
        <p:spPr>
          <a:xfrm>
            <a:off x="7543800" y="4486275"/>
            <a:ext cx="228600" cy="228600"/>
          </a:xfrm>
          <a:prstGeom prst="ellipse">
            <a:avLst/>
          </a:prstGeom>
          <a:solidFill>
            <a:srgbClr val="00395D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97" name="Text 89"/>
          <p:cNvSpPr txBox="1"/>
          <p:nvPr/>
        </p:nvSpPr>
        <p:spPr>
          <a:xfrm>
            <a:off x="7543800" y="4486275"/>
            <a:ext cx="228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000" dirty="0"/>
          </a:p>
        </p:txBody>
      </p:sp>
      <p:sp>
        <p:nvSpPr>
          <p:cNvPr id="98" name="Shape 90"/>
          <p:cNvSpPr/>
          <p:nvPr/>
        </p:nvSpPr>
        <p:spPr>
          <a:xfrm>
            <a:off x="9015942" y="4572000"/>
            <a:ext cx="1219200" cy="57150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9050">
            <a:solidFill>
              <a:srgbClr val="00395D"/>
            </a:solidFill>
            <a:prstDash val="solid"/>
          </a:ln>
        </p:spPr>
      </p:sp>
      <p:sp>
        <p:nvSpPr>
          <p:cNvPr id="99" name="Text 91"/>
          <p:cNvSpPr txBox="1"/>
          <p:nvPr/>
        </p:nvSpPr>
        <p:spPr>
          <a:xfrm>
            <a:off x="9225492" y="4591050"/>
            <a:ext cx="971550" cy="533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F2D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Classify, explain, recommend</a:t>
            </a:r>
            <a:endParaRPr lang="en-US" sz="950" dirty="0"/>
          </a:p>
        </p:txBody>
      </p:sp>
      <p:sp>
        <p:nvSpPr>
          <p:cNvPr id="100" name="Shape 92"/>
          <p:cNvSpPr/>
          <p:nvPr/>
        </p:nvSpPr>
        <p:spPr>
          <a:xfrm>
            <a:off x="8930217" y="4486275"/>
            <a:ext cx="228600" cy="228600"/>
          </a:xfrm>
          <a:prstGeom prst="ellipse">
            <a:avLst/>
          </a:prstGeom>
          <a:solidFill>
            <a:srgbClr val="00395D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101" name="Text 93"/>
          <p:cNvSpPr txBox="1"/>
          <p:nvPr/>
        </p:nvSpPr>
        <p:spPr>
          <a:xfrm>
            <a:off x="8930217" y="4486275"/>
            <a:ext cx="228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000" dirty="0"/>
          </a:p>
        </p:txBody>
      </p:sp>
      <p:sp>
        <p:nvSpPr>
          <p:cNvPr id="102" name="Shape 94"/>
          <p:cNvSpPr/>
          <p:nvPr/>
        </p:nvSpPr>
        <p:spPr>
          <a:xfrm>
            <a:off x="10402358" y="5524500"/>
            <a:ext cx="1219200" cy="57150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9050">
            <a:solidFill>
              <a:srgbClr val="00AEEF"/>
            </a:solidFill>
            <a:prstDash val="solid"/>
          </a:ln>
        </p:spPr>
      </p:sp>
      <p:sp>
        <p:nvSpPr>
          <p:cNvPr id="103" name="Text 95"/>
          <p:cNvSpPr txBox="1"/>
          <p:nvPr/>
        </p:nvSpPr>
        <p:spPr>
          <a:xfrm>
            <a:off x="10611908" y="5543550"/>
            <a:ext cx="971550" cy="533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F2D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Controller reviews and asks</a:t>
            </a:r>
            <a:endParaRPr lang="en-US" sz="950" dirty="0"/>
          </a:p>
        </p:txBody>
      </p:sp>
      <p:sp>
        <p:nvSpPr>
          <p:cNvPr id="104" name="Shape 96"/>
          <p:cNvSpPr/>
          <p:nvPr/>
        </p:nvSpPr>
        <p:spPr>
          <a:xfrm>
            <a:off x="10316633" y="5438775"/>
            <a:ext cx="228600" cy="228600"/>
          </a:xfrm>
          <a:prstGeom prst="ellipse">
            <a:avLst/>
          </a:prstGeom>
          <a:solidFill>
            <a:srgbClr val="00AEEF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105" name="Text 97"/>
          <p:cNvSpPr txBox="1"/>
          <p:nvPr/>
        </p:nvSpPr>
        <p:spPr>
          <a:xfrm>
            <a:off x="10316633" y="5438775"/>
            <a:ext cx="228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1000" dirty="0"/>
          </a:p>
        </p:txBody>
      </p:sp>
      <p:sp>
        <p:nvSpPr>
          <p:cNvPr id="106" name="Shape 98"/>
          <p:cNvSpPr/>
          <p:nvPr/>
        </p:nvSpPr>
        <p:spPr>
          <a:xfrm>
            <a:off x="11788775" y="5524500"/>
            <a:ext cx="1219200" cy="57150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9050">
            <a:solidFill>
              <a:srgbClr val="00AEEF"/>
            </a:solidFill>
            <a:prstDash val="solid"/>
          </a:ln>
        </p:spPr>
      </p:sp>
      <p:sp>
        <p:nvSpPr>
          <p:cNvPr id="107" name="Text 99"/>
          <p:cNvSpPr txBox="1"/>
          <p:nvPr/>
        </p:nvSpPr>
        <p:spPr>
          <a:xfrm>
            <a:off x="11998325" y="5543550"/>
            <a:ext cx="971550" cy="533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F2D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Controller approves adjustment</a:t>
            </a:r>
            <a:endParaRPr lang="en-US" sz="950" dirty="0"/>
          </a:p>
        </p:txBody>
      </p:sp>
      <p:sp>
        <p:nvSpPr>
          <p:cNvPr id="108" name="Shape 100"/>
          <p:cNvSpPr/>
          <p:nvPr/>
        </p:nvSpPr>
        <p:spPr>
          <a:xfrm>
            <a:off x="11703050" y="5438775"/>
            <a:ext cx="228600" cy="228600"/>
          </a:xfrm>
          <a:prstGeom prst="ellipse">
            <a:avLst/>
          </a:prstGeom>
          <a:solidFill>
            <a:srgbClr val="00AEEF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109" name="Text 101"/>
          <p:cNvSpPr txBox="1"/>
          <p:nvPr/>
        </p:nvSpPr>
        <p:spPr>
          <a:xfrm>
            <a:off x="11703050" y="5438775"/>
            <a:ext cx="228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1000" dirty="0"/>
          </a:p>
        </p:txBody>
      </p:sp>
      <p:sp>
        <p:nvSpPr>
          <p:cNvPr id="110" name="Shape 102"/>
          <p:cNvSpPr/>
          <p:nvPr/>
        </p:nvSpPr>
        <p:spPr>
          <a:xfrm>
            <a:off x="13175192" y="6477000"/>
            <a:ext cx="1219200" cy="57150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9050">
            <a:solidFill>
              <a:srgbClr val="00AEEF"/>
            </a:solidFill>
            <a:prstDash val="solid"/>
          </a:ln>
        </p:spPr>
      </p:sp>
      <p:sp>
        <p:nvSpPr>
          <p:cNvPr id="111" name="Text 103"/>
          <p:cNvSpPr txBox="1"/>
          <p:nvPr/>
        </p:nvSpPr>
        <p:spPr>
          <a:xfrm>
            <a:off x="13384742" y="6496050"/>
            <a:ext cx="971550" cy="533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F2D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Post adjustment to MOTIF</a:t>
            </a:r>
            <a:endParaRPr lang="en-US" sz="950" dirty="0"/>
          </a:p>
        </p:txBody>
      </p:sp>
      <p:sp>
        <p:nvSpPr>
          <p:cNvPr id="112" name="Shape 104"/>
          <p:cNvSpPr/>
          <p:nvPr/>
        </p:nvSpPr>
        <p:spPr>
          <a:xfrm>
            <a:off x="13089467" y="6391275"/>
            <a:ext cx="228600" cy="228600"/>
          </a:xfrm>
          <a:prstGeom prst="ellipse">
            <a:avLst/>
          </a:prstGeom>
          <a:solidFill>
            <a:srgbClr val="00AEEF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113" name="Text 105"/>
          <p:cNvSpPr txBox="1"/>
          <p:nvPr/>
        </p:nvSpPr>
        <p:spPr>
          <a:xfrm>
            <a:off x="13089467" y="6391275"/>
            <a:ext cx="228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lang="en-US" sz="1000" dirty="0"/>
          </a:p>
        </p:txBody>
      </p:sp>
      <p:sp>
        <p:nvSpPr>
          <p:cNvPr id="114" name="Shape 106"/>
          <p:cNvSpPr/>
          <p:nvPr/>
        </p:nvSpPr>
        <p:spPr>
          <a:xfrm>
            <a:off x="152400" y="7391400"/>
            <a:ext cx="7124700" cy="933450"/>
          </a:xfrm>
          <a:prstGeom prst="roundRect">
            <a:avLst>
              <a:gd name="adj" fmla="val 8163"/>
            </a:avLst>
          </a:prstGeom>
          <a:solidFill>
            <a:srgbClr val="F5F7FA"/>
          </a:solidFill>
          <a:ln w="12700">
            <a:solidFill>
              <a:srgbClr val="C9D2DC"/>
            </a:solidFill>
            <a:prstDash val="solid"/>
          </a:ln>
        </p:spPr>
      </p:sp>
      <p:sp>
        <p:nvSpPr>
          <p:cNvPr id="115" name="Shape 107"/>
          <p:cNvSpPr/>
          <p:nvPr/>
        </p:nvSpPr>
        <p:spPr>
          <a:xfrm>
            <a:off x="266700" y="7600950"/>
            <a:ext cx="495300" cy="495300"/>
          </a:xfrm>
          <a:prstGeom prst="roundRect">
            <a:avLst>
              <a:gd name="adj" fmla="val 19231"/>
            </a:avLst>
          </a:prstGeom>
          <a:solidFill>
            <a:srgbClr val="5A6B82"/>
          </a:solidFill>
          <a:ln/>
        </p:spPr>
      </p:sp>
      <p:pic>
        <p:nvPicPr>
          <p:cNvPr id="116" name="Image 6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00050" y="7734300"/>
            <a:ext cx="228600" cy="228600"/>
          </a:xfrm>
          <a:prstGeom prst="rect">
            <a:avLst/>
          </a:prstGeom>
        </p:spPr>
      </p:pic>
      <p:sp>
        <p:nvSpPr>
          <p:cNvPr id="117" name="Text 108"/>
          <p:cNvSpPr txBox="1"/>
          <p:nvPr/>
        </p:nvSpPr>
        <p:spPr>
          <a:xfrm>
            <a:off x="895350" y="7486650"/>
            <a:ext cx="6286500" cy="7429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00395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Application Audit (existing)</a:t>
            </a:r>
            <a:endParaRPr lang="en-US" sz="1000" dirty="0"/>
          </a:p>
          <a:p>
            <a:pPr indent="0" marL="0">
              <a:buNone/>
            </a:pPr>
            <a:r>
              <a:rPr lang="en-US" sz="1050" dirty="0">
                <a:solidFill>
                  <a:srgbClr val="1F2D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MBREC and One Fin UX events, controller approvals, FAS postings</a:t>
            </a:r>
            <a:endParaRPr lang="en-US" sz="1000" dirty="0"/>
          </a:p>
        </p:txBody>
      </p:sp>
      <p:sp>
        <p:nvSpPr>
          <p:cNvPr id="118" name="Shape 109"/>
          <p:cNvSpPr/>
          <p:nvPr/>
        </p:nvSpPr>
        <p:spPr>
          <a:xfrm>
            <a:off x="7353300" y="7391400"/>
            <a:ext cx="7124700" cy="933450"/>
          </a:xfrm>
          <a:prstGeom prst="roundRect">
            <a:avLst>
              <a:gd name="adj" fmla="val 8163"/>
            </a:avLst>
          </a:prstGeom>
          <a:solidFill>
            <a:srgbClr val="EAF6FC"/>
          </a:solidFill>
          <a:ln w="12700">
            <a:solidFill>
              <a:srgbClr val="B3E3F7"/>
            </a:solidFill>
            <a:prstDash val="solid"/>
          </a:ln>
        </p:spPr>
      </p:sp>
      <p:sp>
        <p:nvSpPr>
          <p:cNvPr id="119" name="Shape 110"/>
          <p:cNvSpPr/>
          <p:nvPr/>
        </p:nvSpPr>
        <p:spPr>
          <a:xfrm>
            <a:off x="7467600" y="7600950"/>
            <a:ext cx="495300" cy="495300"/>
          </a:xfrm>
          <a:prstGeom prst="roundRect">
            <a:avLst>
              <a:gd name="adj" fmla="val 19231"/>
            </a:avLst>
          </a:prstGeom>
          <a:solidFill>
            <a:srgbClr val="00395D"/>
          </a:solidFill>
          <a:ln/>
        </p:spPr>
      </p:sp>
      <p:pic>
        <p:nvPicPr>
          <p:cNvPr id="120" name="Image 7" descr="preencoded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7600950" y="7734300"/>
            <a:ext cx="228600" cy="228600"/>
          </a:xfrm>
          <a:prstGeom prst="rect">
            <a:avLst/>
          </a:prstGeom>
        </p:spPr>
      </p:pic>
      <p:sp>
        <p:nvSpPr>
          <p:cNvPr id="121" name="Text 111"/>
          <p:cNvSpPr txBox="1"/>
          <p:nvPr/>
        </p:nvSpPr>
        <p:spPr>
          <a:xfrm>
            <a:off x="8096250" y="7486650"/>
            <a:ext cx="6286500" cy="7429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00395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Phoenix Eyes (AI only)</a:t>
            </a:r>
            <a:endParaRPr lang="en-US" sz="1000" dirty="0"/>
          </a:p>
          <a:p>
            <a:pPr indent="0" marL="0">
              <a:buNone/>
            </a:pPr>
            <a:r>
              <a:rPr lang="en-US" sz="1050" dirty="0">
                <a:solidFill>
                  <a:srgbClr val="1F2D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Helix Agent and Agent One sessions: traces, prompts, tool calls, skill gaps, LLM health</a:t>
            </a:r>
            <a:endParaRPr lang="en-US" sz="1000" dirty="0"/>
          </a:p>
        </p:txBody>
      </p:sp>
      <p:sp>
        <p:nvSpPr>
          <p:cNvPr id="122" name="Text 112"/>
          <p:cNvSpPr txBox="1"/>
          <p:nvPr/>
        </p:nvSpPr>
        <p:spPr>
          <a:xfrm>
            <a:off x="171450" y="8420100"/>
            <a:ext cx="28575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00395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controls</a:t>
            </a:r>
            <a:endParaRPr lang="en-US" sz="1150" dirty="0"/>
          </a:p>
        </p:txBody>
      </p:sp>
      <p:sp>
        <p:nvSpPr>
          <p:cNvPr id="123" name="Shape 113"/>
          <p:cNvSpPr/>
          <p:nvPr/>
        </p:nvSpPr>
        <p:spPr>
          <a:xfrm>
            <a:off x="171450" y="8724900"/>
            <a:ext cx="381000" cy="381000"/>
          </a:xfrm>
          <a:prstGeom prst="ellipse">
            <a:avLst/>
          </a:prstGeom>
          <a:solidFill>
            <a:srgbClr val="EAF6FC"/>
          </a:solidFill>
          <a:ln/>
        </p:spPr>
      </p:sp>
      <p:pic>
        <p:nvPicPr>
          <p:cNvPr id="124" name="Image 8" descr="preencoded.png">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276225" y="8829675"/>
            <a:ext cx="171450" cy="171450"/>
          </a:xfrm>
          <a:prstGeom prst="rect">
            <a:avLst/>
          </a:prstGeom>
        </p:spPr>
      </p:pic>
      <p:sp>
        <p:nvSpPr>
          <p:cNvPr id="125" name="Text 114"/>
          <p:cNvSpPr txBox="1"/>
          <p:nvPr/>
        </p:nvSpPr>
        <p:spPr>
          <a:xfrm>
            <a:off x="647700" y="8667750"/>
            <a:ext cx="3028950" cy="4953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F2D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Stored evidence checked first</a:t>
            </a:r>
            <a:endParaRPr lang="en-US" sz="1150" dirty="0"/>
          </a:p>
        </p:txBody>
      </p:sp>
      <p:sp>
        <p:nvSpPr>
          <p:cNvPr id="126" name="Shape 115"/>
          <p:cNvSpPr/>
          <p:nvPr/>
        </p:nvSpPr>
        <p:spPr>
          <a:xfrm>
            <a:off x="3771900" y="8724900"/>
            <a:ext cx="381000" cy="381000"/>
          </a:xfrm>
          <a:prstGeom prst="ellipse">
            <a:avLst/>
          </a:prstGeom>
          <a:solidFill>
            <a:srgbClr val="EAF6FC"/>
          </a:solidFill>
          <a:ln/>
        </p:spPr>
      </p:sp>
      <p:pic>
        <p:nvPicPr>
          <p:cNvPr id="127" name="Image 9" descr="preencoded.png">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3876675" y="8829675"/>
            <a:ext cx="171450" cy="171450"/>
          </a:xfrm>
          <a:prstGeom prst="rect">
            <a:avLst/>
          </a:prstGeom>
        </p:spPr>
      </p:pic>
      <p:sp>
        <p:nvSpPr>
          <p:cNvPr id="128" name="Text 116"/>
          <p:cNvSpPr txBox="1"/>
          <p:nvPr/>
        </p:nvSpPr>
        <p:spPr>
          <a:xfrm>
            <a:off x="4248150" y="8667750"/>
            <a:ext cx="3028950" cy="4953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F2D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from MB Rec and other sources only</a:t>
            </a:r>
            <a:endParaRPr lang="en-US" sz="1150" dirty="0"/>
          </a:p>
        </p:txBody>
      </p:sp>
      <p:sp>
        <p:nvSpPr>
          <p:cNvPr id="129" name="Shape 117"/>
          <p:cNvSpPr/>
          <p:nvPr/>
        </p:nvSpPr>
        <p:spPr>
          <a:xfrm>
            <a:off x="7372350" y="8724900"/>
            <a:ext cx="381000" cy="381000"/>
          </a:xfrm>
          <a:prstGeom prst="ellipse">
            <a:avLst/>
          </a:prstGeom>
          <a:solidFill>
            <a:srgbClr val="EAF6FC"/>
          </a:solidFill>
          <a:ln/>
        </p:spPr>
      </p:sp>
      <p:pic>
        <p:nvPicPr>
          <p:cNvPr id="130" name="Image 10" descr="preencoded.png">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7477125" y="8829675"/>
            <a:ext cx="171450" cy="171450"/>
          </a:xfrm>
          <a:prstGeom prst="rect">
            <a:avLst/>
          </a:prstGeom>
        </p:spPr>
      </p:pic>
      <p:sp>
        <p:nvSpPr>
          <p:cNvPr id="131" name="Text 118"/>
          <p:cNvSpPr txBox="1"/>
          <p:nvPr/>
        </p:nvSpPr>
        <p:spPr>
          <a:xfrm>
            <a:off x="7848600" y="8667750"/>
            <a:ext cx="3028950" cy="4953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F2D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Comparison in code, not the LLM</a:t>
            </a:r>
            <a:endParaRPr lang="en-US" sz="1150" dirty="0"/>
          </a:p>
        </p:txBody>
      </p:sp>
      <p:sp>
        <p:nvSpPr>
          <p:cNvPr id="132" name="Shape 119"/>
          <p:cNvSpPr/>
          <p:nvPr/>
        </p:nvSpPr>
        <p:spPr>
          <a:xfrm>
            <a:off x="10972800" y="8724900"/>
            <a:ext cx="381000" cy="381000"/>
          </a:xfrm>
          <a:prstGeom prst="ellipse">
            <a:avLst/>
          </a:prstGeom>
          <a:solidFill>
            <a:srgbClr val="EAF6FC"/>
          </a:solidFill>
          <a:ln/>
        </p:spPr>
      </p:sp>
      <p:pic>
        <p:nvPicPr>
          <p:cNvPr id="133" name="Image 11" descr="preencoded.png">    </p:cNvPr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11077575" y="8829675"/>
            <a:ext cx="171450" cy="171450"/>
          </a:xfrm>
          <a:prstGeom prst="rect">
            <a:avLst/>
          </a:prstGeom>
        </p:spPr>
      </p:pic>
      <p:sp>
        <p:nvSpPr>
          <p:cNvPr id="134" name="Text 120"/>
          <p:cNvSpPr txBox="1"/>
          <p:nvPr/>
        </p:nvSpPr>
        <p:spPr>
          <a:xfrm>
            <a:off x="11449050" y="8667750"/>
            <a:ext cx="3028950" cy="4953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F2D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Controller approves before FAS posts</a:t>
            </a:r>
            <a:endParaRPr lang="en-US" sz="1150" dirty="0"/>
          </a:p>
        </p:txBody>
      </p:sp>
      <p:sp>
        <p:nvSpPr>
          <p:cNvPr id="135" name="Shape 121"/>
          <p:cNvSpPr/>
          <p:nvPr/>
        </p:nvSpPr>
        <p:spPr>
          <a:xfrm>
            <a:off x="0" y="9277350"/>
            <a:ext cx="14630400" cy="476250"/>
          </a:xfrm>
          <a:prstGeom prst="rect">
            <a:avLst/>
          </a:prstGeom>
          <a:solidFill>
            <a:srgbClr val="00395D"/>
          </a:solidFill>
          <a:ln/>
        </p:spPr>
      </p:sp>
      <p:sp>
        <p:nvSpPr>
          <p:cNvPr id="136" name="Text 122"/>
          <p:cNvSpPr txBox="1"/>
          <p:nvPr/>
        </p:nvSpPr>
        <p:spPr>
          <a:xfrm>
            <a:off x="0" y="9277350"/>
            <a:ext cx="14630400" cy="4762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Helix Architecture</a:t>
            </a:r>
            <a:pPr algn="ctr"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|   Smarter Reconciliation. Stronger Control. Greater Insight.</a:t>
            </a:r>
            <a:endParaRPr lang="en-US" sz="12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685800"/>
          </a:xfrm>
          <a:prstGeom prst="rect">
            <a:avLst/>
          </a:prstGeom>
          <a:solidFill>
            <a:srgbClr val="00395D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304800" y="0"/>
            <a:ext cx="114300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 One Investigation Skill</a:t>
            </a:r>
            <a:pPr indent="0" marL="0">
              <a:buNone/>
            </a:pPr>
            <a:r>
              <a:rPr lang="en-US" sz="1400" dirty="0">
                <a:solidFill>
                  <a:srgbClr val="D9F0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|   How each CATS vs MOTIF break is investigated</a:t>
            </a:r>
            <a:endParaRPr lang="en-US" sz="1000" dirty="0"/>
          </a:p>
        </p:txBody>
      </p:sp>
      <p:sp>
        <p:nvSpPr>
          <p:cNvPr id="4" name="Text 2"/>
          <p:cNvSpPr txBox="1"/>
          <p:nvPr/>
        </p:nvSpPr>
        <p:spPr>
          <a:xfrm>
            <a:off x="11772900" y="0"/>
            <a:ext cx="27051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Helix Architecture</a:t>
            </a:r>
            <a:endParaRPr lang="en-US" sz="1800" dirty="0"/>
          </a:p>
        </p:txBody>
      </p:sp>
      <p:sp>
        <p:nvSpPr>
          <p:cNvPr id="5" name="Shape 3"/>
          <p:cNvSpPr/>
          <p:nvPr/>
        </p:nvSpPr>
        <p:spPr>
          <a:xfrm>
            <a:off x="152400" y="800100"/>
            <a:ext cx="14325600" cy="419100"/>
          </a:xfrm>
          <a:prstGeom prst="roundRect">
            <a:avLst>
              <a:gd name="adj" fmla="val 18182"/>
            </a:avLst>
          </a:prstGeom>
          <a:solidFill>
            <a:srgbClr val="EAF6FC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304800" y="800100"/>
            <a:ext cx="14097000" cy="4191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0395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Invariant:  </a:t>
            </a:r>
            <a:pPr indent="0" marL="0">
              <a:buNone/>
            </a:pPr>
            <a:r>
              <a:rPr lang="en-US" sz="1100" b="1" dirty="0">
                <a:solidFill>
                  <a:srgbClr val="00395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FO PnL = BO PnL + Δ FOBO Adjustments</a:t>
            </a:r>
            <a:pPr indent="0" marL="0">
              <a:buNone/>
            </a:pPr>
            <a:r>
              <a:rPr lang="en-US" sz="1100" dirty="0">
                <a:solidFill>
                  <a:srgbClr val="1F2D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  Restore it truthfully, never plug it.  Evidence from MB Rec and other sources via MCP; posting only via FAS after controller approval.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152400" y="1390650"/>
            <a:ext cx="1428750" cy="238125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B3E3F7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152400" y="1390650"/>
            <a:ext cx="1428750" cy="285750"/>
          </a:xfrm>
          <a:prstGeom prst="roundRect">
            <a:avLst>
              <a:gd name="adj" fmla="val 20000"/>
            </a:avLst>
          </a:prstGeom>
          <a:solidFill>
            <a:srgbClr val="00395D"/>
          </a:solidFill>
          <a:ln/>
        </p:spPr>
      </p:sp>
      <p:sp>
        <p:nvSpPr>
          <p:cNvPr id="9" name="Shape 7"/>
          <p:cNvSpPr/>
          <p:nvPr/>
        </p:nvSpPr>
        <p:spPr>
          <a:xfrm>
            <a:off x="152400" y="1581150"/>
            <a:ext cx="1428750" cy="95250"/>
          </a:xfrm>
          <a:prstGeom prst="rect">
            <a:avLst/>
          </a:prstGeom>
          <a:solidFill>
            <a:srgbClr val="00395D"/>
          </a:solidFill>
          <a:ln/>
        </p:spPr>
      </p:sp>
      <p:sp>
        <p:nvSpPr>
          <p:cNvPr id="10" name="Text 8"/>
          <p:cNvSpPr txBox="1"/>
          <p:nvPr/>
        </p:nvSpPr>
        <p:spPr>
          <a:xfrm>
            <a:off x="247650" y="1390650"/>
            <a:ext cx="1276350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0AEE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  </a:t>
            </a:r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Books complete</a:t>
            </a:r>
            <a:endParaRPr lang="en-US" sz="1100" dirty="0"/>
          </a:p>
        </p:txBody>
      </p:sp>
      <p:sp>
        <p:nvSpPr>
          <p:cNvPr id="11" name="Text 9"/>
          <p:cNvSpPr txBox="1"/>
          <p:nvPr/>
        </p:nvSpPr>
        <p:spPr>
          <a:xfrm>
            <a:off x="247650" y="1771650"/>
            <a:ext cx="1257300" cy="1047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1F2D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Books Processed, Available and Complete. Not Waiting, Failed or In Progress.</a:t>
            </a:r>
            <a:endParaRPr lang="en-US" sz="1000" dirty="0"/>
          </a:p>
        </p:txBody>
      </p:sp>
      <p:sp>
        <p:nvSpPr>
          <p:cNvPr id="12" name="Text 10"/>
          <p:cNvSpPr txBox="1"/>
          <p:nvPr/>
        </p:nvSpPr>
        <p:spPr>
          <a:xfrm>
            <a:off x="247650" y="3219450"/>
            <a:ext cx="12573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850" dirty="0">
                <a:solidFill>
                  <a:srgbClr val="5A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R5: do not begin while books are incomplete</a:t>
            </a:r>
            <a:endParaRPr lang="en-US" sz="850" dirty="0"/>
          </a:p>
        </p:txBody>
      </p:sp>
      <p:sp>
        <p:nvSpPr>
          <p:cNvPr id="13" name="Shape 11"/>
          <p:cNvSpPr/>
          <p:nvPr/>
        </p:nvSpPr>
        <p:spPr>
          <a:xfrm>
            <a:off x="2000250" y="1390650"/>
            <a:ext cx="1428750" cy="238125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B3E3F7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2000250" y="1390650"/>
            <a:ext cx="1428750" cy="285750"/>
          </a:xfrm>
          <a:prstGeom prst="roundRect">
            <a:avLst>
              <a:gd name="adj" fmla="val 20000"/>
            </a:avLst>
          </a:prstGeom>
          <a:solidFill>
            <a:srgbClr val="00395D"/>
          </a:solidFill>
          <a:ln/>
        </p:spPr>
      </p:sp>
      <p:sp>
        <p:nvSpPr>
          <p:cNvPr id="15" name="Shape 13"/>
          <p:cNvSpPr/>
          <p:nvPr/>
        </p:nvSpPr>
        <p:spPr>
          <a:xfrm>
            <a:off x="2000250" y="1581150"/>
            <a:ext cx="1428750" cy="95250"/>
          </a:xfrm>
          <a:prstGeom prst="rect">
            <a:avLst/>
          </a:prstGeom>
          <a:solidFill>
            <a:srgbClr val="00395D"/>
          </a:solidFill>
          <a:ln/>
        </p:spPr>
      </p:sp>
      <p:sp>
        <p:nvSpPr>
          <p:cNvPr id="16" name="Text 14"/>
          <p:cNvSpPr txBox="1"/>
          <p:nvPr/>
        </p:nvSpPr>
        <p:spPr>
          <a:xfrm>
            <a:off x="2095500" y="1390650"/>
            <a:ext cx="1276350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0AEE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  </a:t>
            </a:r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Break universe</a:t>
            </a:r>
            <a:endParaRPr lang="en-US" sz="1100" dirty="0"/>
          </a:p>
        </p:txBody>
      </p:sp>
      <p:sp>
        <p:nvSpPr>
          <p:cNvPr id="17" name="Text 15"/>
          <p:cNvSpPr txBox="1"/>
          <p:nvPr/>
        </p:nvSpPr>
        <p:spPr>
          <a:xfrm>
            <a:off x="2095500" y="1771650"/>
            <a:ext cx="1257300" cy="857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1F2D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Open, failed, auto-posted and unaddressed breaks.</a:t>
            </a:r>
            <a:endParaRPr lang="en-US" sz="1000" dirty="0"/>
          </a:p>
        </p:txBody>
      </p:sp>
      <p:sp>
        <p:nvSpPr>
          <p:cNvPr id="18" name="Text 16"/>
          <p:cNvSpPr txBox="1"/>
          <p:nvPr/>
        </p:nvSpPr>
        <p:spPr>
          <a:xfrm>
            <a:off x="2095500" y="3219450"/>
            <a:ext cx="12573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850" dirty="0">
                <a:solidFill>
                  <a:srgbClr val="5A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R3: decompose, never investigate aggregate PnL</a:t>
            </a:r>
            <a:endParaRPr lang="en-US" sz="850" dirty="0"/>
          </a:p>
        </p:txBody>
      </p:sp>
      <p:sp>
        <p:nvSpPr>
          <p:cNvPr id="19" name="Shape 17"/>
          <p:cNvSpPr/>
          <p:nvPr/>
        </p:nvSpPr>
        <p:spPr>
          <a:xfrm>
            <a:off x="3848100" y="1390650"/>
            <a:ext cx="2190750" cy="2381250"/>
          </a:xfrm>
          <a:prstGeom prst="roundRect">
            <a:avLst>
              <a:gd name="adj" fmla="val 2609"/>
            </a:avLst>
          </a:prstGeom>
          <a:solidFill>
            <a:srgbClr val="FFFFFF"/>
          </a:solidFill>
          <a:ln w="12700">
            <a:solidFill>
              <a:srgbClr val="B3E3F7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3848100" y="1390650"/>
            <a:ext cx="2190750" cy="285750"/>
          </a:xfrm>
          <a:prstGeom prst="roundRect">
            <a:avLst>
              <a:gd name="adj" fmla="val 20000"/>
            </a:avLst>
          </a:prstGeom>
          <a:solidFill>
            <a:srgbClr val="00395D"/>
          </a:solidFill>
          <a:ln/>
        </p:spPr>
      </p:sp>
      <p:sp>
        <p:nvSpPr>
          <p:cNvPr id="21" name="Shape 19"/>
          <p:cNvSpPr/>
          <p:nvPr/>
        </p:nvSpPr>
        <p:spPr>
          <a:xfrm>
            <a:off x="3848100" y="1581150"/>
            <a:ext cx="2190750" cy="95250"/>
          </a:xfrm>
          <a:prstGeom prst="rect">
            <a:avLst/>
          </a:prstGeom>
          <a:solidFill>
            <a:srgbClr val="00395D"/>
          </a:solidFill>
          <a:ln/>
        </p:spPr>
      </p:sp>
      <p:sp>
        <p:nvSpPr>
          <p:cNvPr id="22" name="Text 20"/>
          <p:cNvSpPr txBox="1"/>
          <p:nvPr/>
        </p:nvSpPr>
        <p:spPr>
          <a:xfrm>
            <a:off x="3943350" y="1390650"/>
            <a:ext cx="2038350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0AEE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 </a:t>
            </a:r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Validate Front Office first</a:t>
            </a:r>
            <a:endParaRPr lang="en-US" sz="1100" dirty="0"/>
          </a:p>
        </p:txBody>
      </p:sp>
      <p:sp>
        <p:nvSpPr>
          <p:cNvPr id="23" name="Text 21"/>
          <p:cNvSpPr txBox="1"/>
          <p:nvPr/>
        </p:nvSpPr>
        <p:spPr>
          <a:xfrm>
            <a:off x="3962400" y="1752600"/>
            <a:ext cx="2000250" cy="1905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350"/>
              </a:spcAft>
              <a:buNone/>
            </a:pPr>
            <a:r>
              <a:rPr lang="en-US" sz="1000" b="1" dirty="0">
                <a:solidFill>
                  <a:srgbClr val="00AEE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FO-1  </a:t>
            </a:r>
            <a:pPr indent="0" marL="0">
              <a:spcAft>
                <a:spcPts val="350"/>
              </a:spcAft>
              <a:buNone/>
            </a:pPr>
            <a:r>
              <a:rPr lang="en-US" sz="1000" dirty="0">
                <a:solidFill>
                  <a:srgbClr val="1F2D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Position continuity</a:t>
            </a:r>
            <a:endParaRPr lang="en-US" sz="1000" dirty="0"/>
          </a:p>
          <a:p>
            <a:pPr indent="0" marL="0">
              <a:spcAft>
                <a:spcPts val="350"/>
              </a:spcAft>
              <a:buNone/>
            </a:pPr>
            <a:r>
              <a:rPr lang="en-US" sz="1000" b="1" dirty="0">
                <a:solidFill>
                  <a:srgbClr val="00AEE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FO-2  </a:t>
            </a:r>
            <a:pPr indent="0" marL="0">
              <a:spcAft>
                <a:spcPts val="350"/>
              </a:spcAft>
              <a:buNone/>
            </a:pPr>
            <a:r>
              <a:rPr lang="en-US" sz="1000" dirty="0">
                <a:solidFill>
                  <a:srgbClr val="1F2D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Price continuity</a:t>
            </a:r>
            <a:endParaRPr lang="en-US" sz="1000" dirty="0"/>
          </a:p>
          <a:p>
            <a:pPr indent="0" marL="0">
              <a:spcAft>
                <a:spcPts val="350"/>
              </a:spcAft>
              <a:buNone/>
            </a:pPr>
            <a:r>
              <a:rPr lang="en-US" sz="1000" b="1" dirty="0">
                <a:solidFill>
                  <a:srgbClr val="00AEE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FO-3  </a:t>
            </a:r>
            <a:pPr indent="0" marL="0">
              <a:spcAft>
                <a:spcPts val="350"/>
              </a:spcAft>
              <a:buNone/>
            </a:pPr>
            <a:r>
              <a:rPr lang="en-US" sz="1000" dirty="0">
                <a:solidFill>
                  <a:srgbClr val="1F2D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Pull factor continuity</a:t>
            </a:r>
            <a:endParaRPr lang="en-US" sz="1000" dirty="0"/>
          </a:p>
          <a:p>
            <a:pPr indent="0" marL="0">
              <a:spcAft>
                <a:spcPts val="350"/>
              </a:spcAft>
              <a:buNone/>
            </a:pPr>
            <a:r>
              <a:rPr lang="en-US" sz="1000" b="1" dirty="0">
                <a:solidFill>
                  <a:srgbClr val="00AEE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FO-4  </a:t>
            </a:r>
            <a:pPr indent="0" marL="0">
              <a:spcAft>
                <a:spcPts val="350"/>
              </a:spcAft>
              <a:buNone/>
            </a:pPr>
            <a:r>
              <a:rPr lang="en-US" sz="1000" dirty="0">
                <a:solidFill>
                  <a:srgbClr val="1F2D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MTM validation</a:t>
            </a:r>
            <a:endParaRPr lang="en-US" sz="1000" dirty="0"/>
          </a:p>
          <a:p>
            <a:pPr indent="0" marL="0">
              <a:spcAft>
                <a:spcPts val="350"/>
              </a:spcAft>
              <a:buNone/>
            </a:pPr>
            <a:r>
              <a:rPr lang="en-US" sz="1000" b="1" dirty="0">
                <a:solidFill>
                  <a:srgbClr val="00AEE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FO-5  </a:t>
            </a:r>
            <a:pPr indent="0" marL="0">
              <a:spcAft>
                <a:spcPts val="350"/>
              </a:spcAft>
              <a:buNone/>
            </a:pPr>
            <a:r>
              <a:rPr lang="en-US" sz="1000" dirty="0">
                <a:solidFill>
                  <a:srgbClr val="1F2D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Trading PnL validation</a:t>
            </a:r>
            <a:endParaRPr lang="en-US" sz="1000" dirty="0"/>
          </a:p>
          <a:p>
            <a:pPr indent="0" marL="0">
              <a:spcAft>
                <a:spcPts val="350"/>
              </a:spcAft>
              <a:buNone/>
            </a:pPr>
            <a:r>
              <a:rPr lang="en-US" sz="1000" b="1" dirty="0">
                <a:solidFill>
                  <a:srgbClr val="00AEE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FO-6  </a:t>
            </a:r>
            <a:pPr indent="0" marL="0">
              <a:spcAft>
                <a:spcPts val="350"/>
              </a:spcAft>
              <a:buNone/>
            </a:pPr>
            <a:r>
              <a:rPr lang="en-US" sz="1000" dirty="0">
                <a:solidFill>
                  <a:srgbClr val="1F2D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Pull factor redemption</a:t>
            </a:r>
            <a:endParaRPr lang="en-US" sz="1000" dirty="0"/>
          </a:p>
          <a:p>
            <a:pPr indent="0" marL="0">
              <a:spcAft>
                <a:spcPts val="350"/>
              </a:spcAft>
              <a:buNone/>
            </a:pPr>
            <a:r>
              <a:rPr lang="en-US" sz="1000" b="1" dirty="0">
                <a:solidFill>
                  <a:srgbClr val="00AEE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FO-7  </a:t>
            </a:r>
            <a:pPr indent="0" marL="0">
              <a:spcAft>
                <a:spcPts val="350"/>
              </a:spcAft>
              <a:buNone/>
            </a:pPr>
            <a:r>
              <a:rPr lang="en-US" sz="1000" dirty="0">
                <a:solidFill>
                  <a:srgbClr val="1F2D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Corporate action (Price = 0)</a:t>
            </a:r>
            <a:endParaRPr lang="en-US" sz="1000" dirty="0"/>
          </a:p>
          <a:p>
            <a:pPr indent="0" marL="0">
              <a:spcAft>
                <a:spcPts val="350"/>
              </a:spcAft>
              <a:buNone/>
            </a:pPr>
            <a:r>
              <a:rPr lang="en-US" sz="1000" b="1" dirty="0">
                <a:solidFill>
                  <a:srgbClr val="00AEE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FO-8  </a:t>
            </a:r>
            <a:pPr indent="0" marL="0">
              <a:spcAft>
                <a:spcPts val="350"/>
              </a:spcAft>
              <a:buNone/>
            </a:pPr>
            <a:r>
              <a:rPr lang="en-US" sz="1000" dirty="0">
                <a:solidFill>
                  <a:srgbClr val="1F2D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Holiday continuity</a:t>
            </a:r>
            <a:endParaRPr lang="en-US" sz="1000" dirty="0"/>
          </a:p>
        </p:txBody>
      </p:sp>
      <p:sp>
        <p:nvSpPr>
          <p:cNvPr id="24" name="Shape 22"/>
          <p:cNvSpPr/>
          <p:nvPr/>
        </p:nvSpPr>
        <p:spPr>
          <a:xfrm>
            <a:off x="6457950" y="2181225"/>
            <a:ext cx="857250" cy="800100"/>
          </a:xfrm>
          <a:prstGeom prst="diamond">
            <a:avLst/>
          </a:prstGeom>
          <a:solidFill>
            <a:srgbClr val="FFFFFF"/>
          </a:solidFill>
          <a:ln w="22225">
            <a:solidFill>
              <a:srgbClr val="00AEEF"/>
            </a:solidFill>
            <a:prstDash val="solid"/>
          </a:ln>
        </p:spPr>
      </p:sp>
      <p:sp>
        <p:nvSpPr>
          <p:cNvPr id="25" name="Text 23"/>
          <p:cNvSpPr txBox="1"/>
          <p:nvPr/>
        </p:nvSpPr>
        <p:spPr>
          <a:xfrm>
            <a:off x="6572250" y="2428875"/>
            <a:ext cx="62865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00395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 correct?</a:t>
            </a:r>
            <a:endParaRPr lang="en-US" sz="950" dirty="0"/>
          </a:p>
        </p:txBody>
      </p:sp>
      <p:sp>
        <p:nvSpPr>
          <p:cNvPr id="26" name="Text 24"/>
          <p:cNvSpPr txBox="1"/>
          <p:nvPr/>
        </p:nvSpPr>
        <p:spPr>
          <a:xfrm>
            <a:off x="6286500" y="1447800"/>
            <a:ext cx="120015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i="1" dirty="0">
                <a:solidFill>
                  <a:srgbClr val="5A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R2: never assume FO is correct</a:t>
            </a:r>
            <a:endParaRPr lang="en-US" sz="850" dirty="0"/>
          </a:p>
        </p:txBody>
      </p:sp>
      <p:sp>
        <p:nvSpPr>
          <p:cNvPr id="27" name="Shape 25"/>
          <p:cNvSpPr/>
          <p:nvPr/>
        </p:nvSpPr>
        <p:spPr>
          <a:xfrm>
            <a:off x="7734300" y="1390650"/>
            <a:ext cx="1809750" cy="2381250"/>
          </a:xfrm>
          <a:prstGeom prst="roundRect">
            <a:avLst>
              <a:gd name="adj" fmla="val 3158"/>
            </a:avLst>
          </a:prstGeom>
          <a:solidFill>
            <a:srgbClr val="FFFFFF"/>
          </a:solidFill>
          <a:ln w="12700">
            <a:solidFill>
              <a:srgbClr val="B3E3F7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7734300" y="1390650"/>
            <a:ext cx="1809750" cy="285750"/>
          </a:xfrm>
          <a:prstGeom prst="roundRect">
            <a:avLst>
              <a:gd name="adj" fmla="val 20000"/>
            </a:avLst>
          </a:prstGeom>
          <a:solidFill>
            <a:srgbClr val="00395D"/>
          </a:solidFill>
          <a:ln/>
        </p:spPr>
      </p:sp>
      <p:sp>
        <p:nvSpPr>
          <p:cNvPr id="29" name="Shape 27"/>
          <p:cNvSpPr/>
          <p:nvPr/>
        </p:nvSpPr>
        <p:spPr>
          <a:xfrm>
            <a:off x="7734300" y="1581150"/>
            <a:ext cx="1809750" cy="95250"/>
          </a:xfrm>
          <a:prstGeom prst="rect">
            <a:avLst/>
          </a:prstGeom>
          <a:solidFill>
            <a:srgbClr val="00395D"/>
          </a:solidFill>
          <a:ln/>
        </p:spPr>
      </p:sp>
      <p:sp>
        <p:nvSpPr>
          <p:cNvPr id="30" name="Text 28"/>
          <p:cNvSpPr txBox="1"/>
          <p:nvPr/>
        </p:nvSpPr>
        <p:spPr>
          <a:xfrm>
            <a:off x="7829550" y="1390650"/>
            <a:ext cx="1657350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0AEE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 </a:t>
            </a:r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Validate Back Office</a:t>
            </a:r>
            <a:endParaRPr lang="en-US" sz="1100" dirty="0"/>
          </a:p>
        </p:txBody>
      </p:sp>
      <p:sp>
        <p:nvSpPr>
          <p:cNvPr id="31" name="Text 29"/>
          <p:cNvSpPr txBox="1"/>
          <p:nvPr/>
        </p:nvSpPr>
        <p:spPr>
          <a:xfrm>
            <a:off x="7848600" y="1752600"/>
            <a:ext cx="1619250" cy="1619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350"/>
              </a:spcAft>
              <a:buNone/>
            </a:pPr>
            <a:r>
              <a:rPr lang="en-US" sz="1000" b="1" dirty="0">
                <a:solidFill>
                  <a:srgbClr val="00AEE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BO-1  </a:t>
            </a:r>
            <a:pPr indent="0" marL="0">
              <a:spcAft>
                <a:spcPts val="350"/>
              </a:spcAft>
              <a:buNone/>
            </a:pPr>
            <a:r>
              <a:rPr lang="en-US" sz="1000" dirty="0">
                <a:solidFill>
                  <a:srgbClr val="1F2D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Position</a:t>
            </a:r>
            <a:endParaRPr lang="en-US" sz="1000" dirty="0"/>
          </a:p>
          <a:p>
            <a:pPr indent="0" marL="0">
              <a:spcAft>
                <a:spcPts val="350"/>
              </a:spcAft>
              <a:buNone/>
            </a:pPr>
            <a:r>
              <a:rPr lang="en-US" sz="1000" b="1" dirty="0">
                <a:solidFill>
                  <a:srgbClr val="00AEE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BO-2  </a:t>
            </a:r>
            <a:pPr indent="0" marL="0">
              <a:spcAft>
                <a:spcPts val="350"/>
              </a:spcAft>
              <a:buNone/>
            </a:pPr>
            <a:r>
              <a:rPr lang="en-US" sz="1000" dirty="0">
                <a:solidFill>
                  <a:srgbClr val="1F2D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Price</a:t>
            </a:r>
            <a:endParaRPr lang="en-US" sz="1000" dirty="0"/>
          </a:p>
          <a:p>
            <a:pPr indent="0" marL="0">
              <a:spcAft>
                <a:spcPts val="350"/>
              </a:spcAft>
              <a:buNone/>
            </a:pPr>
            <a:r>
              <a:rPr lang="en-US" sz="1000" b="1" dirty="0">
                <a:solidFill>
                  <a:srgbClr val="00AEE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BO-3  </a:t>
            </a:r>
            <a:pPr indent="0" marL="0">
              <a:spcAft>
                <a:spcPts val="350"/>
              </a:spcAft>
              <a:buNone/>
            </a:pPr>
            <a:r>
              <a:rPr lang="en-US" sz="1000" dirty="0">
                <a:solidFill>
                  <a:srgbClr val="1F2D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Pull factor</a:t>
            </a:r>
            <a:endParaRPr lang="en-US" sz="1000" dirty="0"/>
          </a:p>
          <a:p>
            <a:pPr indent="0" marL="0">
              <a:spcAft>
                <a:spcPts val="350"/>
              </a:spcAft>
              <a:buNone/>
            </a:pPr>
            <a:r>
              <a:rPr lang="en-US" sz="1000" b="1" dirty="0">
                <a:solidFill>
                  <a:srgbClr val="00AEE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BO-4  </a:t>
            </a:r>
            <a:pPr indent="0" marL="0">
              <a:spcAft>
                <a:spcPts val="350"/>
              </a:spcAft>
              <a:buNone/>
            </a:pPr>
            <a:r>
              <a:rPr lang="en-US" sz="1000" dirty="0">
                <a:solidFill>
                  <a:srgbClr val="1F2D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Settlement</a:t>
            </a:r>
            <a:endParaRPr lang="en-US" sz="1000" dirty="0"/>
          </a:p>
          <a:p>
            <a:pPr indent="0" marL="0">
              <a:spcAft>
                <a:spcPts val="350"/>
              </a:spcAft>
              <a:buNone/>
            </a:pPr>
            <a:r>
              <a:rPr lang="en-US" sz="1000" b="1" dirty="0">
                <a:solidFill>
                  <a:srgbClr val="00AEE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BO-5  </a:t>
            </a:r>
            <a:pPr indent="0" marL="0">
              <a:spcAft>
                <a:spcPts val="350"/>
              </a:spcAft>
              <a:buNone/>
            </a:pPr>
            <a:r>
              <a:rPr lang="en-US" sz="1000" dirty="0">
                <a:solidFill>
                  <a:srgbClr val="1F2D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Cash movement</a:t>
            </a:r>
            <a:endParaRPr lang="en-US" sz="1000" dirty="0"/>
          </a:p>
          <a:p>
            <a:pPr indent="0" marL="0">
              <a:spcAft>
                <a:spcPts val="350"/>
              </a:spcAft>
              <a:buNone/>
            </a:pPr>
            <a:r>
              <a:rPr lang="en-US" sz="1000" b="1" dirty="0">
                <a:solidFill>
                  <a:srgbClr val="00AEE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BO-6  </a:t>
            </a:r>
            <a:pPr indent="0" marL="0">
              <a:spcAft>
                <a:spcPts val="350"/>
              </a:spcAft>
              <a:buNone/>
            </a:pPr>
            <a:r>
              <a:rPr lang="en-US" sz="1000" dirty="0">
                <a:solidFill>
                  <a:srgbClr val="1F2D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Journal (MOTIF)</a:t>
            </a:r>
            <a:endParaRPr lang="en-US" sz="1000" dirty="0"/>
          </a:p>
        </p:txBody>
      </p:sp>
      <p:sp>
        <p:nvSpPr>
          <p:cNvPr id="32" name="Shape 30"/>
          <p:cNvSpPr/>
          <p:nvPr/>
        </p:nvSpPr>
        <p:spPr>
          <a:xfrm>
            <a:off x="9963150" y="2181225"/>
            <a:ext cx="857250" cy="800100"/>
          </a:xfrm>
          <a:prstGeom prst="diamond">
            <a:avLst/>
          </a:prstGeom>
          <a:solidFill>
            <a:srgbClr val="FFFFFF"/>
          </a:solidFill>
          <a:ln w="22225">
            <a:solidFill>
              <a:srgbClr val="00AEEF"/>
            </a:solidFill>
            <a:prstDash val="solid"/>
          </a:ln>
        </p:spPr>
      </p:sp>
      <p:sp>
        <p:nvSpPr>
          <p:cNvPr id="33" name="Text 31"/>
          <p:cNvSpPr txBox="1"/>
          <p:nvPr/>
        </p:nvSpPr>
        <p:spPr>
          <a:xfrm>
            <a:off x="10077450" y="2428875"/>
            <a:ext cx="62865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00395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 correct?</a:t>
            </a:r>
            <a:endParaRPr lang="en-US" sz="950" dirty="0"/>
          </a:p>
        </p:txBody>
      </p:sp>
      <p:sp>
        <p:nvSpPr>
          <p:cNvPr id="34" name="Text 32"/>
          <p:cNvSpPr txBox="1"/>
          <p:nvPr/>
        </p:nvSpPr>
        <p:spPr>
          <a:xfrm>
            <a:off x="9677400" y="1409700"/>
            <a:ext cx="142875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i="1" dirty="0">
                <a:solidFill>
                  <a:srgbClr val="5A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Yes: re-review FO for a hidden cause. Never post by elimination.</a:t>
            </a:r>
            <a:endParaRPr lang="en-US" sz="850" dirty="0"/>
          </a:p>
        </p:txBody>
      </p:sp>
      <p:sp>
        <p:nvSpPr>
          <p:cNvPr id="35" name="Shape 33"/>
          <p:cNvSpPr/>
          <p:nvPr/>
        </p:nvSpPr>
        <p:spPr>
          <a:xfrm>
            <a:off x="11239500" y="1390650"/>
            <a:ext cx="1524000" cy="2381250"/>
          </a:xfrm>
          <a:prstGeom prst="roundRect">
            <a:avLst>
              <a:gd name="adj" fmla="val 3750"/>
            </a:avLst>
          </a:prstGeom>
          <a:solidFill>
            <a:srgbClr val="FFFFFF"/>
          </a:solidFill>
          <a:ln w="12700">
            <a:solidFill>
              <a:srgbClr val="B3E3F7"/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11239500" y="1390650"/>
            <a:ext cx="1524000" cy="285750"/>
          </a:xfrm>
          <a:prstGeom prst="roundRect">
            <a:avLst>
              <a:gd name="adj" fmla="val 20000"/>
            </a:avLst>
          </a:prstGeom>
          <a:solidFill>
            <a:srgbClr val="00395D"/>
          </a:solidFill>
          <a:ln/>
        </p:spPr>
      </p:sp>
      <p:sp>
        <p:nvSpPr>
          <p:cNvPr id="37" name="Shape 35"/>
          <p:cNvSpPr/>
          <p:nvPr/>
        </p:nvSpPr>
        <p:spPr>
          <a:xfrm>
            <a:off x="11239500" y="1581150"/>
            <a:ext cx="1524000" cy="95250"/>
          </a:xfrm>
          <a:prstGeom prst="rect">
            <a:avLst/>
          </a:prstGeom>
          <a:solidFill>
            <a:srgbClr val="00395D"/>
          </a:solidFill>
          <a:ln/>
        </p:spPr>
      </p:sp>
      <p:sp>
        <p:nvSpPr>
          <p:cNvPr id="38" name="Text 36"/>
          <p:cNvSpPr txBox="1"/>
          <p:nvPr/>
        </p:nvSpPr>
        <p:spPr>
          <a:xfrm>
            <a:off x="11334750" y="1390650"/>
            <a:ext cx="1371600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0AEE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 </a:t>
            </a:r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Trade-level check</a:t>
            </a:r>
            <a:endParaRPr lang="en-US" sz="1100" dirty="0"/>
          </a:p>
        </p:txBody>
      </p:sp>
      <p:sp>
        <p:nvSpPr>
          <p:cNvPr id="39" name="Text 37"/>
          <p:cNvSpPr txBox="1"/>
          <p:nvPr/>
        </p:nvSpPr>
        <p:spPr>
          <a:xfrm>
            <a:off x="11334750" y="1771650"/>
            <a:ext cx="1352550" cy="1047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1F2D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trade: quantity, direction, consideration, price, pull factor, settlement.</a:t>
            </a:r>
            <a:endParaRPr lang="en-US" sz="1000" dirty="0"/>
          </a:p>
        </p:txBody>
      </p:sp>
      <p:sp>
        <p:nvSpPr>
          <p:cNvPr id="40" name="Text 38"/>
          <p:cNvSpPr txBox="1"/>
          <p:nvPr/>
        </p:nvSpPr>
        <p:spPr>
          <a:xfrm>
            <a:off x="11334750" y="3219450"/>
            <a:ext cx="135255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850" dirty="0">
                <a:solidFill>
                  <a:srgbClr val="5A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Only when FO and BO both look correct but the break persists</a:t>
            </a:r>
            <a:endParaRPr lang="en-US" sz="850" dirty="0"/>
          </a:p>
        </p:txBody>
      </p:sp>
      <p:sp>
        <p:nvSpPr>
          <p:cNvPr id="41" name="Shape 39"/>
          <p:cNvSpPr/>
          <p:nvPr/>
        </p:nvSpPr>
        <p:spPr>
          <a:xfrm>
            <a:off x="13182600" y="1390650"/>
            <a:ext cx="1295400" cy="2381250"/>
          </a:xfrm>
          <a:prstGeom prst="roundRect">
            <a:avLst>
              <a:gd name="adj" fmla="val 4412"/>
            </a:avLst>
          </a:prstGeom>
          <a:solidFill>
            <a:srgbClr val="FFFFFF"/>
          </a:solidFill>
          <a:ln w="12700">
            <a:solidFill>
              <a:srgbClr val="B3E3F7"/>
            </a:solidFill>
            <a:prstDash val="solid"/>
          </a:ln>
        </p:spPr>
      </p:sp>
      <p:sp>
        <p:nvSpPr>
          <p:cNvPr id="42" name="Shape 40"/>
          <p:cNvSpPr/>
          <p:nvPr/>
        </p:nvSpPr>
        <p:spPr>
          <a:xfrm>
            <a:off x="13182600" y="1390650"/>
            <a:ext cx="1295400" cy="285750"/>
          </a:xfrm>
          <a:prstGeom prst="roundRect">
            <a:avLst>
              <a:gd name="adj" fmla="val 20000"/>
            </a:avLst>
          </a:prstGeom>
          <a:solidFill>
            <a:srgbClr val="00395D"/>
          </a:solidFill>
          <a:ln/>
        </p:spPr>
      </p:sp>
      <p:sp>
        <p:nvSpPr>
          <p:cNvPr id="43" name="Shape 41"/>
          <p:cNvSpPr/>
          <p:nvPr/>
        </p:nvSpPr>
        <p:spPr>
          <a:xfrm>
            <a:off x="13182600" y="1581150"/>
            <a:ext cx="1295400" cy="95250"/>
          </a:xfrm>
          <a:prstGeom prst="rect">
            <a:avLst/>
          </a:prstGeom>
          <a:solidFill>
            <a:srgbClr val="00395D"/>
          </a:solidFill>
          <a:ln/>
        </p:spPr>
      </p:sp>
      <p:sp>
        <p:nvSpPr>
          <p:cNvPr id="44" name="Text 42"/>
          <p:cNvSpPr txBox="1"/>
          <p:nvPr/>
        </p:nvSpPr>
        <p:spPr>
          <a:xfrm>
            <a:off x="13277850" y="1390650"/>
            <a:ext cx="1143000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0AEE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 </a:t>
            </a:r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Novel break</a:t>
            </a:r>
            <a:endParaRPr lang="en-US" sz="1100" dirty="0"/>
          </a:p>
        </p:txBody>
      </p:sp>
      <p:sp>
        <p:nvSpPr>
          <p:cNvPr id="45" name="Text 43"/>
          <p:cNvSpPr txBox="1"/>
          <p:nvPr/>
        </p:nvSpPr>
        <p:spPr>
          <a:xfrm>
            <a:off x="13277850" y="1771650"/>
            <a:ext cx="1123950" cy="857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1F2D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Still unresolved: classify as H and escalate.</a:t>
            </a:r>
            <a:endParaRPr lang="en-US" sz="1000" dirty="0"/>
          </a:p>
        </p:txBody>
      </p:sp>
      <p:sp>
        <p:nvSpPr>
          <p:cNvPr id="46" name="Text 44"/>
          <p:cNvSpPr txBox="1"/>
          <p:nvPr/>
        </p:nvSpPr>
        <p:spPr>
          <a:xfrm>
            <a:off x="13277850" y="3219450"/>
            <a:ext cx="112395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850" dirty="0">
                <a:solidFill>
                  <a:srgbClr val="5A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R6: if you cannot evidence it, escalate it</a:t>
            </a:r>
            <a:endParaRPr lang="en-US" sz="850" dirty="0"/>
          </a:p>
        </p:txBody>
      </p:sp>
      <p:sp>
        <p:nvSpPr>
          <p:cNvPr id="47" name="Shape 45"/>
          <p:cNvSpPr/>
          <p:nvPr/>
        </p:nvSpPr>
        <p:spPr>
          <a:xfrm>
            <a:off x="1581150" y="2581275"/>
            <a:ext cx="419100" cy="0"/>
          </a:xfrm>
          <a:prstGeom prst="line">
            <a:avLst/>
          </a:prstGeom>
          <a:noFill/>
          <a:ln w="19050">
            <a:solidFill>
              <a:srgbClr val="00395D"/>
            </a:solidFill>
            <a:prstDash val="solid"/>
            <a:tailEnd type="triangle"/>
          </a:ln>
        </p:spPr>
      </p:sp>
      <p:sp>
        <p:nvSpPr>
          <p:cNvPr id="48" name="Shape 46"/>
          <p:cNvSpPr/>
          <p:nvPr/>
        </p:nvSpPr>
        <p:spPr>
          <a:xfrm>
            <a:off x="3429000" y="2581275"/>
            <a:ext cx="419100" cy="0"/>
          </a:xfrm>
          <a:prstGeom prst="line">
            <a:avLst/>
          </a:prstGeom>
          <a:noFill/>
          <a:ln w="19050">
            <a:solidFill>
              <a:srgbClr val="00395D"/>
            </a:solidFill>
            <a:prstDash val="solid"/>
            <a:tailEnd type="triangle"/>
          </a:ln>
        </p:spPr>
      </p:sp>
      <p:sp>
        <p:nvSpPr>
          <p:cNvPr id="49" name="Shape 47"/>
          <p:cNvSpPr/>
          <p:nvPr/>
        </p:nvSpPr>
        <p:spPr>
          <a:xfrm>
            <a:off x="6038850" y="2581275"/>
            <a:ext cx="419100" cy="0"/>
          </a:xfrm>
          <a:prstGeom prst="line">
            <a:avLst/>
          </a:prstGeom>
          <a:noFill/>
          <a:ln w="19050">
            <a:solidFill>
              <a:srgbClr val="00395D"/>
            </a:solidFill>
            <a:prstDash val="solid"/>
            <a:tailEnd type="triangle"/>
          </a:ln>
        </p:spPr>
      </p:sp>
      <p:sp>
        <p:nvSpPr>
          <p:cNvPr id="50" name="Shape 48"/>
          <p:cNvSpPr/>
          <p:nvPr/>
        </p:nvSpPr>
        <p:spPr>
          <a:xfrm>
            <a:off x="7315200" y="2581275"/>
            <a:ext cx="419100" cy="0"/>
          </a:xfrm>
          <a:prstGeom prst="line">
            <a:avLst/>
          </a:prstGeom>
          <a:noFill/>
          <a:ln w="19050">
            <a:solidFill>
              <a:srgbClr val="00395D"/>
            </a:solidFill>
            <a:prstDash val="solid"/>
            <a:tailEnd type="triangle"/>
          </a:ln>
        </p:spPr>
      </p:sp>
      <p:sp>
        <p:nvSpPr>
          <p:cNvPr id="51" name="Shape 49"/>
          <p:cNvSpPr/>
          <p:nvPr/>
        </p:nvSpPr>
        <p:spPr>
          <a:xfrm>
            <a:off x="9544050" y="2581275"/>
            <a:ext cx="419100" cy="0"/>
          </a:xfrm>
          <a:prstGeom prst="line">
            <a:avLst/>
          </a:prstGeom>
          <a:noFill/>
          <a:ln w="19050">
            <a:solidFill>
              <a:srgbClr val="00395D"/>
            </a:solidFill>
            <a:prstDash val="solid"/>
            <a:tailEnd type="triangle"/>
          </a:ln>
        </p:spPr>
      </p:sp>
      <p:sp>
        <p:nvSpPr>
          <p:cNvPr id="52" name="Shape 50"/>
          <p:cNvSpPr/>
          <p:nvPr/>
        </p:nvSpPr>
        <p:spPr>
          <a:xfrm>
            <a:off x="10820400" y="2581275"/>
            <a:ext cx="419100" cy="0"/>
          </a:xfrm>
          <a:prstGeom prst="line">
            <a:avLst/>
          </a:prstGeom>
          <a:noFill/>
          <a:ln w="19050">
            <a:solidFill>
              <a:srgbClr val="00395D"/>
            </a:solidFill>
            <a:prstDash val="solid"/>
            <a:tailEnd type="triangle"/>
          </a:ln>
        </p:spPr>
      </p:sp>
      <p:sp>
        <p:nvSpPr>
          <p:cNvPr id="53" name="Shape 51"/>
          <p:cNvSpPr/>
          <p:nvPr/>
        </p:nvSpPr>
        <p:spPr>
          <a:xfrm>
            <a:off x="12763500" y="2581275"/>
            <a:ext cx="419100" cy="0"/>
          </a:xfrm>
          <a:prstGeom prst="line">
            <a:avLst/>
          </a:prstGeom>
          <a:noFill/>
          <a:ln w="19050">
            <a:solidFill>
              <a:srgbClr val="00395D"/>
            </a:solidFill>
            <a:prstDash val="solid"/>
            <a:tailEnd type="triangle"/>
          </a:ln>
        </p:spPr>
      </p:sp>
      <p:sp>
        <p:nvSpPr>
          <p:cNvPr id="54" name="Text 52"/>
          <p:cNvSpPr txBox="1"/>
          <p:nvPr/>
        </p:nvSpPr>
        <p:spPr>
          <a:xfrm>
            <a:off x="7372350" y="2390775"/>
            <a:ext cx="342900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00395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Yes</a:t>
            </a:r>
            <a:endParaRPr lang="en-US" sz="850" dirty="0"/>
          </a:p>
        </p:txBody>
      </p:sp>
      <p:sp>
        <p:nvSpPr>
          <p:cNvPr id="55" name="Text 53"/>
          <p:cNvSpPr txBox="1"/>
          <p:nvPr/>
        </p:nvSpPr>
        <p:spPr>
          <a:xfrm>
            <a:off x="10877550" y="2390775"/>
            <a:ext cx="342900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00395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Yes</a:t>
            </a:r>
            <a:endParaRPr lang="en-US" sz="850" dirty="0"/>
          </a:p>
        </p:txBody>
      </p:sp>
      <p:sp>
        <p:nvSpPr>
          <p:cNvPr id="56" name="Text 54"/>
          <p:cNvSpPr txBox="1"/>
          <p:nvPr/>
        </p:nvSpPr>
        <p:spPr>
          <a:xfrm>
            <a:off x="12725400" y="2390775"/>
            <a:ext cx="533400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b="1" dirty="0">
                <a:solidFill>
                  <a:srgbClr val="00395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Unresolved</a:t>
            </a:r>
            <a:endParaRPr lang="en-US" sz="700" dirty="0"/>
          </a:p>
        </p:txBody>
      </p:sp>
      <p:sp>
        <p:nvSpPr>
          <p:cNvPr id="57" name="Shape 55"/>
          <p:cNvSpPr/>
          <p:nvPr/>
        </p:nvSpPr>
        <p:spPr>
          <a:xfrm>
            <a:off x="6886575" y="2981325"/>
            <a:ext cx="0" cy="1057275"/>
          </a:xfrm>
          <a:prstGeom prst="line">
            <a:avLst/>
          </a:prstGeom>
          <a:noFill/>
          <a:ln w="19050">
            <a:solidFill>
              <a:srgbClr val="00395D"/>
            </a:solidFill>
            <a:prstDash val="solid"/>
          </a:ln>
        </p:spPr>
      </p:sp>
      <p:sp>
        <p:nvSpPr>
          <p:cNvPr id="58" name="Text 56"/>
          <p:cNvSpPr txBox="1"/>
          <p:nvPr/>
        </p:nvSpPr>
        <p:spPr>
          <a:xfrm>
            <a:off x="6943725" y="3019425"/>
            <a:ext cx="1047750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00395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No: FO root cause. Default DO NOT POST</a:t>
            </a:r>
            <a:endParaRPr lang="en-US" sz="850" dirty="0"/>
          </a:p>
        </p:txBody>
      </p:sp>
      <p:sp>
        <p:nvSpPr>
          <p:cNvPr id="59" name="Shape 57"/>
          <p:cNvSpPr/>
          <p:nvPr/>
        </p:nvSpPr>
        <p:spPr>
          <a:xfrm>
            <a:off x="10391775" y="2981325"/>
            <a:ext cx="0" cy="1057275"/>
          </a:xfrm>
          <a:prstGeom prst="line">
            <a:avLst/>
          </a:prstGeom>
          <a:noFill/>
          <a:ln w="19050">
            <a:solidFill>
              <a:srgbClr val="00395D"/>
            </a:solidFill>
            <a:prstDash val="solid"/>
          </a:ln>
        </p:spPr>
      </p:sp>
      <p:sp>
        <p:nvSpPr>
          <p:cNvPr id="60" name="Text 58"/>
          <p:cNvSpPr txBox="1"/>
          <p:nvPr/>
        </p:nvSpPr>
        <p:spPr>
          <a:xfrm>
            <a:off x="10448925" y="3019425"/>
            <a:ext cx="1047750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00395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No: BO root cause</a:t>
            </a:r>
            <a:endParaRPr lang="en-US" sz="850" dirty="0"/>
          </a:p>
        </p:txBody>
      </p:sp>
      <p:sp>
        <p:nvSpPr>
          <p:cNvPr id="61" name="Shape 59"/>
          <p:cNvSpPr/>
          <p:nvPr/>
        </p:nvSpPr>
        <p:spPr>
          <a:xfrm>
            <a:off x="12001500" y="3771900"/>
            <a:ext cx="0" cy="266700"/>
          </a:xfrm>
          <a:prstGeom prst="line">
            <a:avLst/>
          </a:prstGeom>
          <a:noFill/>
          <a:ln w="19050">
            <a:solidFill>
              <a:srgbClr val="00395D"/>
            </a:solidFill>
            <a:prstDash val="solid"/>
          </a:ln>
        </p:spPr>
      </p:sp>
      <p:sp>
        <p:nvSpPr>
          <p:cNvPr id="62" name="Text 60"/>
          <p:cNvSpPr txBox="1"/>
          <p:nvPr/>
        </p:nvSpPr>
        <p:spPr>
          <a:xfrm>
            <a:off x="12058650" y="3810000"/>
            <a:ext cx="1047750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00395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Root cause found</a:t>
            </a:r>
            <a:endParaRPr lang="en-US" sz="850" dirty="0"/>
          </a:p>
        </p:txBody>
      </p:sp>
      <p:sp>
        <p:nvSpPr>
          <p:cNvPr id="63" name="Shape 61"/>
          <p:cNvSpPr/>
          <p:nvPr/>
        </p:nvSpPr>
        <p:spPr>
          <a:xfrm>
            <a:off x="13830300" y="3771900"/>
            <a:ext cx="0" cy="266700"/>
          </a:xfrm>
          <a:prstGeom prst="line">
            <a:avLst/>
          </a:prstGeom>
          <a:noFill/>
          <a:ln w="19050">
            <a:solidFill>
              <a:srgbClr val="00395D"/>
            </a:solidFill>
            <a:prstDash val="solid"/>
          </a:ln>
        </p:spPr>
      </p:sp>
      <p:sp>
        <p:nvSpPr>
          <p:cNvPr id="64" name="Text 62"/>
          <p:cNvSpPr txBox="1"/>
          <p:nvPr/>
        </p:nvSpPr>
        <p:spPr>
          <a:xfrm>
            <a:off x="13887450" y="3810000"/>
            <a:ext cx="1047750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00395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Escalate</a:t>
            </a:r>
            <a:endParaRPr lang="en-US" sz="850" dirty="0"/>
          </a:p>
        </p:txBody>
      </p:sp>
      <p:sp>
        <p:nvSpPr>
          <p:cNvPr id="65" name="Shape 63"/>
          <p:cNvSpPr/>
          <p:nvPr/>
        </p:nvSpPr>
        <p:spPr>
          <a:xfrm>
            <a:off x="914400" y="4038600"/>
            <a:ext cx="12915900" cy="0"/>
          </a:xfrm>
          <a:prstGeom prst="line">
            <a:avLst/>
          </a:prstGeom>
          <a:noFill/>
          <a:ln w="19050">
            <a:solidFill>
              <a:srgbClr val="00395D"/>
            </a:solidFill>
            <a:prstDash val="solid"/>
          </a:ln>
        </p:spPr>
      </p:sp>
      <p:sp>
        <p:nvSpPr>
          <p:cNvPr id="66" name="Shape 64"/>
          <p:cNvSpPr/>
          <p:nvPr/>
        </p:nvSpPr>
        <p:spPr>
          <a:xfrm>
            <a:off x="914400" y="4038600"/>
            <a:ext cx="0" cy="361950"/>
          </a:xfrm>
          <a:prstGeom prst="line">
            <a:avLst/>
          </a:prstGeom>
          <a:noFill/>
          <a:ln w="19050">
            <a:solidFill>
              <a:srgbClr val="00395D"/>
            </a:solidFill>
            <a:prstDash val="solid"/>
            <a:tailEnd type="triangle"/>
          </a:ln>
        </p:spPr>
      </p:sp>
      <p:sp>
        <p:nvSpPr>
          <p:cNvPr id="67" name="Text 65"/>
          <p:cNvSpPr txBox="1"/>
          <p:nvPr/>
        </p:nvSpPr>
        <p:spPr>
          <a:xfrm>
            <a:off x="990600" y="4076700"/>
            <a:ext cx="2857500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00395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Root cause evidenced: stop and classify</a:t>
            </a:r>
            <a:endParaRPr lang="en-US" sz="850" dirty="0"/>
          </a:p>
        </p:txBody>
      </p:sp>
      <p:sp>
        <p:nvSpPr>
          <p:cNvPr id="68" name="Shape 66"/>
          <p:cNvSpPr/>
          <p:nvPr/>
        </p:nvSpPr>
        <p:spPr>
          <a:xfrm>
            <a:off x="152400" y="4400550"/>
            <a:ext cx="3429000" cy="2286000"/>
          </a:xfrm>
          <a:prstGeom prst="roundRect">
            <a:avLst>
              <a:gd name="adj" fmla="val 2500"/>
            </a:avLst>
          </a:prstGeom>
          <a:solidFill>
            <a:srgbClr val="FFFFFF"/>
          </a:solidFill>
          <a:ln w="12700">
            <a:solidFill>
              <a:srgbClr val="B3E3F7"/>
            </a:solidFill>
            <a:prstDash val="solid"/>
          </a:ln>
        </p:spPr>
      </p:sp>
      <p:sp>
        <p:nvSpPr>
          <p:cNvPr id="69" name="Shape 67"/>
          <p:cNvSpPr/>
          <p:nvPr/>
        </p:nvSpPr>
        <p:spPr>
          <a:xfrm>
            <a:off x="152400" y="4400550"/>
            <a:ext cx="3429000" cy="285750"/>
          </a:xfrm>
          <a:prstGeom prst="roundRect">
            <a:avLst>
              <a:gd name="adj" fmla="val 20000"/>
            </a:avLst>
          </a:prstGeom>
          <a:solidFill>
            <a:srgbClr val="00395D"/>
          </a:solidFill>
          <a:ln/>
        </p:spPr>
      </p:sp>
      <p:sp>
        <p:nvSpPr>
          <p:cNvPr id="70" name="Shape 68"/>
          <p:cNvSpPr/>
          <p:nvPr/>
        </p:nvSpPr>
        <p:spPr>
          <a:xfrm>
            <a:off x="152400" y="4591050"/>
            <a:ext cx="3429000" cy="95250"/>
          </a:xfrm>
          <a:prstGeom prst="rect">
            <a:avLst/>
          </a:prstGeom>
          <a:solidFill>
            <a:srgbClr val="00395D"/>
          </a:solidFill>
          <a:ln/>
        </p:spPr>
      </p:sp>
      <p:sp>
        <p:nvSpPr>
          <p:cNvPr id="71" name="Text 69"/>
          <p:cNvSpPr txBox="1"/>
          <p:nvPr/>
        </p:nvSpPr>
        <p:spPr>
          <a:xfrm>
            <a:off x="247650" y="4400550"/>
            <a:ext cx="3276600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0AEE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  </a:t>
            </a:r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Classify (one primary category)</a:t>
            </a:r>
            <a:endParaRPr lang="en-US" sz="1100" dirty="0"/>
          </a:p>
        </p:txBody>
      </p:sp>
      <p:sp>
        <p:nvSpPr>
          <p:cNvPr id="72" name="Shape 70"/>
          <p:cNvSpPr/>
          <p:nvPr/>
        </p:nvSpPr>
        <p:spPr>
          <a:xfrm>
            <a:off x="266700" y="4800600"/>
            <a:ext cx="209550" cy="190500"/>
          </a:xfrm>
          <a:prstGeom prst="roundRect">
            <a:avLst>
              <a:gd name="adj" fmla="val 20000"/>
            </a:avLst>
          </a:prstGeom>
          <a:solidFill>
            <a:srgbClr val="00395D"/>
          </a:solidFill>
          <a:ln/>
        </p:spPr>
      </p:sp>
      <p:sp>
        <p:nvSpPr>
          <p:cNvPr id="73" name="Text 71"/>
          <p:cNvSpPr txBox="1"/>
          <p:nvPr/>
        </p:nvSpPr>
        <p:spPr>
          <a:xfrm>
            <a:off x="266700" y="4800600"/>
            <a:ext cx="20955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</a:t>
            </a:r>
            <a:endParaRPr lang="en-US" sz="900" dirty="0"/>
          </a:p>
        </p:txBody>
      </p:sp>
      <p:sp>
        <p:nvSpPr>
          <p:cNvPr id="74" name="Text 72"/>
          <p:cNvSpPr txBox="1"/>
          <p:nvPr/>
        </p:nvSpPr>
        <p:spPr>
          <a:xfrm>
            <a:off x="552450" y="4781550"/>
            <a:ext cx="1295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F2D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Price</a:t>
            </a:r>
            <a:endParaRPr lang="en-US" sz="1000" dirty="0"/>
          </a:p>
        </p:txBody>
      </p:sp>
      <p:sp>
        <p:nvSpPr>
          <p:cNvPr id="75" name="Shape 73"/>
          <p:cNvSpPr/>
          <p:nvPr/>
        </p:nvSpPr>
        <p:spPr>
          <a:xfrm>
            <a:off x="266700" y="5048250"/>
            <a:ext cx="209550" cy="190500"/>
          </a:xfrm>
          <a:prstGeom prst="roundRect">
            <a:avLst>
              <a:gd name="adj" fmla="val 20000"/>
            </a:avLst>
          </a:prstGeom>
          <a:solidFill>
            <a:srgbClr val="00395D"/>
          </a:solidFill>
          <a:ln/>
        </p:spPr>
      </p:sp>
      <p:sp>
        <p:nvSpPr>
          <p:cNvPr id="76" name="Text 74"/>
          <p:cNvSpPr txBox="1"/>
          <p:nvPr/>
        </p:nvSpPr>
        <p:spPr>
          <a:xfrm>
            <a:off x="266700" y="5048250"/>
            <a:ext cx="20955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</a:t>
            </a:r>
            <a:endParaRPr lang="en-US" sz="900" dirty="0"/>
          </a:p>
        </p:txBody>
      </p:sp>
      <p:sp>
        <p:nvSpPr>
          <p:cNvPr id="77" name="Text 75"/>
          <p:cNvSpPr txBox="1"/>
          <p:nvPr/>
        </p:nvSpPr>
        <p:spPr>
          <a:xfrm>
            <a:off x="552450" y="5029200"/>
            <a:ext cx="1295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F2D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Pull factor</a:t>
            </a:r>
            <a:endParaRPr lang="en-US" sz="1000" dirty="0"/>
          </a:p>
        </p:txBody>
      </p:sp>
      <p:sp>
        <p:nvSpPr>
          <p:cNvPr id="78" name="Shape 76"/>
          <p:cNvSpPr/>
          <p:nvPr/>
        </p:nvSpPr>
        <p:spPr>
          <a:xfrm>
            <a:off x="266700" y="5295900"/>
            <a:ext cx="209550" cy="190500"/>
          </a:xfrm>
          <a:prstGeom prst="roundRect">
            <a:avLst>
              <a:gd name="adj" fmla="val 20000"/>
            </a:avLst>
          </a:prstGeom>
          <a:solidFill>
            <a:srgbClr val="00395D"/>
          </a:solidFill>
          <a:ln/>
        </p:spPr>
      </p:sp>
      <p:sp>
        <p:nvSpPr>
          <p:cNvPr id="79" name="Text 77"/>
          <p:cNvSpPr txBox="1"/>
          <p:nvPr/>
        </p:nvSpPr>
        <p:spPr>
          <a:xfrm>
            <a:off x="266700" y="5295900"/>
            <a:ext cx="20955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</a:t>
            </a:r>
            <a:endParaRPr lang="en-US" sz="900" dirty="0"/>
          </a:p>
        </p:txBody>
      </p:sp>
      <p:sp>
        <p:nvSpPr>
          <p:cNvPr id="80" name="Text 78"/>
          <p:cNvSpPr txBox="1"/>
          <p:nvPr/>
        </p:nvSpPr>
        <p:spPr>
          <a:xfrm>
            <a:off x="552450" y="5276850"/>
            <a:ext cx="1295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F2D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Redemption</a:t>
            </a:r>
            <a:endParaRPr lang="en-US" sz="1000" dirty="0"/>
          </a:p>
        </p:txBody>
      </p:sp>
      <p:sp>
        <p:nvSpPr>
          <p:cNvPr id="81" name="Shape 79"/>
          <p:cNvSpPr/>
          <p:nvPr/>
        </p:nvSpPr>
        <p:spPr>
          <a:xfrm>
            <a:off x="266700" y="5543550"/>
            <a:ext cx="209550" cy="190500"/>
          </a:xfrm>
          <a:prstGeom prst="roundRect">
            <a:avLst>
              <a:gd name="adj" fmla="val 20000"/>
            </a:avLst>
          </a:prstGeom>
          <a:solidFill>
            <a:srgbClr val="00395D"/>
          </a:solidFill>
          <a:ln/>
        </p:spPr>
      </p:sp>
      <p:sp>
        <p:nvSpPr>
          <p:cNvPr id="82" name="Text 80"/>
          <p:cNvSpPr txBox="1"/>
          <p:nvPr/>
        </p:nvSpPr>
        <p:spPr>
          <a:xfrm>
            <a:off x="266700" y="5543550"/>
            <a:ext cx="20955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</a:t>
            </a:r>
            <a:endParaRPr lang="en-US" sz="900" dirty="0"/>
          </a:p>
        </p:txBody>
      </p:sp>
      <p:sp>
        <p:nvSpPr>
          <p:cNvPr id="83" name="Text 81"/>
          <p:cNvSpPr txBox="1"/>
          <p:nvPr/>
        </p:nvSpPr>
        <p:spPr>
          <a:xfrm>
            <a:off x="552450" y="5524500"/>
            <a:ext cx="1295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F2D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Settlement</a:t>
            </a:r>
            <a:endParaRPr lang="en-US" sz="1000" dirty="0"/>
          </a:p>
        </p:txBody>
      </p:sp>
      <p:sp>
        <p:nvSpPr>
          <p:cNvPr id="84" name="Shape 82"/>
          <p:cNvSpPr/>
          <p:nvPr/>
        </p:nvSpPr>
        <p:spPr>
          <a:xfrm>
            <a:off x="1885950" y="4800600"/>
            <a:ext cx="209550" cy="190500"/>
          </a:xfrm>
          <a:prstGeom prst="roundRect">
            <a:avLst>
              <a:gd name="adj" fmla="val 20000"/>
            </a:avLst>
          </a:prstGeom>
          <a:solidFill>
            <a:srgbClr val="00395D"/>
          </a:solidFill>
          <a:ln/>
        </p:spPr>
      </p:sp>
      <p:sp>
        <p:nvSpPr>
          <p:cNvPr id="85" name="Text 83"/>
          <p:cNvSpPr txBox="1"/>
          <p:nvPr/>
        </p:nvSpPr>
        <p:spPr>
          <a:xfrm>
            <a:off x="1885950" y="4800600"/>
            <a:ext cx="20955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</a:t>
            </a:r>
            <a:endParaRPr lang="en-US" sz="900" dirty="0"/>
          </a:p>
        </p:txBody>
      </p:sp>
      <p:sp>
        <p:nvSpPr>
          <p:cNvPr id="86" name="Text 84"/>
          <p:cNvSpPr txBox="1"/>
          <p:nvPr/>
        </p:nvSpPr>
        <p:spPr>
          <a:xfrm>
            <a:off x="2171700" y="4781550"/>
            <a:ext cx="1295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F2D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Trade booking</a:t>
            </a:r>
            <a:endParaRPr lang="en-US" sz="1000" dirty="0"/>
          </a:p>
        </p:txBody>
      </p:sp>
      <p:sp>
        <p:nvSpPr>
          <p:cNvPr id="87" name="Shape 85"/>
          <p:cNvSpPr/>
          <p:nvPr/>
        </p:nvSpPr>
        <p:spPr>
          <a:xfrm>
            <a:off x="1885950" y="5048250"/>
            <a:ext cx="209550" cy="190500"/>
          </a:xfrm>
          <a:prstGeom prst="roundRect">
            <a:avLst>
              <a:gd name="adj" fmla="val 20000"/>
            </a:avLst>
          </a:prstGeom>
          <a:solidFill>
            <a:srgbClr val="00395D"/>
          </a:solidFill>
          <a:ln/>
        </p:spPr>
      </p:sp>
      <p:sp>
        <p:nvSpPr>
          <p:cNvPr id="88" name="Text 86"/>
          <p:cNvSpPr txBox="1"/>
          <p:nvPr/>
        </p:nvSpPr>
        <p:spPr>
          <a:xfrm>
            <a:off x="1885950" y="5048250"/>
            <a:ext cx="20955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</a:t>
            </a:r>
            <a:endParaRPr lang="en-US" sz="900" dirty="0"/>
          </a:p>
        </p:txBody>
      </p:sp>
      <p:sp>
        <p:nvSpPr>
          <p:cNvPr id="89" name="Text 87"/>
          <p:cNvSpPr txBox="1"/>
          <p:nvPr/>
        </p:nvSpPr>
        <p:spPr>
          <a:xfrm>
            <a:off x="2171700" y="5029200"/>
            <a:ext cx="1295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F2D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quality</a:t>
            </a:r>
            <a:endParaRPr lang="en-US" sz="1000" dirty="0"/>
          </a:p>
        </p:txBody>
      </p:sp>
      <p:sp>
        <p:nvSpPr>
          <p:cNvPr id="90" name="Shape 88"/>
          <p:cNvSpPr/>
          <p:nvPr/>
        </p:nvSpPr>
        <p:spPr>
          <a:xfrm>
            <a:off x="1885950" y="5295900"/>
            <a:ext cx="209550" cy="190500"/>
          </a:xfrm>
          <a:prstGeom prst="roundRect">
            <a:avLst>
              <a:gd name="adj" fmla="val 20000"/>
            </a:avLst>
          </a:prstGeom>
          <a:solidFill>
            <a:srgbClr val="00395D"/>
          </a:solidFill>
          <a:ln/>
        </p:spPr>
      </p:sp>
      <p:sp>
        <p:nvSpPr>
          <p:cNvPr id="91" name="Text 89"/>
          <p:cNvSpPr txBox="1"/>
          <p:nvPr/>
        </p:nvSpPr>
        <p:spPr>
          <a:xfrm>
            <a:off x="1885950" y="5295900"/>
            <a:ext cx="20955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</a:t>
            </a:r>
            <a:endParaRPr lang="en-US" sz="900" dirty="0"/>
          </a:p>
        </p:txBody>
      </p:sp>
      <p:sp>
        <p:nvSpPr>
          <p:cNvPr id="92" name="Text 90"/>
          <p:cNvSpPr txBox="1"/>
          <p:nvPr/>
        </p:nvSpPr>
        <p:spPr>
          <a:xfrm>
            <a:off x="2171700" y="5276850"/>
            <a:ext cx="1295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F2D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Corporate action</a:t>
            </a:r>
            <a:endParaRPr lang="en-US" sz="1000" dirty="0"/>
          </a:p>
        </p:txBody>
      </p:sp>
      <p:sp>
        <p:nvSpPr>
          <p:cNvPr id="93" name="Shape 91"/>
          <p:cNvSpPr/>
          <p:nvPr/>
        </p:nvSpPr>
        <p:spPr>
          <a:xfrm>
            <a:off x="1885950" y="5543550"/>
            <a:ext cx="209550" cy="190500"/>
          </a:xfrm>
          <a:prstGeom prst="roundRect">
            <a:avLst>
              <a:gd name="adj" fmla="val 20000"/>
            </a:avLst>
          </a:prstGeom>
          <a:solidFill>
            <a:srgbClr val="5A6B82"/>
          </a:solidFill>
          <a:ln/>
        </p:spPr>
      </p:sp>
      <p:sp>
        <p:nvSpPr>
          <p:cNvPr id="94" name="Text 92"/>
          <p:cNvSpPr txBox="1"/>
          <p:nvPr/>
        </p:nvSpPr>
        <p:spPr>
          <a:xfrm>
            <a:off x="1885950" y="5543550"/>
            <a:ext cx="20955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</a:t>
            </a:r>
            <a:endParaRPr lang="en-US" sz="900" dirty="0"/>
          </a:p>
        </p:txBody>
      </p:sp>
      <p:sp>
        <p:nvSpPr>
          <p:cNvPr id="95" name="Text 93"/>
          <p:cNvSpPr txBox="1"/>
          <p:nvPr/>
        </p:nvSpPr>
        <p:spPr>
          <a:xfrm>
            <a:off x="2171700" y="5524500"/>
            <a:ext cx="1295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F2D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Novel</a:t>
            </a:r>
            <a:endParaRPr lang="en-US" sz="1000" dirty="0"/>
          </a:p>
        </p:txBody>
      </p:sp>
      <p:sp>
        <p:nvSpPr>
          <p:cNvPr id="96" name="Shape 94"/>
          <p:cNvSpPr/>
          <p:nvPr/>
        </p:nvSpPr>
        <p:spPr>
          <a:xfrm>
            <a:off x="266700" y="5829300"/>
            <a:ext cx="3200400" cy="361950"/>
          </a:xfrm>
          <a:prstGeom prst="roundRect">
            <a:avLst>
              <a:gd name="adj" fmla="val 13158"/>
            </a:avLst>
          </a:prstGeom>
          <a:solidFill>
            <a:srgbClr val="EAF6FC"/>
          </a:solidFill>
          <a:ln/>
        </p:spPr>
      </p:sp>
      <p:sp>
        <p:nvSpPr>
          <p:cNvPr id="97" name="Text 95"/>
          <p:cNvSpPr txBox="1"/>
          <p:nvPr/>
        </p:nvSpPr>
        <p:spPr>
          <a:xfrm>
            <a:off x="342900" y="5829300"/>
            <a:ext cx="3086100" cy="3619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00395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Deterministic (~80%)  </a:t>
            </a:r>
            <a:pPr indent="0" marL="0">
              <a:buNone/>
            </a:pPr>
            <a:r>
              <a:rPr lang="en-US" sz="900" dirty="0">
                <a:solidFill>
                  <a:srgbClr val="1F2D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apply the rule, state it, flag for MBREC automation</a:t>
            </a:r>
            <a:endParaRPr lang="en-US" sz="900" dirty="0"/>
          </a:p>
        </p:txBody>
      </p:sp>
      <p:sp>
        <p:nvSpPr>
          <p:cNvPr id="98" name="Shape 96"/>
          <p:cNvSpPr/>
          <p:nvPr/>
        </p:nvSpPr>
        <p:spPr>
          <a:xfrm>
            <a:off x="266700" y="6248400"/>
            <a:ext cx="3200400" cy="361950"/>
          </a:xfrm>
          <a:prstGeom prst="roundRect">
            <a:avLst>
              <a:gd name="adj" fmla="val 13158"/>
            </a:avLst>
          </a:prstGeom>
          <a:solidFill>
            <a:srgbClr val="EAF6FC"/>
          </a:solidFill>
          <a:ln/>
        </p:spPr>
      </p:sp>
      <p:sp>
        <p:nvSpPr>
          <p:cNvPr id="99" name="Text 97"/>
          <p:cNvSpPr txBox="1"/>
          <p:nvPr/>
        </p:nvSpPr>
        <p:spPr>
          <a:xfrm>
            <a:off x="342900" y="6248400"/>
            <a:ext cx="3086100" cy="3619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00395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Judgement (~20%)  </a:t>
            </a:r>
            <a:pPr indent="0" marL="0">
              <a:buNone/>
            </a:pPr>
            <a:r>
              <a:rPr lang="en-US" sz="900" dirty="0">
                <a:solidFill>
                  <a:srgbClr val="1F2D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surface hypotheses and evidence for SME review (R7)</a:t>
            </a:r>
            <a:endParaRPr lang="en-US" sz="900" dirty="0"/>
          </a:p>
        </p:txBody>
      </p:sp>
      <p:sp>
        <p:nvSpPr>
          <p:cNvPr id="100" name="Shape 98"/>
          <p:cNvSpPr/>
          <p:nvPr/>
        </p:nvSpPr>
        <p:spPr>
          <a:xfrm>
            <a:off x="3848100" y="4400550"/>
            <a:ext cx="3810000" cy="2286000"/>
          </a:xfrm>
          <a:prstGeom prst="roundRect">
            <a:avLst>
              <a:gd name="adj" fmla="val 2500"/>
            </a:avLst>
          </a:prstGeom>
          <a:solidFill>
            <a:srgbClr val="FFFFFF"/>
          </a:solidFill>
          <a:ln w="12700">
            <a:solidFill>
              <a:srgbClr val="B3E3F7"/>
            </a:solidFill>
            <a:prstDash val="solid"/>
          </a:ln>
        </p:spPr>
      </p:sp>
      <p:sp>
        <p:nvSpPr>
          <p:cNvPr id="101" name="Shape 99"/>
          <p:cNvSpPr/>
          <p:nvPr/>
        </p:nvSpPr>
        <p:spPr>
          <a:xfrm>
            <a:off x="3848100" y="4400550"/>
            <a:ext cx="3810000" cy="285750"/>
          </a:xfrm>
          <a:prstGeom prst="roundRect">
            <a:avLst>
              <a:gd name="adj" fmla="val 20000"/>
            </a:avLst>
          </a:prstGeom>
          <a:solidFill>
            <a:srgbClr val="00395D"/>
          </a:solidFill>
          <a:ln/>
        </p:spPr>
      </p:sp>
      <p:sp>
        <p:nvSpPr>
          <p:cNvPr id="102" name="Shape 100"/>
          <p:cNvSpPr/>
          <p:nvPr/>
        </p:nvSpPr>
        <p:spPr>
          <a:xfrm>
            <a:off x="3848100" y="4591050"/>
            <a:ext cx="3810000" cy="95250"/>
          </a:xfrm>
          <a:prstGeom prst="rect">
            <a:avLst/>
          </a:prstGeom>
          <a:solidFill>
            <a:srgbClr val="00395D"/>
          </a:solidFill>
          <a:ln/>
        </p:spPr>
      </p:sp>
      <p:sp>
        <p:nvSpPr>
          <p:cNvPr id="103" name="Text 101"/>
          <p:cNvSpPr txBox="1"/>
          <p:nvPr/>
        </p:nvSpPr>
        <p:spPr>
          <a:xfrm>
            <a:off x="3943350" y="4400550"/>
            <a:ext cx="3657600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0AEE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  </a:t>
            </a:r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Adjustment verdict</a:t>
            </a:r>
            <a:endParaRPr lang="en-US" sz="1100" dirty="0"/>
          </a:p>
        </p:txBody>
      </p:sp>
      <p:sp>
        <p:nvSpPr>
          <p:cNvPr id="104" name="Shape 102"/>
          <p:cNvSpPr/>
          <p:nvPr/>
        </p:nvSpPr>
        <p:spPr>
          <a:xfrm>
            <a:off x="3962400" y="4781550"/>
            <a:ext cx="1257300" cy="323850"/>
          </a:xfrm>
          <a:prstGeom prst="roundRect">
            <a:avLst>
              <a:gd name="adj" fmla="val 50000"/>
            </a:avLst>
          </a:prstGeom>
          <a:solidFill>
            <a:srgbClr val="00395D"/>
          </a:solidFill>
          <a:ln/>
        </p:spPr>
      </p:sp>
      <p:sp>
        <p:nvSpPr>
          <p:cNvPr id="105" name="Text 103"/>
          <p:cNvSpPr txBox="1"/>
          <p:nvPr/>
        </p:nvSpPr>
        <p:spPr>
          <a:xfrm>
            <a:off x="3962400" y="4781550"/>
            <a:ext cx="1257300" cy="3238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 NOT POST</a:t>
            </a:r>
            <a:endParaRPr lang="en-US" sz="900" dirty="0"/>
          </a:p>
        </p:txBody>
      </p:sp>
      <p:sp>
        <p:nvSpPr>
          <p:cNvPr id="106" name="Text 104"/>
          <p:cNvSpPr txBox="1"/>
          <p:nvPr/>
        </p:nvSpPr>
        <p:spPr>
          <a:xfrm>
            <a:off x="5314950" y="4781550"/>
            <a:ext cx="2247900" cy="3238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F2D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 incorrect, price missing, DQ issue, false break</a:t>
            </a:r>
            <a:endParaRPr lang="en-US" sz="950" dirty="0"/>
          </a:p>
        </p:txBody>
      </p:sp>
      <p:sp>
        <p:nvSpPr>
          <p:cNvPr id="107" name="Shape 105"/>
          <p:cNvSpPr/>
          <p:nvPr/>
        </p:nvSpPr>
        <p:spPr>
          <a:xfrm>
            <a:off x="3962400" y="5200650"/>
            <a:ext cx="1257300" cy="323850"/>
          </a:xfrm>
          <a:prstGeom prst="roundRect">
            <a:avLst>
              <a:gd name="adj" fmla="val 50000"/>
            </a:avLst>
          </a:prstGeom>
          <a:solidFill>
            <a:srgbClr val="00AEEF"/>
          </a:solidFill>
          <a:ln/>
        </p:spPr>
      </p:sp>
      <p:sp>
        <p:nvSpPr>
          <p:cNvPr id="108" name="Text 106"/>
          <p:cNvSpPr txBox="1"/>
          <p:nvPr/>
        </p:nvSpPr>
        <p:spPr>
          <a:xfrm>
            <a:off x="3962400" y="5200650"/>
            <a:ext cx="1257300" cy="3238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POST</a:t>
            </a:r>
            <a:endParaRPr lang="en-US" sz="900" dirty="0"/>
          </a:p>
        </p:txBody>
      </p:sp>
      <p:sp>
        <p:nvSpPr>
          <p:cNvPr id="109" name="Text 107"/>
          <p:cNvSpPr txBox="1"/>
          <p:nvPr/>
        </p:nvSpPr>
        <p:spPr>
          <a:xfrm>
            <a:off x="5314950" y="5200650"/>
            <a:ext cx="2247900" cy="3238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F2D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 incorrect, break genuine, amount understood</a:t>
            </a:r>
            <a:endParaRPr lang="en-US" sz="950" dirty="0"/>
          </a:p>
        </p:txBody>
      </p:sp>
      <p:sp>
        <p:nvSpPr>
          <p:cNvPr id="110" name="Shape 108"/>
          <p:cNvSpPr/>
          <p:nvPr/>
        </p:nvSpPr>
        <p:spPr>
          <a:xfrm>
            <a:off x="3962400" y="5619750"/>
            <a:ext cx="1257300" cy="323850"/>
          </a:xfrm>
          <a:prstGeom prst="roundRect">
            <a:avLst>
              <a:gd name="adj" fmla="val 50000"/>
            </a:avLst>
          </a:prstGeom>
          <a:solidFill>
            <a:srgbClr val="5A6B82"/>
          </a:solidFill>
          <a:ln/>
        </p:spPr>
      </p:sp>
      <p:sp>
        <p:nvSpPr>
          <p:cNvPr id="111" name="Text 109"/>
          <p:cNvSpPr txBox="1"/>
          <p:nvPr/>
        </p:nvSpPr>
        <p:spPr>
          <a:xfrm>
            <a:off x="3962400" y="5619750"/>
            <a:ext cx="1257300" cy="3238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ESCALATE</a:t>
            </a:r>
            <a:endParaRPr lang="en-US" sz="900" dirty="0"/>
          </a:p>
        </p:txBody>
      </p:sp>
      <p:sp>
        <p:nvSpPr>
          <p:cNvPr id="112" name="Text 110"/>
          <p:cNvSpPr txBox="1"/>
          <p:nvPr/>
        </p:nvSpPr>
        <p:spPr>
          <a:xfrm>
            <a:off x="5314950" y="5619750"/>
            <a:ext cx="2247900" cy="3238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F2D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Root cause unknown, data unavailable, novel</a:t>
            </a:r>
            <a:endParaRPr lang="en-US" sz="950" dirty="0"/>
          </a:p>
        </p:txBody>
      </p:sp>
      <p:sp>
        <p:nvSpPr>
          <p:cNvPr id="113" name="Shape 111"/>
          <p:cNvSpPr/>
          <p:nvPr/>
        </p:nvSpPr>
        <p:spPr>
          <a:xfrm>
            <a:off x="3962400" y="6038850"/>
            <a:ext cx="1257300" cy="32385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9050">
            <a:solidFill>
              <a:srgbClr val="00AEEF"/>
            </a:solidFill>
            <a:prstDash val="solid"/>
          </a:ln>
        </p:spPr>
      </p:sp>
      <p:sp>
        <p:nvSpPr>
          <p:cNvPr id="114" name="Text 112"/>
          <p:cNvSpPr txBox="1"/>
          <p:nvPr/>
        </p:nvSpPr>
        <p:spPr>
          <a:xfrm>
            <a:off x="3962400" y="6038850"/>
            <a:ext cx="1257300" cy="3238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0AEE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CORRECT &amp; RE-POST</a:t>
            </a:r>
            <a:endParaRPr lang="en-US" sz="900" dirty="0"/>
          </a:p>
        </p:txBody>
      </p:sp>
      <p:sp>
        <p:nvSpPr>
          <p:cNvPr id="115" name="Text 113"/>
          <p:cNvSpPr txBox="1"/>
          <p:nvPr/>
        </p:nvSpPr>
        <p:spPr>
          <a:xfrm>
            <a:off x="5314950" y="6038850"/>
            <a:ext cx="2247900" cy="3238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F2D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Legitimate posting rejected by MOTIF</a:t>
            </a:r>
            <a:endParaRPr lang="en-US" sz="950" dirty="0"/>
          </a:p>
        </p:txBody>
      </p:sp>
      <p:sp>
        <p:nvSpPr>
          <p:cNvPr id="116" name="Text 114"/>
          <p:cNvSpPr txBox="1"/>
          <p:nvPr/>
        </p:nvSpPr>
        <p:spPr>
          <a:xfrm>
            <a:off x="3962400" y="6438900"/>
            <a:ext cx="358140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00395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POST and RE-POST go through FAS MCP only after controller approval</a:t>
            </a:r>
            <a:endParaRPr lang="en-US" sz="850" dirty="0"/>
          </a:p>
        </p:txBody>
      </p:sp>
      <p:sp>
        <p:nvSpPr>
          <p:cNvPr id="117" name="Shape 115"/>
          <p:cNvSpPr/>
          <p:nvPr/>
        </p:nvSpPr>
        <p:spPr>
          <a:xfrm>
            <a:off x="7924800" y="4400550"/>
            <a:ext cx="3143250" cy="2286000"/>
          </a:xfrm>
          <a:prstGeom prst="roundRect">
            <a:avLst>
              <a:gd name="adj" fmla="val 2500"/>
            </a:avLst>
          </a:prstGeom>
          <a:solidFill>
            <a:srgbClr val="FFFFFF"/>
          </a:solidFill>
          <a:ln w="12700">
            <a:solidFill>
              <a:srgbClr val="B3E3F7"/>
            </a:solidFill>
            <a:prstDash val="solid"/>
          </a:ln>
        </p:spPr>
      </p:sp>
      <p:sp>
        <p:nvSpPr>
          <p:cNvPr id="118" name="Shape 116"/>
          <p:cNvSpPr/>
          <p:nvPr/>
        </p:nvSpPr>
        <p:spPr>
          <a:xfrm>
            <a:off x="7924800" y="4400550"/>
            <a:ext cx="3143250" cy="285750"/>
          </a:xfrm>
          <a:prstGeom prst="roundRect">
            <a:avLst>
              <a:gd name="adj" fmla="val 20000"/>
            </a:avLst>
          </a:prstGeom>
          <a:solidFill>
            <a:srgbClr val="00395D"/>
          </a:solidFill>
          <a:ln/>
        </p:spPr>
      </p:sp>
      <p:sp>
        <p:nvSpPr>
          <p:cNvPr id="119" name="Shape 117"/>
          <p:cNvSpPr/>
          <p:nvPr/>
        </p:nvSpPr>
        <p:spPr>
          <a:xfrm>
            <a:off x="7924800" y="4591050"/>
            <a:ext cx="3143250" cy="95250"/>
          </a:xfrm>
          <a:prstGeom prst="rect">
            <a:avLst/>
          </a:prstGeom>
          <a:solidFill>
            <a:srgbClr val="00395D"/>
          </a:solidFill>
          <a:ln/>
        </p:spPr>
      </p:sp>
      <p:sp>
        <p:nvSpPr>
          <p:cNvPr id="120" name="Text 118"/>
          <p:cNvSpPr txBox="1"/>
          <p:nvPr/>
        </p:nvSpPr>
        <p:spPr>
          <a:xfrm>
            <a:off x="8020050" y="4400550"/>
            <a:ext cx="2990850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0AEE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  </a:t>
            </a:r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Remediation and follow-up</a:t>
            </a:r>
            <a:endParaRPr lang="en-US" sz="1100" dirty="0"/>
          </a:p>
        </p:txBody>
      </p:sp>
      <p:sp>
        <p:nvSpPr>
          <p:cNvPr id="121" name="Text 119"/>
          <p:cNvSpPr txBox="1"/>
          <p:nvPr/>
        </p:nvSpPr>
        <p:spPr>
          <a:xfrm>
            <a:off x="8039100" y="4781550"/>
            <a:ext cx="2933700" cy="1809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dirty="0">
                <a:solidFill>
                  <a:srgbClr val="00395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If FO is wrong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1F2D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Desk and controllers, CATS / market data support, DQ incident with RCA, check if systemic, propose an MBREC check.</a:t>
            </a:r>
            <a:endParaRPr lang="en-US" sz="1000" dirty="0"/>
          </a:p>
          <a:p>
            <a:pPr indent="0" marL="0">
              <a:buNone/>
            </a:pPr>
            <a:r>
              <a:rPr lang="en-US" sz="500" dirty="0">
                <a:solidFill>
                  <a:srgbClr val="1F2D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endParaRPr lang="en-US" sz="1000" dirty="0"/>
          </a:p>
          <a:p>
            <a:pPr indent="0" marL="0">
              <a:buNone/>
            </a:pPr>
            <a:r>
              <a:rPr lang="en-US" sz="1000" b="1" dirty="0">
                <a:solidFill>
                  <a:srgbClr val="00395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If BO is wrong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1F2D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Accounting and journal correction, settlement repair, operations engagement, re-posting.</a:t>
            </a:r>
            <a:endParaRPr lang="en-US" sz="1000" dirty="0"/>
          </a:p>
        </p:txBody>
      </p:sp>
      <p:sp>
        <p:nvSpPr>
          <p:cNvPr id="122" name="Shape 120"/>
          <p:cNvSpPr/>
          <p:nvPr/>
        </p:nvSpPr>
        <p:spPr>
          <a:xfrm>
            <a:off x="11334750" y="4400550"/>
            <a:ext cx="3143250" cy="2286000"/>
          </a:xfrm>
          <a:prstGeom prst="roundRect">
            <a:avLst>
              <a:gd name="adj" fmla="val 2500"/>
            </a:avLst>
          </a:prstGeom>
          <a:solidFill>
            <a:srgbClr val="FFFFFF"/>
          </a:solidFill>
          <a:ln w="12700">
            <a:solidFill>
              <a:srgbClr val="B3E3F7"/>
            </a:solidFill>
            <a:prstDash val="solid"/>
          </a:ln>
        </p:spPr>
      </p:sp>
      <p:sp>
        <p:nvSpPr>
          <p:cNvPr id="123" name="Shape 121"/>
          <p:cNvSpPr/>
          <p:nvPr/>
        </p:nvSpPr>
        <p:spPr>
          <a:xfrm>
            <a:off x="11334750" y="4400550"/>
            <a:ext cx="3143250" cy="285750"/>
          </a:xfrm>
          <a:prstGeom prst="roundRect">
            <a:avLst>
              <a:gd name="adj" fmla="val 20000"/>
            </a:avLst>
          </a:prstGeom>
          <a:solidFill>
            <a:srgbClr val="00395D"/>
          </a:solidFill>
          <a:ln/>
        </p:spPr>
      </p:sp>
      <p:sp>
        <p:nvSpPr>
          <p:cNvPr id="124" name="Shape 122"/>
          <p:cNvSpPr/>
          <p:nvPr/>
        </p:nvSpPr>
        <p:spPr>
          <a:xfrm>
            <a:off x="11334750" y="4591050"/>
            <a:ext cx="3143250" cy="95250"/>
          </a:xfrm>
          <a:prstGeom prst="rect">
            <a:avLst/>
          </a:prstGeom>
          <a:solidFill>
            <a:srgbClr val="00395D"/>
          </a:solidFill>
          <a:ln/>
        </p:spPr>
      </p:sp>
      <p:sp>
        <p:nvSpPr>
          <p:cNvPr id="125" name="Text 123"/>
          <p:cNvSpPr txBox="1"/>
          <p:nvPr/>
        </p:nvSpPr>
        <p:spPr>
          <a:xfrm>
            <a:off x="11430000" y="4400550"/>
            <a:ext cx="2990850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0AEE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  </a:t>
            </a:r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Validate end state</a:t>
            </a:r>
            <a:endParaRPr lang="en-US" sz="1100" dirty="0"/>
          </a:p>
        </p:txBody>
      </p:sp>
      <p:sp>
        <p:nvSpPr>
          <p:cNvPr id="126" name="Shape 124"/>
          <p:cNvSpPr/>
          <p:nvPr/>
        </p:nvSpPr>
        <p:spPr>
          <a:xfrm>
            <a:off x="11468100" y="4819650"/>
            <a:ext cx="2876550" cy="419100"/>
          </a:xfrm>
          <a:prstGeom prst="roundRect">
            <a:avLst>
              <a:gd name="adj" fmla="val 11364"/>
            </a:avLst>
          </a:prstGeom>
          <a:solidFill>
            <a:srgbClr val="EAF6FC"/>
          </a:solidFill>
          <a:ln w="12700">
            <a:solidFill>
              <a:srgbClr val="00AEEF"/>
            </a:solidFill>
            <a:prstDash val="solid"/>
          </a:ln>
        </p:spPr>
      </p:sp>
      <p:sp>
        <p:nvSpPr>
          <p:cNvPr id="127" name="Text 125"/>
          <p:cNvSpPr txBox="1"/>
          <p:nvPr/>
        </p:nvSpPr>
        <p:spPr>
          <a:xfrm>
            <a:off x="11468100" y="4819650"/>
            <a:ext cx="2876550" cy="4191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00395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BO PnL + FOBO Adjustments = FO PnL</a:t>
            </a:r>
            <a:endParaRPr lang="en-US" sz="950" dirty="0"/>
          </a:p>
        </p:txBody>
      </p:sp>
      <p:sp>
        <p:nvSpPr>
          <p:cNvPr id="128" name="Text 126"/>
          <p:cNvSpPr txBox="1"/>
          <p:nvPr/>
        </p:nvSpPr>
        <p:spPr>
          <a:xfrm>
            <a:off x="11468100" y="5334000"/>
            <a:ext cx="2876550" cy="476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000" b="1" dirty="0">
                <a:solidFill>
                  <a:srgbClr val="00395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Holds:  </a:t>
            </a:r>
            <a:pPr indent="0" marL="0">
              <a:spcAft>
                <a:spcPts val="400"/>
              </a:spcAft>
              <a:buNone/>
            </a:pPr>
            <a:r>
              <a:rPr lang="en-US" sz="1000" dirty="0">
                <a:solidFill>
                  <a:srgbClr val="1F2D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investigation can close</a:t>
            </a:r>
            <a:endParaRPr lang="en-US" sz="10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000" b="1" dirty="0">
                <a:solidFill>
                  <a:srgbClr val="00395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Fails:  </a:t>
            </a:r>
            <a:pPr indent="0" marL="0">
              <a:spcAft>
                <a:spcPts val="400"/>
              </a:spcAft>
              <a:buNone/>
            </a:pPr>
            <a:r>
              <a:rPr lang="en-US" sz="1000" dirty="0">
                <a:solidFill>
                  <a:srgbClr val="1F2D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investigation remains open</a:t>
            </a:r>
            <a:endParaRPr lang="en-US" sz="1000" dirty="0"/>
          </a:p>
        </p:txBody>
      </p:sp>
      <p:sp>
        <p:nvSpPr>
          <p:cNvPr id="129" name="Text 127"/>
          <p:cNvSpPr txBox="1"/>
          <p:nvPr/>
        </p:nvSpPr>
        <p:spPr>
          <a:xfrm>
            <a:off x="11468100" y="5905500"/>
            <a:ext cx="287655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1F2D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Complete only when all 9 checklist questions are answered: what, why, evidence, root cause, post or not and why, who to engage, which preventative control.</a:t>
            </a:r>
            <a:endParaRPr lang="en-US" sz="900" dirty="0"/>
          </a:p>
        </p:txBody>
      </p:sp>
      <p:sp>
        <p:nvSpPr>
          <p:cNvPr id="130" name="Shape 128"/>
          <p:cNvSpPr/>
          <p:nvPr/>
        </p:nvSpPr>
        <p:spPr>
          <a:xfrm>
            <a:off x="3581400" y="5543550"/>
            <a:ext cx="266700" cy="0"/>
          </a:xfrm>
          <a:prstGeom prst="line">
            <a:avLst/>
          </a:prstGeom>
          <a:noFill/>
          <a:ln w="19050">
            <a:solidFill>
              <a:srgbClr val="00395D"/>
            </a:solidFill>
            <a:prstDash val="solid"/>
            <a:tailEnd type="triangle"/>
          </a:ln>
        </p:spPr>
      </p:sp>
      <p:sp>
        <p:nvSpPr>
          <p:cNvPr id="131" name="Shape 129"/>
          <p:cNvSpPr/>
          <p:nvPr/>
        </p:nvSpPr>
        <p:spPr>
          <a:xfrm>
            <a:off x="7658100" y="5543550"/>
            <a:ext cx="266700" cy="0"/>
          </a:xfrm>
          <a:prstGeom prst="line">
            <a:avLst/>
          </a:prstGeom>
          <a:noFill/>
          <a:ln w="19050">
            <a:solidFill>
              <a:srgbClr val="00395D"/>
            </a:solidFill>
            <a:prstDash val="solid"/>
            <a:tailEnd type="triangle"/>
          </a:ln>
        </p:spPr>
      </p:sp>
      <p:sp>
        <p:nvSpPr>
          <p:cNvPr id="132" name="Shape 130"/>
          <p:cNvSpPr/>
          <p:nvPr/>
        </p:nvSpPr>
        <p:spPr>
          <a:xfrm>
            <a:off x="11068050" y="5543550"/>
            <a:ext cx="266700" cy="0"/>
          </a:xfrm>
          <a:prstGeom prst="line">
            <a:avLst/>
          </a:prstGeom>
          <a:noFill/>
          <a:ln w="19050">
            <a:solidFill>
              <a:srgbClr val="00395D"/>
            </a:solidFill>
            <a:prstDash val="solid"/>
            <a:tailEnd type="triangle"/>
          </a:ln>
        </p:spPr>
      </p:sp>
      <p:sp>
        <p:nvSpPr>
          <p:cNvPr id="133" name="Shape 131"/>
          <p:cNvSpPr/>
          <p:nvPr/>
        </p:nvSpPr>
        <p:spPr>
          <a:xfrm>
            <a:off x="152400" y="6877050"/>
            <a:ext cx="4673600" cy="2266950"/>
          </a:xfrm>
          <a:prstGeom prst="roundRect">
            <a:avLst>
              <a:gd name="adj" fmla="val 3361"/>
            </a:avLst>
          </a:prstGeom>
          <a:solidFill>
            <a:srgbClr val="F5FBFE"/>
          </a:solidFill>
          <a:ln w="12700">
            <a:solidFill>
              <a:srgbClr val="B3E3F7"/>
            </a:solidFill>
            <a:prstDash val="solid"/>
          </a:ln>
        </p:spPr>
      </p:sp>
      <p:sp>
        <p:nvSpPr>
          <p:cNvPr id="134" name="Shape 132"/>
          <p:cNvSpPr/>
          <p:nvPr/>
        </p:nvSpPr>
        <p:spPr>
          <a:xfrm>
            <a:off x="152400" y="6877050"/>
            <a:ext cx="4673600" cy="47625"/>
          </a:xfrm>
          <a:prstGeom prst="rect">
            <a:avLst/>
          </a:prstGeom>
          <a:solidFill>
            <a:srgbClr val="00395D"/>
          </a:solidFill>
          <a:ln/>
        </p:spPr>
      </p:sp>
      <p:sp>
        <p:nvSpPr>
          <p:cNvPr id="135" name="Text 133"/>
          <p:cNvSpPr txBox="1"/>
          <p:nvPr/>
        </p:nvSpPr>
        <p:spPr>
          <a:xfrm>
            <a:off x="304800" y="6991350"/>
            <a:ext cx="4387850" cy="2476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00395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Recurring patterns</a:t>
            </a:r>
            <a:endParaRPr lang="en-US" sz="1250" dirty="0"/>
          </a:p>
        </p:txBody>
      </p:sp>
      <p:sp>
        <p:nvSpPr>
          <p:cNvPr id="136" name="Text 134"/>
          <p:cNvSpPr txBox="1"/>
          <p:nvPr/>
        </p:nvSpPr>
        <p:spPr>
          <a:xfrm>
            <a:off x="304800" y="7334250"/>
            <a:ext cx="324485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F2D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Reapplication</a:t>
            </a:r>
            <a:endParaRPr lang="en-US" sz="1050" dirty="0"/>
          </a:p>
          <a:p>
            <a:pPr indent="0" marL="0">
              <a:buNone/>
            </a:pPr>
            <a:r>
              <a:rPr lang="en-US" sz="900" dirty="0">
                <a:solidFill>
                  <a:srgbClr val="5A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Matches prior-day carry-forward</a:t>
            </a:r>
            <a:endParaRPr lang="en-US" sz="1050" dirty="0"/>
          </a:p>
        </p:txBody>
      </p:sp>
      <p:sp>
        <p:nvSpPr>
          <p:cNvPr id="137" name="Shape 135"/>
          <p:cNvSpPr/>
          <p:nvPr/>
        </p:nvSpPr>
        <p:spPr>
          <a:xfrm>
            <a:off x="3606800" y="7391400"/>
            <a:ext cx="1066800" cy="24765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2700">
            <a:solidFill>
              <a:srgbClr val="00AEEF"/>
            </a:solidFill>
            <a:prstDash val="solid"/>
          </a:ln>
        </p:spPr>
      </p:sp>
      <p:sp>
        <p:nvSpPr>
          <p:cNvPr id="138" name="Text 136"/>
          <p:cNvSpPr txBox="1"/>
          <p:nvPr/>
        </p:nvSpPr>
        <p:spPr>
          <a:xfrm>
            <a:off x="3606800" y="7391400"/>
            <a:ext cx="1066800" cy="2476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00395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POST</a:t>
            </a:r>
            <a:endParaRPr lang="en-US" sz="850" dirty="0"/>
          </a:p>
        </p:txBody>
      </p:sp>
      <p:sp>
        <p:nvSpPr>
          <p:cNvPr id="139" name="Text 137"/>
          <p:cNvSpPr txBox="1"/>
          <p:nvPr/>
        </p:nvSpPr>
        <p:spPr>
          <a:xfrm>
            <a:off x="304800" y="7753350"/>
            <a:ext cx="324485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F2D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Missing side</a:t>
            </a:r>
            <a:endParaRPr lang="en-US" sz="1050" dirty="0"/>
          </a:p>
          <a:p>
            <a:pPr indent="0" marL="0">
              <a:buNone/>
            </a:pPr>
            <a:r>
              <a:rPr lang="en-US" sz="900" dirty="0">
                <a:solidFill>
                  <a:srgbClr val="5A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Evidence supports legitimacy</a:t>
            </a:r>
            <a:endParaRPr lang="en-US" sz="1050" dirty="0"/>
          </a:p>
        </p:txBody>
      </p:sp>
      <p:sp>
        <p:nvSpPr>
          <p:cNvPr id="140" name="Shape 138"/>
          <p:cNvSpPr/>
          <p:nvPr/>
        </p:nvSpPr>
        <p:spPr>
          <a:xfrm>
            <a:off x="3606800" y="7810500"/>
            <a:ext cx="1066800" cy="24765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2700">
            <a:solidFill>
              <a:srgbClr val="00AEEF"/>
            </a:solidFill>
            <a:prstDash val="solid"/>
          </a:ln>
        </p:spPr>
      </p:sp>
      <p:sp>
        <p:nvSpPr>
          <p:cNvPr id="141" name="Text 139"/>
          <p:cNvSpPr txBox="1"/>
          <p:nvPr/>
        </p:nvSpPr>
        <p:spPr>
          <a:xfrm>
            <a:off x="3606800" y="7810500"/>
            <a:ext cx="1066800" cy="2476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00395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POST</a:t>
            </a:r>
            <a:endParaRPr lang="en-US" sz="850" dirty="0"/>
          </a:p>
        </p:txBody>
      </p:sp>
      <p:sp>
        <p:nvSpPr>
          <p:cNvPr id="142" name="Text 140"/>
          <p:cNvSpPr txBox="1"/>
          <p:nvPr/>
        </p:nvSpPr>
        <p:spPr>
          <a:xfrm>
            <a:off x="304800" y="8172450"/>
            <a:ext cx="324485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F2D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Static outlier</a:t>
            </a:r>
            <a:endParaRPr lang="en-US" sz="1050" dirty="0"/>
          </a:p>
          <a:p>
            <a:pPr indent="0" marL="0">
              <a:buNone/>
            </a:pPr>
            <a:r>
              <a:rPr lang="en-US" sz="900" dirty="0">
                <a:solidFill>
                  <a:srgbClr val="5A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enrichment or reference data</a:t>
            </a:r>
            <a:endParaRPr lang="en-US" sz="1050" dirty="0"/>
          </a:p>
        </p:txBody>
      </p:sp>
      <p:sp>
        <p:nvSpPr>
          <p:cNvPr id="143" name="Shape 141"/>
          <p:cNvSpPr/>
          <p:nvPr/>
        </p:nvSpPr>
        <p:spPr>
          <a:xfrm>
            <a:off x="3606800" y="8229600"/>
            <a:ext cx="1066800" cy="24765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2700">
            <a:solidFill>
              <a:srgbClr val="00AEEF"/>
            </a:solidFill>
            <a:prstDash val="solid"/>
          </a:ln>
        </p:spPr>
      </p:sp>
      <p:sp>
        <p:nvSpPr>
          <p:cNvPr id="144" name="Text 142"/>
          <p:cNvSpPr txBox="1"/>
          <p:nvPr/>
        </p:nvSpPr>
        <p:spPr>
          <a:xfrm>
            <a:off x="3606800" y="8229600"/>
            <a:ext cx="1066800" cy="2476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00395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 NOT POST</a:t>
            </a:r>
            <a:endParaRPr lang="en-US" sz="850" dirty="0"/>
          </a:p>
        </p:txBody>
      </p:sp>
      <p:sp>
        <p:nvSpPr>
          <p:cNvPr id="145" name="Text 143"/>
          <p:cNvSpPr txBox="1"/>
          <p:nvPr/>
        </p:nvSpPr>
        <p:spPr>
          <a:xfrm>
            <a:off x="304800" y="8591550"/>
            <a:ext cx="324485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F2D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Posting failure</a:t>
            </a:r>
            <a:endParaRPr lang="en-US" sz="1050" dirty="0"/>
          </a:p>
          <a:p>
            <a:pPr indent="0" marL="0">
              <a:buNone/>
            </a:pPr>
            <a:r>
              <a:rPr lang="en-US" sz="900" dirty="0">
                <a:solidFill>
                  <a:srgbClr val="5A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MOTIF rejected a valid posting</a:t>
            </a:r>
            <a:endParaRPr lang="en-US" sz="1050" dirty="0"/>
          </a:p>
        </p:txBody>
      </p:sp>
      <p:sp>
        <p:nvSpPr>
          <p:cNvPr id="146" name="Shape 144"/>
          <p:cNvSpPr/>
          <p:nvPr/>
        </p:nvSpPr>
        <p:spPr>
          <a:xfrm>
            <a:off x="3606800" y="8648700"/>
            <a:ext cx="1066800" cy="24765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2700">
            <a:solidFill>
              <a:srgbClr val="00AEEF"/>
            </a:solidFill>
            <a:prstDash val="solid"/>
          </a:ln>
        </p:spPr>
      </p:sp>
      <p:sp>
        <p:nvSpPr>
          <p:cNvPr id="147" name="Text 145"/>
          <p:cNvSpPr txBox="1"/>
          <p:nvPr/>
        </p:nvSpPr>
        <p:spPr>
          <a:xfrm>
            <a:off x="3606800" y="8648700"/>
            <a:ext cx="1066800" cy="2476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00395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RE-POST</a:t>
            </a:r>
            <a:endParaRPr lang="en-US" sz="850" dirty="0"/>
          </a:p>
        </p:txBody>
      </p:sp>
      <p:sp>
        <p:nvSpPr>
          <p:cNvPr id="148" name="Shape 146"/>
          <p:cNvSpPr/>
          <p:nvPr/>
        </p:nvSpPr>
        <p:spPr>
          <a:xfrm>
            <a:off x="4978400" y="6877050"/>
            <a:ext cx="4673600" cy="2266950"/>
          </a:xfrm>
          <a:prstGeom prst="roundRect">
            <a:avLst>
              <a:gd name="adj" fmla="val 3361"/>
            </a:avLst>
          </a:prstGeom>
          <a:solidFill>
            <a:srgbClr val="F5FBFE"/>
          </a:solidFill>
          <a:ln w="12700">
            <a:solidFill>
              <a:srgbClr val="B3E3F7"/>
            </a:solidFill>
            <a:prstDash val="solid"/>
          </a:ln>
        </p:spPr>
      </p:sp>
      <p:sp>
        <p:nvSpPr>
          <p:cNvPr id="149" name="Shape 147"/>
          <p:cNvSpPr/>
          <p:nvPr/>
        </p:nvSpPr>
        <p:spPr>
          <a:xfrm>
            <a:off x="4978400" y="6877050"/>
            <a:ext cx="4673600" cy="47625"/>
          </a:xfrm>
          <a:prstGeom prst="rect">
            <a:avLst/>
          </a:prstGeom>
          <a:solidFill>
            <a:srgbClr val="5A6B82"/>
          </a:solidFill>
          <a:ln/>
        </p:spPr>
      </p:sp>
      <p:sp>
        <p:nvSpPr>
          <p:cNvPr id="150" name="Text 148"/>
          <p:cNvSpPr txBox="1"/>
          <p:nvPr/>
        </p:nvSpPr>
        <p:spPr>
          <a:xfrm>
            <a:off x="5130800" y="6991350"/>
            <a:ext cx="4387850" cy="2476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00395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Anti-patterns to avoid</a:t>
            </a:r>
            <a:endParaRPr lang="en-US" sz="1250" dirty="0"/>
          </a:p>
        </p:txBody>
      </p:sp>
      <p:sp>
        <p:nvSpPr>
          <p:cNvPr id="151" name="Text 149"/>
          <p:cNvSpPr txBox="1"/>
          <p:nvPr/>
        </p:nvSpPr>
        <p:spPr>
          <a:xfrm>
            <a:off x="5130800" y="7315200"/>
            <a:ext cx="4387850" cy="1714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52400" indent="-152400">
              <a:spcAft>
                <a:spcPts val="700"/>
              </a:spcAft>
              <a:buSzPct val="100000"/>
              <a:buChar char="•"/>
            </a:pPr>
            <a:r>
              <a:rPr lang="en-US" sz="1050" dirty="0">
                <a:solidFill>
                  <a:srgbClr val="1F2D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Break exists, assume BO wrong, post</a:t>
            </a:r>
            <a:endParaRPr lang="en-US" sz="1050" dirty="0"/>
          </a:p>
          <a:p>
            <a:pPr marL="152400" indent="-152400">
              <a:spcAft>
                <a:spcPts val="700"/>
              </a:spcAft>
              <a:buSzPct val="100000"/>
              <a:buChar char="•"/>
            </a:pPr>
            <a:r>
              <a:rPr lang="en-US" sz="1050" dirty="0">
                <a:solidFill>
                  <a:srgbClr val="1F2D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Posting by elimination: "BO passed, so post"</a:t>
            </a:r>
            <a:endParaRPr lang="en-US" sz="1050" dirty="0"/>
          </a:p>
          <a:p>
            <a:pPr marL="152400" indent="-152400">
              <a:spcAft>
                <a:spcPts val="700"/>
              </a:spcAft>
              <a:buSzPct val="100000"/>
              <a:buChar char="•"/>
            </a:pPr>
            <a:r>
              <a:rPr lang="en-US" sz="1050" dirty="0">
                <a:solidFill>
                  <a:srgbClr val="1F2D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Treating Price = 0 as wrong without evidence</a:t>
            </a:r>
            <a:endParaRPr lang="en-US" sz="1050" dirty="0"/>
          </a:p>
          <a:p>
            <a:pPr marL="152400" indent="-152400">
              <a:spcAft>
                <a:spcPts val="700"/>
              </a:spcAft>
              <a:buSzPct val="100000"/>
              <a:buChar char="•"/>
            </a:pPr>
            <a:r>
              <a:rPr lang="en-US" sz="1050" dirty="0">
                <a:solidFill>
                  <a:srgbClr val="1F2D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Reporting a plausible cause as the cause</a:t>
            </a:r>
            <a:endParaRPr lang="en-US" sz="1050" dirty="0"/>
          </a:p>
          <a:p>
            <a:pPr marL="152400" indent="-152400">
              <a:spcAft>
                <a:spcPts val="700"/>
              </a:spcAft>
              <a:buSzPct val="100000"/>
              <a:buChar char="•"/>
            </a:pPr>
            <a:r>
              <a:rPr lang="en-US" sz="1050" dirty="0">
                <a:solidFill>
                  <a:srgbClr val="1F2D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Stopping at the posting decision</a:t>
            </a:r>
            <a:endParaRPr lang="en-US" sz="1050" dirty="0"/>
          </a:p>
        </p:txBody>
      </p:sp>
      <p:sp>
        <p:nvSpPr>
          <p:cNvPr id="152" name="Shape 150"/>
          <p:cNvSpPr/>
          <p:nvPr/>
        </p:nvSpPr>
        <p:spPr>
          <a:xfrm>
            <a:off x="9804400" y="6877050"/>
            <a:ext cx="4673600" cy="2266950"/>
          </a:xfrm>
          <a:prstGeom prst="roundRect">
            <a:avLst>
              <a:gd name="adj" fmla="val 3361"/>
            </a:avLst>
          </a:prstGeom>
          <a:solidFill>
            <a:srgbClr val="F5FBFE"/>
          </a:solidFill>
          <a:ln w="12700">
            <a:solidFill>
              <a:srgbClr val="B3E3F7"/>
            </a:solidFill>
            <a:prstDash val="solid"/>
          </a:ln>
        </p:spPr>
      </p:sp>
      <p:sp>
        <p:nvSpPr>
          <p:cNvPr id="153" name="Shape 151"/>
          <p:cNvSpPr/>
          <p:nvPr/>
        </p:nvSpPr>
        <p:spPr>
          <a:xfrm>
            <a:off x="9804400" y="6877050"/>
            <a:ext cx="4673600" cy="47625"/>
          </a:xfrm>
          <a:prstGeom prst="rect">
            <a:avLst/>
          </a:prstGeom>
          <a:solidFill>
            <a:srgbClr val="00AEEF"/>
          </a:solidFill>
          <a:ln/>
        </p:spPr>
      </p:sp>
      <p:sp>
        <p:nvSpPr>
          <p:cNvPr id="154" name="Text 152"/>
          <p:cNvSpPr txBox="1"/>
          <p:nvPr/>
        </p:nvSpPr>
        <p:spPr>
          <a:xfrm>
            <a:off x="9956800" y="6991350"/>
            <a:ext cx="4387850" cy="2476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00395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investigation outputs</a:t>
            </a:r>
            <a:endParaRPr lang="en-US" sz="1250" dirty="0"/>
          </a:p>
        </p:txBody>
      </p:sp>
      <p:sp>
        <p:nvSpPr>
          <p:cNvPr id="155" name="Shape 153"/>
          <p:cNvSpPr/>
          <p:nvPr/>
        </p:nvSpPr>
        <p:spPr>
          <a:xfrm>
            <a:off x="9956800" y="7362825"/>
            <a:ext cx="209550" cy="209550"/>
          </a:xfrm>
          <a:prstGeom prst="ellipse">
            <a:avLst/>
          </a:prstGeom>
          <a:solidFill>
            <a:srgbClr val="00395D"/>
          </a:solidFill>
          <a:ln/>
        </p:spPr>
      </p:sp>
      <p:sp>
        <p:nvSpPr>
          <p:cNvPr id="156" name="Text 154"/>
          <p:cNvSpPr txBox="1"/>
          <p:nvPr/>
        </p:nvSpPr>
        <p:spPr>
          <a:xfrm>
            <a:off x="9956800" y="7362825"/>
            <a:ext cx="209550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900" dirty="0"/>
          </a:p>
        </p:txBody>
      </p:sp>
      <p:sp>
        <p:nvSpPr>
          <p:cNvPr id="157" name="Text 155"/>
          <p:cNvSpPr txBox="1"/>
          <p:nvPr/>
        </p:nvSpPr>
        <p:spPr>
          <a:xfrm>
            <a:off x="10242550" y="7334250"/>
            <a:ext cx="186055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F2D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Break summary</a:t>
            </a:r>
            <a:endParaRPr lang="en-US" sz="1050" dirty="0"/>
          </a:p>
        </p:txBody>
      </p:sp>
      <p:sp>
        <p:nvSpPr>
          <p:cNvPr id="158" name="Shape 156"/>
          <p:cNvSpPr/>
          <p:nvPr/>
        </p:nvSpPr>
        <p:spPr>
          <a:xfrm>
            <a:off x="9956800" y="7667625"/>
            <a:ext cx="209550" cy="209550"/>
          </a:xfrm>
          <a:prstGeom prst="ellipse">
            <a:avLst/>
          </a:prstGeom>
          <a:solidFill>
            <a:srgbClr val="00395D"/>
          </a:solidFill>
          <a:ln/>
        </p:spPr>
      </p:sp>
      <p:sp>
        <p:nvSpPr>
          <p:cNvPr id="159" name="Text 157"/>
          <p:cNvSpPr txBox="1"/>
          <p:nvPr/>
        </p:nvSpPr>
        <p:spPr>
          <a:xfrm>
            <a:off x="9956800" y="7667625"/>
            <a:ext cx="209550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900" dirty="0"/>
          </a:p>
        </p:txBody>
      </p:sp>
      <p:sp>
        <p:nvSpPr>
          <p:cNvPr id="160" name="Text 158"/>
          <p:cNvSpPr txBox="1"/>
          <p:nvPr/>
        </p:nvSpPr>
        <p:spPr>
          <a:xfrm>
            <a:off x="10242550" y="7639050"/>
            <a:ext cx="186055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F2D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Checks performed</a:t>
            </a:r>
            <a:endParaRPr lang="en-US" sz="1050" dirty="0"/>
          </a:p>
        </p:txBody>
      </p:sp>
      <p:sp>
        <p:nvSpPr>
          <p:cNvPr id="161" name="Shape 159"/>
          <p:cNvSpPr/>
          <p:nvPr/>
        </p:nvSpPr>
        <p:spPr>
          <a:xfrm>
            <a:off x="9956800" y="7972425"/>
            <a:ext cx="209550" cy="209550"/>
          </a:xfrm>
          <a:prstGeom prst="ellipse">
            <a:avLst/>
          </a:prstGeom>
          <a:solidFill>
            <a:srgbClr val="00395D"/>
          </a:solidFill>
          <a:ln/>
        </p:spPr>
      </p:sp>
      <p:sp>
        <p:nvSpPr>
          <p:cNvPr id="162" name="Text 160"/>
          <p:cNvSpPr txBox="1"/>
          <p:nvPr/>
        </p:nvSpPr>
        <p:spPr>
          <a:xfrm>
            <a:off x="9956800" y="7972425"/>
            <a:ext cx="209550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900" dirty="0"/>
          </a:p>
        </p:txBody>
      </p:sp>
      <p:sp>
        <p:nvSpPr>
          <p:cNvPr id="163" name="Text 161"/>
          <p:cNvSpPr txBox="1"/>
          <p:nvPr/>
        </p:nvSpPr>
        <p:spPr>
          <a:xfrm>
            <a:off x="10242550" y="7943850"/>
            <a:ext cx="186055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F2D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Root cause</a:t>
            </a:r>
            <a:endParaRPr lang="en-US" sz="1050" dirty="0"/>
          </a:p>
        </p:txBody>
      </p:sp>
      <p:sp>
        <p:nvSpPr>
          <p:cNvPr id="164" name="Shape 162"/>
          <p:cNvSpPr/>
          <p:nvPr/>
        </p:nvSpPr>
        <p:spPr>
          <a:xfrm>
            <a:off x="9956800" y="8277225"/>
            <a:ext cx="209550" cy="209550"/>
          </a:xfrm>
          <a:prstGeom prst="ellipse">
            <a:avLst/>
          </a:prstGeom>
          <a:solidFill>
            <a:srgbClr val="00395D"/>
          </a:solidFill>
          <a:ln/>
        </p:spPr>
      </p:sp>
      <p:sp>
        <p:nvSpPr>
          <p:cNvPr id="165" name="Text 163"/>
          <p:cNvSpPr txBox="1"/>
          <p:nvPr/>
        </p:nvSpPr>
        <p:spPr>
          <a:xfrm>
            <a:off x="9956800" y="8277225"/>
            <a:ext cx="209550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900" dirty="0"/>
          </a:p>
        </p:txBody>
      </p:sp>
      <p:sp>
        <p:nvSpPr>
          <p:cNvPr id="166" name="Text 164"/>
          <p:cNvSpPr txBox="1"/>
          <p:nvPr/>
        </p:nvSpPr>
        <p:spPr>
          <a:xfrm>
            <a:off x="10242550" y="8248650"/>
            <a:ext cx="186055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F2D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Classification</a:t>
            </a:r>
            <a:endParaRPr lang="en-US" sz="1050" dirty="0"/>
          </a:p>
        </p:txBody>
      </p:sp>
      <p:sp>
        <p:nvSpPr>
          <p:cNvPr id="167" name="Shape 165"/>
          <p:cNvSpPr/>
          <p:nvPr/>
        </p:nvSpPr>
        <p:spPr>
          <a:xfrm>
            <a:off x="12141200" y="7362825"/>
            <a:ext cx="209550" cy="209550"/>
          </a:xfrm>
          <a:prstGeom prst="ellipse">
            <a:avLst/>
          </a:prstGeom>
          <a:solidFill>
            <a:srgbClr val="00395D"/>
          </a:solidFill>
          <a:ln/>
        </p:spPr>
      </p:sp>
      <p:sp>
        <p:nvSpPr>
          <p:cNvPr id="168" name="Text 166"/>
          <p:cNvSpPr txBox="1"/>
          <p:nvPr/>
        </p:nvSpPr>
        <p:spPr>
          <a:xfrm>
            <a:off x="12141200" y="7362825"/>
            <a:ext cx="209550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900" dirty="0"/>
          </a:p>
        </p:txBody>
      </p:sp>
      <p:sp>
        <p:nvSpPr>
          <p:cNvPr id="169" name="Text 167"/>
          <p:cNvSpPr txBox="1"/>
          <p:nvPr/>
        </p:nvSpPr>
        <p:spPr>
          <a:xfrm>
            <a:off x="12426950" y="7334250"/>
            <a:ext cx="186055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F2D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Verdict</a:t>
            </a:r>
            <a:endParaRPr lang="en-US" sz="1050" dirty="0"/>
          </a:p>
        </p:txBody>
      </p:sp>
      <p:sp>
        <p:nvSpPr>
          <p:cNvPr id="170" name="Shape 168"/>
          <p:cNvSpPr/>
          <p:nvPr/>
        </p:nvSpPr>
        <p:spPr>
          <a:xfrm>
            <a:off x="12141200" y="7667625"/>
            <a:ext cx="209550" cy="209550"/>
          </a:xfrm>
          <a:prstGeom prst="ellipse">
            <a:avLst/>
          </a:prstGeom>
          <a:solidFill>
            <a:srgbClr val="00395D"/>
          </a:solidFill>
          <a:ln/>
        </p:spPr>
      </p:sp>
      <p:sp>
        <p:nvSpPr>
          <p:cNvPr id="171" name="Text 169"/>
          <p:cNvSpPr txBox="1"/>
          <p:nvPr/>
        </p:nvSpPr>
        <p:spPr>
          <a:xfrm>
            <a:off x="12141200" y="7667625"/>
            <a:ext cx="209550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900" dirty="0"/>
          </a:p>
        </p:txBody>
      </p:sp>
      <p:sp>
        <p:nvSpPr>
          <p:cNvPr id="172" name="Text 170"/>
          <p:cNvSpPr txBox="1"/>
          <p:nvPr/>
        </p:nvSpPr>
        <p:spPr>
          <a:xfrm>
            <a:off x="12426950" y="7639050"/>
            <a:ext cx="186055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F2D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Remediation</a:t>
            </a:r>
            <a:endParaRPr lang="en-US" sz="1050" dirty="0"/>
          </a:p>
        </p:txBody>
      </p:sp>
      <p:sp>
        <p:nvSpPr>
          <p:cNvPr id="173" name="Shape 171"/>
          <p:cNvSpPr/>
          <p:nvPr/>
        </p:nvSpPr>
        <p:spPr>
          <a:xfrm>
            <a:off x="12141200" y="7972425"/>
            <a:ext cx="209550" cy="209550"/>
          </a:xfrm>
          <a:prstGeom prst="ellipse">
            <a:avLst/>
          </a:prstGeom>
          <a:solidFill>
            <a:srgbClr val="00395D"/>
          </a:solidFill>
          <a:ln/>
        </p:spPr>
      </p:sp>
      <p:sp>
        <p:nvSpPr>
          <p:cNvPr id="174" name="Text 172"/>
          <p:cNvSpPr txBox="1"/>
          <p:nvPr/>
        </p:nvSpPr>
        <p:spPr>
          <a:xfrm>
            <a:off x="12141200" y="7972425"/>
            <a:ext cx="209550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900" dirty="0"/>
          </a:p>
        </p:txBody>
      </p:sp>
      <p:sp>
        <p:nvSpPr>
          <p:cNvPr id="175" name="Text 173"/>
          <p:cNvSpPr txBox="1"/>
          <p:nvPr/>
        </p:nvSpPr>
        <p:spPr>
          <a:xfrm>
            <a:off x="12426950" y="7943850"/>
            <a:ext cx="186055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F2D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End-state validation</a:t>
            </a:r>
            <a:endParaRPr lang="en-US" sz="1050" dirty="0"/>
          </a:p>
        </p:txBody>
      </p:sp>
      <p:sp>
        <p:nvSpPr>
          <p:cNvPr id="176" name="Text 174"/>
          <p:cNvSpPr txBox="1"/>
          <p:nvPr/>
        </p:nvSpPr>
        <p:spPr>
          <a:xfrm>
            <a:off x="9956800" y="8705850"/>
            <a:ext cx="4387850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00395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P1: never invent a threshold. Unset parameters make the conclusion conditional.</a:t>
            </a:r>
            <a:endParaRPr lang="en-US" sz="900" dirty="0"/>
          </a:p>
        </p:txBody>
      </p:sp>
      <p:sp>
        <p:nvSpPr>
          <p:cNvPr id="177" name="Shape 175"/>
          <p:cNvSpPr/>
          <p:nvPr/>
        </p:nvSpPr>
        <p:spPr>
          <a:xfrm>
            <a:off x="0" y="9277350"/>
            <a:ext cx="14630400" cy="476250"/>
          </a:xfrm>
          <a:prstGeom prst="rect">
            <a:avLst/>
          </a:prstGeom>
          <a:solidFill>
            <a:srgbClr val="00395D"/>
          </a:solidFill>
          <a:ln/>
        </p:spPr>
      </p:sp>
      <p:sp>
        <p:nvSpPr>
          <p:cNvPr id="178" name="Text 176"/>
          <p:cNvSpPr txBox="1"/>
          <p:nvPr/>
        </p:nvSpPr>
        <p:spPr>
          <a:xfrm>
            <a:off x="0" y="9277350"/>
            <a:ext cx="14630400" cy="4762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Helix Architecture</a:t>
            </a:r>
            <a:pPr algn="ctr"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|   Smarter Reconciliation. Stronger Control. Greater Insight.</a:t>
            </a:r>
            <a:endParaRPr lang="en-US" sz="12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685800"/>
          </a:xfrm>
          <a:prstGeom prst="rect">
            <a:avLst/>
          </a:prstGeom>
          <a:solidFill>
            <a:srgbClr val="00395D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304800" y="0"/>
            <a:ext cx="114300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Before We Start: Data and Evaluations</a:t>
            </a:r>
            <a:pPr indent="0" marL="0">
              <a:buNone/>
            </a:pPr>
            <a:r>
              <a:rPr lang="en-US" sz="1400" dirty="0">
                <a:solidFill>
                  <a:srgbClr val="D9F0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|   What Agent One needs, and how we prove it works</a:t>
            </a:r>
            <a:endParaRPr lang="en-US" sz="1000" dirty="0"/>
          </a:p>
        </p:txBody>
      </p:sp>
      <p:sp>
        <p:nvSpPr>
          <p:cNvPr id="4" name="Text 2"/>
          <p:cNvSpPr txBox="1"/>
          <p:nvPr/>
        </p:nvSpPr>
        <p:spPr>
          <a:xfrm>
            <a:off x="11772900" y="0"/>
            <a:ext cx="27051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Helix Architecture</a:t>
            </a:r>
            <a:endParaRPr lang="en-US" sz="1800" dirty="0"/>
          </a:p>
        </p:txBody>
      </p:sp>
      <p:sp>
        <p:nvSpPr>
          <p:cNvPr id="5" name="Text 3"/>
          <p:cNvSpPr txBox="1"/>
          <p:nvPr/>
        </p:nvSpPr>
        <p:spPr>
          <a:xfrm>
            <a:off x="152400" y="819150"/>
            <a:ext cx="5810250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0AEE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  </a:t>
            </a:r>
            <a:pPr indent="0" marL="0">
              <a:buNone/>
            </a:pPr>
            <a:r>
              <a:rPr lang="en-US" sz="1400" b="1" dirty="0">
                <a:solidFill>
                  <a:srgbClr val="00395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required (MB Rec and other sources only)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152400" y="1123950"/>
            <a:ext cx="5810250" cy="0"/>
          </a:xfrm>
          <a:prstGeom prst="line">
            <a:avLst/>
          </a:prstGeom>
          <a:noFill/>
          <a:ln w="19050">
            <a:solidFill>
              <a:srgbClr val="00395D"/>
            </a:solidFill>
            <a:prstDash val="solid"/>
          </a:ln>
        </p:spPr>
      </p:sp>
      <p:graphicFrame>
        <p:nvGraphicFramePr>
          <p:cNvPr id="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152400" y="1219200"/>
          <a:ext cx="5810250" cy="914400"/>
        </p:xfrm>
        <a:graphic>
          <a:graphicData uri="http://schemas.openxmlformats.org/drawingml/2006/table">
            <a:tbl>
              <a:tblPr/>
              <a:tblGrid>
                <a:gridCol w="3429000"/>
                <a:gridCol w="1524000"/>
                <a:gridCol w="857250"/>
              </a:tblGrid>
              <a:tr h="32385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Data item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64008" marB="64008" anchor="ctr">
                    <a:lnL w="6350" cap="flat" cmpd="sng" algn="ctr">
                      <a:solidFill>
                        <a:srgbClr val="B3E3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3E3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3E3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3E3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395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Used by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64008" marB="64008" anchor="ctr">
                    <a:lnL w="6350" cap="flat" cmpd="sng" algn="ctr">
                      <a:solidFill>
                        <a:srgbClr val="B3E3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3E3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3E3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3E3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395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Source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64008" marB="64008" anchor="ctr">
                    <a:lnL w="6350" cap="flat" cmpd="sng" algn="ctr">
                      <a:solidFill>
                        <a:srgbClr val="B3E3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3E3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3E3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3E3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395D"/>
                    </a:solidFill>
                  </a:tcPr>
                </a:tc>
              </a:tr>
              <a:tr h="466725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F2D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Break population: open, failed, auto-posted, unaddressed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64008" marB="64008" anchor="ctr">
                    <a:lnL w="6350" cap="flat" cmpd="sng" algn="ctr">
                      <a:solidFill>
                        <a:srgbClr val="B3E3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3E3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3E3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3E3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BF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5A6B8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Step 1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64008" marB="64008" anchor="ctr">
                    <a:lnL w="6350" cap="flat" cmpd="sng" algn="ctr">
                      <a:solidFill>
                        <a:srgbClr val="B3E3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3E3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3E3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3E3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BF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00395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MB Rec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64008" marB="64008" anchor="ctr">
                    <a:lnL w="6350" cap="flat" cmpd="sng" algn="ctr">
                      <a:solidFill>
                        <a:srgbClr val="B3E3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3E3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3E3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3E3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BFE"/>
                    </a:solidFill>
                  </a:tcPr>
                </a:tc>
              </a:tr>
              <a:tr h="466725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F2D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FO and BO PnL by position, book and date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64008" marB="64008" anchor="ctr">
                    <a:lnL w="6350" cap="flat" cmpd="sng" algn="ctr">
                      <a:solidFill>
                        <a:srgbClr val="B3E3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3E3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3E3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3E3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5A6B8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Summary, R3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64008" marB="64008" anchor="ctr">
                    <a:lnL w="6350" cap="flat" cmpd="sng" algn="ctr">
                      <a:solidFill>
                        <a:srgbClr val="B3E3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3E3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3E3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3E3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00395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MB Rec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64008" marB="64008" anchor="ctr">
                    <a:lnL w="6350" cap="flat" cmpd="sng" algn="ctr">
                      <a:solidFill>
                        <a:srgbClr val="B3E3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3E3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3E3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3E3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66725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F2D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Current and prior-day position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64008" marB="64008" anchor="ctr">
                    <a:lnL w="6350" cap="flat" cmpd="sng" algn="ctr">
                      <a:solidFill>
                        <a:srgbClr val="B3E3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3E3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3E3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3E3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BF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5A6B8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FO-1, BO-1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64008" marB="64008" anchor="ctr">
                    <a:lnL w="6350" cap="flat" cmpd="sng" algn="ctr">
                      <a:solidFill>
                        <a:srgbClr val="B3E3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3E3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3E3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3E3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BF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00395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MB Rec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64008" marB="64008" anchor="ctr">
                    <a:lnL w="6350" cap="flat" cmpd="sng" algn="ctr">
                      <a:solidFill>
                        <a:srgbClr val="B3E3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3E3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3E3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3E3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BFE"/>
                    </a:solidFill>
                  </a:tcPr>
                </a:tc>
              </a:tr>
              <a:tr h="466725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F2D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Current and prior-day price, pricing source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64008" marB="64008" anchor="ctr">
                    <a:lnL w="6350" cap="flat" cmpd="sng" algn="ctr">
                      <a:solidFill>
                        <a:srgbClr val="B3E3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3E3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3E3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3E3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5A6B8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FO-2, FO-4, BO-2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64008" marB="64008" anchor="ctr">
                    <a:lnL w="6350" cap="flat" cmpd="sng" algn="ctr">
                      <a:solidFill>
                        <a:srgbClr val="B3E3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3E3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3E3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3E3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00395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MB Rec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64008" marB="64008" anchor="ctr">
                    <a:lnL w="6350" cap="flat" cmpd="sng" algn="ctr">
                      <a:solidFill>
                        <a:srgbClr val="B3E3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3E3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3E3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3E3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66725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F2D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Pull factor history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64008" marB="64008" anchor="ctr">
                    <a:lnL w="6350" cap="flat" cmpd="sng" algn="ctr">
                      <a:solidFill>
                        <a:srgbClr val="B3E3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3E3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3E3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3E3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BF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5A6B8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FO-3, FO-6, BO-3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64008" marB="64008" anchor="ctr">
                    <a:lnL w="6350" cap="flat" cmpd="sng" algn="ctr">
                      <a:solidFill>
                        <a:srgbClr val="B3E3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3E3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3E3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3E3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BF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00395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MB Rec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64008" marB="64008" anchor="ctr">
                    <a:lnL w="6350" cap="flat" cmpd="sng" algn="ctr">
                      <a:solidFill>
                        <a:srgbClr val="B3E3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3E3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3E3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3E3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BFE"/>
                    </a:solidFill>
                  </a:tcPr>
                </a:tc>
              </a:tr>
              <a:tr h="466725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F2D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Trade economics: quantity, direction, consideration, price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64008" marB="64008" anchor="ctr">
                    <a:lnL w="6350" cap="flat" cmpd="sng" algn="ctr">
                      <a:solidFill>
                        <a:srgbClr val="B3E3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3E3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3E3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3E3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5A6B8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FO-5, Step 4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64008" marB="64008" anchor="ctr">
                    <a:lnL w="6350" cap="flat" cmpd="sng" algn="ctr">
                      <a:solidFill>
                        <a:srgbClr val="B3E3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3E3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3E3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3E3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00395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MB Rec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64008" marB="64008" anchor="ctr">
                    <a:lnL w="6350" cap="flat" cmpd="sng" algn="ctr">
                      <a:solidFill>
                        <a:srgbClr val="B3E3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3E3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3E3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3E3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66725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F2D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Journal status: generated, posted, rejected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64008" marB="64008" anchor="ctr">
                    <a:lnL w="6350" cap="flat" cmpd="sng" algn="ctr">
                      <a:solidFill>
                        <a:srgbClr val="B3E3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3E3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3E3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3E3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BF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5A6B8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BO-6, re-post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64008" marB="64008" anchor="ctr">
                    <a:lnL w="6350" cap="flat" cmpd="sng" algn="ctr">
                      <a:solidFill>
                        <a:srgbClr val="B3E3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3E3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3E3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3E3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BF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00395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MB Rec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64008" marB="64008" anchor="ctr">
                    <a:lnL w="6350" cap="flat" cmpd="sng" algn="ctr">
                      <a:solidFill>
                        <a:srgbClr val="B3E3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3E3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3E3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3E3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BFE"/>
                    </a:solidFill>
                  </a:tcPr>
                </a:tc>
              </a:tr>
              <a:tr h="466725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F2D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Prior-day adjustments and breaks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64008" marB="64008" anchor="ctr">
                    <a:lnL w="6350" cap="flat" cmpd="sng" algn="ctr">
                      <a:solidFill>
                        <a:srgbClr val="B3E3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3E3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3E3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3E3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5A6B8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Reapplication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64008" marB="64008" anchor="ctr">
                    <a:lnL w="6350" cap="flat" cmpd="sng" algn="ctr">
                      <a:solidFill>
                        <a:srgbClr val="B3E3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3E3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3E3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3E3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00395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MB Rec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64008" marB="64008" anchor="ctr">
                    <a:lnL w="6350" cap="flat" cmpd="sng" algn="ctr">
                      <a:solidFill>
                        <a:srgbClr val="B3E3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3E3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3E3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3E3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66725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F2D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Settlement and cash movement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64008" marB="64008" anchor="ctr">
                    <a:lnL w="6350" cap="flat" cmpd="sng" algn="ctr">
                      <a:solidFill>
                        <a:srgbClr val="B3E3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3E3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3E3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3E3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BF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5A6B8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BO-4, BO-5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64008" marB="64008" anchor="ctr">
                    <a:lnL w="6350" cap="flat" cmpd="sng" algn="ctr">
                      <a:solidFill>
                        <a:srgbClr val="B3E3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3E3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3E3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3E3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BF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00AEE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Other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64008" marB="64008" anchor="ctr">
                    <a:lnL w="6350" cap="flat" cmpd="sng" algn="ctr">
                      <a:solidFill>
                        <a:srgbClr val="B3E3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3E3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3E3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3E3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BFE"/>
                    </a:solidFill>
                  </a:tcPr>
                </a:tc>
              </a:tr>
              <a:tr h="466725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F2D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Corporate action file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64008" marB="64008" anchor="ctr">
                    <a:lnL w="6350" cap="flat" cmpd="sng" algn="ctr">
                      <a:solidFill>
                        <a:srgbClr val="B3E3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3E3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3E3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3E3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5A6B8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FO-6, FO-7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64008" marB="64008" anchor="ctr">
                    <a:lnL w="6350" cap="flat" cmpd="sng" algn="ctr">
                      <a:solidFill>
                        <a:srgbClr val="B3E3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3E3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3E3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3E3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00AEE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Other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64008" marB="64008" anchor="ctr">
                    <a:lnL w="6350" cap="flat" cmpd="sng" algn="ctr">
                      <a:solidFill>
                        <a:srgbClr val="B3E3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3E3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3E3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3E3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66725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F2D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Bond metadata, static / enrichment data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64008" marB="64008" anchor="ctr">
                    <a:lnL w="6350" cap="flat" cmpd="sng" algn="ctr">
                      <a:solidFill>
                        <a:srgbClr val="B3E3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3E3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3E3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3E3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BF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5A6B8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FO-7, static outlier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64008" marB="64008" anchor="ctr">
                    <a:lnL w="6350" cap="flat" cmpd="sng" algn="ctr">
                      <a:solidFill>
                        <a:srgbClr val="B3E3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3E3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3E3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3E3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BF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00AEE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Other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64008" marB="64008" anchor="ctr">
                    <a:lnL w="6350" cap="flat" cmpd="sng" algn="ctr">
                      <a:solidFill>
                        <a:srgbClr val="B3E3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3E3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3E3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3E3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BFE"/>
                    </a:solidFill>
                  </a:tcPr>
                </a:tc>
              </a:tr>
              <a:tr h="466725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F2D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Holiday calendar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64008" marB="64008" anchor="ctr">
                    <a:lnL w="6350" cap="flat" cmpd="sng" algn="ctr">
                      <a:solidFill>
                        <a:srgbClr val="B3E3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3E3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3E3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3E3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5A6B8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FO-8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64008" marB="64008" anchor="ctr">
                    <a:lnL w="6350" cap="flat" cmpd="sng" algn="ctr">
                      <a:solidFill>
                        <a:srgbClr val="B3E3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3E3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3E3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3E3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00AEE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Other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64008" marB="64008" anchor="ctr">
                    <a:lnL w="6350" cap="flat" cmpd="sng" algn="ctr">
                      <a:solidFill>
                        <a:srgbClr val="B3E3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3E3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3E3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3E3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8" name="Text 5"/>
          <p:cNvSpPr txBox="1"/>
          <p:nvPr/>
        </p:nvSpPr>
        <p:spPr>
          <a:xfrm>
            <a:off x="152400" y="7315200"/>
            <a:ext cx="581025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5A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Source mapping to be confirmed per field. No Trade Store, CATS or MOTIF direct calls.</a:t>
            </a:r>
            <a:endParaRPr lang="en-US" sz="900" dirty="0"/>
          </a:p>
        </p:txBody>
      </p:sp>
      <p:sp>
        <p:nvSpPr>
          <p:cNvPr id="9" name="Text 6"/>
          <p:cNvSpPr txBox="1"/>
          <p:nvPr/>
        </p:nvSpPr>
        <p:spPr>
          <a:xfrm>
            <a:off x="6191250" y="819150"/>
            <a:ext cx="3429000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0AEE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 </a:t>
            </a:r>
            <a:pPr indent="0" marL="0">
              <a:buNone/>
            </a:pPr>
            <a:r>
              <a:rPr lang="en-US" sz="1400" b="1" dirty="0">
                <a:solidFill>
                  <a:srgbClr val="00395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Parameters to confirm</a:t>
            </a:r>
            <a:endParaRPr lang="en-US" sz="1400" dirty="0"/>
          </a:p>
        </p:txBody>
      </p:sp>
      <p:sp>
        <p:nvSpPr>
          <p:cNvPr id="10" name="Shape 7"/>
          <p:cNvSpPr/>
          <p:nvPr/>
        </p:nvSpPr>
        <p:spPr>
          <a:xfrm>
            <a:off x="6191250" y="1123950"/>
            <a:ext cx="3429000" cy="0"/>
          </a:xfrm>
          <a:prstGeom prst="line">
            <a:avLst/>
          </a:prstGeom>
          <a:noFill/>
          <a:ln w="19050">
            <a:solidFill>
              <a:srgbClr val="00395D"/>
            </a:solidFill>
            <a:prstDash val="solid"/>
          </a:ln>
        </p:spPr>
      </p:sp>
      <p:sp>
        <p:nvSpPr>
          <p:cNvPr id="11" name="Shape 8"/>
          <p:cNvSpPr/>
          <p:nvPr/>
        </p:nvSpPr>
        <p:spPr>
          <a:xfrm>
            <a:off x="6191250" y="1238250"/>
            <a:ext cx="3429000" cy="381000"/>
          </a:xfrm>
          <a:prstGeom prst="roundRect">
            <a:avLst>
              <a:gd name="adj" fmla="val 10000"/>
            </a:avLst>
          </a:prstGeom>
          <a:solidFill>
            <a:srgbClr val="F5FBFE"/>
          </a:solidFill>
          <a:ln/>
        </p:spPr>
      </p:sp>
      <p:sp>
        <p:nvSpPr>
          <p:cNvPr id="12" name="Text 9"/>
          <p:cNvSpPr txBox="1"/>
          <p:nvPr/>
        </p:nvSpPr>
        <p:spPr>
          <a:xfrm>
            <a:off x="6286500" y="1238250"/>
            <a:ext cx="257175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F2D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Materiality threshold</a:t>
            </a:r>
            <a:endParaRPr lang="en-US" sz="1050" dirty="0"/>
          </a:p>
          <a:p>
            <a:pPr indent="0" marL="0">
              <a:buNone/>
            </a:pPr>
            <a:r>
              <a:rPr lang="en-US" sz="850" dirty="0">
                <a:solidFill>
                  <a:srgbClr val="5A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1 scope</a:t>
            </a:r>
            <a:endParaRPr lang="en-US" sz="1050" dirty="0"/>
          </a:p>
        </p:txBody>
      </p:sp>
      <p:sp>
        <p:nvSpPr>
          <p:cNvPr id="13" name="Shape 10"/>
          <p:cNvSpPr/>
          <p:nvPr/>
        </p:nvSpPr>
        <p:spPr>
          <a:xfrm>
            <a:off x="8991600" y="1314450"/>
            <a:ext cx="533400" cy="22860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2700">
            <a:solidFill>
              <a:srgbClr val="00AEEF"/>
            </a:solidFill>
            <a:prstDash val="solid"/>
          </a:ln>
        </p:spPr>
      </p:sp>
      <p:sp>
        <p:nvSpPr>
          <p:cNvPr id="14" name="Text 11"/>
          <p:cNvSpPr txBox="1"/>
          <p:nvPr/>
        </p:nvSpPr>
        <p:spPr>
          <a:xfrm>
            <a:off x="8991600" y="1314450"/>
            <a:ext cx="533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0395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TBC</a:t>
            </a:r>
            <a:endParaRPr lang="en-US" sz="900" dirty="0"/>
          </a:p>
        </p:txBody>
      </p:sp>
      <p:sp>
        <p:nvSpPr>
          <p:cNvPr id="15" name="Text 12"/>
          <p:cNvSpPr txBox="1"/>
          <p:nvPr/>
        </p:nvSpPr>
        <p:spPr>
          <a:xfrm>
            <a:off x="6286500" y="1657350"/>
            <a:ext cx="257175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F2D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MTM tolerance</a:t>
            </a:r>
            <a:endParaRPr lang="en-US" sz="1050" dirty="0"/>
          </a:p>
          <a:p>
            <a:pPr indent="0" marL="0">
              <a:buNone/>
            </a:pPr>
            <a:r>
              <a:rPr lang="en-US" sz="850" dirty="0">
                <a:solidFill>
                  <a:srgbClr val="5A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FO-4</a:t>
            </a:r>
            <a:endParaRPr lang="en-US" sz="1050" dirty="0"/>
          </a:p>
        </p:txBody>
      </p:sp>
      <p:sp>
        <p:nvSpPr>
          <p:cNvPr id="16" name="Shape 13"/>
          <p:cNvSpPr/>
          <p:nvPr/>
        </p:nvSpPr>
        <p:spPr>
          <a:xfrm>
            <a:off x="8991600" y="1733550"/>
            <a:ext cx="533400" cy="22860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2700">
            <a:solidFill>
              <a:srgbClr val="00AEEF"/>
            </a:solidFill>
            <a:prstDash val="solid"/>
          </a:ln>
        </p:spPr>
      </p:sp>
      <p:sp>
        <p:nvSpPr>
          <p:cNvPr id="17" name="Text 14"/>
          <p:cNvSpPr txBox="1"/>
          <p:nvPr/>
        </p:nvSpPr>
        <p:spPr>
          <a:xfrm>
            <a:off x="8991600" y="1733550"/>
            <a:ext cx="533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0395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TBC</a:t>
            </a:r>
            <a:endParaRPr lang="en-US" sz="900" dirty="0"/>
          </a:p>
        </p:txBody>
      </p:sp>
      <p:sp>
        <p:nvSpPr>
          <p:cNvPr id="18" name="Shape 15"/>
          <p:cNvSpPr/>
          <p:nvPr/>
        </p:nvSpPr>
        <p:spPr>
          <a:xfrm>
            <a:off x="6191250" y="2076450"/>
            <a:ext cx="3429000" cy="381000"/>
          </a:xfrm>
          <a:prstGeom prst="roundRect">
            <a:avLst>
              <a:gd name="adj" fmla="val 10000"/>
            </a:avLst>
          </a:prstGeom>
          <a:solidFill>
            <a:srgbClr val="F5FBFE"/>
          </a:solidFill>
          <a:ln/>
        </p:spPr>
      </p:sp>
      <p:sp>
        <p:nvSpPr>
          <p:cNvPr id="19" name="Text 16"/>
          <p:cNvSpPr txBox="1"/>
          <p:nvPr/>
        </p:nvSpPr>
        <p:spPr>
          <a:xfrm>
            <a:off x="6286500" y="2076450"/>
            <a:ext cx="257175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F2D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"Materially reasonable" tolerance</a:t>
            </a:r>
            <a:endParaRPr lang="en-US" sz="1050" dirty="0"/>
          </a:p>
          <a:p>
            <a:pPr indent="0" marL="0">
              <a:buNone/>
            </a:pPr>
            <a:r>
              <a:rPr lang="en-US" sz="850" dirty="0">
                <a:solidFill>
                  <a:srgbClr val="5A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FO-6</a:t>
            </a:r>
            <a:endParaRPr lang="en-US" sz="1050" dirty="0"/>
          </a:p>
        </p:txBody>
      </p:sp>
      <p:sp>
        <p:nvSpPr>
          <p:cNvPr id="20" name="Shape 17"/>
          <p:cNvSpPr/>
          <p:nvPr/>
        </p:nvSpPr>
        <p:spPr>
          <a:xfrm>
            <a:off x="8991600" y="2152650"/>
            <a:ext cx="533400" cy="22860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2700">
            <a:solidFill>
              <a:srgbClr val="00AEEF"/>
            </a:solidFill>
            <a:prstDash val="solid"/>
          </a:ln>
        </p:spPr>
      </p:sp>
      <p:sp>
        <p:nvSpPr>
          <p:cNvPr id="21" name="Text 18"/>
          <p:cNvSpPr txBox="1"/>
          <p:nvPr/>
        </p:nvSpPr>
        <p:spPr>
          <a:xfrm>
            <a:off x="8991600" y="2152650"/>
            <a:ext cx="533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0395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TBC</a:t>
            </a:r>
            <a:endParaRPr lang="en-US" sz="900" dirty="0"/>
          </a:p>
        </p:txBody>
      </p:sp>
      <p:sp>
        <p:nvSpPr>
          <p:cNvPr id="22" name="Text 19"/>
          <p:cNvSpPr txBox="1"/>
          <p:nvPr/>
        </p:nvSpPr>
        <p:spPr>
          <a:xfrm>
            <a:off x="6286500" y="2495550"/>
            <a:ext cx="257175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F2D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Formal posting policy</a:t>
            </a:r>
            <a:endParaRPr lang="en-US" sz="1050" dirty="0"/>
          </a:p>
          <a:p>
            <a:pPr indent="0" marL="0">
              <a:buNone/>
            </a:pPr>
            <a:r>
              <a:rPr lang="en-US" sz="850" dirty="0">
                <a:solidFill>
                  <a:srgbClr val="5A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Verdict</a:t>
            </a:r>
            <a:endParaRPr lang="en-US" sz="1050" dirty="0"/>
          </a:p>
        </p:txBody>
      </p:sp>
      <p:sp>
        <p:nvSpPr>
          <p:cNvPr id="23" name="Shape 20"/>
          <p:cNvSpPr/>
          <p:nvPr/>
        </p:nvSpPr>
        <p:spPr>
          <a:xfrm>
            <a:off x="8991600" y="2571750"/>
            <a:ext cx="533400" cy="22860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2700">
            <a:solidFill>
              <a:srgbClr val="00AEEF"/>
            </a:solidFill>
            <a:prstDash val="solid"/>
          </a:ln>
        </p:spPr>
      </p:sp>
      <p:sp>
        <p:nvSpPr>
          <p:cNvPr id="24" name="Text 21"/>
          <p:cNvSpPr txBox="1"/>
          <p:nvPr/>
        </p:nvSpPr>
        <p:spPr>
          <a:xfrm>
            <a:off x="8991600" y="2571750"/>
            <a:ext cx="533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0395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TBC</a:t>
            </a:r>
            <a:endParaRPr lang="en-US" sz="900" dirty="0"/>
          </a:p>
        </p:txBody>
      </p:sp>
      <p:sp>
        <p:nvSpPr>
          <p:cNvPr id="25" name="Shape 22"/>
          <p:cNvSpPr/>
          <p:nvPr/>
        </p:nvSpPr>
        <p:spPr>
          <a:xfrm>
            <a:off x="6191250" y="2914650"/>
            <a:ext cx="3429000" cy="381000"/>
          </a:xfrm>
          <a:prstGeom prst="roundRect">
            <a:avLst>
              <a:gd name="adj" fmla="val 10000"/>
            </a:avLst>
          </a:prstGeom>
          <a:solidFill>
            <a:srgbClr val="F5FBFE"/>
          </a:solidFill>
          <a:ln/>
        </p:spPr>
      </p:sp>
      <p:sp>
        <p:nvSpPr>
          <p:cNvPr id="26" name="Text 23"/>
          <p:cNvSpPr txBox="1"/>
          <p:nvPr/>
        </p:nvSpPr>
        <p:spPr>
          <a:xfrm>
            <a:off x="6286500" y="2914650"/>
            <a:ext cx="257175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F2D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Escalation routing</a:t>
            </a:r>
            <a:endParaRPr lang="en-US" sz="1050" dirty="0"/>
          </a:p>
          <a:p>
            <a:pPr indent="0" marL="0">
              <a:buNone/>
            </a:pPr>
            <a:r>
              <a:rPr lang="en-US" sz="850" dirty="0">
                <a:solidFill>
                  <a:srgbClr val="5A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Remediation</a:t>
            </a:r>
            <a:endParaRPr lang="en-US" sz="1050" dirty="0"/>
          </a:p>
        </p:txBody>
      </p:sp>
      <p:sp>
        <p:nvSpPr>
          <p:cNvPr id="27" name="Shape 24"/>
          <p:cNvSpPr/>
          <p:nvPr/>
        </p:nvSpPr>
        <p:spPr>
          <a:xfrm>
            <a:off x="8991600" y="2990850"/>
            <a:ext cx="533400" cy="22860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2700">
            <a:solidFill>
              <a:srgbClr val="00AEEF"/>
            </a:solidFill>
            <a:prstDash val="solid"/>
          </a:ln>
        </p:spPr>
      </p:sp>
      <p:sp>
        <p:nvSpPr>
          <p:cNvPr id="28" name="Text 25"/>
          <p:cNvSpPr txBox="1"/>
          <p:nvPr/>
        </p:nvSpPr>
        <p:spPr>
          <a:xfrm>
            <a:off x="8991600" y="2990850"/>
            <a:ext cx="533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0395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TBC</a:t>
            </a:r>
            <a:endParaRPr lang="en-US" sz="900" dirty="0"/>
          </a:p>
        </p:txBody>
      </p:sp>
      <p:sp>
        <p:nvSpPr>
          <p:cNvPr id="29" name="Text 26"/>
          <p:cNvSpPr txBox="1"/>
          <p:nvPr/>
        </p:nvSpPr>
        <p:spPr>
          <a:xfrm>
            <a:off x="6286500" y="3333750"/>
            <a:ext cx="257175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F2D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Books, desks, products in scope</a:t>
            </a:r>
            <a:endParaRPr lang="en-US" sz="1050" dirty="0"/>
          </a:p>
          <a:p>
            <a:pPr indent="0" marL="0">
              <a:buNone/>
            </a:pPr>
            <a:r>
              <a:rPr lang="en-US" sz="850" dirty="0">
                <a:solidFill>
                  <a:srgbClr val="5A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steps</a:t>
            </a:r>
            <a:endParaRPr lang="en-US" sz="1050" dirty="0"/>
          </a:p>
        </p:txBody>
      </p:sp>
      <p:sp>
        <p:nvSpPr>
          <p:cNvPr id="30" name="Shape 27"/>
          <p:cNvSpPr/>
          <p:nvPr/>
        </p:nvSpPr>
        <p:spPr>
          <a:xfrm>
            <a:off x="8991600" y="3409950"/>
            <a:ext cx="533400" cy="22860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2700">
            <a:solidFill>
              <a:srgbClr val="00AEEF"/>
            </a:solidFill>
            <a:prstDash val="solid"/>
          </a:ln>
        </p:spPr>
      </p:sp>
      <p:sp>
        <p:nvSpPr>
          <p:cNvPr id="31" name="Text 28"/>
          <p:cNvSpPr txBox="1"/>
          <p:nvPr/>
        </p:nvSpPr>
        <p:spPr>
          <a:xfrm>
            <a:off x="8991600" y="3409950"/>
            <a:ext cx="533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0395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TBC</a:t>
            </a:r>
            <a:endParaRPr lang="en-US" sz="900" dirty="0"/>
          </a:p>
        </p:txBody>
      </p:sp>
      <p:sp>
        <p:nvSpPr>
          <p:cNvPr id="32" name="Shape 29"/>
          <p:cNvSpPr/>
          <p:nvPr/>
        </p:nvSpPr>
        <p:spPr>
          <a:xfrm>
            <a:off x="6191250" y="3752850"/>
            <a:ext cx="3429000" cy="381000"/>
          </a:xfrm>
          <a:prstGeom prst="roundRect">
            <a:avLst>
              <a:gd name="adj" fmla="val 10000"/>
            </a:avLst>
          </a:prstGeom>
          <a:solidFill>
            <a:srgbClr val="F5FBFE"/>
          </a:solidFill>
          <a:ln/>
        </p:spPr>
      </p:sp>
      <p:sp>
        <p:nvSpPr>
          <p:cNvPr id="33" name="Text 30"/>
          <p:cNvSpPr txBox="1"/>
          <p:nvPr/>
        </p:nvSpPr>
        <p:spPr>
          <a:xfrm>
            <a:off x="6286500" y="3752850"/>
            <a:ext cx="257175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F2D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Same-day resolution cut-off</a:t>
            </a:r>
            <a:endParaRPr lang="en-US" sz="1050" dirty="0"/>
          </a:p>
          <a:p>
            <a:pPr indent="0" marL="0">
              <a:buNone/>
            </a:pPr>
            <a:r>
              <a:rPr lang="en-US" sz="850" dirty="0">
                <a:solidFill>
                  <a:srgbClr val="5A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Verdict</a:t>
            </a:r>
            <a:endParaRPr lang="en-US" sz="1050" dirty="0"/>
          </a:p>
        </p:txBody>
      </p:sp>
      <p:sp>
        <p:nvSpPr>
          <p:cNvPr id="34" name="Shape 31"/>
          <p:cNvSpPr/>
          <p:nvPr/>
        </p:nvSpPr>
        <p:spPr>
          <a:xfrm>
            <a:off x="8991600" y="3829050"/>
            <a:ext cx="533400" cy="22860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2700">
            <a:solidFill>
              <a:srgbClr val="00AEEF"/>
            </a:solidFill>
            <a:prstDash val="solid"/>
          </a:ln>
        </p:spPr>
      </p:sp>
      <p:sp>
        <p:nvSpPr>
          <p:cNvPr id="35" name="Text 32"/>
          <p:cNvSpPr txBox="1"/>
          <p:nvPr/>
        </p:nvSpPr>
        <p:spPr>
          <a:xfrm>
            <a:off x="8991600" y="3829050"/>
            <a:ext cx="533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0395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TBC</a:t>
            </a:r>
            <a:endParaRPr lang="en-US" sz="900" dirty="0"/>
          </a:p>
        </p:txBody>
      </p:sp>
      <p:sp>
        <p:nvSpPr>
          <p:cNvPr id="36" name="Text 33"/>
          <p:cNvSpPr txBox="1"/>
          <p:nvPr/>
        </p:nvSpPr>
        <p:spPr>
          <a:xfrm>
            <a:off x="6191250" y="4191000"/>
            <a:ext cx="3429000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00395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P1: until confirmed, conclusions stay conditional. No invented numbers.</a:t>
            </a:r>
            <a:endParaRPr lang="en-US" sz="900" dirty="0"/>
          </a:p>
        </p:txBody>
      </p:sp>
      <p:sp>
        <p:nvSpPr>
          <p:cNvPr id="37" name="Text 34"/>
          <p:cNvSpPr txBox="1"/>
          <p:nvPr/>
        </p:nvSpPr>
        <p:spPr>
          <a:xfrm>
            <a:off x="6191250" y="4648200"/>
            <a:ext cx="3429000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0AEE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 </a:t>
            </a:r>
            <a:pPr indent="0" marL="0">
              <a:buNone/>
            </a:pPr>
            <a:r>
              <a:rPr lang="en-US" sz="1400" b="1" dirty="0">
                <a:solidFill>
                  <a:srgbClr val="00395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Access and setup</a:t>
            </a:r>
            <a:endParaRPr lang="en-US" sz="1400" dirty="0"/>
          </a:p>
        </p:txBody>
      </p:sp>
      <p:sp>
        <p:nvSpPr>
          <p:cNvPr id="38" name="Shape 35"/>
          <p:cNvSpPr/>
          <p:nvPr/>
        </p:nvSpPr>
        <p:spPr>
          <a:xfrm>
            <a:off x="6191250" y="4953000"/>
            <a:ext cx="3429000" cy="0"/>
          </a:xfrm>
          <a:prstGeom prst="line">
            <a:avLst/>
          </a:prstGeom>
          <a:noFill/>
          <a:ln w="19050">
            <a:solidFill>
              <a:srgbClr val="00395D"/>
            </a:solidFill>
            <a:prstDash val="solid"/>
          </a:ln>
        </p:spPr>
      </p:sp>
      <p:sp>
        <p:nvSpPr>
          <p:cNvPr id="39" name="Shape 36"/>
          <p:cNvSpPr/>
          <p:nvPr/>
        </p:nvSpPr>
        <p:spPr>
          <a:xfrm>
            <a:off x="6191250" y="5162550"/>
            <a:ext cx="76200" cy="76200"/>
          </a:xfrm>
          <a:prstGeom prst="roundRect">
            <a:avLst>
              <a:gd name="adj" fmla="val 25000"/>
            </a:avLst>
          </a:prstGeom>
          <a:solidFill>
            <a:srgbClr val="00AEEF"/>
          </a:solidFill>
          <a:ln/>
        </p:spPr>
      </p:sp>
      <p:sp>
        <p:nvSpPr>
          <p:cNvPr id="40" name="Text 37"/>
          <p:cNvSpPr txBox="1"/>
          <p:nvPr/>
        </p:nvSpPr>
        <p:spPr>
          <a:xfrm>
            <a:off x="6362700" y="5048250"/>
            <a:ext cx="3257550" cy="3238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F2D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Workspace scope: CATS vs MOTIF, FI Credit first</a:t>
            </a:r>
            <a:endParaRPr lang="en-US" sz="1050" dirty="0"/>
          </a:p>
        </p:txBody>
      </p:sp>
      <p:sp>
        <p:nvSpPr>
          <p:cNvPr id="41" name="Shape 38"/>
          <p:cNvSpPr/>
          <p:nvPr/>
        </p:nvSpPr>
        <p:spPr>
          <a:xfrm>
            <a:off x="6191250" y="5581650"/>
            <a:ext cx="76200" cy="76200"/>
          </a:xfrm>
          <a:prstGeom prst="roundRect">
            <a:avLst>
              <a:gd name="adj" fmla="val 25000"/>
            </a:avLst>
          </a:prstGeom>
          <a:solidFill>
            <a:srgbClr val="00AEEF"/>
          </a:solidFill>
          <a:ln/>
        </p:spPr>
      </p:sp>
      <p:sp>
        <p:nvSpPr>
          <p:cNvPr id="42" name="Text 39"/>
          <p:cNvSpPr txBox="1"/>
          <p:nvPr/>
        </p:nvSpPr>
        <p:spPr>
          <a:xfrm>
            <a:off x="6362700" y="5467350"/>
            <a:ext cx="3257550" cy="3238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F2D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Approved MCP tools with filters and field allow-lists</a:t>
            </a:r>
            <a:endParaRPr lang="en-US" sz="1050" dirty="0"/>
          </a:p>
        </p:txBody>
      </p:sp>
      <p:sp>
        <p:nvSpPr>
          <p:cNvPr id="43" name="Shape 40"/>
          <p:cNvSpPr/>
          <p:nvPr/>
        </p:nvSpPr>
        <p:spPr>
          <a:xfrm>
            <a:off x="6191250" y="6000750"/>
            <a:ext cx="76200" cy="76200"/>
          </a:xfrm>
          <a:prstGeom prst="roundRect">
            <a:avLst>
              <a:gd name="adj" fmla="val 25000"/>
            </a:avLst>
          </a:prstGeom>
          <a:solidFill>
            <a:srgbClr val="00AEEF"/>
          </a:solidFill>
          <a:ln/>
        </p:spPr>
      </p:sp>
      <p:sp>
        <p:nvSpPr>
          <p:cNvPr id="44" name="Text 41"/>
          <p:cNvSpPr txBox="1"/>
          <p:nvPr/>
        </p:nvSpPr>
        <p:spPr>
          <a:xfrm>
            <a:off x="6362700" y="5886450"/>
            <a:ext cx="3257550" cy="3238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F2D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 entitlements to MB Rec and other sources</a:t>
            </a:r>
            <a:endParaRPr lang="en-US" sz="1050" dirty="0"/>
          </a:p>
        </p:txBody>
      </p:sp>
      <p:sp>
        <p:nvSpPr>
          <p:cNvPr id="45" name="Shape 42"/>
          <p:cNvSpPr/>
          <p:nvPr/>
        </p:nvSpPr>
        <p:spPr>
          <a:xfrm>
            <a:off x="6191250" y="6419850"/>
            <a:ext cx="76200" cy="76200"/>
          </a:xfrm>
          <a:prstGeom prst="roundRect">
            <a:avLst>
              <a:gd name="adj" fmla="val 25000"/>
            </a:avLst>
          </a:prstGeom>
          <a:solidFill>
            <a:srgbClr val="00AEEF"/>
          </a:solidFill>
          <a:ln/>
        </p:spPr>
      </p:sp>
      <p:sp>
        <p:nvSpPr>
          <p:cNvPr id="46" name="Text 43"/>
          <p:cNvSpPr txBox="1"/>
          <p:nvPr/>
        </p:nvSpPr>
        <p:spPr>
          <a:xfrm>
            <a:off x="6362700" y="6305550"/>
            <a:ext cx="3257550" cy="3238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F2D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FAS posting permission, behind controller approval</a:t>
            </a:r>
            <a:endParaRPr lang="en-US" sz="1050" dirty="0"/>
          </a:p>
        </p:txBody>
      </p:sp>
      <p:sp>
        <p:nvSpPr>
          <p:cNvPr id="47" name="Shape 44"/>
          <p:cNvSpPr/>
          <p:nvPr/>
        </p:nvSpPr>
        <p:spPr>
          <a:xfrm>
            <a:off x="6191250" y="6838950"/>
            <a:ext cx="76200" cy="76200"/>
          </a:xfrm>
          <a:prstGeom prst="roundRect">
            <a:avLst>
              <a:gd name="adj" fmla="val 25000"/>
            </a:avLst>
          </a:prstGeom>
          <a:solidFill>
            <a:srgbClr val="00AEEF"/>
          </a:solidFill>
          <a:ln/>
        </p:spPr>
      </p:sp>
      <p:sp>
        <p:nvSpPr>
          <p:cNvPr id="48" name="Text 45"/>
          <p:cNvSpPr txBox="1"/>
          <p:nvPr/>
        </p:nvSpPr>
        <p:spPr>
          <a:xfrm>
            <a:off x="6362700" y="6724650"/>
            <a:ext cx="3257550" cy="3238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F2D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Phoenix logging on for every session</a:t>
            </a:r>
            <a:endParaRPr lang="en-US" sz="1050" dirty="0"/>
          </a:p>
        </p:txBody>
      </p:sp>
      <p:sp>
        <p:nvSpPr>
          <p:cNvPr id="49" name="Shape 46"/>
          <p:cNvSpPr/>
          <p:nvPr/>
        </p:nvSpPr>
        <p:spPr>
          <a:xfrm>
            <a:off x="6191250" y="7258050"/>
            <a:ext cx="76200" cy="76200"/>
          </a:xfrm>
          <a:prstGeom prst="roundRect">
            <a:avLst>
              <a:gd name="adj" fmla="val 25000"/>
            </a:avLst>
          </a:prstGeom>
          <a:solidFill>
            <a:srgbClr val="00AEEF"/>
          </a:solidFill>
          <a:ln/>
        </p:spPr>
      </p:sp>
      <p:sp>
        <p:nvSpPr>
          <p:cNvPr id="50" name="Text 47"/>
          <p:cNvSpPr txBox="1"/>
          <p:nvPr/>
        </p:nvSpPr>
        <p:spPr>
          <a:xfrm>
            <a:off x="6362700" y="7143750"/>
            <a:ext cx="3257550" cy="3238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F2D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Session store keyed by investigation_session_id</a:t>
            </a:r>
            <a:endParaRPr lang="en-US" sz="1050" dirty="0"/>
          </a:p>
        </p:txBody>
      </p:sp>
      <p:sp>
        <p:nvSpPr>
          <p:cNvPr id="51" name="Text 48"/>
          <p:cNvSpPr txBox="1"/>
          <p:nvPr/>
        </p:nvSpPr>
        <p:spPr>
          <a:xfrm>
            <a:off x="9848850" y="819150"/>
            <a:ext cx="4629150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0AEE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 </a:t>
            </a:r>
            <a:pPr indent="0" marL="0">
              <a:buNone/>
            </a:pPr>
            <a:r>
              <a:rPr lang="en-US" sz="1400" b="1" dirty="0">
                <a:solidFill>
                  <a:srgbClr val="00395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Evaluations</a:t>
            </a:r>
            <a:endParaRPr lang="en-US" sz="1400" dirty="0"/>
          </a:p>
        </p:txBody>
      </p:sp>
      <p:sp>
        <p:nvSpPr>
          <p:cNvPr id="52" name="Shape 49"/>
          <p:cNvSpPr/>
          <p:nvPr/>
        </p:nvSpPr>
        <p:spPr>
          <a:xfrm>
            <a:off x="9848850" y="1123950"/>
            <a:ext cx="4629150" cy="0"/>
          </a:xfrm>
          <a:prstGeom prst="line">
            <a:avLst/>
          </a:prstGeom>
          <a:noFill/>
          <a:ln w="19050">
            <a:solidFill>
              <a:srgbClr val="00395D"/>
            </a:solidFill>
            <a:prstDash val="solid"/>
          </a:ln>
        </p:spPr>
      </p:sp>
      <p:graphicFrame>
        <p:nvGraphicFramePr>
          <p:cNvPr id="13" name="Table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9848850" y="1219200"/>
          <a:ext cx="4629150" cy="914400"/>
        </p:xfrm>
        <a:graphic>
          <a:graphicData uri="http://schemas.openxmlformats.org/drawingml/2006/table">
            <a:tbl>
              <a:tblPr/>
              <a:tblGrid>
                <a:gridCol w="3581400"/>
                <a:gridCol w="1047750"/>
              </a:tblGrid>
              <a:tr h="32385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What we measure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64008" marB="64008" anchor="ctr">
                    <a:lnL w="6350" cap="flat" cmpd="sng" algn="ctr">
                      <a:solidFill>
                        <a:srgbClr val="B3E3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3E3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3E3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3E3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395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Gate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64008" marB="64008" anchor="ctr">
                    <a:lnL w="6350" cap="flat" cmpd="sng" algn="ctr">
                      <a:solidFill>
                        <a:srgbClr val="B3E3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3E3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3E3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3E3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395D"/>
                    </a:solidFill>
                  </a:tcPr>
                </a:tc>
              </a:tr>
              <a:tr h="523875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1F2D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Wrong POST rate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5A6B8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Posted when the answer was DO NOT POST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64008" marB="64008" anchor="ctr">
                    <a:lnL w="6350" cap="flat" cmpd="sng" algn="ctr">
                      <a:solidFill>
                        <a:srgbClr val="B3E3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3E3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3E3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3E3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BF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00395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Hard gate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64008" marB="64008" anchor="ctr">
                    <a:lnL w="6350" cap="flat" cmpd="sng" algn="ctr">
                      <a:solidFill>
                        <a:srgbClr val="B3E3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3E3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3E3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3E3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BFE"/>
                    </a:solidFill>
                  </a:tcPr>
                </a:tc>
              </a:tr>
              <a:tr h="523875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1F2D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FO validated first (R2)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5A6B8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FO tests run before BO on every break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64008" marB="64008" anchor="ctr">
                    <a:lnL w="6350" cap="flat" cmpd="sng" algn="ctr">
                      <a:solidFill>
                        <a:srgbClr val="B3E3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3E3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3E3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3E3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00395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Hard gate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64008" marB="64008" anchor="ctr">
                    <a:lnL w="6350" cap="flat" cmpd="sng" algn="ctr">
                      <a:solidFill>
                        <a:srgbClr val="B3E3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3E3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3E3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3E3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23875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1F2D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Evidence grounding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5A6B8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Every claim cites an MB Rec or other source record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64008" marB="64008" anchor="ctr">
                    <a:lnL w="6350" cap="flat" cmpd="sng" algn="ctr">
                      <a:solidFill>
                        <a:srgbClr val="B3E3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3E3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3E3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3E3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BF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00395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Hard gate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64008" marB="64008" anchor="ctr">
                    <a:lnL w="6350" cap="flat" cmpd="sng" algn="ctr">
                      <a:solidFill>
                        <a:srgbClr val="B3E3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3E3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3E3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3E3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BFE"/>
                    </a:solidFill>
                  </a:tcPr>
                </a:tc>
              </a:tr>
              <a:tr h="523875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1F2D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 invented thresholds (P1)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5A6B8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Unset parameters stay conditional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64008" marB="64008" anchor="ctr">
                    <a:lnL w="6350" cap="flat" cmpd="sng" algn="ctr">
                      <a:solidFill>
                        <a:srgbClr val="B3E3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3E3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3E3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3E3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00395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Hard gate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64008" marB="64008" anchor="ctr">
                    <a:lnL w="6350" cap="flat" cmpd="sng" algn="ctr">
                      <a:solidFill>
                        <a:srgbClr val="B3E3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3E3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3E3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3E3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23875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1F2D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Approved tools only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5A6B8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 calls outside the MCP allow-list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64008" marB="64008" anchor="ctr">
                    <a:lnL w="6350" cap="flat" cmpd="sng" algn="ctr">
                      <a:solidFill>
                        <a:srgbClr val="B3E3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3E3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3E3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3E3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BF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00395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Hard gate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64008" marB="64008" anchor="ctr">
                    <a:lnL w="6350" cap="flat" cmpd="sng" algn="ctr">
                      <a:solidFill>
                        <a:srgbClr val="B3E3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3E3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3E3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3E3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BFE"/>
                    </a:solidFill>
                  </a:tcPr>
                </a:tc>
              </a:tr>
              <a:tr h="523875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1F2D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Verdict accuracy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5A6B8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POST, DO NOT POST, ESCALATE, RE-POST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64008" marB="64008" anchor="ctr">
                    <a:lnL w="6350" cap="flat" cmpd="sng" algn="ctr">
                      <a:solidFill>
                        <a:srgbClr val="B3E3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3E3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3E3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3E3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00AEE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Target TBC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64008" marB="64008" anchor="ctr">
                    <a:lnL w="6350" cap="flat" cmpd="sng" algn="ctr">
                      <a:solidFill>
                        <a:srgbClr val="B3E3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3E3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3E3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3E3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23875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1F2D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Root cause accuracy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5A6B8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Matches the controller-confirmed cause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64008" marB="64008" anchor="ctr">
                    <a:lnL w="6350" cap="flat" cmpd="sng" algn="ctr">
                      <a:solidFill>
                        <a:srgbClr val="B3E3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3E3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3E3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3E3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BF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00AEE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Target TBC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64008" marB="64008" anchor="ctr">
                    <a:lnL w="6350" cap="flat" cmpd="sng" algn="ctr">
                      <a:solidFill>
                        <a:srgbClr val="B3E3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3E3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3E3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3E3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BFE"/>
                    </a:solidFill>
                  </a:tcPr>
                </a:tc>
              </a:tr>
              <a:tr h="523875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1F2D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Classification accuracy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5A6B8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Primary category A to H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64008" marB="64008" anchor="ctr">
                    <a:lnL w="6350" cap="flat" cmpd="sng" algn="ctr">
                      <a:solidFill>
                        <a:srgbClr val="B3E3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3E3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3E3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3E3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00AEE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Target TBC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64008" marB="64008" anchor="ctr">
                    <a:lnL w="6350" cap="flat" cmpd="sng" algn="ctr">
                      <a:solidFill>
                        <a:srgbClr val="B3E3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3E3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3E3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3E3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23875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1F2D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Escalates when unsure (R6)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5A6B8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Unknown or missing data is escalated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64008" marB="64008" anchor="ctr">
                    <a:lnL w="6350" cap="flat" cmpd="sng" algn="ctr">
                      <a:solidFill>
                        <a:srgbClr val="B3E3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3E3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3E3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3E3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BF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00AEE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Target TBC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64008" marB="64008" anchor="ctr">
                    <a:lnL w="6350" cap="flat" cmpd="sng" algn="ctr">
                      <a:solidFill>
                        <a:srgbClr val="B3E3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3E3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3E3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3E3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BFE"/>
                    </a:solidFill>
                  </a:tcPr>
                </a:tc>
              </a:tr>
              <a:tr h="523875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1F2D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Output completeness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5A6B8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7 sections and 9 checklist answers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64008" marB="64008" anchor="ctr">
                    <a:lnL w="6350" cap="flat" cmpd="sng" algn="ctr">
                      <a:solidFill>
                        <a:srgbClr val="B3E3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3E3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3E3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3E3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00AEE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Target TBC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64008" marB="64008" anchor="ctr">
                    <a:lnL w="6350" cap="flat" cmpd="sng" algn="ctr">
                      <a:solidFill>
                        <a:srgbClr val="B3E3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3E3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3E3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3E3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23875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1F2D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Consistency, latency, cost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5A6B8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Same answer on repeat runs, per-break time and cost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64008" marB="64008" anchor="ctr">
                    <a:lnL w="6350" cap="flat" cmpd="sng" algn="ctr">
                      <a:solidFill>
                        <a:srgbClr val="B3E3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3E3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3E3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3E3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BF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00AEE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Target TBC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64008" marB="64008" anchor="ctr">
                    <a:lnL w="6350" cap="flat" cmpd="sng" algn="ctr">
                      <a:solidFill>
                        <a:srgbClr val="B3E3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3E3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3E3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3E3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BFE"/>
                    </a:solidFill>
                  </a:tcPr>
                </a:tc>
              </a:tr>
            </a:tbl>
          </a:graphicData>
        </a:graphic>
      </p:graphicFrame>
      <p:sp>
        <p:nvSpPr>
          <p:cNvPr id="54" name="Text 50"/>
          <p:cNvSpPr txBox="1"/>
          <p:nvPr/>
        </p:nvSpPr>
        <p:spPr>
          <a:xfrm>
            <a:off x="9848850" y="7315200"/>
            <a:ext cx="462915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5A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Measured against a golden set of controller-labelled CATS vs MOTIF breaks.</a:t>
            </a:r>
            <a:endParaRPr lang="en-US" sz="900" dirty="0"/>
          </a:p>
        </p:txBody>
      </p:sp>
      <p:sp>
        <p:nvSpPr>
          <p:cNvPr id="55" name="Text 51"/>
          <p:cNvSpPr txBox="1"/>
          <p:nvPr/>
        </p:nvSpPr>
        <p:spPr>
          <a:xfrm>
            <a:off x="152400" y="7677150"/>
            <a:ext cx="14325600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0AEE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 </a:t>
            </a:r>
            <a:pPr indent="0" marL="0">
              <a:buNone/>
            </a:pPr>
            <a:r>
              <a:rPr lang="en-US" sz="1400" b="1" dirty="0">
                <a:solidFill>
                  <a:srgbClr val="00395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Evaluation stages</a:t>
            </a:r>
            <a:endParaRPr lang="en-US" sz="1400" dirty="0"/>
          </a:p>
        </p:txBody>
      </p:sp>
      <p:sp>
        <p:nvSpPr>
          <p:cNvPr id="56" name="Shape 52"/>
          <p:cNvSpPr/>
          <p:nvPr/>
        </p:nvSpPr>
        <p:spPr>
          <a:xfrm>
            <a:off x="152400" y="7981950"/>
            <a:ext cx="14325600" cy="0"/>
          </a:xfrm>
          <a:prstGeom prst="line">
            <a:avLst/>
          </a:prstGeom>
          <a:noFill/>
          <a:ln w="19050">
            <a:solidFill>
              <a:srgbClr val="00395D"/>
            </a:solidFill>
            <a:prstDash val="solid"/>
          </a:ln>
        </p:spPr>
      </p:sp>
      <p:sp>
        <p:nvSpPr>
          <p:cNvPr id="57" name="Shape 53"/>
          <p:cNvSpPr/>
          <p:nvPr/>
        </p:nvSpPr>
        <p:spPr>
          <a:xfrm>
            <a:off x="152400" y="8077200"/>
            <a:ext cx="2827020" cy="381000"/>
          </a:xfrm>
          <a:prstGeom prst="homePlate">
            <a:avLst/>
          </a:prstGeom>
          <a:solidFill>
            <a:srgbClr val="00395D"/>
          </a:solidFill>
          <a:ln/>
        </p:spPr>
      </p:sp>
      <p:sp>
        <p:nvSpPr>
          <p:cNvPr id="58" name="Text 54"/>
          <p:cNvSpPr txBox="1"/>
          <p:nvPr/>
        </p:nvSpPr>
        <p:spPr>
          <a:xfrm>
            <a:off x="266700" y="8077200"/>
            <a:ext cx="238887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Golden set</a:t>
            </a:r>
            <a:endParaRPr lang="en-US" sz="1200" dirty="0"/>
          </a:p>
        </p:txBody>
      </p:sp>
      <p:sp>
        <p:nvSpPr>
          <p:cNvPr id="59" name="Text 55"/>
          <p:cNvSpPr txBox="1"/>
          <p:nvPr/>
        </p:nvSpPr>
        <p:spPr>
          <a:xfrm>
            <a:off x="209550" y="8515350"/>
            <a:ext cx="2636520" cy="571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1F2D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Historical breaks with known root cause, category and verdict</a:t>
            </a:r>
            <a:endParaRPr lang="en-US" sz="1000" dirty="0"/>
          </a:p>
        </p:txBody>
      </p:sp>
      <p:sp>
        <p:nvSpPr>
          <p:cNvPr id="60" name="Shape 56"/>
          <p:cNvSpPr/>
          <p:nvPr/>
        </p:nvSpPr>
        <p:spPr>
          <a:xfrm>
            <a:off x="3017520" y="8077200"/>
            <a:ext cx="2827020" cy="381000"/>
          </a:xfrm>
          <a:prstGeom prst="chevron">
            <a:avLst/>
          </a:prstGeom>
          <a:solidFill>
            <a:srgbClr val="00395D"/>
          </a:solidFill>
          <a:ln/>
        </p:spPr>
      </p:sp>
      <p:sp>
        <p:nvSpPr>
          <p:cNvPr id="61" name="Text 57"/>
          <p:cNvSpPr txBox="1"/>
          <p:nvPr/>
        </p:nvSpPr>
        <p:spPr>
          <a:xfrm>
            <a:off x="3246120" y="8077200"/>
            <a:ext cx="238887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Shadow run</a:t>
            </a:r>
            <a:endParaRPr lang="en-US" sz="1200" dirty="0"/>
          </a:p>
        </p:txBody>
      </p:sp>
      <p:sp>
        <p:nvSpPr>
          <p:cNvPr id="62" name="Text 58"/>
          <p:cNvSpPr txBox="1"/>
          <p:nvPr/>
        </p:nvSpPr>
        <p:spPr>
          <a:xfrm>
            <a:off x="3074670" y="8515350"/>
            <a:ext cx="2636520" cy="571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1F2D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Runs alongside controllers, no posting</a:t>
            </a:r>
            <a:endParaRPr lang="en-US" sz="1000" dirty="0"/>
          </a:p>
        </p:txBody>
      </p:sp>
      <p:sp>
        <p:nvSpPr>
          <p:cNvPr id="63" name="Shape 59"/>
          <p:cNvSpPr/>
          <p:nvPr/>
        </p:nvSpPr>
        <p:spPr>
          <a:xfrm>
            <a:off x="5882640" y="8077200"/>
            <a:ext cx="2827020" cy="381000"/>
          </a:xfrm>
          <a:prstGeom prst="chevron">
            <a:avLst/>
          </a:prstGeom>
          <a:solidFill>
            <a:srgbClr val="00395D"/>
          </a:solidFill>
          <a:ln/>
        </p:spPr>
      </p:sp>
      <p:sp>
        <p:nvSpPr>
          <p:cNvPr id="64" name="Text 60"/>
          <p:cNvSpPr txBox="1"/>
          <p:nvPr/>
        </p:nvSpPr>
        <p:spPr>
          <a:xfrm>
            <a:off x="6111240" y="8077200"/>
            <a:ext cx="238887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SME review</a:t>
            </a:r>
            <a:endParaRPr lang="en-US" sz="1200" dirty="0"/>
          </a:p>
        </p:txBody>
      </p:sp>
      <p:sp>
        <p:nvSpPr>
          <p:cNvPr id="65" name="Text 61"/>
          <p:cNvSpPr txBox="1"/>
          <p:nvPr/>
        </p:nvSpPr>
        <p:spPr>
          <a:xfrm>
            <a:off x="5939790" y="8515350"/>
            <a:ext cx="2636520" cy="571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1F2D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Judgement-based cases checked by SMEs</a:t>
            </a:r>
            <a:endParaRPr lang="en-US" sz="1000" dirty="0"/>
          </a:p>
        </p:txBody>
      </p:sp>
      <p:sp>
        <p:nvSpPr>
          <p:cNvPr id="66" name="Shape 62"/>
          <p:cNvSpPr/>
          <p:nvPr/>
        </p:nvSpPr>
        <p:spPr>
          <a:xfrm>
            <a:off x="8747760" y="8077200"/>
            <a:ext cx="2827020" cy="381000"/>
          </a:xfrm>
          <a:prstGeom prst="chevron">
            <a:avLst/>
          </a:prstGeom>
          <a:solidFill>
            <a:srgbClr val="00395D"/>
          </a:solidFill>
          <a:ln/>
        </p:spPr>
      </p:sp>
      <p:sp>
        <p:nvSpPr>
          <p:cNvPr id="67" name="Text 63"/>
          <p:cNvSpPr txBox="1"/>
          <p:nvPr/>
        </p:nvSpPr>
        <p:spPr>
          <a:xfrm>
            <a:off x="8976360" y="8077200"/>
            <a:ext cx="238887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 Credit pilot</a:t>
            </a:r>
            <a:endParaRPr lang="en-US" sz="1200" dirty="0"/>
          </a:p>
        </p:txBody>
      </p:sp>
      <p:sp>
        <p:nvSpPr>
          <p:cNvPr id="68" name="Text 64"/>
          <p:cNvSpPr txBox="1"/>
          <p:nvPr/>
        </p:nvSpPr>
        <p:spPr>
          <a:xfrm>
            <a:off x="8804910" y="8515350"/>
            <a:ext cx="2636520" cy="571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1F2D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 sessions, controller approves every posting</a:t>
            </a:r>
            <a:endParaRPr lang="en-US" sz="1000" dirty="0"/>
          </a:p>
        </p:txBody>
      </p:sp>
      <p:sp>
        <p:nvSpPr>
          <p:cNvPr id="69" name="Shape 65"/>
          <p:cNvSpPr/>
          <p:nvPr/>
        </p:nvSpPr>
        <p:spPr>
          <a:xfrm>
            <a:off x="11612880" y="8077200"/>
            <a:ext cx="2827020" cy="381000"/>
          </a:xfrm>
          <a:prstGeom prst="chevron">
            <a:avLst/>
          </a:prstGeom>
          <a:solidFill>
            <a:srgbClr val="00AEEF"/>
          </a:solidFill>
          <a:ln/>
        </p:spPr>
      </p:sp>
      <p:sp>
        <p:nvSpPr>
          <p:cNvPr id="70" name="Text 66"/>
          <p:cNvSpPr txBox="1"/>
          <p:nvPr/>
        </p:nvSpPr>
        <p:spPr>
          <a:xfrm>
            <a:off x="11841480" y="8077200"/>
            <a:ext cx="238887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Production</a:t>
            </a:r>
            <a:endParaRPr lang="en-US" sz="1200" dirty="0"/>
          </a:p>
        </p:txBody>
      </p:sp>
      <p:sp>
        <p:nvSpPr>
          <p:cNvPr id="71" name="Text 67"/>
          <p:cNvSpPr txBox="1"/>
          <p:nvPr/>
        </p:nvSpPr>
        <p:spPr>
          <a:xfrm>
            <a:off x="11670030" y="8515350"/>
            <a:ext cx="2636520" cy="571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1F2D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Phoenix monitoring, regression on every skill change</a:t>
            </a:r>
            <a:endParaRPr lang="en-US" sz="1000" dirty="0"/>
          </a:p>
        </p:txBody>
      </p:sp>
      <p:sp>
        <p:nvSpPr>
          <p:cNvPr id="72" name="Shape 68"/>
          <p:cNvSpPr/>
          <p:nvPr/>
        </p:nvSpPr>
        <p:spPr>
          <a:xfrm>
            <a:off x="0" y="9277350"/>
            <a:ext cx="14630400" cy="476250"/>
          </a:xfrm>
          <a:prstGeom prst="rect">
            <a:avLst/>
          </a:prstGeom>
          <a:solidFill>
            <a:srgbClr val="00395D"/>
          </a:solidFill>
          <a:ln/>
        </p:spPr>
      </p:sp>
      <p:sp>
        <p:nvSpPr>
          <p:cNvPr id="73" name="Text 69"/>
          <p:cNvSpPr txBox="1"/>
          <p:nvPr/>
        </p:nvSpPr>
        <p:spPr>
          <a:xfrm>
            <a:off x="0" y="9277350"/>
            <a:ext cx="14630400" cy="4762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Helix Architecture</a:t>
            </a:r>
            <a:pPr algn="ctr"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|   Smarter Reconciliation. Stronger Control. Greater Insight.</a:t>
            </a:r>
            <a:endParaRPr lang="en-US" sz="12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1028700"/>
          </a:xfrm>
          <a:prstGeom prst="rect">
            <a:avLst/>
          </a:prstGeom>
          <a:solidFill>
            <a:srgbClr val="0B2E5E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304800" y="133350"/>
            <a:ext cx="11144250" cy="4762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Worked Example: CATS vs MOTIF, FI Credit</a:t>
            </a:r>
            <a:endParaRPr lang="en-US" sz="3000" dirty="0"/>
          </a:p>
        </p:txBody>
      </p:sp>
      <p:sp>
        <p:nvSpPr>
          <p:cNvPr id="4" name="Text 2"/>
          <p:cNvSpPr txBox="1"/>
          <p:nvPr/>
        </p:nvSpPr>
        <p:spPr>
          <a:xfrm>
            <a:off x="304800" y="590550"/>
            <a:ext cx="1123950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E3EC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break, from the overnight rec to the controller decision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11639550" y="190500"/>
            <a:ext cx="0" cy="647700"/>
          </a:xfrm>
          <a:prstGeom prst="line">
            <a:avLst/>
          </a:prstGeom>
          <a:noFill/>
          <a:ln w="15875">
            <a:solidFill>
              <a:srgbClr val="FFFFFF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11811000" y="266700"/>
            <a:ext cx="2714625" cy="4953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Helix Architecture</a:t>
            </a:r>
            <a:endParaRPr lang="en-US" sz="2400" dirty="0"/>
          </a:p>
        </p:txBody>
      </p:sp>
      <p:sp>
        <p:nvSpPr>
          <p:cNvPr id="7" name="Shape 5"/>
          <p:cNvSpPr/>
          <p:nvPr/>
        </p:nvSpPr>
        <p:spPr>
          <a:xfrm>
            <a:off x="152400" y="1295400"/>
            <a:ext cx="6572250" cy="4286250"/>
          </a:xfrm>
          <a:prstGeom prst="roundRect">
            <a:avLst>
              <a:gd name="adj" fmla="val 2222"/>
            </a:avLst>
          </a:prstGeom>
          <a:solidFill>
            <a:srgbClr val="F1F4F8"/>
          </a:solidFill>
          <a:ln/>
        </p:spPr>
      </p:sp>
      <p:sp>
        <p:nvSpPr>
          <p:cNvPr id="8" name="Shape 6"/>
          <p:cNvSpPr/>
          <p:nvPr/>
        </p:nvSpPr>
        <p:spPr>
          <a:xfrm>
            <a:off x="7105650" y="1295400"/>
            <a:ext cx="7372350" cy="4286250"/>
          </a:xfrm>
          <a:prstGeom prst="roundRect">
            <a:avLst>
              <a:gd name="adj" fmla="val 2222"/>
            </a:avLst>
          </a:prstGeom>
          <a:solidFill>
            <a:srgbClr val="EDF4FB"/>
          </a:solidFill>
          <a:ln/>
        </p:spPr>
      </p:sp>
      <p:sp>
        <p:nvSpPr>
          <p:cNvPr id="9" name="Text 7"/>
          <p:cNvSpPr txBox="1"/>
          <p:nvPr/>
        </p:nvSpPr>
        <p:spPr>
          <a:xfrm>
            <a:off x="342900" y="1428750"/>
            <a:ext cx="47625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1B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AUTOMATED, BEFORE DESK TIME</a:t>
            </a:r>
            <a:endParaRPr lang="en-US" sz="1100" dirty="0"/>
          </a:p>
        </p:txBody>
      </p:sp>
      <p:sp>
        <p:nvSpPr>
          <p:cNvPr id="10" name="Text 8"/>
          <p:cNvSpPr txBox="1"/>
          <p:nvPr/>
        </p:nvSpPr>
        <p:spPr>
          <a:xfrm>
            <a:off x="7296150" y="1428750"/>
            <a:ext cx="47625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1F6F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CONTROLLER, AT DESK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1238250" y="3286125"/>
            <a:ext cx="4381500" cy="0"/>
          </a:xfrm>
          <a:prstGeom prst="line">
            <a:avLst/>
          </a:prstGeom>
          <a:noFill/>
          <a:ln w="38100">
            <a:solidFill>
              <a:srgbClr val="1B3A5F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5619750" y="3286125"/>
            <a:ext cx="2400300" cy="0"/>
          </a:xfrm>
          <a:prstGeom prst="line">
            <a:avLst/>
          </a:prstGeom>
          <a:noFill/>
          <a:ln w="38100">
            <a:solidFill>
              <a:srgbClr val="9AA8BA"/>
            </a:solidFill>
            <a:prstDash val="dash"/>
          </a:ln>
        </p:spPr>
      </p:sp>
      <p:sp>
        <p:nvSpPr>
          <p:cNvPr id="13" name="Shape 11"/>
          <p:cNvSpPr/>
          <p:nvPr/>
        </p:nvSpPr>
        <p:spPr>
          <a:xfrm>
            <a:off x="8020050" y="3286125"/>
            <a:ext cx="5486400" cy="0"/>
          </a:xfrm>
          <a:prstGeom prst="line">
            <a:avLst/>
          </a:prstGeom>
          <a:noFill/>
          <a:ln w="38100">
            <a:solidFill>
              <a:srgbClr val="1F6FB5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6438900" y="3143250"/>
            <a:ext cx="952500" cy="28575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2700">
            <a:solidFill>
              <a:srgbClr val="9AA8BA"/>
            </a:solidFill>
            <a:prstDash val="solid"/>
          </a:ln>
        </p:spPr>
      </p:sp>
      <p:pic>
        <p:nvPicPr>
          <p:cNvPr id="1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534150" y="3209925"/>
            <a:ext cx="152400" cy="152400"/>
          </a:xfrm>
          <a:prstGeom prst="rect">
            <a:avLst/>
          </a:prstGeom>
        </p:spPr>
      </p:pic>
      <p:sp>
        <p:nvSpPr>
          <p:cNvPr id="16" name="Text 13"/>
          <p:cNvSpPr txBox="1"/>
          <p:nvPr/>
        </p:nvSpPr>
        <p:spPr>
          <a:xfrm>
            <a:off x="6724650" y="3143250"/>
            <a:ext cx="647700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5A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After X time</a:t>
            </a:r>
            <a:endParaRPr lang="en-US" sz="900" dirty="0"/>
          </a:p>
        </p:txBody>
      </p:sp>
      <p:sp>
        <p:nvSpPr>
          <p:cNvPr id="17" name="Text 14"/>
          <p:cNvSpPr txBox="1"/>
          <p:nvPr/>
        </p:nvSpPr>
        <p:spPr>
          <a:xfrm>
            <a:off x="762000" y="2390775"/>
            <a:ext cx="95250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B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05:30</a:t>
            </a:r>
            <a:endParaRPr lang="en-US" sz="1500" dirty="0"/>
          </a:p>
        </p:txBody>
      </p:sp>
      <p:sp>
        <p:nvSpPr>
          <p:cNvPr id="18" name="Shape 15"/>
          <p:cNvSpPr/>
          <p:nvPr/>
        </p:nvSpPr>
        <p:spPr>
          <a:xfrm>
            <a:off x="876300" y="2924175"/>
            <a:ext cx="723900" cy="723900"/>
          </a:xfrm>
          <a:prstGeom prst="ellipse">
            <a:avLst/>
          </a:prstGeom>
          <a:solidFill>
            <a:srgbClr val="1B3A5F"/>
          </a:solidFill>
          <a:ln w="50800">
            <a:solidFill>
              <a:srgbClr val="FFFFFF"/>
            </a:solidFill>
            <a:prstDash val="solid"/>
          </a:ln>
        </p:spPr>
      </p:sp>
      <p:pic>
        <p:nvPicPr>
          <p:cNvPr id="19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76325" y="3124200"/>
            <a:ext cx="323850" cy="323850"/>
          </a:xfrm>
          <a:prstGeom prst="rect">
            <a:avLst/>
          </a:prstGeom>
        </p:spPr>
      </p:pic>
      <p:sp>
        <p:nvSpPr>
          <p:cNvPr id="20" name="Text 16"/>
          <p:cNvSpPr txBox="1"/>
          <p:nvPr/>
        </p:nvSpPr>
        <p:spPr>
          <a:xfrm>
            <a:off x="285750" y="3800475"/>
            <a:ext cx="190500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F2D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 completes</a:t>
            </a:r>
            <a:endParaRPr lang="en-US" sz="1400" dirty="0"/>
          </a:p>
        </p:txBody>
      </p:sp>
      <p:sp>
        <p:nvSpPr>
          <p:cNvPr id="21" name="Text 17"/>
          <p:cNvSpPr txBox="1"/>
          <p:nvPr/>
        </p:nvSpPr>
        <p:spPr>
          <a:xfrm>
            <a:off x="419100" y="4086225"/>
            <a:ext cx="16383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dirty="0">
                <a:solidFill>
                  <a:srgbClr val="4A5A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MBREC runs CATS vs MOTIF for FI Credit</a:t>
            </a:r>
            <a:endParaRPr lang="en-US" sz="1100" dirty="0"/>
          </a:p>
        </p:txBody>
      </p:sp>
      <p:sp>
        <p:nvSpPr>
          <p:cNvPr id="22" name="Shape 18"/>
          <p:cNvSpPr/>
          <p:nvPr/>
        </p:nvSpPr>
        <p:spPr>
          <a:xfrm>
            <a:off x="809625" y="4657725"/>
            <a:ext cx="857250" cy="24765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2700">
            <a:solidFill>
              <a:srgbClr val="1B3A5F"/>
            </a:solidFill>
            <a:prstDash val="solid"/>
          </a:ln>
        </p:spPr>
      </p:sp>
      <p:sp>
        <p:nvSpPr>
          <p:cNvPr id="23" name="Text 19"/>
          <p:cNvSpPr txBox="1"/>
          <p:nvPr/>
        </p:nvSpPr>
        <p:spPr>
          <a:xfrm>
            <a:off x="809625" y="4657725"/>
            <a:ext cx="857250" cy="2476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1B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MBREC</a:t>
            </a:r>
            <a:endParaRPr lang="en-US" sz="950" dirty="0"/>
          </a:p>
        </p:txBody>
      </p:sp>
      <p:sp>
        <p:nvSpPr>
          <p:cNvPr id="24" name="Text 20"/>
          <p:cNvSpPr txBox="1"/>
          <p:nvPr/>
        </p:nvSpPr>
        <p:spPr>
          <a:xfrm>
            <a:off x="2952750" y="2390775"/>
            <a:ext cx="95250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B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05:45</a:t>
            </a:r>
            <a:endParaRPr lang="en-US" sz="1500" dirty="0"/>
          </a:p>
        </p:txBody>
      </p:sp>
      <p:sp>
        <p:nvSpPr>
          <p:cNvPr id="25" name="Shape 21"/>
          <p:cNvSpPr/>
          <p:nvPr/>
        </p:nvSpPr>
        <p:spPr>
          <a:xfrm>
            <a:off x="3067050" y="2924175"/>
            <a:ext cx="723900" cy="723900"/>
          </a:xfrm>
          <a:prstGeom prst="ellipse">
            <a:avLst/>
          </a:prstGeom>
          <a:solidFill>
            <a:srgbClr val="1B3A5F"/>
          </a:solidFill>
          <a:ln w="50800">
            <a:solidFill>
              <a:srgbClr val="FFFFFF"/>
            </a:solidFill>
            <a:prstDash val="solid"/>
          </a:ln>
        </p:spPr>
      </p:sp>
      <p:pic>
        <p:nvPicPr>
          <p:cNvPr id="26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267075" y="3124200"/>
            <a:ext cx="323850" cy="323850"/>
          </a:xfrm>
          <a:prstGeom prst="rect">
            <a:avLst/>
          </a:prstGeom>
        </p:spPr>
      </p:pic>
      <p:sp>
        <p:nvSpPr>
          <p:cNvPr id="27" name="Text 22"/>
          <p:cNvSpPr txBox="1"/>
          <p:nvPr/>
        </p:nvSpPr>
        <p:spPr>
          <a:xfrm>
            <a:off x="2476500" y="3800475"/>
            <a:ext cx="190500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F2D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Books ready</a:t>
            </a:r>
            <a:endParaRPr lang="en-US" sz="1400" dirty="0"/>
          </a:p>
        </p:txBody>
      </p:sp>
      <p:sp>
        <p:nvSpPr>
          <p:cNvPr id="28" name="Text 23"/>
          <p:cNvSpPr txBox="1"/>
          <p:nvPr/>
        </p:nvSpPr>
        <p:spPr>
          <a:xfrm>
            <a:off x="2609850" y="4086225"/>
            <a:ext cx="16383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dirty="0">
                <a:solidFill>
                  <a:srgbClr val="4A5A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X master books available</a:t>
            </a:r>
            <a:endParaRPr lang="en-US" sz="1100" dirty="0"/>
          </a:p>
        </p:txBody>
      </p:sp>
      <p:sp>
        <p:nvSpPr>
          <p:cNvPr id="29" name="Shape 24"/>
          <p:cNvSpPr/>
          <p:nvPr/>
        </p:nvSpPr>
        <p:spPr>
          <a:xfrm>
            <a:off x="2933700" y="4657725"/>
            <a:ext cx="990600" cy="24765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2700">
            <a:solidFill>
              <a:srgbClr val="1B3A5F"/>
            </a:solidFill>
            <a:prstDash val="solid"/>
          </a:ln>
        </p:spPr>
      </p:sp>
      <p:sp>
        <p:nvSpPr>
          <p:cNvPr id="30" name="Text 25"/>
          <p:cNvSpPr txBox="1"/>
          <p:nvPr/>
        </p:nvSpPr>
        <p:spPr>
          <a:xfrm>
            <a:off x="2933700" y="4657725"/>
            <a:ext cx="990600" cy="2476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1B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Fin UX</a:t>
            </a:r>
            <a:endParaRPr lang="en-US" sz="950" dirty="0"/>
          </a:p>
        </p:txBody>
      </p:sp>
      <p:sp>
        <p:nvSpPr>
          <p:cNvPr id="31" name="Text 26"/>
          <p:cNvSpPr txBox="1"/>
          <p:nvPr/>
        </p:nvSpPr>
        <p:spPr>
          <a:xfrm>
            <a:off x="5143500" y="2390775"/>
            <a:ext cx="95250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B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06:00</a:t>
            </a:r>
            <a:endParaRPr lang="en-US" sz="1500" dirty="0"/>
          </a:p>
        </p:txBody>
      </p:sp>
      <p:sp>
        <p:nvSpPr>
          <p:cNvPr id="32" name="Shape 27"/>
          <p:cNvSpPr/>
          <p:nvPr/>
        </p:nvSpPr>
        <p:spPr>
          <a:xfrm>
            <a:off x="5257800" y="2924175"/>
            <a:ext cx="723900" cy="723900"/>
          </a:xfrm>
          <a:prstGeom prst="ellipse">
            <a:avLst/>
          </a:prstGeom>
          <a:solidFill>
            <a:srgbClr val="1B3A5F"/>
          </a:solidFill>
          <a:ln w="50800">
            <a:solidFill>
              <a:srgbClr val="FFFFFF"/>
            </a:solidFill>
            <a:prstDash val="solid"/>
          </a:ln>
        </p:spPr>
      </p:sp>
      <p:pic>
        <p:nvPicPr>
          <p:cNvPr id="33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457825" y="3124200"/>
            <a:ext cx="323850" cy="323850"/>
          </a:xfrm>
          <a:prstGeom prst="rect">
            <a:avLst/>
          </a:prstGeom>
        </p:spPr>
      </p:pic>
      <p:sp>
        <p:nvSpPr>
          <p:cNvPr id="34" name="Text 28"/>
          <p:cNvSpPr txBox="1"/>
          <p:nvPr/>
        </p:nvSpPr>
        <p:spPr>
          <a:xfrm>
            <a:off x="4667250" y="3800475"/>
            <a:ext cx="190500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F2D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Break flagged</a:t>
            </a:r>
            <a:endParaRPr lang="en-US" sz="1400" dirty="0"/>
          </a:p>
        </p:txBody>
      </p:sp>
      <p:sp>
        <p:nvSpPr>
          <p:cNvPr id="35" name="Text 29"/>
          <p:cNvSpPr txBox="1"/>
          <p:nvPr/>
        </p:nvSpPr>
        <p:spPr>
          <a:xfrm>
            <a:off x="4800600" y="4086225"/>
            <a:ext cx="16383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dirty="0">
                <a:solidFill>
                  <a:srgbClr val="4A5A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analysis saved to the session</a:t>
            </a:r>
            <a:endParaRPr lang="en-US" sz="1100" dirty="0"/>
          </a:p>
        </p:txBody>
      </p:sp>
      <p:sp>
        <p:nvSpPr>
          <p:cNvPr id="36" name="Shape 30"/>
          <p:cNvSpPr/>
          <p:nvPr/>
        </p:nvSpPr>
        <p:spPr>
          <a:xfrm>
            <a:off x="4857750" y="4657725"/>
            <a:ext cx="1524000" cy="24765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2700">
            <a:solidFill>
              <a:srgbClr val="1B3A5F"/>
            </a:solidFill>
            <a:prstDash val="solid"/>
          </a:ln>
        </p:spPr>
      </p:sp>
      <p:sp>
        <p:nvSpPr>
          <p:cNvPr id="37" name="Text 31"/>
          <p:cNvSpPr txBox="1"/>
          <p:nvPr/>
        </p:nvSpPr>
        <p:spPr>
          <a:xfrm>
            <a:off x="4857750" y="4657725"/>
            <a:ext cx="1524000" cy="2476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1B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Helix + Agent One</a:t>
            </a:r>
            <a:endParaRPr lang="en-US" sz="950" dirty="0"/>
          </a:p>
        </p:txBody>
      </p:sp>
      <p:sp>
        <p:nvSpPr>
          <p:cNvPr id="38" name="Text 32"/>
          <p:cNvSpPr txBox="1"/>
          <p:nvPr/>
        </p:nvSpPr>
        <p:spPr>
          <a:xfrm>
            <a:off x="7543800" y="2390775"/>
            <a:ext cx="95250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F6F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09:10</a:t>
            </a:r>
            <a:endParaRPr lang="en-US" sz="1500" dirty="0"/>
          </a:p>
        </p:txBody>
      </p:sp>
      <p:sp>
        <p:nvSpPr>
          <p:cNvPr id="39" name="Shape 33"/>
          <p:cNvSpPr/>
          <p:nvPr/>
        </p:nvSpPr>
        <p:spPr>
          <a:xfrm>
            <a:off x="7658100" y="2924175"/>
            <a:ext cx="723900" cy="723900"/>
          </a:xfrm>
          <a:prstGeom prst="ellipse">
            <a:avLst/>
          </a:prstGeom>
          <a:solidFill>
            <a:srgbClr val="1F6FB5"/>
          </a:solidFill>
          <a:ln w="50800">
            <a:solidFill>
              <a:srgbClr val="FFFFFF"/>
            </a:solidFill>
            <a:prstDash val="solid"/>
          </a:ln>
        </p:spPr>
      </p:sp>
      <p:pic>
        <p:nvPicPr>
          <p:cNvPr id="40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858125" y="3124200"/>
            <a:ext cx="323850" cy="323850"/>
          </a:xfrm>
          <a:prstGeom prst="rect">
            <a:avLst/>
          </a:prstGeom>
        </p:spPr>
      </p:pic>
      <p:sp>
        <p:nvSpPr>
          <p:cNvPr id="41" name="Text 34"/>
          <p:cNvSpPr txBox="1"/>
          <p:nvPr/>
        </p:nvSpPr>
        <p:spPr>
          <a:xfrm>
            <a:off x="7067550" y="3800475"/>
            <a:ext cx="190500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F2D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Controller asks</a:t>
            </a:r>
            <a:endParaRPr lang="en-US" sz="1400" dirty="0"/>
          </a:p>
        </p:txBody>
      </p:sp>
      <p:sp>
        <p:nvSpPr>
          <p:cNvPr id="42" name="Text 35"/>
          <p:cNvSpPr txBox="1"/>
          <p:nvPr/>
        </p:nvSpPr>
        <p:spPr>
          <a:xfrm>
            <a:off x="7200900" y="4086225"/>
            <a:ext cx="16383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dirty="0">
                <a:solidFill>
                  <a:srgbClr val="4A5A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Opens the session and asks why</a:t>
            </a:r>
            <a:endParaRPr lang="en-US" sz="1100" dirty="0"/>
          </a:p>
        </p:txBody>
      </p:sp>
      <p:sp>
        <p:nvSpPr>
          <p:cNvPr id="43" name="Shape 36"/>
          <p:cNvSpPr/>
          <p:nvPr/>
        </p:nvSpPr>
        <p:spPr>
          <a:xfrm>
            <a:off x="7591425" y="4657725"/>
            <a:ext cx="857250" cy="24765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2700">
            <a:solidFill>
              <a:srgbClr val="1F6FB5"/>
            </a:solidFill>
            <a:prstDash val="solid"/>
          </a:ln>
        </p:spPr>
      </p:sp>
      <p:sp>
        <p:nvSpPr>
          <p:cNvPr id="44" name="Text 37"/>
          <p:cNvSpPr txBox="1"/>
          <p:nvPr/>
        </p:nvSpPr>
        <p:spPr>
          <a:xfrm>
            <a:off x="7591425" y="4657725"/>
            <a:ext cx="857250" cy="2476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1F6F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Helix UI</a:t>
            </a:r>
            <a:endParaRPr lang="en-US" sz="950" dirty="0"/>
          </a:p>
        </p:txBody>
      </p:sp>
      <p:sp>
        <p:nvSpPr>
          <p:cNvPr id="45" name="Text 38"/>
          <p:cNvSpPr txBox="1"/>
          <p:nvPr/>
        </p:nvSpPr>
        <p:spPr>
          <a:xfrm>
            <a:off x="9372600" y="2390775"/>
            <a:ext cx="95250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F6F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09:14</a:t>
            </a:r>
            <a:endParaRPr lang="en-US" sz="1500" dirty="0"/>
          </a:p>
        </p:txBody>
      </p:sp>
      <p:sp>
        <p:nvSpPr>
          <p:cNvPr id="46" name="Shape 39"/>
          <p:cNvSpPr/>
          <p:nvPr/>
        </p:nvSpPr>
        <p:spPr>
          <a:xfrm>
            <a:off x="9486900" y="2924175"/>
            <a:ext cx="723900" cy="723900"/>
          </a:xfrm>
          <a:prstGeom prst="ellipse">
            <a:avLst/>
          </a:prstGeom>
          <a:solidFill>
            <a:srgbClr val="1F6FB5"/>
          </a:solidFill>
          <a:ln w="50800">
            <a:solidFill>
              <a:srgbClr val="FFFFFF"/>
            </a:solidFill>
            <a:prstDash val="solid"/>
          </a:ln>
        </p:spPr>
      </p:sp>
      <p:pic>
        <p:nvPicPr>
          <p:cNvPr id="47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686925" y="3124200"/>
            <a:ext cx="323850" cy="323850"/>
          </a:xfrm>
          <a:prstGeom prst="rect">
            <a:avLst/>
          </a:prstGeom>
        </p:spPr>
      </p:pic>
      <p:sp>
        <p:nvSpPr>
          <p:cNvPr id="48" name="Text 40"/>
          <p:cNvSpPr txBox="1"/>
          <p:nvPr/>
        </p:nvSpPr>
        <p:spPr>
          <a:xfrm>
            <a:off x="8896350" y="3800475"/>
            <a:ext cx="190500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F2D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Fetch what is missing</a:t>
            </a:r>
            <a:endParaRPr lang="en-US" sz="1400" dirty="0"/>
          </a:p>
        </p:txBody>
      </p:sp>
      <p:sp>
        <p:nvSpPr>
          <p:cNvPr id="49" name="Text 41"/>
          <p:cNvSpPr txBox="1"/>
          <p:nvPr/>
        </p:nvSpPr>
        <p:spPr>
          <a:xfrm>
            <a:off x="9029700" y="4086225"/>
            <a:ext cx="16383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dirty="0">
                <a:solidFill>
                  <a:srgbClr val="4A5A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MB Rec and other sources only</a:t>
            </a:r>
            <a:endParaRPr lang="en-US" sz="1100" dirty="0"/>
          </a:p>
        </p:txBody>
      </p:sp>
      <p:sp>
        <p:nvSpPr>
          <p:cNvPr id="50" name="Shape 42"/>
          <p:cNvSpPr/>
          <p:nvPr/>
        </p:nvSpPr>
        <p:spPr>
          <a:xfrm>
            <a:off x="9420225" y="4657725"/>
            <a:ext cx="857250" cy="24765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2700">
            <a:solidFill>
              <a:srgbClr val="1F6FB5"/>
            </a:solidFill>
            <a:prstDash val="solid"/>
          </a:ln>
        </p:spPr>
      </p:sp>
      <p:sp>
        <p:nvSpPr>
          <p:cNvPr id="51" name="Text 43"/>
          <p:cNvSpPr txBox="1"/>
          <p:nvPr/>
        </p:nvSpPr>
        <p:spPr>
          <a:xfrm>
            <a:off x="9420225" y="4657725"/>
            <a:ext cx="857250" cy="2476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1F6F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MCP</a:t>
            </a:r>
            <a:endParaRPr lang="en-US" sz="950" dirty="0"/>
          </a:p>
        </p:txBody>
      </p:sp>
      <p:sp>
        <p:nvSpPr>
          <p:cNvPr id="52" name="Text 44"/>
          <p:cNvSpPr txBox="1"/>
          <p:nvPr/>
        </p:nvSpPr>
        <p:spPr>
          <a:xfrm>
            <a:off x="11201400" y="2390775"/>
            <a:ext cx="95250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F6F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09:16</a:t>
            </a:r>
            <a:endParaRPr lang="en-US" sz="1500" dirty="0"/>
          </a:p>
        </p:txBody>
      </p:sp>
      <p:sp>
        <p:nvSpPr>
          <p:cNvPr id="53" name="Shape 45"/>
          <p:cNvSpPr/>
          <p:nvPr/>
        </p:nvSpPr>
        <p:spPr>
          <a:xfrm>
            <a:off x="11315700" y="2924175"/>
            <a:ext cx="723900" cy="723900"/>
          </a:xfrm>
          <a:prstGeom prst="ellipse">
            <a:avLst/>
          </a:prstGeom>
          <a:solidFill>
            <a:srgbClr val="1F6FB5"/>
          </a:solidFill>
          <a:ln w="50800">
            <a:solidFill>
              <a:srgbClr val="FFFFFF"/>
            </a:solidFill>
            <a:prstDash val="solid"/>
          </a:ln>
        </p:spPr>
      </p:sp>
      <p:pic>
        <p:nvPicPr>
          <p:cNvPr id="54" name="Image 6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1515725" y="3124200"/>
            <a:ext cx="323850" cy="323850"/>
          </a:xfrm>
          <a:prstGeom prst="rect">
            <a:avLst/>
          </a:prstGeom>
        </p:spPr>
      </p:pic>
      <p:sp>
        <p:nvSpPr>
          <p:cNvPr id="55" name="Text 46"/>
          <p:cNvSpPr txBox="1"/>
          <p:nvPr/>
        </p:nvSpPr>
        <p:spPr>
          <a:xfrm>
            <a:off x="10725150" y="3800475"/>
            <a:ext cx="190500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F2D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Compare in code</a:t>
            </a:r>
            <a:endParaRPr lang="en-US" sz="1400" dirty="0"/>
          </a:p>
        </p:txBody>
      </p:sp>
      <p:sp>
        <p:nvSpPr>
          <p:cNvPr id="56" name="Text 47"/>
          <p:cNvSpPr txBox="1"/>
          <p:nvPr/>
        </p:nvSpPr>
        <p:spPr>
          <a:xfrm>
            <a:off x="10858500" y="4086225"/>
            <a:ext cx="16383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dirty="0">
                <a:solidFill>
                  <a:srgbClr val="4A5A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Deterministic, not the LLM</a:t>
            </a:r>
            <a:endParaRPr lang="en-US" sz="1100" dirty="0"/>
          </a:p>
        </p:txBody>
      </p:sp>
      <p:sp>
        <p:nvSpPr>
          <p:cNvPr id="57" name="Shape 48"/>
          <p:cNvSpPr/>
          <p:nvPr/>
        </p:nvSpPr>
        <p:spPr>
          <a:xfrm>
            <a:off x="10991850" y="4657725"/>
            <a:ext cx="1371600" cy="24765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2700">
            <a:solidFill>
              <a:srgbClr val="1F6FB5"/>
            </a:solidFill>
            <a:prstDash val="solid"/>
          </a:ln>
        </p:spPr>
      </p:sp>
      <p:sp>
        <p:nvSpPr>
          <p:cNvPr id="58" name="Text 49"/>
          <p:cNvSpPr txBox="1"/>
          <p:nvPr/>
        </p:nvSpPr>
        <p:spPr>
          <a:xfrm>
            <a:off x="10991850" y="4657725"/>
            <a:ext cx="1371600" cy="2476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1F6F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Compare Service</a:t>
            </a:r>
            <a:endParaRPr lang="en-US" sz="950" dirty="0"/>
          </a:p>
        </p:txBody>
      </p:sp>
      <p:sp>
        <p:nvSpPr>
          <p:cNvPr id="59" name="Text 50"/>
          <p:cNvSpPr txBox="1"/>
          <p:nvPr/>
        </p:nvSpPr>
        <p:spPr>
          <a:xfrm>
            <a:off x="13030200" y="2390775"/>
            <a:ext cx="95250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F6F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09:20</a:t>
            </a:r>
            <a:endParaRPr lang="en-US" sz="1500" dirty="0"/>
          </a:p>
        </p:txBody>
      </p:sp>
      <p:sp>
        <p:nvSpPr>
          <p:cNvPr id="60" name="Shape 51"/>
          <p:cNvSpPr/>
          <p:nvPr/>
        </p:nvSpPr>
        <p:spPr>
          <a:xfrm>
            <a:off x="13144500" y="2924175"/>
            <a:ext cx="723900" cy="723900"/>
          </a:xfrm>
          <a:prstGeom prst="ellipse">
            <a:avLst/>
          </a:prstGeom>
          <a:solidFill>
            <a:srgbClr val="1F6FB5"/>
          </a:solidFill>
          <a:ln w="50800">
            <a:solidFill>
              <a:srgbClr val="FFFFFF"/>
            </a:solidFill>
            <a:prstDash val="solid"/>
          </a:ln>
        </p:spPr>
      </p:sp>
      <p:pic>
        <p:nvPicPr>
          <p:cNvPr id="61" name="Image 7" descr="preencoded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3344525" y="3124200"/>
            <a:ext cx="323850" cy="323850"/>
          </a:xfrm>
          <a:prstGeom prst="rect">
            <a:avLst/>
          </a:prstGeom>
        </p:spPr>
      </p:pic>
      <p:sp>
        <p:nvSpPr>
          <p:cNvPr id="62" name="Text 52"/>
          <p:cNvSpPr txBox="1"/>
          <p:nvPr/>
        </p:nvSpPr>
        <p:spPr>
          <a:xfrm>
            <a:off x="12553950" y="3800475"/>
            <a:ext cx="190500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F2D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Approve and post</a:t>
            </a:r>
            <a:endParaRPr lang="en-US" sz="1400" dirty="0"/>
          </a:p>
        </p:txBody>
      </p:sp>
      <p:sp>
        <p:nvSpPr>
          <p:cNvPr id="63" name="Text 53"/>
          <p:cNvSpPr txBox="1"/>
          <p:nvPr/>
        </p:nvSpPr>
        <p:spPr>
          <a:xfrm>
            <a:off x="12687300" y="4086225"/>
            <a:ext cx="16383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dirty="0">
                <a:solidFill>
                  <a:srgbClr val="4A5A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Controller approves, FAS posts to MOTIF</a:t>
            </a:r>
            <a:endParaRPr lang="en-US" sz="1100" dirty="0"/>
          </a:p>
        </p:txBody>
      </p:sp>
      <p:sp>
        <p:nvSpPr>
          <p:cNvPr id="64" name="Shape 54"/>
          <p:cNvSpPr/>
          <p:nvPr/>
        </p:nvSpPr>
        <p:spPr>
          <a:xfrm>
            <a:off x="13077825" y="4657725"/>
            <a:ext cx="857250" cy="24765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2700">
            <a:solidFill>
              <a:srgbClr val="1F6FB5"/>
            </a:solidFill>
            <a:prstDash val="solid"/>
          </a:ln>
        </p:spPr>
      </p:sp>
      <p:sp>
        <p:nvSpPr>
          <p:cNvPr id="65" name="Text 55"/>
          <p:cNvSpPr txBox="1"/>
          <p:nvPr/>
        </p:nvSpPr>
        <p:spPr>
          <a:xfrm>
            <a:off x="13077825" y="4657725"/>
            <a:ext cx="857250" cy="2476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1F6F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FAS MCP</a:t>
            </a:r>
            <a:endParaRPr lang="en-US" sz="950" dirty="0"/>
          </a:p>
        </p:txBody>
      </p:sp>
      <p:sp>
        <p:nvSpPr>
          <p:cNvPr id="66" name="Shape 56"/>
          <p:cNvSpPr/>
          <p:nvPr/>
        </p:nvSpPr>
        <p:spPr>
          <a:xfrm>
            <a:off x="152400" y="5829300"/>
            <a:ext cx="6572250" cy="1524000"/>
          </a:xfrm>
          <a:prstGeom prst="roundRect">
            <a:avLst>
              <a:gd name="adj" fmla="val 6250"/>
            </a:avLst>
          </a:prstGeom>
          <a:solidFill>
            <a:srgbClr val="FFFFFF"/>
          </a:solidFill>
          <a:ln w="12700">
            <a:solidFill>
              <a:srgbClr val="C8D8EC"/>
            </a:solidFill>
            <a:prstDash val="solid"/>
          </a:ln>
        </p:spPr>
      </p:sp>
      <p:sp>
        <p:nvSpPr>
          <p:cNvPr id="67" name="Shape 57"/>
          <p:cNvSpPr/>
          <p:nvPr/>
        </p:nvSpPr>
        <p:spPr>
          <a:xfrm>
            <a:off x="381000" y="6143625"/>
            <a:ext cx="533400" cy="533400"/>
          </a:xfrm>
          <a:prstGeom prst="ellipse">
            <a:avLst/>
          </a:prstGeom>
          <a:solidFill>
            <a:srgbClr val="1F6FB5"/>
          </a:solidFill>
          <a:ln/>
        </p:spPr>
      </p:sp>
      <p:pic>
        <p:nvPicPr>
          <p:cNvPr id="68" name="Image 8" descr="preencoded.png">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523875" y="6286500"/>
            <a:ext cx="247650" cy="247650"/>
          </a:xfrm>
          <a:prstGeom prst="rect">
            <a:avLst/>
          </a:prstGeom>
        </p:spPr>
      </p:pic>
      <p:sp>
        <p:nvSpPr>
          <p:cNvPr id="69" name="Text 58"/>
          <p:cNvSpPr txBox="1"/>
          <p:nvPr/>
        </p:nvSpPr>
        <p:spPr>
          <a:xfrm>
            <a:off x="1066800" y="6038850"/>
            <a:ext cx="3810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4A5A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Controller, 09:10</a:t>
            </a:r>
            <a:endParaRPr lang="en-US" sz="1050" dirty="0"/>
          </a:p>
        </p:txBody>
      </p:sp>
      <p:sp>
        <p:nvSpPr>
          <p:cNvPr id="70" name="Text 59"/>
          <p:cNvSpPr txBox="1"/>
          <p:nvPr/>
        </p:nvSpPr>
        <p:spPr>
          <a:xfrm>
            <a:off x="1066800" y="6286500"/>
            <a:ext cx="542925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i="1" dirty="0">
                <a:solidFill>
                  <a:srgbClr val="1F2D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"Why do the CATS and MOTIF values differ for this FI Credit master book?"</a:t>
            </a:r>
            <a:endParaRPr lang="en-US" sz="1700" dirty="0"/>
          </a:p>
        </p:txBody>
      </p:sp>
      <p:sp>
        <p:nvSpPr>
          <p:cNvPr id="71" name="Shape 60"/>
          <p:cNvSpPr/>
          <p:nvPr/>
        </p:nvSpPr>
        <p:spPr>
          <a:xfrm>
            <a:off x="6781800" y="6591300"/>
            <a:ext cx="266700" cy="0"/>
          </a:xfrm>
          <a:prstGeom prst="line">
            <a:avLst/>
          </a:prstGeom>
          <a:noFill/>
          <a:ln w="22225">
            <a:solidFill>
              <a:srgbClr val="1F6FB5"/>
            </a:solidFill>
            <a:prstDash val="solid"/>
            <a:tailEnd type="triangle"/>
          </a:ln>
        </p:spPr>
      </p:sp>
      <p:sp>
        <p:nvSpPr>
          <p:cNvPr id="72" name="Shape 61"/>
          <p:cNvSpPr/>
          <p:nvPr/>
        </p:nvSpPr>
        <p:spPr>
          <a:xfrm>
            <a:off x="7105650" y="5829300"/>
            <a:ext cx="7372350" cy="1524000"/>
          </a:xfrm>
          <a:prstGeom prst="roundRect">
            <a:avLst>
              <a:gd name="adj" fmla="val 6250"/>
            </a:avLst>
          </a:prstGeom>
          <a:solidFill>
            <a:srgbClr val="FFFFFF"/>
          </a:solidFill>
          <a:ln w="12700">
            <a:solidFill>
              <a:srgbClr val="C8D8EC"/>
            </a:solidFill>
            <a:prstDash val="solid"/>
          </a:ln>
        </p:spPr>
      </p:sp>
      <p:sp>
        <p:nvSpPr>
          <p:cNvPr id="73" name="Shape 62"/>
          <p:cNvSpPr/>
          <p:nvPr/>
        </p:nvSpPr>
        <p:spPr>
          <a:xfrm>
            <a:off x="7334250" y="6143625"/>
            <a:ext cx="533400" cy="533400"/>
          </a:xfrm>
          <a:prstGeom prst="ellipse">
            <a:avLst/>
          </a:prstGeom>
          <a:solidFill>
            <a:srgbClr val="1B3A5F"/>
          </a:solidFill>
          <a:ln/>
        </p:spPr>
      </p:sp>
      <p:pic>
        <p:nvPicPr>
          <p:cNvPr id="74" name="Image 9" descr="preencoded.png">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7477125" y="6286500"/>
            <a:ext cx="247650" cy="247650"/>
          </a:xfrm>
          <a:prstGeom prst="rect">
            <a:avLst/>
          </a:prstGeom>
        </p:spPr>
      </p:pic>
      <p:sp>
        <p:nvSpPr>
          <p:cNvPr id="75" name="Text 63"/>
          <p:cNvSpPr txBox="1"/>
          <p:nvPr/>
        </p:nvSpPr>
        <p:spPr>
          <a:xfrm>
            <a:off x="8020050" y="6038850"/>
            <a:ext cx="3810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4A5A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Outcome, 09:20</a:t>
            </a:r>
            <a:endParaRPr lang="en-US" sz="1050" dirty="0"/>
          </a:p>
        </p:txBody>
      </p:sp>
      <p:sp>
        <p:nvSpPr>
          <p:cNvPr id="76" name="Text 64"/>
          <p:cNvSpPr txBox="1"/>
          <p:nvPr/>
        </p:nvSpPr>
        <p:spPr>
          <a:xfrm>
            <a:off x="8020050" y="6286500"/>
            <a:ext cx="62865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1F2D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Difference explained, every figure traced to MB Rec or other sources, adjustment approved and posted to MOTIF via FAS.</a:t>
            </a:r>
            <a:endParaRPr lang="en-US" sz="1500" dirty="0"/>
          </a:p>
        </p:txBody>
      </p:sp>
      <p:sp>
        <p:nvSpPr>
          <p:cNvPr id="77" name="Text 65"/>
          <p:cNvSpPr txBox="1"/>
          <p:nvPr/>
        </p:nvSpPr>
        <p:spPr>
          <a:xfrm>
            <a:off x="171450" y="7620000"/>
            <a:ext cx="2857500" cy="2476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B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controls</a:t>
            </a:r>
            <a:endParaRPr lang="en-US" sz="1200" dirty="0"/>
          </a:p>
        </p:txBody>
      </p:sp>
      <p:sp>
        <p:nvSpPr>
          <p:cNvPr id="78" name="Shape 66"/>
          <p:cNvSpPr/>
          <p:nvPr/>
        </p:nvSpPr>
        <p:spPr>
          <a:xfrm>
            <a:off x="171450" y="8096250"/>
            <a:ext cx="381000" cy="381000"/>
          </a:xfrm>
          <a:prstGeom prst="ellipse">
            <a:avLst/>
          </a:prstGeom>
          <a:solidFill>
            <a:srgbClr val="EDF4FB"/>
          </a:solidFill>
          <a:ln/>
        </p:spPr>
      </p:sp>
      <p:pic>
        <p:nvPicPr>
          <p:cNvPr id="79" name="Image 10" descr="preencoded.png">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276225" y="8201025"/>
            <a:ext cx="171450" cy="171450"/>
          </a:xfrm>
          <a:prstGeom prst="rect">
            <a:avLst/>
          </a:prstGeom>
        </p:spPr>
      </p:pic>
      <p:sp>
        <p:nvSpPr>
          <p:cNvPr id="80" name="Text 67"/>
          <p:cNvSpPr txBox="1"/>
          <p:nvPr/>
        </p:nvSpPr>
        <p:spPr>
          <a:xfrm>
            <a:off x="647700" y="8001000"/>
            <a:ext cx="2286000" cy="571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F2D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Stored evidence checked first</a:t>
            </a:r>
            <a:endParaRPr lang="en-US" sz="1150" dirty="0"/>
          </a:p>
        </p:txBody>
      </p:sp>
      <p:sp>
        <p:nvSpPr>
          <p:cNvPr id="81" name="Shape 68"/>
          <p:cNvSpPr/>
          <p:nvPr/>
        </p:nvSpPr>
        <p:spPr>
          <a:xfrm>
            <a:off x="3048000" y="8096250"/>
            <a:ext cx="381000" cy="381000"/>
          </a:xfrm>
          <a:prstGeom prst="ellipse">
            <a:avLst/>
          </a:prstGeom>
          <a:solidFill>
            <a:srgbClr val="EDF4FB"/>
          </a:solidFill>
          <a:ln/>
        </p:spPr>
      </p:sp>
      <p:pic>
        <p:nvPicPr>
          <p:cNvPr id="82" name="Image 11" descr="preencoded.png">    </p:cNvPr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3152775" y="8201025"/>
            <a:ext cx="171450" cy="171450"/>
          </a:xfrm>
          <a:prstGeom prst="rect">
            <a:avLst/>
          </a:prstGeom>
        </p:spPr>
      </p:pic>
      <p:sp>
        <p:nvSpPr>
          <p:cNvPr id="83" name="Text 69"/>
          <p:cNvSpPr txBox="1"/>
          <p:nvPr/>
        </p:nvSpPr>
        <p:spPr>
          <a:xfrm>
            <a:off x="3524250" y="8001000"/>
            <a:ext cx="2286000" cy="571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F2D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Trade Store, CATS or MOTIF calls</a:t>
            </a:r>
            <a:endParaRPr lang="en-US" sz="1150" dirty="0"/>
          </a:p>
        </p:txBody>
      </p:sp>
      <p:sp>
        <p:nvSpPr>
          <p:cNvPr id="84" name="Shape 70"/>
          <p:cNvSpPr/>
          <p:nvPr/>
        </p:nvSpPr>
        <p:spPr>
          <a:xfrm>
            <a:off x="5924550" y="8096250"/>
            <a:ext cx="381000" cy="381000"/>
          </a:xfrm>
          <a:prstGeom prst="ellipse">
            <a:avLst/>
          </a:prstGeom>
          <a:solidFill>
            <a:srgbClr val="EDF4FB"/>
          </a:solidFill>
          <a:ln/>
        </p:spPr>
      </p:sp>
      <p:pic>
        <p:nvPicPr>
          <p:cNvPr id="85" name="Image 12" descr="preencoded.png">    </p:cNvPr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6029325" y="8201025"/>
            <a:ext cx="171450" cy="171450"/>
          </a:xfrm>
          <a:prstGeom prst="rect">
            <a:avLst/>
          </a:prstGeom>
        </p:spPr>
      </p:pic>
      <p:sp>
        <p:nvSpPr>
          <p:cNvPr id="86" name="Text 71"/>
          <p:cNvSpPr txBox="1"/>
          <p:nvPr/>
        </p:nvSpPr>
        <p:spPr>
          <a:xfrm>
            <a:off x="6400800" y="8001000"/>
            <a:ext cx="2286000" cy="571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F2D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Comparison in code, not the LLM</a:t>
            </a:r>
            <a:endParaRPr lang="en-US" sz="1150" dirty="0"/>
          </a:p>
        </p:txBody>
      </p:sp>
      <p:sp>
        <p:nvSpPr>
          <p:cNvPr id="87" name="Shape 72"/>
          <p:cNvSpPr/>
          <p:nvPr/>
        </p:nvSpPr>
        <p:spPr>
          <a:xfrm>
            <a:off x="8801100" y="8096250"/>
            <a:ext cx="381000" cy="381000"/>
          </a:xfrm>
          <a:prstGeom prst="ellipse">
            <a:avLst/>
          </a:prstGeom>
          <a:solidFill>
            <a:srgbClr val="EDF4FB"/>
          </a:solidFill>
          <a:ln/>
        </p:spPr>
      </p:sp>
      <p:pic>
        <p:nvPicPr>
          <p:cNvPr id="88" name="Image 13" descr="preencoded.png">    </p:cNvPr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8905875" y="8201025"/>
            <a:ext cx="171450" cy="171450"/>
          </a:xfrm>
          <a:prstGeom prst="rect">
            <a:avLst/>
          </a:prstGeom>
        </p:spPr>
      </p:pic>
      <p:sp>
        <p:nvSpPr>
          <p:cNvPr id="89" name="Text 73"/>
          <p:cNvSpPr txBox="1"/>
          <p:nvPr/>
        </p:nvSpPr>
        <p:spPr>
          <a:xfrm>
            <a:off x="9277350" y="8001000"/>
            <a:ext cx="2286000" cy="571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F2D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Controller owns the decision</a:t>
            </a:r>
            <a:endParaRPr lang="en-US" sz="1150" dirty="0"/>
          </a:p>
        </p:txBody>
      </p:sp>
      <p:sp>
        <p:nvSpPr>
          <p:cNvPr id="90" name="Shape 74"/>
          <p:cNvSpPr/>
          <p:nvPr/>
        </p:nvSpPr>
        <p:spPr>
          <a:xfrm>
            <a:off x="11677650" y="8096250"/>
            <a:ext cx="381000" cy="381000"/>
          </a:xfrm>
          <a:prstGeom prst="ellipse">
            <a:avLst/>
          </a:prstGeom>
          <a:solidFill>
            <a:srgbClr val="EDF4FB"/>
          </a:solidFill>
          <a:ln/>
        </p:spPr>
      </p:sp>
      <p:pic>
        <p:nvPicPr>
          <p:cNvPr id="91" name="Image 14" descr="preencoded.png">    </p:cNvPr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11782425" y="8201025"/>
            <a:ext cx="171450" cy="171450"/>
          </a:xfrm>
          <a:prstGeom prst="rect">
            <a:avLst/>
          </a:prstGeom>
        </p:spPr>
      </p:pic>
      <p:sp>
        <p:nvSpPr>
          <p:cNvPr id="92" name="Text 75"/>
          <p:cNvSpPr txBox="1"/>
          <p:nvPr/>
        </p:nvSpPr>
        <p:spPr>
          <a:xfrm>
            <a:off x="12153900" y="8001000"/>
            <a:ext cx="2286000" cy="571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F2D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traced in Phoenix, actions in app audit</a:t>
            </a:r>
            <a:endParaRPr lang="en-US" sz="1150" dirty="0"/>
          </a:p>
        </p:txBody>
      </p:sp>
      <p:sp>
        <p:nvSpPr>
          <p:cNvPr id="93" name="Shape 76"/>
          <p:cNvSpPr/>
          <p:nvPr/>
        </p:nvSpPr>
        <p:spPr>
          <a:xfrm>
            <a:off x="0" y="9277350"/>
            <a:ext cx="14630400" cy="476250"/>
          </a:xfrm>
          <a:prstGeom prst="rect">
            <a:avLst/>
          </a:prstGeom>
          <a:solidFill>
            <a:srgbClr val="0B2E5E"/>
          </a:solidFill>
          <a:ln/>
        </p:spPr>
      </p:sp>
      <p:sp>
        <p:nvSpPr>
          <p:cNvPr id="94" name="Text 77"/>
          <p:cNvSpPr txBox="1"/>
          <p:nvPr/>
        </p:nvSpPr>
        <p:spPr>
          <a:xfrm>
            <a:off x="0" y="9277350"/>
            <a:ext cx="14630400" cy="4762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Helix Architecture</a:t>
            </a:r>
            <a:pPr algn="ctr"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|   Smarter Reconciliation. Stronger Control. Greater Insight.</a:t>
            </a:r>
            <a:endParaRPr lang="en-US" sz="12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685800"/>
          </a:xfrm>
          <a:prstGeom prst="rect">
            <a:avLst/>
          </a:prstGeom>
          <a:solidFill>
            <a:srgbClr val="00395D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304800" y="0"/>
            <a:ext cx="114300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Beyond the Break: New Dimensions</a:t>
            </a:r>
            <a:pPr indent="0" marL="0">
              <a:buNone/>
            </a:pPr>
            <a:r>
              <a:rPr lang="en-US" sz="1400" dirty="0">
                <a:solidFill>
                  <a:srgbClr val="D9F0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|   From explaining breaks to preventing them</a:t>
            </a:r>
            <a:endParaRPr lang="en-US" sz="1000" dirty="0"/>
          </a:p>
        </p:txBody>
      </p:sp>
      <p:sp>
        <p:nvSpPr>
          <p:cNvPr id="4" name="Text 2"/>
          <p:cNvSpPr txBox="1"/>
          <p:nvPr/>
        </p:nvSpPr>
        <p:spPr>
          <a:xfrm>
            <a:off x="11772900" y="0"/>
            <a:ext cx="27051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Helix Architecture</a:t>
            </a:r>
            <a:endParaRPr lang="en-US" sz="1800" dirty="0"/>
          </a:p>
        </p:txBody>
      </p:sp>
      <p:sp>
        <p:nvSpPr>
          <p:cNvPr id="5" name="Shape 3"/>
          <p:cNvSpPr/>
          <p:nvPr/>
        </p:nvSpPr>
        <p:spPr>
          <a:xfrm>
            <a:off x="152400" y="800100"/>
            <a:ext cx="4667250" cy="438150"/>
          </a:xfrm>
          <a:prstGeom prst="roundRect">
            <a:avLst>
              <a:gd name="adj" fmla="val 17391"/>
            </a:avLst>
          </a:prstGeom>
          <a:solidFill>
            <a:srgbClr val="00395D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304800" y="800100"/>
            <a:ext cx="3619500" cy="4381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100" kern="0" dirty="0">
                <a:solidFill>
                  <a:srgbClr val="D9F0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HORIZON 1   </a:t>
            </a:r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Explain better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4019550" y="904875"/>
            <a:ext cx="666750" cy="22860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4019550" y="904875"/>
            <a:ext cx="66675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0395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Now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152400" y="1333500"/>
            <a:ext cx="4667250" cy="1524000"/>
          </a:xfrm>
          <a:prstGeom prst="roundRect">
            <a:avLst>
              <a:gd name="adj" fmla="val 5000"/>
            </a:avLst>
          </a:prstGeom>
          <a:solidFill>
            <a:srgbClr val="F5FBFE"/>
          </a:solidFill>
          <a:ln w="12700">
            <a:solidFill>
              <a:srgbClr val="B3E3F7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152400" y="1333500"/>
            <a:ext cx="57150" cy="1524000"/>
          </a:xfrm>
          <a:prstGeom prst="rect">
            <a:avLst/>
          </a:prstGeom>
          <a:solidFill>
            <a:srgbClr val="00395D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361950" y="1447800"/>
            <a:ext cx="432435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0395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Triage by value</a:t>
            </a:r>
            <a:endParaRPr lang="en-US" sz="1400" dirty="0"/>
          </a:p>
        </p:txBody>
      </p:sp>
      <p:sp>
        <p:nvSpPr>
          <p:cNvPr id="12" name="Text 10"/>
          <p:cNvSpPr txBox="1"/>
          <p:nvPr/>
        </p:nvSpPr>
        <p:spPr>
          <a:xfrm>
            <a:off x="361950" y="1752600"/>
            <a:ext cx="4286250" cy="6286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1F2D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Rank the break queue by materiality, age and reversal risk, so controllers start where it matters most.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361950" y="2438400"/>
            <a:ext cx="4248150" cy="0"/>
          </a:xfrm>
          <a:prstGeom prst="line">
            <a:avLst/>
          </a:prstGeom>
          <a:noFill/>
          <a:ln w="9525">
            <a:solidFill>
              <a:srgbClr val="B3E3F7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361950" y="2476500"/>
            <a:ext cx="428625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00395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Signal:  </a:t>
            </a:r>
            <a:pPr indent="0" marL="0">
              <a:buNone/>
            </a:pPr>
            <a:r>
              <a:rPr lang="en-US" sz="1050" dirty="0">
                <a:solidFill>
                  <a:srgbClr val="1F2D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Time to root cause on top breaks</a:t>
            </a:r>
            <a:endParaRPr lang="en-US" sz="1050" dirty="0"/>
          </a:p>
        </p:txBody>
      </p:sp>
      <p:sp>
        <p:nvSpPr>
          <p:cNvPr id="15" name="Shape 13"/>
          <p:cNvSpPr/>
          <p:nvPr/>
        </p:nvSpPr>
        <p:spPr>
          <a:xfrm>
            <a:off x="152400" y="2952750"/>
            <a:ext cx="4667250" cy="1524000"/>
          </a:xfrm>
          <a:prstGeom prst="roundRect">
            <a:avLst>
              <a:gd name="adj" fmla="val 5000"/>
            </a:avLst>
          </a:prstGeom>
          <a:solidFill>
            <a:srgbClr val="F5FBFE"/>
          </a:solidFill>
          <a:ln w="12700">
            <a:solidFill>
              <a:srgbClr val="B3E3F7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152400" y="2952750"/>
            <a:ext cx="57150" cy="1524000"/>
          </a:xfrm>
          <a:prstGeom prst="rect">
            <a:avLst/>
          </a:prstGeom>
          <a:solidFill>
            <a:srgbClr val="00395D"/>
          </a:solidFill>
          <a:ln/>
        </p:spPr>
      </p:sp>
      <p:sp>
        <p:nvSpPr>
          <p:cNvPr id="17" name="Text 15"/>
          <p:cNvSpPr txBox="1"/>
          <p:nvPr/>
        </p:nvSpPr>
        <p:spPr>
          <a:xfrm>
            <a:off x="361950" y="3067050"/>
            <a:ext cx="432435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0395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Blast radius</a:t>
            </a:r>
            <a:endParaRPr lang="en-US" sz="1400" dirty="0"/>
          </a:p>
        </p:txBody>
      </p:sp>
      <p:sp>
        <p:nvSpPr>
          <p:cNvPr id="18" name="Text 16"/>
          <p:cNvSpPr txBox="1"/>
          <p:nvPr/>
        </p:nvSpPr>
        <p:spPr>
          <a:xfrm>
            <a:off x="361950" y="3371850"/>
            <a:ext cx="4286250" cy="6286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1F2D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root cause, find every sibling: same instrument, event date or desk, across FI Credit, Rates and Prime.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361950" y="4057650"/>
            <a:ext cx="4248150" cy="0"/>
          </a:xfrm>
          <a:prstGeom prst="line">
            <a:avLst/>
          </a:prstGeom>
          <a:noFill/>
          <a:ln w="9525">
            <a:solidFill>
              <a:srgbClr val="B3E3F7"/>
            </a:solidFill>
            <a:prstDash val="solid"/>
          </a:ln>
        </p:spPr>
      </p:sp>
      <p:sp>
        <p:nvSpPr>
          <p:cNvPr id="20" name="Text 18"/>
          <p:cNvSpPr txBox="1"/>
          <p:nvPr/>
        </p:nvSpPr>
        <p:spPr>
          <a:xfrm>
            <a:off x="361950" y="4095750"/>
            <a:ext cx="428625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00395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Signal:  </a:t>
            </a:r>
            <a:pPr indent="0" marL="0">
              <a:buNone/>
            </a:pPr>
            <a:r>
              <a:rPr lang="en-US" sz="1050" dirty="0">
                <a:solidFill>
                  <a:srgbClr val="1F2D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Breaks resolved per root cause</a:t>
            </a:r>
            <a:endParaRPr lang="en-US" sz="1050" dirty="0"/>
          </a:p>
        </p:txBody>
      </p:sp>
      <p:sp>
        <p:nvSpPr>
          <p:cNvPr id="21" name="Shape 19"/>
          <p:cNvSpPr/>
          <p:nvPr/>
        </p:nvSpPr>
        <p:spPr>
          <a:xfrm>
            <a:off x="152400" y="4572000"/>
            <a:ext cx="4667250" cy="1524000"/>
          </a:xfrm>
          <a:prstGeom prst="roundRect">
            <a:avLst>
              <a:gd name="adj" fmla="val 5000"/>
            </a:avLst>
          </a:prstGeom>
          <a:solidFill>
            <a:srgbClr val="F5FBFE"/>
          </a:solidFill>
          <a:ln w="12700">
            <a:solidFill>
              <a:srgbClr val="B3E3F7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152400" y="4572000"/>
            <a:ext cx="57150" cy="1524000"/>
          </a:xfrm>
          <a:prstGeom prst="rect">
            <a:avLst/>
          </a:prstGeom>
          <a:solidFill>
            <a:srgbClr val="00395D"/>
          </a:solidFill>
          <a:ln/>
        </p:spPr>
      </p:sp>
      <p:sp>
        <p:nvSpPr>
          <p:cNvPr id="23" name="Text 21"/>
          <p:cNvSpPr txBox="1"/>
          <p:nvPr/>
        </p:nvSpPr>
        <p:spPr>
          <a:xfrm>
            <a:off x="361950" y="4686300"/>
            <a:ext cx="432435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0395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Simulate before posting</a:t>
            </a:r>
            <a:endParaRPr lang="en-US" sz="1400" dirty="0"/>
          </a:p>
        </p:txBody>
      </p:sp>
      <p:sp>
        <p:nvSpPr>
          <p:cNvPr id="24" name="Text 22"/>
          <p:cNvSpPr txBox="1"/>
          <p:nvPr/>
        </p:nvSpPr>
        <p:spPr>
          <a:xfrm>
            <a:off x="361950" y="4991100"/>
            <a:ext cx="4286250" cy="6286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1F2D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Dry-run BO + Adjustments = FO before FAS posts. If the equation fails, the posting is blocked.</a:t>
            </a:r>
            <a:endParaRPr lang="en-US" sz="1100" dirty="0"/>
          </a:p>
        </p:txBody>
      </p:sp>
      <p:sp>
        <p:nvSpPr>
          <p:cNvPr id="25" name="Shape 23"/>
          <p:cNvSpPr/>
          <p:nvPr/>
        </p:nvSpPr>
        <p:spPr>
          <a:xfrm>
            <a:off x="361950" y="5676900"/>
            <a:ext cx="4248150" cy="0"/>
          </a:xfrm>
          <a:prstGeom prst="line">
            <a:avLst/>
          </a:prstGeom>
          <a:noFill/>
          <a:ln w="9525">
            <a:solidFill>
              <a:srgbClr val="B3E3F7"/>
            </a:solidFill>
            <a:prstDash val="solid"/>
          </a:ln>
        </p:spPr>
      </p:sp>
      <p:sp>
        <p:nvSpPr>
          <p:cNvPr id="26" name="Text 24"/>
          <p:cNvSpPr txBox="1"/>
          <p:nvPr/>
        </p:nvSpPr>
        <p:spPr>
          <a:xfrm>
            <a:off x="361950" y="5715000"/>
            <a:ext cx="428625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00395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Signal:  </a:t>
            </a:r>
            <a:pPr indent="0" marL="0">
              <a:buNone/>
            </a:pPr>
            <a:r>
              <a:rPr lang="en-US" sz="1050" dirty="0">
                <a:solidFill>
                  <a:srgbClr val="1F2D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Reversals avoided</a:t>
            </a:r>
            <a:endParaRPr lang="en-US" sz="1050" dirty="0"/>
          </a:p>
        </p:txBody>
      </p:sp>
      <p:sp>
        <p:nvSpPr>
          <p:cNvPr id="27" name="Shape 25"/>
          <p:cNvSpPr/>
          <p:nvPr/>
        </p:nvSpPr>
        <p:spPr>
          <a:xfrm>
            <a:off x="4829175" y="1019175"/>
            <a:ext cx="142875" cy="0"/>
          </a:xfrm>
          <a:prstGeom prst="line">
            <a:avLst/>
          </a:prstGeom>
          <a:noFill/>
          <a:ln w="22225">
            <a:solidFill>
              <a:srgbClr val="00395D"/>
            </a:solidFill>
            <a:prstDash val="solid"/>
            <a:tailEnd type="triangle"/>
          </a:ln>
        </p:spPr>
      </p:sp>
      <p:sp>
        <p:nvSpPr>
          <p:cNvPr id="28" name="Shape 26"/>
          <p:cNvSpPr/>
          <p:nvPr/>
        </p:nvSpPr>
        <p:spPr>
          <a:xfrm>
            <a:off x="4981575" y="800100"/>
            <a:ext cx="4667250" cy="438150"/>
          </a:xfrm>
          <a:prstGeom prst="roundRect">
            <a:avLst>
              <a:gd name="adj" fmla="val 17391"/>
            </a:avLst>
          </a:prstGeom>
          <a:solidFill>
            <a:srgbClr val="0072AE"/>
          </a:solidFill>
          <a:ln/>
        </p:spPr>
      </p:sp>
      <p:sp>
        <p:nvSpPr>
          <p:cNvPr id="29" name="Text 27"/>
          <p:cNvSpPr txBox="1"/>
          <p:nvPr/>
        </p:nvSpPr>
        <p:spPr>
          <a:xfrm>
            <a:off x="5133975" y="800100"/>
            <a:ext cx="3619500" cy="4381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100" kern="0" dirty="0">
                <a:solidFill>
                  <a:srgbClr val="D9F0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HORIZON 2   </a:t>
            </a:r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Prevent</a:t>
            </a:r>
            <a:endParaRPr lang="en-US" sz="1000" dirty="0"/>
          </a:p>
        </p:txBody>
      </p:sp>
      <p:sp>
        <p:nvSpPr>
          <p:cNvPr id="30" name="Shape 28"/>
          <p:cNvSpPr/>
          <p:nvPr/>
        </p:nvSpPr>
        <p:spPr>
          <a:xfrm>
            <a:off x="8848725" y="904875"/>
            <a:ext cx="666750" cy="22860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/>
        </p:spPr>
      </p:sp>
      <p:sp>
        <p:nvSpPr>
          <p:cNvPr id="31" name="Text 29"/>
          <p:cNvSpPr txBox="1"/>
          <p:nvPr/>
        </p:nvSpPr>
        <p:spPr>
          <a:xfrm>
            <a:off x="8848725" y="904875"/>
            <a:ext cx="66675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072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Next</a:t>
            </a:r>
            <a:endParaRPr lang="en-US" sz="1000" dirty="0"/>
          </a:p>
        </p:txBody>
      </p:sp>
      <p:sp>
        <p:nvSpPr>
          <p:cNvPr id="32" name="Shape 30"/>
          <p:cNvSpPr/>
          <p:nvPr/>
        </p:nvSpPr>
        <p:spPr>
          <a:xfrm>
            <a:off x="4981575" y="1333500"/>
            <a:ext cx="4667250" cy="1524000"/>
          </a:xfrm>
          <a:prstGeom prst="roundRect">
            <a:avLst>
              <a:gd name="adj" fmla="val 5000"/>
            </a:avLst>
          </a:prstGeom>
          <a:solidFill>
            <a:srgbClr val="F5FBFE"/>
          </a:solidFill>
          <a:ln w="12700">
            <a:solidFill>
              <a:srgbClr val="B3E3F7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4981575" y="1333500"/>
            <a:ext cx="57150" cy="1524000"/>
          </a:xfrm>
          <a:prstGeom prst="rect">
            <a:avLst/>
          </a:prstGeom>
          <a:solidFill>
            <a:srgbClr val="0072AE"/>
          </a:solidFill>
          <a:ln/>
        </p:spPr>
      </p:sp>
      <p:sp>
        <p:nvSpPr>
          <p:cNvPr id="34" name="Text 32"/>
          <p:cNvSpPr txBox="1"/>
          <p:nvPr/>
        </p:nvSpPr>
        <p:spPr>
          <a:xfrm>
            <a:off x="5191125" y="1447800"/>
            <a:ext cx="432435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0395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Break-to-rule factory</a:t>
            </a:r>
            <a:endParaRPr lang="en-US" sz="1400" dirty="0"/>
          </a:p>
        </p:txBody>
      </p:sp>
      <p:sp>
        <p:nvSpPr>
          <p:cNvPr id="35" name="Text 33"/>
          <p:cNvSpPr txBox="1"/>
          <p:nvPr/>
        </p:nvSpPr>
        <p:spPr>
          <a:xfrm>
            <a:off x="5191125" y="1752600"/>
            <a:ext cx="4286250" cy="6286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1F2D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Recurring deterministic patterns become MBREC validation rules. Agent One keeps only the judgement cases.</a:t>
            </a:r>
            <a:endParaRPr lang="en-US" sz="1100" dirty="0"/>
          </a:p>
        </p:txBody>
      </p:sp>
      <p:sp>
        <p:nvSpPr>
          <p:cNvPr id="36" name="Shape 34"/>
          <p:cNvSpPr/>
          <p:nvPr/>
        </p:nvSpPr>
        <p:spPr>
          <a:xfrm>
            <a:off x="5191125" y="2438400"/>
            <a:ext cx="4248150" cy="0"/>
          </a:xfrm>
          <a:prstGeom prst="line">
            <a:avLst/>
          </a:prstGeom>
          <a:noFill/>
          <a:ln w="9525">
            <a:solidFill>
              <a:srgbClr val="B3E3F7"/>
            </a:solidFill>
            <a:prstDash val="solid"/>
          </a:ln>
        </p:spPr>
      </p:sp>
      <p:sp>
        <p:nvSpPr>
          <p:cNvPr id="37" name="Text 35"/>
          <p:cNvSpPr txBox="1"/>
          <p:nvPr/>
        </p:nvSpPr>
        <p:spPr>
          <a:xfrm>
            <a:off x="5191125" y="2476500"/>
            <a:ext cx="428625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0072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Signal:  </a:t>
            </a:r>
            <a:pPr indent="0" marL="0">
              <a:buNone/>
            </a:pPr>
            <a:r>
              <a:rPr lang="en-US" sz="1050" dirty="0">
                <a:solidFill>
                  <a:srgbClr val="1F2D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Share of breaks closed by rules</a:t>
            </a:r>
            <a:endParaRPr lang="en-US" sz="1050" dirty="0"/>
          </a:p>
        </p:txBody>
      </p:sp>
      <p:sp>
        <p:nvSpPr>
          <p:cNvPr id="38" name="Shape 36"/>
          <p:cNvSpPr/>
          <p:nvPr/>
        </p:nvSpPr>
        <p:spPr>
          <a:xfrm>
            <a:off x="4981575" y="2952750"/>
            <a:ext cx="4667250" cy="1524000"/>
          </a:xfrm>
          <a:prstGeom prst="roundRect">
            <a:avLst>
              <a:gd name="adj" fmla="val 5000"/>
            </a:avLst>
          </a:prstGeom>
          <a:solidFill>
            <a:srgbClr val="F5FBFE"/>
          </a:solidFill>
          <a:ln w="12700">
            <a:solidFill>
              <a:srgbClr val="B3E3F7"/>
            </a:solidFill>
            <a:prstDash val="solid"/>
          </a:ln>
        </p:spPr>
      </p:sp>
      <p:sp>
        <p:nvSpPr>
          <p:cNvPr id="39" name="Shape 37"/>
          <p:cNvSpPr/>
          <p:nvPr/>
        </p:nvSpPr>
        <p:spPr>
          <a:xfrm>
            <a:off x="4981575" y="2952750"/>
            <a:ext cx="57150" cy="1524000"/>
          </a:xfrm>
          <a:prstGeom prst="rect">
            <a:avLst/>
          </a:prstGeom>
          <a:solidFill>
            <a:srgbClr val="0072AE"/>
          </a:solidFill>
          <a:ln/>
        </p:spPr>
      </p:sp>
      <p:sp>
        <p:nvSpPr>
          <p:cNvPr id="40" name="Text 38"/>
          <p:cNvSpPr txBox="1"/>
          <p:nvPr/>
        </p:nvSpPr>
        <p:spPr>
          <a:xfrm>
            <a:off x="5191125" y="3067050"/>
            <a:ext cx="432435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0395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Upstream DQ scorecard</a:t>
            </a:r>
            <a:endParaRPr lang="en-US" sz="1400" dirty="0"/>
          </a:p>
        </p:txBody>
      </p:sp>
      <p:sp>
        <p:nvSpPr>
          <p:cNvPr id="41" name="Text 39"/>
          <p:cNvSpPr txBox="1"/>
          <p:nvPr/>
        </p:nvSpPr>
        <p:spPr>
          <a:xfrm>
            <a:off x="5191125" y="3371850"/>
            <a:ext cx="4286250" cy="6286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1F2D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Attribute root causes to CATS, market data, static and settlement, and share a scorecard with each owner.</a:t>
            </a:r>
            <a:endParaRPr lang="en-US" sz="1100" dirty="0"/>
          </a:p>
        </p:txBody>
      </p:sp>
      <p:sp>
        <p:nvSpPr>
          <p:cNvPr id="42" name="Shape 40"/>
          <p:cNvSpPr/>
          <p:nvPr/>
        </p:nvSpPr>
        <p:spPr>
          <a:xfrm>
            <a:off x="5191125" y="4057650"/>
            <a:ext cx="4248150" cy="0"/>
          </a:xfrm>
          <a:prstGeom prst="line">
            <a:avLst/>
          </a:prstGeom>
          <a:noFill/>
          <a:ln w="9525">
            <a:solidFill>
              <a:srgbClr val="B3E3F7"/>
            </a:solidFill>
            <a:prstDash val="solid"/>
          </a:ln>
        </p:spPr>
      </p:sp>
      <p:sp>
        <p:nvSpPr>
          <p:cNvPr id="43" name="Text 41"/>
          <p:cNvSpPr txBox="1"/>
          <p:nvPr/>
        </p:nvSpPr>
        <p:spPr>
          <a:xfrm>
            <a:off x="5191125" y="4095750"/>
            <a:ext cx="428625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0072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Signal:  </a:t>
            </a:r>
            <a:pPr indent="0" marL="0">
              <a:buNone/>
            </a:pPr>
            <a:r>
              <a:rPr lang="en-US" sz="1050" dirty="0">
                <a:solidFill>
                  <a:srgbClr val="1F2D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FO-origin breaks trending down</a:t>
            </a:r>
            <a:endParaRPr lang="en-US" sz="1050" dirty="0"/>
          </a:p>
        </p:txBody>
      </p:sp>
      <p:sp>
        <p:nvSpPr>
          <p:cNvPr id="44" name="Shape 42"/>
          <p:cNvSpPr/>
          <p:nvPr/>
        </p:nvSpPr>
        <p:spPr>
          <a:xfrm>
            <a:off x="4981575" y="4572000"/>
            <a:ext cx="4667250" cy="1524000"/>
          </a:xfrm>
          <a:prstGeom prst="roundRect">
            <a:avLst>
              <a:gd name="adj" fmla="val 5000"/>
            </a:avLst>
          </a:prstGeom>
          <a:solidFill>
            <a:srgbClr val="F5FBFE"/>
          </a:solidFill>
          <a:ln w="12700">
            <a:solidFill>
              <a:srgbClr val="B3E3F7"/>
            </a:solidFill>
            <a:prstDash val="solid"/>
          </a:ln>
        </p:spPr>
      </p:sp>
      <p:sp>
        <p:nvSpPr>
          <p:cNvPr id="45" name="Shape 43"/>
          <p:cNvSpPr/>
          <p:nvPr/>
        </p:nvSpPr>
        <p:spPr>
          <a:xfrm>
            <a:off x="4981575" y="4572000"/>
            <a:ext cx="57150" cy="1524000"/>
          </a:xfrm>
          <a:prstGeom prst="rect">
            <a:avLst/>
          </a:prstGeom>
          <a:solidFill>
            <a:srgbClr val="0072AE"/>
          </a:solidFill>
          <a:ln/>
        </p:spPr>
      </p:sp>
      <p:sp>
        <p:nvSpPr>
          <p:cNvPr id="46" name="Text 44"/>
          <p:cNvSpPr txBox="1"/>
          <p:nvPr/>
        </p:nvSpPr>
        <p:spPr>
          <a:xfrm>
            <a:off x="5191125" y="4686300"/>
            <a:ext cx="432435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0395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Case memory</a:t>
            </a:r>
            <a:endParaRPr lang="en-US" sz="1400" dirty="0"/>
          </a:p>
        </p:txBody>
      </p:sp>
      <p:sp>
        <p:nvSpPr>
          <p:cNvPr id="47" name="Text 45"/>
          <p:cNvSpPr txBox="1"/>
          <p:nvPr/>
        </p:nvSpPr>
        <p:spPr>
          <a:xfrm>
            <a:off x="5191125" y="4991100"/>
            <a:ext cx="4286250" cy="6286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1F2D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confirmed investigation and SME decision becomes a searchable precedent. Novel breaks grow the skill.</a:t>
            </a:r>
            <a:endParaRPr lang="en-US" sz="1100" dirty="0"/>
          </a:p>
        </p:txBody>
      </p:sp>
      <p:sp>
        <p:nvSpPr>
          <p:cNvPr id="48" name="Shape 46"/>
          <p:cNvSpPr/>
          <p:nvPr/>
        </p:nvSpPr>
        <p:spPr>
          <a:xfrm>
            <a:off x="5191125" y="5676900"/>
            <a:ext cx="4248150" cy="0"/>
          </a:xfrm>
          <a:prstGeom prst="line">
            <a:avLst/>
          </a:prstGeom>
          <a:noFill/>
          <a:ln w="9525">
            <a:solidFill>
              <a:srgbClr val="B3E3F7"/>
            </a:solidFill>
            <a:prstDash val="solid"/>
          </a:ln>
        </p:spPr>
      </p:sp>
      <p:sp>
        <p:nvSpPr>
          <p:cNvPr id="49" name="Text 47"/>
          <p:cNvSpPr txBox="1"/>
          <p:nvPr/>
        </p:nvSpPr>
        <p:spPr>
          <a:xfrm>
            <a:off x="5191125" y="5715000"/>
            <a:ext cx="428625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0072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Signal:  </a:t>
            </a:r>
            <a:pPr indent="0" marL="0">
              <a:buNone/>
            </a:pPr>
            <a:r>
              <a:rPr lang="en-US" sz="1050" dirty="0">
                <a:solidFill>
                  <a:srgbClr val="1F2D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Novel (H) share over time</a:t>
            </a:r>
            <a:endParaRPr lang="en-US" sz="1050" dirty="0"/>
          </a:p>
        </p:txBody>
      </p:sp>
      <p:sp>
        <p:nvSpPr>
          <p:cNvPr id="50" name="Shape 48"/>
          <p:cNvSpPr/>
          <p:nvPr/>
        </p:nvSpPr>
        <p:spPr>
          <a:xfrm>
            <a:off x="9658350" y="1019175"/>
            <a:ext cx="142875" cy="0"/>
          </a:xfrm>
          <a:prstGeom prst="line">
            <a:avLst/>
          </a:prstGeom>
          <a:noFill/>
          <a:ln w="22225">
            <a:solidFill>
              <a:srgbClr val="00395D"/>
            </a:solidFill>
            <a:prstDash val="solid"/>
            <a:tailEnd type="triangle"/>
          </a:ln>
        </p:spPr>
      </p:sp>
      <p:sp>
        <p:nvSpPr>
          <p:cNvPr id="51" name="Shape 49"/>
          <p:cNvSpPr/>
          <p:nvPr/>
        </p:nvSpPr>
        <p:spPr>
          <a:xfrm>
            <a:off x="9810750" y="800100"/>
            <a:ext cx="4667250" cy="438150"/>
          </a:xfrm>
          <a:prstGeom prst="roundRect">
            <a:avLst>
              <a:gd name="adj" fmla="val 17391"/>
            </a:avLst>
          </a:prstGeom>
          <a:solidFill>
            <a:srgbClr val="00AEEF"/>
          </a:solidFill>
          <a:ln/>
        </p:spPr>
      </p:sp>
      <p:sp>
        <p:nvSpPr>
          <p:cNvPr id="52" name="Text 50"/>
          <p:cNvSpPr txBox="1"/>
          <p:nvPr/>
        </p:nvSpPr>
        <p:spPr>
          <a:xfrm>
            <a:off x="9963150" y="800100"/>
            <a:ext cx="3619500" cy="4381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100" kern="0" dirty="0">
                <a:solidFill>
                  <a:srgbClr val="D9F0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HORIZON 3   </a:t>
            </a:r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Predict and scale</a:t>
            </a:r>
            <a:endParaRPr lang="en-US" sz="1000" dirty="0"/>
          </a:p>
        </p:txBody>
      </p:sp>
      <p:sp>
        <p:nvSpPr>
          <p:cNvPr id="53" name="Shape 51"/>
          <p:cNvSpPr/>
          <p:nvPr/>
        </p:nvSpPr>
        <p:spPr>
          <a:xfrm>
            <a:off x="13677900" y="904875"/>
            <a:ext cx="666750" cy="22860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/>
        </p:spPr>
      </p:sp>
      <p:sp>
        <p:nvSpPr>
          <p:cNvPr id="54" name="Text 52"/>
          <p:cNvSpPr txBox="1"/>
          <p:nvPr/>
        </p:nvSpPr>
        <p:spPr>
          <a:xfrm>
            <a:off x="13677900" y="904875"/>
            <a:ext cx="66675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0AEE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Later</a:t>
            </a:r>
            <a:endParaRPr lang="en-US" sz="1000" dirty="0"/>
          </a:p>
        </p:txBody>
      </p:sp>
      <p:sp>
        <p:nvSpPr>
          <p:cNvPr id="55" name="Shape 53"/>
          <p:cNvSpPr/>
          <p:nvPr/>
        </p:nvSpPr>
        <p:spPr>
          <a:xfrm>
            <a:off x="9810750" y="1333500"/>
            <a:ext cx="4667250" cy="1524000"/>
          </a:xfrm>
          <a:prstGeom prst="roundRect">
            <a:avLst>
              <a:gd name="adj" fmla="val 5000"/>
            </a:avLst>
          </a:prstGeom>
          <a:solidFill>
            <a:srgbClr val="F5FBFE"/>
          </a:solidFill>
          <a:ln w="12700">
            <a:solidFill>
              <a:srgbClr val="B3E3F7"/>
            </a:solidFill>
            <a:prstDash val="solid"/>
          </a:ln>
        </p:spPr>
      </p:sp>
      <p:sp>
        <p:nvSpPr>
          <p:cNvPr id="56" name="Shape 54"/>
          <p:cNvSpPr/>
          <p:nvPr/>
        </p:nvSpPr>
        <p:spPr>
          <a:xfrm>
            <a:off x="9810750" y="1333500"/>
            <a:ext cx="57150" cy="1524000"/>
          </a:xfrm>
          <a:prstGeom prst="rect">
            <a:avLst/>
          </a:prstGeom>
          <a:solidFill>
            <a:srgbClr val="00AEEF"/>
          </a:solidFill>
          <a:ln/>
        </p:spPr>
      </p:sp>
      <p:sp>
        <p:nvSpPr>
          <p:cNvPr id="57" name="Text 55"/>
          <p:cNvSpPr txBox="1"/>
          <p:nvPr/>
        </p:nvSpPr>
        <p:spPr>
          <a:xfrm>
            <a:off x="10020300" y="1447800"/>
            <a:ext cx="432435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0395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Pre-break radar</a:t>
            </a:r>
            <a:endParaRPr lang="en-US" sz="1400" dirty="0"/>
          </a:p>
        </p:txBody>
      </p:sp>
      <p:sp>
        <p:nvSpPr>
          <p:cNvPr id="58" name="Text 56"/>
          <p:cNvSpPr txBox="1"/>
          <p:nvPr/>
        </p:nvSpPr>
        <p:spPr>
          <a:xfrm>
            <a:off x="10020300" y="1752600"/>
            <a:ext cx="4286250" cy="6286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1F2D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Check known future events the day before: pull factor changes, corporate actions and holidays.</a:t>
            </a:r>
            <a:endParaRPr lang="en-US" sz="1100" dirty="0"/>
          </a:p>
        </p:txBody>
      </p:sp>
      <p:sp>
        <p:nvSpPr>
          <p:cNvPr id="59" name="Shape 57"/>
          <p:cNvSpPr/>
          <p:nvPr/>
        </p:nvSpPr>
        <p:spPr>
          <a:xfrm>
            <a:off x="10020300" y="2438400"/>
            <a:ext cx="4248150" cy="0"/>
          </a:xfrm>
          <a:prstGeom prst="line">
            <a:avLst/>
          </a:prstGeom>
          <a:noFill/>
          <a:ln w="9525">
            <a:solidFill>
              <a:srgbClr val="B3E3F7"/>
            </a:solidFill>
            <a:prstDash val="solid"/>
          </a:ln>
        </p:spPr>
      </p:sp>
      <p:sp>
        <p:nvSpPr>
          <p:cNvPr id="60" name="Text 58"/>
          <p:cNvSpPr txBox="1"/>
          <p:nvPr/>
        </p:nvSpPr>
        <p:spPr>
          <a:xfrm>
            <a:off x="10020300" y="2476500"/>
            <a:ext cx="428625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0072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Signal:  </a:t>
            </a:r>
            <a:pPr indent="0" marL="0">
              <a:buNone/>
            </a:pPr>
            <a:r>
              <a:rPr lang="en-US" sz="1050" dirty="0">
                <a:solidFill>
                  <a:srgbClr val="1F2D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Breaks predicted vs occurred</a:t>
            </a:r>
            <a:endParaRPr lang="en-US" sz="1050" dirty="0"/>
          </a:p>
        </p:txBody>
      </p:sp>
      <p:sp>
        <p:nvSpPr>
          <p:cNvPr id="61" name="Shape 59"/>
          <p:cNvSpPr/>
          <p:nvPr/>
        </p:nvSpPr>
        <p:spPr>
          <a:xfrm>
            <a:off x="9810750" y="2952750"/>
            <a:ext cx="4667250" cy="1524000"/>
          </a:xfrm>
          <a:prstGeom prst="roundRect">
            <a:avLst>
              <a:gd name="adj" fmla="val 5000"/>
            </a:avLst>
          </a:prstGeom>
          <a:solidFill>
            <a:srgbClr val="F5FBFE"/>
          </a:solidFill>
          <a:ln w="12700">
            <a:solidFill>
              <a:srgbClr val="B3E3F7"/>
            </a:solidFill>
            <a:prstDash val="solid"/>
          </a:ln>
        </p:spPr>
      </p:sp>
      <p:sp>
        <p:nvSpPr>
          <p:cNvPr id="62" name="Shape 60"/>
          <p:cNvSpPr/>
          <p:nvPr/>
        </p:nvSpPr>
        <p:spPr>
          <a:xfrm>
            <a:off x="9810750" y="2952750"/>
            <a:ext cx="57150" cy="1524000"/>
          </a:xfrm>
          <a:prstGeom prst="rect">
            <a:avLst/>
          </a:prstGeom>
          <a:solidFill>
            <a:srgbClr val="00AEEF"/>
          </a:solidFill>
          <a:ln/>
        </p:spPr>
      </p:sp>
      <p:sp>
        <p:nvSpPr>
          <p:cNvPr id="63" name="Text 61"/>
          <p:cNvSpPr txBox="1"/>
          <p:nvPr/>
        </p:nvSpPr>
        <p:spPr>
          <a:xfrm>
            <a:off x="10020300" y="3067050"/>
            <a:ext cx="432435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0395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Pattern intelligence</a:t>
            </a:r>
            <a:endParaRPr lang="en-US" sz="1400" dirty="0"/>
          </a:p>
        </p:txBody>
      </p:sp>
      <p:sp>
        <p:nvSpPr>
          <p:cNvPr id="64" name="Text 62"/>
          <p:cNvSpPr txBox="1"/>
          <p:nvPr/>
        </p:nvSpPr>
        <p:spPr>
          <a:xfrm>
            <a:off x="10020300" y="3371850"/>
            <a:ext cx="4286250" cy="6286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1F2D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Answer the MD questions: why breaks recur, which desks generate most, which products are most exposed.</a:t>
            </a:r>
            <a:endParaRPr lang="en-US" sz="1100" dirty="0"/>
          </a:p>
        </p:txBody>
      </p:sp>
      <p:sp>
        <p:nvSpPr>
          <p:cNvPr id="65" name="Shape 63"/>
          <p:cNvSpPr/>
          <p:nvPr/>
        </p:nvSpPr>
        <p:spPr>
          <a:xfrm>
            <a:off x="10020300" y="4057650"/>
            <a:ext cx="4248150" cy="0"/>
          </a:xfrm>
          <a:prstGeom prst="line">
            <a:avLst/>
          </a:prstGeom>
          <a:noFill/>
          <a:ln w="9525">
            <a:solidFill>
              <a:srgbClr val="B3E3F7"/>
            </a:solidFill>
            <a:prstDash val="solid"/>
          </a:ln>
        </p:spPr>
      </p:sp>
      <p:sp>
        <p:nvSpPr>
          <p:cNvPr id="66" name="Text 64"/>
          <p:cNvSpPr txBox="1"/>
          <p:nvPr/>
        </p:nvSpPr>
        <p:spPr>
          <a:xfrm>
            <a:off x="10020300" y="4095750"/>
            <a:ext cx="428625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0072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Signal:  </a:t>
            </a:r>
            <a:pPr indent="0" marL="0">
              <a:buNone/>
            </a:pPr>
            <a:r>
              <a:rPr lang="en-US" sz="1050" dirty="0">
                <a:solidFill>
                  <a:srgbClr val="1F2D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Recurring breaks eliminated</a:t>
            </a:r>
            <a:endParaRPr lang="en-US" sz="1050" dirty="0"/>
          </a:p>
        </p:txBody>
      </p:sp>
      <p:sp>
        <p:nvSpPr>
          <p:cNvPr id="67" name="Shape 65"/>
          <p:cNvSpPr/>
          <p:nvPr/>
        </p:nvSpPr>
        <p:spPr>
          <a:xfrm>
            <a:off x="9810750" y="4572000"/>
            <a:ext cx="4667250" cy="1524000"/>
          </a:xfrm>
          <a:prstGeom prst="roundRect">
            <a:avLst>
              <a:gd name="adj" fmla="val 5000"/>
            </a:avLst>
          </a:prstGeom>
          <a:solidFill>
            <a:srgbClr val="F5FBFE"/>
          </a:solidFill>
          <a:ln w="12700">
            <a:solidFill>
              <a:srgbClr val="B3E3F7"/>
            </a:solidFill>
            <a:prstDash val="solid"/>
          </a:ln>
        </p:spPr>
      </p:sp>
      <p:sp>
        <p:nvSpPr>
          <p:cNvPr id="68" name="Shape 66"/>
          <p:cNvSpPr/>
          <p:nvPr/>
        </p:nvSpPr>
        <p:spPr>
          <a:xfrm>
            <a:off x="9810750" y="4572000"/>
            <a:ext cx="57150" cy="1524000"/>
          </a:xfrm>
          <a:prstGeom prst="rect">
            <a:avLst/>
          </a:prstGeom>
          <a:solidFill>
            <a:srgbClr val="00AEEF"/>
          </a:solidFill>
          <a:ln/>
        </p:spPr>
      </p:sp>
      <p:sp>
        <p:nvSpPr>
          <p:cNvPr id="69" name="Text 67"/>
          <p:cNvSpPr txBox="1"/>
          <p:nvPr/>
        </p:nvSpPr>
        <p:spPr>
          <a:xfrm>
            <a:off x="10020300" y="4686300"/>
            <a:ext cx="432435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0395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Rec-agnostic platform</a:t>
            </a:r>
            <a:endParaRPr lang="en-US" sz="1400" dirty="0"/>
          </a:p>
        </p:txBody>
      </p:sp>
      <p:sp>
        <p:nvSpPr>
          <p:cNvPr id="70" name="Text 68"/>
          <p:cNvSpPr txBox="1"/>
          <p:nvPr/>
        </p:nvSpPr>
        <p:spPr>
          <a:xfrm>
            <a:off x="10020300" y="4991100"/>
            <a:ext cx="4286250" cy="6286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1F2D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Same pattern for any L4 or rec pair: workspace, Ready event, agent session, approval, FAS. New scope by config.</a:t>
            </a:r>
            <a:endParaRPr lang="en-US" sz="1100" dirty="0"/>
          </a:p>
        </p:txBody>
      </p:sp>
      <p:sp>
        <p:nvSpPr>
          <p:cNvPr id="71" name="Shape 69"/>
          <p:cNvSpPr/>
          <p:nvPr/>
        </p:nvSpPr>
        <p:spPr>
          <a:xfrm>
            <a:off x="10020300" y="5676900"/>
            <a:ext cx="4248150" cy="0"/>
          </a:xfrm>
          <a:prstGeom prst="line">
            <a:avLst/>
          </a:prstGeom>
          <a:noFill/>
          <a:ln w="9525">
            <a:solidFill>
              <a:srgbClr val="B3E3F7"/>
            </a:solidFill>
            <a:prstDash val="solid"/>
          </a:ln>
        </p:spPr>
      </p:sp>
      <p:sp>
        <p:nvSpPr>
          <p:cNvPr id="72" name="Text 70"/>
          <p:cNvSpPr txBox="1"/>
          <p:nvPr/>
        </p:nvSpPr>
        <p:spPr>
          <a:xfrm>
            <a:off x="10020300" y="5715000"/>
            <a:ext cx="428625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0072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Signal:  </a:t>
            </a:r>
            <a:pPr indent="0" marL="0">
              <a:buNone/>
            </a:pPr>
            <a:r>
              <a:rPr lang="en-US" sz="1050" dirty="0">
                <a:solidFill>
                  <a:srgbClr val="1F2D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Time to onboard a workspace</a:t>
            </a:r>
            <a:endParaRPr lang="en-US" sz="1050" dirty="0"/>
          </a:p>
        </p:txBody>
      </p:sp>
      <p:sp>
        <p:nvSpPr>
          <p:cNvPr id="73" name="Shape 71"/>
          <p:cNvSpPr/>
          <p:nvPr/>
        </p:nvSpPr>
        <p:spPr>
          <a:xfrm>
            <a:off x="152400" y="6324600"/>
            <a:ext cx="14325600" cy="1028700"/>
          </a:xfrm>
          <a:prstGeom prst="roundRect">
            <a:avLst>
              <a:gd name="adj" fmla="val 7407"/>
            </a:avLst>
          </a:prstGeom>
          <a:solidFill>
            <a:srgbClr val="EAF6FC"/>
          </a:solidFill>
          <a:ln/>
        </p:spPr>
      </p:sp>
      <p:sp>
        <p:nvSpPr>
          <p:cNvPr id="74" name="Text 72"/>
          <p:cNvSpPr txBox="1"/>
          <p:nvPr/>
        </p:nvSpPr>
        <p:spPr>
          <a:xfrm>
            <a:off x="304800" y="6419850"/>
            <a:ext cx="3810000" cy="2476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0395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Guardrails that scale</a:t>
            </a:r>
            <a:endParaRPr lang="en-US" sz="1300" dirty="0"/>
          </a:p>
        </p:txBody>
      </p:sp>
      <p:sp>
        <p:nvSpPr>
          <p:cNvPr id="75" name="Text 73"/>
          <p:cNvSpPr txBox="1"/>
          <p:nvPr/>
        </p:nvSpPr>
        <p:spPr>
          <a:xfrm>
            <a:off x="304800" y="6705600"/>
            <a:ext cx="3390900" cy="5905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b="1" dirty="0">
                <a:solidFill>
                  <a:srgbClr val="00395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Confidence view</a:t>
            </a:r>
            <a:endParaRPr lang="en-US" sz="1150" dirty="0"/>
          </a:p>
          <a:p>
            <a:pPr indent="0" marL="0">
              <a:buNone/>
            </a:pPr>
            <a:r>
              <a:rPr lang="en-US" sz="1000" dirty="0">
                <a:solidFill>
                  <a:srgbClr val="1F2D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Show tests run, tests not possible and confidence, so trust is earned</a:t>
            </a:r>
            <a:endParaRPr lang="en-US" sz="1150" dirty="0"/>
          </a:p>
        </p:txBody>
      </p:sp>
      <p:sp>
        <p:nvSpPr>
          <p:cNvPr id="76" name="Text 74"/>
          <p:cNvSpPr txBox="1"/>
          <p:nvPr/>
        </p:nvSpPr>
        <p:spPr>
          <a:xfrm>
            <a:off x="3848100" y="6705600"/>
            <a:ext cx="3390900" cy="5905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b="1" dirty="0">
                <a:solidFill>
                  <a:srgbClr val="00395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Skills as controlled documents</a:t>
            </a:r>
            <a:endParaRPr lang="en-US" sz="1150" dirty="0"/>
          </a:p>
          <a:p>
            <a:pPr indent="0" marL="0">
              <a:buNone/>
            </a:pPr>
            <a:r>
              <a:rPr lang="en-US" sz="1000" dirty="0">
                <a:solidFill>
                  <a:srgbClr val="1F2D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Versioned, reviewed and approved like any control procedure</a:t>
            </a:r>
            <a:endParaRPr lang="en-US" sz="1150" dirty="0"/>
          </a:p>
        </p:txBody>
      </p:sp>
      <p:sp>
        <p:nvSpPr>
          <p:cNvPr id="77" name="Text 75"/>
          <p:cNvSpPr txBox="1"/>
          <p:nvPr/>
        </p:nvSpPr>
        <p:spPr>
          <a:xfrm>
            <a:off x="7391400" y="6705600"/>
            <a:ext cx="3390900" cy="5905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b="1" dirty="0">
                <a:solidFill>
                  <a:srgbClr val="00395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Red-team trap cases</a:t>
            </a:r>
            <a:endParaRPr lang="en-US" sz="1150" dirty="0"/>
          </a:p>
          <a:p>
            <a:pPr indent="0" marL="0">
              <a:buNone/>
            </a:pPr>
            <a:r>
              <a:rPr lang="en-US" sz="1000" dirty="0">
                <a:solidFill>
                  <a:srgbClr val="1F2D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Evals built to tempt a wrong POST, such as "BO passed, so post"</a:t>
            </a:r>
            <a:endParaRPr lang="en-US" sz="1150" dirty="0"/>
          </a:p>
        </p:txBody>
      </p:sp>
      <p:sp>
        <p:nvSpPr>
          <p:cNvPr id="78" name="Text 76"/>
          <p:cNvSpPr txBox="1"/>
          <p:nvPr/>
        </p:nvSpPr>
        <p:spPr>
          <a:xfrm>
            <a:off x="10934700" y="6705600"/>
            <a:ext cx="3390900" cy="5905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b="1" dirty="0">
                <a:solidFill>
                  <a:srgbClr val="00395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Drift watch</a:t>
            </a:r>
            <a:endParaRPr lang="en-US" sz="1150" dirty="0"/>
          </a:p>
          <a:p>
            <a:pPr indent="0" marL="0">
              <a:buNone/>
            </a:pPr>
            <a:r>
              <a:rPr lang="en-US" sz="1000" dirty="0">
                <a:solidFill>
                  <a:srgbClr val="1F2D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Phoenix flags when verdicts or root causes shift over time</a:t>
            </a:r>
            <a:endParaRPr lang="en-US" sz="1150" dirty="0"/>
          </a:p>
        </p:txBody>
      </p:sp>
      <p:sp>
        <p:nvSpPr>
          <p:cNvPr id="79" name="Text 77"/>
          <p:cNvSpPr txBox="1"/>
          <p:nvPr/>
        </p:nvSpPr>
        <p:spPr>
          <a:xfrm>
            <a:off x="171450" y="7486650"/>
            <a:ext cx="3810000" cy="2476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0395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North-star metrics</a:t>
            </a:r>
            <a:endParaRPr lang="en-US" sz="1300" dirty="0"/>
          </a:p>
        </p:txBody>
      </p:sp>
      <p:sp>
        <p:nvSpPr>
          <p:cNvPr id="80" name="Shape 78"/>
          <p:cNvSpPr/>
          <p:nvPr/>
        </p:nvSpPr>
        <p:spPr>
          <a:xfrm>
            <a:off x="152400" y="7791450"/>
            <a:ext cx="2773680" cy="1352550"/>
          </a:xfrm>
          <a:prstGeom prst="roundRect">
            <a:avLst>
              <a:gd name="adj" fmla="val 5634"/>
            </a:avLst>
          </a:prstGeom>
          <a:solidFill>
            <a:srgbClr val="FFFFFF"/>
          </a:solidFill>
          <a:ln w="12700">
            <a:solidFill>
              <a:srgbClr val="B3E3F7"/>
            </a:solidFill>
            <a:prstDash val="solid"/>
          </a:ln>
        </p:spPr>
      </p:sp>
      <p:sp>
        <p:nvSpPr>
          <p:cNvPr id="81" name="Shape 79"/>
          <p:cNvSpPr/>
          <p:nvPr/>
        </p:nvSpPr>
        <p:spPr>
          <a:xfrm>
            <a:off x="152400" y="7791450"/>
            <a:ext cx="2773680" cy="47625"/>
          </a:xfrm>
          <a:prstGeom prst="rect">
            <a:avLst/>
          </a:prstGeom>
          <a:solidFill>
            <a:srgbClr val="00395D"/>
          </a:solidFill>
          <a:ln/>
        </p:spPr>
      </p:sp>
      <p:sp>
        <p:nvSpPr>
          <p:cNvPr id="82" name="Text 80"/>
          <p:cNvSpPr txBox="1"/>
          <p:nvPr/>
        </p:nvSpPr>
        <p:spPr>
          <a:xfrm>
            <a:off x="285750" y="7924800"/>
            <a:ext cx="254508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0395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Explained before desk time</a:t>
            </a:r>
            <a:endParaRPr lang="en-US" sz="1300" dirty="0"/>
          </a:p>
        </p:txBody>
      </p:sp>
      <p:sp>
        <p:nvSpPr>
          <p:cNvPr id="83" name="Text 81"/>
          <p:cNvSpPr txBox="1"/>
          <p:nvPr/>
        </p:nvSpPr>
        <p:spPr>
          <a:xfrm>
            <a:off x="285750" y="8229600"/>
            <a:ext cx="2545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1F2D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Share of breaks with root cause ready by arrival</a:t>
            </a:r>
            <a:endParaRPr lang="en-US" sz="1100" dirty="0"/>
          </a:p>
        </p:txBody>
      </p:sp>
      <p:sp>
        <p:nvSpPr>
          <p:cNvPr id="84" name="Text 82"/>
          <p:cNvSpPr txBox="1"/>
          <p:nvPr/>
        </p:nvSpPr>
        <p:spPr>
          <a:xfrm>
            <a:off x="285750" y="8820150"/>
            <a:ext cx="2545080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5A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Baseline and target TBC</a:t>
            </a:r>
            <a:endParaRPr lang="en-US" sz="900" dirty="0"/>
          </a:p>
        </p:txBody>
      </p:sp>
      <p:sp>
        <p:nvSpPr>
          <p:cNvPr id="85" name="Shape 83"/>
          <p:cNvSpPr/>
          <p:nvPr/>
        </p:nvSpPr>
        <p:spPr>
          <a:xfrm>
            <a:off x="3040380" y="7791450"/>
            <a:ext cx="2773680" cy="1352550"/>
          </a:xfrm>
          <a:prstGeom prst="roundRect">
            <a:avLst>
              <a:gd name="adj" fmla="val 5634"/>
            </a:avLst>
          </a:prstGeom>
          <a:solidFill>
            <a:srgbClr val="FFFFFF"/>
          </a:solidFill>
          <a:ln w="12700">
            <a:solidFill>
              <a:srgbClr val="B3E3F7"/>
            </a:solidFill>
            <a:prstDash val="solid"/>
          </a:ln>
        </p:spPr>
      </p:sp>
      <p:sp>
        <p:nvSpPr>
          <p:cNvPr id="86" name="Shape 84"/>
          <p:cNvSpPr/>
          <p:nvPr/>
        </p:nvSpPr>
        <p:spPr>
          <a:xfrm>
            <a:off x="3040380" y="7791450"/>
            <a:ext cx="2773680" cy="47625"/>
          </a:xfrm>
          <a:prstGeom prst="rect">
            <a:avLst/>
          </a:prstGeom>
          <a:solidFill>
            <a:srgbClr val="00AEEF"/>
          </a:solidFill>
          <a:ln/>
        </p:spPr>
      </p:sp>
      <p:sp>
        <p:nvSpPr>
          <p:cNvPr id="87" name="Text 85"/>
          <p:cNvSpPr txBox="1"/>
          <p:nvPr/>
        </p:nvSpPr>
        <p:spPr>
          <a:xfrm>
            <a:off x="3173730" y="7924800"/>
            <a:ext cx="254508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0395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Adjustments avoided</a:t>
            </a:r>
            <a:endParaRPr lang="en-US" sz="1300" dirty="0"/>
          </a:p>
        </p:txBody>
      </p:sp>
      <p:sp>
        <p:nvSpPr>
          <p:cNvPr id="88" name="Text 86"/>
          <p:cNvSpPr txBox="1"/>
          <p:nvPr/>
        </p:nvSpPr>
        <p:spPr>
          <a:xfrm>
            <a:off x="3173730" y="8229600"/>
            <a:ext cx="2545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1F2D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Postings not made because FO was the cause</a:t>
            </a:r>
            <a:endParaRPr lang="en-US" sz="1100" dirty="0"/>
          </a:p>
        </p:txBody>
      </p:sp>
      <p:sp>
        <p:nvSpPr>
          <p:cNvPr id="89" name="Text 87"/>
          <p:cNvSpPr txBox="1"/>
          <p:nvPr/>
        </p:nvSpPr>
        <p:spPr>
          <a:xfrm>
            <a:off x="3173730" y="8820150"/>
            <a:ext cx="2545080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5A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Baseline and target TBC</a:t>
            </a:r>
            <a:endParaRPr lang="en-US" sz="900" dirty="0"/>
          </a:p>
        </p:txBody>
      </p:sp>
      <p:sp>
        <p:nvSpPr>
          <p:cNvPr id="90" name="Shape 88"/>
          <p:cNvSpPr/>
          <p:nvPr/>
        </p:nvSpPr>
        <p:spPr>
          <a:xfrm>
            <a:off x="5928360" y="7791450"/>
            <a:ext cx="2773680" cy="1352550"/>
          </a:xfrm>
          <a:prstGeom prst="roundRect">
            <a:avLst>
              <a:gd name="adj" fmla="val 5634"/>
            </a:avLst>
          </a:prstGeom>
          <a:solidFill>
            <a:srgbClr val="FFFFFF"/>
          </a:solidFill>
          <a:ln w="12700">
            <a:solidFill>
              <a:srgbClr val="B3E3F7"/>
            </a:solidFill>
            <a:prstDash val="solid"/>
          </a:ln>
        </p:spPr>
      </p:sp>
      <p:sp>
        <p:nvSpPr>
          <p:cNvPr id="91" name="Shape 89"/>
          <p:cNvSpPr/>
          <p:nvPr/>
        </p:nvSpPr>
        <p:spPr>
          <a:xfrm>
            <a:off x="5928360" y="7791450"/>
            <a:ext cx="2773680" cy="47625"/>
          </a:xfrm>
          <a:prstGeom prst="rect">
            <a:avLst/>
          </a:prstGeom>
          <a:solidFill>
            <a:srgbClr val="00395D"/>
          </a:solidFill>
          <a:ln/>
        </p:spPr>
      </p:sp>
      <p:sp>
        <p:nvSpPr>
          <p:cNvPr id="92" name="Text 90"/>
          <p:cNvSpPr txBox="1"/>
          <p:nvPr/>
        </p:nvSpPr>
        <p:spPr>
          <a:xfrm>
            <a:off x="6061710" y="7924800"/>
            <a:ext cx="254508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0395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Reversals avoided</a:t>
            </a:r>
            <a:endParaRPr lang="en-US" sz="1300" dirty="0"/>
          </a:p>
        </p:txBody>
      </p:sp>
      <p:sp>
        <p:nvSpPr>
          <p:cNvPr id="93" name="Text 91"/>
          <p:cNvSpPr txBox="1"/>
          <p:nvPr/>
        </p:nvSpPr>
        <p:spPr>
          <a:xfrm>
            <a:off x="6061710" y="8229600"/>
            <a:ext cx="2545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1F2D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Adjustments that never needed unwinding</a:t>
            </a:r>
            <a:endParaRPr lang="en-US" sz="1100" dirty="0"/>
          </a:p>
        </p:txBody>
      </p:sp>
      <p:sp>
        <p:nvSpPr>
          <p:cNvPr id="94" name="Text 92"/>
          <p:cNvSpPr txBox="1"/>
          <p:nvPr/>
        </p:nvSpPr>
        <p:spPr>
          <a:xfrm>
            <a:off x="6061710" y="8820150"/>
            <a:ext cx="2545080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5A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Baseline and target TBC</a:t>
            </a:r>
            <a:endParaRPr lang="en-US" sz="900" dirty="0"/>
          </a:p>
        </p:txBody>
      </p:sp>
      <p:sp>
        <p:nvSpPr>
          <p:cNvPr id="95" name="Shape 93"/>
          <p:cNvSpPr/>
          <p:nvPr/>
        </p:nvSpPr>
        <p:spPr>
          <a:xfrm>
            <a:off x="8816340" y="7791450"/>
            <a:ext cx="2773680" cy="1352550"/>
          </a:xfrm>
          <a:prstGeom prst="roundRect">
            <a:avLst>
              <a:gd name="adj" fmla="val 5634"/>
            </a:avLst>
          </a:prstGeom>
          <a:solidFill>
            <a:srgbClr val="FFFFFF"/>
          </a:solidFill>
          <a:ln w="12700">
            <a:solidFill>
              <a:srgbClr val="B3E3F7"/>
            </a:solidFill>
            <a:prstDash val="solid"/>
          </a:ln>
        </p:spPr>
      </p:sp>
      <p:sp>
        <p:nvSpPr>
          <p:cNvPr id="96" name="Shape 94"/>
          <p:cNvSpPr/>
          <p:nvPr/>
        </p:nvSpPr>
        <p:spPr>
          <a:xfrm>
            <a:off x="8816340" y="7791450"/>
            <a:ext cx="2773680" cy="47625"/>
          </a:xfrm>
          <a:prstGeom prst="rect">
            <a:avLst/>
          </a:prstGeom>
          <a:solidFill>
            <a:srgbClr val="00AEEF"/>
          </a:solidFill>
          <a:ln/>
        </p:spPr>
      </p:sp>
      <p:sp>
        <p:nvSpPr>
          <p:cNvPr id="97" name="Text 95"/>
          <p:cNvSpPr txBox="1"/>
          <p:nvPr/>
        </p:nvSpPr>
        <p:spPr>
          <a:xfrm>
            <a:off x="8949690" y="7924800"/>
            <a:ext cx="254508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0395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Time to explanation</a:t>
            </a:r>
            <a:endParaRPr lang="en-US" sz="1300" dirty="0"/>
          </a:p>
        </p:txBody>
      </p:sp>
      <p:sp>
        <p:nvSpPr>
          <p:cNvPr id="98" name="Text 96"/>
          <p:cNvSpPr txBox="1"/>
          <p:nvPr/>
        </p:nvSpPr>
        <p:spPr>
          <a:xfrm>
            <a:off x="8949690" y="8229600"/>
            <a:ext cx="2545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1F2D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Ready event to evidenced root cause</a:t>
            </a:r>
            <a:endParaRPr lang="en-US" sz="1100" dirty="0"/>
          </a:p>
        </p:txBody>
      </p:sp>
      <p:sp>
        <p:nvSpPr>
          <p:cNvPr id="99" name="Text 97"/>
          <p:cNvSpPr txBox="1"/>
          <p:nvPr/>
        </p:nvSpPr>
        <p:spPr>
          <a:xfrm>
            <a:off x="8949690" y="8820150"/>
            <a:ext cx="2545080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5A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Baseline and target TBC</a:t>
            </a:r>
            <a:endParaRPr lang="en-US" sz="900" dirty="0"/>
          </a:p>
        </p:txBody>
      </p:sp>
      <p:sp>
        <p:nvSpPr>
          <p:cNvPr id="100" name="Shape 98"/>
          <p:cNvSpPr/>
          <p:nvPr/>
        </p:nvSpPr>
        <p:spPr>
          <a:xfrm>
            <a:off x="11704320" y="7791450"/>
            <a:ext cx="2773680" cy="1352550"/>
          </a:xfrm>
          <a:prstGeom prst="roundRect">
            <a:avLst>
              <a:gd name="adj" fmla="val 5634"/>
            </a:avLst>
          </a:prstGeom>
          <a:solidFill>
            <a:srgbClr val="FFFFFF"/>
          </a:solidFill>
          <a:ln w="12700">
            <a:solidFill>
              <a:srgbClr val="B3E3F7"/>
            </a:solidFill>
            <a:prstDash val="solid"/>
          </a:ln>
        </p:spPr>
      </p:sp>
      <p:sp>
        <p:nvSpPr>
          <p:cNvPr id="101" name="Shape 99"/>
          <p:cNvSpPr/>
          <p:nvPr/>
        </p:nvSpPr>
        <p:spPr>
          <a:xfrm>
            <a:off x="11704320" y="7791450"/>
            <a:ext cx="2773680" cy="47625"/>
          </a:xfrm>
          <a:prstGeom prst="rect">
            <a:avLst/>
          </a:prstGeom>
          <a:solidFill>
            <a:srgbClr val="00395D"/>
          </a:solidFill>
          <a:ln/>
        </p:spPr>
      </p:sp>
      <p:sp>
        <p:nvSpPr>
          <p:cNvPr id="102" name="Text 100"/>
          <p:cNvSpPr txBox="1"/>
          <p:nvPr/>
        </p:nvSpPr>
        <p:spPr>
          <a:xfrm>
            <a:off x="11837670" y="7924800"/>
            <a:ext cx="254508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0395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Recurring breaks removed</a:t>
            </a:r>
            <a:endParaRPr lang="en-US" sz="1300" dirty="0"/>
          </a:p>
        </p:txBody>
      </p:sp>
      <p:sp>
        <p:nvSpPr>
          <p:cNvPr id="103" name="Text 101"/>
          <p:cNvSpPr txBox="1"/>
          <p:nvPr/>
        </p:nvSpPr>
        <p:spPr>
          <a:xfrm>
            <a:off x="11837670" y="8229600"/>
            <a:ext cx="2545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1F2D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Patterns closed by an upstream fix or rule</a:t>
            </a:r>
            <a:endParaRPr lang="en-US" sz="1100" dirty="0"/>
          </a:p>
        </p:txBody>
      </p:sp>
      <p:sp>
        <p:nvSpPr>
          <p:cNvPr id="104" name="Text 102"/>
          <p:cNvSpPr txBox="1"/>
          <p:nvPr/>
        </p:nvSpPr>
        <p:spPr>
          <a:xfrm>
            <a:off x="11837670" y="8820150"/>
            <a:ext cx="2545080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5A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Baseline and target TBC</a:t>
            </a:r>
            <a:endParaRPr lang="en-US" sz="900" dirty="0"/>
          </a:p>
        </p:txBody>
      </p:sp>
      <p:sp>
        <p:nvSpPr>
          <p:cNvPr id="105" name="Shape 103"/>
          <p:cNvSpPr/>
          <p:nvPr/>
        </p:nvSpPr>
        <p:spPr>
          <a:xfrm>
            <a:off x="0" y="9277350"/>
            <a:ext cx="14630400" cy="476250"/>
          </a:xfrm>
          <a:prstGeom prst="rect">
            <a:avLst/>
          </a:prstGeom>
          <a:solidFill>
            <a:srgbClr val="00395D"/>
          </a:solidFill>
          <a:ln/>
        </p:spPr>
      </p:sp>
      <p:sp>
        <p:nvSpPr>
          <p:cNvPr id="106" name="Text 104"/>
          <p:cNvSpPr txBox="1"/>
          <p:nvPr/>
        </p:nvSpPr>
        <p:spPr>
          <a:xfrm>
            <a:off x="0" y="9277350"/>
            <a:ext cx="14630400" cy="4762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Helix Architecture</a:t>
            </a:r>
            <a:pPr algn="ctr"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|   Smarter Reconciliation. Stronger Control. Greater Insight.</a:t>
            </a:r>
            <a:endParaRPr lang="en-US" sz="1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2026-09-24T17:24:00Z</dcterms:created>
  <dcterms:modified xsi:type="dcterms:W3CDTF">2026-09-24T17:24:00Z</dcterms:modified>
</cp:coreProperties>
</file>