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4630400" cy="9753905"/>
  <p:notesSz cx="9753905"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presenting a theoretical AI concept. We have already built the core Agentic Engine. Orchestration, AI reasoning and AI observability are the heart of any agent solution, supported by tools through MCP, knowledge, and human-in-the-loop governance. The four boxes at the bottom answer what it does, how it connects systems, how agents decide, and how it is observed.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serious AI system is a stack of parts with different jobs, and most confusion comes from expecting one part to do another part's job. People and the interface are what the business sees: the manager who signs off, and the desk and in-tray. The highlighted section is the agentic engine we have built and proven with Helix: the orchestrator runs the procedure, the agent uses judgement, tools reach systems safely one action at a time, and knowledge holds the facts, rules and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the platform capabilities, LLM integration, MCP integrations and event-driven architecture all exist today. Analysis: these capabilities are reusable and form a generic agentic framework, not something tied to Helix. Action: apply the framework to more use cases, starting from Helix as the first consumer.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Helix is the proof that the engine works. Walk the business process across the top, then show that Helix only plugged in its own events, skills, tools, knowledge and view; the engine was reused as is. The right side lists what Helix has demonstrated. The key point is the bottom line: the value is the repeatable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proven the engine in Helix, we believe it can extend to other Financial Control use cases. Helix is live; the amber areas are potential vehicles, positioned as opportunities for exploration rather than final recommendations. Each would reuse the engine and add only its own events, skills, tools and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Finance / Accounting Control functional architecture. Green shows where Helix already runs on the engine. Amber shows where the same engine could plug in. These are opportunities to explore, not recommendations. We want your view on which to look at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statement at the top, then ask the three questions and pause after each. Close with the statement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1-21.png"/><Relationship Id="rId22" Type="http://schemas.openxmlformats.org/officeDocument/2006/relationships/image" Target="../media/image-1-22.png"/><Relationship Id="rId23" Type="http://schemas.openxmlformats.org/officeDocument/2006/relationships/slideLayout" Target="../slideLayouts/slideLayout1.xml"/><Relationship Id="rId2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slideLayout" Target="../slideLayouts/slideLayout1.xml"/><Relationship Id="rId1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image" Target="../media/image-4-19.png"/><Relationship Id="rId20" Type="http://schemas.openxmlformats.org/officeDocument/2006/relationships/image" Target="../media/image-4-20.png"/><Relationship Id="rId21" Type="http://schemas.openxmlformats.org/officeDocument/2006/relationships/image" Target="../media/image-4-21.png"/><Relationship Id="rId22" Type="http://schemas.openxmlformats.org/officeDocument/2006/relationships/image" Target="../media/image-4-22.png"/><Relationship Id="rId23" Type="http://schemas.openxmlformats.org/officeDocument/2006/relationships/slideLayout" Target="../slideLayouts/slideLayout1.xml"/><Relationship Id="rId2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Building a Reusable Agentic AI Capability for Finance</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One Finance Agentic Engine: what we have built</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What We Built</a:t>
            </a:r>
            <a:endParaRPr lang="en-US" sz="2200" dirty="0"/>
          </a:p>
        </p:txBody>
      </p:sp>
      <p:sp>
        <p:nvSpPr>
          <p:cNvPr id="7" name="Shape 5"/>
          <p:cNvSpPr/>
          <p:nvPr/>
        </p:nvSpPr>
        <p:spPr>
          <a:xfrm>
            <a:off x="502920" y="1325880"/>
            <a:ext cx="2103120" cy="5029200"/>
          </a:xfrm>
          <a:prstGeom prst="roundRect">
            <a:avLst>
              <a:gd name="adj" fmla="val 2174"/>
            </a:avLst>
          </a:prstGeom>
          <a:solidFill>
            <a:srgbClr val="EEF4FB"/>
          </a:solidFill>
          <a:ln w="12700">
            <a:solidFill>
              <a:srgbClr val="2A6EBB"/>
            </a:solidFill>
            <a:prstDash val="dash"/>
          </a:ln>
        </p:spPr>
      </p:sp>
      <p:sp>
        <p:nvSpPr>
          <p:cNvPr id="8" name="Text 6"/>
          <p:cNvSpPr txBox="1"/>
          <p:nvPr/>
        </p:nvSpPr>
        <p:spPr>
          <a:xfrm>
            <a:off x="621792" y="1399032"/>
            <a:ext cx="1865376" cy="201168"/>
          </a:xfrm>
          <a:prstGeom prst="rect">
            <a:avLst/>
          </a:prstGeom>
          <a:noFill/>
          <a:ln/>
        </p:spPr>
        <p:txBody>
          <a:bodyPr wrap="square" lIns="0" tIns="0" rIns="0" bIns="0" rtlCol="0" anchor="ctr"/>
          <a:lstStyle/>
          <a:p>
            <a:pPr indent="0" marL="0">
              <a:buNone/>
            </a:pPr>
            <a:r>
              <a:rPr lang="en-US" sz="950" b="1" spc="100" kern="0" dirty="0">
                <a:solidFill>
                  <a:srgbClr val="2A6EBB"/>
                </a:solidFill>
                <a:latin typeface="Calibri" pitchFamily="34" charset="0"/>
                <a:ea typeface="Calibri" pitchFamily="34" charset="-122"/>
                <a:cs typeface="Calibri" pitchFamily="34" charset="-120"/>
              </a:rPr>
              <a:t>FINANCE WORKFLOWS</a:t>
            </a:r>
            <a:endParaRPr lang="en-US" sz="950" dirty="0"/>
          </a:p>
        </p:txBody>
      </p:sp>
      <p:sp>
        <p:nvSpPr>
          <p:cNvPr id="9" name="Shape 7"/>
          <p:cNvSpPr/>
          <p:nvPr/>
        </p:nvSpPr>
        <p:spPr>
          <a:xfrm>
            <a:off x="612648" y="1737360"/>
            <a:ext cx="1883664" cy="1325880"/>
          </a:xfrm>
          <a:prstGeom prst="roundRect">
            <a:avLst>
              <a:gd name="adj" fmla="val 5517"/>
            </a:avLst>
          </a:prstGeom>
          <a:solidFill>
            <a:srgbClr val="FFFFFF"/>
          </a:solidFill>
          <a:ln w="9525">
            <a:solidFill>
              <a:srgbClr val="C8D8EC"/>
            </a:solidFill>
            <a:prstDash val="solid"/>
          </a:ln>
        </p:spPr>
      </p:sp>
      <p:sp>
        <p:nvSpPr>
          <p:cNvPr id="10" name="Shape 8"/>
          <p:cNvSpPr/>
          <p:nvPr/>
        </p:nvSpPr>
        <p:spPr>
          <a:xfrm>
            <a:off x="731520" y="2180844"/>
            <a:ext cx="438912" cy="438912"/>
          </a:xfrm>
          <a:prstGeom prst="roundRect">
            <a:avLst>
              <a:gd name="adj" fmla="val 20833"/>
            </a:avLst>
          </a:prstGeom>
          <a:solidFill>
            <a:srgbClr val="2A6EBB"/>
          </a:solidFill>
          <a:ln w="12700">
            <a:solidFill>
              <a:srgbClr val="2A6EBB"/>
            </a:solidFill>
            <a:prstDash val="solid"/>
          </a:ln>
        </p:spPr>
      </p:sp>
      <p:pic>
        <p:nvPicPr>
          <p:cNvPr id="11" name="Image 0" descr="preencoded.png">    </p:cNvPr>
          <p:cNvPicPr>
            <a:picLocks noChangeAspect="1"/>
          </p:cNvPicPr>
          <p:nvPr/>
        </p:nvPicPr>
        <p:blipFill>
          <a:blip r:embed="rId1"/>
          <a:stretch>
            <a:fillRect/>
          </a:stretch>
        </p:blipFill>
        <p:spPr>
          <a:xfrm>
            <a:off x="828081" y="2277405"/>
            <a:ext cx="245791" cy="245791"/>
          </a:xfrm>
          <a:prstGeom prst="rect">
            <a:avLst/>
          </a:prstGeom>
        </p:spPr>
      </p:pic>
      <p:sp>
        <p:nvSpPr>
          <p:cNvPr id="12" name="Text 9"/>
          <p:cNvSpPr txBox="1"/>
          <p:nvPr/>
        </p:nvSpPr>
        <p:spPr>
          <a:xfrm>
            <a:off x="1271016" y="1810512"/>
            <a:ext cx="115214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Business events</a:t>
            </a:r>
            <a:endParaRPr lang="en-US" sz="1150" dirty="0"/>
          </a:p>
        </p:txBody>
      </p:sp>
      <p:sp>
        <p:nvSpPr>
          <p:cNvPr id="13" name="Text 10"/>
          <p:cNvSpPr txBox="1"/>
          <p:nvPr/>
        </p:nvSpPr>
        <p:spPr>
          <a:xfrm>
            <a:off x="1271016" y="2084832"/>
            <a:ext cx="1152144" cy="941832"/>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Ready events from One Fin UX start the work</a:t>
            </a:r>
            <a:endParaRPr lang="en-US" sz="950" dirty="0"/>
          </a:p>
        </p:txBody>
      </p:sp>
      <p:sp>
        <p:nvSpPr>
          <p:cNvPr id="14" name="Shape 11"/>
          <p:cNvSpPr/>
          <p:nvPr/>
        </p:nvSpPr>
        <p:spPr>
          <a:xfrm>
            <a:off x="612648" y="3200400"/>
            <a:ext cx="1883664" cy="1325880"/>
          </a:xfrm>
          <a:prstGeom prst="roundRect">
            <a:avLst>
              <a:gd name="adj" fmla="val 5517"/>
            </a:avLst>
          </a:prstGeom>
          <a:solidFill>
            <a:srgbClr val="FFFFFF"/>
          </a:solidFill>
          <a:ln w="9525">
            <a:solidFill>
              <a:srgbClr val="C8D8EC"/>
            </a:solidFill>
            <a:prstDash val="solid"/>
          </a:ln>
        </p:spPr>
      </p:sp>
      <p:sp>
        <p:nvSpPr>
          <p:cNvPr id="15" name="Shape 12"/>
          <p:cNvSpPr/>
          <p:nvPr/>
        </p:nvSpPr>
        <p:spPr>
          <a:xfrm>
            <a:off x="731520" y="3643884"/>
            <a:ext cx="438912" cy="438912"/>
          </a:xfrm>
          <a:prstGeom prst="roundRect">
            <a:avLst>
              <a:gd name="adj" fmla="val 20833"/>
            </a:avLst>
          </a:prstGeom>
          <a:solidFill>
            <a:srgbClr val="1B4F93"/>
          </a:solidFill>
          <a:ln w="12700">
            <a:solidFill>
              <a:srgbClr val="1B4F93"/>
            </a:solidFill>
            <a:prstDash val="solid"/>
          </a:ln>
        </p:spPr>
      </p:sp>
      <p:pic>
        <p:nvPicPr>
          <p:cNvPr id="16" name="Image 1" descr="preencoded.png">    </p:cNvPr>
          <p:cNvPicPr>
            <a:picLocks noChangeAspect="1"/>
          </p:cNvPicPr>
          <p:nvPr/>
        </p:nvPicPr>
        <p:blipFill>
          <a:blip r:embed="rId2"/>
          <a:stretch>
            <a:fillRect/>
          </a:stretch>
        </p:blipFill>
        <p:spPr>
          <a:xfrm>
            <a:off x="828081" y="3740445"/>
            <a:ext cx="245791" cy="245791"/>
          </a:xfrm>
          <a:prstGeom prst="rect">
            <a:avLst/>
          </a:prstGeom>
        </p:spPr>
      </p:pic>
      <p:sp>
        <p:nvSpPr>
          <p:cNvPr id="17" name="Text 13"/>
          <p:cNvSpPr txBox="1"/>
          <p:nvPr/>
        </p:nvSpPr>
        <p:spPr>
          <a:xfrm>
            <a:off x="1271016" y="3273552"/>
            <a:ext cx="115214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Finance data</a:t>
            </a:r>
            <a:endParaRPr lang="en-US" sz="1150" dirty="0"/>
          </a:p>
        </p:txBody>
      </p:sp>
      <p:sp>
        <p:nvSpPr>
          <p:cNvPr id="18" name="Text 14"/>
          <p:cNvSpPr txBox="1"/>
          <p:nvPr/>
        </p:nvSpPr>
        <p:spPr>
          <a:xfrm>
            <a:off x="1271016" y="3547872"/>
            <a:ext cx="1152144" cy="941832"/>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Recs, ledgers, P&amp;L, reference data</a:t>
            </a:r>
            <a:endParaRPr lang="en-US" sz="950" dirty="0"/>
          </a:p>
        </p:txBody>
      </p:sp>
      <p:sp>
        <p:nvSpPr>
          <p:cNvPr id="19" name="Shape 15"/>
          <p:cNvSpPr/>
          <p:nvPr/>
        </p:nvSpPr>
        <p:spPr>
          <a:xfrm>
            <a:off x="612648" y="4663440"/>
            <a:ext cx="1883664" cy="1325880"/>
          </a:xfrm>
          <a:prstGeom prst="roundRect">
            <a:avLst>
              <a:gd name="adj" fmla="val 5517"/>
            </a:avLst>
          </a:prstGeom>
          <a:solidFill>
            <a:srgbClr val="FFFFFF"/>
          </a:solidFill>
          <a:ln w="9525">
            <a:solidFill>
              <a:srgbClr val="C8D8EC"/>
            </a:solidFill>
            <a:prstDash val="solid"/>
          </a:ln>
        </p:spPr>
      </p:sp>
      <p:sp>
        <p:nvSpPr>
          <p:cNvPr id="20" name="Shape 16"/>
          <p:cNvSpPr/>
          <p:nvPr/>
        </p:nvSpPr>
        <p:spPr>
          <a:xfrm>
            <a:off x="731520" y="5106924"/>
            <a:ext cx="438912" cy="438912"/>
          </a:xfrm>
          <a:prstGeom prst="roundRect">
            <a:avLst>
              <a:gd name="adj" fmla="val 20833"/>
            </a:avLst>
          </a:prstGeom>
          <a:solidFill>
            <a:srgbClr val="1E4D5C"/>
          </a:solidFill>
          <a:ln w="12700">
            <a:solidFill>
              <a:srgbClr val="1E4D5C"/>
            </a:solidFill>
            <a:prstDash val="solid"/>
          </a:ln>
        </p:spPr>
      </p:sp>
      <p:pic>
        <p:nvPicPr>
          <p:cNvPr id="21" name="Image 2" descr="preencoded.png">    </p:cNvPr>
          <p:cNvPicPr>
            <a:picLocks noChangeAspect="1"/>
          </p:cNvPicPr>
          <p:nvPr/>
        </p:nvPicPr>
        <p:blipFill>
          <a:blip r:embed="rId3"/>
          <a:stretch>
            <a:fillRect/>
          </a:stretch>
        </p:blipFill>
        <p:spPr>
          <a:xfrm>
            <a:off x="828081" y="5203485"/>
            <a:ext cx="245791" cy="245791"/>
          </a:xfrm>
          <a:prstGeom prst="rect">
            <a:avLst/>
          </a:prstGeom>
        </p:spPr>
      </p:pic>
      <p:sp>
        <p:nvSpPr>
          <p:cNvPr id="22" name="Text 17"/>
          <p:cNvSpPr txBox="1"/>
          <p:nvPr/>
        </p:nvSpPr>
        <p:spPr>
          <a:xfrm>
            <a:off x="1271016" y="4736592"/>
            <a:ext cx="115214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Finance systems</a:t>
            </a:r>
            <a:endParaRPr lang="en-US" sz="1150" dirty="0"/>
          </a:p>
        </p:txBody>
      </p:sp>
      <p:sp>
        <p:nvSpPr>
          <p:cNvPr id="23" name="Text 18"/>
          <p:cNvSpPr txBox="1"/>
          <p:nvPr/>
        </p:nvSpPr>
        <p:spPr>
          <a:xfrm>
            <a:off x="1271016" y="5010912"/>
            <a:ext cx="1152144" cy="941832"/>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Reached only through governed MCP tools</a:t>
            </a:r>
            <a:endParaRPr lang="en-US" sz="950" dirty="0"/>
          </a:p>
        </p:txBody>
      </p:sp>
      <p:sp>
        <p:nvSpPr>
          <p:cNvPr id="24" name="Shape 19"/>
          <p:cNvSpPr/>
          <p:nvPr/>
        </p:nvSpPr>
        <p:spPr>
          <a:xfrm>
            <a:off x="2788920" y="1325880"/>
            <a:ext cx="9052560" cy="5029200"/>
          </a:xfrm>
          <a:prstGeom prst="roundRect">
            <a:avLst>
              <a:gd name="adj" fmla="val 909"/>
            </a:avLst>
          </a:prstGeom>
          <a:solidFill>
            <a:srgbClr val="FBFCFE"/>
          </a:solidFill>
          <a:ln w="25400">
            <a:solidFill>
              <a:srgbClr val="0B2E5E"/>
            </a:solidFill>
            <a:prstDash val="solid"/>
          </a:ln>
        </p:spPr>
      </p:sp>
      <p:sp>
        <p:nvSpPr>
          <p:cNvPr id="25" name="Shape 20"/>
          <p:cNvSpPr/>
          <p:nvPr/>
        </p:nvSpPr>
        <p:spPr>
          <a:xfrm>
            <a:off x="3017520" y="1179576"/>
            <a:ext cx="6035040" cy="310896"/>
          </a:xfrm>
          <a:prstGeom prst="roundRect">
            <a:avLst>
              <a:gd name="adj" fmla="val 50000"/>
            </a:avLst>
          </a:prstGeom>
          <a:solidFill>
            <a:srgbClr val="0B2E5E"/>
          </a:solidFill>
          <a:ln w="12700">
            <a:solidFill>
              <a:srgbClr val="0B2E5E"/>
            </a:solidFill>
            <a:prstDash val="solid"/>
          </a:ln>
        </p:spPr>
      </p:sp>
      <p:sp>
        <p:nvSpPr>
          <p:cNvPr id="26" name="Text 21"/>
          <p:cNvSpPr txBox="1"/>
          <p:nvPr/>
        </p:nvSpPr>
        <p:spPr>
          <a:xfrm>
            <a:off x="3017520" y="1179576"/>
            <a:ext cx="603504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ONE FINANCE AGENTIC ENGINE  |  THE HEART OF ANY AGENT SOLUTION</a:t>
            </a:r>
            <a:endParaRPr lang="en-US" sz="1000" dirty="0"/>
          </a:p>
        </p:txBody>
      </p:sp>
      <p:sp>
        <p:nvSpPr>
          <p:cNvPr id="27" name="Shape 22"/>
          <p:cNvSpPr/>
          <p:nvPr/>
        </p:nvSpPr>
        <p:spPr>
          <a:xfrm>
            <a:off x="2926080" y="1645920"/>
            <a:ext cx="2834640" cy="3154680"/>
          </a:xfrm>
          <a:prstGeom prst="roundRect">
            <a:avLst>
              <a:gd name="adj" fmla="val 1613"/>
            </a:avLst>
          </a:prstGeom>
          <a:solidFill>
            <a:srgbClr val="EDF7F2"/>
          </a:solidFill>
          <a:ln w="12700">
            <a:solidFill>
              <a:srgbClr val="1E8A5A"/>
            </a:solidFill>
            <a:prstDash val="dash"/>
          </a:ln>
        </p:spPr>
      </p:sp>
      <p:sp>
        <p:nvSpPr>
          <p:cNvPr id="28" name="Text 23"/>
          <p:cNvSpPr txBox="1"/>
          <p:nvPr/>
        </p:nvSpPr>
        <p:spPr>
          <a:xfrm>
            <a:off x="3044952" y="1719072"/>
            <a:ext cx="2596896" cy="201168"/>
          </a:xfrm>
          <a:prstGeom prst="rect">
            <a:avLst/>
          </a:prstGeom>
          <a:noFill/>
          <a:ln/>
        </p:spPr>
        <p:txBody>
          <a:bodyPr wrap="square" lIns="0" tIns="0" rIns="0" bIns="0" rtlCol="0" anchor="ctr"/>
          <a:lstStyle/>
          <a:p>
            <a:pPr indent="0" marL="0">
              <a:buNone/>
            </a:pPr>
            <a:r>
              <a:rPr lang="en-US" sz="950" b="1" spc="100" kern="0" dirty="0">
                <a:solidFill>
                  <a:srgbClr val="1E8A5A"/>
                </a:solidFill>
                <a:latin typeface="Calibri" pitchFamily="34" charset="0"/>
                <a:ea typeface="Calibri" pitchFamily="34" charset="-122"/>
                <a:cs typeface="Calibri" pitchFamily="34" charset="-120"/>
              </a:rPr>
              <a:t>ORCHESTRATION</a:t>
            </a:r>
            <a:endParaRPr lang="en-US" sz="950" dirty="0"/>
          </a:p>
        </p:txBody>
      </p:sp>
      <p:sp>
        <p:nvSpPr>
          <p:cNvPr id="29" name="Text 24"/>
          <p:cNvSpPr txBox="1"/>
          <p:nvPr/>
        </p:nvSpPr>
        <p:spPr>
          <a:xfrm>
            <a:off x="3044952" y="1874520"/>
            <a:ext cx="2651760" cy="201168"/>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How work flows</a:t>
            </a:r>
            <a:endParaRPr lang="en-US" sz="950" dirty="0"/>
          </a:p>
        </p:txBody>
      </p:sp>
      <p:sp>
        <p:nvSpPr>
          <p:cNvPr id="30" name="Shape 25"/>
          <p:cNvSpPr/>
          <p:nvPr/>
        </p:nvSpPr>
        <p:spPr>
          <a:xfrm>
            <a:off x="3035808" y="2148840"/>
            <a:ext cx="2615184" cy="758952"/>
          </a:xfrm>
          <a:prstGeom prst="roundRect">
            <a:avLst>
              <a:gd name="adj" fmla="val 9639"/>
            </a:avLst>
          </a:prstGeom>
          <a:solidFill>
            <a:srgbClr val="FFFFFF"/>
          </a:solidFill>
          <a:ln w="9525">
            <a:solidFill>
              <a:srgbClr val="C8D8EC"/>
            </a:solidFill>
            <a:prstDash val="solid"/>
          </a:ln>
        </p:spPr>
      </p:sp>
      <p:sp>
        <p:nvSpPr>
          <p:cNvPr id="31" name="Shape 26"/>
          <p:cNvSpPr/>
          <p:nvPr/>
        </p:nvSpPr>
        <p:spPr>
          <a:xfrm>
            <a:off x="3154680" y="2308860"/>
            <a:ext cx="438912" cy="438912"/>
          </a:xfrm>
          <a:prstGeom prst="roundRect">
            <a:avLst>
              <a:gd name="adj" fmla="val 20833"/>
            </a:avLst>
          </a:prstGeom>
          <a:solidFill>
            <a:srgbClr val="1E8A5A"/>
          </a:solidFill>
          <a:ln w="12700">
            <a:solidFill>
              <a:srgbClr val="1E8A5A"/>
            </a:solidFill>
            <a:prstDash val="solid"/>
          </a:ln>
        </p:spPr>
      </p:sp>
      <p:pic>
        <p:nvPicPr>
          <p:cNvPr id="32" name="Image 3" descr="preencoded.png">    </p:cNvPr>
          <p:cNvPicPr>
            <a:picLocks noChangeAspect="1"/>
          </p:cNvPicPr>
          <p:nvPr/>
        </p:nvPicPr>
        <p:blipFill>
          <a:blip r:embed="rId4"/>
          <a:stretch>
            <a:fillRect/>
          </a:stretch>
        </p:blipFill>
        <p:spPr>
          <a:xfrm>
            <a:off x="3251241" y="2405421"/>
            <a:ext cx="245791" cy="245791"/>
          </a:xfrm>
          <a:prstGeom prst="rect">
            <a:avLst/>
          </a:prstGeom>
        </p:spPr>
      </p:pic>
      <p:sp>
        <p:nvSpPr>
          <p:cNvPr id="33" name="Text 27"/>
          <p:cNvSpPr txBox="1"/>
          <p:nvPr/>
        </p:nvSpPr>
        <p:spPr>
          <a:xfrm>
            <a:off x="3694176" y="2221992"/>
            <a:ext cx="18836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Event-driven triggers</a:t>
            </a:r>
            <a:endParaRPr lang="en-US" sz="1150" dirty="0"/>
          </a:p>
        </p:txBody>
      </p:sp>
      <p:sp>
        <p:nvSpPr>
          <p:cNvPr id="34" name="Text 28"/>
          <p:cNvSpPr txBox="1"/>
          <p:nvPr/>
        </p:nvSpPr>
        <p:spPr>
          <a:xfrm>
            <a:off x="3694176" y="2496312"/>
            <a:ext cx="1883664" cy="37490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Starts when business data is ready</a:t>
            </a:r>
            <a:endParaRPr lang="en-US" sz="950" dirty="0"/>
          </a:p>
        </p:txBody>
      </p:sp>
      <p:sp>
        <p:nvSpPr>
          <p:cNvPr id="35" name="Shape 29"/>
          <p:cNvSpPr/>
          <p:nvPr/>
        </p:nvSpPr>
        <p:spPr>
          <a:xfrm>
            <a:off x="3035808" y="3017520"/>
            <a:ext cx="2615184" cy="758952"/>
          </a:xfrm>
          <a:prstGeom prst="roundRect">
            <a:avLst>
              <a:gd name="adj" fmla="val 9639"/>
            </a:avLst>
          </a:prstGeom>
          <a:solidFill>
            <a:srgbClr val="FFFFFF"/>
          </a:solidFill>
          <a:ln w="9525">
            <a:solidFill>
              <a:srgbClr val="C8D8EC"/>
            </a:solidFill>
            <a:prstDash val="solid"/>
          </a:ln>
        </p:spPr>
      </p:sp>
      <p:sp>
        <p:nvSpPr>
          <p:cNvPr id="36" name="Shape 30"/>
          <p:cNvSpPr/>
          <p:nvPr/>
        </p:nvSpPr>
        <p:spPr>
          <a:xfrm>
            <a:off x="3154680" y="3177540"/>
            <a:ext cx="438912" cy="438912"/>
          </a:xfrm>
          <a:prstGeom prst="roundRect">
            <a:avLst>
              <a:gd name="adj" fmla="val 20833"/>
            </a:avLst>
          </a:prstGeom>
          <a:solidFill>
            <a:srgbClr val="1E8A5A"/>
          </a:solidFill>
          <a:ln w="12700">
            <a:solidFill>
              <a:srgbClr val="1E8A5A"/>
            </a:solidFill>
            <a:prstDash val="solid"/>
          </a:ln>
        </p:spPr>
      </p:sp>
      <p:pic>
        <p:nvPicPr>
          <p:cNvPr id="37" name="Image 4" descr="preencoded.png">    </p:cNvPr>
          <p:cNvPicPr>
            <a:picLocks noChangeAspect="1"/>
          </p:cNvPicPr>
          <p:nvPr/>
        </p:nvPicPr>
        <p:blipFill>
          <a:blip r:embed="rId5"/>
          <a:stretch>
            <a:fillRect/>
          </a:stretch>
        </p:blipFill>
        <p:spPr>
          <a:xfrm>
            <a:off x="3251241" y="3274101"/>
            <a:ext cx="245791" cy="245791"/>
          </a:xfrm>
          <a:prstGeom prst="rect">
            <a:avLst/>
          </a:prstGeom>
        </p:spPr>
      </p:pic>
      <p:sp>
        <p:nvSpPr>
          <p:cNvPr id="38" name="Text 31"/>
          <p:cNvSpPr txBox="1"/>
          <p:nvPr/>
        </p:nvSpPr>
        <p:spPr>
          <a:xfrm>
            <a:off x="3694176" y="3090672"/>
            <a:ext cx="18836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Session management</a:t>
            </a:r>
            <a:endParaRPr lang="en-US" sz="1150" dirty="0"/>
          </a:p>
        </p:txBody>
      </p:sp>
      <p:sp>
        <p:nvSpPr>
          <p:cNvPr id="39" name="Text 32"/>
          <p:cNvSpPr txBox="1"/>
          <p:nvPr/>
        </p:nvSpPr>
        <p:spPr>
          <a:xfrm>
            <a:off x="3694176" y="3364992"/>
            <a:ext cx="1883664" cy="37490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Readiness checks, LangGraph workflows</a:t>
            </a:r>
            <a:endParaRPr lang="en-US" sz="950" dirty="0"/>
          </a:p>
        </p:txBody>
      </p:sp>
      <p:sp>
        <p:nvSpPr>
          <p:cNvPr id="40" name="Shape 33"/>
          <p:cNvSpPr/>
          <p:nvPr/>
        </p:nvSpPr>
        <p:spPr>
          <a:xfrm>
            <a:off x="3035808" y="3886200"/>
            <a:ext cx="2615184" cy="758952"/>
          </a:xfrm>
          <a:prstGeom prst="roundRect">
            <a:avLst>
              <a:gd name="adj" fmla="val 9639"/>
            </a:avLst>
          </a:prstGeom>
          <a:solidFill>
            <a:srgbClr val="FFFFFF"/>
          </a:solidFill>
          <a:ln w="9525">
            <a:solidFill>
              <a:srgbClr val="C8D8EC"/>
            </a:solidFill>
            <a:prstDash val="solid"/>
          </a:ln>
        </p:spPr>
      </p:sp>
      <p:sp>
        <p:nvSpPr>
          <p:cNvPr id="41" name="Shape 34"/>
          <p:cNvSpPr/>
          <p:nvPr/>
        </p:nvSpPr>
        <p:spPr>
          <a:xfrm>
            <a:off x="3154680" y="4046220"/>
            <a:ext cx="438912" cy="438912"/>
          </a:xfrm>
          <a:prstGeom prst="roundRect">
            <a:avLst>
              <a:gd name="adj" fmla="val 20833"/>
            </a:avLst>
          </a:prstGeom>
          <a:solidFill>
            <a:srgbClr val="1E8A5A"/>
          </a:solidFill>
          <a:ln w="12700">
            <a:solidFill>
              <a:srgbClr val="1E8A5A"/>
            </a:solidFill>
            <a:prstDash val="solid"/>
          </a:ln>
        </p:spPr>
      </p:sp>
      <p:pic>
        <p:nvPicPr>
          <p:cNvPr id="42" name="Image 5" descr="preencoded.png">    </p:cNvPr>
          <p:cNvPicPr>
            <a:picLocks noChangeAspect="1"/>
          </p:cNvPicPr>
          <p:nvPr/>
        </p:nvPicPr>
        <p:blipFill>
          <a:blip r:embed="rId6"/>
          <a:stretch>
            <a:fillRect/>
          </a:stretch>
        </p:blipFill>
        <p:spPr>
          <a:xfrm>
            <a:off x="3251241" y="4142781"/>
            <a:ext cx="245791" cy="245791"/>
          </a:xfrm>
          <a:prstGeom prst="rect">
            <a:avLst/>
          </a:prstGeom>
        </p:spPr>
      </p:pic>
      <p:sp>
        <p:nvSpPr>
          <p:cNvPr id="43" name="Text 35"/>
          <p:cNvSpPr txBox="1"/>
          <p:nvPr/>
        </p:nvSpPr>
        <p:spPr>
          <a:xfrm>
            <a:off x="3694176" y="3959352"/>
            <a:ext cx="18836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Human checkpoints</a:t>
            </a:r>
            <a:endParaRPr lang="en-US" sz="1150" dirty="0"/>
          </a:p>
        </p:txBody>
      </p:sp>
      <p:sp>
        <p:nvSpPr>
          <p:cNvPr id="44" name="Text 36"/>
          <p:cNvSpPr txBox="1"/>
          <p:nvPr/>
        </p:nvSpPr>
        <p:spPr>
          <a:xfrm>
            <a:off x="3694176" y="4233672"/>
            <a:ext cx="1883664" cy="37490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Pauses for the owner, resumes on approval</a:t>
            </a:r>
            <a:endParaRPr lang="en-US" sz="950" dirty="0"/>
          </a:p>
        </p:txBody>
      </p:sp>
      <p:sp>
        <p:nvSpPr>
          <p:cNvPr id="45" name="Shape 37"/>
          <p:cNvSpPr/>
          <p:nvPr/>
        </p:nvSpPr>
        <p:spPr>
          <a:xfrm>
            <a:off x="5897880" y="1645920"/>
            <a:ext cx="2834640" cy="3154680"/>
          </a:xfrm>
          <a:prstGeom prst="roundRect">
            <a:avLst>
              <a:gd name="adj" fmla="val 1613"/>
            </a:avLst>
          </a:prstGeom>
          <a:solidFill>
            <a:srgbClr val="F3F1FB"/>
          </a:solidFill>
          <a:ln w="12700">
            <a:solidFill>
              <a:srgbClr val="5B4FA8"/>
            </a:solidFill>
            <a:prstDash val="dash"/>
          </a:ln>
        </p:spPr>
      </p:sp>
      <p:sp>
        <p:nvSpPr>
          <p:cNvPr id="46" name="Text 38"/>
          <p:cNvSpPr txBox="1"/>
          <p:nvPr/>
        </p:nvSpPr>
        <p:spPr>
          <a:xfrm>
            <a:off x="6016752" y="1719072"/>
            <a:ext cx="2596896" cy="201168"/>
          </a:xfrm>
          <a:prstGeom prst="rect">
            <a:avLst/>
          </a:prstGeom>
          <a:noFill/>
          <a:ln/>
        </p:spPr>
        <p:txBody>
          <a:bodyPr wrap="square" lIns="0" tIns="0" rIns="0" bIns="0" rtlCol="0" anchor="ctr"/>
          <a:lstStyle/>
          <a:p>
            <a:pPr indent="0" marL="0">
              <a:buNone/>
            </a:pPr>
            <a:r>
              <a:rPr lang="en-US" sz="950" b="1" spc="100" kern="0" dirty="0">
                <a:solidFill>
                  <a:srgbClr val="5B4FA8"/>
                </a:solidFill>
                <a:latin typeface="Calibri" pitchFamily="34" charset="0"/>
                <a:ea typeface="Calibri" pitchFamily="34" charset="-122"/>
                <a:cs typeface="Calibri" pitchFamily="34" charset="-120"/>
              </a:rPr>
              <a:t>AI REASONING</a:t>
            </a:r>
            <a:endParaRPr lang="en-US" sz="950" dirty="0"/>
          </a:p>
        </p:txBody>
      </p:sp>
      <p:sp>
        <p:nvSpPr>
          <p:cNvPr id="47" name="Text 39"/>
          <p:cNvSpPr txBox="1"/>
          <p:nvPr/>
        </p:nvSpPr>
        <p:spPr>
          <a:xfrm>
            <a:off x="6016752" y="1874520"/>
            <a:ext cx="2651760" cy="201168"/>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How agents decide</a:t>
            </a:r>
            <a:endParaRPr lang="en-US" sz="950" dirty="0"/>
          </a:p>
        </p:txBody>
      </p:sp>
      <p:sp>
        <p:nvSpPr>
          <p:cNvPr id="48" name="Shape 40"/>
          <p:cNvSpPr/>
          <p:nvPr/>
        </p:nvSpPr>
        <p:spPr>
          <a:xfrm>
            <a:off x="6007608" y="2148840"/>
            <a:ext cx="2615184" cy="758952"/>
          </a:xfrm>
          <a:prstGeom prst="roundRect">
            <a:avLst>
              <a:gd name="adj" fmla="val 9639"/>
            </a:avLst>
          </a:prstGeom>
          <a:solidFill>
            <a:srgbClr val="FFFFFF"/>
          </a:solidFill>
          <a:ln w="9525">
            <a:solidFill>
              <a:srgbClr val="C8D8EC"/>
            </a:solidFill>
            <a:prstDash val="solid"/>
          </a:ln>
        </p:spPr>
      </p:sp>
      <p:sp>
        <p:nvSpPr>
          <p:cNvPr id="49" name="Shape 41"/>
          <p:cNvSpPr/>
          <p:nvPr/>
        </p:nvSpPr>
        <p:spPr>
          <a:xfrm>
            <a:off x="6126480" y="2308860"/>
            <a:ext cx="438912" cy="438912"/>
          </a:xfrm>
          <a:prstGeom prst="roundRect">
            <a:avLst>
              <a:gd name="adj" fmla="val 20833"/>
            </a:avLst>
          </a:prstGeom>
          <a:solidFill>
            <a:srgbClr val="5B4FA8"/>
          </a:solidFill>
          <a:ln w="12700">
            <a:solidFill>
              <a:srgbClr val="5B4FA8"/>
            </a:solidFill>
            <a:prstDash val="solid"/>
          </a:ln>
        </p:spPr>
      </p:sp>
      <p:pic>
        <p:nvPicPr>
          <p:cNvPr id="50" name="Image 6" descr="preencoded.png">    </p:cNvPr>
          <p:cNvPicPr>
            <a:picLocks noChangeAspect="1"/>
          </p:cNvPicPr>
          <p:nvPr/>
        </p:nvPicPr>
        <p:blipFill>
          <a:blip r:embed="rId7"/>
          <a:stretch>
            <a:fillRect/>
          </a:stretch>
        </p:blipFill>
        <p:spPr>
          <a:xfrm>
            <a:off x="6223041" y="2405421"/>
            <a:ext cx="245791" cy="245791"/>
          </a:xfrm>
          <a:prstGeom prst="rect">
            <a:avLst/>
          </a:prstGeom>
        </p:spPr>
      </p:pic>
      <p:sp>
        <p:nvSpPr>
          <p:cNvPr id="51" name="Text 42"/>
          <p:cNvSpPr txBox="1"/>
          <p:nvPr/>
        </p:nvSpPr>
        <p:spPr>
          <a:xfrm>
            <a:off x="6665976" y="2221992"/>
            <a:ext cx="18836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Agent One</a:t>
            </a:r>
            <a:endParaRPr lang="en-US" sz="1150" dirty="0"/>
          </a:p>
        </p:txBody>
      </p:sp>
      <p:sp>
        <p:nvSpPr>
          <p:cNvPr id="52" name="Text 43"/>
          <p:cNvSpPr txBox="1"/>
          <p:nvPr/>
        </p:nvSpPr>
        <p:spPr>
          <a:xfrm>
            <a:off x="6665976" y="2496312"/>
            <a:ext cx="1883664" cy="37490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Skills and playbooks per workflow</a:t>
            </a:r>
            <a:endParaRPr lang="en-US" sz="950" dirty="0"/>
          </a:p>
        </p:txBody>
      </p:sp>
      <p:sp>
        <p:nvSpPr>
          <p:cNvPr id="53" name="Shape 44"/>
          <p:cNvSpPr/>
          <p:nvPr/>
        </p:nvSpPr>
        <p:spPr>
          <a:xfrm>
            <a:off x="6007608" y="3017520"/>
            <a:ext cx="2615184" cy="758952"/>
          </a:xfrm>
          <a:prstGeom prst="roundRect">
            <a:avLst>
              <a:gd name="adj" fmla="val 9639"/>
            </a:avLst>
          </a:prstGeom>
          <a:solidFill>
            <a:srgbClr val="FFFFFF"/>
          </a:solidFill>
          <a:ln w="9525">
            <a:solidFill>
              <a:srgbClr val="C8D8EC"/>
            </a:solidFill>
            <a:prstDash val="solid"/>
          </a:ln>
        </p:spPr>
      </p:sp>
      <p:sp>
        <p:nvSpPr>
          <p:cNvPr id="54" name="Shape 45"/>
          <p:cNvSpPr/>
          <p:nvPr/>
        </p:nvSpPr>
        <p:spPr>
          <a:xfrm>
            <a:off x="6126480" y="3177540"/>
            <a:ext cx="438912" cy="438912"/>
          </a:xfrm>
          <a:prstGeom prst="roundRect">
            <a:avLst>
              <a:gd name="adj" fmla="val 20833"/>
            </a:avLst>
          </a:prstGeom>
          <a:solidFill>
            <a:srgbClr val="5B4FA8"/>
          </a:solidFill>
          <a:ln w="12700">
            <a:solidFill>
              <a:srgbClr val="5B4FA8"/>
            </a:solidFill>
            <a:prstDash val="solid"/>
          </a:ln>
        </p:spPr>
      </p:sp>
      <p:pic>
        <p:nvPicPr>
          <p:cNvPr id="55" name="Image 7" descr="preencoded.png">    </p:cNvPr>
          <p:cNvPicPr>
            <a:picLocks noChangeAspect="1"/>
          </p:cNvPicPr>
          <p:nvPr/>
        </p:nvPicPr>
        <p:blipFill>
          <a:blip r:embed="rId8"/>
          <a:stretch>
            <a:fillRect/>
          </a:stretch>
        </p:blipFill>
        <p:spPr>
          <a:xfrm>
            <a:off x="6223041" y="3274101"/>
            <a:ext cx="245791" cy="245791"/>
          </a:xfrm>
          <a:prstGeom prst="rect">
            <a:avLst/>
          </a:prstGeom>
        </p:spPr>
      </p:pic>
      <p:sp>
        <p:nvSpPr>
          <p:cNvPr id="56" name="Text 46"/>
          <p:cNvSpPr txBox="1"/>
          <p:nvPr/>
        </p:nvSpPr>
        <p:spPr>
          <a:xfrm>
            <a:off x="6665976" y="3090672"/>
            <a:ext cx="18836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Structured verdicts</a:t>
            </a:r>
            <a:endParaRPr lang="en-US" sz="1150" dirty="0"/>
          </a:p>
        </p:txBody>
      </p:sp>
      <p:sp>
        <p:nvSpPr>
          <p:cNvPr id="57" name="Text 47"/>
          <p:cNvSpPr txBox="1"/>
          <p:nvPr/>
        </p:nvSpPr>
        <p:spPr>
          <a:xfrm>
            <a:off x="6665976" y="3364992"/>
            <a:ext cx="1883664" cy="37490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Classify, explain, recommend, with confidence</a:t>
            </a:r>
            <a:endParaRPr lang="en-US" sz="950" dirty="0"/>
          </a:p>
        </p:txBody>
      </p:sp>
      <p:sp>
        <p:nvSpPr>
          <p:cNvPr id="58" name="Shape 48"/>
          <p:cNvSpPr/>
          <p:nvPr/>
        </p:nvSpPr>
        <p:spPr>
          <a:xfrm>
            <a:off x="6007608" y="3886200"/>
            <a:ext cx="2615184" cy="758952"/>
          </a:xfrm>
          <a:prstGeom prst="roundRect">
            <a:avLst>
              <a:gd name="adj" fmla="val 9639"/>
            </a:avLst>
          </a:prstGeom>
          <a:solidFill>
            <a:srgbClr val="FFFFFF"/>
          </a:solidFill>
          <a:ln w="9525">
            <a:solidFill>
              <a:srgbClr val="C8D8EC"/>
            </a:solidFill>
            <a:prstDash val="solid"/>
          </a:ln>
        </p:spPr>
      </p:sp>
      <p:sp>
        <p:nvSpPr>
          <p:cNvPr id="59" name="Shape 49"/>
          <p:cNvSpPr/>
          <p:nvPr/>
        </p:nvSpPr>
        <p:spPr>
          <a:xfrm>
            <a:off x="6126480" y="4046220"/>
            <a:ext cx="438912" cy="438912"/>
          </a:xfrm>
          <a:prstGeom prst="roundRect">
            <a:avLst>
              <a:gd name="adj" fmla="val 20833"/>
            </a:avLst>
          </a:prstGeom>
          <a:solidFill>
            <a:srgbClr val="5B4FA8"/>
          </a:solidFill>
          <a:ln w="12700">
            <a:solidFill>
              <a:srgbClr val="5B4FA8"/>
            </a:solidFill>
            <a:prstDash val="solid"/>
          </a:ln>
        </p:spPr>
      </p:sp>
      <p:pic>
        <p:nvPicPr>
          <p:cNvPr id="60" name="Image 8" descr="preencoded.png">    </p:cNvPr>
          <p:cNvPicPr>
            <a:picLocks noChangeAspect="1"/>
          </p:cNvPicPr>
          <p:nvPr/>
        </p:nvPicPr>
        <p:blipFill>
          <a:blip r:embed="rId9"/>
          <a:stretch>
            <a:fillRect/>
          </a:stretch>
        </p:blipFill>
        <p:spPr>
          <a:xfrm>
            <a:off x="6223041" y="4142781"/>
            <a:ext cx="245791" cy="245791"/>
          </a:xfrm>
          <a:prstGeom prst="rect">
            <a:avLst/>
          </a:prstGeom>
        </p:spPr>
      </p:pic>
      <p:sp>
        <p:nvSpPr>
          <p:cNvPr id="61" name="Text 50"/>
          <p:cNvSpPr txBox="1"/>
          <p:nvPr/>
        </p:nvSpPr>
        <p:spPr>
          <a:xfrm>
            <a:off x="6665976" y="3959352"/>
            <a:ext cx="18836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Engines compute</a:t>
            </a:r>
            <a:endParaRPr lang="en-US" sz="1150" dirty="0"/>
          </a:p>
        </p:txBody>
      </p:sp>
      <p:sp>
        <p:nvSpPr>
          <p:cNvPr id="62" name="Text 51"/>
          <p:cNvSpPr txBox="1"/>
          <p:nvPr/>
        </p:nvSpPr>
        <p:spPr>
          <a:xfrm>
            <a:off x="6665976" y="4233672"/>
            <a:ext cx="1883664" cy="37490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Numbers from code; the LLM explains</a:t>
            </a:r>
            <a:endParaRPr lang="en-US" sz="950" dirty="0"/>
          </a:p>
        </p:txBody>
      </p:sp>
      <p:sp>
        <p:nvSpPr>
          <p:cNvPr id="63" name="Shape 52"/>
          <p:cNvSpPr/>
          <p:nvPr/>
        </p:nvSpPr>
        <p:spPr>
          <a:xfrm>
            <a:off x="8869680" y="1645920"/>
            <a:ext cx="2834640" cy="3154680"/>
          </a:xfrm>
          <a:prstGeom prst="roundRect">
            <a:avLst>
              <a:gd name="adj" fmla="val 1613"/>
            </a:avLst>
          </a:prstGeom>
          <a:solidFill>
            <a:srgbClr val="EAF0F8"/>
          </a:solidFill>
          <a:ln w="12700">
            <a:solidFill>
              <a:srgbClr val="0B2E5E"/>
            </a:solidFill>
            <a:prstDash val="dash"/>
          </a:ln>
        </p:spPr>
      </p:sp>
      <p:sp>
        <p:nvSpPr>
          <p:cNvPr id="64" name="Text 53"/>
          <p:cNvSpPr txBox="1"/>
          <p:nvPr/>
        </p:nvSpPr>
        <p:spPr>
          <a:xfrm>
            <a:off x="8988552" y="1719072"/>
            <a:ext cx="2596896" cy="201168"/>
          </a:xfrm>
          <a:prstGeom prst="rect">
            <a:avLst/>
          </a:prstGeom>
          <a:noFill/>
          <a:ln/>
        </p:spPr>
        <p:txBody>
          <a:bodyPr wrap="square" lIns="0" tIns="0" rIns="0" bIns="0" rtlCol="0" anchor="ctr"/>
          <a:lstStyle/>
          <a:p>
            <a:pPr indent="0" marL="0">
              <a:buNone/>
            </a:pPr>
            <a:r>
              <a:rPr lang="en-US" sz="950" b="1" spc="100" kern="0" dirty="0">
                <a:solidFill>
                  <a:srgbClr val="0B2E5E"/>
                </a:solidFill>
                <a:latin typeface="Calibri" pitchFamily="34" charset="0"/>
                <a:ea typeface="Calibri" pitchFamily="34" charset="-122"/>
                <a:cs typeface="Calibri" pitchFamily="34" charset="-120"/>
              </a:rPr>
              <a:t>AI OBSERVABILITY</a:t>
            </a:r>
            <a:endParaRPr lang="en-US" sz="950" dirty="0"/>
          </a:p>
        </p:txBody>
      </p:sp>
      <p:sp>
        <p:nvSpPr>
          <p:cNvPr id="65" name="Text 54"/>
          <p:cNvSpPr txBox="1"/>
          <p:nvPr/>
        </p:nvSpPr>
        <p:spPr>
          <a:xfrm>
            <a:off x="8988552" y="1874520"/>
            <a:ext cx="2651760" cy="201168"/>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How it is monitored</a:t>
            </a:r>
            <a:endParaRPr lang="en-US" sz="950" dirty="0"/>
          </a:p>
        </p:txBody>
      </p:sp>
      <p:sp>
        <p:nvSpPr>
          <p:cNvPr id="66" name="Shape 55"/>
          <p:cNvSpPr/>
          <p:nvPr/>
        </p:nvSpPr>
        <p:spPr>
          <a:xfrm>
            <a:off x="8979408" y="2148840"/>
            <a:ext cx="2615184" cy="758952"/>
          </a:xfrm>
          <a:prstGeom prst="roundRect">
            <a:avLst>
              <a:gd name="adj" fmla="val 9639"/>
            </a:avLst>
          </a:prstGeom>
          <a:solidFill>
            <a:srgbClr val="FFFFFF"/>
          </a:solidFill>
          <a:ln w="9525">
            <a:solidFill>
              <a:srgbClr val="C8D8EC"/>
            </a:solidFill>
            <a:prstDash val="solid"/>
          </a:ln>
        </p:spPr>
      </p:sp>
      <p:sp>
        <p:nvSpPr>
          <p:cNvPr id="67" name="Shape 56"/>
          <p:cNvSpPr/>
          <p:nvPr/>
        </p:nvSpPr>
        <p:spPr>
          <a:xfrm>
            <a:off x="9098280" y="2308860"/>
            <a:ext cx="438912" cy="438912"/>
          </a:xfrm>
          <a:prstGeom prst="roundRect">
            <a:avLst>
              <a:gd name="adj" fmla="val 20833"/>
            </a:avLst>
          </a:prstGeom>
          <a:solidFill>
            <a:srgbClr val="0B2E5E"/>
          </a:solidFill>
          <a:ln w="12700">
            <a:solidFill>
              <a:srgbClr val="0B2E5E"/>
            </a:solidFill>
            <a:prstDash val="solid"/>
          </a:ln>
        </p:spPr>
      </p:sp>
      <p:pic>
        <p:nvPicPr>
          <p:cNvPr id="68" name="Image 9" descr="preencoded.png">    </p:cNvPr>
          <p:cNvPicPr>
            <a:picLocks noChangeAspect="1"/>
          </p:cNvPicPr>
          <p:nvPr/>
        </p:nvPicPr>
        <p:blipFill>
          <a:blip r:embed="rId10"/>
          <a:stretch>
            <a:fillRect/>
          </a:stretch>
        </p:blipFill>
        <p:spPr>
          <a:xfrm>
            <a:off x="9194841" y="2405421"/>
            <a:ext cx="245791" cy="245791"/>
          </a:xfrm>
          <a:prstGeom prst="rect">
            <a:avLst/>
          </a:prstGeom>
        </p:spPr>
      </p:pic>
      <p:sp>
        <p:nvSpPr>
          <p:cNvPr id="69" name="Text 57"/>
          <p:cNvSpPr txBox="1"/>
          <p:nvPr/>
        </p:nvSpPr>
        <p:spPr>
          <a:xfrm>
            <a:off x="9637776" y="2221992"/>
            <a:ext cx="18836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Phoenix traces</a:t>
            </a:r>
            <a:endParaRPr lang="en-US" sz="1150" dirty="0"/>
          </a:p>
        </p:txBody>
      </p:sp>
      <p:sp>
        <p:nvSpPr>
          <p:cNvPr id="70" name="Text 58"/>
          <p:cNvSpPr txBox="1"/>
          <p:nvPr/>
        </p:nvSpPr>
        <p:spPr>
          <a:xfrm>
            <a:off x="9637776" y="2496312"/>
            <a:ext cx="1883664" cy="37490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Prompts, sources and decisions</a:t>
            </a:r>
            <a:endParaRPr lang="en-US" sz="950" dirty="0"/>
          </a:p>
        </p:txBody>
      </p:sp>
      <p:sp>
        <p:nvSpPr>
          <p:cNvPr id="71" name="Shape 59"/>
          <p:cNvSpPr/>
          <p:nvPr/>
        </p:nvSpPr>
        <p:spPr>
          <a:xfrm>
            <a:off x="8979408" y="3017520"/>
            <a:ext cx="2615184" cy="758952"/>
          </a:xfrm>
          <a:prstGeom prst="roundRect">
            <a:avLst>
              <a:gd name="adj" fmla="val 9639"/>
            </a:avLst>
          </a:prstGeom>
          <a:solidFill>
            <a:srgbClr val="FFFFFF"/>
          </a:solidFill>
          <a:ln w="9525">
            <a:solidFill>
              <a:srgbClr val="C8D8EC"/>
            </a:solidFill>
            <a:prstDash val="solid"/>
          </a:ln>
        </p:spPr>
      </p:sp>
      <p:sp>
        <p:nvSpPr>
          <p:cNvPr id="72" name="Shape 60"/>
          <p:cNvSpPr/>
          <p:nvPr/>
        </p:nvSpPr>
        <p:spPr>
          <a:xfrm>
            <a:off x="9098280" y="3177540"/>
            <a:ext cx="438912" cy="438912"/>
          </a:xfrm>
          <a:prstGeom prst="roundRect">
            <a:avLst>
              <a:gd name="adj" fmla="val 20833"/>
            </a:avLst>
          </a:prstGeom>
          <a:solidFill>
            <a:srgbClr val="0B2E5E"/>
          </a:solidFill>
          <a:ln w="12700">
            <a:solidFill>
              <a:srgbClr val="0B2E5E"/>
            </a:solidFill>
            <a:prstDash val="solid"/>
          </a:ln>
        </p:spPr>
      </p:sp>
      <p:pic>
        <p:nvPicPr>
          <p:cNvPr id="73" name="Image 10" descr="preencoded.png">    </p:cNvPr>
          <p:cNvPicPr>
            <a:picLocks noChangeAspect="1"/>
          </p:cNvPicPr>
          <p:nvPr/>
        </p:nvPicPr>
        <p:blipFill>
          <a:blip r:embed="rId11"/>
          <a:stretch>
            <a:fillRect/>
          </a:stretch>
        </p:blipFill>
        <p:spPr>
          <a:xfrm>
            <a:off x="9194841" y="3274101"/>
            <a:ext cx="245791" cy="245791"/>
          </a:xfrm>
          <a:prstGeom prst="rect">
            <a:avLst/>
          </a:prstGeom>
        </p:spPr>
      </p:pic>
      <p:sp>
        <p:nvSpPr>
          <p:cNvPr id="74" name="Text 61"/>
          <p:cNvSpPr txBox="1"/>
          <p:nvPr/>
        </p:nvSpPr>
        <p:spPr>
          <a:xfrm>
            <a:off x="9637776" y="3090672"/>
            <a:ext cx="18836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Evals &amp; skill gaps</a:t>
            </a:r>
            <a:endParaRPr lang="en-US" sz="1150" dirty="0"/>
          </a:p>
        </p:txBody>
      </p:sp>
      <p:sp>
        <p:nvSpPr>
          <p:cNvPr id="75" name="Text 62"/>
          <p:cNvSpPr txBox="1"/>
          <p:nvPr/>
        </p:nvSpPr>
        <p:spPr>
          <a:xfrm>
            <a:off x="9637776" y="3364992"/>
            <a:ext cx="1883664" cy="37490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Tested before every release</a:t>
            </a:r>
            <a:endParaRPr lang="en-US" sz="950" dirty="0"/>
          </a:p>
        </p:txBody>
      </p:sp>
      <p:sp>
        <p:nvSpPr>
          <p:cNvPr id="76" name="Shape 63"/>
          <p:cNvSpPr/>
          <p:nvPr/>
        </p:nvSpPr>
        <p:spPr>
          <a:xfrm>
            <a:off x="8979408" y="3886200"/>
            <a:ext cx="2615184" cy="758952"/>
          </a:xfrm>
          <a:prstGeom prst="roundRect">
            <a:avLst>
              <a:gd name="adj" fmla="val 9639"/>
            </a:avLst>
          </a:prstGeom>
          <a:solidFill>
            <a:srgbClr val="FFFFFF"/>
          </a:solidFill>
          <a:ln w="9525">
            <a:solidFill>
              <a:srgbClr val="C8D8EC"/>
            </a:solidFill>
            <a:prstDash val="solid"/>
          </a:ln>
        </p:spPr>
      </p:sp>
      <p:sp>
        <p:nvSpPr>
          <p:cNvPr id="77" name="Shape 64"/>
          <p:cNvSpPr/>
          <p:nvPr/>
        </p:nvSpPr>
        <p:spPr>
          <a:xfrm>
            <a:off x="9098280" y="4046220"/>
            <a:ext cx="438912" cy="438912"/>
          </a:xfrm>
          <a:prstGeom prst="roundRect">
            <a:avLst>
              <a:gd name="adj" fmla="val 20833"/>
            </a:avLst>
          </a:prstGeom>
          <a:solidFill>
            <a:srgbClr val="0B2E5E"/>
          </a:solidFill>
          <a:ln w="12700">
            <a:solidFill>
              <a:srgbClr val="0B2E5E"/>
            </a:solidFill>
            <a:prstDash val="solid"/>
          </a:ln>
        </p:spPr>
      </p:sp>
      <p:pic>
        <p:nvPicPr>
          <p:cNvPr id="78" name="Image 11" descr="preencoded.png">    </p:cNvPr>
          <p:cNvPicPr>
            <a:picLocks noChangeAspect="1"/>
          </p:cNvPicPr>
          <p:nvPr/>
        </p:nvPicPr>
        <p:blipFill>
          <a:blip r:embed="rId12"/>
          <a:stretch>
            <a:fillRect/>
          </a:stretch>
        </p:blipFill>
        <p:spPr>
          <a:xfrm>
            <a:off x="9194841" y="4142781"/>
            <a:ext cx="245791" cy="245791"/>
          </a:xfrm>
          <a:prstGeom prst="rect">
            <a:avLst/>
          </a:prstGeom>
        </p:spPr>
      </p:pic>
      <p:sp>
        <p:nvSpPr>
          <p:cNvPr id="79" name="Text 65"/>
          <p:cNvSpPr txBox="1"/>
          <p:nvPr/>
        </p:nvSpPr>
        <p:spPr>
          <a:xfrm>
            <a:off x="9637776" y="3959352"/>
            <a:ext cx="18836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LLM health</a:t>
            </a:r>
            <a:endParaRPr lang="en-US" sz="1150" dirty="0"/>
          </a:p>
        </p:txBody>
      </p:sp>
      <p:sp>
        <p:nvSpPr>
          <p:cNvPr id="80" name="Text 66"/>
          <p:cNvSpPr txBox="1"/>
          <p:nvPr/>
        </p:nvSpPr>
        <p:spPr>
          <a:xfrm>
            <a:off x="9637776" y="4233672"/>
            <a:ext cx="1883664" cy="37490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Performance, cost and quality</a:t>
            </a:r>
            <a:endParaRPr lang="en-US" sz="950" dirty="0"/>
          </a:p>
        </p:txBody>
      </p:sp>
      <p:sp>
        <p:nvSpPr>
          <p:cNvPr id="81" name="Shape 67"/>
          <p:cNvSpPr/>
          <p:nvPr/>
        </p:nvSpPr>
        <p:spPr>
          <a:xfrm>
            <a:off x="2926080" y="4937760"/>
            <a:ext cx="8778240" cy="1280160"/>
          </a:xfrm>
          <a:prstGeom prst="roundRect">
            <a:avLst>
              <a:gd name="adj" fmla="val 3571"/>
            </a:avLst>
          </a:prstGeom>
          <a:solidFill>
            <a:srgbClr val="F1F4F8"/>
          </a:solidFill>
          <a:ln w="12700">
            <a:solidFill>
              <a:srgbClr val="5A6B82"/>
            </a:solidFill>
            <a:prstDash val="dash"/>
          </a:ln>
        </p:spPr>
      </p:sp>
      <p:sp>
        <p:nvSpPr>
          <p:cNvPr id="82" name="Text 68"/>
          <p:cNvSpPr txBox="1"/>
          <p:nvPr/>
        </p:nvSpPr>
        <p:spPr>
          <a:xfrm>
            <a:off x="3044952" y="5010912"/>
            <a:ext cx="8540496" cy="201168"/>
          </a:xfrm>
          <a:prstGeom prst="rect">
            <a:avLst/>
          </a:prstGeom>
          <a:noFill/>
          <a:ln/>
        </p:spPr>
        <p:txBody>
          <a:bodyPr wrap="square" lIns="0" tIns="0" rIns="0" bIns="0" rtlCol="0" anchor="ctr"/>
          <a:lstStyle/>
          <a:p>
            <a:pPr indent="0" marL="0">
              <a:buNone/>
            </a:pPr>
            <a:r>
              <a:rPr lang="en-US" sz="950" b="1" spc="100" kern="0" dirty="0">
                <a:solidFill>
                  <a:srgbClr val="5A6B82"/>
                </a:solidFill>
                <a:latin typeface="Calibri" pitchFamily="34" charset="0"/>
                <a:ea typeface="Calibri" pitchFamily="34" charset="-122"/>
                <a:cs typeface="Calibri" pitchFamily="34" charset="-120"/>
              </a:rPr>
              <a:t>FOUNDATIONS</a:t>
            </a:r>
            <a:endParaRPr lang="en-US" sz="950" dirty="0"/>
          </a:p>
        </p:txBody>
      </p:sp>
      <p:sp>
        <p:nvSpPr>
          <p:cNvPr id="83" name="Shape 69"/>
          <p:cNvSpPr/>
          <p:nvPr/>
        </p:nvSpPr>
        <p:spPr>
          <a:xfrm>
            <a:off x="3035808" y="5239512"/>
            <a:ext cx="2743200" cy="868680"/>
          </a:xfrm>
          <a:prstGeom prst="roundRect">
            <a:avLst>
              <a:gd name="adj" fmla="val 8421"/>
            </a:avLst>
          </a:prstGeom>
          <a:solidFill>
            <a:srgbClr val="FFFFFF"/>
          </a:solidFill>
          <a:ln w="9525">
            <a:solidFill>
              <a:srgbClr val="C8D8EC"/>
            </a:solidFill>
            <a:prstDash val="solid"/>
          </a:ln>
        </p:spPr>
      </p:sp>
      <p:sp>
        <p:nvSpPr>
          <p:cNvPr id="84" name="Shape 70"/>
          <p:cNvSpPr/>
          <p:nvPr/>
        </p:nvSpPr>
        <p:spPr>
          <a:xfrm>
            <a:off x="3154680" y="5454396"/>
            <a:ext cx="438912" cy="438912"/>
          </a:xfrm>
          <a:prstGeom prst="roundRect">
            <a:avLst>
              <a:gd name="adj" fmla="val 20833"/>
            </a:avLst>
          </a:prstGeom>
          <a:solidFill>
            <a:srgbClr val="C0392B"/>
          </a:solidFill>
          <a:ln w="12700">
            <a:solidFill>
              <a:srgbClr val="C0392B"/>
            </a:solidFill>
            <a:prstDash val="solid"/>
          </a:ln>
        </p:spPr>
      </p:sp>
      <p:pic>
        <p:nvPicPr>
          <p:cNvPr id="85" name="Image 12" descr="preencoded.png">    </p:cNvPr>
          <p:cNvPicPr>
            <a:picLocks noChangeAspect="1"/>
          </p:cNvPicPr>
          <p:nvPr/>
        </p:nvPicPr>
        <p:blipFill>
          <a:blip r:embed="rId13"/>
          <a:stretch>
            <a:fillRect/>
          </a:stretch>
        </p:blipFill>
        <p:spPr>
          <a:xfrm>
            <a:off x="3251241" y="5550957"/>
            <a:ext cx="245791" cy="245791"/>
          </a:xfrm>
          <a:prstGeom prst="rect">
            <a:avLst/>
          </a:prstGeom>
        </p:spPr>
      </p:pic>
      <p:sp>
        <p:nvSpPr>
          <p:cNvPr id="86" name="Text 71"/>
          <p:cNvSpPr txBox="1"/>
          <p:nvPr/>
        </p:nvSpPr>
        <p:spPr>
          <a:xfrm>
            <a:off x="3694176" y="5312664"/>
            <a:ext cx="2011680"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Tools via MCP</a:t>
            </a:r>
            <a:endParaRPr lang="en-US" sz="1150" dirty="0"/>
          </a:p>
        </p:txBody>
      </p:sp>
      <p:sp>
        <p:nvSpPr>
          <p:cNvPr id="87" name="Text 72"/>
          <p:cNvSpPr txBox="1"/>
          <p:nvPr/>
        </p:nvSpPr>
        <p:spPr>
          <a:xfrm>
            <a:off x="3694176" y="5586984"/>
            <a:ext cx="2011680" cy="484632"/>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Governed connectivity to finance systems</a:t>
            </a:r>
            <a:endParaRPr lang="en-US" sz="950" dirty="0"/>
          </a:p>
        </p:txBody>
      </p:sp>
      <p:sp>
        <p:nvSpPr>
          <p:cNvPr id="88" name="Shape 73"/>
          <p:cNvSpPr/>
          <p:nvPr/>
        </p:nvSpPr>
        <p:spPr>
          <a:xfrm>
            <a:off x="5916168" y="5239512"/>
            <a:ext cx="2743200" cy="868680"/>
          </a:xfrm>
          <a:prstGeom prst="roundRect">
            <a:avLst>
              <a:gd name="adj" fmla="val 8421"/>
            </a:avLst>
          </a:prstGeom>
          <a:solidFill>
            <a:srgbClr val="FFFFFF"/>
          </a:solidFill>
          <a:ln w="9525">
            <a:solidFill>
              <a:srgbClr val="C8D8EC"/>
            </a:solidFill>
            <a:prstDash val="solid"/>
          </a:ln>
        </p:spPr>
      </p:sp>
      <p:sp>
        <p:nvSpPr>
          <p:cNvPr id="89" name="Shape 74"/>
          <p:cNvSpPr/>
          <p:nvPr/>
        </p:nvSpPr>
        <p:spPr>
          <a:xfrm>
            <a:off x="6035040" y="5454396"/>
            <a:ext cx="438912" cy="438912"/>
          </a:xfrm>
          <a:prstGeom prst="roundRect">
            <a:avLst>
              <a:gd name="adj" fmla="val 20833"/>
            </a:avLst>
          </a:prstGeom>
          <a:solidFill>
            <a:srgbClr val="1F4E8C"/>
          </a:solidFill>
          <a:ln w="12700">
            <a:solidFill>
              <a:srgbClr val="1F4E8C"/>
            </a:solidFill>
            <a:prstDash val="solid"/>
          </a:ln>
        </p:spPr>
      </p:sp>
      <p:pic>
        <p:nvPicPr>
          <p:cNvPr id="90" name="Image 13" descr="preencoded.png">    </p:cNvPr>
          <p:cNvPicPr>
            <a:picLocks noChangeAspect="1"/>
          </p:cNvPicPr>
          <p:nvPr/>
        </p:nvPicPr>
        <p:blipFill>
          <a:blip r:embed="rId14"/>
          <a:stretch>
            <a:fillRect/>
          </a:stretch>
        </p:blipFill>
        <p:spPr>
          <a:xfrm>
            <a:off x="6131601" y="5550957"/>
            <a:ext cx="245791" cy="245791"/>
          </a:xfrm>
          <a:prstGeom prst="rect">
            <a:avLst/>
          </a:prstGeom>
        </p:spPr>
      </p:pic>
      <p:sp>
        <p:nvSpPr>
          <p:cNvPr id="91" name="Text 75"/>
          <p:cNvSpPr txBox="1"/>
          <p:nvPr/>
        </p:nvSpPr>
        <p:spPr>
          <a:xfrm>
            <a:off x="6574536" y="5312664"/>
            <a:ext cx="2011680"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Knowledge</a:t>
            </a:r>
            <a:endParaRPr lang="en-US" sz="1150" dirty="0"/>
          </a:p>
        </p:txBody>
      </p:sp>
      <p:sp>
        <p:nvSpPr>
          <p:cNvPr id="92" name="Text 76"/>
          <p:cNvSpPr txBox="1"/>
          <p:nvPr/>
        </p:nvSpPr>
        <p:spPr>
          <a:xfrm>
            <a:off x="6574536" y="5586984"/>
            <a:ext cx="2011680" cy="484632"/>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Graph, rules and history for grounded answers</a:t>
            </a:r>
            <a:endParaRPr lang="en-US" sz="950" dirty="0"/>
          </a:p>
        </p:txBody>
      </p:sp>
      <p:sp>
        <p:nvSpPr>
          <p:cNvPr id="93" name="Shape 77"/>
          <p:cNvSpPr/>
          <p:nvPr/>
        </p:nvSpPr>
        <p:spPr>
          <a:xfrm>
            <a:off x="8796528" y="5239512"/>
            <a:ext cx="2743200" cy="868680"/>
          </a:xfrm>
          <a:prstGeom prst="roundRect">
            <a:avLst>
              <a:gd name="adj" fmla="val 8421"/>
            </a:avLst>
          </a:prstGeom>
          <a:solidFill>
            <a:srgbClr val="FFFFFF"/>
          </a:solidFill>
          <a:ln w="9525">
            <a:solidFill>
              <a:srgbClr val="C8D8EC"/>
            </a:solidFill>
            <a:prstDash val="solid"/>
          </a:ln>
        </p:spPr>
      </p:sp>
      <p:sp>
        <p:nvSpPr>
          <p:cNvPr id="94" name="Shape 78"/>
          <p:cNvSpPr/>
          <p:nvPr/>
        </p:nvSpPr>
        <p:spPr>
          <a:xfrm>
            <a:off x="8915400" y="5454396"/>
            <a:ext cx="438912" cy="438912"/>
          </a:xfrm>
          <a:prstGeom prst="roundRect">
            <a:avLst>
              <a:gd name="adj" fmla="val 20833"/>
            </a:avLst>
          </a:prstGeom>
          <a:solidFill>
            <a:srgbClr val="1B4F93"/>
          </a:solidFill>
          <a:ln w="12700">
            <a:solidFill>
              <a:srgbClr val="1B4F93"/>
            </a:solidFill>
            <a:prstDash val="solid"/>
          </a:ln>
        </p:spPr>
      </p:sp>
      <p:pic>
        <p:nvPicPr>
          <p:cNvPr id="95" name="Image 14" descr="preencoded.png">    </p:cNvPr>
          <p:cNvPicPr>
            <a:picLocks noChangeAspect="1"/>
          </p:cNvPicPr>
          <p:nvPr/>
        </p:nvPicPr>
        <p:blipFill>
          <a:blip r:embed="rId15"/>
          <a:stretch>
            <a:fillRect/>
          </a:stretch>
        </p:blipFill>
        <p:spPr>
          <a:xfrm>
            <a:off x="9011961" y="5550957"/>
            <a:ext cx="245791" cy="245791"/>
          </a:xfrm>
          <a:prstGeom prst="rect">
            <a:avLst/>
          </a:prstGeom>
        </p:spPr>
      </p:pic>
      <p:sp>
        <p:nvSpPr>
          <p:cNvPr id="96" name="Text 79"/>
          <p:cNvSpPr txBox="1"/>
          <p:nvPr/>
        </p:nvSpPr>
        <p:spPr>
          <a:xfrm>
            <a:off x="9454896" y="5312664"/>
            <a:ext cx="2011680"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Human-in-the-loop</a:t>
            </a:r>
            <a:endParaRPr lang="en-US" sz="1150" dirty="0"/>
          </a:p>
        </p:txBody>
      </p:sp>
      <p:sp>
        <p:nvSpPr>
          <p:cNvPr id="97" name="Text 80"/>
          <p:cNvSpPr txBox="1"/>
          <p:nvPr/>
        </p:nvSpPr>
        <p:spPr>
          <a:xfrm>
            <a:off x="9454896" y="5586984"/>
            <a:ext cx="2011680" cy="484632"/>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 named owner approves every action</a:t>
            </a:r>
            <a:endParaRPr lang="en-US" sz="950" dirty="0"/>
          </a:p>
        </p:txBody>
      </p:sp>
      <p:sp>
        <p:nvSpPr>
          <p:cNvPr id="98" name="Shape 81"/>
          <p:cNvSpPr/>
          <p:nvPr/>
        </p:nvSpPr>
        <p:spPr>
          <a:xfrm>
            <a:off x="12024360" y="1325880"/>
            <a:ext cx="2103120" cy="5029200"/>
          </a:xfrm>
          <a:prstGeom prst="roundRect">
            <a:avLst>
              <a:gd name="adj" fmla="val 2174"/>
            </a:avLst>
          </a:prstGeom>
          <a:solidFill>
            <a:srgbClr val="EEF4FB"/>
          </a:solidFill>
          <a:ln w="12700">
            <a:solidFill>
              <a:srgbClr val="1F6FB5"/>
            </a:solidFill>
            <a:prstDash val="dash"/>
          </a:ln>
        </p:spPr>
      </p:sp>
      <p:sp>
        <p:nvSpPr>
          <p:cNvPr id="99" name="Text 82"/>
          <p:cNvSpPr txBox="1"/>
          <p:nvPr/>
        </p:nvSpPr>
        <p:spPr>
          <a:xfrm>
            <a:off x="12143232" y="1399032"/>
            <a:ext cx="1865376" cy="201168"/>
          </a:xfrm>
          <a:prstGeom prst="rect">
            <a:avLst/>
          </a:prstGeom>
          <a:noFill/>
          <a:ln/>
        </p:spPr>
        <p:txBody>
          <a:bodyPr wrap="square" lIns="0" tIns="0" rIns="0" bIns="0" rtlCol="0" anchor="ctr"/>
          <a:lstStyle/>
          <a:p>
            <a:pPr indent="0" marL="0">
              <a:buNone/>
            </a:pPr>
            <a:r>
              <a:rPr lang="en-US" sz="950" b="1" spc="100" kern="0" dirty="0">
                <a:solidFill>
                  <a:srgbClr val="1F6FB5"/>
                </a:solidFill>
                <a:latin typeface="Calibri" pitchFamily="34" charset="0"/>
                <a:ea typeface="Calibri" pitchFamily="34" charset="-122"/>
                <a:cs typeface="Calibri" pitchFamily="34" charset="-120"/>
              </a:rPr>
              <a:t>PEOPLE &amp; SYSTEMS</a:t>
            </a:r>
            <a:endParaRPr lang="en-US" sz="950" dirty="0"/>
          </a:p>
        </p:txBody>
      </p:sp>
      <p:sp>
        <p:nvSpPr>
          <p:cNvPr id="100" name="Shape 83"/>
          <p:cNvSpPr/>
          <p:nvPr/>
        </p:nvSpPr>
        <p:spPr>
          <a:xfrm>
            <a:off x="12134088" y="1737360"/>
            <a:ext cx="1883664" cy="1325880"/>
          </a:xfrm>
          <a:prstGeom prst="roundRect">
            <a:avLst>
              <a:gd name="adj" fmla="val 5517"/>
            </a:avLst>
          </a:prstGeom>
          <a:solidFill>
            <a:srgbClr val="FFFFFF"/>
          </a:solidFill>
          <a:ln w="9525">
            <a:solidFill>
              <a:srgbClr val="C8D8EC"/>
            </a:solidFill>
            <a:prstDash val="solid"/>
          </a:ln>
        </p:spPr>
      </p:sp>
      <p:sp>
        <p:nvSpPr>
          <p:cNvPr id="101" name="Shape 84"/>
          <p:cNvSpPr/>
          <p:nvPr/>
        </p:nvSpPr>
        <p:spPr>
          <a:xfrm>
            <a:off x="12252960" y="2180844"/>
            <a:ext cx="438912" cy="438912"/>
          </a:xfrm>
          <a:prstGeom prst="roundRect">
            <a:avLst>
              <a:gd name="adj" fmla="val 20833"/>
            </a:avLst>
          </a:prstGeom>
          <a:solidFill>
            <a:srgbClr val="1F6FB5"/>
          </a:solidFill>
          <a:ln w="12700">
            <a:solidFill>
              <a:srgbClr val="1F6FB5"/>
            </a:solidFill>
            <a:prstDash val="solid"/>
          </a:ln>
        </p:spPr>
      </p:sp>
      <p:pic>
        <p:nvPicPr>
          <p:cNvPr id="102" name="Image 15" descr="preencoded.png">    </p:cNvPr>
          <p:cNvPicPr>
            <a:picLocks noChangeAspect="1"/>
          </p:cNvPicPr>
          <p:nvPr/>
        </p:nvPicPr>
        <p:blipFill>
          <a:blip r:embed="rId16"/>
          <a:stretch>
            <a:fillRect/>
          </a:stretch>
        </p:blipFill>
        <p:spPr>
          <a:xfrm>
            <a:off x="12349521" y="2277405"/>
            <a:ext cx="245791" cy="245791"/>
          </a:xfrm>
          <a:prstGeom prst="rect">
            <a:avLst/>
          </a:prstGeom>
        </p:spPr>
      </p:pic>
      <p:sp>
        <p:nvSpPr>
          <p:cNvPr id="103" name="Text 85"/>
          <p:cNvSpPr txBox="1"/>
          <p:nvPr/>
        </p:nvSpPr>
        <p:spPr>
          <a:xfrm>
            <a:off x="12792456" y="1810512"/>
            <a:ext cx="115214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Decision owner</a:t>
            </a:r>
            <a:endParaRPr lang="en-US" sz="1150" dirty="0"/>
          </a:p>
        </p:txBody>
      </p:sp>
      <p:sp>
        <p:nvSpPr>
          <p:cNvPr id="104" name="Text 86"/>
          <p:cNvSpPr txBox="1"/>
          <p:nvPr/>
        </p:nvSpPr>
        <p:spPr>
          <a:xfrm>
            <a:off x="12792456" y="2084832"/>
            <a:ext cx="1152144" cy="941832"/>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Reviews, challenges, approves</a:t>
            </a:r>
            <a:endParaRPr lang="en-US" sz="950" dirty="0"/>
          </a:p>
        </p:txBody>
      </p:sp>
      <p:sp>
        <p:nvSpPr>
          <p:cNvPr id="105" name="Shape 87"/>
          <p:cNvSpPr/>
          <p:nvPr/>
        </p:nvSpPr>
        <p:spPr>
          <a:xfrm>
            <a:off x="12134088" y="3200400"/>
            <a:ext cx="1883664" cy="1325880"/>
          </a:xfrm>
          <a:prstGeom prst="roundRect">
            <a:avLst>
              <a:gd name="adj" fmla="val 5517"/>
            </a:avLst>
          </a:prstGeom>
          <a:solidFill>
            <a:srgbClr val="FFFFFF"/>
          </a:solidFill>
          <a:ln w="9525">
            <a:solidFill>
              <a:srgbClr val="C8D8EC"/>
            </a:solidFill>
            <a:prstDash val="solid"/>
          </a:ln>
        </p:spPr>
      </p:sp>
      <p:sp>
        <p:nvSpPr>
          <p:cNvPr id="106" name="Shape 88"/>
          <p:cNvSpPr/>
          <p:nvPr/>
        </p:nvSpPr>
        <p:spPr>
          <a:xfrm>
            <a:off x="12252960" y="3643884"/>
            <a:ext cx="438912" cy="438912"/>
          </a:xfrm>
          <a:prstGeom prst="roundRect">
            <a:avLst>
              <a:gd name="adj" fmla="val 20833"/>
            </a:avLst>
          </a:prstGeom>
          <a:solidFill>
            <a:srgbClr val="1E4D5C"/>
          </a:solidFill>
          <a:ln w="12700">
            <a:solidFill>
              <a:srgbClr val="1E4D5C"/>
            </a:solidFill>
            <a:prstDash val="solid"/>
          </a:ln>
        </p:spPr>
      </p:sp>
      <p:pic>
        <p:nvPicPr>
          <p:cNvPr id="107" name="Image 16" descr="preencoded.png">    </p:cNvPr>
          <p:cNvPicPr>
            <a:picLocks noChangeAspect="1"/>
          </p:cNvPicPr>
          <p:nvPr/>
        </p:nvPicPr>
        <p:blipFill>
          <a:blip r:embed="rId17"/>
          <a:stretch>
            <a:fillRect/>
          </a:stretch>
        </p:blipFill>
        <p:spPr>
          <a:xfrm>
            <a:off x="12349521" y="3740445"/>
            <a:ext cx="245791" cy="245791"/>
          </a:xfrm>
          <a:prstGeom prst="rect">
            <a:avLst/>
          </a:prstGeom>
        </p:spPr>
      </p:pic>
      <p:sp>
        <p:nvSpPr>
          <p:cNvPr id="108" name="Text 89"/>
          <p:cNvSpPr txBox="1"/>
          <p:nvPr/>
        </p:nvSpPr>
        <p:spPr>
          <a:xfrm>
            <a:off x="12792456" y="3273552"/>
            <a:ext cx="115214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Existing systems</a:t>
            </a:r>
            <a:endParaRPr lang="en-US" sz="1150" dirty="0"/>
          </a:p>
        </p:txBody>
      </p:sp>
      <p:sp>
        <p:nvSpPr>
          <p:cNvPr id="109" name="Text 90"/>
          <p:cNvSpPr txBox="1"/>
          <p:nvPr/>
        </p:nvSpPr>
        <p:spPr>
          <a:xfrm>
            <a:off x="12792456" y="3547872"/>
            <a:ext cx="1152144" cy="941832"/>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Execute approved actions only</a:t>
            </a:r>
            <a:endParaRPr lang="en-US" sz="950" dirty="0"/>
          </a:p>
        </p:txBody>
      </p:sp>
      <p:sp>
        <p:nvSpPr>
          <p:cNvPr id="110" name="Shape 91"/>
          <p:cNvSpPr/>
          <p:nvPr/>
        </p:nvSpPr>
        <p:spPr>
          <a:xfrm>
            <a:off x="12134088" y="4663440"/>
            <a:ext cx="1883664" cy="1325880"/>
          </a:xfrm>
          <a:prstGeom prst="roundRect">
            <a:avLst>
              <a:gd name="adj" fmla="val 5517"/>
            </a:avLst>
          </a:prstGeom>
          <a:solidFill>
            <a:srgbClr val="FFFFFF"/>
          </a:solidFill>
          <a:ln w="9525">
            <a:solidFill>
              <a:srgbClr val="C8D8EC"/>
            </a:solidFill>
            <a:prstDash val="solid"/>
          </a:ln>
        </p:spPr>
      </p:sp>
      <p:sp>
        <p:nvSpPr>
          <p:cNvPr id="111" name="Shape 92"/>
          <p:cNvSpPr/>
          <p:nvPr/>
        </p:nvSpPr>
        <p:spPr>
          <a:xfrm>
            <a:off x="12252960" y="5106924"/>
            <a:ext cx="438912" cy="438912"/>
          </a:xfrm>
          <a:prstGeom prst="roundRect">
            <a:avLst>
              <a:gd name="adj" fmla="val 20833"/>
            </a:avLst>
          </a:prstGeom>
          <a:solidFill>
            <a:srgbClr val="5A6B82"/>
          </a:solidFill>
          <a:ln w="12700">
            <a:solidFill>
              <a:srgbClr val="5A6B82"/>
            </a:solidFill>
            <a:prstDash val="solid"/>
          </a:ln>
        </p:spPr>
      </p:sp>
      <p:pic>
        <p:nvPicPr>
          <p:cNvPr id="112" name="Image 17" descr="preencoded.png">    </p:cNvPr>
          <p:cNvPicPr>
            <a:picLocks noChangeAspect="1"/>
          </p:cNvPicPr>
          <p:nvPr/>
        </p:nvPicPr>
        <p:blipFill>
          <a:blip r:embed="rId18"/>
          <a:stretch>
            <a:fillRect/>
          </a:stretch>
        </p:blipFill>
        <p:spPr>
          <a:xfrm>
            <a:off x="12349521" y="5203485"/>
            <a:ext cx="245791" cy="245791"/>
          </a:xfrm>
          <a:prstGeom prst="rect">
            <a:avLst/>
          </a:prstGeom>
        </p:spPr>
      </p:pic>
      <p:sp>
        <p:nvSpPr>
          <p:cNvPr id="113" name="Text 93"/>
          <p:cNvSpPr txBox="1"/>
          <p:nvPr/>
        </p:nvSpPr>
        <p:spPr>
          <a:xfrm>
            <a:off x="12792456" y="4736592"/>
            <a:ext cx="115214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App audit</a:t>
            </a:r>
            <a:endParaRPr lang="en-US" sz="1150" dirty="0"/>
          </a:p>
        </p:txBody>
      </p:sp>
      <p:sp>
        <p:nvSpPr>
          <p:cNvPr id="114" name="Text 94"/>
          <p:cNvSpPr txBox="1"/>
          <p:nvPr/>
        </p:nvSpPr>
        <p:spPr>
          <a:xfrm>
            <a:off x="12792456" y="5010912"/>
            <a:ext cx="1152144" cy="941832"/>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Records every decision</a:t>
            </a:r>
            <a:endParaRPr lang="en-US" sz="950" dirty="0"/>
          </a:p>
        </p:txBody>
      </p:sp>
      <p:sp>
        <p:nvSpPr>
          <p:cNvPr id="115" name="Shape 95"/>
          <p:cNvSpPr/>
          <p:nvPr/>
        </p:nvSpPr>
        <p:spPr>
          <a:xfrm>
            <a:off x="2496312" y="2395728"/>
            <a:ext cx="292608" cy="0"/>
          </a:xfrm>
          <a:prstGeom prst="line">
            <a:avLst/>
          </a:prstGeom>
          <a:noFill/>
          <a:ln w="19050">
            <a:solidFill>
              <a:srgbClr val="2A6EBB"/>
            </a:solidFill>
            <a:prstDash val="solid"/>
            <a:tailEnd type="triangle"/>
          </a:ln>
        </p:spPr>
      </p:sp>
      <p:sp>
        <p:nvSpPr>
          <p:cNvPr id="116" name="Shape 96"/>
          <p:cNvSpPr/>
          <p:nvPr/>
        </p:nvSpPr>
        <p:spPr>
          <a:xfrm>
            <a:off x="11841480" y="2395728"/>
            <a:ext cx="292608" cy="0"/>
          </a:xfrm>
          <a:prstGeom prst="line">
            <a:avLst/>
          </a:prstGeom>
          <a:noFill/>
          <a:ln w="19050">
            <a:solidFill>
              <a:srgbClr val="1F6FB5"/>
            </a:solidFill>
            <a:prstDash val="solid"/>
            <a:tailEnd type="triangle"/>
          </a:ln>
        </p:spPr>
      </p:sp>
      <p:sp>
        <p:nvSpPr>
          <p:cNvPr id="117" name="Shape 97"/>
          <p:cNvSpPr/>
          <p:nvPr/>
        </p:nvSpPr>
        <p:spPr>
          <a:xfrm>
            <a:off x="2496312" y="3858768"/>
            <a:ext cx="292608" cy="0"/>
          </a:xfrm>
          <a:prstGeom prst="line">
            <a:avLst/>
          </a:prstGeom>
          <a:noFill/>
          <a:ln w="19050">
            <a:solidFill>
              <a:srgbClr val="2A6EBB"/>
            </a:solidFill>
            <a:prstDash val="solid"/>
            <a:tailEnd type="triangle"/>
          </a:ln>
        </p:spPr>
      </p:sp>
      <p:sp>
        <p:nvSpPr>
          <p:cNvPr id="118" name="Shape 98"/>
          <p:cNvSpPr/>
          <p:nvPr/>
        </p:nvSpPr>
        <p:spPr>
          <a:xfrm>
            <a:off x="11841480" y="3858768"/>
            <a:ext cx="292608" cy="0"/>
          </a:xfrm>
          <a:prstGeom prst="line">
            <a:avLst/>
          </a:prstGeom>
          <a:noFill/>
          <a:ln w="19050">
            <a:solidFill>
              <a:srgbClr val="1F6FB5"/>
            </a:solidFill>
            <a:prstDash val="solid"/>
            <a:tailEnd type="triangle"/>
          </a:ln>
        </p:spPr>
      </p:sp>
      <p:sp>
        <p:nvSpPr>
          <p:cNvPr id="119" name="Shape 99"/>
          <p:cNvSpPr/>
          <p:nvPr/>
        </p:nvSpPr>
        <p:spPr>
          <a:xfrm>
            <a:off x="2496312" y="5321808"/>
            <a:ext cx="292608" cy="0"/>
          </a:xfrm>
          <a:prstGeom prst="line">
            <a:avLst/>
          </a:prstGeom>
          <a:noFill/>
          <a:ln w="19050">
            <a:solidFill>
              <a:srgbClr val="2A6EBB"/>
            </a:solidFill>
            <a:prstDash val="solid"/>
            <a:tailEnd type="triangle"/>
          </a:ln>
        </p:spPr>
      </p:sp>
      <p:sp>
        <p:nvSpPr>
          <p:cNvPr id="120" name="Shape 100"/>
          <p:cNvSpPr/>
          <p:nvPr/>
        </p:nvSpPr>
        <p:spPr>
          <a:xfrm>
            <a:off x="11841480" y="5321808"/>
            <a:ext cx="292608" cy="0"/>
          </a:xfrm>
          <a:prstGeom prst="line">
            <a:avLst/>
          </a:prstGeom>
          <a:noFill/>
          <a:ln w="19050">
            <a:solidFill>
              <a:srgbClr val="1F6FB5"/>
            </a:solidFill>
            <a:prstDash val="solid"/>
            <a:tailEnd type="triangle"/>
          </a:ln>
        </p:spPr>
      </p:sp>
      <p:sp>
        <p:nvSpPr>
          <p:cNvPr id="121" name="Shape 101"/>
          <p:cNvSpPr/>
          <p:nvPr/>
        </p:nvSpPr>
        <p:spPr>
          <a:xfrm>
            <a:off x="502920" y="6583680"/>
            <a:ext cx="3227832" cy="1417320"/>
          </a:xfrm>
          <a:prstGeom prst="roundRect">
            <a:avLst>
              <a:gd name="adj" fmla="val 5161"/>
            </a:avLst>
          </a:prstGeom>
          <a:solidFill>
            <a:srgbClr val="FFFFFF"/>
          </a:solidFill>
          <a:ln w="9525">
            <a:solidFill>
              <a:srgbClr val="C8D8EC"/>
            </a:solidFill>
            <a:prstDash val="solid"/>
          </a:ln>
        </p:spPr>
      </p:sp>
      <p:sp>
        <p:nvSpPr>
          <p:cNvPr id="122" name="Shape 102"/>
          <p:cNvSpPr/>
          <p:nvPr/>
        </p:nvSpPr>
        <p:spPr>
          <a:xfrm>
            <a:off x="667512" y="6766560"/>
            <a:ext cx="502920" cy="502920"/>
          </a:xfrm>
          <a:prstGeom prst="ellipse">
            <a:avLst/>
          </a:prstGeom>
          <a:solidFill>
            <a:srgbClr val="2A6EBB"/>
          </a:solidFill>
          <a:ln w="12700">
            <a:solidFill>
              <a:srgbClr val="2A6EBB"/>
            </a:solidFill>
            <a:prstDash val="solid"/>
          </a:ln>
        </p:spPr>
      </p:sp>
      <p:pic>
        <p:nvPicPr>
          <p:cNvPr id="123" name="Image 18" descr="preencoded.png">    </p:cNvPr>
          <p:cNvPicPr>
            <a:picLocks noChangeAspect="1"/>
          </p:cNvPicPr>
          <p:nvPr/>
        </p:nvPicPr>
        <p:blipFill>
          <a:blip r:embed="rId19"/>
          <a:stretch>
            <a:fillRect/>
          </a:stretch>
        </p:blipFill>
        <p:spPr>
          <a:xfrm>
            <a:off x="798271" y="6897319"/>
            <a:ext cx="241402" cy="241402"/>
          </a:xfrm>
          <a:prstGeom prst="rect">
            <a:avLst/>
          </a:prstGeom>
        </p:spPr>
      </p:pic>
      <p:sp>
        <p:nvSpPr>
          <p:cNvPr id="124" name="Text 103"/>
          <p:cNvSpPr txBox="1"/>
          <p:nvPr/>
        </p:nvSpPr>
        <p:spPr>
          <a:xfrm>
            <a:off x="1307592" y="6720840"/>
            <a:ext cx="2331720" cy="32004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What it does</a:t>
            </a:r>
            <a:endParaRPr lang="en-US" sz="1300" dirty="0"/>
          </a:p>
        </p:txBody>
      </p:sp>
      <p:sp>
        <p:nvSpPr>
          <p:cNvPr id="125" name="Text 104"/>
          <p:cNvSpPr txBox="1"/>
          <p:nvPr/>
        </p:nvSpPr>
        <p:spPr>
          <a:xfrm>
            <a:off x="1307592" y="7059168"/>
            <a:ext cx="2331720" cy="868680"/>
          </a:xfrm>
          <a:prstGeom prst="rect">
            <a:avLst/>
          </a:prstGeom>
          <a:noFill/>
          <a:ln/>
        </p:spPr>
        <p:txBody>
          <a:bodyPr wrap="square" lIns="0" tIns="0" rIns="0" bIns="0" rtlCol="0" anchor="t"/>
          <a:lstStyle/>
          <a:p>
            <a:pPr indent="0" marL="0">
              <a:buNone/>
            </a:pPr>
            <a:r>
              <a:rPr lang="en-US" sz="1050" dirty="0">
                <a:solidFill>
                  <a:srgbClr val="4A5A6E"/>
                </a:solidFill>
                <a:latin typeface="Calibri" pitchFamily="34" charset="0"/>
                <a:ea typeface="Calibri" pitchFamily="34" charset="-122"/>
                <a:cs typeface="Calibri" pitchFamily="34" charset="-120"/>
              </a:rPr>
              <a:t>Turns finance events and data into prepared analysis and recommendations</a:t>
            </a:r>
            <a:endParaRPr lang="en-US" sz="1050" dirty="0"/>
          </a:p>
        </p:txBody>
      </p:sp>
      <p:sp>
        <p:nvSpPr>
          <p:cNvPr id="126" name="Shape 105"/>
          <p:cNvSpPr/>
          <p:nvPr/>
        </p:nvSpPr>
        <p:spPr>
          <a:xfrm>
            <a:off x="3941064" y="6583680"/>
            <a:ext cx="3227832" cy="1417320"/>
          </a:xfrm>
          <a:prstGeom prst="roundRect">
            <a:avLst>
              <a:gd name="adj" fmla="val 5161"/>
            </a:avLst>
          </a:prstGeom>
          <a:solidFill>
            <a:srgbClr val="FFFFFF"/>
          </a:solidFill>
          <a:ln w="9525">
            <a:solidFill>
              <a:srgbClr val="C8D8EC"/>
            </a:solidFill>
            <a:prstDash val="solid"/>
          </a:ln>
        </p:spPr>
      </p:sp>
      <p:sp>
        <p:nvSpPr>
          <p:cNvPr id="127" name="Shape 106"/>
          <p:cNvSpPr/>
          <p:nvPr/>
        </p:nvSpPr>
        <p:spPr>
          <a:xfrm>
            <a:off x="4105656" y="6766560"/>
            <a:ext cx="502920" cy="502920"/>
          </a:xfrm>
          <a:prstGeom prst="ellipse">
            <a:avLst/>
          </a:prstGeom>
          <a:solidFill>
            <a:srgbClr val="1E8A5A"/>
          </a:solidFill>
          <a:ln w="12700">
            <a:solidFill>
              <a:srgbClr val="1E8A5A"/>
            </a:solidFill>
            <a:prstDash val="solid"/>
          </a:ln>
        </p:spPr>
      </p:sp>
      <p:pic>
        <p:nvPicPr>
          <p:cNvPr id="128" name="Image 19" descr="preencoded.png">    </p:cNvPr>
          <p:cNvPicPr>
            <a:picLocks noChangeAspect="1"/>
          </p:cNvPicPr>
          <p:nvPr/>
        </p:nvPicPr>
        <p:blipFill>
          <a:blip r:embed="rId20"/>
          <a:stretch>
            <a:fillRect/>
          </a:stretch>
        </p:blipFill>
        <p:spPr>
          <a:xfrm>
            <a:off x="4236415" y="6897319"/>
            <a:ext cx="241402" cy="241402"/>
          </a:xfrm>
          <a:prstGeom prst="rect">
            <a:avLst/>
          </a:prstGeom>
        </p:spPr>
      </p:pic>
      <p:sp>
        <p:nvSpPr>
          <p:cNvPr id="129" name="Text 107"/>
          <p:cNvSpPr txBox="1"/>
          <p:nvPr/>
        </p:nvSpPr>
        <p:spPr>
          <a:xfrm>
            <a:off x="4745736" y="6720840"/>
            <a:ext cx="2331720" cy="32004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How it connects systems</a:t>
            </a:r>
            <a:endParaRPr lang="en-US" sz="1300" dirty="0"/>
          </a:p>
        </p:txBody>
      </p:sp>
      <p:sp>
        <p:nvSpPr>
          <p:cNvPr id="130" name="Text 108"/>
          <p:cNvSpPr txBox="1"/>
          <p:nvPr/>
        </p:nvSpPr>
        <p:spPr>
          <a:xfrm>
            <a:off x="4745736" y="7059168"/>
            <a:ext cx="2331720" cy="868680"/>
          </a:xfrm>
          <a:prstGeom prst="rect">
            <a:avLst/>
          </a:prstGeom>
          <a:noFill/>
          <a:ln/>
        </p:spPr>
        <p:txBody>
          <a:bodyPr wrap="square" lIns="0" tIns="0" rIns="0" bIns="0" rtlCol="0" anchor="t"/>
          <a:lstStyle/>
          <a:p>
            <a:pPr indent="0" marL="0">
              <a:buNone/>
            </a:pPr>
            <a:r>
              <a:rPr lang="en-US" sz="1050" dirty="0">
                <a:solidFill>
                  <a:srgbClr val="4A5A6E"/>
                </a:solidFill>
                <a:latin typeface="Calibri" pitchFamily="34" charset="0"/>
                <a:ea typeface="Calibri" pitchFamily="34" charset="-122"/>
                <a:cs typeface="Calibri" pitchFamily="34" charset="-120"/>
              </a:rPr>
              <a:t>Events in, governed MCP tools out; no direct writes to any system</a:t>
            </a:r>
            <a:endParaRPr lang="en-US" sz="1050" dirty="0"/>
          </a:p>
        </p:txBody>
      </p:sp>
      <p:sp>
        <p:nvSpPr>
          <p:cNvPr id="131" name="Shape 109"/>
          <p:cNvSpPr/>
          <p:nvPr/>
        </p:nvSpPr>
        <p:spPr>
          <a:xfrm>
            <a:off x="7379208" y="6583680"/>
            <a:ext cx="3227832" cy="1417320"/>
          </a:xfrm>
          <a:prstGeom prst="roundRect">
            <a:avLst>
              <a:gd name="adj" fmla="val 5161"/>
            </a:avLst>
          </a:prstGeom>
          <a:solidFill>
            <a:srgbClr val="FFFFFF"/>
          </a:solidFill>
          <a:ln w="9525">
            <a:solidFill>
              <a:srgbClr val="C8D8EC"/>
            </a:solidFill>
            <a:prstDash val="solid"/>
          </a:ln>
        </p:spPr>
      </p:sp>
      <p:sp>
        <p:nvSpPr>
          <p:cNvPr id="132" name="Shape 110"/>
          <p:cNvSpPr/>
          <p:nvPr/>
        </p:nvSpPr>
        <p:spPr>
          <a:xfrm>
            <a:off x="7543800" y="6766560"/>
            <a:ext cx="502920" cy="502920"/>
          </a:xfrm>
          <a:prstGeom prst="ellipse">
            <a:avLst/>
          </a:prstGeom>
          <a:solidFill>
            <a:srgbClr val="5B4FA8"/>
          </a:solidFill>
          <a:ln w="12700">
            <a:solidFill>
              <a:srgbClr val="5B4FA8"/>
            </a:solidFill>
            <a:prstDash val="solid"/>
          </a:ln>
        </p:spPr>
      </p:sp>
      <p:pic>
        <p:nvPicPr>
          <p:cNvPr id="133" name="Image 20" descr="preencoded.png">    </p:cNvPr>
          <p:cNvPicPr>
            <a:picLocks noChangeAspect="1"/>
          </p:cNvPicPr>
          <p:nvPr/>
        </p:nvPicPr>
        <p:blipFill>
          <a:blip r:embed="rId21"/>
          <a:stretch>
            <a:fillRect/>
          </a:stretch>
        </p:blipFill>
        <p:spPr>
          <a:xfrm>
            <a:off x="7674559" y="6897319"/>
            <a:ext cx="241402" cy="241402"/>
          </a:xfrm>
          <a:prstGeom prst="rect">
            <a:avLst/>
          </a:prstGeom>
        </p:spPr>
      </p:pic>
      <p:sp>
        <p:nvSpPr>
          <p:cNvPr id="134" name="Text 111"/>
          <p:cNvSpPr txBox="1"/>
          <p:nvPr/>
        </p:nvSpPr>
        <p:spPr>
          <a:xfrm>
            <a:off x="8183880" y="6720840"/>
            <a:ext cx="2331720" cy="32004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How agents decide</a:t>
            </a:r>
            <a:endParaRPr lang="en-US" sz="1300" dirty="0"/>
          </a:p>
        </p:txBody>
      </p:sp>
      <p:sp>
        <p:nvSpPr>
          <p:cNvPr id="135" name="Text 112"/>
          <p:cNvSpPr txBox="1"/>
          <p:nvPr/>
        </p:nvSpPr>
        <p:spPr>
          <a:xfrm>
            <a:off x="8183880" y="7059168"/>
            <a:ext cx="2331720" cy="868680"/>
          </a:xfrm>
          <a:prstGeom prst="rect">
            <a:avLst/>
          </a:prstGeom>
          <a:noFill/>
          <a:ln/>
        </p:spPr>
        <p:txBody>
          <a:bodyPr wrap="square" lIns="0" tIns="0" rIns="0" bIns="0" rtlCol="0" anchor="t"/>
          <a:lstStyle/>
          <a:p>
            <a:pPr indent="0" marL="0">
              <a:buNone/>
            </a:pPr>
            <a:r>
              <a:rPr lang="en-US" sz="1050" dirty="0">
                <a:solidFill>
                  <a:srgbClr val="4A5A6E"/>
                </a:solidFill>
                <a:latin typeface="Calibri" pitchFamily="34" charset="0"/>
                <a:ea typeface="Calibri" pitchFamily="34" charset="-122"/>
                <a:cs typeface="Calibri" pitchFamily="34" charset="-120"/>
              </a:rPr>
              <a:t>Skills plus knowledge; numbers from existing engines; verdicts with confidence</a:t>
            </a:r>
            <a:endParaRPr lang="en-US" sz="1050" dirty="0"/>
          </a:p>
        </p:txBody>
      </p:sp>
      <p:sp>
        <p:nvSpPr>
          <p:cNvPr id="136" name="Shape 113"/>
          <p:cNvSpPr/>
          <p:nvPr/>
        </p:nvSpPr>
        <p:spPr>
          <a:xfrm>
            <a:off x="10817352" y="6583680"/>
            <a:ext cx="3227832" cy="1417320"/>
          </a:xfrm>
          <a:prstGeom prst="roundRect">
            <a:avLst>
              <a:gd name="adj" fmla="val 5161"/>
            </a:avLst>
          </a:prstGeom>
          <a:solidFill>
            <a:srgbClr val="FFFFFF"/>
          </a:solidFill>
          <a:ln w="9525">
            <a:solidFill>
              <a:srgbClr val="C8D8EC"/>
            </a:solidFill>
            <a:prstDash val="solid"/>
          </a:ln>
        </p:spPr>
      </p:sp>
      <p:sp>
        <p:nvSpPr>
          <p:cNvPr id="137" name="Shape 114"/>
          <p:cNvSpPr/>
          <p:nvPr/>
        </p:nvSpPr>
        <p:spPr>
          <a:xfrm>
            <a:off x="10981944" y="6766560"/>
            <a:ext cx="502920" cy="502920"/>
          </a:xfrm>
          <a:prstGeom prst="ellipse">
            <a:avLst/>
          </a:prstGeom>
          <a:solidFill>
            <a:srgbClr val="0B2E5E"/>
          </a:solidFill>
          <a:ln w="12700">
            <a:solidFill>
              <a:srgbClr val="0B2E5E"/>
            </a:solidFill>
            <a:prstDash val="solid"/>
          </a:ln>
        </p:spPr>
      </p:sp>
      <p:pic>
        <p:nvPicPr>
          <p:cNvPr id="138" name="Image 21" descr="preencoded.png">    </p:cNvPr>
          <p:cNvPicPr>
            <a:picLocks noChangeAspect="1"/>
          </p:cNvPicPr>
          <p:nvPr/>
        </p:nvPicPr>
        <p:blipFill>
          <a:blip r:embed="rId22"/>
          <a:stretch>
            <a:fillRect/>
          </a:stretch>
        </p:blipFill>
        <p:spPr>
          <a:xfrm>
            <a:off x="11112703" y="6897319"/>
            <a:ext cx="241402" cy="241402"/>
          </a:xfrm>
          <a:prstGeom prst="rect">
            <a:avLst/>
          </a:prstGeom>
        </p:spPr>
      </p:pic>
      <p:sp>
        <p:nvSpPr>
          <p:cNvPr id="139" name="Text 115"/>
          <p:cNvSpPr txBox="1"/>
          <p:nvPr/>
        </p:nvSpPr>
        <p:spPr>
          <a:xfrm>
            <a:off x="11622024" y="6720840"/>
            <a:ext cx="2331720" cy="32004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How it is observed</a:t>
            </a:r>
            <a:endParaRPr lang="en-US" sz="1300" dirty="0"/>
          </a:p>
        </p:txBody>
      </p:sp>
      <p:sp>
        <p:nvSpPr>
          <p:cNvPr id="140" name="Text 116"/>
          <p:cNvSpPr txBox="1"/>
          <p:nvPr/>
        </p:nvSpPr>
        <p:spPr>
          <a:xfrm>
            <a:off x="11622024" y="7059168"/>
            <a:ext cx="2331720" cy="868680"/>
          </a:xfrm>
          <a:prstGeom prst="rect">
            <a:avLst/>
          </a:prstGeom>
          <a:noFill/>
          <a:ln/>
        </p:spPr>
        <p:txBody>
          <a:bodyPr wrap="square" lIns="0" tIns="0" rIns="0" bIns="0" rtlCol="0" anchor="t"/>
          <a:lstStyle/>
          <a:p>
            <a:pPr indent="0" marL="0">
              <a:buNone/>
            </a:pPr>
            <a:r>
              <a:rPr lang="en-US" sz="1050" dirty="0">
                <a:solidFill>
                  <a:srgbClr val="4A5A6E"/>
                </a:solidFill>
                <a:latin typeface="Calibri" pitchFamily="34" charset="0"/>
                <a:ea typeface="Calibri" pitchFamily="34" charset="-122"/>
                <a:cs typeface="Calibri" pitchFamily="34" charset="-120"/>
              </a:rPr>
              <a:t>Every step traced in Phoenix, evaluated, and audited</a:t>
            </a:r>
            <a:endParaRPr lang="en-US" sz="1050" dirty="0"/>
          </a:p>
        </p:txBody>
      </p:sp>
      <p:sp>
        <p:nvSpPr>
          <p:cNvPr id="141" name="Shape 117"/>
          <p:cNvSpPr/>
          <p:nvPr/>
        </p:nvSpPr>
        <p:spPr>
          <a:xfrm>
            <a:off x="502920" y="8229600"/>
            <a:ext cx="13624560" cy="822960"/>
          </a:xfrm>
          <a:prstGeom prst="roundRect">
            <a:avLst>
              <a:gd name="adj" fmla="val 8889"/>
            </a:avLst>
          </a:prstGeom>
          <a:solidFill>
            <a:srgbClr val="0B2E5E"/>
          </a:solidFill>
          <a:ln w="12700">
            <a:solidFill>
              <a:srgbClr val="0B2E5E"/>
            </a:solidFill>
            <a:prstDash val="solid"/>
          </a:ln>
        </p:spPr>
      </p:sp>
      <p:sp>
        <p:nvSpPr>
          <p:cNvPr id="142" name="Text 118"/>
          <p:cNvSpPr txBox="1"/>
          <p:nvPr/>
        </p:nvSpPr>
        <p:spPr>
          <a:xfrm>
            <a:off x="777240" y="8229600"/>
            <a:ext cx="1307592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Designed as a reusable engine for multiple Finance workflows, not built for a single use case</a:t>
            </a:r>
            <a:endParaRPr lang="en-US" sz="1500" dirty="0"/>
          </a:p>
        </p:txBody>
      </p:sp>
      <p:sp>
        <p:nvSpPr>
          <p:cNvPr id="143" name="Shape 119"/>
          <p:cNvSpPr/>
          <p:nvPr/>
        </p:nvSpPr>
        <p:spPr>
          <a:xfrm>
            <a:off x="0" y="9272016"/>
            <a:ext cx="14630400" cy="484632"/>
          </a:xfrm>
          <a:prstGeom prst="rect">
            <a:avLst/>
          </a:prstGeom>
          <a:solidFill>
            <a:srgbClr val="0B2E5E"/>
          </a:solidFill>
          <a:ln w="12700">
            <a:solidFill>
              <a:srgbClr val="0B2E5E"/>
            </a:solidFill>
            <a:prstDash val="solid"/>
          </a:ln>
        </p:spPr>
      </p:sp>
      <p:sp>
        <p:nvSpPr>
          <p:cNvPr id="144" name="Text 120"/>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One Finance Agentic Engine</a:t>
            </a:r>
            <a:pPr algn="ctr" indent="0" marL="0">
              <a:buNone/>
            </a:pPr>
            <a:r>
              <a:rPr lang="en-US" sz="1100" dirty="0">
                <a:solidFill>
                  <a:srgbClr val="FFFFFF"/>
                </a:solidFill>
                <a:latin typeface="Calibri" pitchFamily="34" charset="0"/>
                <a:ea typeface="Calibri" pitchFamily="34" charset="-122"/>
                <a:cs typeface="Calibri" pitchFamily="34" charset="-120"/>
              </a:rPr>
              <a:t>   |   Orchestration. AI Reasoning. AI Observability.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61B"/>
        </a:solidFill>
      </p:bgPr>
    </p:bg>
    <p:spTree>
      <p:nvGrpSpPr>
        <p:cNvPr id="1" name=""/>
        <p:cNvGrpSpPr/>
        <p:nvPr/>
      </p:nvGrpSpPr>
      <p:grpSpPr>
        <a:xfrm>
          <a:off x="0" y="0"/>
          <a:ext cx="0" cy="0"/>
          <a:chOff x="0" y="0"/>
          <a:chExt cx="0" cy="0"/>
        </a:xfrm>
      </p:grpSpPr>
      <p:sp>
        <p:nvSpPr>
          <p:cNvPr id="2" name="Text 0"/>
          <p:cNvSpPr/>
          <p:nvPr/>
        </p:nvSpPr>
        <p:spPr>
          <a:xfrm>
            <a:off x="548640" y="365760"/>
            <a:ext cx="13533120" cy="640080"/>
          </a:xfrm>
          <a:prstGeom prst="rect">
            <a:avLst/>
          </a:prstGeom>
          <a:noFill/>
          <a:ln/>
        </p:spPr>
        <p:txBody>
          <a:bodyPr wrap="square" lIns="0" tIns="0" rIns="0" bIns="0" rtlCol="0" anchor="ctr"/>
          <a:lstStyle/>
          <a:p>
            <a:pPr indent="0" marL="0">
              <a:buNone/>
            </a:pPr>
            <a:r>
              <a:rPr lang="en-US" sz="3200" b="1" dirty="0">
                <a:solidFill>
                  <a:srgbClr val="F2F4F6"/>
                </a:solidFill>
                <a:latin typeface="Arial" pitchFamily="34" charset="0"/>
                <a:ea typeface="Arial" pitchFamily="34" charset="-122"/>
                <a:cs typeface="Arial" pitchFamily="34" charset="-120"/>
              </a:rPr>
              <a:t>The whole picture</a:t>
            </a:r>
            <a:endParaRPr lang="en-US" sz="3200" dirty="0"/>
          </a:p>
        </p:txBody>
      </p:sp>
      <p:sp>
        <p:nvSpPr>
          <p:cNvPr id="3" name="Text 1"/>
          <p:cNvSpPr/>
          <p:nvPr/>
        </p:nvSpPr>
        <p:spPr>
          <a:xfrm>
            <a:off x="548640" y="1024128"/>
            <a:ext cx="13350240" cy="822960"/>
          </a:xfrm>
          <a:prstGeom prst="rect">
            <a:avLst/>
          </a:prstGeom>
          <a:noFill/>
          <a:ln/>
        </p:spPr>
        <p:txBody>
          <a:bodyPr wrap="square" lIns="0" tIns="0" rIns="0" bIns="0" rtlCol="0" anchor="t"/>
          <a:lstStyle/>
          <a:p>
            <a:pPr indent="0" marL="0">
              <a:buNone/>
            </a:pPr>
            <a:r>
              <a:rPr lang="en-US" sz="1700" dirty="0">
                <a:solidFill>
                  <a:srgbClr val="9AA5AF"/>
                </a:solidFill>
                <a:latin typeface="Georgia" pitchFamily="34" charset="0"/>
                <a:ea typeface="Georgia" pitchFamily="34" charset="-122"/>
                <a:cs typeface="Georgia" pitchFamily="34" charset="-120"/>
              </a:rPr>
              <a:t>Every serious AI system is a stack of parts with different jobs. Most confusion comes from expecting one part to do another part's job.</a:t>
            </a:r>
            <a:endParaRPr lang="en-US" sz="1700" dirty="0"/>
          </a:p>
        </p:txBody>
      </p:sp>
      <p:sp>
        <p:nvSpPr>
          <p:cNvPr id="4" name="Text 2"/>
          <p:cNvSpPr/>
          <p:nvPr/>
        </p:nvSpPr>
        <p:spPr>
          <a:xfrm>
            <a:off x="777240" y="2011680"/>
            <a:ext cx="3200400" cy="274320"/>
          </a:xfrm>
          <a:prstGeom prst="rect">
            <a:avLst/>
          </a:prstGeom>
          <a:noFill/>
          <a:ln/>
        </p:spPr>
        <p:txBody>
          <a:bodyPr wrap="square" lIns="0" tIns="0" rIns="0" bIns="0" rtlCol="0" anchor="ctr"/>
          <a:lstStyle/>
          <a:p>
            <a:pPr indent="0" marL="0">
              <a:buNone/>
            </a:pPr>
            <a:r>
              <a:rPr lang="en-US" sz="1050" spc="200" kern="0" dirty="0">
                <a:solidFill>
                  <a:srgbClr val="9AA5AF"/>
                </a:solidFill>
                <a:latin typeface="Consolas" pitchFamily="34" charset="0"/>
                <a:ea typeface="Consolas" pitchFamily="34" charset="-122"/>
                <a:cs typeface="Consolas" pitchFamily="34" charset="-120"/>
              </a:rPr>
              <a:t>PART</a:t>
            </a:r>
            <a:endParaRPr lang="en-US" sz="1050" dirty="0"/>
          </a:p>
        </p:txBody>
      </p:sp>
      <p:sp>
        <p:nvSpPr>
          <p:cNvPr id="5" name="Text 3"/>
          <p:cNvSpPr/>
          <p:nvPr/>
        </p:nvSpPr>
        <p:spPr>
          <a:xfrm>
            <a:off x="4617720" y="2011680"/>
            <a:ext cx="3200400" cy="274320"/>
          </a:xfrm>
          <a:prstGeom prst="rect">
            <a:avLst/>
          </a:prstGeom>
          <a:noFill/>
          <a:ln/>
        </p:spPr>
        <p:txBody>
          <a:bodyPr wrap="square" lIns="0" tIns="0" rIns="0" bIns="0" rtlCol="0" anchor="ctr"/>
          <a:lstStyle/>
          <a:p>
            <a:pPr indent="0" marL="0">
              <a:buNone/>
            </a:pPr>
            <a:r>
              <a:rPr lang="en-US" sz="1050" spc="200" kern="0" dirty="0">
                <a:solidFill>
                  <a:srgbClr val="9AA5AF"/>
                </a:solidFill>
                <a:latin typeface="Consolas" pitchFamily="34" charset="0"/>
                <a:ea typeface="Consolas" pitchFamily="34" charset="-122"/>
                <a:cs typeface="Consolas" pitchFamily="34" charset="-120"/>
              </a:rPr>
              <a:t>ITS JOB</a:t>
            </a:r>
            <a:endParaRPr lang="en-US" sz="1050" dirty="0"/>
          </a:p>
        </p:txBody>
      </p:sp>
      <p:sp>
        <p:nvSpPr>
          <p:cNvPr id="6" name="Text 4"/>
          <p:cNvSpPr/>
          <p:nvPr/>
        </p:nvSpPr>
        <p:spPr>
          <a:xfrm>
            <a:off x="10012680" y="2011680"/>
            <a:ext cx="3200400" cy="274320"/>
          </a:xfrm>
          <a:prstGeom prst="rect">
            <a:avLst/>
          </a:prstGeom>
          <a:noFill/>
          <a:ln/>
        </p:spPr>
        <p:txBody>
          <a:bodyPr wrap="square" lIns="0" tIns="0" rIns="0" bIns="0" rtlCol="0" anchor="ctr"/>
          <a:lstStyle/>
          <a:p>
            <a:pPr indent="0" marL="0">
              <a:buNone/>
            </a:pPr>
            <a:r>
              <a:rPr lang="en-US" sz="1050" spc="200" kern="0" dirty="0">
                <a:solidFill>
                  <a:srgbClr val="9AA5AF"/>
                </a:solidFill>
                <a:latin typeface="Consolas" pitchFamily="34" charset="0"/>
                <a:ea typeface="Consolas" pitchFamily="34" charset="-122"/>
                <a:cs typeface="Consolas" pitchFamily="34" charset="-120"/>
              </a:rPr>
              <a:t>OFFICE ANALOGY</a:t>
            </a:r>
            <a:endParaRPr lang="en-US" sz="1050" dirty="0"/>
          </a:p>
        </p:txBody>
      </p:sp>
      <p:sp>
        <p:nvSpPr>
          <p:cNvPr id="7" name="Shape 5"/>
          <p:cNvSpPr/>
          <p:nvPr/>
        </p:nvSpPr>
        <p:spPr>
          <a:xfrm>
            <a:off x="411480" y="4572000"/>
            <a:ext cx="13807440" cy="4846320"/>
          </a:xfrm>
          <a:prstGeom prst="roundRect">
            <a:avLst>
              <a:gd name="adj" fmla="val 1509"/>
            </a:avLst>
          </a:prstGeom>
          <a:solidFill>
            <a:srgbClr val="3CC6C6">
              <a:alpha val="6000"/>
            </a:srgbClr>
          </a:solidFill>
          <a:ln w="15875">
            <a:solidFill>
              <a:srgbClr val="3CC6C6"/>
            </a:solidFill>
            <a:prstDash val="dash"/>
          </a:ln>
        </p:spPr>
      </p:sp>
      <p:sp>
        <p:nvSpPr>
          <p:cNvPr id="8" name="Shape 6"/>
          <p:cNvSpPr/>
          <p:nvPr/>
        </p:nvSpPr>
        <p:spPr>
          <a:xfrm>
            <a:off x="685800" y="4425696"/>
            <a:ext cx="3566160" cy="310896"/>
          </a:xfrm>
          <a:prstGeom prst="roundRect">
            <a:avLst>
              <a:gd name="adj" fmla="val 50000"/>
            </a:avLst>
          </a:prstGeom>
          <a:solidFill>
            <a:srgbClr val="3CC6C6"/>
          </a:solidFill>
          <a:ln w="12700">
            <a:solidFill>
              <a:srgbClr val="3CC6C6"/>
            </a:solidFill>
            <a:prstDash val="solid"/>
          </a:ln>
        </p:spPr>
      </p:sp>
      <p:sp>
        <p:nvSpPr>
          <p:cNvPr id="9" name="Text 7"/>
          <p:cNvSpPr/>
          <p:nvPr/>
        </p:nvSpPr>
        <p:spPr>
          <a:xfrm>
            <a:off x="685800" y="4425696"/>
            <a:ext cx="3566160" cy="310896"/>
          </a:xfrm>
          <a:prstGeom prst="rect">
            <a:avLst/>
          </a:prstGeom>
          <a:noFill/>
          <a:ln/>
        </p:spPr>
        <p:txBody>
          <a:bodyPr wrap="square" lIns="0" tIns="0" rIns="0" bIns="0" rtlCol="0" anchor="ctr"/>
          <a:lstStyle/>
          <a:p>
            <a:pPr algn="ctr" indent="0" marL="0">
              <a:buNone/>
            </a:pPr>
            <a:r>
              <a:rPr lang="en-US" sz="1100" b="1" spc="200" kern="0" dirty="0">
                <a:solidFill>
                  <a:srgbClr val="11161B"/>
                </a:solidFill>
                <a:latin typeface="Consolas" pitchFamily="34" charset="0"/>
                <a:ea typeface="Consolas" pitchFamily="34" charset="-122"/>
                <a:cs typeface="Consolas" pitchFamily="34" charset="-120"/>
              </a:rPr>
              <a:t>THE AGENTIC ENGINE</a:t>
            </a:r>
            <a:endParaRPr lang="en-US" sz="1100" dirty="0"/>
          </a:p>
        </p:txBody>
      </p:sp>
      <p:sp>
        <p:nvSpPr>
          <p:cNvPr id="10" name="Text 8"/>
          <p:cNvSpPr/>
          <p:nvPr/>
        </p:nvSpPr>
        <p:spPr>
          <a:xfrm>
            <a:off x="8595360" y="4608576"/>
            <a:ext cx="5440680" cy="256032"/>
          </a:xfrm>
          <a:prstGeom prst="rect">
            <a:avLst/>
          </a:prstGeom>
          <a:noFill/>
          <a:ln/>
        </p:spPr>
        <p:txBody>
          <a:bodyPr wrap="square" lIns="0" tIns="0" rIns="0" bIns="0" rtlCol="0" anchor="ctr"/>
          <a:lstStyle/>
          <a:p>
            <a:pPr algn="r" indent="0" marL="0">
              <a:buNone/>
            </a:pPr>
            <a:r>
              <a:rPr lang="en-US" sz="1200" i="1" dirty="0">
                <a:solidFill>
                  <a:srgbClr val="3CC6C6"/>
                </a:solidFill>
                <a:latin typeface="Georgia" pitchFamily="34" charset="0"/>
                <a:ea typeface="Georgia" pitchFamily="34" charset="-122"/>
                <a:cs typeface="Georgia" pitchFamily="34" charset="-120"/>
              </a:rPr>
              <a:t>What we have built and proven with Helix</a:t>
            </a:r>
            <a:endParaRPr lang="en-US" sz="1200" dirty="0"/>
          </a:p>
        </p:txBody>
      </p:sp>
      <p:sp>
        <p:nvSpPr>
          <p:cNvPr id="11" name="Shape 9"/>
          <p:cNvSpPr/>
          <p:nvPr/>
        </p:nvSpPr>
        <p:spPr>
          <a:xfrm>
            <a:off x="548640" y="2377440"/>
            <a:ext cx="13533120" cy="896112"/>
          </a:xfrm>
          <a:prstGeom prst="roundRect">
            <a:avLst>
              <a:gd name="adj" fmla="val 8163"/>
            </a:avLst>
          </a:prstGeom>
          <a:solidFill>
            <a:srgbClr val="171E24"/>
          </a:solidFill>
          <a:ln w="9525">
            <a:solidFill>
              <a:srgbClr val="2A333B"/>
            </a:solidFill>
            <a:prstDash val="solid"/>
          </a:ln>
        </p:spPr>
      </p:sp>
      <p:sp>
        <p:nvSpPr>
          <p:cNvPr id="12" name="Text 10"/>
          <p:cNvSpPr/>
          <p:nvPr/>
        </p:nvSpPr>
        <p:spPr>
          <a:xfrm>
            <a:off x="777240" y="2505456"/>
            <a:ext cx="3566160" cy="384048"/>
          </a:xfrm>
          <a:prstGeom prst="rect">
            <a:avLst/>
          </a:prstGeom>
          <a:noFill/>
          <a:ln/>
        </p:spPr>
        <p:txBody>
          <a:bodyPr wrap="square" lIns="0" tIns="0" rIns="0" bIns="0" rtlCol="0" anchor="ctr"/>
          <a:lstStyle/>
          <a:p>
            <a:pPr indent="0" marL="0">
              <a:buNone/>
            </a:pPr>
            <a:r>
              <a:rPr lang="en-US" sz="1700" b="1" dirty="0">
                <a:solidFill>
                  <a:srgbClr val="F2F4F6"/>
                </a:solidFill>
                <a:latin typeface="Arial" pitchFamily="34" charset="0"/>
                <a:ea typeface="Arial" pitchFamily="34" charset="-122"/>
                <a:cs typeface="Arial" pitchFamily="34" charset="-120"/>
              </a:rPr>
              <a:t>People</a:t>
            </a:r>
            <a:endParaRPr lang="en-US" sz="1700" dirty="0"/>
          </a:p>
        </p:txBody>
      </p:sp>
      <p:sp>
        <p:nvSpPr>
          <p:cNvPr id="13" name="Text 11"/>
          <p:cNvSpPr/>
          <p:nvPr/>
        </p:nvSpPr>
        <p:spPr>
          <a:xfrm>
            <a:off x="777240" y="2889504"/>
            <a:ext cx="3566160" cy="292608"/>
          </a:xfrm>
          <a:prstGeom prst="rect">
            <a:avLst/>
          </a:prstGeom>
          <a:noFill/>
          <a:ln/>
        </p:spPr>
        <p:txBody>
          <a:bodyPr wrap="square" lIns="0" tIns="0" rIns="0" bIns="0" rtlCol="0" anchor="ctr"/>
          <a:lstStyle/>
          <a:p>
            <a:pPr indent="0" marL="0">
              <a:buNone/>
            </a:pPr>
            <a:r>
              <a:rPr lang="en-US" sz="1200" dirty="0">
                <a:solidFill>
                  <a:srgbClr val="3CC6C6"/>
                </a:solidFill>
                <a:latin typeface="Arial" pitchFamily="34" charset="0"/>
                <a:ea typeface="Arial" pitchFamily="34" charset="-122"/>
                <a:cs typeface="Arial" pitchFamily="34" charset="-120"/>
              </a:rPr>
              <a:t>human in the loop</a:t>
            </a:r>
            <a:endParaRPr lang="en-US" sz="1200" dirty="0"/>
          </a:p>
        </p:txBody>
      </p:sp>
      <p:sp>
        <p:nvSpPr>
          <p:cNvPr id="14" name="Text 12"/>
          <p:cNvSpPr/>
          <p:nvPr/>
        </p:nvSpPr>
        <p:spPr>
          <a:xfrm>
            <a:off x="4617720" y="2377440"/>
            <a:ext cx="5120640" cy="896112"/>
          </a:xfrm>
          <a:prstGeom prst="rect">
            <a:avLst/>
          </a:prstGeom>
          <a:noFill/>
          <a:ln/>
        </p:spPr>
        <p:txBody>
          <a:bodyPr wrap="square" lIns="0" tIns="0" rIns="0" bIns="0" rtlCol="0" anchor="ctr"/>
          <a:lstStyle/>
          <a:p>
            <a:pPr indent="0" marL="0">
              <a:buNone/>
            </a:pPr>
            <a:r>
              <a:rPr lang="en-US" sz="1500" dirty="0">
                <a:solidFill>
                  <a:srgbClr val="F2F4F6"/>
                </a:solidFill>
                <a:latin typeface="Georgia" pitchFamily="34" charset="0"/>
                <a:ea typeface="Georgia" pitchFamily="34" charset="-122"/>
                <a:cs typeface="Georgia" pitchFamily="34" charset="-120"/>
              </a:rPr>
              <a:t>Approve, reject, answer questions, own the outcome.</a:t>
            </a:r>
            <a:endParaRPr lang="en-US" sz="1500" dirty="0"/>
          </a:p>
        </p:txBody>
      </p:sp>
      <p:sp>
        <p:nvSpPr>
          <p:cNvPr id="15" name="Text 13"/>
          <p:cNvSpPr/>
          <p:nvPr/>
        </p:nvSpPr>
        <p:spPr>
          <a:xfrm>
            <a:off x="10012680" y="2377440"/>
            <a:ext cx="3886200" cy="896112"/>
          </a:xfrm>
          <a:prstGeom prst="rect">
            <a:avLst/>
          </a:prstGeom>
          <a:noFill/>
          <a:ln/>
        </p:spPr>
        <p:txBody>
          <a:bodyPr wrap="square" lIns="0" tIns="0" rIns="0" bIns="0" rtlCol="0" anchor="ctr"/>
          <a:lstStyle/>
          <a:p>
            <a:pPr indent="0" marL="0">
              <a:buNone/>
            </a:pPr>
            <a:r>
              <a:rPr lang="en-US" sz="1400" i="1" dirty="0">
                <a:solidFill>
                  <a:srgbClr val="9AA5AF"/>
                </a:solidFill>
                <a:latin typeface="Georgia" pitchFamily="34" charset="0"/>
                <a:ea typeface="Georgia" pitchFamily="34" charset="-122"/>
                <a:cs typeface="Georgia" pitchFamily="34" charset="-120"/>
              </a:rPr>
              <a:t>The manager who signs off</a:t>
            </a:r>
            <a:endParaRPr lang="en-US" sz="1400" dirty="0"/>
          </a:p>
        </p:txBody>
      </p:sp>
      <p:sp>
        <p:nvSpPr>
          <p:cNvPr id="16" name="Shape 14"/>
          <p:cNvSpPr/>
          <p:nvPr/>
        </p:nvSpPr>
        <p:spPr>
          <a:xfrm>
            <a:off x="548640" y="3401568"/>
            <a:ext cx="13533120" cy="896112"/>
          </a:xfrm>
          <a:prstGeom prst="roundRect">
            <a:avLst>
              <a:gd name="adj" fmla="val 8163"/>
            </a:avLst>
          </a:prstGeom>
          <a:solidFill>
            <a:srgbClr val="171E24"/>
          </a:solidFill>
          <a:ln w="9525">
            <a:solidFill>
              <a:srgbClr val="2A333B"/>
            </a:solidFill>
            <a:prstDash val="solid"/>
          </a:ln>
        </p:spPr>
      </p:sp>
      <p:sp>
        <p:nvSpPr>
          <p:cNvPr id="17" name="Text 15"/>
          <p:cNvSpPr/>
          <p:nvPr/>
        </p:nvSpPr>
        <p:spPr>
          <a:xfrm>
            <a:off x="777240" y="3529584"/>
            <a:ext cx="3566160" cy="384048"/>
          </a:xfrm>
          <a:prstGeom prst="rect">
            <a:avLst/>
          </a:prstGeom>
          <a:noFill/>
          <a:ln/>
        </p:spPr>
        <p:txBody>
          <a:bodyPr wrap="square" lIns="0" tIns="0" rIns="0" bIns="0" rtlCol="0" anchor="ctr"/>
          <a:lstStyle/>
          <a:p>
            <a:pPr indent="0" marL="0">
              <a:buNone/>
            </a:pPr>
            <a:r>
              <a:rPr lang="en-US" sz="1700" b="1" dirty="0">
                <a:solidFill>
                  <a:srgbClr val="F2F4F6"/>
                </a:solidFill>
                <a:latin typeface="Arial" pitchFamily="34" charset="0"/>
                <a:ea typeface="Arial" pitchFamily="34" charset="-122"/>
                <a:cs typeface="Arial" pitchFamily="34" charset="-120"/>
              </a:rPr>
              <a:t>Interface</a:t>
            </a:r>
            <a:endParaRPr lang="en-US" sz="1700" dirty="0"/>
          </a:p>
        </p:txBody>
      </p:sp>
      <p:sp>
        <p:nvSpPr>
          <p:cNvPr id="18" name="Text 16"/>
          <p:cNvSpPr/>
          <p:nvPr/>
        </p:nvSpPr>
        <p:spPr>
          <a:xfrm>
            <a:off x="777240" y="3913632"/>
            <a:ext cx="3566160" cy="292608"/>
          </a:xfrm>
          <a:prstGeom prst="rect">
            <a:avLst/>
          </a:prstGeom>
          <a:noFill/>
          <a:ln/>
        </p:spPr>
        <p:txBody>
          <a:bodyPr wrap="square" lIns="0" tIns="0" rIns="0" bIns="0" rtlCol="0" anchor="ctr"/>
          <a:lstStyle/>
          <a:p>
            <a:pPr indent="0" marL="0">
              <a:buNone/>
            </a:pPr>
            <a:r>
              <a:rPr lang="en-US" sz="1200" dirty="0">
                <a:solidFill>
                  <a:srgbClr val="3CC6C6"/>
                </a:solidFill>
                <a:latin typeface="Arial" pitchFamily="34" charset="0"/>
                <a:ea typeface="Arial" pitchFamily="34" charset="-122"/>
                <a:cs typeface="Arial" pitchFamily="34" charset="-120"/>
              </a:rPr>
              <a:t>UI, chat, API</a:t>
            </a:r>
            <a:endParaRPr lang="en-US" sz="1200" dirty="0"/>
          </a:p>
        </p:txBody>
      </p:sp>
      <p:sp>
        <p:nvSpPr>
          <p:cNvPr id="19" name="Text 17"/>
          <p:cNvSpPr/>
          <p:nvPr/>
        </p:nvSpPr>
        <p:spPr>
          <a:xfrm>
            <a:off x="4617720" y="3401568"/>
            <a:ext cx="5120640" cy="896112"/>
          </a:xfrm>
          <a:prstGeom prst="rect">
            <a:avLst/>
          </a:prstGeom>
          <a:noFill/>
          <a:ln/>
        </p:spPr>
        <p:txBody>
          <a:bodyPr wrap="square" lIns="0" tIns="0" rIns="0" bIns="0" rtlCol="0" anchor="ctr"/>
          <a:lstStyle/>
          <a:p>
            <a:pPr indent="0" marL="0">
              <a:buNone/>
            </a:pPr>
            <a:r>
              <a:rPr lang="en-US" sz="1500" dirty="0">
                <a:solidFill>
                  <a:srgbClr val="F2F4F6"/>
                </a:solidFill>
                <a:latin typeface="Georgia" pitchFamily="34" charset="0"/>
                <a:ea typeface="Georgia" pitchFamily="34" charset="-122"/>
                <a:cs typeface="Georgia" pitchFamily="34" charset="-120"/>
              </a:rPr>
              <a:t>Show the work and its evidence; collect decisions.</a:t>
            </a:r>
            <a:endParaRPr lang="en-US" sz="1500" dirty="0"/>
          </a:p>
        </p:txBody>
      </p:sp>
      <p:sp>
        <p:nvSpPr>
          <p:cNvPr id="20" name="Text 18"/>
          <p:cNvSpPr/>
          <p:nvPr/>
        </p:nvSpPr>
        <p:spPr>
          <a:xfrm>
            <a:off x="10012680" y="3401568"/>
            <a:ext cx="3886200" cy="896112"/>
          </a:xfrm>
          <a:prstGeom prst="rect">
            <a:avLst/>
          </a:prstGeom>
          <a:noFill/>
          <a:ln/>
        </p:spPr>
        <p:txBody>
          <a:bodyPr wrap="square" lIns="0" tIns="0" rIns="0" bIns="0" rtlCol="0" anchor="ctr"/>
          <a:lstStyle/>
          <a:p>
            <a:pPr indent="0" marL="0">
              <a:buNone/>
            </a:pPr>
            <a:r>
              <a:rPr lang="en-US" sz="1400" i="1" dirty="0">
                <a:solidFill>
                  <a:srgbClr val="9AA5AF"/>
                </a:solidFill>
                <a:latin typeface="Georgia" pitchFamily="34" charset="0"/>
                <a:ea typeface="Georgia" pitchFamily="34" charset="-122"/>
                <a:cs typeface="Georgia" pitchFamily="34" charset="-120"/>
              </a:rPr>
              <a:t>The desk and the in-tray</a:t>
            </a:r>
            <a:endParaRPr lang="en-US" sz="1400" dirty="0"/>
          </a:p>
        </p:txBody>
      </p:sp>
      <p:sp>
        <p:nvSpPr>
          <p:cNvPr id="21" name="Shape 19"/>
          <p:cNvSpPr/>
          <p:nvPr/>
        </p:nvSpPr>
        <p:spPr>
          <a:xfrm>
            <a:off x="548640" y="4892040"/>
            <a:ext cx="13533120" cy="960120"/>
          </a:xfrm>
          <a:prstGeom prst="roundRect">
            <a:avLst>
              <a:gd name="adj" fmla="val 7619"/>
            </a:avLst>
          </a:prstGeom>
          <a:solidFill>
            <a:srgbClr val="171E24"/>
          </a:solidFill>
          <a:ln w="15875">
            <a:solidFill>
              <a:srgbClr val="3CC6C6"/>
            </a:solidFill>
            <a:prstDash val="solid"/>
          </a:ln>
        </p:spPr>
      </p:sp>
      <p:sp>
        <p:nvSpPr>
          <p:cNvPr id="22" name="Shape 20"/>
          <p:cNvSpPr/>
          <p:nvPr/>
        </p:nvSpPr>
        <p:spPr>
          <a:xfrm>
            <a:off x="548640" y="4928616"/>
            <a:ext cx="64008" cy="886968"/>
          </a:xfrm>
          <a:prstGeom prst="rect">
            <a:avLst/>
          </a:prstGeom>
          <a:solidFill>
            <a:srgbClr val="3CC6C6"/>
          </a:solidFill>
          <a:ln w="12700">
            <a:solidFill>
              <a:srgbClr val="3CC6C6"/>
            </a:solidFill>
            <a:prstDash val="solid"/>
          </a:ln>
        </p:spPr>
      </p:sp>
      <p:sp>
        <p:nvSpPr>
          <p:cNvPr id="23" name="Text 21"/>
          <p:cNvSpPr/>
          <p:nvPr/>
        </p:nvSpPr>
        <p:spPr>
          <a:xfrm>
            <a:off x="777240" y="5020056"/>
            <a:ext cx="3566160" cy="384048"/>
          </a:xfrm>
          <a:prstGeom prst="rect">
            <a:avLst/>
          </a:prstGeom>
          <a:noFill/>
          <a:ln/>
        </p:spPr>
        <p:txBody>
          <a:bodyPr wrap="square" lIns="0" tIns="0" rIns="0" bIns="0" rtlCol="0" anchor="ctr"/>
          <a:lstStyle/>
          <a:p>
            <a:pPr indent="0" marL="0">
              <a:buNone/>
            </a:pPr>
            <a:r>
              <a:rPr lang="en-US" sz="1700" b="1" dirty="0">
                <a:solidFill>
                  <a:srgbClr val="F2F4F6"/>
                </a:solidFill>
                <a:latin typeface="Arial" pitchFamily="34" charset="0"/>
                <a:ea typeface="Arial" pitchFamily="34" charset="-122"/>
                <a:cs typeface="Arial" pitchFamily="34" charset="-120"/>
              </a:rPr>
              <a:t>Orchestrator</a:t>
            </a:r>
            <a:endParaRPr lang="en-US" sz="1700" dirty="0"/>
          </a:p>
        </p:txBody>
      </p:sp>
      <p:sp>
        <p:nvSpPr>
          <p:cNvPr id="24" name="Text 22"/>
          <p:cNvSpPr/>
          <p:nvPr/>
        </p:nvSpPr>
        <p:spPr>
          <a:xfrm>
            <a:off x="777240" y="5404104"/>
            <a:ext cx="3566160" cy="292608"/>
          </a:xfrm>
          <a:prstGeom prst="rect">
            <a:avLst/>
          </a:prstGeom>
          <a:noFill/>
          <a:ln/>
        </p:spPr>
        <p:txBody>
          <a:bodyPr wrap="square" lIns="0" tIns="0" rIns="0" bIns="0" rtlCol="0" anchor="ctr"/>
          <a:lstStyle/>
          <a:p>
            <a:pPr indent="0" marL="0">
              <a:buNone/>
            </a:pPr>
            <a:r>
              <a:rPr lang="en-US" sz="1200" dirty="0">
                <a:solidFill>
                  <a:srgbClr val="3CC6C6"/>
                </a:solidFill>
                <a:latin typeface="Arial" pitchFamily="34" charset="0"/>
                <a:ea typeface="Arial" pitchFamily="34" charset="-122"/>
                <a:cs typeface="Arial" pitchFamily="34" charset="-120"/>
              </a:rPr>
              <a:t>e.g. LangGraph</a:t>
            </a:r>
            <a:endParaRPr lang="en-US" sz="1200" dirty="0"/>
          </a:p>
        </p:txBody>
      </p:sp>
      <p:sp>
        <p:nvSpPr>
          <p:cNvPr id="25" name="Text 23"/>
          <p:cNvSpPr/>
          <p:nvPr/>
        </p:nvSpPr>
        <p:spPr>
          <a:xfrm>
            <a:off x="4617720" y="4892040"/>
            <a:ext cx="5120640" cy="960120"/>
          </a:xfrm>
          <a:prstGeom prst="rect">
            <a:avLst/>
          </a:prstGeom>
          <a:noFill/>
          <a:ln/>
        </p:spPr>
        <p:txBody>
          <a:bodyPr wrap="square" lIns="0" tIns="0" rIns="0" bIns="0" rtlCol="0" anchor="ctr"/>
          <a:lstStyle/>
          <a:p>
            <a:pPr indent="0" marL="0">
              <a:buNone/>
            </a:pPr>
            <a:r>
              <a:rPr lang="en-US" sz="1500" dirty="0">
                <a:solidFill>
                  <a:srgbClr val="F2F4F6"/>
                </a:solidFill>
                <a:latin typeface="Georgia" pitchFamily="34" charset="0"/>
                <a:ea typeface="Georgia" pitchFamily="34" charset="-122"/>
                <a:cs typeface="Georgia" pitchFamily="34" charset="-120"/>
              </a:rPr>
              <a:t>Run the procedure: which step, in what order, when to pause, what to remember.</a:t>
            </a:r>
            <a:endParaRPr lang="en-US" sz="1500" dirty="0"/>
          </a:p>
        </p:txBody>
      </p:sp>
      <p:sp>
        <p:nvSpPr>
          <p:cNvPr id="26" name="Text 24"/>
          <p:cNvSpPr/>
          <p:nvPr/>
        </p:nvSpPr>
        <p:spPr>
          <a:xfrm>
            <a:off x="10012680" y="4892040"/>
            <a:ext cx="3886200" cy="960120"/>
          </a:xfrm>
          <a:prstGeom prst="rect">
            <a:avLst/>
          </a:prstGeom>
          <a:noFill/>
          <a:ln/>
        </p:spPr>
        <p:txBody>
          <a:bodyPr wrap="square" lIns="0" tIns="0" rIns="0" bIns="0" rtlCol="0" anchor="ctr"/>
          <a:lstStyle/>
          <a:p>
            <a:pPr indent="0" marL="0">
              <a:buNone/>
            </a:pPr>
            <a:r>
              <a:rPr lang="en-US" sz="1400" i="1" dirty="0">
                <a:solidFill>
                  <a:srgbClr val="9AA5AF"/>
                </a:solidFill>
                <a:latin typeface="Georgia" pitchFamily="34" charset="0"/>
                <a:ea typeface="Georgia" pitchFamily="34" charset="-122"/>
                <a:cs typeface="Georgia" pitchFamily="34" charset="-120"/>
              </a:rPr>
              <a:t>The procedure manual and the case file</a:t>
            </a:r>
            <a:endParaRPr lang="en-US" sz="1400" dirty="0"/>
          </a:p>
        </p:txBody>
      </p:sp>
      <p:sp>
        <p:nvSpPr>
          <p:cNvPr id="27" name="Shape 25"/>
          <p:cNvSpPr/>
          <p:nvPr/>
        </p:nvSpPr>
        <p:spPr>
          <a:xfrm>
            <a:off x="548640" y="5989320"/>
            <a:ext cx="13533120" cy="960120"/>
          </a:xfrm>
          <a:prstGeom prst="roundRect">
            <a:avLst>
              <a:gd name="adj" fmla="val 7619"/>
            </a:avLst>
          </a:prstGeom>
          <a:solidFill>
            <a:srgbClr val="171E24"/>
          </a:solidFill>
          <a:ln w="15875">
            <a:solidFill>
              <a:srgbClr val="3CC6C6"/>
            </a:solidFill>
            <a:prstDash val="solid"/>
          </a:ln>
        </p:spPr>
      </p:sp>
      <p:sp>
        <p:nvSpPr>
          <p:cNvPr id="28" name="Shape 26"/>
          <p:cNvSpPr/>
          <p:nvPr/>
        </p:nvSpPr>
        <p:spPr>
          <a:xfrm>
            <a:off x="548640" y="6025896"/>
            <a:ext cx="64008" cy="886968"/>
          </a:xfrm>
          <a:prstGeom prst="rect">
            <a:avLst/>
          </a:prstGeom>
          <a:solidFill>
            <a:srgbClr val="3CC6C6"/>
          </a:solidFill>
          <a:ln w="12700">
            <a:solidFill>
              <a:srgbClr val="3CC6C6"/>
            </a:solidFill>
            <a:prstDash val="solid"/>
          </a:ln>
        </p:spPr>
      </p:sp>
      <p:sp>
        <p:nvSpPr>
          <p:cNvPr id="29" name="Text 27"/>
          <p:cNvSpPr/>
          <p:nvPr/>
        </p:nvSpPr>
        <p:spPr>
          <a:xfrm>
            <a:off x="777240" y="6117336"/>
            <a:ext cx="3566160" cy="384048"/>
          </a:xfrm>
          <a:prstGeom prst="rect">
            <a:avLst/>
          </a:prstGeom>
          <a:noFill/>
          <a:ln/>
        </p:spPr>
        <p:txBody>
          <a:bodyPr wrap="square" lIns="0" tIns="0" rIns="0" bIns="0" rtlCol="0" anchor="ctr"/>
          <a:lstStyle/>
          <a:p>
            <a:pPr indent="0" marL="0">
              <a:buNone/>
            </a:pPr>
            <a:r>
              <a:rPr lang="en-US" sz="1700" b="1" dirty="0">
                <a:solidFill>
                  <a:srgbClr val="F2F4F6"/>
                </a:solidFill>
                <a:latin typeface="Arial" pitchFamily="34" charset="0"/>
                <a:ea typeface="Arial" pitchFamily="34" charset="-122"/>
                <a:cs typeface="Arial" pitchFamily="34" charset="-120"/>
              </a:rPr>
              <a:t>Agent</a:t>
            </a:r>
            <a:endParaRPr lang="en-US" sz="1700" dirty="0"/>
          </a:p>
        </p:txBody>
      </p:sp>
      <p:sp>
        <p:nvSpPr>
          <p:cNvPr id="30" name="Text 28"/>
          <p:cNvSpPr/>
          <p:nvPr/>
        </p:nvSpPr>
        <p:spPr>
          <a:xfrm>
            <a:off x="777240" y="6501384"/>
            <a:ext cx="3566160" cy="292608"/>
          </a:xfrm>
          <a:prstGeom prst="rect">
            <a:avLst/>
          </a:prstGeom>
          <a:noFill/>
          <a:ln/>
        </p:spPr>
        <p:txBody>
          <a:bodyPr wrap="square" lIns="0" tIns="0" rIns="0" bIns="0" rtlCol="0" anchor="ctr"/>
          <a:lstStyle/>
          <a:p>
            <a:pPr indent="0" marL="0">
              <a:buNone/>
            </a:pPr>
            <a:r>
              <a:rPr lang="en-US" sz="1200" dirty="0">
                <a:solidFill>
                  <a:srgbClr val="3CC6C6"/>
                </a:solidFill>
                <a:latin typeface="Arial" pitchFamily="34" charset="0"/>
                <a:ea typeface="Arial" pitchFamily="34" charset="-122"/>
                <a:cs typeface="Arial" pitchFamily="34" charset="-120"/>
              </a:rPr>
              <a:t>LLM in a loop, in a harness</a:t>
            </a:r>
            <a:endParaRPr lang="en-US" sz="1200" dirty="0"/>
          </a:p>
        </p:txBody>
      </p:sp>
      <p:sp>
        <p:nvSpPr>
          <p:cNvPr id="31" name="Text 29"/>
          <p:cNvSpPr/>
          <p:nvPr/>
        </p:nvSpPr>
        <p:spPr>
          <a:xfrm>
            <a:off x="4617720" y="5989320"/>
            <a:ext cx="5120640" cy="960120"/>
          </a:xfrm>
          <a:prstGeom prst="rect">
            <a:avLst/>
          </a:prstGeom>
          <a:noFill/>
          <a:ln/>
        </p:spPr>
        <p:txBody>
          <a:bodyPr wrap="square" lIns="0" tIns="0" rIns="0" bIns="0" rtlCol="0" anchor="ctr"/>
          <a:lstStyle/>
          <a:p>
            <a:pPr indent="0" marL="0">
              <a:buNone/>
            </a:pPr>
            <a:r>
              <a:rPr lang="en-US" sz="1500" dirty="0">
                <a:solidFill>
                  <a:srgbClr val="F2F4F6"/>
                </a:solidFill>
                <a:latin typeface="Georgia" pitchFamily="34" charset="0"/>
                <a:ea typeface="Georgia" pitchFamily="34" charset="-122"/>
                <a:cs typeface="Georgia" pitchFamily="34" charset="-120"/>
              </a:rPr>
              <a:t>Use judgement: read, form hypotheses, decide what to look up next, conclude.</a:t>
            </a:r>
            <a:endParaRPr lang="en-US" sz="1500" dirty="0"/>
          </a:p>
        </p:txBody>
      </p:sp>
      <p:sp>
        <p:nvSpPr>
          <p:cNvPr id="32" name="Text 30"/>
          <p:cNvSpPr/>
          <p:nvPr/>
        </p:nvSpPr>
        <p:spPr>
          <a:xfrm>
            <a:off x="10012680" y="5989320"/>
            <a:ext cx="3886200" cy="960120"/>
          </a:xfrm>
          <a:prstGeom prst="rect">
            <a:avLst/>
          </a:prstGeom>
          <a:noFill/>
          <a:ln/>
        </p:spPr>
        <p:txBody>
          <a:bodyPr wrap="square" lIns="0" tIns="0" rIns="0" bIns="0" rtlCol="0" anchor="ctr"/>
          <a:lstStyle/>
          <a:p>
            <a:pPr indent="0" marL="0">
              <a:buNone/>
            </a:pPr>
            <a:r>
              <a:rPr lang="en-US" sz="1400" i="1" dirty="0">
                <a:solidFill>
                  <a:srgbClr val="9AA5AF"/>
                </a:solidFill>
                <a:latin typeface="Georgia" pitchFamily="34" charset="0"/>
                <a:ea typeface="Georgia" pitchFamily="34" charset="-122"/>
                <a:cs typeface="Georgia" pitchFamily="34" charset="-120"/>
              </a:rPr>
              <a:t>The analyst</a:t>
            </a:r>
            <a:endParaRPr lang="en-US" sz="1400" dirty="0"/>
          </a:p>
        </p:txBody>
      </p:sp>
      <p:sp>
        <p:nvSpPr>
          <p:cNvPr id="33" name="Shape 31"/>
          <p:cNvSpPr/>
          <p:nvPr/>
        </p:nvSpPr>
        <p:spPr>
          <a:xfrm>
            <a:off x="548640" y="7086600"/>
            <a:ext cx="13533120" cy="960120"/>
          </a:xfrm>
          <a:prstGeom prst="roundRect">
            <a:avLst>
              <a:gd name="adj" fmla="val 7619"/>
            </a:avLst>
          </a:prstGeom>
          <a:solidFill>
            <a:srgbClr val="171E24"/>
          </a:solidFill>
          <a:ln w="15875">
            <a:solidFill>
              <a:srgbClr val="3CC6C6"/>
            </a:solidFill>
            <a:prstDash val="solid"/>
          </a:ln>
        </p:spPr>
      </p:sp>
      <p:sp>
        <p:nvSpPr>
          <p:cNvPr id="34" name="Shape 32"/>
          <p:cNvSpPr/>
          <p:nvPr/>
        </p:nvSpPr>
        <p:spPr>
          <a:xfrm>
            <a:off x="548640" y="7123176"/>
            <a:ext cx="64008" cy="886968"/>
          </a:xfrm>
          <a:prstGeom prst="rect">
            <a:avLst/>
          </a:prstGeom>
          <a:solidFill>
            <a:srgbClr val="3CC6C6"/>
          </a:solidFill>
          <a:ln w="12700">
            <a:solidFill>
              <a:srgbClr val="3CC6C6"/>
            </a:solidFill>
            <a:prstDash val="solid"/>
          </a:ln>
        </p:spPr>
      </p:sp>
      <p:sp>
        <p:nvSpPr>
          <p:cNvPr id="35" name="Text 33"/>
          <p:cNvSpPr/>
          <p:nvPr/>
        </p:nvSpPr>
        <p:spPr>
          <a:xfrm>
            <a:off x="777240" y="7214616"/>
            <a:ext cx="3566160" cy="384048"/>
          </a:xfrm>
          <a:prstGeom prst="rect">
            <a:avLst/>
          </a:prstGeom>
          <a:noFill/>
          <a:ln/>
        </p:spPr>
        <p:txBody>
          <a:bodyPr wrap="square" lIns="0" tIns="0" rIns="0" bIns="0" rtlCol="0" anchor="ctr"/>
          <a:lstStyle/>
          <a:p>
            <a:pPr indent="0" marL="0">
              <a:buNone/>
            </a:pPr>
            <a:r>
              <a:rPr lang="en-US" sz="1700" b="1" dirty="0">
                <a:solidFill>
                  <a:srgbClr val="F2F4F6"/>
                </a:solidFill>
                <a:latin typeface="Arial" pitchFamily="34" charset="0"/>
                <a:ea typeface="Arial" pitchFamily="34" charset="-122"/>
                <a:cs typeface="Arial" pitchFamily="34" charset="-120"/>
              </a:rPr>
              <a:t>Tools</a:t>
            </a:r>
            <a:endParaRPr lang="en-US" sz="1700" dirty="0"/>
          </a:p>
        </p:txBody>
      </p:sp>
      <p:sp>
        <p:nvSpPr>
          <p:cNvPr id="36" name="Text 34"/>
          <p:cNvSpPr/>
          <p:nvPr/>
        </p:nvSpPr>
        <p:spPr>
          <a:xfrm>
            <a:off x="777240" y="7598664"/>
            <a:ext cx="3566160" cy="292608"/>
          </a:xfrm>
          <a:prstGeom prst="rect">
            <a:avLst/>
          </a:prstGeom>
          <a:noFill/>
          <a:ln/>
        </p:spPr>
        <p:txBody>
          <a:bodyPr wrap="square" lIns="0" tIns="0" rIns="0" bIns="0" rtlCol="0" anchor="ctr"/>
          <a:lstStyle/>
          <a:p>
            <a:pPr indent="0" marL="0">
              <a:buNone/>
            </a:pPr>
            <a:r>
              <a:rPr lang="en-US" sz="1200" dirty="0">
                <a:solidFill>
                  <a:srgbClr val="3CC6C6"/>
                </a:solidFill>
                <a:latin typeface="Arial" pitchFamily="34" charset="0"/>
                <a:ea typeface="Arial" pitchFamily="34" charset="-122"/>
                <a:cs typeface="Arial" pitchFamily="34" charset="-120"/>
              </a:rPr>
              <a:t>e.g. via MCP</a:t>
            </a:r>
            <a:endParaRPr lang="en-US" sz="1200" dirty="0"/>
          </a:p>
        </p:txBody>
      </p:sp>
      <p:sp>
        <p:nvSpPr>
          <p:cNvPr id="37" name="Text 35"/>
          <p:cNvSpPr/>
          <p:nvPr/>
        </p:nvSpPr>
        <p:spPr>
          <a:xfrm>
            <a:off x="4617720" y="7086600"/>
            <a:ext cx="5120640" cy="960120"/>
          </a:xfrm>
          <a:prstGeom prst="rect">
            <a:avLst/>
          </a:prstGeom>
          <a:noFill/>
          <a:ln/>
        </p:spPr>
        <p:txBody>
          <a:bodyPr wrap="square" lIns="0" tIns="0" rIns="0" bIns="0" rtlCol="0" anchor="ctr"/>
          <a:lstStyle/>
          <a:p>
            <a:pPr indent="0" marL="0">
              <a:buNone/>
            </a:pPr>
            <a:r>
              <a:rPr lang="en-US" sz="1500" dirty="0">
                <a:solidFill>
                  <a:srgbClr val="F2F4F6"/>
                </a:solidFill>
                <a:latin typeface="Georgia" pitchFamily="34" charset="0"/>
                <a:ea typeface="Georgia" pitchFamily="34" charset="-122"/>
                <a:cs typeface="Georgia" pitchFamily="34" charset="-120"/>
              </a:rPr>
              <a:t>Let the agent query systems safely, one defined action at a time.</a:t>
            </a:r>
            <a:endParaRPr lang="en-US" sz="1500" dirty="0"/>
          </a:p>
        </p:txBody>
      </p:sp>
      <p:sp>
        <p:nvSpPr>
          <p:cNvPr id="38" name="Text 36"/>
          <p:cNvSpPr/>
          <p:nvPr/>
        </p:nvSpPr>
        <p:spPr>
          <a:xfrm>
            <a:off x="10012680" y="7086600"/>
            <a:ext cx="3886200" cy="960120"/>
          </a:xfrm>
          <a:prstGeom prst="rect">
            <a:avLst/>
          </a:prstGeom>
          <a:noFill/>
          <a:ln/>
        </p:spPr>
        <p:txBody>
          <a:bodyPr wrap="square" lIns="0" tIns="0" rIns="0" bIns="0" rtlCol="0" anchor="ctr"/>
          <a:lstStyle/>
          <a:p>
            <a:pPr indent="0" marL="0">
              <a:buNone/>
            </a:pPr>
            <a:r>
              <a:rPr lang="en-US" sz="1400" i="1" dirty="0">
                <a:solidFill>
                  <a:srgbClr val="9AA5AF"/>
                </a:solidFill>
                <a:latin typeface="Georgia" pitchFamily="34" charset="0"/>
                <a:ea typeface="Georgia" pitchFamily="34" charset="-122"/>
                <a:cs typeface="Georgia" pitchFamily="34" charset="-120"/>
              </a:rPr>
              <a:t>The phone and the terminal</a:t>
            </a:r>
            <a:endParaRPr lang="en-US" sz="1400" dirty="0"/>
          </a:p>
        </p:txBody>
      </p:sp>
      <p:sp>
        <p:nvSpPr>
          <p:cNvPr id="39" name="Shape 37"/>
          <p:cNvSpPr/>
          <p:nvPr/>
        </p:nvSpPr>
        <p:spPr>
          <a:xfrm>
            <a:off x="548640" y="8183880"/>
            <a:ext cx="13533120" cy="960120"/>
          </a:xfrm>
          <a:prstGeom prst="roundRect">
            <a:avLst>
              <a:gd name="adj" fmla="val 7619"/>
            </a:avLst>
          </a:prstGeom>
          <a:solidFill>
            <a:srgbClr val="171E24"/>
          </a:solidFill>
          <a:ln w="15875">
            <a:solidFill>
              <a:srgbClr val="3CC6C6"/>
            </a:solidFill>
            <a:prstDash val="solid"/>
          </a:ln>
        </p:spPr>
      </p:sp>
      <p:sp>
        <p:nvSpPr>
          <p:cNvPr id="40" name="Shape 38"/>
          <p:cNvSpPr/>
          <p:nvPr/>
        </p:nvSpPr>
        <p:spPr>
          <a:xfrm>
            <a:off x="548640" y="8220456"/>
            <a:ext cx="64008" cy="886968"/>
          </a:xfrm>
          <a:prstGeom prst="rect">
            <a:avLst/>
          </a:prstGeom>
          <a:solidFill>
            <a:srgbClr val="3CC6C6"/>
          </a:solidFill>
          <a:ln w="12700">
            <a:solidFill>
              <a:srgbClr val="3CC6C6"/>
            </a:solidFill>
            <a:prstDash val="solid"/>
          </a:ln>
        </p:spPr>
      </p:sp>
      <p:sp>
        <p:nvSpPr>
          <p:cNvPr id="41" name="Text 39"/>
          <p:cNvSpPr/>
          <p:nvPr/>
        </p:nvSpPr>
        <p:spPr>
          <a:xfrm>
            <a:off x="777240" y="8311896"/>
            <a:ext cx="3566160" cy="384048"/>
          </a:xfrm>
          <a:prstGeom prst="rect">
            <a:avLst/>
          </a:prstGeom>
          <a:noFill/>
          <a:ln/>
        </p:spPr>
        <p:txBody>
          <a:bodyPr wrap="square" lIns="0" tIns="0" rIns="0" bIns="0" rtlCol="0" anchor="ctr"/>
          <a:lstStyle/>
          <a:p>
            <a:pPr indent="0" marL="0">
              <a:buNone/>
            </a:pPr>
            <a:r>
              <a:rPr lang="en-US" sz="1700" b="1" dirty="0">
                <a:solidFill>
                  <a:srgbClr val="F2F4F6"/>
                </a:solidFill>
                <a:latin typeface="Arial" pitchFamily="34" charset="0"/>
                <a:ea typeface="Arial" pitchFamily="34" charset="-122"/>
                <a:cs typeface="Arial" pitchFamily="34" charset="-120"/>
              </a:rPr>
              <a:t>Knowledge</a:t>
            </a:r>
            <a:endParaRPr lang="en-US" sz="1700" dirty="0"/>
          </a:p>
        </p:txBody>
      </p:sp>
      <p:sp>
        <p:nvSpPr>
          <p:cNvPr id="42" name="Text 40"/>
          <p:cNvSpPr/>
          <p:nvPr/>
        </p:nvSpPr>
        <p:spPr>
          <a:xfrm>
            <a:off x="777240" y="8695944"/>
            <a:ext cx="3566160" cy="292608"/>
          </a:xfrm>
          <a:prstGeom prst="rect">
            <a:avLst/>
          </a:prstGeom>
          <a:noFill/>
          <a:ln/>
        </p:spPr>
        <p:txBody>
          <a:bodyPr wrap="square" lIns="0" tIns="0" rIns="0" bIns="0" rtlCol="0" anchor="ctr"/>
          <a:lstStyle/>
          <a:p>
            <a:pPr indent="0" marL="0">
              <a:buNone/>
            </a:pPr>
            <a:r>
              <a:rPr lang="en-US" sz="1200" dirty="0">
                <a:solidFill>
                  <a:srgbClr val="3CC6C6"/>
                </a:solidFill>
                <a:latin typeface="Arial" pitchFamily="34" charset="0"/>
                <a:ea typeface="Arial" pitchFamily="34" charset="-122"/>
                <a:cs typeface="Arial" pitchFamily="34" charset="-120"/>
              </a:rPr>
              <a:t>graph, vectors, tables</a:t>
            </a:r>
            <a:endParaRPr lang="en-US" sz="1200" dirty="0"/>
          </a:p>
        </p:txBody>
      </p:sp>
      <p:sp>
        <p:nvSpPr>
          <p:cNvPr id="43" name="Text 41"/>
          <p:cNvSpPr/>
          <p:nvPr/>
        </p:nvSpPr>
        <p:spPr>
          <a:xfrm>
            <a:off x="4617720" y="8183880"/>
            <a:ext cx="5120640" cy="960120"/>
          </a:xfrm>
          <a:prstGeom prst="rect">
            <a:avLst/>
          </a:prstGeom>
          <a:noFill/>
          <a:ln/>
        </p:spPr>
        <p:txBody>
          <a:bodyPr wrap="square" lIns="0" tIns="0" rIns="0" bIns="0" rtlCol="0" anchor="ctr"/>
          <a:lstStyle/>
          <a:p>
            <a:pPr indent="0" marL="0">
              <a:buNone/>
            </a:pPr>
            <a:r>
              <a:rPr lang="en-US" sz="1500" dirty="0">
                <a:solidFill>
                  <a:srgbClr val="F2F4F6"/>
                </a:solidFill>
                <a:latin typeface="Georgia" pitchFamily="34" charset="0"/>
                <a:ea typeface="Georgia" pitchFamily="34" charset="-122"/>
                <a:cs typeface="Georgia" pitchFamily="34" charset="-120"/>
              </a:rPr>
              <a:t>Hold facts, rules, relationships and history.</a:t>
            </a:r>
            <a:endParaRPr lang="en-US" sz="1500" dirty="0"/>
          </a:p>
        </p:txBody>
      </p:sp>
      <p:sp>
        <p:nvSpPr>
          <p:cNvPr id="44" name="Text 42"/>
          <p:cNvSpPr/>
          <p:nvPr/>
        </p:nvSpPr>
        <p:spPr>
          <a:xfrm>
            <a:off x="10012680" y="8183880"/>
            <a:ext cx="3886200" cy="960120"/>
          </a:xfrm>
          <a:prstGeom prst="rect">
            <a:avLst/>
          </a:prstGeom>
          <a:noFill/>
          <a:ln/>
        </p:spPr>
        <p:txBody>
          <a:bodyPr wrap="square" lIns="0" tIns="0" rIns="0" bIns="0" rtlCol="0" anchor="ctr"/>
          <a:lstStyle/>
          <a:p>
            <a:pPr indent="0" marL="0">
              <a:buNone/>
            </a:pPr>
            <a:r>
              <a:rPr lang="en-US" sz="1400" i="1" dirty="0">
                <a:solidFill>
                  <a:srgbClr val="9AA5AF"/>
                </a:solidFill>
                <a:latin typeface="Georgia" pitchFamily="34" charset="0"/>
                <a:ea typeface="Georgia" pitchFamily="34" charset="-122"/>
                <a:cs typeface="Georgia" pitchFamily="34" charset="-120"/>
              </a:rPr>
              <a:t>The filing cabinet and the rulebook</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Has Been Proven</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Not theoretical: built, connected and demonstrated</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What We Built</a:t>
            </a:r>
            <a:endParaRPr lang="en-US" sz="2200" dirty="0"/>
          </a:p>
        </p:txBody>
      </p:sp>
      <p:sp>
        <p:nvSpPr>
          <p:cNvPr id="7" name="Shape 5"/>
          <p:cNvSpPr/>
          <p:nvPr/>
        </p:nvSpPr>
        <p:spPr>
          <a:xfrm>
            <a:off x="502920" y="1280160"/>
            <a:ext cx="3227832" cy="1051560"/>
          </a:xfrm>
          <a:prstGeom prst="roundRect">
            <a:avLst>
              <a:gd name="adj" fmla="val 6957"/>
            </a:avLst>
          </a:prstGeom>
          <a:solidFill>
            <a:srgbClr val="FFFFFF"/>
          </a:solidFill>
          <a:ln w="9525">
            <a:solidFill>
              <a:srgbClr val="C8D8EC"/>
            </a:solidFill>
            <a:prstDash val="solid"/>
          </a:ln>
        </p:spPr>
      </p:sp>
      <p:sp>
        <p:nvSpPr>
          <p:cNvPr id="8" name="Shape 6"/>
          <p:cNvSpPr/>
          <p:nvPr/>
        </p:nvSpPr>
        <p:spPr>
          <a:xfrm>
            <a:off x="685800" y="1527048"/>
            <a:ext cx="548640" cy="548640"/>
          </a:xfrm>
          <a:prstGeom prst="ellipse">
            <a:avLst/>
          </a:prstGeom>
          <a:solidFill>
            <a:srgbClr val="1E8A5A"/>
          </a:solidFill>
          <a:ln w="12700">
            <a:solidFill>
              <a:srgbClr val="1E8A5A"/>
            </a:solidFill>
            <a:prstDash val="solid"/>
          </a:ln>
        </p:spPr>
      </p:sp>
      <p:pic>
        <p:nvPicPr>
          <p:cNvPr id="9" name="Image 0" descr="preencoded.png">    </p:cNvPr>
          <p:cNvPicPr>
            <a:picLocks noChangeAspect="1"/>
          </p:cNvPicPr>
          <p:nvPr/>
        </p:nvPicPr>
        <p:blipFill>
          <a:blip r:embed="rId1"/>
          <a:stretch>
            <a:fillRect/>
          </a:stretch>
        </p:blipFill>
        <p:spPr>
          <a:xfrm>
            <a:off x="828446" y="1669694"/>
            <a:ext cx="263347" cy="263347"/>
          </a:xfrm>
          <a:prstGeom prst="rect">
            <a:avLst/>
          </a:prstGeom>
        </p:spPr>
      </p:pic>
      <p:sp>
        <p:nvSpPr>
          <p:cNvPr id="10" name="Text 7"/>
          <p:cNvSpPr txBox="1"/>
          <p:nvPr/>
        </p:nvSpPr>
        <p:spPr>
          <a:xfrm>
            <a:off x="1371600" y="1371600"/>
            <a:ext cx="2286000" cy="411480"/>
          </a:xfrm>
          <a:prstGeom prst="rect">
            <a:avLst/>
          </a:prstGeom>
          <a:noFill/>
          <a:ln/>
        </p:spPr>
        <p:txBody>
          <a:bodyPr wrap="square" lIns="0" tIns="0" rIns="0" bIns="0" rtlCol="0" anchor="ctr"/>
          <a:lstStyle/>
          <a:p>
            <a:pPr indent="0" marL="0">
              <a:buNone/>
            </a:pPr>
            <a:r>
              <a:rPr lang="en-US" sz="1700" b="1" dirty="0">
                <a:solidFill>
                  <a:srgbClr val="0B2E5E"/>
                </a:solidFill>
                <a:latin typeface="Calibri" pitchFamily="34" charset="0"/>
                <a:ea typeface="Calibri" pitchFamily="34" charset="-122"/>
                <a:cs typeface="Calibri" pitchFamily="34" charset="-120"/>
              </a:rPr>
              <a:t>Built</a:t>
            </a:r>
            <a:endParaRPr lang="en-US" sz="1700" dirty="0"/>
          </a:p>
        </p:txBody>
      </p:sp>
      <p:sp>
        <p:nvSpPr>
          <p:cNvPr id="11" name="Text 8"/>
          <p:cNvSpPr txBox="1"/>
          <p:nvPr/>
        </p:nvSpPr>
        <p:spPr>
          <a:xfrm>
            <a:off x="1371600" y="1783080"/>
            <a:ext cx="2286000" cy="411480"/>
          </a:xfrm>
          <a:prstGeom prst="rect">
            <a:avLst/>
          </a:prstGeom>
          <a:noFill/>
          <a:ln/>
        </p:spPr>
        <p:txBody>
          <a:bodyPr wrap="square" lIns="0" tIns="0" rIns="0" bIns="0" rtlCol="0" anchor="t"/>
          <a:lstStyle/>
          <a:p>
            <a:pPr indent="0" marL="0">
              <a:buNone/>
            </a:pPr>
            <a:r>
              <a:rPr lang="en-US" sz="1100" dirty="0">
                <a:solidFill>
                  <a:srgbClr val="4A5A6E"/>
                </a:solidFill>
                <a:latin typeface="Calibri" pitchFamily="34" charset="0"/>
                <a:ea typeface="Calibri" pitchFamily="34" charset="-122"/>
                <a:cs typeface="Calibri" pitchFamily="34" charset="-120"/>
              </a:rPr>
              <a:t>The agentic framework exists</a:t>
            </a:r>
            <a:endParaRPr lang="en-US" sz="1100" dirty="0"/>
          </a:p>
        </p:txBody>
      </p:sp>
      <p:sp>
        <p:nvSpPr>
          <p:cNvPr id="12" name="Shape 9"/>
          <p:cNvSpPr/>
          <p:nvPr/>
        </p:nvSpPr>
        <p:spPr>
          <a:xfrm>
            <a:off x="3941064" y="1280160"/>
            <a:ext cx="3227832" cy="1051560"/>
          </a:xfrm>
          <a:prstGeom prst="roundRect">
            <a:avLst>
              <a:gd name="adj" fmla="val 6957"/>
            </a:avLst>
          </a:prstGeom>
          <a:solidFill>
            <a:srgbClr val="FFFFFF"/>
          </a:solidFill>
          <a:ln w="9525">
            <a:solidFill>
              <a:srgbClr val="C8D8EC"/>
            </a:solidFill>
            <a:prstDash val="solid"/>
          </a:ln>
        </p:spPr>
      </p:sp>
      <p:sp>
        <p:nvSpPr>
          <p:cNvPr id="13" name="Shape 10"/>
          <p:cNvSpPr/>
          <p:nvPr/>
        </p:nvSpPr>
        <p:spPr>
          <a:xfrm>
            <a:off x="4123944" y="1527048"/>
            <a:ext cx="548640" cy="548640"/>
          </a:xfrm>
          <a:prstGeom prst="ellipse">
            <a:avLst/>
          </a:prstGeom>
          <a:solidFill>
            <a:srgbClr val="1E8A5A"/>
          </a:solidFill>
          <a:ln w="12700">
            <a:solidFill>
              <a:srgbClr val="1E8A5A"/>
            </a:solidFill>
            <a:prstDash val="solid"/>
          </a:ln>
        </p:spPr>
      </p:sp>
      <p:pic>
        <p:nvPicPr>
          <p:cNvPr id="14" name="Image 1" descr="preencoded.png">    </p:cNvPr>
          <p:cNvPicPr>
            <a:picLocks noChangeAspect="1"/>
          </p:cNvPicPr>
          <p:nvPr/>
        </p:nvPicPr>
        <p:blipFill>
          <a:blip r:embed="rId2"/>
          <a:stretch>
            <a:fillRect/>
          </a:stretch>
        </p:blipFill>
        <p:spPr>
          <a:xfrm>
            <a:off x="4266590" y="1669694"/>
            <a:ext cx="263347" cy="263347"/>
          </a:xfrm>
          <a:prstGeom prst="rect">
            <a:avLst/>
          </a:prstGeom>
        </p:spPr>
      </p:pic>
      <p:sp>
        <p:nvSpPr>
          <p:cNvPr id="15" name="Text 11"/>
          <p:cNvSpPr txBox="1"/>
          <p:nvPr/>
        </p:nvSpPr>
        <p:spPr>
          <a:xfrm>
            <a:off x="4809744" y="1371600"/>
            <a:ext cx="2286000" cy="411480"/>
          </a:xfrm>
          <a:prstGeom prst="rect">
            <a:avLst/>
          </a:prstGeom>
          <a:noFill/>
          <a:ln/>
        </p:spPr>
        <p:txBody>
          <a:bodyPr wrap="square" lIns="0" tIns="0" rIns="0" bIns="0" rtlCol="0" anchor="ctr"/>
          <a:lstStyle/>
          <a:p>
            <a:pPr indent="0" marL="0">
              <a:buNone/>
            </a:pPr>
            <a:r>
              <a:rPr lang="en-US" sz="1700" b="1" dirty="0">
                <a:solidFill>
                  <a:srgbClr val="0B2E5E"/>
                </a:solidFill>
                <a:latin typeface="Calibri" pitchFamily="34" charset="0"/>
                <a:ea typeface="Calibri" pitchFamily="34" charset="-122"/>
                <a:cs typeface="Calibri" pitchFamily="34" charset="-120"/>
              </a:rPr>
              <a:t>Connected</a:t>
            </a:r>
            <a:endParaRPr lang="en-US" sz="1700" dirty="0"/>
          </a:p>
        </p:txBody>
      </p:sp>
      <p:sp>
        <p:nvSpPr>
          <p:cNvPr id="16" name="Text 12"/>
          <p:cNvSpPr txBox="1"/>
          <p:nvPr/>
        </p:nvSpPr>
        <p:spPr>
          <a:xfrm>
            <a:off x="4809744" y="1783080"/>
            <a:ext cx="2286000" cy="411480"/>
          </a:xfrm>
          <a:prstGeom prst="rect">
            <a:avLst/>
          </a:prstGeom>
          <a:noFill/>
          <a:ln/>
        </p:spPr>
        <p:txBody>
          <a:bodyPr wrap="square" lIns="0" tIns="0" rIns="0" bIns="0" rtlCol="0" anchor="t"/>
          <a:lstStyle/>
          <a:p>
            <a:pPr indent="0" marL="0">
              <a:buNone/>
            </a:pPr>
            <a:r>
              <a:rPr lang="en-US" sz="1100" dirty="0">
                <a:solidFill>
                  <a:srgbClr val="4A5A6E"/>
                </a:solidFill>
                <a:latin typeface="Calibri" pitchFamily="34" charset="0"/>
                <a:ea typeface="Calibri" pitchFamily="34" charset="-122"/>
                <a:cs typeface="Calibri" pitchFamily="34" charset="-120"/>
              </a:rPr>
              <a:t>Wired to finance events and systems</a:t>
            </a:r>
            <a:endParaRPr lang="en-US" sz="1100" dirty="0"/>
          </a:p>
        </p:txBody>
      </p:sp>
      <p:sp>
        <p:nvSpPr>
          <p:cNvPr id="17" name="Shape 13"/>
          <p:cNvSpPr/>
          <p:nvPr/>
        </p:nvSpPr>
        <p:spPr>
          <a:xfrm>
            <a:off x="7379208" y="1280160"/>
            <a:ext cx="3227832" cy="1051560"/>
          </a:xfrm>
          <a:prstGeom prst="roundRect">
            <a:avLst>
              <a:gd name="adj" fmla="val 6957"/>
            </a:avLst>
          </a:prstGeom>
          <a:solidFill>
            <a:srgbClr val="FFFFFF"/>
          </a:solidFill>
          <a:ln w="9525">
            <a:solidFill>
              <a:srgbClr val="C8D8EC"/>
            </a:solidFill>
            <a:prstDash val="solid"/>
          </a:ln>
        </p:spPr>
      </p:sp>
      <p:sp>
        <p:nvSpPr>
          <p:cNvPr id="18" name="Shape 14"/>
          <p:cNvSpPr/>
          <p:nvPr/>
        </p:nvSpPr>
        <p:spPr>
          <a:xfrm>
            <a:off x="7562088" y="1527048"/>
            <a:ext cx="548640" cy="548640"/>
          </a:xfrm>
          <a:prstGeom prst="ellipse">
            <a:avLst/>
          </a:prstGeom>
          <a:solidFill>
            <a:srgbClr val="1E8A5A"/>
          </a:solidFill>
          <a:ln w="12700">
            <a:solidFill>
              <a:srgbClr val="1E8A5A"/>
            </a:solidFill>
            <a:prstDash val="solid"/>
          </a:ln>
        </p:spPr>
      </p:sp>
      <p:pic>
        <p:nvPicPr>
          <p:cNvPr id="19" name="Image 2" descr="preencoded.png">    </p:cNvPr>
          <p:cNvPicPr>
            <a:picLocks noChangeAspect="1"/>
          </p:cNvPicPr>
          <p:nvPr/>
        </p:nvPicPr>
        <p:blipFill>
          <a:blip r:embed="rId3"/>
          <a:stretch>
            <a:fillRect/>
          </a:stretch>
        </p:blipFill>
        <p:spPr>
          <a:xfrm>
            <a:off x="7704734" y="1669694"/>
            <a:ext cx="263347" cy="263347"/>
          </a:xfrm>
          <a:prstGeom prst="rect">
            <a:avLst/>
          </a:prstGeom>
        </p:spPr>
      </p:pic>
      <p:sp>
        <p:nvSpPr>
          <p:cNvPr id="20" name="Text 15"/>
          <p:cNvSpPr txBox="1"/>
          <p:nvPr/>
        </p:nvSpPr>
        <p:spPr>
          <a:xfrm>
            <a:off x="8247888" y="1371600"/>
            <a:ext cx="2286000" cy="411480"/>
          </a:xfrm>
          <a:prstGeom prst="rect">
            <a:avLst/>
          </a:prstGeom>
          <a:noFill/>
          <a:ln/>
        </p:spPr>
        <p:txBody>
          <a:bodyPr wrap="square" lIns="0" tIns="0" rIns="0" bIns="0" rtlCol="0" anchor="ctr"/>
          <a:lstStyle/>
          <a:p>
            <a:pPr indent="0" marL="0">
              <a:buNone/>
            </a:pPr>
            <a:r>
              <a:rPr lang="en-US" sz="1700" b="1" dirty="0">
                <a:solidFill>
                  <a:srgbClr val="0B2E5E"/>
                </a:solidFill>
                <a:latin typeface="Calibri" pitchFamily="34" charset="0"/>
                <a:ea typeface="Calibri" pitchFamily="34" charset="-122"/>
                <a:cs typeface="Calibri" pitchFamily="34" charset="-120"/>
              </a:rPr>
              <a:t>Demonstrated</a:t>
            </a:r>
            <a:endParaRPr lang="en-US" sz="1700" dirty="0"/>
          </a:p>
        </p:txBody>
      </p:sp>
      <p:sp>
        <p:nvSpPr>
          <p:cNvPr id="21" name="Text 16"/>
          <p:cNvSpPr txBox="1"/>
          <p:nvPr/>
        </p:nvSpPr>
        <p:spPr>
          <a:xfrm>
            <a:off x="8247888" y="1783080"/>
            <a:ext cx="2286000" cy="411480"/>
          </a:xfrm>
          <a:prstGeom prst="rect">
            <a:avLst/>
          </a:prstGeom>
          <a:noFill/>
          <a:ln/>
        </p:spPr>
        <p:txBody>
          <a:bodyPr wrap="square" lIns="0" tIns="0" rIns="0" bIns="0" rtlCol="0" anchor="t"/>
          <a:lstStyle/>
          <a:p>
            <a:pPr indent="0" marL="0">
              <a:buNone/>
            </a:pPr>
            <a:r>
              <a:rPr lang="en-US" sz="1100" dirty="0">
                <a:solidFill>
                  <a:srgbClr val="4A5A6E"/>
                </a:solidFill>
                <a:latin typeface="Calibri" pitchFamily="34" charset="0"/>
                <a:ea typeface="Calibri" pitchFamily="34" charset="-122"/>
                <a:cs typeface="Calibri" pitchFamily="34" charset="-120"/>
              </a:rPr>
              <a:t>Running end to end in Helix</a:t>
            </a:r>
            <a:endParaRPr lang="en-US" sz="1100" dirty="0"/>
          </a:p>
        </p:txBody>
      </p:sp>
      <p:sp>
        <p:nvSpPr>
          <p:cNvPr id="22" name="Shape 17"/>
          <p:cNvSpPr/>
          <p:nvPr/>
        </p:nvSpPr>
        <p:spPr>
          <a:xfrm>
            <a:off x="10817352" y="1280160"/>
            <a:ext cx="3227832" cy="1051560"/>
          </a:xfrm>
          <a:prstGeom prst="roundRect">
            <a:avLst>
              <a:gd name="adj" fmla="val 6957"/>
            </a:avLst>
          </a:prstGeom>
          <a:solidFill>
            <a:srgbClr val="FFFFFF"/>
          </a:solidFill>
          <a:ln w="9525">
            <a:solidFill>
              <a:srgbClr val="C8D8EC"/>
            </a:solidFill>
            <a:prstDash val="solid"/>
          </a:ln>
        </p:spPr>
      </p:sp>
      <p:sp>
        <p:nvSpPr>
          <p:cNvPr id="23" name="Shape 18"/>
          <p:cNvSpPr/>
          <p:nvPr/>
        </p:nvSpPr>
        <p:spPr>
          <a:xfrm>
            <a:off x="11000232" y="1527048"/>
            <a:ext cx="548640" cy="548640"/>
          </a:xfrm>
          <a:prstGeom prst="ellipse">
            <a:avLst/>
          </a:prstGeom>
          <a:solidFill>
            <a:srgbClr val="1E8A5A"/>
          </a:solidFill>
          <a:ln w="12700">
            <a:solidFill>
              <a:srgbClr val="1E8A5A"/>
            </a:solidFill>
            <a:prstDash val="solid"/>
          </a:ln>
        </p:spPr>
      </p:sp>
      <p:pic>
        <p:nvPicPr>
          <p:cNvPr id="24" name="Image 3" descr="preencoded.png">    </p:cNvPr>
          <p:cNvPicPr>
            <a:picLocks noChangeAspect="1"/>
          </p:cNvPicPr>
          <p:nvPr/>
        </p:nvPicPr>
        <p:blipFill>
          <a:blip r:embed="rId4"/>
          <a:stretch>
            <a:fillRect/>
          </a:stretch>
        </p:blipFill>
        <p:spPr>
          <a:xfrm>
            <a:off x="11142878" y="1669694"/>
            <a:ext cx="263347" cy="263347"/>
          </a:xfrm>
          <a:prstGeom prst="rect">
            <a:avLst/>
          </a:prstGeom>
        </p:spPr>
      </p:pic>
      <p:sp>
        <p:nvSpPr>
          <p:cNvPr id="25" name="Text 19"/>
          <p:cNvSpPr txBox="1"/>
          <p:nvPr/>
        </p:nvSpPr>
        <p:spPr>
          <a:xfrm>
            <a:off x="11686032" y="1371600"/>
            <a:ext cx="2286000" cy="411480"/>
          </a:xfrm>
          <a:prstGeom prst="rect">
            <a:avLst/>
          </a:prstGeom>
          <a:noFill/>
          <a:ln/>
        </p:spPr>
        <p:txBody>
          <a:bodyPr wrap="square" lIns="0" tIns="0" rIns="0" bIns="0" rtlCol="0" anchor="ctr"/>
          <a:lstStyle/>
          <a:p>
            <a:pPr indent="0" marL="0">
              <a:buNone/>
            </a:pPr>
            <a:r>
              <a:rPr lang="en-US" sz="1700" b="1" dirty="0">
                <a:solidFill>
                  <a:srgbClr val="0B2E5E"/>
                </a:solidFill>
                <a:latin typeface="Calibri" pitchFamily="34" charset="0"/>
                <a:ea typeface="Calibri" pitchFamily="34" charset="-122"/>
                <a:cs typeface="Calibri" pitchFamily="34" charset="-120"/>
              </a:rPr>
              <a:t>Not theoretical</a:t>
            </a:r>
            <a:endParaRPr lang="en-US" sz="1700" dirty="0"/>
          </a:p>
        </p:txBody>
      </p:sp>
      <p:sp>
        <p:nvSpPr>
          <p:cNvPr id="26" name="Text 20"/>
          <p:cNvSpPr txBox="1"/>
          <p:nvPr/>
        </p:nvSpPr>
        <p:spPr>
          <a:xfrm>
            <a:off x="11686032" y="1783080"/>
            <a:ext cx="2286000" cy="411480"/>
          </a:xfrm>
          <a:prstGeom prst="rect">
            <a:avLst/>
          </a:prstGeom>
          <a:noFill/>
          <a:ln/>
        </p:spPr>
        <p:txBody>
          <a:bodyPr wrap="square" lIns="0" tIns="0" rIns="0" bIns="0" rtlCol="0" anchor="t"/>
          <a:lstStyle/>
          <a:p>
            <a:pPr indent="0" marL="0">
              <a:buNone/>
            </a:pPr>
            <a:r>
              <a:rPr lang="en-US" sz="1100" dirty="0">
                <a:solidFill>
                  <a:srgbClr val="4A5A6E"/>
                </a:solidFill>
                <a:latin typeface="Calibri" pitchFamily="34" charset="0"/>
                <a:ea typeface="Calibri" pitchFamily="34" charset="-122"/>
                <a:cs typeface="Calibri" pitchFamily="34" charset="-120"/>
              </a:rPr>
              <a:t>Evidence, not a concept</a:t>
            </a:r>
            <a:endParaRPr lang="en-US" sz="1100" dirty="0"/>
          </a:p>
        </p:txBody>
      </p:sp>
      <p:sp>
        <p:nvSpPr>
          <p:cNvPr id="27" name="Shape 21"/>
          <p:cNvSpPr/>
          <p:nvPr/>
        </p:nvSpPr>
        <p:spPr>
          <a:xfrm>
            <a:off x="502920" y="2606040"/>
            <a:ext cx="4315968" cy="5120640"/>
          </a:xfrm>
          <a:prstGeom prst="roundRect">
            <a:avLst>
              <a:gd name="adj" fmla="val 1059"/>
            </a:avLst>
          </a:prstGeom>
          <a:solidFill>
            <a:srgbClr val="EEF4FB"/>
          </a:solidFill>
          <a:ln w="12700">
            <a:solidFill>
              <a:srgbClr val="1B4F93"/>
            </a:solidFill>
            <a:prstDash val="dash"/>
          </a:ln>
        </p:spPr>
      </p:sp>
      <p:sp>
        <p:nvSpPr>
          <p:cNvPr id="28" name="Shape 22"/>
          <p:cNvSpPr/>
          <p:nvPr/>
        </p:nvSpPr>
        <p:spPr>
          <a:xfrm>
            <a:off x="502920" y="2606040"/>
            <a:ext cx="4315968" cy="685800"/>
          </a:xfrm>
          <a:prstGeom prst="roundRect">
            <a:avLst>
              <a:gd name="adj" fmla="val 6667"/>
            </a:avLst>
          </a:prstGeom>
          <a:solidFill>
            <a:srgbClr val="1B4F93"/>
          </a:solidFill>
          <a:ln w="12700">
            <a:solidFill>
              <a:srgbClr val="1B4F93"/>
            </a:solidFill>
            <a:prstDash val="solid"/>
          </a:ln>
        </p:spPr>
      </p:sp>
      <p:sp>
        <p:nvSpPr>
          <p:cNvPr id="29" name="Text 23"/>
          <p:cNvSpPr txBox="1"/>
          <p:nvPr/>
        </p:nvSpPr>
        <p:spPr>
          <a:xfrm>
            <a:off x="685800" y="2606040"/>
            <a:ext cx="2011680" cy="685800"/>
          </a:xfrm>
          <a:prstGeom prst="rect">
            <a:avLst/>
          </a:prstGeom>
          <a:noFill/>
          <a:ln/>
        </p:spPr>
        <p:txBody>
          <a:bodyPr wrap="square" lIns="0" tIns="0" rIns="0" bIns="0" rtlCol="0" anchor="ctr"/>
          <a:lstStyle/>
          <a:p>
            <a:pPr indent="0" marL="0">
              <a:buNone/>
            </a:pPr>
            <a:r>
              <a:rPr lang="en-US" sz="2000" b="1" spc="200" kern="0" dirty="0">
                <a:solidFill>
                  <a:srgbClr val="FFFFFF"/>
                </a:solidFill>
                <a:latin typeface="Calibri" pitchFamily="34" charset="0"/>
                <a:ea typeface="Calibri" pitchFamily="34" charset="-122"/>
                <a:cs typeface="Calibri" pitchFamily="34" charset="-120"/>
              </a:rPr>
              <a:t>DATA</a:t>
            </a:r>
            <a:endParaRPr lang="en-US" sz="2000" dirty="0"/>
          </a:p>
        </p:txBody>
      </p:sp>
      <p:sp>
        <p:nvSpPr>
          <p:cNvPr id="30" name="Text 24"/>
          <p:cNvSpPr txBox="1"/>
          <p:nvPr/>
        </p:nvSpPr>
        <p:spPr>
          <a:xfrm>
            <a:off x="2514600" y="2606040"/>
            <a:ext cx="2148840" cy="685800"/>
          </a:xfrm>
          <a:prstGeom prst="rect">
            <a:avLst/>
          </a:prstGeom>
          <a:noFill/>
          <a:ln/>
        </p:spPr>
        <p:txBody>
          <a:bodyPr wrap="square" lIns="0" tIns="0" rIns="0" bIns="0" rtlCol="0" anchor="ctr"/>
          <a:lstStyle/>
          <a:p>
            <a:pPr algn="r" indent="0" marL="0">
              <a:buNone/>
            </a:pPr>
            <a:r>
              <a:rPr lang="en-US" sz="1200" i="1" dirty="0">
                <a:solidFill>
                  <a:srgbClr val="FFFFFF"/>
                </a:solidFill>
                <a:latin typeface="Calibri" pitchFamily="34" charset="0"/>
                <a:ea typeface="Calibri" pitchFamily="34" charset="-122"/>
                <a:cs typeface="Calibri" pitchFamily="34" charset="-120"/>
              </a:rPr>
              <a:t>What exists today</a:t>
            </a:r>
            <a:endParaRPr lang="en-US" sz="1200" dirty="0"/>
          </a:p>
        </p:txBody>
      </p:sp>
      <p:sp>
        <p:nvSpPr>
          <p:cNvPr id="31" name="Shape 25"/>
          <p:cNvSpPr/>
          <p:nvPr/>
        </p:nvSpPr>
        <p:spPr>
          <a:xfrm>
            <a:off x="667512" y="3474720"/>
            <a:ext cx="3986784" cy="896112"/>
          </a:xfrm>
          <a:prstGeom prst="roundRect">
            <a:avLst>
              <a:gd name="adj" fmla="val 8163"/>
            </a:avLst>
          </a:prstGeom>
          <a:solidFill>
            <a:srgbClr val="FFFFFF"/>
          </a:solidFill>
          <a:ln w="9525">
            <a:solidFill>
              <a:srgbClr val="C8D8EC"/>
            </a:solidFill>
            <a:prstDash val="solid"/>
          </a:ln>
        </p:spPr>
      </p:sp>
      <p:sp>
        <p:nvSpPr>
          <p:cNvPr id="32" name="Shape 26"/>
          <p:cNvSpPr/>
          <p:nvPr/>
        </p:nvSpPr>
        <p:spPr>
          <a:xfrm>
            <a:off x="786384" y="3703320"/>
            <a:ext cx="438912" cy="438912"/>
          </a:xfrm>
          <a:prstGeom prst="roundRect">
            <a:avLst>
              <a:gd name="adj" fmla="val 20833"/>
            </a:avLst>
          </a:prstGeom>
          <a:solidFill>
            <a:srgbClr val="1B4F93"/>
          </a:solidFill>
          <a:ln w="12700">
            <a:solidFill>
              <a:srgbClr val="1B4F93"/>
            </a:solidFill>
            <a:prstDash val="solid"/>
          </a:ln>
        </p:spPr>
      </p:sp>
      <p:pic>
        <p:nvPicPr>
          <p:cNvPr id="33" name="Image 4" descr="preencoded.png">    </p:cNvPr>
          <p:cNvPicPr>
            <a:picLocks noChangeAspect="1"/>
          </p:cNvPicPr>
          <p:nvPr/>
        </p:nvPicPr>
        <p:blipFill>
          <a:blip r:embed="rId5"/>
          <a:stretch>
            <a:fillRect/>
          </a:stretch>
        </p:blipFill>
        <p:spPr>
          <a:xfrm>
            <a:off x="882945" y="3799881"/>
            <a:ext cx="245791" cy="245791"/>
          </a:xfrm>
          <a:prstGeom prst="rect">
            <a:avLst/>
          </a:prstGeom>
        </p:spPr>
      </p:pic>
      <p:sp>
        <p:nvSpPr>
          <p:cNvPr id="34" name="Text 27"/>
          <p:cNvSpPr txBox="1"/>
          <p:nvPr/>
        </p:nvSpPr>
        <p:spPr>
          <a:xfrm>
            <a:off x="1325880" y="3547872"/>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Platform capabilities</a:t>
            </a:r>
            <a:endParaRPr lang="en-US" sz="1150" dirty="0"/>
          </a:p>
        </p:txBody>
      </p:sp>
      <p:sp>
        <p:nvSpPr>
          <p:cNvPr id="35" name="Text 28"/>
          <p:cNvSpPr txBox="1"/>
          <p:nvPr/>
        </p:nvSpPr>
        <p:spPr>
          <a:xfrm>
            <a:off x="1325880" y="3822192"/>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Orchestration, reasoning, observability</a:t>
            </a:r>
            <a:endParaRPr lang="en-US" sz="950" dirty="0"/>
          </a:p>
        </p:txBody>
      </p:sp>
      <p:sp>
        <p:nvSpPr>
          <p:cNvPr id="36" name="Shape 29"/>
          <p:cNvSpPr/>
          <p:nvPr/>
        </p:nvSpPr>
        <p:spPr>
          <a:xfrm>
            <a:off x="667512" y="4498848"/>
            <a:ext cx="3986784" cy="896112"/>
          </a:xfrm>
          <a:prstGeom prst="roundRect">
            <a:avLst>
              <a:gd name="adj" fmla="val 8163"/>
            </a:avLst>
          </a:prstGeom>
          <a:solidFill>
            <a:srgbClr val="FFFFFF"/>
          </a:solidFill>
          <a:ln w="9525">
            <a:solidFill>
              <a:srgbClr val="C8D8EC"/>
            </a:solidFill>
            <a:prstDash val="solid"/>
          </a:ln>
        </p:spPr>
      </p:sp>
      <p:sp>
        <p:nvSpPr>
          <p:cNvPr id="37" name="Shape 30"/>
          <p:cNvSpPr/>
          <p:nvPr/>
        </p:nvSpPr>
        <p:spPr>
          <a:xfrm>
            <a:off x="786384" y="4727448"/>
            <a:ext cx="438912" cy="438912"/>
          </a:xfrm>
          <a:prstGeom prst="roundRect">
            <a:avLst>
              <a:gd name="adj" fmla="val 20833"/>
            </a:avLst>
          </a:prstGeom>
          <a:solidFill>
            <a:srgbClr val="1B4F93"/>
          </a:solidFill>
          <a:ln w="12700">
            <a:solidFill>
              <a:srgbClr val="1B4F93"/>
            </a:solidFill>
            <a:prstDash val="solid"/>
          </a:ln>
        </p:spPr>
      </p:sp>
      <p:pic>
        <p:nvPicPr>
          <p:cNvPr id="38" name="Image 5" descr="preencoded.png">    </p:cNvPr>
          <p:cNvPicPr>
            <a:picLocks noChangeAspect="1"/>
          </p:cNvPicPr>
          <p:nvPr/>
        </p:nvPicPr>
        <p:blipFill>
          <a:blip r:embed="rId6"/>
          <a:stretch>
            <a:fillRect/>
          </a:stretch>
        </p:blipFill>
        <p:spPr>
          <a:xfrm>
            <a:off x="882945" y="4824009"/>
            <a:ext cx="245791" cy="245791"/>
          </a:xfrm>
          <a:prstGeom prst="rect">
            <a:avLst/>
          </a:prstGeom>
        </p:spPr>
      </p:pic>
      <p:sp>
        <p:nvSpPr>
          <p:cNvPr id="39" name="Text 31"/>
          <p:cNvSpPr txBox="1"/>
          <p:nvPr/>
        </p:nvSpPr>
        <p:spPr>
          <a:xfrm>
            <a:off x="1325880" y="4572000"/>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LLM integration</a:t>
            </a:r>
            <a:endParaRPr lang="en-US" sz="1150" dirty="0"/>
          </a:p>
        </p:txBody>
      </p:sp>
      <p:sp>
        <p:nvSpPr>
          <p:cNvPr id="40" name="Text 32"/>
          <p:cNvSpPr txBox="1"/>
          <p:nvPr/>
        </p:nvSpPr>
        <p:spPr>
          <a:xfrm>
            <a:off x="1325880" y="4846320"/>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Agent One on AWS Bedrock</a:t>
            </a:r>
            <a:endParaRPr lang="en-US" sz="950" dirty="0"/>
          </a:p>
        </p:txBody>
      </p:sp>
      <p:sp>
        <p:nvSpPr>
          <p:cNvPr id="41" name="Shape 33"/>
          <p:cNvSpPr/>
          <p:nvPr/>
        </p:nvSpPr>
        <p:spPr>
          <a:xfrm>
            <a:off x="667512" y="5522976"/>
            <a:ext cx="3986784" cy="896112"/>
          </a:xfrm>
          <a:prstGeom prst="roundRect">
            <a:avLst>
              <a:gd name="adj" fmla="val 8163"/>
            </a:avLst>
          </a:prstGeom>
          <a:solidFill>
            <a:srgbClr val="FFFFFF"/>
          </a:solidFill>
          <a:ln w="9525">
            <a:solidFill>
              <a:srgbClr val="C8D8EC"/>
            </a:solidFill>
            <a:prstDash val="solid"/>
          </a:ln>
        </p:spPr>
      </p:sp>
      <p:sp>
        <p:nvSpPr>
          <p:cNvPr id="42" name="Shape 34"/>
          <p:cNvSpPr/>
          <p:nvPr/>
        </p:nvSpPr>
        <p:spPr>
          <a:xfrm>
            <a:off x="786384" y="5751576"/>
            <a:ext cx="438912" cy="438912"/>
          </a:xfrm>
          <a:prstGeom prst="roundRect">
            <a:avLst>
              <a:gd name="adj" fmla="val 20833"/>
            </a:avLst>
          </a:prstGeom>
          <a:solidFill>
            <a:srgbClr val="1B4F93"/>
          </a:solidFill>
          <a:ln w="12700">
            <a:solidFill>
              <a:srgbClr val="1B4F93"/>
            </a:solidFill>
            <a:prstDash val="solid"/>
          </a:ln>
        </p:spPr>
      </p:sp>
      <p:pic>
        <p:nvPicPr>
          <p:cNvPr id="43" name="Image 6" descr="preencoded.png">    </p:cNvPr>
          <p:cNvPicPr>
            <a:picLocks noChangeAspect="1"/>
          </p:cNvPicPr>
          <p:nvPr/>
        </p:nvPicPr>
        <p:blipFill>
          <a:blip r:embed="rId7"/>
          <a:stretch>
            <a:fillRect/>
          </a:stretch>
        </p:blipFill>
        <p:spPr>
          <a:xfrm>
            <a:off x="882945" y="5848137"/>
            <a:ext cx="245791" cy="245791"/>
          </a:xfrm>
          <a:prstGeom prst="rect">
            <a:avLst/>
          </a:prstGeom>
        </p:spPr>
      </p:pic>
      <p:sp>
        <p:nvSpPr>
          <p:cNvPr id="44" name="Text 35"/>
          <p:cNvSpPr txBox="1"/>
          <p:nvPr/>
        </p:nvSpPr>
        <p:spPr>
          <a:xfrm>
            <a:off x="1325880" y="5596128"/>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MCP integrations</a:t>
            </a:r>
            <a:endParaRPr lang="en-US" sz="1150" dirty="0"/>
          </a:p>
        </p:txBody>
      </p:sp>
      <p:sp>
        <p:nvSpPr>
          <p:cNvPr id="45" name="Text 36"/>
          <p:cNvSpPr txBox="1"/>
          <p:nvPr/>
        </p:nvSpPr>
        <p:spPr>
          <a:xfrm>
            <a:off x="1325880" y="5870448"/>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Governed tools into finance systems</a:t>
            </a:r>
            <a:endParaRPr lang="en-US" sz="950" dirty="0"/>
          </a:p>
        </p:txBody>
      </p:sp>
      <p:sp>
        <p:nvSpPr>
          <p:cNvPr id="46" name="Shape 37"/>
          <p:cNvSpPr/>
          <p:nvPr/>
        </p:nvSpPr>
        <p:spPr>
          <a:xfrm>
            <a:off x="667512" y="6547104"/>
            <a:ext cx="3986784" cy="896112"/>
          </a:xfrm>
          <a:prstGeom prst="roundRect">
            <a:avLst>
              <a:gd name="adj" fmla="val 8163"/>
            </a:avLst>
          </a:prstGeom>
          <a:solidFill>
            <a:srgbClr val="FFFFFF"/>
          </a:solidFill>
          <a:ln w="9525">
            <a:solidFill>
              <a:srgbClr val="C8D8EC"/>
            </a:solidFill>
            <a:prstDash val="solid"/>
          </a:ln>
        </p:spPr>
      </p:sp>
      <p:sp>
        <p:nvSpPr>
          <p:cNvPr id="47" name="Shape 38"/>
          <p:cNvSpPr/>
          <p:nvPr/>
        </p:nvSpPr>
        <p:spPr>
          <a:xfrm>
            <a:off x="786384" y="6775704"/>
            <a:ext cx="438912" cy="438912"/>
          </a:xfrm>
          <a:prstGeom prst="roundRect">
            <a:avLst>
              <a:gd name="adj" fmla="val 20833"/>
            </a:avLst>
          </a:prstGeom>
          <a:solidFill>
            <a:srgbClr val="1B4F93"/>
          </a:solidFill>
          <a:ln w="12700">
            <a:solidFill>
              <a:srgbClr val="1B4F93"/>
            </a:solidFill>
            <a:prstDash val="solid"/>
          </a:ln>
        </p:spPr>
      </p:sp>
      <p:pic>
        <p:nvPicPr>
          <p:cNvPr id="48" name="Image 7" descr="preencoded.png">    </p:cNvPr>
          <p:cNvPicPr>
            <a:picLocks noChangeAspect="1"/>
          </p:cNvPicPr>
          <p:nvPr/>
        </p:nvPicPr>
        <p:blipFill>
          <a:blip r:embed="rId8"/>
          <a:stretch>
            <a:fillRect/>
          </a:stretch>
        </p:blipFill>
        <p:spPr>
          <a:xfrm>
            <a:off x="882945" y="6872265"/>
            <a:ext cx="245791" cy="245791"/>
          </a:xfrm>
          <a:prstGeom prst="rect">
            <a:avLst/>
          </a:prstGeom>
        </p:spPr>
      </p:pic>
      <p:sp>
        <p:nvSpPr>
          <p:cNvPr id="49" name="Text 39"/>
          <p:cNvSpPr txBox="1"/>
          <p:nvPr/>
        </p:nvSpPr>
        <p:spPr>
          <a:xfrm>
            <a:off x="1325880" y="6620256"/>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Event-driven architecture</a:t>
            </a:r>
            <a:endParaRPr lang="en-US" sz="1150" dirty="0"/>
          </a:p>
        </p:txBody>
      </p:sp>
      <p:sp>
        <p:nvSpPr>
          <p:cNvPr id="50" name="Text 40"/>
          <p:cNvSpPr txBox="1"/>
          <p:nvPr/>
        </p:nvSpPr>
        <p:spPr>
          <a:xfrm>
            <a:off x="1325880" y="6894576"/>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One Fin UX Ready events</a:t>
            </a:r>
            <a:endParaRPr lang="en-US" sz="950" dirty="0"/>
          </a:p>
        </p:txBody>
      </p:sp>
      <p:sp>
        <p:nvSpPr>
          <p:cNvPr id="51" name="Shape 41"/>
          <p:cNvSpPr/>
          <p:nvPr/>
        </p:nvSpPr>
        <p:spPr>
          <a:xfrm>
            <a:off x="4864608" y="4846320"/>
            <a:ext cx="256032" cy="457200"/>
          </a:xfrm>
          <a:prstGeom prst="chevron">
            <a:avLst/>
          </a:prstGeom>
          <a:solidFill>
            <a:srgbClr val="6B7C93"/>
          </a:solidFill>
          <a:ln w="12700">
            <a:solidFill>
              <a:srgbClr val="6B7C93"/>
            </a:solidFill>
            <a:prstDash val="solid"/>
          </a:ln>
        </p:spPr>
      </p:sp>
      <p:sp>
        <p:nvSpPr>
          <p:cNvPr id="52" name="Shape 42"/>
          <p:cNvSpPr/>
          <p:nvPr/>
        </p:nvSpPr>
        <p:spPr>
          <a:xfrm>
            <a:off x="5148072" y="2606040"/>
            <a:ext cx="4315968" cy="5120640"/>
          </a:xfrm>
          <a:prstGeom prst="roundRect">
            <a:avLst>
              <a:gd name="adj" fmla="val 1059"/>
            </a:avLst>
          </a:prstGeom>
          <a:solidFill>
            <a:srgbClr val="F3F1FB"/>
          </a:solidFill>
          <a:ln w="12700">
            <a:solidFill>
              <a:srgbClr val="5B4FA8"/>
            </a:solidFill>
            <a:prstDash val="dash"/>
          </a:ln>
        </p:spPr>
      </p:sp>
      <p:sp>
        <p:nvSpPr>
          <p:cNvPr id="53" name="Shape 43"/>
          <p:cNvSpPr/>
          <p:nvPr/>
        </p:nvSpPr>
        <p:spPr>
          <a:xfrm>
            <a:off x="5148072" y="2606040"/>
            <a:ext cx="4315968" cy="685800"/>
          </a:xfrm>
          <a:prstGeom prst="roundRect">
            <a:avLst>
              <a:gd name="adj" fmla="val 6667"/>
            </a:avLst>
          </a:prstGeom>
          <a:solidFill>
            <a:srgbClr val="5B4FA8"/>
          </a:solidFill>
          <a:ln w="12700">
            <a:solidFill>
              <a:srgbClr val="5B4FA8"/>
            </a:solidFill>
            <a:prstDash val="solid"/>
          </a:ln>
        </p:spPr>
      </p:sp>
      <p:sp>
        <p:nvSpPr>
          <p:cNvPr id="54" name="Text 44"/>
          <p:cNvSpPr txBox="1"/>
          <p:nvPr/>
        </p:nvSpPr>
        <p:spPr>
          <a:xfrm>
            <a:off x="5330952" y="2606040"/>
            <a:ext cx="2011680" cy="685800"/>
          </a:xfrm>
          <a:prstGeom prst="rect">
            <a:avLst/>
          </a:prstGeom>
          <a:noFill/>
          <a:ln/>
        </p:spPr>
        <p:txBody>
          <a:bodyPr wrap="square" lIns="0" tIns="0" rIns="0" bIns="0" rtlCol="0" anchor="ctr"/>
          <a:lstStyle/>
          <a:p>
            <a:pPr indent="0" marL="0">
              <a:buNone/>
            </a:pPr>
            <a:r>
              <a:rPr lang="en-US" sz="2000" b="1" spc="200" kern="0" dirty="0">
                <a:solidFill>
                  <a:srgbClr val="FFFFFF"/>
                </a:solidFill>
                <a:latin typeface="Calibri" pitchFamily="34" charset="0"/>
                <a:ea typeface="Calibri" pitchFamily="34" charset="-122"/>
                <a:cs typeface="Calibri" pitchFamily="34" charset="-120"/>
              </a:rPr>
              <a:t>ANALYSIS</a:t>
            </a:r>
            <a:endParaRPr lang="en-US" sz="2000" dirty="0"/>
          </a:p>
        </p:txBody>
      </p:sp>
      <p:sp>
        <p:nvSpPr>
          <p:cNvPr id="55" name="Text 45"/>
          <p:cNvSpPr txBox="1"/>
          <p:nvPr/>
        </p:nvSpPr>
        <p:spPr>
          <a:xfrm>
            <a:off x="7159752" y="2606040"/>
            <a:ext cx="2148840" cy="685800"/>
          </a:xfrm>
          <a:prstGeom prst="rect">
            <a:avLst/>
          </a:prstGeom>
          <a:noFill/>
          <a:ln/>
        </p:spPr>
        <p:txBody>
          <a:bodyPr wrap="square" lIns="0" tIns="0" rIns="0" bIns="0" rtlCol="0" anchor="ctr"/>
          <a:lstStyle/>
          <a:p>
            <a:pPr algn="r" indent="0" marL="0">
              <a:buNone/>
            </a:pPr>
            <a:r>
              <a:rPr lang="en-US" sz="1200" i="1" dirty="0">
                <a:solidFill>
                  <a:srgbClr val="FFFFFF"/>
                </a:solidFill>
                <a:latin typeface="Calibri" pitchFamily="34" charset="0"/>
                <a:ea typeface="Calibri" pitchFamily="34" charset="-122"/>
                <a:cs typeface="Calibri" pitchFamily="34" charset="-120"/>
              </a:rPr>
              <a:t>What it means</a:t>
            </a:r>
            <a:endParaRPr lang="en-US" sz="1200" dirty="0"/>
          </a:p>
        </p:txBody>
      </p:sp>
      <p:sp>
        <p:nvSpPr>
          <p:cNvPr id="56" name="Shape 46"/>
          <p:cNvSpPr/>
          <p:nvPr/>
        </p:nvSpPr>
        <p:spPr>
          <a:xfrm>
            <a:off x="5312664" y="3474720"/>
            <a:ext cx="3986784" cy="896112"/>
          </a:xfrm>
          <a:prstGeom prst="roundRect">
            <a:avLst>
              <a:gd name="adj" fmla="val 8163"/>
            </a:avLst>
          </a:prstGeom>
          <a:solidFill>
            <a:srgbClr val="FFFFFF"/>
          </a:solidFill>
          <a:ln w="9525">
            <a:solidFill>
              <a:srgbClr val="C8D8EC"/>
            </a:solidFill>
            <a:prstDash val="solid"/>
          </a:ln>
        </p:spPr>
      </p:sp>
      <p:sp>
        <p:nvSpPr>
          <p:cNvPr id="57" name="Shape 47"/>
          <p:cNvSpPr/>
          <p:nvPr/>
        </p:nvSpPr>
        <p:spPr>
          <a:xfrm>
            <a:off x="5431536" y="3703320"/>
            <a:ext cx="438912" cy="438912"/>
          </a:xfrm>
          <a:prstGeom prst="roundRect">
            <a:avLst>
              <a:gd name="adj" fmla="val 20833"/>
            </a:avLst>
          </a:prstGeom>
          <a:solidFill>
            <a:srgbClr val="5B4FA8"/>
          </a:solidFill>
          <a:ln w="12700">
            <a:solidFill>
              <a:srgbClr val="5B4FA8"/>
            </a:solidFill>
            <a:prstDash val="solid"/>
          </a:ln>
        </p:spPr>
      </p:sp>
      <p:pic>
        <p:nvPicPr>
          <p:cNvPr id="58" name="Image 8" descr="preencoded.png">    </p:cNvPr>
          <p:cNvPicPr>
            <a:picLocks noChangeAspect="1"/>
          </p:cNvPicPr>
          <p:nvPr/>
        </p:nvPicPr>
        <p:blipFill>
          <a:blip r:embed="rId9"/>
          <a:stretch>
            <a:fillRect/>
          </a:stretch>
        </p:blipFill>
        <p:spPr>
          <a:xfrm>
            <a:off x="5528097" y="3799881"/>
            <a:ext cx="245791" cy="245791"/>
          </a:xfrm>
          <a:prstGeom prst="rect">
            <a:avLst/>
          </a:prstGeom>
        </p:spPr>
      </p:pic>
      <p:sp>
        <p:nvSpPr>
          <p:cNvPr id="59" name="Text 48"/>
          <p:cNvSpPr txBox="1"/>
          <p:nvPr/>
        </p:nvSpPr>
        <p:spPr>
          <a:xfrm>
            <a:off x="5971032" y="3547872"/>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Reusable</a:t>
            </a:r>
            <a:endParaRPr lang="en-US" sz="1150" dirty="0"/>
          </a:p>
        </p:txBody>
      </p:sp>
      <p:sp>
        <p:nvSpPr>
          <p:cNvPr id="60" name="Text 49"/>
          <p:cNvSpPr txBox="1"/>
          <p:nvPr/>
        </p:nvSpPr>
        <p:spPr>
          <a:xfrm>
            <a:off x="5971032" y="3822192"/>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Capabilities are not tied to one workflow</a:t>
            </a:r>
            <a:endParaRPr lang="en-US" sz="950" dirty="0"/>
          </a:p>
        </p:txBody>
      </p:sp>
      <p:sp>
        <p:nvSpPr>
          <p:cNvPr id="61" name="Shape 50"/>
          <p:cNvSpPr/>
          <p:nvPr/>
        </p:nvSpPr>
        <p:spPr>
          <a:xfrm>
            <a:off x="5312664" y="4498848"/>
            <a:ext cx="3986784" cy="896112"/>
          </a:xfrm>
          <a:prstGeom prst="roundRect">
            <a:avLst>
              <a:gd name="adj" fmla="val 8163"/>
            </a:avLst>
          </a:prstGeom>
          <a:solidFill>
            <a:srgbClr val="FFFFFF"/>
          </a:solidFill>
          <a:ln w="9525">
            <a:solidFill>
              <a:srgbClr val="C8D8EC"/>
            </a:solidFill>
            <a:prstDash val="solid"/>
          </a:ln>
        </p:spPr>
      </p:sp>
      <p:sp>
        <p:nvSpPr>
          <p:cNvPr id="62" name="Shape 51"/>
          <p:cNvSpPr/>
          <p:nvPr/>
        </p:nvSpPr>
        <p:spPr>
          <a:xfrm>
            <a:off x="5431536" y="4727448"/>
            <a:ext cx="438912" cy="438912"/>
          </a:xfrm>
          <a:prstGeom prst="roundRect">
            <a:avLst>
              <a:gd name="adj" fmla="val 20833"/>
            </a:avLst>
          </a:prstGeom>
          <a:solidFill>
            <a:srgbClr val="5B4FA8"/>
          </a:solidFill>
          <a:ln w="12700">
            <a:solidFill>
              <a:srgbClr val="5B4FA8"/>
            </a:solidFill>
            <a:prstDash val="solid"/>
          </a:ln>
        </p:spPr>
      </p:sp>
      <p:pic>
        <p:nvPicPr>
          <p:cNvPr id="63" name="Image 9" descr="preencoded.png">    </p:cNvPr>
          <p:cNvPicPr>
            <a:picLocks noChangeAspect="1"/>
          </p:cNvPicPr>
          <p:nvPr/>
        </p:nvPicPr>
        <p:blipFill>
          <a:blip r:embed="rId10"/>
          <a:stretch>
            <a:fillRect/>
          </a:stretch>
        </p:blipFill>
        <p:spPr>
          <a:xfrm>
            <a:off x="5528097" y="4824009"/>
            <a:ext cx="245791" cy="245791"/>
          </a:xfrm>
          <a:prstGeom prst="rect">
            <a:avLst/>
          </a:prstGeom>
        </p:spPr>
      </p:pic>
      <p:sp>
        <p:nvSpPr>
          <p:cNvPr id="64" name="Text 52"/>
          <p:cNvSpPr txBox="1"/>
          <p:nvPr/>
        </p:nvSpPr>
        <p:spPr>
          <a:xfrm>
            <a:off x="5971032" y="4572000"/>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Generic framework</a:t>
            </a:r>
            <a:endParaRPr lang="en-US" sz="1150" dirty="0"/>
          </a:p>
        </p:txBody>
      </p:sp>
      <p:sp>
        <p:nvSpPr>
          <p:cNvPr id="65" name="Text 53"/>
          <p:cNvSpPr txBox="1"/>
          <p:nvPr/>
        </p:nvSpPr>
        <p:spPr>
          <a:xfrm>
            <a:off x="5971032" y="4846320"/>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Together they form an agentic engine</a:t>
            </a:r>
            <a:endParaRPr lang="en-US" sz="950" dirty="0"/>
          </a:p>
        </p:txBody>
      </p:sp>
      <p:sp>
        <p:nvSpPr>
          <p:cNvPr id="66" name="Shape 54"/>
          <p:cNvSpPr/>
          <p:nvPr/>
        </p:nvSpPr>
        <p:spPr>
          <a:xfrm>
            <a:off x="5312664" y="5522976"/>
            <a:ext cx="3986784" cy="896112"/>
          </a:xfrm>
          <a:prstGeom prst="roundRect">
            <a:avLst>
              <a:gd name="adj" fmla="val 8163"/>
            </a:avLst>
          </a:prstGeom>
          <a:solidFill>
            <a:srgbClr val="FFFFFF"/>
          </a:solidFill>
          <a:ln w="9525">
            <a:solidFill>
              <a:srgbClr val="C8D8EC"/>
            </a:solidFill>
            <a:prstDash val="solid"/>
          </a:ln>
        </p:spPr>
      </p:sp>
      <p:sp>
        <p:nvSpPr>
          <p:cNvPr id="67" name="Shape 55"/>
          <p:cNvSpPr/>
          <p:nvPr/>
        </p:nvSpPr>
        <p:spPr>
          <a:xfrm>
            <a:off x="5431536" y="5751576"/>
            <a:ext cx="438912" cy="438912"/>
          </a:xfrm>
          <a:prstGeom prst="roundRect">
            <a:avLst>
              <a:gd name="adj" fmla="val 20833"/>
            </a:avLst>
          </a:prstGeom>
          <a:solidFill>
            <a:srgbClr val="5B4FA8"/>
          </a:solidFill>
          <a:ln w="12700">
            <a:solidFill>
              <a:srgbClr val="5B4FA8"/>
            </a:solidFill>
            <a:prstDash val="solid"/>
          </a:ln>
        </p:spPr>
      </p:sp>
      <p:pic>
        <p:nvPicPr>
          <p:cNvPr id="68" name="Image 10" descr="preencoded.png">    </p:cNvPr>
          <p:cNvPicPr>
            <a:picLocks noChangeAspect="1"/>
          </p:cNvPicPr>
          <p:nvPr/>
        </p:nvPicPr>
        <p:blipFill>
          <a:blip r:embed="rId11"/>
          <a:stretch>
            <a:fillRect/>
          </a:stretch>
        </p:blipFill>
        <p:spPr>
          <a:xfrm>
            <a:off x="5528097" y="5848137"/>
            <a:ext cx="245791" cy="245791"/>
          </a:xfrm>
          <a:prstGeom prst="rect">
            <a:avLst/>
          </a:prstGeom>
        </p:spPr>
      </p:pic>
      <p:sp>
        <p:nvSpPr>
          <p:cNvPr id="69" name="Text 56"/>
          <p:cNvSpPr txBox="1"/>
          <p:nvPr/>
        </p:nvSpPr>
        <p:spPr>
          <a:xfrm>
            <a:off x="5971032" y="5596128"/>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Governed</a:t>
            </a:r>
            <a:endParaRPr lang="en-US" sz="1150" dirty="0"/>
          </a:p>
        </p:txBody>
      </p:sp>
      <p:sp>
        <p:nvSpPr>
          <p:cNvPr id="70" name="Text 57"/>
          <p:cNvSpPr txBox="1"/>
          <p:nvPr/>
        </p:nvSpPr>
        <p:spPr>
          <a:xfrm>
            <a:off x="5971032" y="5870448"/>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Human approval, traces and audit built in</a:t>
            </a:r>
            <a:endParaRPr lang="en-US" sz="950" dirty="0"/>
          </a:p>
        </p:txBody>
      </p:sp>
      <p:sp>
        <p:nvSpPr>
          <p:cNvPr id="71" name="Shape 58"/>
          <p:cNvSpPr/>
          <p:nvPr/>
        </p:nvSpPr>
        <p:spPr>
          <a:xfrm>
            <a:off x="5312664" y="6547104"/>
            <a:ext cx="3986784" cy="896112"/>
          </a:xfrm>
          <a:prstGeom prst="roundRect">
            <a:avLst>
              <a:gd name="adj" fmla="val 8163"/>
            </a:avLst>
          </a:prstGeom>
          <a:solidFill>
            <a:srgbClr val="FFFFFF"/>
          </a:solidFill>
          <a:ln w="9525">
            <a:solidFill>
              <a:srgbClr val="C8D8EC"/>
            </a:solidFill>
            <a:prstDash val="solid"/>
          </a:ln>
        </p:spPr>
      </p:sp>
      <p:sp>
        <p:nvSpPr>
          <p:cNvPr id="72" name="Shape 59"/>
          <p:cNvSpPr/>
          <p:nvPr/>
        </p:nvSpPr>
        <p:spPr>
          <a:xfrm>
            <a:off x="5431536" y="6775704"/>
            <a:ext cx="438912" cy="438912"/>
          </a:xfrm>
          <a:prstGeom prst="roundRect">
            <a:avLst>
              <a:gd name="adj" fmla="val 20833"/>
            </a:avLst>
          </a:prstGeom>
          <a:solidFill>
            <a:srgbClr val="5B4FA8"/>
          </a:solidFill>
          <a:ln w="12700">
            <a:solidFill>
              <a:srgbClr val="5B4FA8"/>
            </a:solidFill>
            <a:prstDash val="solid"/>
          </a:ln>
        </p:spPr>
      </p:sp>
      <p:pic>
        <p:nvPicPr>
          <p:cNvPr id="73" name="Image 11" descr="preencoded.png">    </p:cNvPr>
          <p:cNvPicPr>
            <a:picLocks noChangeAspect="1"/>
          </p:cNvPicPr>
          <p:nvPr/>
        </p:nvPicPr>
        <p:blipFill>
          <a:blip r:embed="rId12"/>
          <a:stretch>
            <a:fillRect/>
          </a:stretch>
        </p:blipFill>
        <p:spPr>
          <a:xfrm>
            <a:off x="5528097" y="6872265"/>
            <a:ext cx="245791" cy="245791"/>
          </a:xfrm>
          <a:prstGeom prst="rect">
            <a:avLst/>
          </a:prstGeom>
        </p:spPr>
      </p:pic>
      <p:sp>
        <p:nvSpPr>
          <p:cNvPr id="74" name="Text 60"/>
          <p:cNvSpPr txBox="1"/>
          <p:nvPr/>
        </p:nvSpPr>
        <p:spPr>
          <a:xfrm>
            <a:off x="5971032" y="6620256"/>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Configurable</a:t>
            </a:r>
            <a:endParaRPr lang="en-US" sz="1150" dirty="0"/>
          </a:p>
        </p:txBody>
      </p:sp>
      <p:sp>
        <p:nvSpPr>
          <p:cNvPr id="75" name="Text 61"/>
          <p:cNvSpPr txBox="1"/>
          <p:nvPr/>
        </p:nvSpPr>
        <p:spPr>
          <a:xfrm>
            <a:off x="5971032" y="6894576"/>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New workflows add skills, tools and data</a:t>
            </a:r>
            <a:endParaRPr lang="en-US" sz="950" dirty="0"/>
          </a:p>
        </p:txBody>
      </p:sp>
      <p:sp>
        <p:nvSpPr>
          <p:cNvPr id="76" name="Shape 62"/>
          <p:cNvSpPr/>
          <p:nvPr/>
        </p:nvSpPr>
        <p:spPr>
          <a:xfrm>
            <a:off x="9509760" y="4846320"/>
            <a:ext cx="256032" cy="457200"/>
          </a:xfrm>
          <a:prstGeom prst="chevron">
            <a:avLst/>
          </a:prstGeom>
          <a:solidFill>
            <a:srgbClr val="6B7C93"/>
          </a:solidFill>
          <a:ln w="12700">
            <a:solidFill>
              <a:srgbClr val="6B7C93"/>
            </a:solidFill>
            <a:prstDash val="solid"/>
          </a:ln>
        </p:spPr>
      </p:sp>
      <p:sp>
        <p:nvSpPr>
          <p:cNvPr id="77" name="Shape 63"/>
          <p:cNvSpPr/>
          <p:nvPr/>
        </p:nvSpPr>
        <p:spPr>
          <a:xfrm>
            <a:off x="9793224" y="2606040"/>
            <a:ext cx="4315968" cy="5120640"/>
          </a:xfrm>
          <a:prstGeom prst="roundRect">
            <a:avLst>
              <a:gd name="adj" fmla="val 1059"/>
            </a:avLst>
          </a:prstGeom>
          <a:solidFill>
            <a:srgbClr val="EDF7F2"/>
          </a:solidFill>
          <a:ln w="12700">
            <a:solidFill>
              <a:srgbClr val="1E8A5A"/>
            </a:solidFill>
            <a:prstDash val="dash"/>
          </a:ln>
        </p:spPr>
      </p:sp>
      <p:sp>
        <p:nvSpPr>
          <p:cNvPr id="78" name="Shape 64"/>
          <p:cNvSpPr/>
          <p:nvPr/>
        </p:nvSpPr>
        <p:spPr>
          <a:xfrm>
            <a:off x="9793224" y="2606040"/>
            <a:ext cx="4315968" cy="685800"/>
          </a:xfrm>
          <a:prstGeom prst="roundRect">
            <a:avLst>
              <a:gd name="adj" fmla="val 6667"/>
            </a:avLst>
          </a:prstGeom>
          <a:solidFill>
            <a:srgbClr val="1E8A5A"/>
          </a:solidFill>
          <a:ln w="12700">
            <a:solidFill>
              <a:srgbClr val="1E8A5A"/>
            </a:solidFill>
            <a:prstDash val="solid"/>
          </a:ln>
        </p:spPr>
      </p:sp>
      <p:sp>
        <p:nvSpPr>
          <p:cNvPr id="79" name="Text 65"/>
          <p:cNvSpPr txBox="1"/>
          <p:nvPr/>
        </p:nvSpPr>
        <p:spPr>
          <a:xfrm>
            <a:off x="9976104" y="2606040"/>
            <a:ext cx="2011680" cy="685800"/>
          </a:xfrm>
          <a:prstGeom prst="rect">
            <a:avLst/>
          </a:prstGeom>
          <a:noFill/>
          <a:ln/>
        </p:spPr>
        <p:txBody>
          <a:bodyPr wrap="square" lIns="0" tIns="0" rIns="0" bIns="0" rtlCol="0" anchor="ctr"/>
          <a:lstStyle/>
          <a:p>
            <a:pPr indent="0" marL="0">
              <a:buNone/>
            </a:pPr>
            <a:r>
              <a:rPr lang="en-US" sz="2000" b="1" spc="200" kern="0" dirty="0">
                <a:solidFill>
                  <a:srgbClr val="FFFFFF"/>
                </a:solidFill>
                <a:latin typeface="Calibri" pitchFamily="34" charset="0"/>
                <a:ea typeface="Calibri" pitchFamily="34" charset="-122"/>
                <a:cs typeface="Calibri" pitchFamily="34" charset="-120"/>
              </a:rPr>
              <a:t>ACTION</a:t>
            </a:r>
            <a:endParaRPr lang="en-US" sz="2000" dirty="0"/>
          </a:p>
        </p:txBody>
      </p:sp>
      <p:sp>
        <p:nvSpPr>
          <p:cNvPr id="80" name="Text 66"/>
          <p:cNvSpPr txBox="1"/>
          <p:nvPr/>
        </p:nvSpPr>
        <p:spPr>
          <a:xfrm>
            <a:off x="11804904" y="2606040"/>
            <a:ext cx="2148840" cy="685800"/>
          </a:xfrm>
          <a:prstGeom prst="rect">
            <a:avLst/>
          </a:prstGeom>
          <a:noFill/>
          <a:ln/>
        </p:spPr>
        <p:txBody>
          <a:bodyPr wrap="square" lIns="0" tIns="0" rIns="0" bIns="0" rtlCol="0" anchor="ctr"/>
          <a:lstStyle/>
          <a:p>
            <a:pPr algn="r" indent="0" marL="0">
              <a:buNone/>
            </a:pPr>
            <a:r>
              <a:rPr lang="en-US" sz="1200" i="1" dirty="0">
                <a:solidFill>
                  <a:srgbClr val="FFFFFF"/>
                </a:solidFill>
                <a:latin typeface="Calibri" pitchFamily="34" charset="0"/>
                <a:ea typeface="Calibri" pitchFamily="34" charset="-122"/>
                <a:cs typeface="Calibri" pitchFamily="34" charset="-120"/>
              </a:rPr>
              <a:t>What we do next</a:t>
            </a:r>
            <a:endParaRPr lang="en-US" sz="1200" dirty="0"/>
          </a:p>
        </p:txBody>
      </p:sp>
      <p:sp>
        <p:nvSpPr>
          <p:cNvPr id="81" name="Shape 67"/>
          <p:cNvSpPr/>
          <p:nvPr/>
        </p:nvSpPr>
        <p:spPr>
          <a:xfrm>
            <a:off x="9957816" y="3474720"/>
            <a:ext cx="3986784" cy="896112"/>
          </a:xfrm>
          <a:prstGeom prst="roundRect">
            <a:avLst>
              <a:gd name="adj" fmla="val 8163"/>
            </a:avLst>
          </a:prstGeom>
          <a:solidFill>
            <a:srgbClr val="FFFFFF"/>
          </a:solidFill>
          <a:ln w="9525">
            <a:solidFill>
              <a:srgbClr val="C8D8EC"/>
            </a:solidFill>
            <a:prstDash val="solid"/>
          </a:ln>
        </p:spPr>
      </p:sp>
      <p:sp>
        <p:nvSpPr>
          <p:cNvPr id="82" name="Shape 68"/>
          <p:cNvSpPr/>
          <p:nvPr/>
        </p:nvSpPr>
        <p:spPr>
          <a:xfrm>
            <a:off x="10076688" y="3703320"/>
            <a:ext cx="438912" cy="438912"/>
          </a:xfrm>
          <a:prstGeom prst="roundRect">
            <a:avLst>
              <a:gd name="adj" fmla="val 20833"/>
            </a:avLst>
          </a:prstGeom>
          <a:solidFill>
            <a:srgbClr val="1E8A5A"/>
          </a:solidFill>
          <a:ln w="12700">
            <a:solidFill>
              <a:srgbClr val="1E8A5A"/>
            </a:solidFill>
            <a:prstDash val="solid"/>
          </a:ln>
        </p:spPr>
      </p:sp>
      <p:pic>
        <p:nvPicPr>
          <p:cNvPr id="83" name="Image 12" descr="preencoded.png">    </p:cNvPr>
          <p:cNvPicPr>
            <a:picLocks noChangeAspect="1"/>
          </p:cNvPicPr>
          <p:nvPr/>
        </p:nvPicPr>
        <p:blipFill>
          <a:blip r:embed="rId13"/>
          <a:stretch>
            <a:fillRect/>
          </a:stretch>
        </p:blipFill>
        <p:spPr>
          <a:xfrm>
            <a:off x="10173249" y="3799881"/>
            <a:ext cx="245791" cy="245791"/>
          </a:xfrm>
          <a:prstGeom prst="rect">
            <a:avLst/>
          </a:prstGeom>
        </p:spPr>
      </p:pic>
      <p:sp>
        <p:nvSpPr>
          <p:cNvPr id="84" name="Text 69"/>
          <p:cNvSpPr txBox="1"/>
          <p:nvPr/>
        </p:nvSpPr>
        <p:spPr>
          <a:xfrm>
            <a:off x="10616184" y="3547872"/>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Helix first</a:t>
            </a:r>
            <a:endParaRPr lang="en-US" sz="1150" dirty="0"/>
          </a:p>
        </p:txBody>
      </p:sp>
      <p:sp>
        <p:nvSpPr>
          <p:cNvPr id="85" name="Text 70"/>
          <p:cNvSpPr txBox="1"/>
          <p:nvPr/>
        </p:nvSpPr>
        <p:spPr>
          <a:xfrm>
            <a:off x="10616184" y="3822192"/>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First business use case on the engine</a:t>
            </a:r>
            <a:endParaRPr lang="en-US" sz="950" dirty="0"/>
          </a:p>
        </p:txBody>
      </p:sp>
      <p:sp>
        <p:nvSpPr>
          <p:cNvPr id="86" name="Shape 71"/>
          <p:cNvSpPr/>
          <p:nvPr/>
        </p:nvSpPr>
        <p:spPr>
          <a:xfrm>
            <a:off x="9957816" y="4498848"/>
            <a:ext cx="3986784" cy="896112"/>
          </a:xfrm>
          <a:prstGeom prst="roundRect">
            <a:avLst>
              <a:gd name="adj" fmla="val 8163"/>
            </a:avLst>
          </a:prstGeom>
          <a:solidFill>
            <a:srgbClr val="FFFFFF"/>
          </a:solidFill>
          <a:ln w="9525">
            <a:solidFill>
              <a:srgbClr val="C8D8EC"/>
            </a:solidFill>
            <a:prstDash val="solid"/>
          </a:ln>
        </p:spPr>
      </p:sp>
      <p:sp>
        <p:nvSpPr>
          <p:cNvPr id="87" name="Shape 72"/>
          <p:cNvSpPr/>
          <p:nvPr/>
        </p:nvSpPr>
        <p:spPr>
          <a:xfrm>
            <a:off x="10076688" y="4727448"/>
            <a:ext cx="438912" cy="438912"/>
          </a:xfrm>
          <a:prstGeom prst="roundRect">
            <a:avLst>
              <a:gd name="adj" fmla="val 20833"/>
            </a:avLst>
          </a:prstGeom>
          <a:solidFill>
            <a:srgbClr val="1E8A5A"/>
          </a:solidFill>
          <a:ln w="12700">
            <a:solidFill>
              <a:srgbClr val="1E8A5A"/>
            </a:solidFill>
            <a:prstDash val="solid"/>
          </a:ln>
        </p:spPr>
      </p:sp>
      <p:pic>
        <p:nvPicPr>
          <p:cNvPr id="88" name="Image 13" descr="preencoded.png">    </p:cNvPr>
          <p:cNvPicPr>
            <a:picLocks noChangeAspect="1"/>
          </p:cNvPicPr>
          <p:nvPr/>
        </p:nvPicPr>
        <p:blipFill>
          <a:blip r:embed="rId14"/>
          <a:stretch>
            <a:fillRect/>
          </a:stretch>
        </p:blipFill>
        <p:spPr>
          <a:xfrm>
            <a:off x="10173249" y="4824009"/>
            <a:ext cx="245791" cy="245791"/>
          </a:xfrm>
          <a:prstGeom prst="rect">
            <a:avLst/>
          </a:prstGeom>
        </p:spPr>
      </p:pic>
      <p:sp>
        <p:nvSpPr>
          <p:cNvPr id="89" name="Text 73"/>
          <p:cNvSpPr txBox="1"/>
          <p:nvPr/>
        </p:nvSpPr>
        <p:spPr>
          <a:xfrm>
            <a:off x="10616184" y="4572000"/>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Apply to more</a:t>
            </a:r>
            <a:endParaRPr lang="en-US" sz="1150" dirty="0"/>
          </a:p>
        </p:txBody>
      </p:sp>
      <p:sp>
        <p:nvSpPr>
          <p:cNvPr id="90" name="Text 74"/>
          <p:cNvSpPr txBox="1"/>
          <p:nvPr/>
        </p:nvSpPr>
        <p:spPr>
          <a:xfrm>
            <a:off x="10616184" y="4846320"/>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Plug the same engine into more workflows</a:t>
            </a:r>
            <a:endParaRPr lang="en-US" sz="950" dirty="0"/>
          </a:p>
        </p:txBody>
      </p:sp>
      <p:sp>
        <p:nvSpPr>
          <p:cNvPr id="91" name="Shape 75"/>
          <p:cNvSpPr/>
          <p:nvPr/>
        </p:nvSpPr>
        <p:spPr>
          <a:xfrm>
            <a:off x="9957816" y="5522976"/>
            <a:ext cx="3986784" cy="896112"/>
          </a:xfrm>
          <a:prstGeom prst="roundRect">
            <a:avLst>
              <a:gd name="adj" fmla="val 8163"/>
            </a:avLst>
          </a:prstGeom>
          <a:solidFill>
            <a:srgbClr val="FFFFFF"/>
          </a:solidFill>
          <a:ln w="9525">
            <a:solidFill>
              <a:srgbClr val="C8D8EC"/>
            </a:solidFill>
            <a:prstDash val="solid"/>
          </a:ln>
        </p:spPr>
      </p:sp>
      <p:sp>
        <p:nvSpPr>
          <p:cNvPr id="92" name="Shape 76"/>
          <p:cNvSpPr/>
          <p:nvPr/>
        </p:nvSpPr>
        <p:spPr>
          <a:xfrm>
            <a:off x="10076688" y="5751576"/>
            <a:ext cx="438912" cy="438912"/>
          </a:xfrm>
          <a:prstGeom prst="roundRect">
            <a:avLst>
              <a:gd name="adj" fmla="val 20833"/>
            </a:avLst>
          </a:prstGeom>
          <a:solidFill>
            <a:srgbClr val="1E8A5A"/>
          </a:solidFill>
          <a:ln w="12700">
            <a:solidFill>
              <a:srgbClr val="1E8A5A"/>
            </a:solidFill>
            <a:prstDash val="solid"/>
          </a:ln>
        </p:spPr>
      </p:sp>
      <p:pic>
        <p:nvPicPr>
          <p:cNvPr id="93" name="Image 14" descr="preencoded.png">    </p:cNvPr>
          <p:cNvPicPr>
            <a:picLocks noChangeAspect="1"/>
          </p:cNvPicPr>
          <p:nvPr/>
        </p:nvPicPr>
        <p:blipFill>
          <a:blip r:embed="rId15"/>
          <a:stretch>
            <a:fillRect/>
          </a:stretch>
        </p:blipFill>
        <p:spPr>
          <a:xfrm>
            <a:off x="10173249" y="5848137"/>
            <a:ext cx="245791" cy="245791"/>
          </a:xfrm>
          <a:prstGeom prst="rect">
            <a:avLst/>
          </a:prstGeom>
        </p:spPr>
      </p:pic>
      <p:sp>
        <p:nvSpPr>
          <p:cNvPr id="94" name="Text 77"/>
          <p:cNvSpPr txBox="1"/>
          <p:nvPr/>
        </p:nvSpPr>
        <p:spPr>
          <a:xfrm>
            <a:off x="10616184" y="5596128"/>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With owners</a:t>
            </a:r>
            <a:endParaRPr lang="en-US" sz="1150" dirty="0"/>
          </a:p>
        </p:txBody>
      </p:sp>
      <p:sp>
        <p:nvSpPr>
          <p:cNvPr id="95" name="Text 78"/>
          <p:cNvSpPr txBox="1"/>
          <p:nvPr/>
        </p:nvSpPr>
        <p:spPr>
          <a:xfrm>
            <a:off x="10616184" y="5870448"/>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Chosen with Financial Control leadership</a:t>
            </a:r>
            <a:endParaRPr lang="en-US" sz="950" dirty="0"/>
          </a:p>
        </p:txBody>
      </p:sp>
      <p:sp>
        <p:nvSpPr>
          <p:cNvPr id="96" name="Shape 79"/>
          <p:cNvSpPr/>
          <p:nvPr/>
        </p:nvSpPr>
        <p:spPr>
          <a:xfrm>
            <a:off x="9957816" y="6547104"/>
            <a:ext cx="3986784" cy="896112"/>
          </a:xfrm>
          <a:prstGeom prst="roundRect">
            <a:avLst>
              <a:gd name="adj" fmla="val 8163"/>
            </a:avLst>
          </a:prstGeom>
          <a:solidFill>
            <a:srgbClr val="FFFFFF"/>
          </a:solidFill>
          <a:ln w="9525">
            <a:solidFill>
              <a:srgbClr val="C8D8EC"/>
            </a:solidFill>
            <a:prstDash val="solid"/>
          </a:ln>
        </p:spPr>
      </p:sp>
      <p:sp>
        <p:nvSpPr>
          <p:cNvPr id="97" name="Shape 80"/>
          <p:cNvSpPr/>
          <p:nvPr/>
        </p:nvSpPr>
        <p:spPr>
          <a:xfrm>
            <a:off x="10076688" y="6775704"/>
            <a:ext cx="438912" cy="438912"/>
          </a:xfrm>
          <a:prstGeom prst="roundRect">
            <a:avLst>
              <a:gd name="adj" fmla="val 20833"/>
            </a:avLst>
          </a:prstGeom>
          <a:solidFill>
            <a:srgbClr val="1E8A5A"/>
          </a:solidFill>
          <a:ln w="12700">
            <a:solidFill>
              <a:srgbClr val="1E8A5A"/>
            </a:solidFill>
            <a:prstDash val="solid"/>
          </a:ln>
        </p:spPr>
      </p:sp>
      <p:pic>
        <p:nvPicPr>
          <p:cNvPr id="98" name="Image 15" descr="preencoded.png">    </p:cNvPr>
          <p:cNvPicPr>
            <a:picLocks noChangeAspect="1"/>
          </p:cNvPicPr>
          <p:nvPr/>
        </p:nvPicPr>
        <p:blipFill>
          <a:blip r:embed="rId16"/>
          <a:stretch>
            <a:fillRect/>
          </a:stretch>
        </p:blipFill>
        <p:spPr>
          <a:xfrm>
            <a:off x="10173249" y="6872265"/>
            <a:ext cx="245791" cy="245791"/>
          </a:xfrm>
          <a:prstGeom prst="rect">
            <a:avLst/>
          </a:prstGeom>
        </p:spPr>
      </p:pic>
      <p:sp>
        <p:nvSpPr>
          <p:cNvPr id="99" name="Text 81"/>
          <p:cNvSpPr txBox="1"/>
          <p:nvPr/>
        </p:nvSpPr>
        <p:spPr>
          <a:xfrm>
            <a:off x="10616184" y="6620256"/>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Evidence led</a:t>
            </a:r>
            <a:endParaRPr lang="en-US" sz="1150" dirty="0"/>
          </a:p>
        </p:txBody>
      </p:sp>
      <p:sp>
        <p:nvSpPr>
          <p:cNvPr id="100" name="Text 82"/>
          <p:cNvSpPr txBox="1"/>
          <p:nvPr/>
        </p:nvSpPr>
        <p:spPr>
          <a:xfrm>
            <a:off x="10616184" y="6894576"/>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Each step measured and observed</a:t>
            </a:r>
            <a:endParaRPr lang="en-US" sz="950" dirty="0"/>
          </a:p>
        </p:txBody>
      </p:sp>
      <p:sp>
        <p:nvSpPr>
          <p:cNvPr id="101" name="Shape 83"/>
          <p:cNvSpPr/>
          <p:nvPr/>
        </p:nvSpPr>
        <p:spPr>
          <a:xfrm>
            <a:off x="502920" y="8001000"/>
            <a:ext cx="13624560" cy="1051560"/>
          </a:xfrm>
          <a:prstGeom prst="roundRect">
            <a:avLst>
              <a:gd name="adj" fmla="val 6957"/>
            </a:avLst>
          </a:prstGeom>
          <a:solidFill>
            <a:srgbClr val="0B2E5E"/>
          </a:solidFill>
          <a:ln w="12700">
            <a:solidFill>
              <a:srgbClr val="0B2E5E"/>
            </a:solidFill>
            <a:prstDash val="solid"/>
          </a:ln>
        </p:spPr>
      </p:sp>
      <p:sp>
        <p:nvSpPr>
          <p:cNvPr id="102" name="Text 84"/>
          <p:cNvSpPr txBox="1"/>
          <p:nvPr/>
        </p:nvSpPr>
        <p:spPr>
          <a:xfrm>
            <a:off x="777240" y="8001000"/>
            <a:ext cx="13075920" cy="10515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We are not presenting a theoretical AI concept. We have built and proven the core Agentic Engine.</a:t>
            </a:r>
            <a:endParaRPr lang="en-US" sz="1700" dirty="0"/>
          </a:p>
        </p:txBody>
      </p:sp>
      <p:sp>
        <p:nvSpPr>
          <p:cNvPr id="103" name="Shape 85"/>
          <p:cNvSpPr/>
          <p:nvPr/>
        </p:nvSpPr>
        <p:spPr>
          <a:xfrm>
            <a:off x="0" y="9272016"/>
            <a:ext cx="14630400" cy="484632"/>
          </a:xfrm>
          <a:prstGeom prst="rect">
            <a:avLst/>
          </a:prstGeom>
          <a:solidFill>
            <a:srgbClr val="0B2E5E"/>
          </a:solidFill>
          <a:ln w="12700">
            <a:solidFill>
              <a:srgbClr val="0B2E5E"/>
            </a:solidFill>
            <a:prstDash val="solid"/>
          </a:ln>
        </p:spPr>
      </p:sp>
      <p:sp>
        <p:nvSpPr>
          <p:cNvPr id="104" name="Text 86"/>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One Finance Agentic Engine</a:t>
            </a:r>
            <a:pPr algn="ctr" indent="0" marL="0">
              <a:buNone/>
            </a:pPr>
            <a:r>
              <a:rPr lang="en-US" sz="1100" dirty="0">
                <a:solidFill>
                  <a:srgbClr val="FFFFFF"/>
                </a:solidFill>
                <a:latin typeface="Calibri" pitchFamily="34" charset="0"/>
                <a:ea typeface="Calibri" pitchFamily="34" charset="-122"/>
                <a:cs typeface="Calibri" pitchFamily="34" charset="-120"/>
              </a:rPr>
              <a:t>   |   Data. Analysis. Action.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Helix: The First Production-Ready Use Case</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The Agentic Engine applied to investigation-driven FOBO reconciliation (CATS vs MOTIF)</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Proven with Helix</a:t>
            </a:r>
            <a:endParaRPr lang="en-US" sz="2200" dirty="0"/>
          </a:p>
        </p:txBody>
      </p:sp>
      <p:sp>
        <p:nvSpPr>
          <p:cNvPr id="7" name="Text 5"/>
          <p:cNvSpPr txBox="1"/>
          <p:nvPr/>
        </p:nvSpPr>
        <p:spPr>
          <a:xfrm>
            <a:off x="502920" y="1216152"/>
            <a:ext cx="1920240" cy="34747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Live workspaces (L4)</a:t>
            </a:r>
            <a:endParaRPr lang="en-US" sz="1100" dirty="0"/>
          </a:p>
        </p:txBody>
      </p:sp>
      <p:sp>
        <p:nvSpPr>
          <p:cNvPr id="8" name="Shape 6"/>
          <p:cNvSpPr/>
          <p:nvPr/>
        </p:nvSpPr>
        <p:spPr>
          <a:xfrm>
            <a:off x="2496312" y="1243584"/>
            <a:ext cx="2075688" cy="283464"/>
          </a:xfrm>
          <a:prstGeom prst="roundRect">
            <a:avLst>
              <a:gd name="adj" fmla="val 48387"/>
            </a:avLst>
          </a:prstGeom>
          <a:solidFill>
            <a:srgbClr val="DCE9F7"/>
          </a:solidFill>
          <a:ln w="9525">
            <a:solidFill>
              <a:srgbClr val="C8D8EC"/>
            </a:solidFill>
            <a:prstDash val="solid"/>
          </a:ln>
        </p:spPr>
      </p:sp>
      <p:pic>
        <p:nvPicPr>
          <p:cNvPr id="9" name="Image 0" descr="preencoded.png">    </p:cNvPr>
          <p:cNvPicPr>
            <a:picLocks noChangeAspect="1"/>
          </p:cNvPicPr>
          <p:nvPr/>
        </p:nvPicPr>
        <p:blipFill>
          <a:blip r:embed="rId1"/>
          <a:stretch>
            <a:fillRect/>
          </a:stretch>
        </p:blipFill>
        <p:spPr>
          <a:xfrm>
            <a:off x="2606040" y="1316736"/>
            <a:ext cx="137160" cy="137160"/>
          </a:xfrm>
          <a:prstGeom prst="rect">
            <a:avLst/>
          </a:prstGeom>
        </p:spPr>
      </p:pic>
      <p:sp>
        <p:nvSpPr>
          <p:cNvPr id="10" name="Text 7"/>
          <p:cNvSpPr txBox="1"/>
          <p:nvPr/>
        </p:nvSpPr>
        <p:spPr>
          <a:xfrm>
            <a:off x="2798064"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CATS vs MOTIF - FI Credit</a:t>
            </a:r>
            <a:endParaRPr lang="en-US" sz="950" dirty="0"/>
          </a:p>
        </p:txBody>
      </p:sp>
      <p:sp>
        <p:nvSpPr>
          <p:cNvPr id="11" name="Shape 8"/>
          <p:cNvSpPr/>
          <p:nvPr/>
        </p:nvSpPr>
        <p:spPr>
          <a:xfrm>
            <a:off x="4709160" y="1243584"/>
            <a:ext cx="2075688" cy="283464"/>
          </a:xfrm>
          <a:prstGeom prst="roundRect">
            <a:avLst>
              <a:gd name="adj" fmla="val 48387"/>
            </a:avLst>
          </a:prstGeom>
          <a:solidFill>
            <a:srgbClr val="DCE9F7"/>
          </a:solidFill>
          <a:ln w="9525">
            <a:solidFill>
              <a:srgbClr val="C8D8EC"/>
            </a:solidFill>
            <a:prstDash val="solid"/>
          </a:ln>
        </p:spPr>
      </p:sp>
      <p:pic>
        <p:nvPicPr>
          <p:cNvPr id="12" name="Image 1" descr="preencoded.png">    </p:cNvPr>
          <p:cNvPicPr>
            <a:picLocks noChangeAspect="1"/>
          </p:cNvPicPr>
          <p:nvPr/>
        </p:nvPicPr>
        <p:blipFill>
          <a:blip r:embed="rId2"/>
          <a:stretch>
            <a:fillRect/>
          </a:stretch>
        </p:blipFill>
        <p:spPr>
          <a:xfrm>
            <a:off x="4818888" y="1316736"/>
            <a:ext cx="137160" cy="137160"/>
          </a:xfrm>
          <a:prstGeom prst="rect">
            <a:avLst/>
          </a:prstGeom>
        </p:spPr>
      </p:pic>
      <p:sp>
        <p:nvSpPr>
          <p:cNvPr id="13" name="Text 9"/>
          <p:cNvSpPr txBox="1"/>
          <p:nvPr/>
        </p:nvSpPr>
        <p:spPr>
          <a:xfrm>
            <a:off x="5010912"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CATS vs MOTIF - Rates</a:t>
            </a:r>
            <a:endParaRPr lang="en-US" sz="950" dirty="0"/>
          </a:p>
        </p:txBody>
      </p:sp>
      <p:sp>
        <p:nvSpPr>
          <p:cNvPr id="14" name="Shape 10"/>
          <p:cNvSpPr/>
          <p:nvPr/>
        </p:nvSpPr>
        <p:spPr>
          <a:xfrm>
            <a:off x="6922008" y="1243584"/>
            <a:ext cx="2075688" cy="283464"/>
          </a:xfrm>
          <a:prstGeom prst="roundRect">
            <a:avLst>
              <a:gd name="adj" fmla="val 48387"/>
            </a:avLst>
          </a:prstGeom>
          <a:solidFill>
            <a:srgbClr val="DCE9F7"/>
          </a:solidFill>
          <a:ln w="9525">
            <a:solidFill>
              <a:srgbClr val="C8D8EC"/>
            </a:solidFill>
            <a:prstDash val="solid"/>
          </a:ln>
        </p:spPr>
      </p:sp>
      <p:pic>
        <p:nvPicPr>
          <p:cNvPr id="15" name="Image 2" descr="preencoded.png">    </p:cNvPr>
          <p:cNvPicPr>
            <a:picLocks noChangeAspect="1"/>
          </p:cNvPicPr>
          <p:nvPr/>
        </p:nvPicPr>
        <p:blipFill>
          <a:blip r:embed="rId3"/>
          <a:stretch>
            <a:fillRect/>
          </a:stretch>
        </p:blipFill>
        <p:spPr>
          <a:xfrm>
            <a:off x="7031736" y="1316736"/>
            <a:ext cx="137160" cy="137160"/>
          </a:xfrm>
          <a:prstGeom prst="rect">
            <a:avLst/>
          </a:prstGeom>
        </p:spPr>
      </p:pic>
      <p:sp>
        <p:nvSpPr>
          <p:cNvPr id="16" name="Text 11"/>
          <p:cNvSpPr txBox="1"/>
          <p:nvPr/>
        </p:nvSpPr>
        <p:spPr>
          <a:xfrm>
            <a:off x="7223760"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CATS vs MOTIF - Prime</a:t>
            </a:r>
            <a:endParaRPr lang="en-US" sz="950" dirty="0"/>
          </a:p>
        </p:txBody>
      </p:sp>
      <p:sp>
        <p:nvSpPr>
          <p:cNvPr id="17" name="Shape 12"/>
          <p:cNvSpPr/>
          <p:nvPr/>
        </p:nvSpPr>
        <p:spPr>
          <a:xfrm>
            <a:off x="9134856" y="1243584"/>
            <a:ext cx="2075688" cy="283464"/>
          </a:xfrm>
          <a:prstGeom prst="roundRect">
            <a:avLst>
              <a:gd name="adj" fmla="val 48387"/>
            </a:avLst>
          </a:prstGeom>
          <a:solidFill>
            <a:srgbClr val="FFFFFF"/>
          </a:solidFill>
          <a:ln w="9525">
            <a:solidFill>
              <a:srgbClr val="C8D8EC"/>
            </a:solidFill>
            <a:prstDash val="solid"/>
          </a:ln>
        </p:spPr>
      </p:sp>
      <p:pic>
        <p:nvPicPr>
          <p:cNvPr id="18" name="Image 3" descr="preencoded.png">    </p:cNvPr>
          <p:cNvPicPr>
            <a:picLocks noChangeAspect="1"/>
          </p:cNvPicPr>
          <p:nvPr/>
        </p:nvPicPr>
        <p:blipFill>
          <a:blip r:embed="rId4"/>
          <a:stretch>
            <a:fillRect/>
          </a:stretch>
        </p:blipFill>
        <p:spPr>
          <a:xfrm>
            <a:off x="9244584" y="1316736"/>
            <a:ext cx="137160" cy="137160"/>
          </a:xfrm>
          <a:prstGeom prst="rect">
            <a:avLst/>
          </a:prstGeom>
        </p:spPr>
      </p:pic>
      <p:sp>
        <p:nvSpPr>
          <p:cNvPr id="19" name="Text 13"/>
          <p:cNvSpPr txBox="1"/>
          <p:nvPr/>
        </p:nvSpPr>
        <p:spPr>
          <a:xfrm>
            <a:off x="9436608" y="1243584"/>
            <a:ext cx="1737360" cy="283464"/>
          </a:xfrm>
          <a:prstGeom prst="rect">
            <a:avLst/>
          </a:prstGeom>
          <a:noFill/>
          <a:ln/>
        </p:spPr>
        <p:txBody>
          <a:bodyPr wrap="square" lIns="0" tIns="0" rIns="0" bIns="0" rtlCol="0" anchor="ctr"/>
          <a:lstStyle/>
          <a:p>
            <a:pPr indent="0" marL="0">
              <a:buNone/>
            </a:pPr>
            <a:r>
              <a:rPr lang="en-US" sz="950" i="1" dirty="0">
                <a:solidFill>
                  <a:srgbClr val="1F2D3D"/>
                </a:solidFill>
                <a:latin typeface="Calibri" pitchFamily="34" charset="0"/>
                <a:ea typeface="Calibri" pitchFamily="34" charset="-122"/>
                <a:cs typeface="Calibri" pitchFamily="34" charset="-120"/>
              </a:rPr>
              <a:t>More L4 workspaces</a:t>
            </a:r>
            <a:endParaRPr lang="en-US" sz="950" dirty="0"/>
          </a:p>
        </p:txBody>
      </p:sp>
      <p:sp>
        <p:nvSpPr>
          <p:cNvPr id="20" name="Text 14"/>
          <p:cNvSpPr txBox="1"/>
          <p:nvPr/>
        </p:nvSpPr>
        <p:spPr>
          <a:xfrm>
            <a:off x="11338560" y="1216152"/>
            <a:ext cx="2852928" cy="347472"/>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In delivery, go-live 5 Feb 2027</a:t>
            </a:r>
            <a:endParaRPr lang="en-US" sz="950" dirty="0"/>
          </a:p>
        </p:txBody>
      </p:sp>
      <p:sp>
        <p:nvSpPr>
          <p:cNvPr id="21" name="Text 15"/>
          <p:cNvSpPr txBox="1"/>
          <p:nvPr/>
        </p:nvSpPr>
        <p:spPr>
          <a:xfrm>
            <a:off x="502920" y="1691640"/>
            <a:ext cx="4572000" cy="274320"/>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Business process supported</a:t>
            </a:r>
            <a:endParaRPr lang="en-US" sz="1200" dirty="0"/>
          </a:p>
        </p:txBody>
      </p:sp>
      <p:sp>
        <p:nvSpPr>
          <p:cNvPr id="22" name="Shape 16"/>
          <p:cNvSpPr/>
          <p:nvPr/>
        </p:nvSpPr>
        <p:spPr>
          <a:xfrm>
            <a:off x="502920" y="2011680"/>
            <a:ext cx="2103120" cy="1097280"/>
          </a:xfrm>
          <a:prstGeom prst="roundRect">
            <a:avLst>
              <a:gd name="adj" fmla="val 6667"/>
            </a:avLst>
          </a:prstGeom>
          <a:solidFill>
            <a:srgbClr val="FFFFFF"/>
          </a:solidFill>
          <a:ln w="9525">
            <a:solidFill>
              <a:srgbClr val="C8D8EC"/>
            </a:solidFill>
            <a:prstDash val="solid"/>
          </a:ln>
        </p:spPr>
      </p:sp>
      <p:sp>
        <p:nvSpPr>
          <p:cNvPr id="23" name="Shape 17"/>
          <p:cNvSpPr/>
          <p:nvPr/>
        </p:nvSpPr>
        <p:spPr>
          <a:xfrm>
            <a:off x="612648" y="2157984"/>
            <a:ext cx="420624" cy="420624"/>
          </a:xfrm>
          <a:prstGeom prst="roundRect">
            <a:avLst>
              <a:gd name="adj" fmla="val 21739"/>
            </a:avLst>
          </a:prstGeom>
          <a:solidFill>
            <a:srgbClr val="2A6EBB"/>
          </a:solidFill>
          <a:ln w="12700">
            <a:solidFill>
              <a:srgbClr val="2A6EBB"/>
            </a:solidFill>
            <a:prstDash val="solid"/>
          </a:ln>
        </p:spPr>
      </p:sp>
      <p:pic>
        <p:nvPicPr>
          <p:cNvPr id="24" name="Image 4" descr="preencoded.png">    </p:cNvPr>
          <p:cNvPicPr>
            <a:picLocks noChangeAspect="1"/>
          </p:cNvPicPr>
          <p:nvPr/>
        </p:nvPicPr>
        <p:blipFill>
          <a:blip r:embed="rId5"/>
          <a:stretch>
            <a:fillRect/>
          </a:stretch>
        </p:blipFill>
        <p:spPr>
          <a:xfrm>
            <a:off x="705185" y="2250521"/>
            <a:ext cx="235549" cy="235549"/>
          </a:xfrm>
          <a:prstGeom prst="rect">
            <a:avLst/>
          </a:prstGeom>
        </p:spPr>
      </p:pic>
      <p:sp>
        <p:nvSpPr>
          <p:cNvPr id="25" name="Text 18"/>
          <p:cNvSpPr txBox="1"/>
          <p:nvPr/>
        </p:nvSpPr>
        <p:spPr>
          <a:xfrm>
            <a:off x="1106424" y="2103120"/>
            <a:ext cx="1463040" cy="36576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Books land</a:t>
            </a:r>
            <a:endParaRPr lang="en-US" sz="1150" dirty="0"/>
          </a:p>
        </p:txBody>
      </p:sp>
      <p:sp>
        <p:nvSpPr>
          <p:cNvPr id="26" name="Text 19"/>
          <p:cNvSpPr txBox="1"/>
          <p:nvPr/>
        </p:nvSpPr>
        <p:spPr>
          <a:xfrm>
            <a:off x="612648" y="2615184"/>
            <a:ext cx="1920240" cy="45720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MBREC master books per workspace</a:t>
            </a:r>
            <a:endParaRPr lang="en-US" sz="950" dirty="0"/>
          </a:p>
        </p:txBody>
      </p:sp>
      <p:sp>
        <p:nvSpPr>
          <p:cNvPr id="27" name="Shape 20"/>
          <p:cNvSpPr/>
          <p:nvPr/>
        </p:nvSpPr>
        <p:spPr>
          <a:xfrm>
            <a:off x="2606040" y="2560320"/>
            <a:ext cx="182880" cy="0"/>
          </a:xfrm>
          <a:prstGeom prst="line">
            <a:avLst/>
          </a:prstGeom>
          <a:noFill/>
          <a:ln w="19050">
            <a:solidFill>
              <a:srgbClr val="6B7C93"/>
            </a:solidFill>
            <a:prstDash val="solid"/>
            <a:tailEnd type="triangle"/>
          </a:ln>
        </p:spPr>
      </p:sp>
      <p:sp>
        <p:nvSpPr>
          <p:cNvPr id="28" name="Shape 21"/>
          <p:cNvSpPr/>
          <p:nvPr/>
        </p:nvSpPr>
        <p:spPr>
          <a:xfrm>
            <a:off x="2788920" y="2011680"/>
            <a:ext cx="2103120" cy="1097280"/>
          </a:xfrm>
          <a:prstGeom prst="roundRect">
            <a:avLst>
              <a:gd name="adj" fmla="val 6667"/>
            </a:avLst>
          </a:prstGeom>
          <a:solidFill>
            <a:srgbClr val="FFFFFF"/>
          </a:solidFill>
          <a:ln w="9525">
            <a:solidFill>
              <a:srgbClr val="C8D8EC"/>
            </a:solidFill>
            <a:prstDash val="solid"/>
          </a:ln>
        </p:spPr>
      </p:sp>
      <p:sp>
        <p:nvSpPr>
          <p:cNvPr id="29" name="Shape 22"/>
          <p:cNvSpPr/>
          <p:nvPr/>
        </p:nvSpPr>
        <p:spPr>
          <a:xfrm>
            <a:off x="2898648" y="2157984"/>
            <a:ext cx="420624" cy="420624"/>
          </a:xfrm>
          <a:prstGeom prst="roundRect">
            <a:avLst>
              <a:gd name="adj" fmla="val 21739"/>
            </a:avLst>
          </a:prstGeom>
          <a:solidFill>
            <a:srgbClr val="2A6EBB"/>
          </a:solidFill>
          <a:ln w="12700">
            <a:solidFill>
              <a:srgbClr val="2A6EBB"/>
            </a:solidFill>
            <a:prstDash val="solid"/>
          </a:ln>
        </p:spPr>
      </p:sp>
      <p:pic>
        <p:nvPicPr>
          <p:cNvPr id="30" name="Image 5" descr="preencoded.png">    </p:cNvPr>
          <p:cNvPicPr>
            <a:picLocks noChangeAspect="1"/>
          </p:cNvPicPr>
          <p:nvPr/>
        </p:nvPicPr>
        <p:blipFill>
          <a:blip r:embed="rId6"/>
          <a:stretch>
            <a:fillRect/>
          </a:stretch>
        </p:blipFill>
        <p:spPr>
          <a:xfrm>
            <a:off x="2991185" y="2250521"/>
            <a:ext cx="235549" cy="235549"/>
          </a:xfrm>
          <a:prstGeom prst="rect">
            <a:avLst/>
          </a:prstGeom>
        </p:spPr>
      </p:pic>
      <p:sp>
        <p:nvSpPr>
          <p:cNvPr id="31" name="Text 23"/>
          <p:cNvSpPr txBox="1"/>
          <p:nvPr/>
        </p:nvSpPr>
        <p:spPr>
          <a:xfrm>
            <a:off x="3392424" y="2103120"/>
            <a:ext cx="1463040" cy="36576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Ready event</a:t>
            </a:r>
            <a:endParaRPr lang="en-US" sz="1150" dirty="0"/>
          </a:p>
        </p:txBody>
      </p:sp>
      <p:sp>
        <p:nvSpPr>
          <p:cNvPr id="32" name="Text 24"/>
          <p:cNvSpPr txBox="1"/>
          <p:nvPr/>
        </p:nvSpPr>
        <p:spPr>
          <a:xfrm>
            <a:off x="2898648" y="2615184"/>
            <a:ext cx="1920240" cy="45720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One Fin UX: all books available</a:t>
            </a:r>
            <a:endParaRPr lang="en-US" sz="950" dirty="0"/>
          </a:p>
        </p:txBody>
      </p:sp>
      <p:sp>
        <p:nvSpPr>
          <p:cNvPr id="33" name="Shape 25"/>
          <p:cNvSpPr/>
          <p:nvPr/>
        </p:nvSpPr>
        <p:spPr>
          <a:xfrm>
            <a:off x="4892040" y="2560320"/>
            <a:ext cx="182880" cy="0"/>
          </a:xfrm>
          <a:prstGeom prst="line">
            <a:avLst/>
          </a:prstGeom>
          <a:noFill/>
          <a:ln w="19050">
            <a:solidFill>
              <a:srgbClr val="6B7C93"/>
            </a:solidFill>
            <a:prstDash val="solid"/>
            <a:tailEnd type="triangle"/>
          </a:ln>
        </p:spPr>
      </p:sp>
      <p:sp>
        <p:nvSpPr>
          <p:cNvPr id="34" name="Shape 26"/>
          <p:cNvSpPr/>
          <p:nvPr/>
        </p:nvSpPr>
        <p:spPr>
          <a:xfrm>
            <a:off x="5074920" y="2011680"/>
            <a:ext cx="2103120" cy="1097280"/>
          </a:xfrm>
          <a:prstGeom prst="roundRect">
            <a:avLst>
              <a:gd name="adj" fmla="val 6667"/>
            </a:avLst>
          </a:prstGeom>
          <a:solidFill>
            <a:srgbClr val="FFFFFF"/>
          </a:solidFill>
          <a:ln w="9525">
            <a:solidFill>
              <a:srgbClr val="C8D8EC"/>
            </a:solidFill>
            <a:prstDash val="solid"/>
          </a:ln>
        </p:spPr>
      </p:sp>
      <p:sp>
        <p:nvSpPr>
          <p:cNvPr id="35" name="Shape 27"/>
          <p:cNvSpPr/>
          <p:nvPr/>
        </p:nvSpPr>
        <p:spPr>
          <a:xfrm>
            <a:off x="5184648" y="2157984"/>
            <a:ext cx="420624" cy="420624"/>
          </a:xfrm>
          <a:prstGeom prst="roundRect">
            <a:avLst>
              <a:gd name="adj" fmla="val 21739"/>
            </a:avLst>
          </a:prstGeom>
          <a:solidFill>
            <a:srgbClr val="2A6EBB"/>
          </a:solidFill>
          <a:ln w="12700">
            <a:solidFill>
              <a:srgbClr val="2A6EBB"/>
            </a:solidFill>
            <a:prstDash val="solid"/>
          </a:ln>
        </p:spPr>
      </p:sp>
      <p:pic>
        <p:nvPicPr>
          <p:cNvPr id="36" name="Image 6" descr="preencoded.png">    </p:cNvPr>
          <p:cNvPicPr>
            <a:picLocks noChangeAspect="1"/>
          </p:cNvPicPr>
          <p:nvPr/>
        </p:nvPicPr>
        <p:blipFill>
          <a:blip r:embed="rId7"/>
          <a:stretch>
            <a:fillRect/>
          </a:stretch>
        </p:blipFill>
        <p:spPr>
          <a:xfrm>
            <a:off x="5277185" y="2250521"/>
            <a:ext cx="235549" cy="235549"/>
          </a:xfrm>
          <a:prstGeom prst="rect">
            <a:avLst/>
          </a:prstGeom>
        </p:spPr>
      </p:pic>
      <p:sp>
        <p:nvSpPr>
          <p:cNvPr id="37" name="Text 28"/>
          <p:cNvSpPr txBox="1"/>
          <p:nvPr/>
        </p:nvSpPr>
        <p:spPr>
          <a:xfrm>
            <a:off x="5678424" y="2103120"/>
            <a:ext cx="1463040" cy="36576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Session starts</a:t>
            </a:r>
            <a:endParaRPr lang="en-US" sz="1150" dirty="0"/>
          </a:p>
        </p:txBody>
      </p:sp>
      <p:sp>
        <p:nvSpPr>
          <p:cNvPr id="38" name="Text 29"/>
          <p:cNvSpPr txBox="1"/>
          <p:nvPr/>
        </p:nvSpPr>
        <p:spPr>
          <a:xfrm>
            <a:off x="5184648" y="2615184"/>
            <a:ext cx="1920240" cy="45720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Orchestrator runs automatically</a:t>
            </a:r>
            <a:endParaRPr lang="en-US" sz="950" dirty="0"/>
          </a:p>
        </p:txBody>
      </p:sp>
      <p:sp>
        <p:nvSpPr>
          <p:cNvPr id="39" name="Shape 30"/>
          <p:cNvSpPr/>
          <p:nvPr/>
        </p:nvSpPr>
        <p:spPr>
          <a:xfrm>
            <a:off x="7178040" y="2560320"/>
            <a:ext cx="182880" cy="0"/>
          </a:xfrm>
          <a:prstGeom prst="line">
            <a:avLst/>
          </a:prstGeom>
          <a:noFill/>
          <a:ln w="19050">
            <a:solidFill>
              <a:srgbClr val="6B7C93"/>
            </a:solidFill>
            <a:prstDash val="solid"/>
            <a:tailEnd type="triangle"/>
          </a:ln>
        </p:spPr>
      </p:sp>
      <p:sp>
        <p:nvSpPr>
          <p:cNvPr id="40" name="Shape 31"/>
          <p:cNvSpPr/>
          <p:nvPr/>
        </p:nvSpPr>
        <p:spPr>
          <a:xfrm>
            <a:off x="7360920" y="2011680"/>
            <a:ext cx="2103120" cy="1097280"/>
          </a:xfrm>
          <a:prstGeom prst="roundRect">
            <a:avLst>
              <a:gd name="adj" fmla="val 6667"/>
            </a:avLst>
          </a:prstGeom>
          <a:solidFill>
            <a:srgbClr val="FFFFFF"/>
          </a:solidFill>
          <a:ln w="9525">
            <a:solidFill>
              <a:srgbClr val="C8D8EC"/>
            </a:solidFill>
            <a:prstDash val="solid"/>
          </a:ln>
        </p:spPr>
      </p:sp>
      <p:sp>
        <p:nvSpPr>
          <p:cNvPr id="41" name="Shape 32"/>
          <p:cNvSpPr/>
          <p:nvPr/>
        </p:nvSpPr>
        <p:spPr>
          <a:xfrm>
            <a:off x="7470648" y="2157984"/>
            <a:ext cx="420624" cy="420624"/>
          </a:xfrm>
          <a:prstGeom prst="roundRect">
            <a:avLst>
              <a:gd name="adj" fmla="val 21739"/>
            </a:avLst>
          </a:prstGeom>
          <a:solidFill>
            <a:srgbClr val="5B4FA8"/>
          </a:solidFill>
          <a:ln w="12700">
            <a:solidFill>
              <a:srgbClr val="5B4FA8"/>
            </a:solidFill>
            <a:prstDash val="solid"/>
          </a:ln>
        </p:spPr>
      </p:sp>
      <p:pic>
        <p:nvPicPr>
          <p:cNvPr id="42" name="Image 7" descr="preencoded.png">    </p:cNvPr>
          <p:cNvPicPr>
            <a:picLocks noChangeAspect="1"/>
          </p:cNvPicPr>
          <p:nvPr/>
        </p:nvPicPr>
        <p:blipFill>
          <a:blip r:embed="rId8"/>
          <a:stretch>
            <a:fillRect/>
          </a:stretch>
        </p:blipFill>
        <p:spPr>
          <a:xfrm>
            <a:off x="7563185" y="2250521"/>
            <a:ext cx="235549" cy="235549"/>
          </a:xfrm>
          <a:prstGeom prst="rect">
            <a:avLst/>
          </a:prstGeom>
        </p:spPr>
      </p:pic>
      <p:sp>
        <p:nvSpPr>
          <p:cNvPr id="43" name="Text 33"/>
          <p:cNvSpPr txBox="1"/>
          <p:nvPr/>
        </p:nvSpPr>
        <p:spPr>
          <a:xfrm>
            <a:off x="7964424" y="2103120"/>
            <a:ext cx="1463040" cy="36576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Agent investigates</a:t>
            </a:r>
            <a:endParaRPr lang="en-US" sz="1150" dirty="0"/>
          </a:p>
        </p:txBody>
      </p:sp>
      <p:sp>
        <p:nvSpPr>
          <p:cNvPr id="44" name="Text 34"/>
          <p:cNvSpPr txBox="1"/>
          <p:nvPr/>
        </p:nvSpPr>
        <p:spPr>
          <a:xfrm>
            <a:off x="7470648" y="2615184"/>
            <a:ext cx="1920240" cy="45720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Classify, explain, recommend</a:t>
            </a:r>
            <a:endParaRPr lang="en-US" sz="950" dirty="0"/>
          </a:p>
        </p:txBody>
      </p:sp>
      <p:sp>
        <p:nvSpPr>
          <p:cNvPr id="45" name="Shape 35"/>
          <p:cNvSpPr/>
          <p:nvPr/>
        </p:nvSpPr>
        <p:spPr>
          <a:xfrm>
            <a:off x="9464040" y="2560320"/>
            <a:ext cx="182880" cy="0"/>
          </a:xfrm>
          <a:prstGeom prst="line">
            <a:avLst/>
          </a:prstGeom>
          <a:noFill/>
          <a:ln w="19050">
            <a:solidFill>
              <a:srgbClr val="6B7C93"/>
            </a:solidFill>
            <a:prstDash val="solid"/>
            <a:tailEnd type="triangle"/>
          </a:ln>
        </p:spPr>
      </p:sp>
      <p:sp>
        <p:nvSpPr>
          <p:cNvPr id="46" name="Shape 36"/>
          <p:cNvSpPr/>
          <p:nvPr/>
        </p:nvSpPr>
        <p:spPr>
          <a:xfrm>
            <a:off x="9646920" y="2011680"/>
            <a:ext cx="2103120" cy="1097280"/>
          </a:xfrm>
          <a:prstGeom prst="roundRect">
            <a:avLst>
              <a:gd name="adj" fmla="val 6667"/>
            </a:avLst>
          </a:prstGeom>
          <a:solidFill>
            <a:srgbClr val="FFFFFF"/>
          </a:solidFill>
          <a:ln w="9525">
            <a:solidFill>
              <a:srgbClr val="C8D8EC"/>
            </a:solidFill>
            <a:prstDash val="solid"/>
          </a:ln>
        </p:spPr>
      </p:sp>
      <p:sp>
        <p:nvSpPr>
          <p:cNvPr id="47" name="Shape 37"/>
          <p:cNvSpPr/>
          <p:nvPr/>
        </p:nvSpPr>
        <p:spPr>
          <a:xfrm>
            <a:off x="9756648" y="2157984"/>
            <a:ext cx="420624" cy="420624"/>
          </a:xfrm>
          <a:prstGeom prst="roundRect">
            <a:avLst>
              <a:gd name="adj" fmla="val 21739"/>
            </a:avLst>
          </a:prstGeom>
          <a:solidFill>
            <a:srgbClr val="1F6FB5"/>
          </a:solidFill>
          <a:ln w="12700">
            <a:solidFill>
              <a:srgbClr val="1F6FB5"/>
            </a:solidFill>
            <a:prstDash val="solid"/>
          </a:ln>
        </p:spPr>
      </p:sp>
      <p:pic>
        <p:nvPicPr>
          <p:cNvPr id="48" name="Image 8" descr="preencoded.png">    </p:cNvPr>
          <p:cNvPicPr>
            <a:picLocks noChangeAspect="1"/>
          </p:cNvPicPr>
          <p:nvPr/>
        </p:nvPicPr>
        <p:blipFill>
          <a:blip r:embed="rId9"/>
          <a:stretch>
            <a:fillRect/>
          </a:stretch>
        </p:blipFill>
        <p:spPr>
          <a:xfrm>
            <a:off x="9849185" y="2250521"/>
            <a:ext cx="235549" cy="235549"/>
          </a:xfrm>
          <a:prstGeom prst="rect">
            <a:avLst/>
          </a:prstGeom>
        </p:spPr>
      </p:pic>
      <p:sp>
        <p:nvSpPr>
          <p:cNvPr id="49" name="Text 38"/>
          <p:cNvSpPr txBox="1"/>
          <p:nvPr/>
        </p:nvSpPr>
        <p:spPr>
          <a:xfrm>
            <a:off x="10250424" y="2103120"/>
            <a:ext cx="1463040" cy="36576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Controller decides</a:t>
            </a:r>
            <a:endParaRPr lang="en-US" sz="1150" dirty="0"/>
          </a:p>
        </p:txBody>
      </p:sp>
      <p:sp>
        <p:nvSpPr>
          <p:cNvPr id="50" name="Text 39"/>
          <p:cNvSpPr txBox="1"/>
          <p:nvPr/>
        </p:nvSpPr>
        <p:spPr>
          <a:xfrm>
            <a:off x="9756648" y="2615184"/>
            <a:ext cx="1920240" cy="45720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Reviews, asks, approves</a:t>
            </a:r>
            <a:endParaRPr lang="en-US" sz="950" dirty="0"/>
          </a:p>
        </p:txBody>
      </p:sp>
      <p:sp>
        <p:nvSpPr>
          <p:cNvPr id="51" name="Shape 40"/>
          <p:cNvSpPr/>
          <p:nvPr/>
        </p:nvSpPr>
        <p:spPr>
          <a:xfrm>
            <a:off x="11750040" y="2560320"/>
            <a:ext cx="182880" cy="0"/>
          </a:xfrm>
          <a:prstGeom prst="line">
            <a:avLst/>
          </a:prstGeom>
          <a:noFill/>
          <a:ln w="19050">
            <a:solidFill>
              <a:srgbClr val="6B7C93"/>
            </a:solidFill>
            <a:prstDash val="solid"/>
            <a:tailEnd type="triangle"/>
          </a:ln>
        </p:spPr>
      </p:sp>
      <p:sp>
        <p:nvSpPr>
          <p:cNvPr id="52" name="Shape 41"/>
          <p:cNvSpPr/>
          <p:nvPr/>
        </p:nvSpPr>
        <p:spPr>
          <a:xfrm>
            <a:off x="11932920" y="2011680"/>
            <a:ext cx="2103120" cy="1097280"/>
          </a:xfrm>
          <a:prstGeom prst="roundRect">
            <a:avLst>
              <a:gd name="adj" fmla="val 6667"/>
            </a:avLst>
          </a:prstGeom>
          <a:solidFill>
            <a:srgbClr val="FFFFFF"/>
          </a:solidFill>
          <a:ln w="9525">
            <a:solidFill>
              <a:srgbClr val="C8D8EC"/>
            </a:solidFill>
            <a:prstDash val="solid"/>
          </a:ln>
        </p:spPr>
      </p:sp>
      <p:sp>
        <p:nvSpPr>
          <p:cNvPr id="53" name="Shape 42"/>
          <p:cNvSpPr/>
          <p:nvPr/>
        </p:nvSpPr>
        <p:spPr>
          <a:xfrm>
            <a:off x="12042648" y="2157984"/>
            <a:ext cx="420624" cy="420624"/>
          </a:xfrm>
          <a:prstGeom prst="roundRect">
            <a:avLst>
              <a:gd name="adj" fmla="val 21739"/>
            </a:avLst>
          </a:prstGeom>
          <a:solidFill>
            <a:srgbClr val="C0392B"/>
          </a:solidFill>
          <a:ln w="12700">
            <a:solidFill>
              <a:srgbClr val="C0392B"/>
            </a:solidFill>
            <a:prstDash val="solid"/>
          </a:ln>
        </p:spPr>
      </p:sp>
      <p:pic>
        <p:nvPicPr>
          <p:cNvPr id="54" name="Image 9" descr="preencoded.png">    </p:cNvPr>
          <p:cNvPicPr>
            <a:picLocks noChangeAspect="1"/>
          </p:cNvPicPr>
          <p:nvPr/>
        </p:nvPicPr>
        <p:blipFill>
          <a:blip r:embed="rId10"/>
          <a:stretch>
            <a:fillRect/>
          </a:stretch>
        </p:blipFill>
        <p:spPr>
          <a:xfrm>
            <a:off x="12135185" y="2250521"/>
            <a:ext cx="235549" cy="235549"/>
          </a:xfrm>
          <a:prstGeom prst="rect">
            <a:avLst/>
          </a:prstGeom>
        </p:spPr>
      </p:pic>
      <p:sp>
        <p:nvSpPr>
          <p:cNvPr id="55" name="Text 43"/>
          <p:cNvSpPr txBox="1"/>
          <p:nvPr/>
        </p:nvSpPr>
        <p:spPr>
          <a:xfrm>
            <a:off x="12536424" y="2103120"/>
            <a:ext cx="1463040" cy="36576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FAS posts</a:t>
            </a:r>
            <a:endParaRPr lang="en-US" sz="1150" dirty="0"/>
          </a:p>
        </p:txBody>
      </p:sp>
      <p:sp>
        <p:nvSpPr>
          <p:cNvPr id="56" name="Text 44"/>
          <p:cNvSpPr txBox="1"/>
          <p:nvPr/>
        </p:nvSpPr>
        <p:spPr>
          <a:xfrm>
            <a:off x="12042648" y="2615184"/>
            <a:ext cx="1920240" cy="45720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Approved adjustment to MOTIF</a:t>
            </a:r>
            <a:endParaRPr lang="en-US" sz="950" dirty="0"/>
          </a:p>
        </p:txBody>
      </p:sp>
      <p:sp>
        <p:nvSpPr>
          <p:cNvPr id="57" name="Shape 45"/>
          <p:cNvSpPr/>
          <p:nvPr/>
        </p:nvSpPr>
        <p:spPr>
          <a:xfrm>
            <a:off x="502920" y="3383280"/>
            <a:ext cx="4023360" cy="4343400"/>
          </a:xfrm>
          <a:prstGeom prst="roundRect">
            <a:avLst>
              <a:gd name="adj" fmla="val 1136"/>
            </a:avLst>
          </a:prstGeom>
          <a:solidFill>
            <a:srgbClr val="FDFBF4"/>
          </a:solidFill>
          <a:ln w="12700">
            <a:solidFill>
              <a:srgbClr val="F2A900"/>
            </a:solidFill>
            <a:prstDash val="dash"/>
          </a:ln>
        </p:spPr>
      </p:sp>
      <p:sp>
        <p:nvSpPr>
          <p:cNvPr id="58" name="Text 46"/>
          <p:cNvSpPr txBox="1"/>
          <p:nvPr/>
        </p:nvSpPr>
        <p:spPr>
          <a:xfrm>
            <a:off x="621792" y="3456432"/>
            <a:ext cx="3785616" cy="201168"/>
          </a:xfrm>
          <a:prstGeom prst="rect">
            <a:avLst/>
          </a:prstGeom>
          <a:noFill/>
          <a:ln/>
        </p:spPr>
        <p:txBody>
          <a:bodyPr wrap="square" lIns="0" tIns="0" rIns="0" bIns="0" rtlCol="0" anchor="ctr"/>
          <a:lstStyle/>
          <a:p>
            <a:pPr indent="0" marL="0">
              <a:buNone/>
            </a:pPr>
            <a:r>
              <a:rPr lang="en-US" sz="950" b="1" spc="100" kern="0" dirty="0">
                <a:solidFill>
                  <a:srgbClr val="F2A900"/>
                </a:solidFill>
                <a:latin typeface="Calibri" pitchFamily="34" charset="0"/>
                <a:ea typeface="Calibri" pitchFamily="34" charset="-122"/>
                <a:cs typeface="Calibri" pitchFamily="34" charset="-120"/>
              </a:rPr>
              <a:t>WHAT HELIX PLUGS IN</a:t>
            </a:r>
            <a:endParaRPr lang="en-US" sz="950" dirty="0"/>
          </a:p>
        </p:txBody>
      </p:sp>
      <p:sp>
        <p:nvSpPr>
          <p:cNvPr id="59" name="Shape 47"/>
          <p:cNvSpPr/>
          <p:nvPr/>
        </p:nvSpPr>
        <p:spPr>
          <a:xfrm>
            <a:off x="612648" y="3730752"/>
            <a:ext cx="3803904" cy="694944"/>
          </a:xfrm>
          <a:prstGeom prst="roundRect">
            <a:avLst>
              <a:gd name="adj" fmla="val 10526"/>
            </a:avLst>
          </a:prstGeom>
          <a:solidFill>
            <a:srgbClr val="FFFFFF"/>
          </a:solidFill>
          <a:ln w="9525">
            <a:solidFill>
              <a:srgbClr val="C8D8EC"/>
            </a:solidFill>
            <a:prstDash val="solid"/>
          </a:ln>
        </p:spPr>
      </p:sp>
      <p:sp>
        <p:nvSpPr>
          <p:cNvPr id="60" name="Shape 48"/>
          <p:cNvSpPr/>
          <p:nvPr/>
        </p:nvSpPr>
        <p:spPr>
          <a:xfrm>
            <a:off x="731520" y="3858768"/>
            <a:ext cx="438912" cy="438912"/>
          </a:xfrm>
          <a:prstGeom prst="roundRect">
            <a:avLst>
              <a:gd name="adj" fmla="val 20833"/>
            </a:avLst>
          </a:prstGeom>
          <a:solidFill>
            <a:srgbClr val="B98200"/>
          </a:solidFill>
          <a:ln w="12700">
            <a:solidFill>
              <a:srgbClr val="B98200"/>
            </a:solidFill>
            <a:prstDash val="solid"/>
          </a:ln>
        </p:spPr>
      </p:sp>
      <p:pic>
        <p:nvPicPr>
          <p:cNvPr id="61" name="Image 10" descr="preencoded.png">    </p:cNvPr>
          <p:cNvPicPr>
            <a:picLocks noChangeAspect="1"/>
          </p:cNvPicPr>
          <p:nvPr/>
        </p:nvPicPr>
        <p:blipFill>
          <a:blip r:embed="rId11"/>
          <a:stretch>
            <a:fillRect/>
          </a:stretch>
        </p:blipFill>
        <p:spPr>
          <a:xfrm>
            <a:off x="828081" y="3955329"/>
            <a:ext cx="245791" cy="245791"/>
          </a:xfrm>
          <a:prstGeom prst="rect">
            <a:avLst/>
          </a:prstGeom>
        </p:spPr>
      </p:pic>
      <p:sp>
        <p:nvSpPr>
          <p:cNvPr id="62" name="Text 49"/>
          <p:cNvSpPr txBox="1"/>
          <p:nvPr/>
        </p:nvSpPr>
        <p:spPr>
          <a:xfrm>
            <a:off x="1271016" y="3803904"/>
            <a:ext cx="307238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Events</a:t>
            </a:r>
            <a:endParaRPr lang="en-US" sz="1150" dirty="0"/>
          </a:p>
        </p:txBody>
      </p:sp>
      <p:sp>
        <p:nvSpPr>
          <p:cNvPr id="63" name="Text 50"/>
          <p:cNvSpPr txBox="1"/>
          <p:nvPr/>
        </p:nvSpPr>
        <p:spPr>
          <a:xfrm>
            <a:off x="1271016" y="4078224"/>
            <a:ext cx="3072384" cy="310896"/>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MBREC book availability, workspace Ready</a:t>
            </a:r>
            <a:endParaRPr lang="en-US" sz="950" dirty="0"/>
          </a:p>
        </p:txBody>
      </p:sp>
      <p:sp>
        <p:nvSpPr>
          <p:cNvPr id="64" name="Shape 51"/>
          <p:cNvSpPr/>
          <p:nvPr/>
        </p:nvSpPr>
        <p:spPr>
          <a:xfrm>
            <a:off x="612648" y="4517136"/>
            <a:ext cx="3803904" cy="694944"/>
          </a:xfrm>
          <a:prstGeom prst="roundRect">
            <a:avLst>
              <a:gd name="adj" fmla="val 10526"/>
            </a:avLst>
          </a:prstGeom>
          <a:solidFill>
            <a:srgbClr val="FFFFFF"/>
          </a:solidFill>
          <a:ln w="9525">
            <a:solidFill>
              <a:srgbClr val="C8D8EC"/>
            </a:solidFill>
            <a:prstDash val="solid"/>
          </a:ln>
        </p:spPr>
      </p:sp>
      <p:sp>
        <p:nvSpPr>
          <p:cNvPr id="65" name="Shape 52"/>
          <p:cNvSpPr/>
          <p:nvPr/>
        </p:nvSpPr>
        <p:spPr>
          <a:xfrm>
            <a:off x="731520" y="4645152"/>
            <a:ext cx="438912" cy="438912"/>
          </a:xfrm>
          <a:prstGeom prst="roundRect">
            <a:avLst>
              <a:gd name="adj" fmla="val 20833"/>
            </a:avLst>
          </a:prstGeom>
          <a:solidFill>
            <a:srgbClr val="B98200"/>
          </a:solidFill>
          <a:ln w="12700">
            <a:solidFill>
              <a:srgbClr val="B98200"/>
            </a:solidFill>
            <a:prstDash val="solid"/>
          </a:ln>
        </p:spPr>
      </p:sp>
      <p:pic>
        <p:nvPicPr>
          <p:cNvPr id="66" name="Image 11" descr="preencoded.png">    </p:cNvPr>
          <p:cNvPicPr>
            <a:picLocks noChangeAspect="1"/>
          </p:cNvPicPr>
          <p:nvPr/>
        </p:nvPicPr>
        <p:blipFill>
          <a:blip r:embed="rId12"/>
          <a:stretch>
            <a:fillRect/>
          </a:stretch>
        </p:blipFill>
        <p:spPr>
          <a:xfrm>
            <a:off x="828081" y="4741713"/>
            <a:ext cx="245791" cy="245791"/>
          </a:xfrm>
          <a:prstGeom prst="rect">
            <a:avLst/>
          </a:prstGeom>
        </p:spPr>
      </p:pic>
      <p:sp>
        <p:nvSpPr>
          <p:cNvPr id="67" name="Text 53"/>
          <p:cNvSpPr txBox="1"/>
          <p:nvPr/>
        </p:nvSpPr>
        <p:spPr>
          <a:xfrm>
            <a:off x="1271016" y="4590288"/>
            <a:ext cx="307238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Skills</a:t>
            </a:r>
            <a:endParaRPr lang="en-US" sz="1150" dirty="0"/>
          </a:p>
        </p:txBody>
      </p:sp>
      <p:sp>
        <p:nvSpPr>
          <p:cNvPr id="68" name="Text 54"/>
          <p:cNvSpPr txBox="1"/>
          <p:nvPr/>
        </p:nvSpPr>
        <p:spPr>
          <a:xfrm>
            <a:off x="1271016" y="4864608"/>
            <a:ext cx="3072384" cy="310896"/>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FOBO break investigation playbooks</a:t>
            </a:r>
            <a:endParaRPr lang="en-US" sz="950" dirty="0"/>
          </a:p>
        </p:txBody>
      </p:sp>
      <p:sp>
        <p:nvSpPr>
          <p:cNvPr id="69" name="Shape 55"/>
          <p:cNvSpPr/>
          <p:nvPr/>
        </p:nvSpPr>
        <p:spPr>
          <a:xfrm>
            <a:off x="612648" y="5303520"/>
            <a:ext cx="3803904" cy="694944"/>
          </a:xfrm>
          <a:prstGeom prst="roundRect">
            <a:avLst>
              <a:gd name="adj" fmla="val 10526"/>
            </a:avLst>
          </a:prstGeom>
          <a:solidFill>
            <a:srgbClr val="FFFFFF"/>
          </a:solidFill>
          <a:ln w="9525">
            <a:solidFill>
              <a:srgbClr val="C8D8EC"/>
            </a:solidFill>
            <a:prstDash val="solid"/>
          </a:ln>
        </p:spPr>
      </p:sp>
      <p:sp>
        <p:nvSpPr>
          <p:cNvPr id="70" name="Shape 56"/>
          <p:cNvSpPr/>
          <p:nvPr/>
        </p:nvSpPr>
        <p:spPr>
          <a:xfrm>
            <a:off x="731520" y="5431536"/>
            <a:ext cx="438912" cy="438912"/>
          </a:xfrm>
          <a:prstGeom prst="roundRect">
            <a:avLst>
              <a:gd name="adj" fmla="val 20833"/>
            </a:avLst>
          </a:prstGeom>
          <a:solidFill>
            <a:srgbClr val="B98200"/>
          </a:solidFill>
          <a:ln w="12700">
            <a:solidFill>
              <a:srgbClr val="B98200"/>
            </a:solidFill>
            <a:prstDash val="solid"/>
          </a:ln>
        </p:spPr>
      </p:sp>
      <p:pic>
        <p:nvPicPr>
          <p:cNvPr id="71" name="Image 12" descr="preencoded.png">    </p:cNvPr>
          <p:cNvPicPr>
            <a:picLocks noChangeAspect="1"/>
          </p:cNvPicPr>
          <p:nvPr/>
        </p:nvPicPr>
        <p:blipFill>
          <a:blip r:embed="rId13"/>
          <a:stretch>
            <a:fillRect/>
          </a:stretch>
        </p:blipFill>
        <p:spPr>
          <a:xfrm>
            <a:off x="828081" y="5528097"/>
            <a:ext cx="245791" cy="245791"/>
          </a:xfrm>
          <a:prstGeom prst="rect">
            <a:avLst/>
          </a:prstGeom>
        </p:spPr>
      </p:pic>
      <p:sp>
        <p:nvSpPr>
          <p:cNvPr id="72" name="Text 57"/>
          <p:cNvSpPr txBox="1"/>
          <p:nvPr/>
        </p:nvSpPr>
        <p:spPr>
          <a:xfrm>
            <a:off x="1271016" y="5376672"/>
            <a:ext cx="307238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Tools (MCP)</a:t>
            </a:r>
            <a:endParaRPr lang="en-US" sz="1150" dirty="0"/>
          </a:p>
        </p:txBody>
      </p:sp>
      <p:sp>
        <p:nvSpPr>
          <p:cNvPr id="73" name="Text 58"/>
          <p:cNvSpPr txBox="1"/>
          <p:nvPr/>
        </p:nvSpPr>
        <p:spPr>
          <a:xfrm>
            <a:off x="1271016" y="5650992"/>
            <a:ext cx="3072384" cy="310896"/>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MB Rec data fetch, FAS posting</a:t>
            </a:r>
            <a:endParaRPr lang="en-US" sz="950" dirty="0"/>
          </a:p>
        </p:txBody>
      </p:sp>
      <p:sp>
        <p:nvSpPr>
          <p:cNvPr id="74" name="Shape 59"/>
          <p:cNvSpPr/>
          <p:nvPr/>
        </p:nvSpPr>
        <p:spPr>
          <a:xfrm>
            <a:off x="612648" y="6089904"/>
            <a:ext cx="3803904" cy="694944"/>
          </a:xfrm>
          <a:prstGeom prst="roundRect">
            <a:avLst>
              <a:gd name="adj" fmla="val 10526"/>
            </a:avLst>
          </a:prstGeom>
          <a:solidFill>
            <a:srgbClr val="FFFFFF"/>
          </a:solidFill>
          <a:ln w="9525">
            <a:solidFill>
              <a:srgbClr val="C8D8EC"/>
            </a:solidFill>
            <a:prstDash val="solid"/>
          </a:ln>
        </p:spPr>
      </p:sp>
      <p:sp>
        <p:nvSpPr>
          <p:cNvPr id="75" name="Shape 60"/>
          <p:cNvSpPr/>
          <p:nvPr/>
        </p:nvSpPr>
        <p:spPr>
          <a:xfrm>
            <a:off x="731520" y="6217920"/>
            <a:ext cx="438912" cy="438912"/>
          </a:xfrm>
          <a:prstGeom prst="roundRect">
            <a:avLst>
              <a:gd name="adj" fmla="val 20833"/>
            </a:avLst>
          </a:prstGeom>
          <a:solidFill>
            <a:srgbClr val="B98200"/>
          </a:solidFill>
          <a:ln w="12700">
            <a:solidFill>
              <a:srgbClr val="B98200"/>
            </a:solidFill>
            <a:prstDash val="solid"/>
          </a:ln>
        </p:spPr>
      </p:sp>
      <p:pic>
        <p:nvPicPr>
          <p:cNvPr id="76" name="Image 13" descr="preencoded.png">    </p:cNvPr>
          <p:cNvPicPr>
            <a:picLocks noChangeAspect="1"/>
          </p:cNvPicPr>
          <p:nvPr/>
        </p:nvPicPr>
        <p:blipFill>
          <a:blip r:embed="rId14"/>
          <a:stretch>
            <a:fillRect/>
          </a:stretch>
        </p:blipFill>
        <p:spPr>
          <a:xfrm>
            <a:off x="828081" y="6314481"/>
            <a:ext cx="245791" cy="245791"/>
          </a:xfrm>
          <a:prstGeom prst="rect">
            <a:avLst/>
          </a:prstGeom>
        </p:spPr>
      </p:pic>
      <p:sp>
        <p:nvSpPr>
          <p:cNvPr id="77" name="Text 61"/>
          <p:cNvSpPr txBox="1"/>
          <p:nvPr/>
        </p:nvSpPr>
        <p:spPr>
          <a:xfrm>
            <a:off x="1271016" y="6163056"/>
            <a:ext cx="307238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Knowledge</a:t>
            </a:r>
            <a:endParaRPr lang="en-US" sz="1150" dirty="0"/>
          </a:p>
        </p:txBody>
      </p:sp>
      <p:sp>
        <p:nvSpPr>
          <p:cNvPr id="78" name="Text 62"/>
          <p:cNvSpPr txBox="1"/>
          <p:nvPr/>
        </p:nvSpPr>
        <p:spPr>
          <a:xfrm>
            <a:off x="1271016" y="6437376"/>
            <a:ext cx="3072384" cy="310896"/>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Break taxonomy, rules, history</a:t>
            </a:r>
            <a:endParaRPr lang="en-US" sz="950" dirty="0"/>
          </a:p>
        </p:txBody>
      </p:sp>
      <p:sp>
        <p:nvSpPr>
          <p:cNvPr id="79" name="Shape 63"/>
          <p:cNvSpPr/>
          <p:nvPr/>
        </p:nvSpPr>
        <p:spPr>
          <a:xfrm>
            <a:off x="612648" y="6876288"/>
            <a:ext cx="3803904" cy="694944"/>
          </a:xfrm>
          <a:prstGeom prst="roundRect">
            <a:avLst>
              <a:gd name="adj" fmla="val 10526"/>
            </a:avLst>
          </a:prstGeom>
          <a:solidFill>
            <a:srgbClr val="FFFFFF"/>
          </a:solidFill>
          <a:ln w="9525">
            <a:solidFill>
              <a:srgbClr val="C8D8EC"/>
            </a:solidFill>
            <a:prstDash val="solid"/>
          </a:ln>
        </p:spPr>
      </p:sp>
      <p:sp>
        <p:nvSpPr>
          <p:cNvPr id="80" name="Shape 64"/>
          <p:cNvSpPr/>
          <p:nvPr/>
        </p:nvSpPr>
        <p:spPr>
          <a:xfrm>
            <a:off x="731520" y="7004304"/>
            <a:ext cx="438912" cy="438912"/>
          </a:xfrm>
          <a:prstGeom prst="roundRect">
            <a:avLst>
              <a:gd name="adj" fmla="val 20833"/>
            </a:avLst>
          </a:prstGeom>
          <a:solidFill>
            <a:srgbClr val="B98200"/>
          </a:solidFill>
          <a:ln w="12700">
            <a:solidFill>
              <a:srgbClr val="B98200"/>
            </a:solidFill>
            <a:prstDash val="solid"/>
          </a:ln>
        </p:spPr>
      </p:sp>
      <p:pic>
        <p:nvPicPr>
          <p:cNvPr id="81" name="Image 14" descr="preencoded.png">    </p:cNvPr>
          <p:cNvPicPr>
            <a:picLocks noChangeAspect="1"/>
          </p:cNvPicPr>
          <p:nvPr/>
        </p:nvPicPr>
        <p:blipFill>
          <a:blip r:embed="rId15"/>
          <a:stretch>
            <a:fillRect/>
          </a:stretch>
        </p:blipFill>
        <p:spPr>
          <a:xfrm>
            <a:off x="828081" y="7100865"/>
            <a:ext cx="245791" cy="245791"/>
          </a:xfrm>
          <a:prstGeom prst="rect">
            <a:avLst/>
          </a:prstGeom>
        </p:spPr>
      </p:pic>
      <p:sp>
        <p:nvSpPr>
          <p:cNvPr id="82" name="Text 65"/>
          <p:cNvSpPr txBox="1"/>
          <p:nvPr/>
        </p:nvSpPr>
        <p:spPr>
          <a:xfrm>
            <a:off x="1271016" y="6949440"/>
            <a:ext cx="307238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Controller view</a:t>
            </a:r>
            <a:endParaRPr lang="en-US" sz="1150" dirty="0"/>
          </a:p>
        </p:txBody>
      </p:sp>
      <p:sp>
        <p:nvSpPr>
          <p:cNvPr id="83" name="Text 66"/>
          <p:cNvSpPr txBox="1"/>
          <p:nvPr/>
        </p:nvSpPr>
        <p:spPr>
          <a:xfrm>
            <a:off x="1271016" y="7223760"/>
            <a:ext cx="3072384" cy="310896"/>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Helix UI: session analysis and chat</a:t>
            </a:r>
            <a:endParaRPr lang="en-US" sz="950" dirty="0"/>
          </a:p>
        </p:txBody>
      </p:sp>
      <p:sp>
        <p:nvSpPr>
          <p:cNvPr id="84" name="Shape 67"/>
          <p:cNvSpPr/>
          <p:nvPr/>
        </p:nvSpPr>
        <p:spPr>
          <a:xfrm>
            <a:off x="4526280" y="5550408"/>
            <a:ext cx="365760" cy="0"/>
          </a:xfrm>
          <a:prstGeom prst="line">
            <a:avLst/>
          </a:prstGeom>
          <a:noFill/>
          <a:ln w="19050">
            <a:solidFill>
              <a:srgbClr val="F2A900"/>
            </a:solidFill>
            <a:prstDash val="solid"/>
            <a:tailEnd type="triangle"/>
          </a:ln>
        </p:spPr>
      </p:sp>
      <p:sp>
        <p:nvSpPr>
          <p:cNvPr id="85" name="Shape 68"/>
          <p:cNvSpPr/>
          <p:nvPr/>
        </p:nvSpPr>
        <p:spPr>
          <a:xfrm>
            <a:off x="4892040" y="3383280"/>
            <a:ext cx="4480560" cy="4343400"/>
          </a:xfrm>
          <a:prstGeom prst="roundRect">
            <a:avLst>
              <a:gd name="adj" fmla="val 1053"/>
            </a:avLst>
          </a:prstGeom>
          <a:solidFill>
            <a:srgbClr val="FBFCFE"/>
          </a:solidFill>
          <a:ln w="25400">
            <a:solidFill>
              <a:srgbClr val="0B2E5E"/>
            </a:solidFill>
            <a:prstDash val="solid"/>
          </a:ln>
        </p:spPr>
      </p:sp>
      <p:sp>
        <p:nvSpPr>
          <p:cNvPr id="86" name="Text 69"/>
          <p:cNvSpPr txBox="1"/>
          <p:nvPr/>
        </p:nvSpPr>
        <p:spPr>
          <a:xfrm>
            <a:off x="5029200" y="3474720"/>
            <a:ext cx="4206240" cy="228600"/>
          </a:xfrm>
          <a:prstGeom prst="rect">
            <a:avLst/>
          </a:prstGeom>
          <a:noFill/>
          <a:ln/>
        </p:spPr>
        <p:txBody>
          <a:bodyPr wrap="square" lIns="0" tIns="0" rIns="0" bIns="0" rtlCol="0" anchor="ctr"/>
          <a:lstStyle/>
          <a:p>
            <a:pPr indent="0" marL="0">
              <a:buNone/>
            </a:pPr>
            <a:r>
              <a:rPr lang="en-US" sz="950" b="1" spc="100" kern="0" dirty="0">
                <a:solidFill>
                  <a:srgbClr val="0B2E5E"/>
                </a:solidFill>
                <a:latin typeface="Calibri" pitchFamily="34" charset="0"/>
                <a:ea typeface="Calibri" pitchFamily="34" charset="-122"/>
                <a:cs typeface="Calibri" pitchFamily="34" charset="-120"/>
              </a:rPr>
              <a:t>ONE FINANCE AGENTIC ENGINE (REUSED AS IS)</a:t>
            </a:r>
            <a:endParaRPr lang="en-US" sz="950" dirty="0"/>
          </a:p>
        </p:txBody>
      </p:sp>
      <p:sp>
        <p:nvSpPr>
          <p:cNvPr id="87" name="Shape 70"/>
          <p:cNvSpPr/>
          <p:nvPr/>
        </p:nvSpPr>
        <p:spPr>
          <a:xfrm>
            <a:off x="5029200" y="3822192"/>
            <a:ext cx="4206240" cy="822960"/>
          </a:xfrm>
          <a:prstGeom prst="roundRect">
            <a:avLst>
              <a:gd name="adj" fmla="val 8889"/>
            </a:avLst>
          </a:prstGeom>
          <a:solidFill>
            <a:srgbClr val="EDF7F2"/>
          </a:solidFill>
          <a:ln w="9525">
            <a:solidFill>
              <a:srgbClr val="1E8A5A"/>
            </a:solidFill>
            <a:prstDash val="solid"/>
          </a:ln>
        </p:spPr>
      </p:sp>
      <p:sp>
        <p:nvSpPr>
          <p:cNvPr id="88" name="Text 71"/>
          <p:cNvSpPr txBox="1"/>
          <p:nvPr/>
        </p:nvSpPr>
        <p:spPr>
          <a:xfrm>
            <a:off x="5166360" y="3895344"/>
            <a:ext cx="3931920" cy="292608"/>
          </a:xfrm>
          <a:prstGeom prst="rect">
            <a:avLst/>
          </a:prstGeom>
          <a:noFill/>
          <a:ln/>
        </p:spPr>
        <p:txBody>
          <a:bodyPr wrap="square" lIns="0" tIns="0" rIns="0" bIns="0" rtlCol="0" anchor="ctr"/>
          <a:lstStyle/>
          <a:p>
            <a:pPr indent="0" marL="0">
              <a:buNone/>
            </a:pPr>
            <a:r>
              <a:rPr lang="en-US" sz="1250" b="1" dirty="0">
                <a:solidFill>
                  <a:srgbClr val="1E8A5A"/>
                </a:solidFill>
                <a:latin typeface="Calibri" pitchFamily="34" charset="0"/>
                <a:ea typeface="Calibri" pitchFamily="34" charset="-122"/>
                <a:cs typeface="Calibri" pitchFamily="34" charset="-120"/>
              </a:rPr>
              <a:t>Orchestration</a:t>
            </a:r>
            <a:endParaRPr lang="en-US" sz="1250" dirty="0"/>
          </a:p>
        </p:txBody>
      </p:sp>
      <p:sp>
        <p:nvSpPr>
          <p:cNvPr id="89" name="Text 72"/>
          <p:cNvSpPr txBox="1"/>
          <p:nvPr/>
        </p:nvSpPr>
        <p:spPr>
          <a:xfrm>
            <a:off x="5166360" y="4206240"/>
            <a:ext cx="3931920" cy="384048"/>
          </a:xfrm>
          <a:prstGeom prst="rect">
            <a:avLst/>
          </a:prstGeom>
          <a:noFill/>
          <a:ln/>
        </p:spPr>
        <p:txBody>
          <a:bodyPr wrap="square" lIns="0" tIns="0" rIns="0" bIns="0" rtlCol="0" anchor="ctr"/>
          <a:lstStyle/>
          <a:p>
            <a:pPr indent="0" marL="0">
              <a:buNone/>
            </a:pPr>
            <a:r>
              <a:rPr lang="en-US" sz="1000" dirty="0">
                <a:solidFill>
                  <a:srgbClr val="4A5A6E"/>
                </a:solidFill>
                <a:latin typeface="Calibri" pitchFamily="34" charset="0"/>
                <a:ea typeface="Calibri" pitchFamily="34" charset="-122"/>
                <a:cs typeface="Calibri" pitchFamily="34" charset="-120"/>
              </a:rPr>
              <a:t>Event trigger, readiness, session, human checkpoint</a:t>
            </a:r>
            <a:endParaRPr lang="en-US" sz="1000" dirty="0"/>
          </a:p>
        </p:txBody>
      </p:sp>
      <p:sp>
        <p:nvSpPr>
          <p:cNvPr id="90" name="Shape 73"/>
          <p:cNvSpPr/>
          <p:nvPr/>
        </p:nvSpPr>
        <p:spPr>
          <a:xfrm>
            <a:off x="5029200" y="4764024"/>
            <a:ext cx="4206240" cy="822960"/>
          </a:xfrm>
          <a:prstGeom prst="roundRect">
            <a:avLst>
              <a:gd name="adj" fmla="val 8889"/>
            </a:avLst>
          </a:prstGeom>
          <a:solidFill>
            <a:srgbClr val="F3F1FB"/>
          </a:solidFill>
          <a:ln w="9525">
            <a:solidFill>
              <a:srgbClr val="5B4FA8"/>
            </a:solidFill>
            <a:prstDash val="solid"/>
          </a:ln>
        </p:spPr>
      </p:sp>
      <p:sp>
        <p:nvSpPr>
          <p:cNvPr id="91" name="Text 74"/>
          <p:cNvSpPr txBox="1"/>
          <p:nvPr/>
        </p:nvSpPr>
        <p:spPr>
          <a:xfrm>
            <a:off x="5166360" y="4837176"/>
            <a:ext cx="3931920" cy="292608"/>
          </a:xfrm>
          <a:prstGeom prst="rect">
            <a:avLst/>
          </a:prstGeom>
          <a:noFill/>
          <a:ln/>
        </p:spPr>
        <p:txBody>
          <a:bodyPr wrap="square" lIns="0" tIns="0" rIns="0" bIns="0" rtlCol="0" anchor="ctr"/>
          <a:lstStyle/>
          <a:p>
            <a:pPr indent="0" marL="0">
              <a:buNone/>
            </a:pPr>
            <a:r>
              <a:rPr lang="en-US" sz="1250" b="1" dirty="0">
                <a:solidFill>
                  <a:srgbClr val="5B4FA8"/>
                </a:solidFill>
                <a:latin typeface="Calibri" pitchFamily="34" charset="0"/>
                <a:ea typeface="Calibri" pitchFamily="34" charset="-122"/>
                <a:cs typeface="Calibri" pitchFamily="34" charset="-120"/>
              </a:rPr>
              <a:t>AI Reasoning</a:t>
            </a:r>
            <a:endParaRPr lang="en-US" sz="1250" dirty="0"/>
          </a:p>
        </p:txBody>
      </p:sp>
      <p:sp>
        <p:nvSpPr>
          <p:cNvPr id="92" name="Text 75"/>
          <p:cNvSpPr txBox="1"/>
          <p:nvPr/>
        </p:nvSpPr>
        <p:spPr>
          <a:xfrm>
            <a:off x="5166360" y="5148072"/>
            <a:ext cx="3931920" cy="384048"/>
          </a:xfrm>
          <a:prstGeom prst="rect">
            <a:avLst/>
          </a:prstGeom>
          <a:noFill/>
          <a:ln/>
        </p:spPr>
        <p:txBody>
          <a:bodyPr wrap="square" lIns="0" tIns="0" rIns="0" bIns="0" rtlCol="0" anchor="ctr"/>
          <a:lstStyle/>
          <a:p>
            <a:pPr indent="0" marL="0">
              <a:buNone/>
            </a:pPr>
            <a:r>
              <a:rPr lang="en-US" sz="1000" dirty="0">
                <a:solidFill>
                  <a:srgbClr val="4A5A6E"/>
                </a:solidFill>
                <a:latin typeface="Calibri" pitchFamily="34" charset="0"/>
                <a:ea typeface="Calibri" pitchFamily="34" charset="-122"/>
                <a:cs typeface="Calibri" pitchFamily="34" charset="-120"/>
              </a:rPr>
              <a:t>Agent One with Helix skills; verdicts with confidence</a:t>
            </a:r>
            <a:endParaRPr lang="en-US" sz="1000" dirty="0"/>
          </a:p>
        </p:txBody>
      </p:sp>
      <p:sp>
        <p:nvSpPr>
          <p:cNvPr id="93" name="Shape 76"/>
          <p:cNvSpPr/>
          <p:nvPr/>
        </p:nvSpPr>
        <p:spPr>
          <a:xfrm>
            <a:off x="5029200" y="5705856"/>
            <a:ext cx="4206240" cy="822960"/>
          </a:xfrm>
          <a:prstGeom prst="roundRect">
            <a:avLst>
              <a:gd name="adj" fmla="val 8889"/>
            </a:avLst>
          </a:prstGeom>
          <a:solidFill>
            <a:srgbClr val="EAF0F8"/>
          </a:solidFill>
          <a:ln w="9525">
            <a:solidFill>
              <a:srgbClr val="0B2E5E"/>
            </a:solidFill>
            <a:prstDash val="solid"/>
          </a:ln>
        </p:spPr>
      </p:sp>
      <p:sp>
        <p:nvSpPr>
          <p:cNvPr id="94" name="Text 77"/>
          <p:cNvSpPr txBox="1"/>
          <p:nvPr/>
        </p:nvSpPr>
        <p:spPr>
          <a:xfrm>
            <a:off x="5166360" y="5779008"/>
            <a:ext cx="3931920" cy="292608"/>
          </a:xfrm>
          <a:prstGeom prst="rect">
            <a:avLst/>
          </a:prstGeom>
          <a:noFill/>
          <a:ln/>
        </p:spPr>
        <p:txBody>
          <a:bodyPr wrap="square" lIns="0" tIns="0" rIns="0" bIns="0" rtlCol="0" anchor="ctr"/>
          <a:lstStyle/>
          <a:p>
            <a:pPr indent="0" marL="0">
              <a:buNone/>
            </a:pPr>
            <a:r>
              <a:rPr lang="en-US" sz="1250" b="1" dirty="0">
                <a:solidFill>
                  <a:srgbClr val="0B2E5E"/>
                </a:solidFill>
                <a:latin typeface="Calibri" pitchFamily="34" charset="0"/>
                <a:ea typeface="Calibri" pitchFamily="34" charset="-122"/>
                <a:cs typeface="Calibri" pitchFamily="34" charset="-120"/>
              </a:rPr>
              <a:t>AI Observability</a:t>
            </a:r>
            <a:endParaRPr lang="en-US" sz="1250" dirty="0"/>
          </a:p>
        </p:txBody>
      </p:sp>
      <p:sp>
        <p:nvSpPr>
          <p:cNvPr id="95" name="Text 78"/>
          <p:cNvSpPr txBox="1"/>
          <p:nvPr/>
        </p:nvSpPr>
        <p:spPr>
          <a:xfrm>
            <a:off x="5166360" y="6089904"/>
            <a:ext cx="3931920" cy="384048"/>
          </a:xfrm>
          <a:prstGeom prst="rect">
            <a:avLst/>
          </a:prstGeom>
          <a:noFill/>
          <a:ln/>
        </p:spPr>
        <p:txBody>
          <a:bodyPr wrap="square" lIns="0" tIns="0" rIns="0" bIns="0" rtlCol="0" anchor="ctr"/>
          <a:lstStyle/>
          <a:p>
            <a:pPr indent="0" marL="0">
              <a:buNone/>
            </a:pPr>
            <a:r>
              <a:rPr lang="en-US" sz="1000" dirty="0">
                <a:solidFill>
                  <a:srgbClr val="4A5A6E"/>
                </a:solidFill>
                <a:latin typeface="Calibri" pitchFamily="34" charset="0"/>
                <a:ea typeface="Calibri" pitchFamily="34" charset="-122"/>
                <a:cs typeface="Calibri" pitchFamily="34" charset="-120"/>
              </a:rPr>
              <a:t>Phoenix traces every Helix session</a:t>
            </a:r>
            <a:endParaRPr lang="en-US" sz="1000" dirty="0"/>
          </a:p>
        </p:txBody>
      </p:sp>
      <p:sp>
        <p:nvSpPr>
          <p:cNvPr id="96" name="Shape 79"/>
          <p:cNvSpPr/>
          <p:nvPr/>
        </p:nvSpPr>
        <p:spPr>
          <a:xfrm>
            <a:off x="5029200" y="6647688"/>
            <a:ext cx="4206240" cy="822960"/>
          </a:xfrm>
          <a:prstGeom prst="roundRect">
            <a:avLst>
              <a:gd name="adj" fmla="val 8889"/>
            </a:avLst>
          </a:prstGeom>
          <a:solidFill>
            <a:srgbClr val="F1F4F8"/>
          </a:solidFill>
          <a:ln w="9525">
            <a:solidFill>
              <a:srgbClr val="5A6B82"/>
            </a:solidFill>
            <a:prstDash val="solid"/>
          </a:ln>
        </p:spPr>
      </p:sp>
      <p:sp>
        <p:nvSpPr>
          <p:cNvPr id="97" name="Text 80"/>
          <p:cNvSpPr txBox="1"/>
          <p:nvPr/>
        </p:nvSpPr>
        <p:spPr>
          <a:xfrm>
            <a:off x="5166360" y="6720840"/>
            <a:ext cx="3931920" cy="292608"/>
          </a:xfrm>
          <a:prstGeom prst="rect">
            <a:avLst/>
          </a:prstGeom>
          <a:noFill/>
          <a:ln/>
        </p:spPr>
        <p:txBody>
          <a:bodyPr wrap="square" lIns="0" tIns="0" rIns="0" bIns="0" rtlCol="0" anchor="ctr"/>
          <a:lstStyle/>
          <a:p>
            <a:pPr indent="0" marL="0">
              <a:buNone/>
            </a:pPr>
            <a:r>
              <a:rPr lang="en-US" sz="1250" b="1" dirty="0">
                <a:solidFill>
                  <a:srgbClr val="1F2D3D"/>
                </a:solidFill>
                <a:latin typeface="Calibri" pitchFamily="34" charset="0"/>
                <a:ea typeface="Calibri" pitchFamily="34" charset="-122"/>
                <a:cs typeface="Calibri" pitchFamily="34" charset="-120"/>
              </a:rPr>
              <a:t>Foundations</a:t>
            </a:r>
            <a:endParaRPr lang="en-US" sz="1250" dirty="0"/>
          </a:p>
        </p:txBody>
      </p:sp>
      <p:sp>
        <p:nvSpPr>
          <p:cNvPr id="98" name="Text 81"/>
          <p:cNvSpPr txBox="1"/>
          <p:nvPr/>
        </p:nvSpPr>
        <p:spPr>
          <a:xfrm>
            <a:off x="5166360" y="7031736"/>
            <a:ext cx="3931920" cy="384048"/>
          </a:xfrm>
          <a:prstGeom prst="rect">
            <a:avLst/>
          </a:prstGeom>
          <a:noFill/>
          <a:ln/>
        </p:spPr>
        <p:txBody>
          <a:bodyPr wrap="square" lIns="0" tIns="0" rIns="0" bIns="0" rtlCol="0" anchor="ctr"/>
          <a:lstStyle/>
          <a:p>
            <a:pPr indent="0" marL="0">
              <a:buNone/>
            </a:pPr>
            <a:r>
              <a:rPr lang="en-US" sz="1000" dirty="0">
                <a:solidFill>
                  <a:srgbClr val="4A5A6E"/>
                </a:solidFill>
                <a:latin typeface="Calibri" pitchFamily="34" charset="0"/>
                <a:ea typeface="Calibri" pitchFamily="34" charset="-122"/>
                <a:cs typeface="Calibri" pitchFamily="34" charset="-120"/>
              </a:rPr>
              <a:t>MCP tools, knowledge, human-in-the-loop</a:t>
            </a:r>
            <a:endParaRPr lang="en-US" sz="1000" dirty="0"/>
          </a:p>
        </p:txBody>
      </p:sp>
      <p:sp>
        <p:nvSpPr>
          <p:cNvPr id="99" name="Shape 82"/>
          <p:cNvSpPr/>
          <p:nvPr/>
        </p:nvSpPr>
        <p:spPr>
          <a:xfrm>
            <a:off x="9601200" y="3383280"/>
            <a:ext cx="4526280" cy="4343400"/>
          </a:xfrm>
          <a:prstGeom prst="roundRect">
            <a:avLst>
              <a:gd name="adj" fmla="val 1053"/>
            </a:avLst>
          </a:prstGeom>
          <a:solidFill>
            <a:srgbClr val="EDF7F2"/>
          </a:solidFill>
          <a:ln w="12700">
            <a:solidFill>
              <a:srgbClr val="1E8A5A"/>
            </a:solidFill>
            <a:prstDash val="dash"/>
          </a:ln>
        </p:spPr>
      </p:sp>
      <p:sp>
        <p:nvSpPr>
          <p:cNvPr id="100" name="Text 83"/>
          <p:cNvSpPr txBox="1"/>
          <p:nvPr/>
        </p:nvSpPr>
        <p:spPr>
          <a:xfrm>
            <a:off x="9720072" y="3456432"/>
            <a:ext cx="4288536" cy="201168"/>
          </a:xfrm>
          <a:prstGeom prst="rect">
            <a:avLst/>
          </a:prstGeom>
          <a:noFill/>
          <a:ln/>
        </p:spPr>
        <p:txBody>
          <a:bodyPr wrap="square" lIns="0" tIns="0" rIns="0" bIns="0" rtlCol="0" anchor="ctr"/>
          <a:lstStyle/>
          <a:p>
            <a:pPr indent="0" marL="0">
              <a:buNone/>
            </a:pPr>
            <a:r>
              <a:rPr lang="en-US" sz="950" b="1" spc="100" kern="0" dirty="0">
                <a:solidFill>
                  <a:srgbClr val="1E8A5A"/>
                </a:solidFill>
                <a:latin typeface="Calibri" pitchFamily="34" charset="0"/>
                <a:ea typeface="Calibri" pitchFamily="34" charset="-122"/>
                <a:cs typeface="Calibri" pitchFamily="34" charset="-120"/>
              </a:rPr>
              <a:t>CAPABILITIES DEMONSTRATED</a:t>
            </a:r>
            <a:endParaRPr lang="en-US" sz="950" dirty="0"/>
          </a:p>
        </p:txBody>
      </p:sp>
      <p:sp>
        <p:nvSpPr>
          <p:cNvPr id="101" name="Shape 84"/>
          <p:cNvSpPr/>
          <p:nvPr/>
        </p:nvSpPr>
        <p:spPr>
          <a:xfrm>
            <a:off x="9710928" y="3730752"/>
            <a:ext cx="4306824" cy="457200"/>
          </a:xfrm>
          <a:prstGeom prst="roundRect">
            <a:avLst>
              <a:gd name="adj" fmla="val 16000"/>
            </a:avLst>
          </a:prstGeom>
          <a:solidFill>
            <a:srgbClr val="FFFFFF"/>
          </a:solidFill>
          <a:ln w="9525">
            <a:solidFill>
              <a:srgbClr val="C8D8EC"/>
            </a:solidFill>
            <a:prstDash val="solid"/>
          </a:ln>
        </p:spPr>
      </p:sp>
      <p:sp>
        <p:nvSpPr>
          <p:cNvPr id="102" name="Shape 85"/>
          <p:cNvSpPr/>
          <p:nvPr/>
        </p:nvSpPr>
        <p:spPr>
          <a:xfrm>
            <a:off x="9802368" y="3803904"/>
            <a:ext cx="310896" cy="310896"/>
          </a:xfrm>
          <a:prstGeom prst="ellipse">
            <a:avLst/>
          </a:prstGeom>
          <a:solidFill>
            <a:srgbClr val="1E8A5A"/>
          </a:solidFill>
          <a:ln w="12700">
            <a:solidFill>
              <a:srgbClr val="1E8A5A"/>
            </a:solidFill>
            <a:prstDash val="solid"/>
          </a:ln>
        </p:spPr>
      </p:sp>
      <p:pic>
        <p:nvPicPr>
          <p:cNvPr id="103" name="Image 15" descr="preencoded.png">    </p:cNvPr>
          <p:cNvPicPr>
            <a:picLocks noChangeAspect="1"/>
          </p:cNvPicPr>
          <p:nvPr/>
        </p:nvPicPr>
        <p:blipFill>
          <a:blip r:embed="rId16"/>
          <a:stretch>
            <a:fillRect/>
          </a:stretch>
        </p:blipFill>
        <p:spPr>
          <a:xfrm>
            <a:off x="9883201" y="3884737"/>
            <a:ext cx="149230" cy="149230"/>
          </a:xfrm>
          <a:prstGeom prst="rect">
            <a:avLst/>
          </a:prstGeom>
        </p:spPr>
      </p:pic>
      <p:sp>
        <p:nvSpPr>
          <p:cNvPr id="104" name="Text 86"/>
          <p:cNvSpPr txBox="1"/>
          <p:nvPr/>
        </p:nvSpPr>
        <p:spPr>
          <a:xfrm>
            <a:off x="10195560" y="3730752"/>
            <a:ext cx="3749040" cy="45720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Event-driven execution</a:t>
            </a:r>
            <a:endParaRPr lang="en-US" sz="1150" dirty="0"/>
          </a:p>
        </p:txBody>
      </p:sp>
      <p:sp>
        <p:nvSpPr>
          <p:cNvPr id="105" name="Shape 87"/>
          <p:cNvSpPr/>
          <p:nvPr/>
        </p:nvSpPr>
        <p:spPr>
          <a:xfrm>
            <a:off x="9710928" y="4279392"/>
            <a:ext cx="4306824" cy="457200"/>
          </a:xfrm>
          <a:prstGeom prst="roundRect">
            <a:avLst>
              <a:gd name="adj" fmla="val 16000"/>
            </a:avLst>
          </a:prstGeom>
          <a:solidFill>
            <a:srgbClr val="FFFFFF"/>
          </a:solidFill>
          <a:ln w="9525">
            <a:solidFill>
              <a:srgbClr val="C8D8EC"/>
            </a:solidFill>
            <a:prstDash val="solid"/>
          </a:ln>
        </p:spPr>
      </p:sp>
      <p:sp>
        <p:nvSpPr>
          <p:cNvPr id="106" name="Shape 88"/>
          <p:cNvSpPr/>
          <p:nvPr/>
        </p:nvSpPr>
        <p:spPr>
          <a:xfrm>
            <a:off x="9802368" y="4352544"/>
            <a:ext cx="310896" cy="310896"/>
          </a:xfrm>
          <a:prstGeom prst="ellipse">
            <a:avLst/>
          </a:prstGeom>
          <a:solidFill>
            <a:srgbClr val="1E8A5A"/>
          </a:solidFill>
          <a:ln w="12700">
            <a:solidFill>
              <a:srgbClr val="1E8A5A"/>
            </a:solidFill>
            <a:prstDash val="solid"/>
          </a:ln>
        </p:spPr>
      </p:sp>
      <p:pic>
        <p:nvPicPr>
          <p:cNvPr id="107" name="Image 16" descr="preencoded.png">    </p:cNvPr>
          <p:cNvPicPr>
            <a:picLocks noChangeAspect="1"/>
          </p:cNvPicPr>
          <p:nvPr/>
        </p:nvPicPr>
        <p:blipFill>
          <a:blip r:embed="rId17"/>
          <a:stretch>
            <a:fillRect/>
          </a:stretch>
        </p:blipFill>
        <p:spPr>
          <a:xfrm>
            <a:off x="9883201" y="4433377"/>
            <a:ext cx="149230" cy="149230"/>
          </a:xfrm>
          <a:prstGeom prst="rect">
            <a:avLst/>
          </a:prstGeom>
        </p:spPr>
      </p:pic>
      <p:sp>
        <p:nvSpPr>
          <p:cNvPr id="108" name="Text 89"/>
          <p:cNvSpPr txBox="1"/>
          <p:nvPr/>
        </p:nvSpPr>
        <p:spPr>
          <a:xfrm>
            <a:off x="10195560" y="4279392"/>
            <a:ext cx="3749040" cy="45720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Automated investigation support</a:t>
            </a:r>
            <a:endParaRPr lang="en-US" sz="1150" dirty="0"/>
          </a:p>
        </p:txBody>
      </p:sp>
      <p:sp>
        <p:nvSpPr>
          <p:cNvPr id="109" name="Shape 90"/>
          <p:cNvSpPr/>
          <p:nvPr/>
        </p:nvSpPr>
        <p:spPr>
          <a:xfrm>
            <a:off x="9710928" y="4828032"/>
            <a:ext cx="4306824" cy="457200"/>
          </a:xfrm>
          <a:prstGeom prst="roundRect">
            <a:avLst>
              <a:gd name="adj" fmla="val 16000"/>
            </a:avLst>
          </a:prstGeom>
          <a:solidFill>
            <a:srgbClr val="FFFFFF"/>
          </a:solidFill>
          <a:ln w="9525">
            <a:solidFill>
              <a:srgbClr val="C8D8EC"/>
            </a:solidFill>
            <a:prstDash val="solid"/>
          </a:ln>
        </p:spPr>
      </p:sp>
      <p:sp>
        <p:nvSpPr>
          <p:cNvPr id="110" name="Shape 91"/>
          <p:cNvSpPr/>
          <p:nvPr/>
        </p:nvSpPr>
        <p:spPr>
          <a:xfrm>
            <a:off x="9802368" y="4901184"/>
            <a:ext cx="310896" cy="310896"/>
          </a:xfrm>
          <a:prstGeom prst="ellipse">
            <a:avLst/>
          </a:prstGeom>
          <a:solidFill>
            <a:srgbClr val="1E8A5A"/>
          </a:solidFill>
          <a:ln w="12700">
            <a:solidFill>
              <a:srgbClr val="1E8A5A"/>
            </a:solidFill>
            <a:prstDash val="solid"/>
          </a:ln>
        </p:spPr>
      </p:sp>
      <p:pic>
        <p:nvPicPr>
          <p:cNvPr id="111" name="Image 17" descr="preencoded.png">    </p:cNvPr>
          <p:cNvPicPr>
            <a:picLocks noChangeAspect="1"/>
          </p:cNvPicPr>
          <p:nvPr/>
        </p:nvPicPr>
        <p:blipFill>
          <a:blip r:embed="rId18"/>
          <a:stretch>
            <a:fillRect/>
          </a:stretch>
        </p:blipFill>
        <p:spPr>
          <a:xfrm>
            <a:off x="9883201" y="4982017"/>
            <a:ext cx="149230" cy="149230"/>
          </a:xfrm>
          <a:prstGeom prst="rect">
            <a:avLst/>
          </a:prstGeom>
        </p:spPr>
      </p:pic>
      <p:sp>
        <p:nvSpPr>
          <p:cNvPr id="112" name="Text 92"/>
          <p:cNvSpPr txBox="1"/>
          <p:nvPr/>
        </p:nvSpPr>
        <p:spPr>
          <a:xfrm>
            <a:off x="10195560" y="4828032"/>
            <a:ext cx="3749040" cy="45720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Knowledge retrieval</a:t>
            </a:r>
            <a:endParaRPr lang="en-US" sz="1150" dirty="0"/>
          </a:p>
        </p:txBody>
      </p:sp>
      <p:sp>
        <p:nvSpPr>
          <p:cNvPr id="113" name="Shape 93"/>
          <p:cNvSpPr/>
          <p:nvPr/>
        </p:nvSpPr>
        <p:spPr>
          <a:xfrm>
            <a:off x="9710928" y="5376672"/>
            <a:ext cx="4306824" cy="457200"/>
          </a:xfrm>
          <a:prstGeom prst="roundRect">
            <a:avLst>
              <a:gd name="adj" fmla="val 16000"/>
            </a:avLst>
          </a:prstGeom>
          <a:solidFill>
            <a:srgbClr val="FFFFFF"/>
          </a:solidFill>
          <a:ln w="9525">
            <a:solidFill>
              <a:srgbClr val="C8D8EC"/>
            </a:solidFill>
            <a:prstDash val="solid"/>
          </a:ln>
        </p:spPr>
      </p:sp>
      <p:sp>
        <p:nvSpPr>
          <p:cNvPr id="114" name="Shape 94"/>
          <p:cNvSpPr/>
          <p:nvPr/>
        </p:nvSpPr>
        <p:spPr>
          <a:xfrm>
            <a:off x="9802368" y="5449824"/>
            <a:ext cx="310896" cy="310896"/>
          </a:xfrm>
          <a:prstGeom prst="ellipse">
            <a:avLst/>
          </a:prstGeom>
          <a:solidFill>
            <a:srgbClr val="1E8A5A"/>
          </a:solidFill>
          <a:ln w="12700">
            <a:solidFill>
              <a:srgbClr val="1E8A5A"/>
            </a:solidFill>
            <a:prstDash val="solid"/>
          </a:ln>
        </p:spPr>
      </p:sp>
      <p:pic>
        <p:nvPicPr>
          <p:cNvPr id="115" name="Image 18" descr="preencoded.png">    </p:cNvPr>
          <p:cNvPicPr>
            <a:picLocks noChangeAspect="1"/>
          </p:cNvPicPr>
          <p:nvPr/>
        </p:nvPicPr>
        <p:blipFill>
          <a:blip r:embed="rId19"/>
          <a:stretch>
            <a:fillRect/>
          </a:stretch>
        </p:blipFill>
        <p:spPr>
          <a:xfrm>
            <a:off x="9883201" y="5530657"/>
            <a:ext cx="149230" cy="149230"/>
          </a:xfrm>
          <a:prstGeom prst="rect">
            <a:avLst/>
          </a:prstGeom>
        </p:spPr>
      </p:pic>
      <p:sp>
        <p:nvSpPr>
          <p:cNvPr id="116" name="Text 95"/>
          <p:cNvSpPr txBox="1"/>
          <p:nvPr/>
        </p:nvSpPr>
        <p:spPr>
          <a:xfrm>
            <a:off x="10195560" y="5376672"/>
            <a:ext cx="3749040" cy="45720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Tool execution through MCP</a:t>
            </a:r>
            <a:endParaRPr lang="en-US" sz="1150" dirty="0"/>
          </a:p>
        </p:txBody>
      </p:sp>
      <p:sp>
        <p:nvSpPr>
          <p:cNvPr id="117" name="Shape 96"/>
          <p:cNvSpPr/>
          <p:nvPr/>
        </p:nvSpPr>
        <p:spPr>
          <a:xfrm>
            <a:off x="9710928" y="5925312"/>
            <a:ext cx="4306824" cy="457200"/>
          </a:xfrm>
          <a:prstGeom prst="roundRect">
            <a:avLst>
              <a:gd name="adj" fmla="val 16000"/>
            </a:avLst>
          </a:prstGeom>
          <a:solidFill>
            <a:srgbClr val="FFFFFF"/>
          </a:solidFill>
          <a:ln w="9525">
            <a:solidFill>
              <a:srgbClr val="C8D8EC"/>
            </a:solidFill>
            <a:prstDash val="solid"/>
          </a:ln>
        </p:spPr>
      </p:sp>
      <p:sp>
        <p:nvSpPr>
          <p:cNvPr id="118" name="Shape 97"/>
          <p:cNvSpPr/>
          <p:nvPr/>
        </p:nvSpPr>
        <p:spPr>
          <a:xfrm>
            <a:off x="9802368" y="5998464"/>
            <a:ext cx="310896" cy="310896"/>
          </a:xfrm>
          <a:prstGeom prst="ellipse">
            <a:avLst/>
          </a:prstGeom>
          <a:solidFill>
            <a:srgbClr val="1E8A5A"/>
          </a:solidFill>
          <a:ln w="12700">
            <a:solidFill>
              <a:srgbClr val="1E8A5A"/>
            </a:solidFill>
            <a:prstDash val="solid"/>
          </a:ln>
        </p:spPr>
      </p:sp>
      <p:pic>
        <p:nvPicPr>
          <p:cNvPr id="119" name="Image 19" descr="preencoded.png">    </p:cNvPr>
          <p:cNvPicPr>
            <a:picLocks noChangeAspect="1"/>
          </p:cNvPicPr>
          <p:nvPr/>
        </p:nvPicPr>
        <p:blipFill>
          <a:blip r:embed="rId20"/>
          <a:stretch>
            <a:fillRect/>
          </a:stretch>
        </p:blipFill>
        <p:spPr>
          <a:xfrm>
            <a:off x="9883201" y="6079297"/>
            <a:ext cx="149230" cy="149230"/>
          </a:xfrm>
          <a:prstGeom prst="rect">
            <a:avLst/>
          </a:prstGeom>
        </p:spPr>
      </p:pic>
      <p:sp>
        <p:nvSpPr>
          <p:cNvPr id="120" name="Text 98"/>
          <p:cNvSpPr txBox="1"/>
          <p:nvPr/>
        </p:nvSpPr>
        <p:spPr>
          <a:xfrm>
            <a:off x="10195560" y="5925312"/>
            <a:ext cx="3749040" cy="45720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AI-assisted recommendations</a:t>
            </a:r>
            <a:endParaRPr lang="en-US" sz="1150" dirty="0"/>
          </a:p>
        </p:txBody>
      </p:sp>
      <p:sp>
        <p:nvSpPr>
          <p:cNvPr id="121" name="Shape 99"/>
          <p:cNvSpPr/>
          <p:nvPr/>
        </p:nvSpPr>
        <p:spPr>
          <a:xfrm>
            <a:off x="9710928" y="6473952"/>
            <a:ext cx="4306824" cy="457200"/>
          </a:xfrm>
          <a:prstGeom prst="roundRect">
            <a:avLst>
              <a:gd name="adj" fmla="val 16000"/>
            </a:avLst>
          </a:prstGeom>
          <a:solidFill>
            <a:srgbClr val="FFFFFF"/>
          </a:solidFill>
          <a:ln w="9525">
            <a:solidFill>
              <a:srgbClr val="C8D8EC"/>
            </a:solidFill>
            <a:prstDash val="solid"/>
          </a:ln>
        </p:spPr>
      </p:sp>
      <p:sp>
        <p:nvSpPr>
          <p:cNvPr id="122" name="Shape 100"/>
          <p:cNvSpPr/>
          <p:nvPr/>
        </p:nvSpPr>
        <p:spPr>
          <a:xfrm>
            <a:off x="9802368" y="6547104"/>
            <a:ext cx="310896" cy="310896"/>
          </a:xfrm>
          <a:prstGeom prst="ellipse">
            <a:avLst/>
          </a:prstGeom>
          <a:solidFill>
            <a:srgbClr val="1E8A5A"/>
          </a:solidFill>
          <a:ln w="12700">
            <a:solidFill>
              <a:srgbClr val="1E8A5A"/>
            </a:solidFill>
            <a:prstDash val="solid"/>
          </a:ln>
        </p:spPr>
      </p:sp>
      <p:pic>
        <p:nvPicPr>
          <p:cNvPr id="123" name="Image 20" descr="preencoded.png">    </p:cNvPr>
          <p:cNvPicPr>
            <a:picLocks noChangeAspect="1"/>
          </p:cNvPicPr>
          <p:nvPr/>
        </p:nvPicPr>
        <p:blipFill>
          <a:blip r:embed="rId21"/>
          <a:stretch>
            <a:fillRect/>
          </a:stretch>
        </p:blipFill>
        <p:spPr>
          <a:xfrm>
            <a:off x="9883201" y="6627937"/>
            <a:ext cx="149230" cy="149230"/>
          </a:xfrm>
          <a:prstGeom prst="rect">
            <a:avLst/>
          </a:prstGeom>
        </p:spPr>
      </p:pic>
      <p:sp>
        <p:nvSpPr>
          <p:cNvPr id="124" name="Text 101"/>
          <p:cNvSpPr txBox="1"/>
          <p:nvPr/>
        </p:nvSpPr>
        <p:spPr>
          <a:xfrm>
            <a:off x="10195560" y="6473952"/>
            <a:ext cx="3749040" cy="45720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Full auditability and observability</a:t>
            </a:r>
            <a:endParaRPr lang="en-US" sz="1150" dirty="0"/>
          </a:p>
        </p:txBody>
      </p:sp>
      <p:sp>
        <p:nvSpPr>
          <p:cNvPr id="125" name="Shape 102"/>
          <p:cNvSpPr/>
          <p:nvPr/>
        </p:nvSpPr>
        <p:spPr>
          <a:xfrm>
            <a:off x="9710928" y="7022592"/>
            <a:ext cx="4306824" cy="457200"/>
          </a:xfrm>
          <a:prstGeom prst="roundRect">
            <a:avLst>
              <a:gd name="adj" fmla="val 16000"/>
            </a:avLst>
          </a:prstGeom>
          <a:solidFill>
            <a:srgbClr val="FFFFFF"/>
          </a:solidFill>
          <a:ln w="9525">
            <a:solidFill>
              <a:srgbClr val="C8D8EC"/>
            </a:solidFill>
            <a:prstDash val="solid"/>
          </a:ln>
        </p:spPr>
      </p:sp>
      <p:sp>
        <p:nvSpPr>
          <p:cNvPr id="126" name="Shape 103"/>
          <p:cNvSpPr/>
          <p:nvPr/>
        </p:nvSpPr>
        <p:spPr>
          <a:xfrm>
            <a:off x="9802368" y="7095744"/>
            <a:ext cx="310896" cy="310896"/>
          </a:xfrm>
          <a:prstGeom prst="ellipse">
            <a:avLst/>
          </a:prstGeom>
          <a:solidFill>
            <a:srgbClr val="1E8A5A"/>
          </a:solidFill>
          <a:ln w="12700">
            <a:solidFill>
              <a:srgbClr val="1E8A5A"/>
            </a:solidFill>
            <a:prstDash val="solid"/>
          </a:ln>
        </p:spPr>
      </p:sp>
      <p:pic>
        <p:nvPicPr>
          <p:cNvPr id="127" name="Image 21" descr="preencoded.png">    </p:cNvPr>
          <p:cNvPicPr>
            <a:picLocks noChangeAspect="1"/>
          </p:cNvPicPr>
          <p:nvPr/>
        </p:nvPicPr>
        <p:blipFill>
          <a:blip r:embed="rId22"/>
          <a:stretch>
            <a:fillRect/>
          </a:stretch>
        </p:blipFill>
        <p:spPr>
          <a:xfrm>
            <a:off x="9883201" y="7176577"/>
            <a:ext cx="149230" cy="149230"/>
          </a:xfrm>
          <a:prstGeom prst="rect">
            <a:avLst/>
          </a:prstGeom>
        </p:spPr>
      </p:pic>
      <p:sp>
        <p:nvSpPr>
          <p:cNvPr id="128" name="Text 104"/>
          <p:cNvSpPr txBox="1"/>
          <p:nvPr/>
        </p:nvSpPr>
        <p:spPr>
          <a:xfrm>
            <a:off x="10195560" y="7022592"/>
            <a:ext cx="3749040" cy="45720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Human approval and oversight</a:t>
            </a:r>
            <a:endParaRPr lang="en-US" sz="1150" dirty="0"/>
          </a:p>
        </p:txBody>
      </p:sp>
      <p:sp>
        <p:nvSpPr>
          <p:cNvPr id="129" name="Shape 105"/>
          <p:cNvSpPr/>
          <p:nvPr/>
        </p:nvSpPr>
        <p:spPr>
          <a:xfrm>
            <a:off x="502920" y="8001000"/>
            <a:ext cx="13624560" cy="1051560"/>
          </a:xfrm>
          <a:prstGeom prst="roundRect">
            <a:avLst>
              <a:gd name="adj" fmla="val 6957"/>
            </a:avLst>
          </a:prstGeom>
          <a:solidFill>
            <a:srgbClr val="0B2E5E"/>
          </a:solidFill>
          <a:ln w="12700">
            <a:solidFill>
              <a:srgbClr val="0B2E5E"/>
            </a:solidFill>
            <a:prstDash val="solid"/>
          </a:ln>
        </p:spPr>
      </p:sp>
      <p:sp>
        <p:nvSpPr>
          <p:cNvPr id="130" name="Text 106"/>
          <p:cNvSpPr txBox="1"/>
          <p:nvPr/>
        </p:nvSpPr>
        <p:spPr>
          <a:xfrm>
            <a:off x="777240" y="8001000"/>
            <a:ext cx="13075920" cy="10515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The value is not the Helix workflow itself. It is a repeatable pattern that can be reused across Finance.</a:t>
            </a:r>
            <a:endParaRPr lang="en-US" sz="1600" dirty="0"/>
          </a:p>
        </p:txBody>
      </p:sp>
      <p:sp>
        <p:nvSpPr>
          <p:cNvPr id="131" name="Shape 107"/>
          <p:cNvSpPr/>
          <p:nvPr/>
        </p:nvSpPr>
        <p:spPr>
          <a:xfrm>
            <a:off x="0" y="9272016"/>
            <a:ext cx="14630400" cy="484632"/>
          </a:xfrm>
          <a:prstGeom prst="rect">
            <a:avLst/>
          </a:prstGeom>
          <a:solidFill>
            <a:srgbClr val="0B2E5E"/>
          </a:solidFill>
          <a:ln w="12700">
            <a:solidFill>
              <a:srgbClr val="0B2E5E"/>
            </a:solidFill>
            <a:prstDash val="solid"/>
          </a:ln>
        </p:spPr>
      </p:sp>
      <p:sp>
        <p:nvSpPr>
          <p:cNvPr id="132" name="Text 108"/>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One Finance Agentic Engine</a:t>
            </a:r>
            <a:pPr algn="ctr" indent="0" marL="0">
              <a:buNone/>
            </a:pPr>
            <a:r>
              <a:rPr lang="en-US" sz="1100" dirty="0">
                <a:solidFill>
                  <a:srgbClr val="FFFFFF"/>
                </a:solidFill>
                <a:latin typeface="Calibri" pitchFamily="34" charset="0"/>
                <a:ea typeface="Calibri" pitchFamily="34" charset="-122"/>
                <a:cs typeface="Calibri" pitchFamily="34" charset="-120"/>
              </a:rPr>
              <a:t>   |   Helix: the first vehicle on the engine.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From Helix to Enterprise Adoption</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We have built the engine. Now we choose which vehicles to put it into.</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Reuse Across Finance</a:t>
            </a:r>
            <a:endParaRPr lang="en-US" sz="2200" dirty="0"/>
          </a:p>
        </p:txBody>
      </p:sp>
      <p:sp>
        <p:nvSpPr>
          <p:cNvPr id="7" name="Shape 5"/>
          <p:cNvSpPr/>
          <p:nvPr/>
        </p:nvSpPr>
        <p:spPr>
          <a:xfrm>
            <a:off x="5074920" y="3017520"/>
            <a:ext cx="4480560" cy="2651760"/>
          </a:xfrm>
          <a:prstGeom prst="roundRect">
            <a:avLst>
              <a:gd name="adj" fmla="val 2759"/>
            </a:avLst>
          </a:prstGeom>
          <a:solidFill>
            <a:srgbClr val="0B2E5E"/>
          </a:solidFill>
          <a:ln w="12700">
            <a:solidFill>
              <a:srgbClr val="0B2E5E"/>
            </a:solidFill>
            <a:prstDash val="solid"/>
          </a:ln>
        </p:spPr>
      </p:sp>
      <p:sp>
        <p:nvSpPr>
          <p:cNvPr id="8" name="Text 6"/>
          <p:cNvSpPr txBox="1"/>
          <p:nvPr/>
        </p:nvSpPr>
        <p:spPr>
          <a:xfrm>
            <a:off x="5074920" y="3127248"/>
            <a:ext cx="4480560" cy="365760"/>
          </a:xfrm>
          <a:prstGeom prst="rect">
            <a:avLst/>
          </a:prstGeom>
          <a:noFill/>
          <a:ln/>
        </p:spPr>
        <p:txBody>
          <a:bodyPr wrap="square" lIns="0" tIns="0" rIns="0" bIns="0" rtlCol="0" anchor="ctr"/>
          <a:lstStyle/>
          <a:p>
            <a:pPr algn="ctr" indent="0" marL="0">
              <a:buNone/>
            </a:pPr>
            <a:r>
              <a:rPr lang="en-US" sz="1500" b="1" spc="100" kern="0" dirty="0">
                <a:solidFill>
                  <a:srgbClr val="FFFFFF"/>
                </a:solidFill>
                <a:latin typeface="Calibri" pitchFamily="34" charset="0"/>
                <a:ea typeface="Calibri" pitchFamily="34" charset="-122"/>
                <a:cs typeface="Calibri" pitchFamily="34" charset="-120"/>
              </a:rPr>
              <a:t>ONE FINANCE AGENTIC ENGINE</a:t>
            </a:r>
            <a:endParaRPr lang="en-US" sz="1500" dirty="0"/>
          </a:p>
        </p:txBody>
      </p:sp>
      <p:sp>
        <p:nvSpPr>
          <p:cNvPr id="9" name="Shape 7"/>
          <p:cNvSpPr/>
          <p:nvPr/>
        </p:nvSpPr>
        <p:spPr>
          <a:xfrm>
            <a:off x="5303520" y="3611880"/>
            <a:ext cx="4023360" cy="365760"/>
          </a:xfrm>
          <a:prstGeom prst="roundRect">
            <a:avLst>
              <a:gd name="adj" fmla="val 15000"/>
            </a:avLst>
          </a:prstGeom>
          <a:solidFill>
            <a:srgbClr val="1E8A5A"/>
          </a:solidFill>
          <a:ln w="12700">
            <a:solidFill>
              <a:srgbClr val="1E8A5A"/>
            </a:solidFill>
            <a:prstDash val="solid"/>
          </a:ln>
        </p:spPr>
      </p:sp>
      <p:sp>
        <p:nvSpPr>
          <p:cNvPr id="10" name="Text 8"/>
          <p:cNvSpPr txBox="1"/>
          <p:nvPr/>
        </p:nvSpPr>
        <p:spPr>
          <a:xfrm>
            <a:off x="5303520" y="3611880"/>
            <a:ext cx="40233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Orchestration</a:t>
            </a:r>
            <a:endParaRPr lang="en-US" sz="1200" dirty="0"/>
          </a:p>
        </p:txBody>
      </p:sp>
      <p:sp>
        <p:nvSpPr>
          <p:cNvPr id="11" name="Shape 9"/>
          <p:cNvSpPr/>
          <p:nvPr/>
        </p:nvSpPr>
        <p:spPr>
          <a:xfrm>
            <a:off x="5303520" y="4069080"/>
            <a:ext cx="4023360" cy="365760"/>
          </a:xfrm>
          <a:prstGeom prst="roundRect">
            <a:avLst>
              <a:gd name="adj" fmla="val 15000"/>
            </a:avLst>
          </a:prstGeom>
          <a:solidFill>
            <a:srgbClr val="5B4FA8"/>
          </a:solidFill>
          <a:ln w="12700">
            <a:solidFill>
              <a:srgbClr val="5B4FA8"/>
            </a:solidFill>
            <a:prstDash val="solid"/>
          </a:ln>
        </p:spPr>
      </p:sp>
      <p:sp>
        <p:nvSpPr>
          <p:cNvPr id="12" name="Text 10"/>
          <p:cNvSpPr txBox="1"/>
          <p:nvPr/>
        </p:nvSpPr>
        <p:spPr>
          <a:xfrm>
            <a:off x="5303520" y="4069080"/>
            <a:ext cx="40233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AI Reasoning</a:t>
            </a:r>
            <a:endParaRPr lang="en-US" sz="1200" dirty="0"/>
          </a:p>
        </p:txBody>
      </p:sp>
      <p:sp>
        <p:nvSpPr>
          <p:cNvPr id="13" name="Shape 11"/>
          <p:cNvSpPr/>
          <p:nvPr/>
        </p:nvSpPr>
        <p:spPr>
          <a:xfrm>
            <a:off x="5303520" y="4526280"/>
            <a:ext cx="4023360" cy="365760"/>
          </a:xfrm>
          <a:prstGeom prst="roundRect">
            <a:avLst>
              <a:gd name="adj" fmla="val 15000"/>
            </a:avLst>
          </a:prstGeom>
          <a:solidFill>
            <a:srgbClr val="3F86C8"/>
          </a:solidFill>
          <a:ln w="12700">
            <a:solidFill>
              <a:srgbClr val="3F86C8"/>
            </a:solidFill>
            <a:prstDash val="solid"/>
          </a:ln>
        </p:spPr>
      </p:sp>
      <p:sp>
        <p:nvSpPr>
          <p:cNvPr id="14" name="Text 12"/>
          <p:cNvSpPr txBox="1"/>
          <p:nvPr/>
        </p:nvSpPr>
        <p:spPr>
          <a:xfrm>
            <a:off x="5303520" y="4526280"/>
            <a:ext cx="40233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AI Observability</a:t>
            </a:r>
            <a:endParaRPr lang="en-US" sz="1200" dirty="0"/>
          </a:p>
        </p:txBody>
      </p:sp>
      <p:sp>
        <p:nvSpPr>
          <p:cNvPr id="15" name="Text 13"/>
          <p:cNvSpPr txBox="1"/>
          <p:nvPr/>
        </p:nvSpPr>
        <p:spPr>
          <a:xfrm>
            <a:off x="5074920" y="5029200"/>
            <a:ext cx="4480560" cy="457200"/>
          </a:xfrm>
          <a:prstGeom prst="rect">
            <a:avLst/>
          </a:prstGeom>
          <a:noFill/>
          <a:ln/>
        </p:spPr>
        <p:txBody>
          <a:bodyPr wrap="square" lIns="0" tIns="0" rIns="0" bIns="0" rtlCol="0" anchor="ctr"/>
          <a:lstStyle/>
          <a:p>
            <a:pPr algn="ctr" indent="0" marL="0">
              <a:buNone/>
            </a:pPr>
            <a:r>
              <a:rPr lang="en-US" sz="1100" dirty="0">
                <a:solidFill>
                  <a:srgbClr val="DCE9F7"/>
                </a:solidFill>
                <a:latin typeface="Calibri" pitchFamily="34" charset="0"/>
                <a:ea typeface="Calibri" pitchFamily="34" charset="-122"/>
                <a:cs typeface="Calibri" pitchFamily="34" charset="-120"/>
              </a:rPr>
              <a:t>Tools (MCP)  |  Knowledge  |  Human-in-the-loop</a:t>
            </a:r>
            <a:endParaRPr lang="en-US" sz="1100" dirty="0"/>
          </a:p>
        </p:txBody>
      </p:sp>
      <p:sp>
        <p:nvSpPr>
          <p:cNvPr id="16" name="Shape 14"/>
          <p:cNvSpPr/>
          <p:nvPr/>
        </p:nvSpPr>
        <p:spPr>
          <a:xfrm>
            <a:off x="502920" y="1280160"/>
            <a:ext cx="4480560" cy="1417320"/>
          </a:xfrm>
          <a:prstGeom prst="roundRect">
            <a:avLst>
              <a:gd name="adj" fmla="val 3871"/>
            </a:avLst>
          </a:prstGeom>
          <a:solidFill>
            <a:srgbClr val="FFFFFF"/>
          </a:solidFill>
          <a:ln w="25400">
            <a:solidFill>
              <a:srgbClr val="1E8A5A"/>
            </a:solidFill>
            <a:prstDash val="solid"/>
          </a:ln>
        </p:spPr>
      </p:sp>
      <p:sp>
        <p:nvSpPr>
          <p:cNvPr id="17" name="Shape 15"/>
          <p:cNvSpPr/>
          <p:nvPr/>
        </p:nvSpPr>
        <p:spPr>
          <a:xfrm>
            <a:off x="685800" y="1554480"/>
            <a:ext cx="640080" cy="640080"/>
          </a:xfrm>
          <a:prstGeom prst="roundRect">
            <a:avLst>
              <a:gd name="adj" fmla="val 14286"/>
            </a:avLst>
          </a:prstGeom>
          <a:solidFill>
            <a:srgbClr val="1E8A5A"/>
          </a:solidFill>
          <a:ln w="12700">
            <a:solidFill>
              <a:srgbClr val="1E8A5A"/>
            </a:solidFill>
            <a:prstDash val="solid"/>
          </a:ln>
        </p:spPr>
      </p:sp>
      <p:pic>
        <p:nvPicPr>
          <p:cNvPr id="18" name="Image 0" descr="preencoded.png">    </p:cNvPr>
          <p:cNvPicPr>
            <a:picLocks noChangeAspect="1"/>
          </p:cNvPicPr>
          <p:nvPr/>
        </p:nvPicPr>
        <p:blipFill>
          <a:blip r:embed="rId1"/>
          <a:stretch>
            <a:fillRect/>
          </a:stretch>
        </p:blipFill>
        <p:spPr>
          <a:xfrm>
            <a:off x="826618" y="1695298"/>
            <a:ext cx="358445" cy="358445"/>
          </a:xfrm>
          <a:prstGeom prst="rect">
            <a:avLst/>
          </a:prstGeom>
        </p:spPr>
      </p:pic>
      <p:sp>
        <p:nvSpPr>
          <p:cNvPr id="19" name="Text 16"/>
          <p:cNvSpPr txBox="1"/>
          <p:nvPr/>
        </p:nvSpPr>
        <p:spPr>
          <a:xfrm>
            <a:off x="1508760" y="1481328"/>
            <a:ext cx="2834640" cy="457200"/>
          </a:xfrm>
          <a:prstGeom prst="rect">
            <a:avLst/>
          </a:prstGeom>
          <a:noFill/>
          <a:ln/>
        </p:spPr>
        <p:txBody>
          <a:bodyPr wrap="square" lIns="0" tIns="0" rIns="0" bIns="0" rtlCol="0" anchor="ctr"/>
          <a:lstStyle/>
          <a:p>
            <a:pPr indent="0" marL="0">
              <a:buNone/>
            </a:pPr>
            <a:r>
              <a:rPr lang="en-US" sz="1400" b="1" dirty="0">
                <a:solidFill>
                  <a:srgbClr val="1F2D3D"/>
                </a:solidFill>
                <a:latin typeface="Calibri" pitchFamily="34" charset="0"/>
                <a:ea typeface="Calibri" pitchFamily="34" charset="-122"/>
                <a:cs typeface="Calibri" pitchFamily="34" charset="-120"/>
              </a:rPr>
              <a:t>Reconciliation Investigation</a:t>
            </a:r>
            <a:endParaRPr lang="en-US" sz="1400" dirty="0"/>
          </a:p>
        </p:txBody>
      </p:sp>
      <p:sp>
        <p:nvSpPr>
          <p:cNvPr id="20" name="Text 17"/>
          <p:cNvSpPr txBox="1"/>
          <p:nvPr/>
        </p:nvSpPr>
        <p:spPr>
          <a:xfrm>
            <a:off x="1508760" y="1965960"/>
            <a:ext cx="3291840" cy="548640"/>
          </a:xfrm>
          <a:prstGeom prst="rect">
            <a:avLst/>
          </a:prstGeom>
          <a:noFill/>
          <a:ln/>
        </p:spPr>
        <p:txBody>
          <a:bodyPr wrap="square" lIns="0" tIns="0" rIns="0" bIns="0" rtlCol="0" anchor="t"/>
          <a:lstStyle/>
          <a:p>
            <a:pPr indent="0" marL="0">
              <a:buNone/>
            </a:pPr>
            <a:r>
              <a:rPr lang="en-US" sz="1100" dirty="0">
                <a:solidFill>
                  <a:srgbClr val="4A5A6E"/>
                </a:solidFill>
                <a:latin typeface="Calibri" pitchFamily="34" charset="0"/>
                <a:ea typeface="Calibri" pitchFamily="34" charset="-122"/>
                <a:cs typeface="Calibri" pitchFamily="34" charset="-120"/>
              </a:rPr>
              <a:t>Helix: FOBO CATS vs MOTIF</a:t>
            </a:r>
            <a:endParaRPr lang="en-US" sz="1100" dirty="0"/>
          </a:p>
        </p:txBody>
      </p:sp>
      <p:sp>
        <p:nvSpPr>
          <p:cNvPr id="21" name="Shape 18"/>
          <p:cNvSpPr/>
          <p:nvPr/>
        </p:nvSpPr>
        <p:spPr>
          <a:xfrm>
            <a:off x="4325112" y="1408176"/>
            <a:ext cx="548640" cy="256032"/>
          </a:xfrm>
          <a:prstGeom prst="roundRect">
            <a:avLst>
              <a:gd name="adj" fmla="val 50000"/>
            </a:avLst>
          </a:prstGeom>
          <a:solidFill>
            <a:srgbClr val="1E8A5A"/>
          </a:solidFill>
          <a:ln w="12700">
            <a:solidFill>
              <a:srgbClr val="1E8A5A"/>
            </a:solidFill>
            <a:prstDash val="solid"/>
          </a:ln>
        </p:spPr>
      </p:sp>
      <p:sp>
        <p:nvSpPr>
          <p:cNvPr id="22" name="Text 19"/>
          <p:cNvSpPr txBox="1"/>
          <p:nvPr/>
        </p:nvSpPr>
        <p:spPr>
          <a:xfrm>
            <a:off x="4325112" y="1408176"/>
            <a:ext cx="54864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Live</a:t>
            </a:r>
            <a:endParaRPr lang="en-US" sz="950" dirty="0"/>
          </a:p>
        </p:txBody>
      </p:sp>
      <p:sp>
        <p:nvSpPr>
          <p:cNvPr id="23" name="Shape 20"/>
          <p:cNvSpPr/>
          <p:nvPr/>
        </p:nvSpPr>
        <p:spPr>
          <a:xfrm>
            <a:off x="5074920" y="1280160"/>
            <a:ext cx="4480560" cy="1417320"/>
          </a:xfrm>
          <a:prstGeom prst="roundRect">
            <a:avLst>
              <a:gd name="adj" fmla="val 3871"/>
            </a:avLst>
          </a:prstGeom>
          <a:solidFill>
            <a:srgbClr val="FDFBF4"/>
          </a:solidFill>
          <a:ln w="12700">
            <a:solidFill>
              <a:srgbClr val="F2A900"/>
            </a:solidFill>
            <a:prstDash val="dash"/>
          </a:ln>
        </p:spPr>
      </p:sp>
      <p:sp>
        <p:nvSpPr>
          <p:cNvPr id="24" name="Shape 21"/>
          <p:cNvSpPr/>
          <p:nvPr/>
        </p:nvSpPr>
        <p:spPr>
          <a:xfrm>
            <a:off x="5257800" y="1554480"/>
            <a:ext cx="640080" cy="640080"/>
          </a:xfrm>
          <a:prstGeom prst="roundRect">
            <a:avLst>
              <a:gd name="adj" fmla="val 14286"/>
            </a:avLst>
          </a:prstGeom>
          <a:solidFill>
            <a:srgbClr val="B98200"/>
          </a:solidFill>
          <a:ln w="12700">
            <a:solidFill>
              <a:srgbClr val="B98200"/>
            </a:solidFill>
            <a:prstDash val="solid"/>
          </a:ln>
        </p:spPr>
      </p:sp>
      <p:pic>
        <p:nvPicPr>
          <p:cNvPr id="25" name="Image 1" descr="preencoded.png">    </p:cNvPr>
          <p:cNvPicPr>
            <a:picLocks noChangeAspect="1"/>
          </p:cNvPicPr>
          <p:nvPr/>
        </p:nvPicPr>
        <p:blipFill>
          <a:blip r:embed="rId2"/>
          <a:stretch>
            <a:fillRect/>
          </a:stretch>
        </p:blipFill>
        <p:spPr>
          <a:xfrm>
            <a:off x="5398618" y="1695298"/>
            <a:ext cx="358445" cy="358445"/>
          </a:xfrm>
          <a:prstGeom prst="rect">
            <a:avLst/>
          </a:prstGeom>
        </p:spPr>
      </p:pic>
      <p:sp>
        <p:nvSpPr>
          <p:cNvPr id="26" name="Text 22"/>
          <p:cNvSpPr txBox="1"/>
          <p:nvPr/>
        </p:nvSpPr>
        <p:spPr>
          <a:xfrm>
            <a:off x="6080760" y="1481328"/>
            <a:ext cx="2834640" cy="457200"/>
          </a:xfrm>
          <a:prstGeom prst="rect">
            <a:avLst/>
          </a:prstGeom>
          <a:noFill/>
          <a:ln/>
        </p:spPr>
        <p:txBody>
          <a:bodyPr wrap="square" lIns="0" tIns="0" rIns="0" bIns="0" rtlCol="0" anchor="ctr"/>
          <a:lstStyle/>
          <a:p>
            <a:pPr indent="0" marL="0">
              <a:buNone/>
            </a:pPr>
            <a:r>
              <a:rPr lang="en-US" sz="1400" b="1" dirty="0">
                <a:solidFill>
                  <a:srgbClr val="1F2D3D"/>
                </a:solidFill>
                <a:latin typeface="Calibri" pitchFamily="34" charset="0"/>
                <a:ea typeface="Calibri" pitchFamily="34" charset="-122"/>
                <a:cs typeface="Calibri" pitchFamily="34" charset="-120"/>
              </a:rPr>
              <a:t>Ledger Controls</a:t>
            </a:r>
            <a:endParaRPr lang="en-US" sz="1400" dirty="0"/>
          </a:p>
        </p:txBody>
      </p:sp>
      <p:sp>
        <p:nvSpPr>
          <p:cNvPr id="27" name="Text 23"/>
          <p:cNvSpPr txBox="1"/>
          <p:nvPr/>
        </p:nvSpPr>
        <p:spPr>
          <a:xfrm>
            <a:off x="6080760" y="1965960"/>
            <a:ext cx="3291840" cy="548640"/>
          </a:xfrm>
          <a:prstGeom prst="rect">
            <a:avLst/>
          </a:prstGeom>
          <a:noFill/>
          <a:ln/>
        </p:spPr>
        <p:txBody>
          <a:bodyPr wrap="square" lIns="0" tIns="0" rIns="0" bIns="0" rtlCol="0" anchor="t"/>
          <a:lstStyle/>
          <a:p>
            <a:pPr indent="0" marL="0">
              <a:buNone/>
            </a:pPr>
            <a:r>
              <a:rPr lang="en-US" sz="1100" dirty="0">
                <a:solidFill>
                  <a:srgbClr val="4A5A6E"/>
                </a:solidFill>
                <a:latin typeface="Calibri" pitchFamily="34" charset="0"/>
                <a:ea typeface="Calibri" pitchFamily="34" charset="-122"/>
                <a:cs typeface="Calibri" pitchFamily="34" charset="-120"/>
              </a:rPr>
              <a:t>Source to ledger, inter-ledger breaks</a:t>
            </a:r>
            <a:endParaRPr lang="en-US" sz="1100" dirty="0"/>
          </a:p>
        </p:txBody>
      </p:sp>
      <p:sp>
        <p:nvSpPr>
          <p:cNvPr id="28" name="Shape 24"/>
          <p:cNvSpPr/>
          <p:nvPr/>
        </p:nvSpPr>
        <p:spPr>
          <a:xfrm>
            <a:off x="8577072" y="1408176"/>
            <a:ext cx="868680" cy="256032"/>
          </a:xfrm>
          <a:prstGeom prst="roundRect">
            <a:avLst>
              <a:gd name="adj" fmla="val 50000"/>
            </a:avLst>
          </a:prstGeom>
          <a:solidFill>
            <a:srgbClr val="F2A900"/>
          </a:solidFill>
          <a:ln w="12700">
            <a:solidFill>
              <a:srgbClr val="F2A900"/>
            </a:solidFill>
            <a:prstDash val="solid"/>
          </a:ln>
        </p:spPr>
      </p:sp>
      <p:sp>
        <p:nvSpPr>
          <p:cNvPr id="29" name="Text 25"/>
          <p:cNvSpPr txBox="1"/>
          <p:nvPr/>
        </p:nvSpPr>
        <p:spPr>
          <a:xfrm>
            <a:off x="8577072" y="1408176"/>
            <a:ext cx="868680" cy="256032"/>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Potential</a:t>
            </a:r>
            <a:endParaRPr lang="en-US" sz="950" dirty="0"/>
          </a:p>
        </p:txBody>
      </p:sp>
      <p:sp>
        <p:nvSpPr>
          <p:cNvPr id="30" name="Shape 26"/>
          <p:cNvSpPr/>
          <p:nvPr/>
        </p:nvSpPr>
        <p:spPr>
          <a:xfrm>
            <a:off x="9646920" y="1280160"/>
            <a:ext cx="4480560" cy="1417320"/>
          </a:xfrm>
          <a:prstGeom prst="roundRect">
            <a:avLst>
              <a:gd name="adj" fmla="val 3871"/>
            </a:avLst>
          </a:prstGeom>
          <a:solidFill>
            <a:srgbClr val="FDFBF4"/>
          </a:solidFill>
          <a:ln w="12700">
            <a:solidFill>
              <a:srgbClr val="F2A900"/>
            </a:solidFill>
            <a:prstDash val="dash"/>
          </a:ln>
        </p:spPr>
      </p:sp>
      <p:sp>
        <p:nvSpPr>
          <p:cNvPr id="31" name="Shape 27"/>
          <p:cNvSpPr/>
          <p:nvPr/>
        </p:nvSpPr>
        <p:spPr>
          <a:xfrm>
            <a:off x="9829800" y="1554480"/>
            <a:ext cx="640080" cy="640080"/>
          </a:xfrm>
          <a:prstGeom prst="roundRect">
            <a:avLst>
              <a:gd name="adj" fmla="val 14286"/>
            </a:avLst>
          </a:prstGeom>
          <a:solidFill>
            <a:srgbClr val="B98200"/>
          </a:solidFill>
          <a:ln w="12700">
            <a:solidFill>
              <a:srgbClr val="B98200"/>
            </a:solidFill>
            <a:prstDash val="solid"/>
          </a:ln>
        </p:spPr>
      </p:sp>
      <p:pic>
        <p:nvPicPr>
          <p:cNvPr id="32" name="Image 2" descr="preencoded.png">    </p:cNvPr>
          <p:cNvPicPr>
            <a:picLocks noChangeAspect="1"/>
          </p:cNvPicPr>
          <p:nvPr/>
        </p:nvPicPr>
        <p:blipFill>
          <a:blip r:embed="rId3"/>
          <a:stretch>
            <a:fillRect/>
          </a:stretch>
        </p:blipFill>
        <p:spPr>
          <a:xfrm>
            <a:off x="9970618" y="1695298"/>
            <a:ext cx="358445" cy="358445"/>
          </a:xfrm>
          <a:prstGeom prst="rect">
            <a:avLst/>
          </a:prstGeom>
        </p:spPr>
      </p:pic>
      <p:sp>
        <p:nvSpPr>
          <p:cNvPr id="33" name="Text 28"/>
          <p:cNvSpPr txBox="1"/>
          <p:nvPr/>
        </p:nvSpPr>
        <p:spPr>
          <a:xfrm>
            <a:off x="10652760" y="1481328"/>
            <a:ext cx="2834640" cy="457200"/>
          </a:xfrm>
          <a:prstGeom prst="rect">
            <a:avLst/>
          </a:prstGeom>
          <a:noFill/>
          <a:ln/>
        </p:spPr>
        <p:txBody>
          <a:bodyPr wrap="square" lIns="0" tIns="0" rIns="0" bIns="0" rtlCol="0" anchor="ctr"/>
          <a:lstStyle/>
          <a:p>
            <a:pPr indent="0" marL="0">
              <a:buNone/>
            </a:pPr>
            <a:r>
              <a:rPr lang="en-US" sz="1400" b="1" dirty="0">
                <a:solidFill>
                  <a:srgbClr val="1F2D3D"/>
                </a:solidFill>
                <a:latin typeface="Calibri" pitchFamily="34" charset="0"/>
                <a:ea typeface="Calibri" pitchFamily="34" charset="-122"/>
                <a:cs typeface="Calibri" pitchFamily="34" charset="-120"/>
              </a:rPr>
              <a:t>Exception Management</a:t>
            </a:r>
            <a:endParaRPr lang="en-US" sz="1400" dirty="0"/>
          </a:p>
        </p:txBody>
      </p:sp>
      <p:sp>
        <p:nvSpPr>
          <p:cNvPr id="34" name="Text 29"/>
          <p:cNvSpPr txBox="1"/>
          <p:nvPr/>
        </p:nvSpPr>
        <p:spPr>
          <a:xfrm>
            <a:off x="10652760" y="1965960"/>
            <a:ext cx="3291840" cy="548640"/>
          </a:xfrm>
          <a:prstGeom prst="rect">
            <a:avLst/>
          </a:prstGeom>
          <a:noFill/>
          <a:ln/>
        </p:spPr>
        <p:txBody>
          <a:bodyPr wrap="square" lIns="0" tIns="0" rIns="0" bIns="0" rtlCol="0" anchor="t"/>
          <a:lstStyle/>
          <a:p>
            <a:pPr indent="0" marL="0">
              <a:buNone/>
            </a:pPr>
            <a:r>
              <a:rPr lang="en-US" sz="1100" dirty="0">
                <a:solidFill>
                  <a:srgbClr val="4A5A6E"/>
                </a:solidFill>
                <a:latin typeface="Calibri" pitchFamily="34" charset="0"/>
                <a:ea typeface="Calibri" pitchFamily="34" charset="-122"/>
                <a:cs typeface="Calibri" pitchFamily="34" charset="-120"/>
              </a:rPr>
              <a:t>Triage and ageing of control exceptions</a:t>
            </a:r>
            <a:endParaRPr lang="en-US" sz="1100" dirty="0"/>
          </a:p>
        </p:txBody>
      </p:sp>
      <p:sp>
        <p:nvSpPr>
          <p:cNvPr id="35" name="Shape 30"/>
          <p:cNvSpPr/>
          <p:nvPr/>
        </p:nvSpPr>
        <p:spPr>
          <a:xfrm>
            <a:off x="13149072" y="1408176"/>
            <a:ext cx="868680" cy="256032"/>
          </a:xfrm>
          <a:prstGeom prst="roundRect">
            <a:avLst>
              <a:gd name="adj" fmla="val 50000"/>
            </a:avLst>
          </a:prstGeom>
          <a:solidFill>
            <a:srgbClr val="F2A900"/>
          </a:solidFill>
          <a:ln w="12700">
            <a:solidFill>
              <a:srgbClr val="F2A900"/>
            </a:solidFill>
            <a:prstDash val="solid"/>
          </a:ln>
        </p:spPr>
      </p:sp>
      <p:sp>
        <p:nvSpPr>
          <p:cNvPr id="36" name="Text 31"/>
          <p:cNvSpPr txBox="1"/>
          <p:nvPr/>
        </p:nvSpPr>
        <p:spPr>
          <a:xfrm>
            <a:off x="13149072" y="1408176"/>
            <a:ext cx="868680" cy="256032"/>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Potential</a:t>
            </a:r>
            <a:endParaRPr lang="en-US" sz="950" dirty="0"/>
          </a:p>
        </p:txBody>
      </p:sp>
      <p:sp>
        <p:nvSpPr>
          <p:cNvPr id="37" name="Shape 32"/>
          <p:cNvSpPr/>
          <p:nvPr/>
        </p:nvSpPr>
        <p:spPr>
          <a:xfrm>
            <a:off x="502920" y="5989320"/>
            <a:ext cx="4480560" cy="1417320"/>
          </a:xfrm>
          <a:prstGeom prst="roundRect">
            <a:avLst>
              <a:gd name="adj" fmla="val 3871"/>
            </a:avLst>
          </a:prstGeom>
          <a:solidFill>
            <a:srgbClr val="FDFBF4"/>
          </a:solidFill>
          <a:ln w="12700">
            <a:solidFill>
              <a:srgbClr val="F2A900"/>
            </a:solidFill>
            <a:prstDash val="dash"/>
          </a:ln>
        </p:spPr>
      </p:sp>
      <p:sp>
        <p:nvSpPr>
          <p:cNvPr id="38" name="Shape 33"/>
          <p:cNvSpPr/>
          <p:nvPr/>
        </p:nvSpPr>
        <p:spPr>
          <a:xfrm>
            <a:off x="685800" y="6263640"/>
            <a:ext cx="640080" cy="640080"/>
          </a:xfrm>
          <a:prstGeom prst="roundRect">
            <a:avLst>
              <a:gd name="adj" fmla="val 14286"/>
            </a:avLst>
          </a:prstGeom>
          <a:solidFill>
            <a:srgbClr val="B98200"/>
          </a:solidFill>
          <a:ln w="12700">
            <a:solidFill>
              <a:srgbClr val="B98200"/>
            </a:solidFill>
            <a:prstDash val="solid"/>
          </a:ln>
        </p:spPr>
      </p:sp>
      <p:pic>
        <p:nvPicPr>
          <p:cNvPr id="39" name="Image 3" descr="preencoded.png">    </p:cNvPr>
          <p:cNvPicPr>
            <a:picLocks noChangeAspect="1"/>
          </p:cNvPicPr>
          <p:nvPr/>
        </p:nvPicPr>
        <p:blipFill>
          <a:blip r:embed="rId4"/>
          <a:stretch>
            <a:fillRect/>
          </a:stretch>
        </p:blipFill>
        <p:spPr>
          <a:xfrm>
            <a:off x="826618" y="6404458"/>
            <a:ext cx="358445" cy="358445"/>
          </a:xfrm>
          <a:prstGeom prst="rect">
            <a:avLst/>
          </a:prstGeom>
        </p:spPr>
      </p:pic>
      <p:sp>
        <p:nvSpPr>
          <p:cNvPr id="40" name="Text 34"/>
          <p:cNvSpPr txBox="1"/>
          <p:nvPr/>
        </p:nvSpPr>
        <p:spPr>
          <a:xfrm>
            <a:off x="1508760" y="6190488"/>
            <a:ext cx="2834640" cy="457200"/>
          </a:xfrm>
          <a:prstGeom prst="rect">
            <a:avLst/>
          </a:prstGeom>
          <a:noFill/>
          <a:ln/>
        </p:spPr>
        <p:txBody>
          <a:bodyPr wrap="square" lIns="0" tIns="0" rIns="0" bIns="0" rtlCol="0" anchor="ctr"/>
          <a:lstStyle/>
          <a:p>
            <a:pPr indent="0" marL="0">
              <a:buNone/>
            </a:pPr>
            <a:r>
              <a:rPr lang="en-US" sz="1400" b="1" dirty="0">
                <a:solidFill>
                  <a:srgbClr val="1F2D3D"/>
                </a:solidFill>
                <a:latin typeface="Calibri" pitchFamily="34" charset="0"/>
                <a:ea typeface="Calibri" pitchFamily="34" charset="-122"/>
                <a:cs typeface="Calibri" pitchFamily="34" charset="-120"/>
              </a:rPr>
              <a:t>Analytics &amp; Commentary</a:t>
            </a:r>
            <a:endParaRPr lang="en-US" sz="1400" dirty="0"/>
          </a:p>
        </p:txBody>
      </p:sp>
      <p:sp>
        <p:nvSpPr>
          <p:cNvPr id="41" name="Text 35"/>
          <p:cNvSpPr txBox="1"/>
          <p:nvPr/>
        </p:nvSpPr>
        <p:spPr>
          <a:xfrm>
            <a:off x="1508760" y="6675120"/>
            <a:ext cx="3291840" cy="548640"/>
          </a:xfrm>
          <a:prstGeom prst="rect">
            <a:avLst/>
          </a:prstGeom>
          <a:noFill/>
          <a:ln/>
        </p:spPr>
        <p:txBody>
          <a:bodyPr wrap="square" lIns="0" tIns="0" rIns="0" bIns="0" rtlCol="0" anchor="t"/>
          <a:lstStyle/>
          <a:p>
            <a:pPr indent="0" marL="0">
              <a:buNone/>
            </a:pPr>
            <a:r>
              <a:rPr lang="en-US" sz="1100" dirty="0">
                <a:solidFill>
                  <a:srgbClr val="4A5A6E"/>
                </a:solidFill>
                <a:latin typeface="Calibri" pitchFamily="34" charset="0"/>
                <a:ea typeface="Calibri" pitchFamily="34" charset="-122"/>
                <a:cs typeface="Calibri" pitchFamily="34" charset="-120"/>
              </a:rPr>
              <a:t>Movements, variances, draft commentary</a:t>
            </a:r>
            <a:endParaRPr lang="en-US" sz="1100" dirty="0"/>
          </a:p>
        </p:txBody>
      </p:sp>
      <p:sp>
        <p:nvSpPr>
          <p:cNvPr id="42" name="Shape 36"/>
          <p:cNvSpPr/>
          <p:nvPr/>
        </p:nvSpPr>
        <p:spPr>
          <a:xfrm>
            <a:off x="4005072" y="6117336"/>
            <a:ext cx="868680" cy="256032"/>
          </a:xfrm>
          <a:prstGeom prst="roundRect">
            <a:avLst>
              <a:gd name="adj" fmla="val 50000"/>
            </a:avLst>
          </a:prstGeom>
          <a:solidFill>
            <a:srgbClr val="F2A900"/>
          </a:solidFill>
          <a:ln w="12700">
            <a:solidFill>
              <a:srgbClr val="F2A900"/>
            </a:solidFill>
            <a:prstDash val="solid"/>
          </a:ln>
        </p:spPr>
      </p:sp>
      <p:sp>
        <p:nvSpPr>
          <p:cNvPr id="43" name="Text 37"/>
          <p:cNvSpPr txBox="1"/>
          <p:nvPr/>
        </p:nvSpPr>
        <p:spPr>
          <a:xfrm>
            <a:off x="4005072" y="6117336"/>
            <a:ext cx="868680" cy="256032"/>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Potential</a:t>
            </a:r>
            <a:endParaRPr lang="en-US" sz="950" dirty="0"/>
          </a:p>
        </p:txBody>
      </p:sp>
      <p:sp>
        <p:nvSpPr>
          <p:cNvPr id="44" name="Shape 38"/>
          <p:cNvSpPr/>
          <p:nvPr/>
        </p:nvSpPr>
        <p:spPr>
          <a:xfrm>
            <a:off x="5074920" y="5989320"/>
            <a:ext cx="4480560" cy="1417320"/>
          </a:xfrm>
          <a:prstGeom prst="roundRect">
            <a:avLst>
              <a:gd name="adj" fmla="val 3871"/>
            </a:avLst>
          </a:prstGeom>
          <a:solidFill>
            <a:srgbClr val="FDFBF4"/>
          </a:solidFill>
          <a:ln w="12700">
            <a:solidFill>
              <a:srgbClr val="F2A900"/>
            </a:solidFill>
            <a:prstDash val="dash"/>
          </a:ln>
        </p:spPr>
      </p:sp>
      <p:sp>
        <p:nvSpPr>
          <p:cNvPr id="45" name="Shape 39"/>
          <p:cNvSpPr/>
          <p:nvPr/>
        </p:nvSpPr>
        <p:spPr>
          <a:xfrm>
            <a:off x="5257800" y="6263640"/>
            <a:ext cx="640080" cy="640080"/>
          </a:xfrm>
          <a:prstGeom prst="roundRect">
            <a:avLst>
              <a:gd name="adj" fmla="val 14286"/>
            </a:avLst>
          </a:prstGeom>
          <a:solidFill>
            <a:srgbClr val="B98200"/>
          </a:solidFill>
          <a:ln w="12700">
            <a:solidFill>
              <a:srgbClr val="B98200"/>
            </a:solidFill>
            <a:prstDash val="solid"/>
          </a:ln>
        </p:spPr>
      </p:sp>
      <p:pic>
        <p:nvPicPr>
          <p:cNvPr id="46" name="Image 4" descr="preencoded.png">    </p:cNvPr>
          <p:cNvPicPr>
            <a:picLocks noChangeAspect="1"/>
          </p:cNvPicPr>
          <p:nvPr/>
        </p:nvPicPr>
        <p:blipFill>
          <a:blip r:embed="rId5"/>
          <a:stretch>
            <a:fillRect/>
          </a:stretch>
        </p:blipFill>
        <p:spPr>
          <a:xfrm>
            <a:off x="5398618" y="6404458"/>
            <a:ext cx="358445" cy="358445"/>
          </a:xfrm>
          <a:prstGeom prst="rect">
            <a:avLst/>
          </a:prstGeom>
        </p:spPr>
      </p:pic>
      <p:sp>
        <p:nvSpPr>
          <p:cNvPr id="47" name="Text 40"/>
          <p:cNvSpPr txBox="1"/>
          <p:nvPr/>
        </p:nvSpPr>
        <p:spPr>
          <a:xfrm>
            <a:off x="6080760" y="6190488"/>
            <a:ext cx="2834640" cy="457200"/>
          </a:xfrm>
          <a:prstGeom prst="rect">
            <a:avLst/>
          </a:prstGeom>
          <a:noFill/>
          <a:ln/>
        </p:spPr>
        <p:txBody>
          <a:bodyPr wrap="square" lIns="0" tIns="0" rIns="0" bIns="0" rtlCol="0" anchor="ctr"/>
          <a:lstStyle/>
          <a:p>
            <a:pPr indent="0" marL="0">
              <a:buNone/>
            </a:pPr>
            <a:r>
              <a:rPr lang="en-US" sz="1400" b="1" dirty="0">
                <a:solidFill>
                  <a:srgbClr val="1F2D3D"/>
                </a:solidFill>
                <a:latin typeface="Calibri" pitchFamily="34" charset="0"/>
                <a:ea typeface="Calibri" pitchFamily="34" charset="-122"/>
                <a:cs typeface="Calibri" pitchFamily="34" charset="-120"/>
              </a:rPr>
              <a:t>Close Sign-off &amp; Attestation</a:t>
            </a:r>
            <a:endParaRPr lang="en-US" sz="1400" dirty="0"/>
          </a:p>
        </p:txBody>
      </p:sp>
      <p:sp>
        <p:nvSpPr>
          <p:cNvPr id="48" name="Text 41"/>
          <p:cNvSpPr txBox="1"/>
          <p:nvPr/>
        </p:nvSpPr>
        <p:spPr>
          <a:xfrm>
            <a:off x="6080760" y="6675120"/>
            <a:ext cx="3291840" cy="548640"/>
          </a:xfrm>
          <a:prstGeom prst="rect">
            <a:avLst/>
          </a:prstGeom>
          <a:noFill/>
          <a:ln/>
        </p:spPr>
        <p:txBody>
          <a:bodyPr wrap="square" lIns="0" tIns="0" rIns="0" bIns="0" rtlCol="0" anchor="t"/>
          <a:lstStyle/>
          <a:p>
            <a:pPr indent="0" marL="0">
              <a:buNone/>
            </a:pPr>
            <a:r>
              <a:rPr lang="en-US" sz="1100" dirty="0">
                <a:solidFill>
                  <a:srgbClr val="4A5A6E"/>
                </a:solidFill>
                <a:latin typeface="Calibri" pitchFamily="34" charset="0"/>
                <a:ea typeface="Calibri" pitchFamily="34" charset="-122"/>
                <a:cs typeface="Calibri" pitchFamily="34" charset="-120"/>
              </a:rPr>
              <a:t>Evidence-backed sign-off packs</a:t>
            </a:r>
            <a:endParaRPr lang="en-US" sz="1100" dirty="0"/>
          </a:p>
        </p:txBody>
      </p:sp>
      <p:sp>
        <p:nvSpPr>
          <p:cNvPr id="49" name="Shape 42"/>
          <p:cNvSpPr/>
          <p:nvPr/>
        </p:nvSpPr>
        <p:spPr>
          <a:xfrm>
            <a:off x="8577072" y="6117336"/>
            <a:ext cx="868680" cy="256032"/>
          </a:xfrm>
          <a:prstGeom prst="roundRect">
            <a:avLst>
              <a:gd name="adj" fmla="val 50000"/>
            </a:avLst>
          </a:prstGeom>
          <a:solidFill>
            <a:srgbClr val="F2A900"/>
          </a:solidFill>
          <a:ln w="12700">
            <a:solidFill>
              <a:srgbClr val="F2A900"/>
            </a:solidFill>
            <a:prstDash val="solid"/>
          </a:ln>
        </p:spPr>
      </p:sp>
      <p:sp>
        <p:nvSpPr>
          <p:cNvPr id="50" name="Text 43"/>
          <p:cNvSpPr txBox="1"/>
          <p:nvPr/>
        </p:nvSpPr>
        <p:spPr>
          <a:xfrm>
            <a:off x="8577072" y="6117336"/>
            <a:ext cx="868680" cy="256032"/>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Potential</a:t>
            </a:r>
            <a:endParaRPr lang="en-US" sz="950" dirty="0"/>
          </a:p>
        </p:txBody>
      </p:sp>
      <p:sp>
        <p:nvSpPr>
          <p:cNvPr id="51" name="Shape 44"/>
          <p:cNvSpPr/>
          <p:nvPr/>
        </p:nvSpPr>
        <p:spPr>
          <a:xfrm>
            <a:off x="9646920" y="5989320"/>
            <a:ext cx="4480560" cy="1417320"/>
          </a:xfrm>
          <a:prstGeom prst="roundRect">
            <a:avLst>
              <a:gd name="adj" fmla="val 3871"/>
            </a:avLst>
          </a:prstGeom>
          <a:solidFill>
            <a:srgbClr val="FDFBF4"/>
          </a:solidFill>
          <a:ln w="12700">
            <a:solidFill>
              <a:srgbClr val="F2A900"/>
            </a:solidFill>
            <a:prstDash val="dash"/>
          </a:ln>
        </p:spPr>
      </p:sp>
      <p:sp>
        <p:nvSpPr>
          <p:cNvPr id="52" name="Shape 45"/>
          <p:cNvSpPr/>
          <p:nvPr/>
        </p:nvSpPr>
        <p:spPr>
          <a:xfrm>
            <a:off x="9829800" y="6263640"/>
            <a:ext cx="640080" cy="640080"/>
          </a:xfrm>
          <a:prstGeom prst="roundRect">
            <a:avLst>
              <a:gd name="adj" fmla="val 14286"/>
            </a:avLst>
          </a:prstGeom>
          <a:solidFill>
            <a:srgbClr val="B98200"/>
          </a:solidFill>
          <a:ln w="12700">
            <a:solidFill>
              <a:srgbClr val="B98200"/>
            </a:solidFill>
            <a:prstDash val="solid"/>
          </a:ln>
        </p:spPr>
      </p:sp>
      <p:pic>
        <p:nvPicPr>
          <p:cNvPr id="53" name="Image 5" descr="preencoded.png">    </p:cNvPr>
          <p:cNvPicPr>
            <a:picLocks noChangeAspect="1"/>
          </p:cNvPicPr>
          <p:nvPr/>
        </p:nvPicPr>
        <p:blipFill>
          <a:blip r:embed="rId6"/>
          <a:stretch>
            <a:fillRect/>
          </a:stretch>
        </p:blipFill>
        <p:spPr>
          <a:xfrm>
            <a:off x="9970618" y="6404458"/>
            <a:ext cx="358445" cy="358445"/>
          </a:xfrm>
          <a:prstGeom prst="rect">
            <a:avLst/>
          </a:prstGeom>
        </p:spPr>
      </p:pic>
      <p:sp>
        <p:nvSpPr>
          <p:cNvPr id="54" name="Text 46"/>
          <p:cNvSpPr txBox="1"/>
          <p:nvPr/>
        </p:nvSpPr>
        <p:spPr>
          <a:xfrm>
            <a:off x="10652760" y="6190488"/>
            <a:ext cx="2834640" cy="457200"/>
          </a:xfrm>
          <a:prstGeom prst="rect">
            <a:avLst/>
          </a:prstGeom>
          <a:noFill/>
          <a:ln/>
        </p:spPr>
        <p:txBody>
          <a:bodyPr wrap="square" lIns="0" tIns="0" rIns="0" bIns="0" rtlCol="0" anchor="ctr"/>
          <a:lstStyle/>
          <a:p>
            <a:pPr indent="0" marL="0">
              <a:buNone/>
            </a:pPr>
            <a:r>
              <a:rPr lang="en-US" sz="1400" b="1" dirty="0">
                <a:solidFill>
                  <a:srgbClr val="1F2D3D"/>
                </a:solidFill>
                <a:latin typeface="Calibri" pitchFamily="34" charset="0"/>
                <a:ea typeface="Calibri" pitchFamily="34" charset="-122"/>
                <a:cs typeface="Calibri" pitchFamily="34" charset="-120"/>
              </a:rPr>
              <a:t>Report Validation</a:t>
            </a:r>
            <a:endParaRPr lang="en-US" sz="1400" dirty="0"/>
          </a:p>
        </p:txBody>
      </p:sp>
      <p:sp>
        <p:nvSpPr>
          <p:cNvPr id="55" name="Text 47"/>
          <p:cNvSpPr txBox="1"/>
          <p:nvPr/>
        </p:nvSpPr>
        <p:spPr>
          <a:xfrm>
            <a:off x="10652760" y="6675120"/>
            <a:ext cx="3291840" cy="548640"/>
          </a:xfrm>
          <a:prstGeom prst="rect">
            <a:avLst/>
          </a:prstGeom>
          <a:noFill/>
          <a:ln/>
        </p:spPr>
        <p:txBody>
          <a:bodyPr wrap="square" lIns="0" tIns="0" rIns="0" bIns="0" rtlCol="0" anchor="t"/>
          <a:lstStyle/>
          <a:p>
            <a:pPr indent="0" marL="0">
              <a:buNone/>
            </a:pPr>
            <a:r>
              <a:rPr lang="en-US" sz="1100" dirty="0">
                <a:solidFill>
                  <a:srgbClr val="4A5A6E"/>
                </a:solidFill>
                <a:latin typeface="Calibri" pitchFamily="34" charset="0"/>
                <a:ea typeface="Calibri" pitchFamily="34" charset="-122"/>
                <a:cs typeface="Calibri" pitchFamily="34" charset="-120"/>
              </a:rPr>
              <a:t>Tie-out and anomaly checks pre-publication</a:t>
            </a:r>
            <a:endParaRPr lang="en-US" sz="1100" dirty="0"/>
          </a:p>
        </p:txBody>
      </p:sp>
      <p:sp>
        <p:nvSpPr>
          <p:cNvPr id="56" name="Shape 48"/>
          <p:cNvSpPr/>
          <p:nvPr/>
        </p:nvSpPr>
        <p:spPr>
          <a:xfrm>
            <a:off x="13149072" y="6117336"/>
            <a:ext cx="868680" cy="256032"/>
          </a:xfrm>
          <a:prstGeom prst="roundRect">
            <a:avLst>
              <a:gd name="adj" fmla="val 50000"/>
            </a:avLst>
          </a:prstGeom>
          <a:solidFill>
            <a:srgbClr val="F2A900"/>
          </a:solidFill>
          <a:ln w="12700">
            <a:solidFill>
              <a:srgbClr val="F2A900"/>
            </a:solidFill>
            <a:prstDash val="solid"/>
          </a:ln>
        </p:spPr>
      </p:sp>
      <p:sp>
        <p:nvSpPr>
          <p:cNvPr id="57" name="Text 49"/>
          <p:cNvSpPr txBox="1"/>
          <p:nvPr/>
        </p:nvSpPr>
        <p:spPr>
          <a:xfrm>
            <a:off x="13149072" y="6117336"/>
            <a:ext cx="868680" cy="256032"/>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Potential</a:t>
            </a:r>
            <a:endParaRPr lang="en-US" sz="950" dirty="0"/>
          </a:p>
        </p:txBody>
      </p:sp>
      <p:sp>
        <p:nvSpPr>
          <p:cNvPr id="58" name="Shape 50"/>
          <p:cNvSpPr/>
          <p:nvPr/>
        </p:nvSpPr>
        <p:spPr>
          <a:xfrm>
            <a:off x="2743200" y="2697480"/>
            <a:ext cx="0" cy="1645920"/>
          </a:xfrm>
          <a:prstGeom prst="line">
            <a:avLst/>
          </a:prstGeom>
          <a:noFill/>
          <a:ln w="25400">
            <a:solidFill>
              <a:srgbClr val="1E8A5A"/>
            </a:solidFill>
            <a:prstDash val="solid"/>
          </a:ln>
        </p:spPr>
      </p:sp>
      <p:sp>
        <p:nvSpPr>
          <p:cNvPr id="59" name="Shape 51"/>
          <p:cNvSpPr/>
          <p:nvPr/>
        </p:nvSpPr>
        <p:spPr>
          <a:xfrm>
            <a:off x="2743200" y="4343400"/>
            <a:ext cx="2331720" cy="0"/>
          </a:xfrm>
          <a:prstGeom prst="line">
            <a:avLst/>
          </a:prstGeom>
          <a:noFill/>
          <a:ln w="25400">
            <a:solidFill>
              <a:srgbClr val="1E8A5A"/>
            </a:solidFill>
            <a:prstDash val="solid"/>
            <a:tailEnd type="triangle"/>
          </a:ln>
        </p:spPr>
      </p:sp>
      <p:sp>
        <p:nvSpPr>
          <p:cNvPr id="60" name="Shape 52"/>
          <p:cNvSpPr/>
          <p:nvPr/>
        </p:nvSpPr>
        <p:spPr>
          <a:xfrm>
            <a:off x="7315200" y="2697480"/>
            <a:ext cx="0" cy="320040"/>
          </a:xfrm>
          <a:prstGeom prst="line">
            <a:avLst/>
          </a:prstGeom>
          <a:noFill/>
          <a:ln w="15875">
            <a:solidFill>
              <a:srgbClr val="F2A900"/>
            </a:solidFill>
            <a:prstDash val="dash"/>
          </a:ln>
        </p:spPr>
      </p:sp>
      <p:sp>
        <p:nvSpPr>
          <p:cNvPr id="61" name="Shape 53"/>
          <p:cNvSpPr/>
          <p:nvPr/>
        </p:nvSpPr>
        <p:spPr>
          <a:xfrm>
            <a:off x="11887200" y="2697480"/>
            <a:ext cx="0" cy="1645920"/>
          </a:xfrm>
          <a:prstGeom prst="line">
            <a:avLst/>
          </a:prstGeom>
          <a:noFill/>
          <a:ln w="15875">
            <a:solidFill>
              <a:srgbClr val="F2A900"/>
            </a:solidFill>
            <a:prstDash val="dash"/>
          </a:ln>
        </p:spPr>
      </p:sp>
      <p:sp>
        <p:nvSpPr>
          <p:cNvPr id="62" name="Shape 54"/>
          <p:cNvSpPr/>
          <p:nvPr/>
        </p:nvSpPr>
        <p:spPr>
          <a:xfrm>
            <a:off x="9555480" y="4343400"/>
            <a:ext cx="2331720" cy="0"/>
          </a:xfrm>
          <a:prstGeom prst="line">
            <a:avLst/>
          </a:prstGeom>
          <a:noFill/>
          <a:ln w="15875">
            <a:solidFill>
              <a:srgbClr val="F2A900"/>
            </a:solidFill>
            <a:prstDash val="dash"/>
          </a:ln>
        </p:spPr>
      </p:sp>
      <p:sp>
        <p:nvSpPr>
          <p:cNvPr id="63" name="Shape 55"/>
          <p:cNvSpPr/>
          <p:nvPr/>
        </p:nvSpPr>
        <p:spPr>
          <a:xfrm>
            <a:off x="2743200" y="4526280"/>
            <a:ext cx="0" cy="1463040"/>
          </a:xfrm>
          <a:prstGeom prst="line">
            <a:avLst/>
          </a:prstGeom>
          <a:noFill/>
          <a:ln w="15875">
            <a:solidFill>
              <a:srgbClr val="F2A900"/>
            </a:solidFill>
            <a:prstDash val="dash"/>
          </a:ln>
        </p:spPr>
      </p:sp>
      <p:sp>
        <p:nvSpPr>
          <p:cNvPr id="64" name="Shape 56"/>
          <p:cNvSpPr/>
          <p:nvPr/>
        </p:nvSpPr>
        <p:spPr>
          <a:xfrm>
            <a:off x="2743200" y="4526280"/>
            <a:ext cx="2331720" cy="0"/>
          </a:xfrm>
          <a:prstGeom prst="line">
            <a:avLst/>
          </a:prstGeom>
          <a:noFill/>
          <a:ln w="15875">
            <a:solidFill>
              <a:srgbClr val="F2A900"/>
            </a:solidFill>
            <a:prstDash val="dash"/>
          </a:ln>
        </p:spPr>
      </p:sp>
      <p:sp>
        <p:nvSpPr>
          <p:cNvPr id="65" name="Shape 57"/>
          <p:cNvSpPr/>
          <p:nvPr/>
        </p:nvSpPr>
        <p:spPr>
          <a:xfrm>
            <a:off x="7315200" y="5669280"/>
            <a:ext cx="0" cy="320040"/>
          </a:xfrm>
          <a:prstGeom prst="line">
            <a:avLst/>
          </a:prstGeom>
          <a:noFill/>
          <a:ln w="15875">
            <a:solidFill>
              <a:srgbClr val="F2A900"/>
            </a:solidFill>
            <a:prstDash val="dash"/>
          </a:ln>
        </p:spPr>
      </p:sp>
      <p:sp>
        <p:nvSpPr>
          <p:cNvPr id="66" name="Shape 58"/>
          <p:cNvSpPr/>
          <p:nvPr/>
        </p:nvSpPr>
        <p:spPr>
          <a:xfrm>
            <a:off x="11887200" y="4526280"/>
            <a:ext cx="0" cy="1463040"/>
          </a:xfrm>
          <a:prstGeom prst="line">
            <a:avLst/>
          </a:prstGeom>
          <a:noFill/>
          <a:ln w="15875">
            <a:solidFill>
              <a:srgbClr val="F2A900"/>
            </a:solidFill>
            <a:prstDash val="dash"/>
          </a:ln>
        </p:spPr>
      </p:sp>
      <p:sp>
        <p:nvSpPr>
          <p:cNvPr id="67" name="Shape 59"/>
          <p:cNvSpPr/>
          <p:nvPr/>
        </p:nvSpPr>
        <p:spPr>
          <a:xfrm>
            <a:off x="9555480" y="4526280"/>
            <a:ext cx="2331720" cy="0"/>
          </a:xfrm>
          <a:prstGeom prst="line">
            <a:avLst/>
          </a:prstGeom>
          <a:noFill/>
          <a:ln w="15875">
            <a:solidFill>
              <a:srgbClr val="F2A900"/>
            </a:solidFill>
            <a:prstDash val="dash"/>
          </a:ln>
        </p:spPr>
      </p:sp>
      <p:sp>
        <p:nvSpPr>
          <p:cNvPr id="68" name="Text 60"/>
          <p:cNvSpPr txBox="1"/>
          <p:nvPr/>
        </p:nvSpPr>
        <p:spPr>
          <a:xfrm>
            <a:off x="502920" y="7589520"/>
            <a:ext cx="13624560" cy="320040"/>
          </a:xfrm>
          <a:prstGeom prst="rect">
            <a:avLst/>
          </a:prstGeom>
          <a:noFill/>
          <a:ln/>
        </p:spPr>
        <p:txBody>
          <a:bodyPr wrap="square" lIns="0" tIns="0" rIns="0" bIns="0" rtlCol="0" anchor="ctr"/>
          <a:lstStyle/>
          <a:p>
            <a:pPr algn="ctr" indent="0" marL="0">
              <a:buNone/>
            </a:pPr>
            <a:r>
              <a:rPr lang="en-US" sz="1200" i="1" dirty="0">
                <a:solidFill>
                  <a:srgbClr val="4A5A6E"/>
                </a:solidFill>
                <a:latin typeface="Calibri" pitchFamily="34" charset="0"/>
                <a:ea typeface="Calibri" pitchFamily="34" charset="-122"/>
                <a:cs typeface="Calibri" pitchFamily="34" charset="-120"/>
              </a:rPr>
              <a:t>Each vehicle adds only its own events, skills, tools and data. The engine is reused as is.</a:t>
            </a:r>
            <a:endParaRPr lang="en-US" sz="1200" dirty="0"/>
          </a:p>
        </p:txBody>
      </p:sp>
      <p:sp>
        <p:nvSpPr>
          <p:cNvPr id="69" name="Shape 61"/>
          <p:cNvSpPr/>
          <p:nvPr/>
        </p:nvSpPr>
        <p:spPr>
          <a:xfrm>
            <a:off x="502920" y="8046720"/>
            <a:ext cx="13624560" cy="1005840"/>
          </a:xfrm>
          <a:prstGeom prst="roundRect">
            <a:avLst>
              <a:gd name="adj" fmla="val 7273"/>
            </a:avLst>
          </a:prstGeom>
          <a:solidFill>
            <a:srgbClr val="0B2E5E"/>
          </a:solidFill>
          <a:ln w="12700">
            <a:solidFill>
              <a:srgbClr val="0B2E5E"/>
            </a:solidFill>
            <a:prstDash val="solid"/>
          </a:ln>
        </p:spPr>
      </p:sp>
      <p:sp>
        <p:nvSpPr>
          <p:cNvPr id="70" name="Text 62"/>
          <p:cNvSpPr txBox="1"/>
          <p:nvPr/>
        </p:nvSpPr>
        <p:spPr>
          <a:xfrm>
            <a:off x="777240" y="8046720"/>
            <a:ext cx="13075920"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Potential areas where the proven engine could be applied, not commitments</a:t>
            </a:r>
            <a:endParaRPr lang="en-US" sz="1600" dirty="0"/>
          </a:p>
        </p:txBody>
      </p:sp>
      <p:sp>
        <p:nvSpPr>
          <p:cNvPr id="71" name="Shape 63"/>
          <p:cNvSpPr/>
          <p:nvPr/>
        </p:nvSpPr>
        <p:spPr>
          <a:xfrm>
            <a:off x="0" y="9272016"/>
            <a:ext cx="14630400" cy="484632"/>
          </a:xfrm>
          <a:prstGeom prst="rect">
            <a:avLst/>
          </a:prstGeom>
          <a:solidFill>
            <a:srgbClr val="0B2E5E"/>
          </a:solidFill>
          <a:ln w="12700">
            <a:solidFill>
              <a:srgbClr val="0B2E5E"/>
            </a:solidFill>
            <a:prstDash val="solid"/>
          </a:ln>
        </p:spPr>
      </p:sp>
      <p:sp>
        <p:nvSpPr>
          <p:cNvPr id="72" name="Text 64"/>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One Finance Agentic Engine</a:t>
            </a:r>
            <a:pPr algn="ctr" indent="0" marL="0">
              <a:buNone/>
            </a:pPr>
            <a:r>
              <a:rPr lang="en-US" sz="1100" dirty="0">
                <a:solidFill>
                  <a:srgbClr val="FFFFFF"/>
                </a:solidFill>
                <a:latin typeface="Calibri" pitchFamily="34" charset="0"/>
                <a:ea typeface="Calibri" pitchFamily="34" charset="-122"/>
                <a:cs typeface="Calibri" pitchFamily="34" charset="-120"/>
              </a:rPr>
              <a:t>   |   One engine. Many vehicles.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Financial Control Architecture</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Areas where the proven engine could potentially be applied: for exploration and stakeholder feedback</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Reuse Across Finance</a:t>
            </a:r>
            <a:endParaRPr lang="en-US" sz="2200" dirty="0"/>
          </a:p>
        </p:txBody>
      </p:sp>
      <p:sp>
        <p:nvSpPr>
          <p:cNvPr id="7" name="Shape 5"/>
          <p:cNvSpPr/>
          <p:nvPr/>
        </p:nvSpPr>
        <p:spPr>
          <a:xfrm>
            <a:off x="502920" y="1188720"/>
            <a:ext cx="3977640" cy="1828800"/>
          </a:xfrm>
          <a:prstGeom prst="roundRect">
            <a:avLst>
              <a:gd name="adj" fmla="val 2500"/>
            </a:avLst>
          </a:prstGeom>
          <a:solidFill>
            <a:srgbClr val="EEF4FB"/>
          </a:solidFill>
          <a:ln w="12700">
            <a:solidFill>
              <a:srgbClr val="2A6EBB"/>
            </a:solidFill>
            <a:prstDash val="dash"/>
          </a:ln>
        </p:spPr>
      </p:sp>
      <p:sp>
        <p:nvSpPr>
          <p:cNvPr id="8" name="Text 6"/>
          <p:cNvSpPr txBox="1"/>
          <p:nvPr/>
        </p:nvSpPr>
        <p:spPr>
          <a:xfrm>
            <a:off x="612648" y="1252728"/>
            <a:ext cx="375818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FO / RISK / COST / FINANCE FUNCTIONS</a:t>
            </a:r>
            <a:endParaRPr lang="en-US" sz="900" dirty="0"/>
          </a:p>
        </p:txBody>
      </p:sp>
      <p:sp>
        <p:nvSpPr>
          <p:cNvPr id="9" name="Shape 7"/>
          <p:cNvSpPr/>
          <p:nvPr/>
        </p:nvSpPr>
        <p:spPr>
          <a:xfrm>
            <a:off x="640080" y="1508760"/>
            <a:ext cx="1783080" cy="548640"/>
          </a:xfrm>
          <a:prstGeom prst="roundRect">
            <a:avLst>
              <a:gd name="adj" fmla="val 8333"/>
            </a:avLst>
          </a:prstGeom>
          <a:solidFill>
            <a:srgbClr val="FFFFFF"/>
          </a:solidFill>
          <a:ln w="9525">
            <a:solidFill>
              <a:srgbClr val="C8D8EC"/>
            </a:solidFill>
            <a:prstDash val="solid"/>
          </a:ln>
        </p:spPr>
      </p:sp>
      <p:sp>
        <p:nvSpPr>
          <p:cNvPr id="10" name="Text 8"/>
          <p:cNvSpPr txBox="1"/>
          <p:nvPr/>
        </p:nvSpPr>
        <p:spPr>
          <a:xfrm>
            <a:off x="694944" y="1508760"/>
            <a:ext cx="1673352" cy="548640"/>
          </a:xfrm>
          <a:prstGeom prst="rect">
            <a:avLst/>
          </a:prstGeom>
          <a:noFill/>
          <a:ln/>
        </p:spPr>
        <p:txBody>
          <a:bodyPr wrap="square" lIns="0" tIns="0" rIns="0" bIns="0" rtlCol="0" anchor="ctr"/>
          <a:lstStyle/>
          <a:p>
            <a:pPr algn="ctr" indent="0" marL="0">
              <a:buNone/>
            </a:pPr>
            <a:r>
              <a:rPr lang="en-US" sz="950" b="1" dirty="0">
                <a:solidFill>
                  <a:srgbClr val="1F2D3D"/>
                </a:solidFill>
                <a:latin typeface="Calibri" pitchFamily="34" charset="0"/>
                <a:ea typeface="Calibri" pitchFamily="34" charset="-122"/>
                <a:cs typeface="Calibri" pitchFamily="34" charset="-120"/>
              </a:rPr>
              <a:t>Trades / Transactions &amp; Events Generation</a:t>
            </a:r>
            <a:endParaRPr lang="en-US" sz="950" dirty="0"/>
          </a:p>
        </p:txBody>
      </p:sp>
      <p:sp>
        <p:nvSpPr>
          <p:cNvPr id="11" name="Shape 9"/>
          <p:cNvSpPr/>
          <p:nvPr/>
        </p:nvSpPr>
        <p:spPr>
          <a:xfrm>
            <a:off x="640080" y="2286000"/>
            <a:ext cx="1783080" cy="548640"/>
          </a:xfrm>
          <a:prstGeom prst="roundRect">
            <a:avLst>
              <a:gd name="adj" fmla="val 8333"/>
            </a:avLst>
          </a:prstGeom>
          <a:solidFill>
            <a:srgbClr val="FFFFFF"/>
          </a:solidFill>
          <a:ln w="9525">
            <a:solidFill>
              <a:srgbClr val="C8D8EC"/>
            </a:solidFill>
            <a:prstDash val="solid"/>
          </a:ln>
        </p:spPr>
      </p:sp>
      <p:sp>
        <p:nvSpPr>
          <p:cNvPr id="12" name="Text 10"/>
          <p:cNvSpPr txBox="1"/>
          <p:nvPr/>
        </p:nvSpPr>
        <p:spPr>
          <a:xfrm>
            <a:off x="694944" y="2286000"/>
            <a:ext cx="1673352" cy="548640"/>
          </a:xfrm>
          <a:prstGeom prst="rect">
            <a:avLst/>
          </a:prstGeom>
          <a:noFill/>
          <a:ln/>
        </p:spPr>
        <p:txBody>
          <a:bodyPr wrap="square" lIns="0" tIns="0" rIns="0" bIns="0" rtlCol="0" anchor="ctr"/>
          <a:lstStyle/>
          <a:p>
            <a:pPr algn="ctr" indent="0" marL="0">
              <a:buNone/>
            </a:pPr>
            <a:r>
              <a:rPr lang="en-US" sz="950" b="1" dirty="0">
                <a:solidFill>
                  <a:srgbClr val="1F2D3D"/>
                </a:solidFill>
                <a:latin typeface="Calibri" pitchFamily="34" charset="0"/>
                <a:ea typeface="Calibri" pitchFamily="34" charset="-122"/>
                <a:cs typeface="Calibri" pitchFamily="34" charset="-120"/>
              </a:rPr>
              <a:t>Trader Flash P&amp;L Generation</a:t>
            </a:r>
            <a:endParaRPr lang="en-US" sz="950" dirty="0"/>
          </a:p>
        </p:txBody>
      </p:sp>
      <p:sp>
        <p:nvSpPr>
          <p:cNvPr id="13" name="Shape 11"/>
          <p:cNvSpPr/>
          <p:nvPr/>
        </p:nvSpPr>
        <p:spPr>
          <a:xfrm>
            <a:off x="2560320" y="1737360"/>
            <a:ext cx="1783080" cy="868680"/>
          </a:xfrm>
          <a:prstGeom prst="roundRect">
            <a:avLst>
              <a:gd name="adj" fmla="val 5263"/>
            </a:avLst>
          </a:prstGeom>
          <a:solidFill>
            <a:srgbClr val="1F56C3"/>
          </a:solidFill>
          <a:ln w="12700">
            <a:solidFill>
              <a:srgbClr val="1F56C3"/>
            </a:solidFill>
            <a:prstDash val="solid"/>
          </a:ln>
        </p:spPr>
      </p:sp>
      <p:sp>
        <p:nvSpPr>
          <p:cNvPr id="14" name="Text 12"/>
          <p:cNvSpPr txBox="1"/>
          <p:nvPr/>
        </p:nvSpPr>
        <p:spPr>
          <a:xfrm>
            <a:off x="2615184" y="1737360"/>
            <a:ext cx="1673352" cy="8686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FO P&amp;L Explains: Flash v Formal Analysis, PLEX</a:t>
            </a:r>
            <a:endParaRPr lang="en-US" sz="950" dirty="0"/>
          </a:p>
        </p:txBody>
      </p:sp>
      <p:sp>
        <p:nvSpPr>
          <p:cNvPr id="15" name="Shape 13"/>
          <p:cNvSpPr/>
          <p:nvPr/>
        </p:nvSpPr>
        <p:spPr>
          <a:xfrm>
            <a:off x="4663440" y="1188720"/>
            <a:ext cx="5989320" cy="1828800"/>
          </a:xfrm>
          <a:prstGeom prst="roundRect">
            <a:avLst>
              <a:gd name="adj" fmla="val 2500"/>
            </a:avLst>
          </a:prstGeom>
          <a:solidFill>
            <a:srgbClr val="EEF4FB"/>
          </a:solidFill>
          <a:ln w="12700">
            <a:solidFill>
              <a:srgbClr val="2A6EBB"/>
            </a:solidFill>
            <a:prstDash val="dash"/>
          </a:ln>
        </p:spPr>
      </p:sp>
      <p:sp>
        <p:nvSpPr>
          <p:cNvPr id="16" name="Text 14"/>
          <p:cNvSpPr txBox="1"/>
          <p:nvPr/>
        </p:nvSpPr>
        <p:spPr>
          <a:xfrm>
            <a:off x="4773168" y="1252728"/>
            <a:ext cx="576986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GROUP ACCOUNTING</a:t>
            </a:r>
            <a:endParaRPr lang="en-US" sz="900" dirty="0"/>
          </a:p>
        </p:txBody>
      </p:sp>
      <p:sp>
        <p:nvSpPr>
          <p:cNvPr id="17" name="Shape 15"/>
          <p:cNvSpPr/>
          <p:nvPr/>
        </p:nvSpPr>
        <p:spPr>
          <a:xfrm>
            <a:off x="4800600" y="1508760"/>
            <a:ext cx="1828800" cy="548640"/>
          </a:xfrm>
          <a:prstGeom prst="roundRect">
            <a:avLst>
              <a:gd name="adj" fmla="val 8333"/>
            </a:avLst>
          </a:prstGeom>
          <a:solidFill>
            <a:srgbClr val="1E4D5C"/>
          </a:solidFill>
          <a:ln w="12700">
            <a:solidFill>
              <a:srgbClr val="1E4D5C"/>
            </a:solidFill>
            <a:prstDash val="solid"/>
          </a:ln>
        </p:spPr>
      </p:sp>
      <p:sp>
        <p:nvSpPr>
          <p:cNvPr id="18" name="Text 16"/>
          <p:cNvSpPr txBox="1"/>
          <p:nvPr/>
        </p:nvSpPr>
        <p:spPr>
          <a:xfrm>
            <a:off x="4855464" y="1508760"/>
            <a:ext cx="171907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Sub Ledger Accounting</a:t>
            </a:r>
            <a:endParaRPr lang="en-US" sz="950" dirty="0"/>
          </a:p>
        </p:txBody>
      </p:sp>
      <p:sp>
        <p:nvSpPr>
          <p:cNvPr id="19" name="Shape 17"/>
          <p:cNvSpPr/>
          <p:nvPr/>
        </p:nvSpPr>
        <p:spPr>
          <a:xfrm>
            <a:off x="6720840" y="1508760"/>
            <a:ext cx="1828800" cy="548640"/>
          </a:xfrm>
          <a:prstGeom prst="roundRect">
            <a:avLst>
              <a:gd name="adj" fmla="val 8333"/>
            </a:avLst>
          </a:prstGeom>
          <a:solidFill>
            <a:srgbClr val="1E4D5C"/>
          </a:solidFill>
          <a:ln w="12700">
            <a:solidFill>
              <a:srgbClr val="1E4D5C"/>
            </a:solidFill>
            <a:prstDash val="solid"/>
          </a:ln>
        </p:spPr>
      </p:sp>
      <p:sp>
        <p:nvSpPr>
          <p:cNvPr id="20" name="Text 18"/>
          <p:cNvSpPr txBox="1"/>
          <p:nvPr/>
        </p:nvSpPr>
        <p:spPr>
          <a:xfrm>
            <a:off x="6775704" y="1508760"/>
            <a:ext cx="171907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General Ledger Accounting</a:t>
            </a:r>
            <a:endParaRPr lang="en-US" sz="950" dirty="0"/>
          </a:p>
        </p:txBody>
      </p:sp>
      <p:sp>
        <p:nvSpPr>
          <p:cNvPr id="21" name="Shape 19"/>
          <p:cNvSpPr/>
          <p:nvPr/>
        </p:nvSpPr>
        <p:spPr>
          <a:xfrm>
            <a:off x="8641080" y="1508760"/>
            <a:ext cx="1874520" cy="548640"/>
          </a:xfrm>
          <a:prstGeom prst="roundRect">
            <a:avLst>
              <a:gd name="adj" fmla="val 8333"/>
            </a:avLst>
          </a:prstGeom>
          <a:solidFill>
            <a:srgbClr val="1E4D5C"/>
          </a:solidFill>
          <a:ln w="12700">
            <a:solidFill>
              <a:srgbClr val="1E4D5C"/>
            </a:solidFill>
            <a:prstDash val="solid"/>
          </a:ln>
        </p:spPr>
      </p:sp>
      <p:sp>
        <p:nvSpPr>
          <p:cNvPr id="22" name="Text 20"/>
          <p:cNvSpPr txBox="1"/>
          <p:nvPr/>
        </p:nvSpPr>
        <p:spPr>
          <a:xfrm>
            <a:off x="8695944" y="1508760"/>
            <a:ext cx="176479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Consolidation Accounting</a:t>
            </a:r>
            <a:endParaRPr lang="en-US" sz="950" dirty="0"/>
          </a:p>
        </p:txBody>
      </p:sp>
      <p:sp>
        <p:nvSpPr>
          <p:cNvPr id="23" name="Shape 21"/>
          <p:cNvSpPr/>
          <p:nvPr/>
        </p:nvSpPr>
        <p:spPr>
          <a:xfrm>
            <a:off x="4800600" y="2286000"/>
            <a:ext cx="5715000" cy="548640"/>
          </a:xfrm>
          <a:prstGeom prst="roundRect">
            <a:avLst>
              <a:gd name="adj" fmla="val 8333"/>
            </a:avLst>
          </a:prstGeom>
          <a:solidFill>
            <a:srgbClr val="1E4D5C"/>
          </a:solidFill>
          <a:ln w="12700">
            <a:solidFill>
              <a:srgbClr val="1E4D5C"/>
            </a:solidFill>
            <a:prstDash val="solid"/>
          </a:ln>
        </p:spPr>
      </p:sp>
      <p:sp>
        <p:nvSpPr>
          <p:cNvPr id="24" name="Text 22"/>
          <p:cNvSpPr txBox="1"/>
          <p:nvPr/>
        </p:nvSpPr>
        <p:spPr>
          <a:xfrm>
            <a:off x="4855464" y="2286000"/>
            <a:ext cx="560527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Enterprise Trial Balance Generation</a:t>
            </a:r>
            <a:endParaRPr lang="en-US" sz="950" dirty="0"/>
          </a:p>
        </p:txBody>
      </p:sp>
      <p:sp>
        <p:nvSpPr>
          <p:cNvPr id="25" name="Shape 23"/>
          <p:cNvSpPr/>
          <p:nvPr/>
        </p:nvSpPr>
        <p:spPr>
          <a:xfrm>
            <a:off x="10835640" y="1188720"/>
            <a:ext cx="3291840" cy="1828800"/>
          </a:xfrm>
          <a:prstGeom prst="roundRect">
            <a:avLst>
              <a:gd name="adj" fmla="val 2500"/>
            </a:avLst>
          </a:prstGeom>
          <a:solidFill>
            <a:srgbClr val="EEF4FB"/>
          </a:solidFill>
          <a:ln w="12700">
            <a:solidFill>
              <a:srgbClr val="2A6EBB"/>
            </a:solidFill>
            <a:prstDash val="dash"/>
          </a:ln>
        </p:spPr>
      </p:sp>
      <p:sp>
        <p:nvSpPr>
          <p:cNvPr id="26" name="Text 24"/>
          <p:cNvSpPr txBox="1"/>
          <p:nvPr/>
        </p:nvSpPr>
        <p:spPr>
          <a:xfrm>
            <a:off x="10945368" y="1252728"/>
            <a:ext cx="307238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MASTER / REFERENCE DATA</a:t>
            </a:r>
            <a:endParaRPr lang="en-US" sz="900" dirty="0"/>
          </a:p>
        </p:txBody>
      </p:sp>
      <p:sp>
        <p:nvSpPr>
          <p:cNvPr id="27" name="Shape 25"/>
          <p:cNvSpPr/>
          <p:nvPr/>
        </p:nvSpPr>
        <p:spPr>
          <a:xfrm>
            <a:off x="10972800" y="1737360"/>
            <a:ext cx="3017520" cy="868680"/>
          </a:xfrm>
          <a:prstGeom prst="roundRect">
            <a:avLst>
              <a:gd name="adj" fmla="val 5263"/>
            </a:avLst>
          </a:prstGeom>
          <a:solidFill>
            <a:srgbClr val="1F56C3"/>
          </a:solidFill>
          <a:ln w="12700">
            <a:solidFill>
              <a:srgbClr val="1F56C3"/>
            </a:solidFill>
            <a:prstDash val="solid"/>
          </a:ln>
        </p:spPr>
      </p:sp>
      <p:sp>
        <p:nvSpPr>
          <p:cNvPr id="28" name="Text 26"/>
          <p:cNvSpPr txBox="1"/>
          <p:nvPr/>
        </p:nvSpPr>
        <p:spPr>
          <a:xfrm>
            <a:off x="11027664" y="1737360"/>
            <a:ext cx="2907792" cy="8686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Master / Reference Data Corrections</a:t>
            </a:r>
            <a:endParaRPr lang="en-US" sz="950" dirty="0"/>
          </a:p>
        </p:txBody>
      </p:sp>
      <p:sp>
        <p:nvSpPr>
          <p:cNvPr id="29" name="Shape 27"/>
          <p:cNvSpPr/>
          <p:nvPr/>
        </p:nvSpPr>
        <p:spPr>
          <a:xfrm>
            <a:off x="502920" y="3200400"/>
            <a:ext cx="1828800" cy="4754880"/>
          </a:xfrm>
          <a:prstGeom prst="roundRect">
            <a:avLst>
              <a:gd name="adj" fmla="val 2500"/>
            </a:avLst>
          </a:prstGeom>
          <a:solidFill>
            <a:srgbClr val="EEF4FB"/>
          </a:solidFill>
          <a:ln w="12700">
            <a:solidFill>
              <a:srgbClr val="2A6EBB"/>
            </a:solidFill>
            <a:prstDash val="dash"/>
          </a:ln>
        </p:spPr>
      </p:sp>
      <p:sp>
        <p:nvSpPr>
          <p:cNvPr id="30" name="Text 28"/>
          <p:cNvSpPr txBox="1"/>
          <p:nvPr/>
        </p:nvSpPr>
        <p:spPr>
          <a:xfrm>
            <a:off x="612648" y="3264408"/>
            <a:ext cx="160934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ENTITLEMENTS &amp; WORKFLOW</a:t>
            </a:r>
            <a:endParaRPr lang="en-US" sz="900" dirty="0"/>
          </a:p>
        </p:txBody>
      </p:sp>
      <p:sp>
        <p:nvSpPr>
          <p:cNvPr id="31" name="Shape 29"/>
          <p:cNvSpPr/>
          <p:nvPr/>
        </p:nvSpPr>
        <p:spPr>
          <a:xfrm>
            <a:off x="640080" y="3657600"/>
            <a:ext cx="1554480" cy="1097280"/>
          </a:xfrm>
          <a:prstGeom prst="roundRect">
            <a:avLst>
              <a:gd name="adj" fmla="val 4167"/>
            </a:avLst>
          </a:prstGeom>
          <a:solidFill>
            <a:srgbClr val="FFFFFF"/>
          </a:solidFill>
          <a:ln w="9525">
            <a:solidFill>
              <a:srgbClr val="C8D8EC"/>
            </a:solidFill>
            <a:prstDash val="solid"/>
          </a:ln>
        </p:spPr>
      </p:sp>
      <p:sp>
        <p:nvSpPr>
          <p:cNvPr id="32" name="Text 30"/>
          <p:cNvSpPr txBox="1"/>
          <p:nvPr/>
        </p:nvSpPr>
        <p:spPr>
          <a:xfrm>
            <a:off x="694944" y="3657600"/>
            <a:ext cx="1444752" cy="1097280"/>
          </a:xfrm>
          <a:prstGeom prst="rect">
            <a:avLst/>
          </a:prstGeom>
          <a:noFill/>
          <a:ln/>
        </p:spPr>
        <p:txBody>
          <a:bodyPr wrap="square" lIns="0" tIns="0" rIns="0" bIns="0" rtlCol="0" anchor="ctr"/>
          <a:lstStyle/>
          <a:p>
            <a:pPr algn="ctr" indent="0" marL="0">
              <a:buNone/>
            </a:pPr>
            <a:r>
              <a:rPr lang="en-US" sz="950" b="1" dirty="0">
                <a:solidFill>
                  <a:srgbClr val="1F2D3D"/>
                </a:solidFill>
                <a:latin typeface="Calibri" pitchFamily="34" charset="0"/>
                <a:ea typeface="Calibri" pitchFamily="34" charset="-122"/>
                <a:cs typeface="Calibri" pitchFamily="34" charset="-120"/>
              </a:rPr>
              <a:t>Entitlements Definition</a:t>
            </a:r>
            <a:endParaRPr lang="en-US" sz="950" dirty="0"/>
          </a:p>
        </p:txBody>
      </p:sp>
      <p:sp>
        <p:nvSpPr>
          <p:cNvPr id="33" name="Shape 31"/>
          <p:cNvSpPr/>
          <p:nvPr/>
        </p:nvSpPr>
        <p:spPr>
          <a:xfrm>
            <a:off x="640080" y="5577840"/>
            <a:ext cx="1554480" cy="1097280"/>
          </a:xfrm>
          <a:prstGeom prst="roundRect">
            <a:avLst>
              <a:gd name="adj" fmla="val 4167"/>
            </a:avLst>
          </a:prstGeom>
          <a:solidFill>
            <a:srgbClr val="FFFFFF"/>
          </a:solidFill>
          <a:ln w="9525">
            <a:solidFill>
              <a:srgbClr val="C8D8EC"/>
            </a:solidFill>
            <a:prstDash val="solid"/>
          </a:ln>
        </p:spPr>
      </p:sp>
      <p:sp>
        <p:nvSpPr>
          <p:cNvPr id="34" name="Text 32"/>
          <p:cNvSpPr txBox="1"/>
          <p:nvPr/>
        </p:nvSpPr>
        <p:spPr>
          <a:xfrm>
            <a:off x="694944" y="5577840"/>
            <a:ext cx="1444752" cy="1097280"/>
          </a:xfrm>
          <a:prstGeom prst="rect">
            <a:avLst/>
          </a:prstGeom>
          <a:noFill/>
          <a:ln/>
        </p:spPr>
        <p:txBody>
          <a:bodyPr wrap="square" lIns="0" tIns="0" rIns="0" bIns="0" rtlCol="0" anchor="ctr"/>
          <a:lstStyle/>
          <a:p>
            <a:pPr algn="ctr" indent="0" marL="0">
              <a:buNone/>
            </a:pPr>
            <a:r>
              <a:rPr lang="en-US" sz="950" b="1" dirty="0">
                <a:solidFill>
                  <a:srgbClr val="1F2D3D"/>
                </a:solidFill>
                <a:latin typeface="Calibri" pitchFamily="34" charset="0"/>
                <a:ea typeface="Calibri" pitchFamily="34" charset="-122"/>
                <a:cs typeface="Calibri" pitchFamily="34" charset="-120"/>
              </a:rPr>
              <a:t>Workflow Definition</a:t>
            </a:r>
            <a:endParaRPr lang="en-US" sz="950" dirty="0"/>
          </a:p>
        </p:txBody>
      </p:sp>
      <p:sp>
        <p:nvSpPr>
          <p:cNvPr id="35" name="Shape 33"/>
          <p:cNvSpPr/>
          <p:nvPr/>
        </p:nvSpPr>
        <p:spPr>
          <a:xfrm>
            <a:off x="2514600" y="3200400"/>
            <a:ext cx="6400800" cy="1691640"/>
          </a:xfrm>
          <a:prstGeom prst="roundRect">
            <a:avLst>
              <a:gd name="adj" fmla="val 2703"/>
            </a:avLst>
          </a:prstGeom>
          <a:solidFill>
            <a:srgbClr val="EEF4FB"/>
          </a:solidFill>
          <a:ln w="12700">
            <a:solidFill>
              <a:srgbClr val="2A6EBB"/>
            </a:solidFill>
            <a:prstDash val="dash"/>
          </a:ln>
        </p:spPr>
      </p:sp>
      <p:sp>
        <p:nvSpPr>
          <p:cNvPr id="36" name="Text 34"/>
          <p:cNvSpPr txBox="1"/>
          <p:nvPr/>
        </p:nvSpPr>
        <p:spPr>
          <a:xfrm>
            <a:off x="2624328" y="3264408"/>
            <a:ext cx="618134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RECONCILIATIONS &amp; CONTROLS</a:t>
            </a:r>
            <a:endParaRPr lang="en-US" sz="900" dirty="0"/>
          </a:p>
        </p:txBody>
      </p:sp>
      <p:sp>
        <p:nvSpPr>
          <p:cNvPr id="37" name="Shape 35"/>
          <p:cNvSpPr/>
          <p:nvPr/>
        </p:nvSpPr>
        <p:spPr>
          <a:xfrm>
            <a:off x="2651760" y="3520440"/>
            <a:ext cx="1920240" cy="1234440"/>
          </a:xfrm>
          <a:prstGeom prst="roundRect">
            <a:avLst>
              <a:gd name="adj" fmla="val 3704"/>
            </a:avLst>
          </a:prstGeom>
          <a:solidFill>
            <a:srgbClr val="1F56C3"/>
          </a:solidFill>
          <a:ln w="12700">
            <a:solidFill>
              <a:srgbClr val="1F56C3"/>
            </a:solidFill>
            <a:prstDash val="solid"/>
          </a:ln>
        </p:spPr>
      </p:sp>
      <p:sp>
        <p:nvSpPr>
          <p:cNvPr id="38" name="Text 36"/>
          <p:cNvSpPr txBox="1"/>
          <p:nvPr/>
        </p:nvSpPr>
        <p:spPr>
          <a:xfrm>
            <a:off x="2706624" y="3520440"/>
            <a:ext cx="1810512" cy="12344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Finance Flash v Formal P&amp;L Analysis</a:t>
            </a:r>
            <a:endParaRPr lang="en-US" sz="950" dirty="0"/>
          </a:p>
        </p:txBody>
      </p:sp>
      <p:sp>
        <p:nvSpPr>
          <p:cNvPr id="39" name="Shape 37"/>
          <p:cNvSpPr/>
          <p:nvPr/>
        </p:nvSpPr>
        <p:spPr>
          <a:xfrm>
            <a:off x="4709160" y="3520440"/>
            <a:ext cx="2011680" cy="548640"/>
          </a:xfrm>
          <a:prstGeom prst="roundRect">
            <a:avLst>
              <a:gd name="adj" fmla="val 8333"/>
            </a:avLst>
          </a:prstGeom>
          <a:solidFill>
            <a:srgbClr val="1E4D5C"/>
          </a:solidFill>
          <a:ln w="12700">
            <a:solidFill>
              <a:srgbClr val="1E4D5C"/>
            </a:solidFill>
            <a:prstDash val="solid"/>
          </a:ln>
        </p:spPr>
      </p:sp>
      <p:sp>
        <p:nvSpPr>
          <p:cNvPr id="40" name="Text 38"/>
          <p:cNvSpPr txBox="1"/>
          <p:nvPr/>
        </p:nvSpPr>
        <p:spPr>
          <a:xfrm>
            <a:off x="4764024" y="3520440"/>
            <a:ext cx="190195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Source to Ledger Controls</a:t>
            </a:r>
            <a:endParaRPr lang="en-US" sz="950" dirty="0"/>
          </a:p>
        </p:txBody>
      </p:sp>
      <p:sp>
        <p:nvSpPr>
          <p:cNvPr id="41" name="Shape 39"/>
          <p:cNvSpPr/>
          <p:nvPr/>
        </p:nvSpPr>
        <p:spPr>
          <a:xfrm>
            <a:off x="6153912" y="3410712"/>
            <a:ext cx="603504" cy="237744"/>
          </a:xfrm>
          <a:prstGeom prst="roundRect">
            <a:avLst>
              <a:gd name="adj" fmla="val 50000"/>
            </a:avLst>
          </a:prstGeom>
          <a:solidFill>
            <a:srgbClr val="1E8A5A"/>
          </a:solidFill>
          <a:ln w="12700">
            <a:solidFill>
              <a:srgbClr val="1E8A5A"/>
            </a:solidFill>
            <a:prstDash val="solid"/>
          </a:ln>
        </p:spPr>
      </p:sp>
      <p:sp>
        <p:nvSpPr>
          <p:cNvPr id="42" name="Text 40"/>
          <p:cNvSpPr txBox="1"/>
          <p:nvPr/>
        </p:nvSpPr>
        <p:spPr>
          <a:xfrm>
            <a:off x="6153912" y="3410712"/>
            <a:ext cx="60350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Helix</a:t>
            </a:r>
            <a:endParaRPr lang="en-US" sz="900" dirty="0"/>
          </a:p>
        </p:txBody>
      </p:sp>
      <p:sp>
        <p:nvSpPr>
          <p:cNvPr id="43" name="Shape 41"/>
          <p:cNvSpPr/>
          <p:nvPr/>
        </p:nvSpPr>
        <p:spPr>
          <a:xfrm>
            <a:off x="6812280" y="3520440"/>
            <a:ext cx="1965960" cy="548640"/>
          </a:xfrm>
          <a:prstGeom prst="roundRect">
            <a:avLst>
              <a:gd name="adj" fmla="val 8333"/>
            </a:avLst>
          </a:prstGeom>
          <a:solidFill>
            <a:srgbClr val="1E4D5C"/>
          </a:solidFill>
          <a:ln w="12700">
            <a:solidFill>
              <a:srgbClr val="1E4D5C"/>
            </a:solidFill>
            <a:prstDash val="solid"/>
          </a:ln>
        </p:spPr>
      </p:sp>
      <p:sp>
        <p:nvSpPr>
          <p:cNvPr id="44" name="Text 42"/>
          <p:cNvSpPr txBox="1"/>
          <p:nvPr/>
        </p:nvSpPr>
        <p:spPr>
          <a:xfrm>
            <a:off x="6867144" y="3520440"/>
            <a:ext cx="185623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Inter Ledger Controls (S/L v G/L v C/L)</a:t>
            </a:r>
            <a:endParaRPr lang="en-US" sz="950" dirty="0"/>
          </a:p>
        </p:txBody>
      </p:sp>
      <p:sp>
        <p:nvSpPr>
          <p:cNvPr id="45" name="Shape 43"/>
          <p:cNvSpPr/>
          <p:nvPr/>
        </p:nvSpPr>
        <p:spPr>
          <a:xfrm>
            <a:off x="8119872" y="3410712"/>
            <a:ext cx="694944" cy="237744"/>
          </a:xfrm>
          <a:prstGeom prst="roundRect">
            <a:avLst>
              <a:gd name="adj" fmla="val 50000"/>
            </a:avLst>
          </a:prstGeom>
          <a:solidFill>
            <a:srgbClr val="F2A900"/>
          </a:solidFill>
          <a:ln w="12700">
            <a:solidFill>
              <a:srgbClr val="F2A900"/>
            </a:solidFill>
            <a:prstDash val="solid"/>
          </a:ln>
        </p:spPr>
      </p:sp>
      <p:sp>
        <p:nvSpPr>
          <p:cNvPr id="46" name="Text 44"/>
          <p:cNvSpPr txBox="1"/>
          <p:nvPr/>
        </p:nvSpPr>
        <p:spPr>
          <a:xfrm>
            <a:off x="8119872" y="3410712"/>
            <a:ext cx="694944" cy="237744"/>
          </a:xfrm>
          <a:prstGeom prst="rect">
            <a:avLst/>
          </a:prstGeom>
          <a:noFill/>
          <a:ln/>
        </p:spPr>
        <p:txBody>
          <a:bodyPr wrap="square" lIns="0" tIns="0" rIns="0" bIns="0" rtlCol="0" anchor="ctr"/>
          <a:lstStyle/>
          <a:p>
            <a:pPr algn="ctr" indent="0" marL="0">
              <a:buNone/>
            </a:pPr>
            <a:r>
              <a:rPr lang="en-US" sz="900" b="1" dirty="0">
                <a:solidFill>
                  <a:srgbClr val="0B2E5E"/>
                </a:solidFill>
                <a:latin typeface="Calibri" pitchFamily="34" charset="0"/>
                <a:ea typeface="Calibri" pitchFamily="34" charset="-122"/>
                <a:cs typeface="Calibri" pitchFamily="34" charset="-120"/>
              </a:rPr>
              <a:t>Explore</a:t>
            </a:r>
            <a:endParaRPr lang="en-US" sz="900" dirty="0"/>
          </a:p>
        </p:txBody>
      </p:sp>
      <p:sp>
        <p:nvSpPr>
          <p:cNvPr id="47" name="Shape 45"/>
          <p:cNvSpPr/>
          <p:nvPr/>
        </p:nvSpPr>
        <p:spPr>
          <a:xfrm>
            <a:off x="4709160" y="4206240"/>
            <a:ext cx="2011680" cy="548640"/>
          </a:xfrm>
          <a:prstGeom prst="roundRect">
            <a:avLst>
              <a:gd name="adj" fmla="val 8333"/>
            </a:avLst>
          </a:prstGeom>
          <a:solidFill>
            <a:srgbClr val="1E4D5C"/>
          </a:solidFill>
          <a:ln w="12700">
            <a:solidFill>
              <a:srgbClr val="1E4D5C"/>
            </a:solidFill>
            <a:prstDash val="solid"/>
          </a:ln>
        </p:spPr>
      </p:sp>
      <p:sp>
        <p:nvSpPr>
          <p:cNvPr id="48" name="Text 46"/>
          <p:cNvSpPr txBox="1"/>
          <p:nvPr/>
        </p:nvSpPr>
        <p:spPr>
          <a:xfrm>
            <a:off x="4764024" y="4206240"/>
            <a:ext cx="190195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Operational Recs (Nostro etc.)</a:t>
            </a:r>
            <a:endParaRPr lang="en-US" sz="950" dirty="0"/>
          </a:p>
        </p:txBody>
      </p:sp>
      <p:sp>
        <p:nvSpPr>
          <p:cNvPr id="49" name="Shape 47"/>
          <p:cNvSpPr/>
          <p:nvPr/>
        </p:nvSpPr>
        <p:spPr>
          <a:xfrm>
            <a:off x="6062472" y="4096512"/>
            <a:ext cx="694944" cy="237744"/>
          </a:xfrm>
          <a:prstGeom prst="roundRect">
            <a:avLst>
              <a:gd name="adj" fmla="val 50000"/>
            </a:avLst>
          </a:prstGeom>
          <a:solidFill>
            <a:srgbClr val="F2A900"/>
          </a:solidFill>
          <a:ln w="12700">
            <a:solidFill>
              <a:srgbClr val="F2A900"/>
            </a:solidFill>
            <a:prstDash val="solid"/>
          </a:ln>
        </p:spPr>
      </p:sp>
      <p:sp>
        <p:nvSpPr>
          <p:cNvPr id="50" name="Text 48"/>
          <p:cNvSpPr txBox="1"/>
          <p:nvPr/>
        </p:nvSpPr>
        <p:spPr>
          <a:xfrm>
            <a:off x="6062472" y="4096512"/>
            <a:ext cx="694944" cy="237744"/>
          </a:xfrm>
          <a:prstGeom prst="rect">
            <a:avLst/>
          </a:prstGeom>
          <a:noFill/>
          <a:ln/>
        </p:spPr>
        <p:txBody>
          <a:bodyPr wrap="square" lIns="0" tIns="0" rIns="0" bIns="0" rtlCol="0" anchor="ctr"/>
          <a:lstStyle/>
          <a:p>
            <a:pPr algn="ctr" indent="0" marL="0">
              <a:buNone/>
            </a:pPr>
            <a:r>
              <a:rPr lang="en-US" sz="900" b="1" dirty="0">
                <a:solidFill>
                  <a:srgbClr val="0B2E5E"/>
                </a:solidFill>
                <a:latin typeface="Calibri" pitchFamily="34" charset="0"/>
                <a:ea typeface="Calibri" pitchFamily="34" charset="-122"/>
                <a:cs typeface="Calibri" pitchFamily="34" charset="-120"/>
              </a:rPr>
              <a:t>Explore</a:t>
            </a:r>
            <a:endParaRPr lang="en-US" sz="900" dirty="0"/>
          </a:p>
        </p:txBody>
      </p:sp>
      <p:sp>
        <p:nvSpPr>
          <p:cNvPr id="51" name="Shape 49"/>
          <p:cNvSpPr/>
          <p:nvPr/>
        </p:nvSpPr>
        <p:spPr>
          <a:xfrm>
            <a:off x="6812280" y="4206240"/>
            <a:ext cx="1965960" cy="548640"/>
          </a:xfrm>
          <a:prstGeom prst="roundRect">
            <a:avLst>
              <a:gd name="adj" fmla="val 8333"/>
            </a:avLst>
          </a:prstGeom>
          <a:solidFill>
            <a:srgbClr val="1E4D5C"/>
          </a:solidFill>
          <a:ln w="12700">
            <a:solidFill>
              <a:srgbClr val="1E4D5C"/>
            </a:solidFill>
            <a:prstDash val="solid"/>
          </a:ln>
        </p:spPr>
      </p:sp>
      <p:sp>
        <p:nvSpPr>
          <p:cNvPr id="52" name="Text 50"/>
          <p:cNvSpPr txBox="1"/>
          <p:nvPr/>
        </p:nvSpPr>
        <p:spPr>
          <a:xfrm>
            <a:off x="6867144" y="4206240"/>
            <a:ext cx="185623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Exception Lifecycle (Ageing)</a:t>
            </a:r>
            <a:endParaRPr lang="en-US" sz="950" dirty="0"/>
          </a:p>
        </p:txBody>
      </p:sp>
      <p:sp>
        <p:nvSpPr>
          <p:cNvPr id="53" name="Shape 51"/>
          <p:cNvSpPr/>
          <p:nvPr/>
        </p:nvSpPr>
        <p:spPr>
          <a:xfrm>
            <a:off x="8119872" y="4096512"/>
            <a:ext cx="694944" cy="237744"/>
          </a:xfrm>
          <a:prstGeom prst="roundRect">
            <a:avLst>
              <a:gd name="adj" fmla="val 50000"/>
            </a:avLst>
          </a:prstGeom>
          <a:solidFill>
            <a:srgbClr val="F2A900"/>
          </a:solidFill>
          <a:ln w="12700">
            <a:solidFill>
              <a:srgbClr val="F2A900"/>
            </a:solidFill>
            <a:prstDash val="solid"/>
          </a:ln>
        </p:spPr>
      </p:sp>
      <p:sp>
        <p:nvSpPr>
          <p:cNvPr id="54" name="Text 52"/>
          <p:cNvSpPr txBox="1"/>
          <p:nvPr/>
        </p:nvSpPr>
        <p:spPr>
          <a:xfrm>
            <a:off x="8119872" y="4096512"/>
            <a:ext cx="694944" cy="237744"/>
          </a:xfrm>
          <a:prstGeom prst="rect">
            <a:avLst/>
          </a:prstGeom>
          <a:noFill/>
          <a:ln/>
        </p:spPr>
        <p:txBody>
          <a:bodyPr wrap="square" lIns="0" tIns="0" rIns="0" bIns="0" rtlCol="0" anchor="ctr"/>
          <a:lstStyle/>
          <a:p>
            <a:pPr algn="ctr" indent="0" marL="0">
              <a:buNone/>
            </a:pPr>
            <a:r>
              <a:rPr lang="en-US" sz="900" b="1" dirty="0">
                <a:solidFill>
                  <a:srgbClr val="0B2E5E"/>
                </a:solidFill>
                <a:latin typeface="Calibri" pitchFamily="34" charset="0"/>
                <a:ea typeface="Calibri" pitchFamily="34" charset="-122"/>
                <a:cs typeface="Calibri" pitchFamily="34" charset="-120"/>
              </a:rPr>
              <a:t>Explore</a:t>
            </a:r>
            <a:endParaRPr lang="en-US" sz="900" dirty="0"/>
          </a:p>
        </p:txBody>
      </p:sp>
      <p:sp>
        <p:nvSpPr>
          <p:cNvPr id="55" name="Shape 53"/>
          <p:cNvSpPr/>
          <p:nvPr/>
        </p:nvSpPr>
        <p:spPr>
          <a:xfrm>
            <a:off x="9098280" y="3200400"/>
            <a:ext cx="5029200" cy="1691640"/>
          </a:xfrm>
          <a:prstGeom prst="roundRect">
            <a:avLst>
              <a:gd name="adj" fmla="val 2703"/>
            </a:avLst>
          </a:prstGeom>
          <a:solidFill>
            <a:srgbClr val="EEF4FB"/>
          </a:solidFill>
          <a:ln w="12700">
            <a:solidFill>
              <a:srgbClr val="2A6EBB"/>
            </a:solidFill>
            <a:prstDash val="dash"/>
          </a:ln>
        </p:spPr>
      </p:sp>
      <p:sp>
        <p:nvSpPr>
          <p:cNvPr id="56" name="Text 54"/>
          <p:cNvSpPr txBox="1"/>
          <p:nvPr/>
        </p:nvSpPr>
        <p:spPr>
          <a:xfrm>
            <a:off x="9208008" y="3264408"/>
            <a:ext cx="480974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ADJUSTMENTS</a:t>
            </a:r>
            <a:endParaRPr lang="en-US" sz="900" dirty="0"/>
          </a:p>
        </p:txBody>
      </p:sp>
      <p:sp>
        <p:nvSpPr>
          <p:cNvPr id="57" name="Shape 55"/>
          <p:cNvSpPr/>
          <p:nvPr/>
        </p:nvSpPr>
        <p:spPr>
          <a:xfrm>
            <a:off x="9235440" y="3520440"/>
            <a:ext cx="2331720" cy="548640"/>
          </a:xfrm>
          <a:prstGeom prst="roundRect">
            <a:avLst>
              <a:gd name="adj" fmla="val 8333"/>
            </a:avLst>
          </a:prstGeom>
          <a:solidFill>
            <a:srgbClr val="1E4D5C"/>
          </a:solidFill>
          <a:ln w="12700">
            <a:solidFill>
              <a:srgbClr val="1E4D5C"/>
            </a:solidFill>
            <a:prstDash val="solid"/>
          </a:ln>
        </p:spPr>
      </p:sp>
      <p:sp>
        <p:nvSpPr>
          <p:cNvPr id="58" name="Text 56"/>
          <p:cNvSpPr txBox="1"/>
          <p:nvPr/>
        </p:nvSpPr>
        <p:spPr>
          <a:xfrm>
            <a:off x="9290304" y="3520440"/>
            <a:ext cx="222199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Accounting Adjustments</a:t>
            </a:r>
            <a:endParaRPr lang="en-US" sz="950" dirty="0"/>
          </a:p>
        </p:txBody>
      </p:sp>
      <p:sp>
        <p:nvSpPr>
          <p:cNvPr id="59" name="Shape 57"/>
          <p:cNvSpPr/>
          <p:nvPr/>
        </p:nvSpPr>
        <p:spPr>
          <a:xfrm>
            <a:off x="11000232" y="3410712"/>
            <a:ext cx="603504" cy="237744"/>
          </a:xfrm>
          <a:prstGeom prst="roundRect">
            <a:avLst>
              <a:gd name="adj" fmla="val 50000"/>
            </a:avLst>
          </a:prstGeom>
          <a:solidFill>
            <a:srgbClr val="1E8A5A"/>
          </a:solidFill>
          <a:ln w="12700">
            <a:solidFill>
              <a:srgbClr val="1E8A5A"/>
            </a:solidFill>
            <a:prstDash val="solid"/>
          </a:ln>
        </p:spPr>
      </p:sp>
      <p:sp>
        <p:nvSpPr>
          <p:cNvPr id="60" name="Text 58"/>
          <p:cNvSpPr txBox="1"/>
          <p:nvPr/>
        </p:nvSpPr>
        <p:spPr>
          <a:xfrm>
            <a:off x="11000232" y="3410712"/>
            <a:ext cx="60350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Helix</a:t>
            </a:r>
            <a:endParaRPr lang="en-US" sz="900" dirty="0"/>
          </a:p>
        </p:txBody>
      </p:sp>
      <p:sp>
        <p:nvSpPr>
          <p:cNvPr id="61" name="Shape 59"/>
          <p:cNvSpPr/>
          <p:nvPr/>
        </p:nvSpPr>
        <p:spPr>
          <a:xfrm>
            <a:off x="11704320" y="3520440"/>
            <a:ext cx="2286000" cy="548640"/>
          </a:xfrm>
          <a:prstGeom prst="roundRect">
            <a:avLst>
              <a:gd name="adj" fmla="val 8333"/>
            </a:avLst>
          </a:prstGeom>
          <a:solidFill>
            <a:srgbClr val="1E4D5C"/>
          </a:solidFill>
          <a:ln w="12700">
            <a:solidFill>
              <a:srgbClr val="1E4D5C"/>
            </a:solidFill>
            <a:prstDash val="solid"/>
          </a:ln>
        </p:spPr>
      </p:sp>
      <p:sp>
        <p:nvSpPr>
          <p:cNvPr id="62" name="Text 60"/>
          <p:cNvSpPr txBox="1"/>
          <p:nvPr/>
        </p:nvSpPr>
        <p:spPr>
          <a:xfrm>
            <a:off x="11759184" y="3520440"/>
            <a:ext cx="217627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Restatement Adjustments</a:t>
            </a:r>
            <a:endParaRPr lang="en-US" sz="950" dirty="0"/>
          </a:p>
        </p:txBody>
      </p:sp>
      <p:sp>
        <p:nvSpPr>
          <p:cNvPr id="63" name="Shape 61"/>
          <p:cNvSpPr/>
          <p:nvPr/>
        </p:nvSpPr>
        <p:spPr>
          <a:xfrm>
            <a:off x="9235440" y="4206240"/>
            <a:ext cx="2331720" cy="548640"/>
          </a:xfrm>
          <a:prstGeom prst="roundRect">
            <a:avLst>
              <a:gd name="adj" fmla="val 8333"/>
            </a:avLst>
          </a:prstGeom>
          <a:solidFill>
            <a:srgbClr val="1E4D5C"/>
          </a:solidFill>
          <a:ln w="12700">
            <a:solidFill>
              <a:srgbClr val="1E4D5C"/>
            </a:solidFill>
            <a:prstDash val="solid"/>
          </a:ln>
        </p:spPr>
      </p:sp>
      <p:sp>
        <p:nvSpPr>
          <p:cNvPr id="64" name="Text 62"/>
          <p:cNvSpPr txBox="1"/>
          <p:nvPr/>
        </p:nvSpPr>
        <p:spPr>
          <a:xfrm>
            <a:off x="9290304" y="4206240"/>
            <a:ext cx="222199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Elimination Adjustments</a:t>
            </a:r>
            <a:endParaRPr lang="en-US" sz="950" dirty="0"/>
          </a:p>
        </p:txBody>
      </p:sp>
      <p:sp>
        <p:nvSpPr>
          <p:cNvPr id="65" name="Shape 63"/>
          <p:cNvSpPr/>
          <p:nvPr/>
        </p:nvSpPr>
        <p:spPr>
          <a:xfrm>
            <a:off x="2514600" y="5074920"/>
            <a:ext cx="11612880" cy="1691640"/>
          </a:xfrm>
          <a:prstGeom prst="roundRect">
            <a:avLst>
              <a:gd name="adj" fmla="val 2703"/>
            </a:avLst>
          </a:prstGeom>
          <a:solidFill>
            <a:srgbClr val="EEF4FB"/>
          </a:solidFill>
          <a:ln w="12700">
            <a:solidFill>
              <a:srgbClr val="2A6EBB"/>
            </a:solidFill>
            <a:prstDash val="dash"/>
          </a:ln>
        </p:spPr>
      </p:sp>
      <p:sp>
        <p:nvSpPr>
          <p:cNvPr id="66" name="Text 64"/>
          <p:cNvSpPr txBox="1"/>
          <p:nvPr/>
        </p:nvSpPr>
        <p:spPr>
          <a:xfrm>
            <a:off x="2624328" y="5138928"/>
            <a:ext cx="1139342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ANALYSIS &amp; REVIEW</a:t>
            </a:r>
            <a:endParaRPr lang="en-US" sz="900" dirty="0"/>
          </a:p>
        </p:txBody>
      </p:sp>
      <p:sp>
        <p:nvSpPr>
          <p:cNvPr id="67" name="Shape 65"/>
          <p:cNvSpPr/>
          <p:nvPr/>
        </p:nvSpPr>
        <p:spPr>
          <a:xfrm>
            <a:off x="2651760" y="5394960"/>
            <a:ext cx="2148840" cy="548640"/>
          </a:xfrm>
          <a:prstGeom prst="roundRect">
            <a:avLst>
              <a:gd name="adj" fmla="val 8333"/>
            </a:avLst>
          </a:prstGeom>
          <a:solidFill>
            <a:srgbClr val="1F56C3"/>
          </a:solidFill>
          <a:ln w="12700">
            <a:solidFill>
              <a:srgbClr val="1F56C3"/>
            </a:solidFill>
            <a:prstDash val="solid"/>
          </a:ln>
        </p:spPr>
      </p:sp>
      <p:sp>
        <p:nvSpPr>
          <p:cNvPr id="68" name="Text 66"/>
          <p:cNvSpPr txBox="1"/>
          <p:nvPr/>
        </p:nvSpPr>
        <p:spPr>
          <a:xfrm>
            <a:off x="2706624" y="53949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PLEX Analysis (Hypo v Clean)</a:t>
            </a:r>
            <a:endParaRPr lang="en-US" sz="950" dirty="0"/>
          </a:p>
        </p:txBody>
      </p:sp>
      <p:sp>
        <p:nvSpPr>
          <p:cNvPr id="69" name="Shape 67"/>
          <p:cNvSpPr/>
          <p:nvPr/>
        </p:nvSpPr>
        <p:spPr>
          <a:xfrm>
            <a:off x="4937760" y="5394960"/>
            <a:ext cx="2148840" cy="548640"/>
          </a:xfrm>
          <a:prstGeom prst="roundRect">
            <a:avLst>
              <a:gd name="adj" fmla="val 8333"/>
            </a:avLst>
          </a:prstGeom>
          <a:solidFill>
            <a:srgbClr val="1F56C3"/>
          </a:solidFill>
          <a:ln w="12700">
            <a:solidFill>
              <a:srgbClr val="1F56C3"/>
            </a:solidFill>
            <a:prstDash val="solid"/>
          </a:ln>
        </p:spPr>
      </p:sp>
      <p:sp>
        <p:nvSpPr>
          <p:cNvPr id="70" name="Text 68"/>
          <p:cNvSpPr txBox="1"/>
          <p:nvPr/>
        </p:nvSpPr>
        <p:spPr>
          <a:xfrm>
            <a:off x="4992624" y="53949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Exceptions &amp; Break Analysis</a:t>
            </a:r>
            <a:endParaRPr lang="en-US" sz="950" dirty="0"/>
          </a:p>
        </p:txBody>
      </p:sp>
      <p:sp>
        <p:nvSpPr>
          <p:cNvPr id="71" name="Shape 69"/>
          <p:cNvSpPr/>
          <p:nvPr/>
        </p:nvSpPr>
        <p:spPr>
          <a:xfrm>
            <a:off x="6519672" y="5285232"/>
            <a:ext cx="603504" cy="237744"/>
          </a:xfrm>
          <a:prstGeom prst="roundRect">
            <a:avLst>
              <a:gd name="adj" fmla="val 50000"/>
            </a:avLst>
          </a:prstGeom>
          <a:solidFill>
            <a:srgbClr val="1E8A5A"/>
          </a:solidFill>
          <a:ln w="12700">
            <a:solidFill>
              <a:srgbClr val="1E8A5A"/>
            </a:solidFill>
            <a:prstDash val="solid"/>
          </a:ln>
        </p:spPr>
      </p:sp>
      <p:sp>
        <p:nvSpPr>
          <p:cNvPr id="72" name="Text 70"/>
          <p:cNvSpPr txBox="1"/>
          <p:nvPr/>
        </p:nvSpPr>
        <p:spPr>
          <a:xfrm>
            <a:off x="6519672" y="5285232"/>
            <a:ext cx="60350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Helix</a:t>
            </a:r>
            <a:endParaRPr lang="en-US" sz="900" dirty="0"/>
          </a:p>
        </p:txBody>
      </p:sp>
      <p:sp>
        <p:nvSpPr>
          <p:cNvPr id="73" name="Shape 71"/>
          <p:cNvSpPr/>
          <p:nvPr/>
        </p:nvSpPr>
        <p:spPr>
          <a:xfrm>
            <a:off x="7223760" y="5394960"/>
            <a:ext cx="2148840" cy="548640"/>
          </a:xfrm>
          <a:prstGeom prst="roundRect">
            <a:avLst>
              <a:gd name="adj" fmla="val 8333"/>
            </a:avLst>
          </a:prstGeom>
          <a:solidFill>
            <a:srgbClr val="1F56C3"/>
          </a:solidFill>
          <a:ln w="12700">
            <a:solidFill>
              <a:srgbClr val="1F56C3"/>
            </a:solidFill>
            <a:prstDash val="solid"/>
          </a:ln>
        </p:spPr>
      </p:sp>
      <p:sp>
        <p:nvSpPr>
          <p:cNvPr id="74" name="Text 72"/>
          <p:cNvSpPr txBox="1"/>
          <p:nvPr/>
        </p:nvSpPr>
        <p:spPr>
          <a:xfrm>
            <a:off x="7278624" y="53949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Movements Analysis (MOT, Trend)</a:t>
            </a:r>
            <a:endParaRPr lang="en-US" sz="950" dirty="0"/>
          </a:p>
        </p:txBody>
      </p:sp>
      <p:sp>
        <p:nvSpPr>
          <p:cNvPr id="75" name="Shape 73"/>
          <p:cNvSpPr/>
          <p:nvPr/>
        </p:nvSpPr>
        <p:spPr>
          <a:xfrm>
            <a:off x="8714232" y="5285232"/>
            <a:ext cx="694944" cy="237744"/>
          </a:xfrm>
          <a:prstGeom prst="roundRect">
            <a:avLst>
              <a:gd name="adj" fmla="val 50000"/>
            </a:avLst>
          </a:prstGeom>
          <a:solidFill>
            <a:srgbClr val="F2A900"/>
          </a:solidFill>
          <a:ln w="12700">
            <a:solidFill>
              <a:srgbClr val="F2A900"/>
            </a:solidFill>
            <a:prstDash val="solid"/>
          </a:ln>
        </p:spPr>
      </p:sp>
      <p:sp>
        <p:nvSpPr>
          <p:cNvPr id="76" name="Text 74"/>
          <p:cNvSpPr txBox="1"/>
          <p:nvPr/>
        </p:nvSpPr>
        <p:spPr>
          <a:xfrm>
            <a:off x="8714232" y="5285232"/>
            <a:ext cx="694944" cy="237744"/>
          </a:xfrm>
          <a:prstGeom prst="rect">
            <a:avLst/>
          </a:prstGeom>
          <a:noFill/>
          <a:ln/>
        </p:spPr>
        <p:txBody>
          <a:bodyPr wrap="square" lIns="0" tIns="0" rIns="0" bIns="0" rtlCol="0" anchor="ctr"/>
          <a:lstStyle/>
          <a:p>
            <a:pPr algn="ctr" indent="0" marL="0">
              <a:buNone/>
            </a:pPr>
            <a:r>
              <a:rPr lang="en-US" sz="900" b="1" dirty="0">
                <a:solidFill>
                  <a:srgbClr val="0B2E5E"/>
                </a:solidFill>
                <a:latin typeface="Calibri" pitchFamily="34" charset="0"/>
                <a:ea typeface="Calibri" pitchFamily="34" charset="-122"/>
                <a:cs typeface="Calibri" pitchFamily="34" charset="-120"/>
              </a:rPr>
              <a:t>Explore</a:t>
            </a:r>
            <a:endParaRPr lang="en-US" sz="900" dirty="0"/>
          </a:p>
        </p:txBody>
      </p:sp>
      <p:sp>
        <p:nvSpPr>
          <p:cNvPr id="77" name="Shape 75"/>
          <p:cNvSpPr/>
          <p:nvPr/>
        </p:nvSpPr>
        <p:spPr>
          <a:xfrm>
            <a:off x="9509760" y="5394960"/>
            <a:ext cx="2148840" cy="548640"/>
          </a:xfrm>
          <a:prstGeom prst="roundRect">
            <a:avLst>
              <a:gd name="adj" fmla="val 8333"/>
            </a:avLst>
          </a:prstGeom>
          <a:solidFill>
            <a:srgbClr val="1F56C3"/>
          </a:solidFill>
          <a:ln w="12700">
            <a:solidFill>
              <a:srgbClr val="1F56C3"/>
            </a:solidFill>
            <a:prstDash val="solid"/>
          </a:ln>
        </p:spPr>
      </p:sp>
      <p:sp>
        <p:nvSpPr>
          <p:cNvPr id="78" name="Text 76"/>
          <p:cNvSpPr txBox="1"/>
          <p:nvPr/>
        </p:nvSpPr>
        <p:spPr>
          <a:xfrm>
            <a:off x="9564624" y="53949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Cost Analysis</a:t>
            </a:r>
            <a:endParaRPr lang="en-US" sz="950" dirty="0"/>
          </a:p>
        </p:txBody>
      </p:sp>
      <p:sp>
        <p:nvSpPr>
          <p:cNvPr id="79" name="Shape 77"/>
          <p:cNvSpPr/>
          <p:nvPr/>
        </p:nvSpPr>
        <p:spPr>
          <a:xfrm>
            <a:off x="11795760" y="5394960"/>
            <a:ext cx="2148840" cy="548640"/>
          </a:xfrm>
          <a:prstGeom prst="roundRect">
            <a:avLst>
              <a:gd name="adj" fmla="val 8333"/>
            </a:avLst>
          </a:prstGeom>
          <a:solidFill>
            <a:srgbClr val="1F56C3"/>
          </a:solidFill>
          <a:ln w="12700">
            <a:solidFill>
              <a:srgbClr val="1F56C3"/>
            </a:solidFill>
            <a:prstDash val="solid"/>
          </a:ln>
        </p:spPr>
      </p:sp>
      <p:sp>
        <p:nvSpPr>
          <p:cNvPr id="80" name="Text 78"/>
          <p:cNvSpPr txBox="1"/>
          <p:nvPr/>
        </p:nvSpPr>
        <p:spPr>
          <a:xfrm>
            <a:off x="11850624" y="53949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Variance Analysis</a:t>
            </a:r>
            <a:endParaRPr lang="en-US" sz="950" dirty="0"/>
          </a:p>
        </p:txBody>
      </p:sp>
      <p:sp>
        <p:nvSpPr>
          <p:cNvPr id="81" name="Shape 79"/>
          <p:cNvSpPr/>
          <p:nvPr/>
        </p:nvSpPr>
        <p:spPr>
          <a:xfrm>
            <a:off x="13286232" y="5285232"/>
            <a:ext cx="694944" cy="237744"/>
          </a:xfrm>
          <a:prstGeom prst="roundRect">
            <a:avLst>
              <a:gd name="adj" fmla="val 50000"/>
            </a:avLst>
          </a:prstGeom>
          <a:solidFill>
            <a:srgbClr val="F2A900"/>
          </a:solidFill>
          <a:ln w="12700">
            <a:solidFill>
              <a:srgbClr val="F2A900"/>
            </a:solidFill>
            <a:prstDash val="solid"/>
          </a:ln>
        </p:spPr>
      </p:sp>
      <p:sp>
        <p:nvSpPr>
          <p:cNvPr id="82" name="Text 80"/>
          <p:cNvSpPr txBox="1"/>
          <p:nvPr/>
        </p:nvSpPr>
        <p:spPr>
          <a:xfrm>
            <a:off x="13286232" y="5285232"/>
            <a:ext cx="694944" cy="237744"/>
          </a:xfrm>
          <a:prstGeom prst="rect">
            <a:avLst/>
          </a:prstGeom>
          <a:noFill/>
          <a:ln/>
        </p:spPr>
        <p:txBody>
          <a:bodyPr wrap="square" lIns="0" tIns="0" rIns="0" bIns="0" rtlCol="0" anchor="ctr"/>
          <a:lstStyle/>
          <a:p>
            <a:pPr algn="ctr" indent="0" marL="0">
              <a:buNone/>
            </a:pPr>
            <a:r>
              <a:rPr lang="en-US" sz="900" b="1" dirty="0">
                <a:solidFill>
                  <a:srgbClr val="0B2E5E"/>
                </a:solidFill>
                <a:latin typeface="Calibri" pitchFamily="34" charset="0"/>
                <a:ea typeface="Calibri" pitchFamily="34" charset="-122"/>
                <a:cs typeface="Calibri" pitchFamily="34" charset="-120"/>
              </a:rPr>
              <a:t>Explore</a:t>
            </a:r>
            <a:endParaRPr lang="en-US" sz="900" dirty="0"/>
          </a:p>
        </p:txBody>
      </p:sp>
      <p:sp>
        <p:nvSpPr>
          <p:cNvPr id="83" name="Shape 81"/>
          <p:cNvSpPr/>
          <p:nvPr/>
        </p:nvSpPr>
        <p:spPr>
          <a:xfrm>
            <a:off x="2651760" y="6080760"/>
            <a:ext cx="2148840" cy="548640"/>
          </a:xfrm>
          <a:prstGeom prst="roundRect">
            <a:avLst>
              <a:gd name="adj" fmla="val 8333"/>
            </a:avLst>
          </a:prstGeom>
          <a:solidFill>
            <a:srgbClr val="1F56C3"/>
          </a:solidFill>
          <a:ln w="12700">
            <a:solidFill>
              <a:srgbClr val="1F56C3"/>
            </a:solidFill>
            <a:prstDash val="solid"/>
          </a:ln>
        </p:spPr>
      </p:sp>
      <p:sp>
        <p:nvSpPr>
          <p:cNvPr id="84" name="Text 82"/>
          <p:cNvSpPr txBox="1"/>
          <p:nvPr/>
        </p:nvSpPr>
        <p:spPr>
          <a:xfrm>
            <a:off x="2706624" y="60807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PLEX Reclassification</a:t>
            </a:r>
            <a:endParaRPr lang="en-US" sz="950" dirty="0"/>
          </a:p>
        </p:txBody>
      </p:sp>
      <p:sp>
        <p:nvSpPr>
          <p:cNvPr id="85" name="Shape 83"/>
          <p:cNvSpPr/>
          <p:nvPr/>
        </p:nvSpPr>
        <p:spPr>
          <a:xfrm>
            <a:off x="4937760" y="6080760"/>
            <a:ext cx="2148840" cy="548640"/>
          </a:xfrm>
          <a:prstGeom prst="roundRect">
            <a:avLst>
              <a:gd name="adj" fmla="val 8333"/>
            </a:avLst>
          </a:prstGeom>
          <a:solidFill>
            <a:srgbClr val="1F56C3"/>
          </a:solidFill>
          <a:ln w="12700">
            <a:solidFill>
              <a:srgbClr val="1F56C3"/>
            </a:solidFill>
            <a:prstDash val="solid"/>
          </a:ln>
        </p:spPr>
      </p:sp>
      <p:sp>
        <p:nvSpPr>
          <p:cNvPr id="86" name="Text 84"/>
          <p:cNvSpPr txBox="1"/>
          <p:nvPr/>
        </p:nvSpPr>
        <p:spPr>
          <a:xfrm>
            <a:off x="4992624" y="60807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Average Balance Sheet Analysis</a:t>
            </a:r>
            <a:endParaRPr lang="en-US" sz="950" dirty="0"/>
          </a:p>
        </p:txBody>
      </p:sp>
      <p:sp>
        <p:nvSpPr>
          <p:cNvPr id="87" name="Shape 85"/>
          <p:cNvSpPr/>
          <p:nvPr/>
        </p:nvSpPr>
        <p:spPr>
          <a:xfrm>
            <a:off x="7223760" y="6080760"/>
            <a:ext cx="2148840" cy="548640"/>
          </a:xfrm>
          <a:prstGeom prst="roundRect">
            <a:avLst>
              <a:gd name="adj" fmla="val 8333"/>
            </a:avLst>
          </a:prstGeom>
          <a:solidFill>
            <a:srgbClr val="1F56C3"/>
          </a:solidFill>
          <a:ln w="12700">
            <a:solidFill>
              <a:srgbClr val="1F56C3"/>
            </a:solidFill>
            <a:prstDash val="solid"/>
          </a:ln>
        </p:spPr>
      </p:sp>
      <p:sp>
        <p:nvSpPr>
          <p:cNvPr id="88" name="Text 86"/>
          <p:cNvSpPr txBox="1"/>
          <p:nvPr/>
        </p:nvSpPr>
        <p:spPr>
          <a:xfrm>
            <a:off x="7278624" y="60807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Presentation Currency View</a:t>
            </a:r>
            <a:endParaRPr lang="en-US" sz="950" dirty="0"/>
          </a:p>
        </p:txBody>
      </p:sp>
      <p:sp>
        <p:nvSpPr>
          <p:cNvPr id="89" name="Shape 87"/>
          <p:cNvSpPr/>
          <p:nvPr/>
        </p:nvSpPr>
        <p:spPr>
          <a:xfrm>
            <a:off x="9509760" y="6080760"/>
            <a:ext cx="2148840" cy="548640"/>
          </a:xfrm>
          <a:prstGeom prst="roundRect">
            <a:avLst>
              <a:gd name="adj" fmla="val 8333"/>
            </a:avLst>
          </a:prstGeom>
          <a:solidFill>
            <a:srgbClr val="1F56C3"/>
          </a:solidFill>
          <a:ln w="12700">
            <a:solidFill>
              <a:srgbClr val="1F56C3"/>
            </a:solidFill>
            <a:prstDash val="solid"/>
          </a:ln>
        </p:spPr>
      </p:sp>
      <p:sp>
        <p:nvSpPr>
          <p:cNvPr id="90" name="Text 88"/>
          <p:cNvSpPr txBox="1"/>
          <p:nvPr/>
        </p:nvSpPr>
        <p:spPr>
          <a:xfrm>
            <a:off x="9564624" y="60807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Impairments Analysis</a:t>
            </a:r>
            <a:endParaRPr lang="en-US" sz="950" dirty="0"/>
          </a:p>
        </p:txBody>
      </p:sp>
      <p:sp>
        <p:nvSpPr>
          <p:cNvPr id="91" name="Shape 89"/>
          <p:cNvSpPr/>
          <p:nvPr/>
        </p:nvSpPr>
        <p:spPr>
          <a:xfrm>
            <a:off x="11795760" y="6080760"/>
            <a:ext cx="2148840" cy="548640"/>
          </a:xfrm>
          <a:prstGeom prst="roundRect">
            <a:avLst>
              <a:gd name="adj" fmla="val 8333"/>
            </a:avLst>
          </a:prstGeom>
          <a:solidFill>
            <a:srgbClr val="1F56C3"/>
          </a:solidFill>
          <a:ln w="12700">
            <a:solidFill>
              <a:srgbClr val="1F56C3"/>
            </a:solidFill>
            <a:prstDash val="solid"/>
          </a:ln>
        </p:spPr>
      </p:sp>
      <p:sp>
        <p:nvSpPr>
          <p:cNvPr id="92" name="Text 90"/>
          <p:cNvSpPr txBox="1"/>
          <p:nvPr/>
        </p:nvSpPr>
        <p:spPr>
          <a:xfrm>
            <a:off x="11850624" y="60807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Commentary Generation</a:t>
            </a:r>
            <a:endParaRPr lang="en-US" sz="950" dirty="0"/>
          </a:p>
        </p:txBody>
      </p:sp>
      <p:sp>
        <p:nvSpPr>
          <p:cNvPr id="93" name="Shape 91"/>
          <p:cNvSpPr/>
          <p:nvPr/>
        </p:nvSpPr>
        <p:spPr>
          <a:xfrm>
            <a:off x="13286232" y="5971032"/>
            <a:ext cx="694944" cy="237744"/>
          </a:xfrm>
          <a:prstGeom prst="roundRect">
            <a:avLst>
              <a:gd name="adj" fmla="val 50000"/>
            </a:avLst>
          </a:prstGeom>
          <a:solidFill>
            <a:srgbClr val="F2A900"/>
          </a:solidFill>
          <a:ln w="12700">
            <a:solidFill>
              <a:srgbClr val="F2A900"/>
            </a:solidFill>
            <a:prstDash val="solid"/>
          </a:ln>
        </p:spPr>
      </p:sp>
      <p:sp>
        <p:nvSpPr>
          <p:cNvPr id="94" name="Text 92"/>
          <p:cNvSpPr txBox="1"/>
          <p:nvPr/>
        </p:nvSpPr>
        <p:spPr>
          <a:xfrm>
            <a:off x="13286232" y="5971032"/>
            <a:ext cx="694944" cy="237744"/>
          </a:xfrm>
          <a:prstGeom prst="rect">
            <a:avLst/>
          </a:prstGeom>
          <a:noFill/>
          <a:ln/>
        </p:spPr>
        <p:txBody>
          <a:bodyPr wrap="square" lIns="0" tIns="0" rIns="0" bIns="0" rtlCol="0" anchor="ctr"/>
          <a:lstStyle/>
          <a:p>
            <a:pPr algn="ctr" indent="0" marL="0">
              <a:buNone/>
            </a:pPr>
            <a:r>
              <a:rPr lang="en-US" sz="900" b="1" dirty="0">
                <a:solidFill>
                  <a:srgbClr val="0B2E5E"/>
                </a:solidFill>
                <a:latin typeface="Calibri" pitchFamily="34" charset="0"/>
                <a:ea typeface="Calibri" pitchFamily="34" charset="-122"/>
                <a:cs typeface="Calibri" pitchFamily="34" charset="-120"/>
              </a:rPr>
              <a:t>Explore</a:t>
            </a:r>
            <a:endParaRPr lang="en-US" sz="900" dirty="0"/>
          </a:p>
        </p:txBody>
      </p:sp>
      <p:sp>
        <p:nvSpPr>
          <p:cNvPr id="95" name="Shape 93"/>
          <p:cNvSpPr/>
          <p:nvPr/>
        </p:nvSpPr>
        <p:spPr>
          <a:xfrm>
            <a:off x="2514600" y="6949440"/>
            <a:ext cx="6400800" cy="1005840"/>
          </a:xfrm>
          <a:prstGeom prst="roundRect">
            <a:avLst>
              <a:gd name="adj" fmla="val 4545"/>
            </a:avLst>
          </a:prstGeom>
          <a:solidFill>
            <a:srgbClr val="EEF4FB"/>
          </a:solidFill>
          <a:ln w="12700">
            <a:solidFill>
              <a:srgbClr val="2A6EBB"/>
            </a:solidFill>
            <a:prstDash val="dash"/>
          </a:ln>
        </p:spPr>
      </p:sp>
      <p:sp>
        <p:nvSpPr>
          <p:cNvPr id="96" name="Text 94"/>
          <p:cNvSpPr txBox="1"/>
          <p:nvPr/>
        </p:nvSpPr>
        <p:spPr>
          <a:xfrm>
            <a:off x="2624328" y="7013448"/>
            <a:ext cx="618134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FINANCIAL CLOSE</a:t>
            </a:r>
            <a:endParaRPr lang="en-US" sz="900" dirty="0"/>
          </a:p>
        </p:txBody>
      </p:sp>
      <p:sp>
        <p:nvSpPr>
          <p:cNvPr id="97" name="Shape 95"/>
          <p:cNvSpPr/>
          <p:nvPr/>
        </p:nvSpPr>
        <p:spPr>
          <a:xfrm>
            <a:off x="2651760" y="7269480"/>
            <a:ext cx="1463040" cy="548640"/>
          </a:xfrm>
          <a:prstGeom prst="roundRect">
            <a:avLst>
              <a:gd name="adj" fmla="val 8333"/>
            </a:avLst>
          </a:prstGeom>
          <a:solidFill>
            <a:srgbClr val="1F56C3"/>
          </a:solidFill>
          <a:ln w="12700">
            <a:solidFill>
              <a:srgbClr val="1F56C3"/>
            </a:solidFill>
            <a:prstDash val="solid"/>
          </a:ln>
        </p:spPr>
      </p:sp>
      <p:sp>
        <p:nvSpPr>
          <p:cNvPr id="98" name="Text 96"/>
          <p:cNvSpPr txBox="1"/>
          <p:nvPr/>
        </p:nvSpPr>
        <p:spPr>
          <a:xfrm>
            <a:off x="2706624" y="7269480"/>
            <a:ext cx="13533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Substantiation &amp; Attestation</a:t>
            </a:r>
            <a:endParaRPr lang="en-US" sz="950" dirty="0"/>
          </a:p>
        </p:txBody>
      </p:sp>
      <p:sp>
        <p:nvSpPr>
          <p:cNvPr id="99" name="Shape 97"/>
          <p:cNvSpPr/>
          <p:nvPr/>
        </p:nvSpPr>
        <p:spPr>
          <a:xfrm>
            <a:off x="3456432" y="7159752"/>
            <a:ext cx="694944" cy="237744"/>
          </a:xfrm>
          <a:prstGeom prst="roundRect">
            <a:avLst>
              <a:gd name="adj" fmla="val 50000"/>
            </a:avLst>
          </a:prstGeom>
          <a:solidFill>
            <a:srgbClr val="F2A900"/>
          </a:solidFill>
          <a:ln w="12700">
            <a:solidFill>
              <a:srgbClr val="F2A900"/>
            </a:solidFill>
            <a:prstDash val="solid"/>
          </a:ln>
        </p:spPr>
      </p:sp>
      <p:sp>
        <p:nvSpPr>
          <p:cNvPr id="100" name="Text 98"/>
          <p:cNvSpPr txBox="1"/>
          <p:nvPr/>
        </p:nvSpPr>
        <p:spPr>
          <a:xfrm>
            <a:off x="3456432" y="7159752"/>
            <a:ext cx="694944" cy="237744"/>
          </a:xfrm>
          <a:prstGeom prst="rect">
            <a:avLst/>
          </a:prstGeom>
          <a:noFill/>
          <a:ln/>
        </p:spPr>
        <p:txBody>
          <a:bodyPr wrap="square" lIns="0" tIns="0" rIns="0" bIns="0" rtlCol="0" anchor="ctr"/>
          <a:lstStyle/>
          <a:p>
            <a:pPr algn="ctr" indent="0" marL="0">
              <a:buNone/>
            </a:pPr>
            <a:r>
              <a:rPr lang="en-US" sz="900" b="1" dirty="0">
                <a:solidFill>
                  <a:srgbClr val="0B2E5E"/>
                </a:solidFill>
                <a:latin typeface="Calibri" pitchFamily="34" charset="0"/>
                <a:ea typeface="Calibri" pitchFamily="34" charset="-122"/>
                <a:cs typeface="Calibri" pitchFamily="34" charset="-120"/>
              </a:rPr>
              <a:t>Explore</a:t>
            </a:r>
            <a:endParaRPr lang="en-US" sz="900" dirty="0"/>
          </a:p>
        </p:txBody>
      </p:sp>
      <p:sp>
        <p:nvSpPr>
          <p:cNvPr id="101" name="Shape 99"/>
          <p:cNvSpPr/>
          <p:nvPr/>
        </p:nvSpPr>
        <p:spPr>
          <a:xfrm>
            <a:off x="4206240" y="7269480"/>
            <a:ext cx="1463040" cy="548640"/>
          </a:xfrm>
          <a:prstGeom prst="roundRect">
            <a:avLst>
              <a:gd name="adj" fmla="val 8333"/>
            </a:avLst>
          </a:prstGeom>
          <a:solidFill>
            <a:srgbClr val="1F56C3"/>
          </a:solidFill>
          <a:ln w="12700">
            <a:solidFill>
              <a:srgbClr val="1F56C3"/>
            </a:solidFill>
            <a:prstDash val="solid"/>
          </a:ln>
        </p:spPr>
      </p:sp>
      <p:sp>
        <p:nvSpPr>
          <p:cNvPr id="102" name="Text 100"/>
          <p:cNvSpPr txBox="1"/>
          <p:nvPr/>
        </p:nvSpPr>
        <p:spPr>
          <a:xfrm>
            <a:off x="4261104" y="7269480"/>
            <a:ext cx="13533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Trader Sign Off</a:t>
            </a:r>
            <a:endParaRPr lang="en-US" sz="950" dirty="0"/>
          </a:p>
        </p:txBody>
      </p:sp>
      <p:sp>
        <p:nvSpPr>
          <p:cNvPr id="103" name="Shape 101"/>
          <p:cNvSpPr/>
          <p:nvPr/>
        </p:nvSpPr>
        <p:spPr>
          <a:xfrm>
            <a:off x="5760720" y="7269480"/>
            <a:ext cx="1463040" cy="548640"/>
          </a:xfrm>
          <a:prstGeom prst="roundRect">
            <a:avLst>
              <a:gd name="adj" fmla="val 8333"/>
            </a:avLst>
          </a:prstGeom>
          <a:solidFill>
            <a:srgbClr val="1F56C3"/>
          </a:solidFill>
          <a:ln w="12700">
            <a:solidFill>
              <a:srgbClr val="1F56C3"/>
            </a:solidFill>
            <a:prstDash val="solid"/>
          </a:ln>
        </p:spPr>
      </p:sp>
      <p:sp>
        <p:nvSpPr>
          <p:cNvPr id="104" name="Text 102"/>
          <p:cNvSpPr txBox="1"/>
          <p:nvPr/>
        </p:nvSpPr>
        <p:spPr>
          <a:xfrm>
            <a:off x="5815584" y="7269480"/>
            <a:ext cx="13533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Daily TB Sign Off</a:t>
            </a:r>
            <a:endParaRPr lang="en-US" sz="950" dirty="0"/>
          </a:p>
        </p:txBody>
      </p:sp>
      <p:sp>
        <p:nvSpPr>
          <p:cNvPr id="105" name="Shape 103"/>
          <p:cNvSpPr/>
          <p:nvPr/>
        </p:nvSpPr>
        <p:spPr>
          <a:xfrm>
            <a:off x="6565392" y="7159752"/>
            <a:ext cx="694944" cy="237744"/>
          </a:xfrm>
          <a:prstGeom prst="roundRect">
            <a:avLst>
              <a:gd name="adj" fmla="val 50000"/>
            </a:avLst>
          </a:prstGeom>
          <a:solidFill>
            <a:srgbClr val="F2A900"/>
          </a:solidFill>
          <a:ln w="12700">
            <a:solidFill>
              <a:srgbClr val="F2A900"/>
            </a:solidFill>
            <a:prstDash val="solid"/>
          </a:ln>
        </p:spPr>
      </p:sp>
      <p:sp>
        <p:nvSpPr>
          <p:cNvPr id="106" name="Text 104"/>
          <p:cNvSpPr txBox="1"/>
          <p:nvPr/>
        </p:nvSpPr>
        <p:spPr>
          <a:xfrm>
            <a:off x="6565392" y="7159752"/>
            <a:ext cx="694944" cy="237744"/>
          </a:xfrm>
          <a:prstGeom prst="rect">
            <a:avLst/>
          </a:prstGeom>
          <a:noFill/>
          <a:ln/>
        </p:spPr>
        <p:txBody>
          <a:bodyPr wrap="square" lIns="0" tIns="0" rIns="0" bIns="0" rtlCol="0" anchor="ctr"/>
          <a:lstStyle/>
          <a:p>
            <a:pPr algn="ctr" indent="0" marL="0">
              <a:buNone/>
            </a:pPr>
            <a:r>
              <a:rPr lang="en-US" sz="900" b="1" dirty="0">
                <a:solidFill>
                  <a:srgbClr val="0B2E5E"/>
                </a:solidFill>
                <a:latin typeface="Calibri" pitchFamily="34" charset="0"/>
                <a:ea typeface="Calibri" pitchFamily="34" charset="-122"/>
                <a:cs typeface="Calibri" pitchFamily="34" charset="-120"/>
              </a:rPr>
              <a:t>Explore</a:t>
            </a:r>
            <a:endParaRPr lang="en-US" sz="900" dirty="0"/>
          </a:p>
        </p:txBody>
      </p:sp>
      <p:sp>
        <p:nvSpPr>
          <p:cNvPr id="107" name="Shape 105"/>
          <p:cNvSpPr/>
          <p:nvPr/>
        </p:nvSpPr>
        <p:spPr>
          <a:xfrm>
            <a:off x="7315200" y="7269480"/>
            <a:ext cx="1463040" cy="548640"/>
          </a:xfrm>
          <a:prstGeom prst="roundRect">
            <a:avLst>
              <a:gd name="adj" fmla="val 8333"/>
            </a:avLst>
          </a:prstGeom>
          <a:solidFill>
            <a:srgbClr val="1F56C3"/>
          </a:solidFill>
          <a:ln w="12700">
            <a:solidFill>
              <a:srgbClr val="1F56C3"/>
            </a:solidFill>
            <a:prstDash val="solid"/>
          </a:ln>
        </p:spPr>
      </p:sp>
      <p:sp>
        <p:nvSpPr>
          <p:cNvPr id="108" name="Text 106"/>
          <p:cNvSpPr txBox="1"/>
          <p:nvPr/>
        </p:nvSpPr>
        <p:spPr>
          <a:xfrm>
            <a:off x="7370064" y="7269480"/>
            <a:ext cx="13533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Legal Entity &amp; Group Sign Off</a:t>
            </a:r>
            <a:endParaRPr lang="en-US" sz="950" dirty="0"/>
          </a:p>
        </p:txBody>
      </p:sp>
      <p:sp>
        <p:nvSpPr>
          <p:cNvPr id="109" name="Shape 107"/>
          <p:cNvSpPr/>
          <p:nvPr/>
        </p:nvSpPr>
        <p:spPr>
          <a:xfrm>
            <a:off x="8119872" y="7159752"/>
            <a:ext cx="694944" cy="237744"/>
          </a:xfrm>
          <a:prstGeom prst="roundRect">
            <a:avLst>
              <a:gd name="adj" fmla="val 50000"/>
            </a:avLst>
          </a:prstGeom>
          <a:solidFill>
            <a:srgbClr val="F2A900"/>
          </a:solidFill>
          <a:ln w="12700">
            <a:solidFill>
              <a:srgbClr val="F2A900"/>
            </a:solidFill>
            <a:prstDash val="solid"/>
          </a:ln>
        </p:spPr>
      </p:sp>
      <p:sp>
        <p:nvSpPr>
          <p:cNvPr id="110" name="Text 108"/>
          <p:cNvSpPr txBox="1"/>
          <p:nvPr/>
        </p:nvSpPr>
        <p:spPr>
          <a:xfrm>
            <a:off x="8119872" y="7159752"/>
            <a:ext cx="694944" cy="237744"/>
          </a:xfrm>
          <a:prstGeom prst="rect">
            <a:avLst/>
          </a:prstGeom>
          <a:noFill/>
          <a:ln/>
        </p:spPr>
        <p:txBody>
          <a:bodyPr wrap="square" lIns="0" tIns="0" rIns="0" bIns="0" rtlCol="0" anchor="ctr"/>
          <a:lstStyle/>
          <a:p>
            <a:pPr algn="ctr" indent="0" marL="0">
              <a:buNone/>
            </a:pPr>
            <a:r>
              <a:rPr lang="en-US" sz="900" b="1" dirty="0">
                <a:solidFill>
                  <a:srgbClr val="0B2E5E"/>
                </a:solidFill>
                <a:latin typeface="Calibri" pitchFamily="34" charset="0"/>
                <a:ea typeface="Calibri" pitchFamily="34" charset="-122"/>
                <a:cs typeface="Calibri" pitchFamily="34" charset="-120"/>
              </a:rPr>
              <a:t>Explore</a:t>
            </a:r>
            <a:endParaRPr lang="en-US" sz="900" dirty="0"/>
          </a:p>
        </p:txBody>
      </p:sp>
      <p:sp>
        <p:nvSpPr>
          <p:cNvPr id="111" name="Shape 109"/>
          <p:cNvSpPr/>
          <p:nvPr/>
        </p:nvSpPr>
        <p:spPr>
          <a:xfrm>
            <a:off x="9098280" y="6949440"/>
            <a:ext cx="5029200" cy="1005840"/>
          </a:xfrm>
          <a:prstGeom prst="roundRect">
            <a:avLst>
              <a:gd name="adj" fmla="val 4545"/>
            </a:avLst>
          </a:prstGeom>
          <a:solidFill>
            <a:srgbClr val="EEF4FB"/>
          </a:solidFill>
          <a:ln w="12700">
            <a:solidFill>
              <a:srgbClr val="2A6EBB"/>
            </a:solidFill>
            <a:prstDash val="dash"/>
          </a:ln>
        </p:spPr>
      </p:sp>
      <p:sp>
        <p:nvSpPr>
          <p:cNvPr id="112" name="Text 110"/>
          <p:cNvSpPr txBox="1"/>
          <p:nvPr/>
        </p:nvSpPr>
        <p:spPr>
          <a:xfrm>
            <a:off x="9208008" y="7013448"/>
            <a:ext cx="480974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INTERNAL REPORTING</a:t>
            </a:r>
            <a:endParaRPr lang="en-US" sz="900" dirty="0"/>
          </a:p>
        </p:txBody>
      </p:sp>
      <p:sp>
        <p:nvSpPr>
          <p:cNvPr id="113" name="Shape 111"/>
          <p:cNvSpPr/>
          <p:nvPr/>
        </p:nvSpPr>
        <p:spPr>
          <a:xfrm>
            <a:off x="9235440" y="7269480"/>
            <a:ext cx="2331720" cy="548640"/>
          </a:xfrm>
          <a:prstGeom prst="roundRect">
            <a:avLst>
              <a:gd name="adj" fmla="val 8333"/>
            </a:avLst>
          </a:prstGeom>
          <a:solidFill>
            <a:srgbClr val="1F56C3"/>
          </a:solidFill>
          <a:ln w="12700">
            <a:solidFill>
              <a:srgbClr val="1F56C3"/>
            </a:solidFill>
            <a:prstDash val="solid"/>
          </a:ln>
        </p:spPr>
      </p:sp>
      <p:sp>
        <p:nvSpPr>
          <p:cNvPr id="114" name="Text 112"/>
          <p:cNvSpPr txBox="1"/>
          <p:nvPr/>
        </p:nvSpPr>
        <p:spPr>
          <a:xfrm>
            <a:off x="9290304" y="7269480"/>
            <a:ext cx="222199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Report Generation &amp; Validation</a:t>
            </a:r>
            <a:endParaRPr lang="en-US" sz="950" dirty="0"/>
          </a:p>
        </p:txBody>
      </p:sp>
      <p:sp>
        <p:nvSpPr>
          <p:cNvPr id="115" name="Shape 113"/>
          <p:cNvSpPr/>
          <p:nvPr/>
        </p:nvSpPr>
        <p:spPr>
          <a:xfrm>
            <a:off x="10908792" y="7159752"/>
            <a:ext cx="694944" cy="237744"/>
          </a:xfrm>
          <a:prstGeom prst="roundRect">
            <a:avLst>
              <a:gd name="adj" fmla="val 50000"/>
            </a:avLst>
          </a:prstGeom>
          <a:solidFill>
            <a:srgbClr val="F2A900"/>
          </a:solidFill>
          <a:ln w="12700">
            <a:solidFill>
              <a:srgbClr val="F2A900"/>
            </a:solidFill>
            <a:prstDash val="solid"/>
          </a:ln>
        </p:spPr>
      </p:sp>
      <p:sp>
        <p:nvSpPr>
          <p:cNvPr id="116" name="Text 114"/>
          <p:cNvSpPr txBox="1"/>
          <p:nvPr/>
        </p:nvSpPr>
        <p:spPr>
          <a:xfrm>
            <a:off x="10908792" y="7159752"/>
            <a:ext cx="694944" cy="237744"/>
          </a:xfrm>
          <a:prstGeom prst="rect">
            <a:avLst/>
          </a:prstGeom>
          <a:noFill/>
          <a:ln/>
        </p:spPr>
        <p:txBody>
          <a:bodyPr wrap="square" lIns="0" tIns="0" rIns="0" bIns="0" rtlCol="0" anchor="ctr"/>
          <a:lstStyle/>
          <a:p>
            <a:pPr algn="ctr" indent="0" marL="0">
              <a:buNone/>
            </a:pPr>
            <a:r>
              <a:rPr lang="en-US" sz="900" b="1" dirty="0">
                <a:solidFill>
                  <a:srgbClr val="0B2E5E"/>
                </a:solidFill>
                <a:latin typeface="Calibri" pitchFamily="34" charset="0"/>
                <a:ea typeface="Calibri" pitchFamily="34" charset="-122"/>
                <a:cs typeface="Calibri" pitchFamily="34" charset="-120"/>
              </a:rPr>
              <a:t>Explore</a:t>
            </a:r>
            <a:endParaRPr lang="en-US" sz="900" dirty="0"/>
          </a:p>
        </p:txBody>
      </p:sp>
      <p:sp>
        <p:nvSpPr>
          <p:cNvPr id="117" name="Shape 115"/>
          <p:cNvSpPr/>
          <p:nvPr/>
        </p:nvSpPr>
        <p:spPr>
          <a:xfrm>
            <a:off x="11704320" y="7269480"/>
            <a:ext cx="2286000" cy="548640"/>
          </a:xfrm>
          <a:prstGeom prst="roundRect">
            <a:avLst>
              <a:gd name="adj" fmla="val 8333"/>
            </a:avLst>
          </a:prstGeom>
          <a:solidFill>
            <a:srgbClr val="1E4D5C"/>
          </a:solidFill>
          <a:ln w="12700">
            <a:solidFill>
              <a:srgbClr val="1E4D5C"/>
            </a:solidFill>
            <a:prstDash val="solid"/>
          </a:ln>
        </p:spPr>
      </p:sp>
      <p:sp>
        <p:nvSpPr>
          <p:cNvPr id="118" name="Text 116"/>
          <p:cNvSpPr txBox="1"/>
          <p:nvPr/>
        </p:nvSpPr>
        <p:spPr>
          <a:xfrm>
            <a:off x="11759184" y="7269480"/>
            <a:ext cx="217627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Report Publication</a:t>
            </a:r>
            <a:endParaRPr lang="en-US" sz="950" dirty="0"/>
          </a:p>
        </p:txBody>
      </p:sp>
      <p:sp>
        <p:nvSpPr>
          <p:cNvPr id="119" name="Shape 117"/>
          <p:cNvSpPr/>
          <p:nvPr/>
        </p:nvSpPr>
        <p:spPr>
          <a:xfrm>
            <a:off x="502920" y="8183880"/>
            <a:ext cx="411480" cy="219456"/>
          </a:xfrm>
          <a:prstGeom prst="roundRect">
            <a:avLst>
              <a:gd name="adj" fmla="val 16667"/>
            </a:avLst>
          </a:prstGeom>
          <a:solidFill>
            <a:srgbClr val="1F56C3"/>
          </a:solidFill>
          <a:ln w="12700">
            <a:solidFill>
              <a:srgbClr val="1F56C3"/>
            </a:solidFill>
            <a:prstDash val="solid"/>
          </a:ln>
        </p:spPr>
      </p:sp>
      <p:sp>
        <p:nvSpPr>
          <p:cNvPr id="120" name="Text 118"/>
          <p:cNvSpPr txBox="1"/>
          <p:nvPr/>
        </p:nvSpPr>
        <p:spPr>
          <a:xfrm>
            <a:off x="1005840" y="8165592"/>
            <a:ext cx="2194560" cy="256032"/>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Manual process</a:t>
            </a:r>
            <a:endParaRPr lang="en-US" sz="950" dirty="0"/>
          </a:p>
        </p:txBody>
      </p:sp>
      <p:sp>
        <p:nvSpPr>
          <p:cNvPr id="121" name="Shape 119"/>
          <p:cNvSpPr/>
          <p:nvPr/>
        </p:nvSpPr>
        <p:spPr>
          <a:xfrm>
            <a:off x="502920" y="8503920"/>
            <a:ext cx="411480" cy="219456"/>
          </a:xfrm>
          <a:prstGeom prst="roundRect">
            <a:avLst>
              <a:gd name="adj" fmla="val 16667"/>
            </a:avLst>
          </a:prstGeom>
          <a:solidFill>
            <a:srgbClr val="1E4D5C"/>
          </a:solidFill>
          <a:ln w="12700">
            <a:solidFill>
              <a:srgbClr val="1E4D5C"/>
            </a:solidFill>
            <a:prstDash val="solid"/>
          </a:ln>
        </p:spPr>
      </p:sp>
      <p:sp>
        <p:nvSpPr>
          <p:cNvPr id="122" name="Text 120"/>
          <p:cNvSpPr txBox="1"/>
          <p:nvPr/>
        </p:nvSpPr>
        <p:spPr>
          <a:xfrm>
            <a:off x="1005840" y="8485632"/>
            <a:ext cx="2194560" cy="256032"/>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System process / service</a:t>
            </a:r>
            <a:endParaRPr lang="en-US" sz="950" dirty="0"/>
          </a:p>
        </p:txBody>
      </p:sp>
      <p:sp>
        <p:nvSpPr>
          <p:cNvPr id="123" name="Shape 121"/>
          <p:cNvSpPr/>
          <p:nvPr/>
        </p:nvSpPr>
        <p:spPr>
          <a:xfrm>
            <a:off x="502920" y="8823960"/>
            <a:ext cx="411480" cy="219456"/>
          </a:xfrm>
          <a:prstGeom prst="roundRect">
            <a:avLst>
              <a:gd name="adj" fmla="val 16667"/>
            </a:avLst>
          </a:prstGeom>
          <a:solidFill>
            <a:srgbClr val="FFFFFF"/>
          </a:solidFill>
          <a:ln w="9525">
            <a:solidFill>
              <a:srgbClr val="C8D8EC"/>
            </a:solidFill>
            <a:prstDash val="solid"/>
          </a:ln>
        </p:spPr>
      </p:sp>
      <p:sp>
        <p:nvSpPr>
          <p:cNvPr id="124" name="Text 122"/>
          <p:cNvSpPr txBox="1"/>
          <p:nvPr/>
        </p:nvSpPr>
        <p:spPr>
          <a:xfrm>
            <a:off x="1005840" y="8805672"/>
            <a:ext cx="2194560" cy="256032"/>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Definition / upstream</a:t>
            </a:r>
            <a:endParaRPr lang="en-US" sz="950" dirty="0"/>
          </a:p>
        </p:txBody>
      </p:sp>
      <p:sp>
        <p:nvSpPr>
          <p:cNvPr id="125" name="Shape 123"/>
          <p:cNvSpPr/>
          <p:nvPr/>
        </p:nvSpPr>
        <p:spPr>
          <a:xfrm>
            <a:off x="3474720" y="8229600"/>
            <a:ext cx="603504" cy="237744"/>
          </a:xfrm>
          <a:prstGeom prst="roundRect">
            <a:avLst>
              <a:gd name="adj" fmla="val 50000"/>
            </a:avLst>
          </a:prstGeom>
          <a:solidFill>
            <a:srgbClr val="1E8A5A"/>
          </a:solidFill>
          <a:ln w="12700">
            <a:solidFill>
              <a:srgbClr val="1E8A5A"/>
            </a:solidFill>
            <a:prstDash val="solid"/>
          </a:ln>
        </p:spPr>
      </p:sp>
      <p:sp>
        <p:nvSpPr>
          <p:cNvPr id="126" name="Text 124"/>
          <p:cNvSpPr txBox="1"/>
          <p:nvPr/>
        </p:nvSpPr>
        <p:spPr>
          <a:xfrm>
            <a:off x="3474720" y="8229600"/>
            <a:ext cx="60350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Helix</a:t>
            </a:r>
            <a:endParaRPr lang="en-US" sz="900" dirty="0"/>
          </a:p>
        </p:txBody>
      </p:sp>
      <p:sp>
        <p:nvSpPr>
          <p:cNvPr id="127" name="Text 125"/>
          <p:cNvSpPr txBox="1"/>
          <p:nvPr/>
        </p:nvSpPr>
        <p:spPr>
          <a:xfrm>
            <a:off x="4160520" y="8211312"/>
            <a:ext cx="3200400" cy="274320"/>
          </a:xfrm>
          <a:prstGeom prst="rect">
            <a:avLst/>
          </a:prstGeom>
          <a:noFill/>
          <a:ln/>
        </p:spPr>
        <p:txBody>
          <a:bodyPr wrap="square" lIns="0" tIns="0" rIns="0" bIns="0" rtlCol="0" anchor="ctr"/>
          <a:lstStyle/>
          <a:p>
            <a:pPr indent="0" marL="0">
              <a:buNone/>
            </a:pPr>
            <a:r>
              <a:rPr lang="en-US" sz="1050" b="1" dirty="0">
                <a:solidFill>
                  <a:srgbClr val="1F2D3D"/>
                </a:solidFill>
                <a:latin typeface="Calibri" pitchFamily="34" charset="0"/>
                <a:ea typeface="Calibri" pitchFamily="34" charset="-122"/>
                <a:cs typeface="Calibri" pitchFamily="34" charset="-120"/>
              </a:rPr>
              <a:t>Live today on the agentic engine</a:t>
            </a:r>
            <a:endParaRPr lang="en-US" sz="1050" dirty="0"/>
          </a:p>
        </p:txBody>
      </p:sp>
      <p:sp>
        <p:nvSpPr>
          <p:cNvPr id="128" name="Shape 126"/>
          <p:cNvSpPr/>
          <p:nvPr/>
        </p:nvSpPr>
        <p:spPr>
          <a:xfrm>
            <a:off x="7498080" y="8229600"/>
            <a:ext cx="694944" cy="237744"/>
          </a:xfrm>
          <a:prstGeom prst="roundRect">
            <a:avLst>
              <a:gd name="adj" fmla="val 50000"/>
            </a:avLst>
          </a:prstGeom>
          <a:solidFill>
            <a:srgbClr val="F2A900"/>
          </a:solidFill>
          <a:ln w="12700">
            <a:solidFill>
              <a:srgbClr val="F2A900"/>
            </a:solidFill>
            <a:prstDash val="solid"/>
          </a:ln>
        </p:spPr>
      </p:sp>
      <p:sp>
        <p:nvSpPr>
          <p:cNvPr id="129" name="Text 127"/>
          <p:cNvSpPr txBox="1"/>
          <p:nvPr/>
        </p:nvSpPr>
        <p:spPr>
          <a:xfrm>
            <a:off x="7498080" y="8229600"/>
            <a:ext cx="694944" cy="237744"/>
          </a:xfrm>
          <a:prstGeom prst="rect">
            <a:avLst/>
          </a:prstGeom>
          <a:noFill/>
          <a:ln/>
        </p:spPr>
        <p:txBody>
          <a:bodyPr wrap="square" lIns="0" tIns="0" rIns="0" bIns="0" rtlCol="0" anchor="ctr"/>
          <a:lstStyle/>
          <a:p>
            <a:pPr algn="ctr" indent="0" marL="0">
              <a:buNone/>
            </a:pPr>
            <a:r>
              <a:rPr lang="en-US" sz="900" b="1" dirty="0">
                <a:solidFill>
                  <a:srgbClr val="0B2E5E"/>
                </a:solidFill>
                <a:latin typeface="Calibri" pitchFamily="34" charset="0"/>
                <a:ea typeface="Calibri" pitchFamily="34" charset="-122"/>
                <a:cs typeface="Calibri" pitchFamily="34" charset="-120"/>
              </a:rPr>
              <a:t>Explore</a:t>
            </a:r>
            <a:endParaRPr lang="en-US" sz="900" dirty="0"/>
          </a:p>
        </p:txBody>
      </p:sp>
      <p:sp>
        <p:nvSpPr>
          <p:cNvPr id="130" name="Text 128"/>
          <p:cNvSpPr txBox="1"/>
          <p:nvPr/>
        </p:nvSpPr>
        <p:spPr>
          <a:xfrm>
            <a:off x="8275320" y="8211312"/>
            <a:ext cx="5852160" cy="274320"/>
          </a:xfrm>
          <a:prstGeom prst="rect">
            <a:avLst/>
          </a:prstGeom>
          <a:noFill/>
          <a:ln/>
        </p:spPr>
        <p:txBody>
          <a:bodyPr wrap="square" lIns="0" tIns="0" rIns="0" bIns="0" rtlCol="0" anchor="ctr"/>
          <a:lstStyle/>
          <a:p>
            <a:pPr indent="0" marL="0">
              <a:buNone/>
            </a:pPr>
            <a:r>
              <a:rPr lang="en-US" sz="1050" b="1" dirty="0">
                <a:solidFill>
                  <a:srgbClr val="1F2D3D"/>
                </a:solidFill>
                <a:latin typeface="Calibri" pitchFamily="34" charset="0"/>
                <a:ea typeface="Calibri" pitchFamily="34" charset="-122"/>
                <a:cs typeface="Calibri" pitchFamily="34" charset="-120"/>
              </a:rPr>
              <a:t>Where the same engine could plug in, for exploration</a:t>
            </a:r>
            <a:endParaRPr lang="en-US" sz="1050" dirty="0"/>
          </a:p>
        </p:txBody>
      </p:sp>
      <p:sp>
        <p:nvSpPr>
          <p:cNvPr id="131" name="Text 129"/>
          <p:cNvSpPr txBox="1"/>
          <p:nvPr/>
        </p:nvSpPr>
        <p:spPr>
          <a:xfrm>
            <a:off x="3474720" y="8622792"/>
            <a:ext cx="10652760" cy="274320"/>
          </a:xfrm>
          <a:prstGeom prst="rect">
            <a:avLst/>
          </a:prstGeom>
          <a:noFill/>
          <a:ln/>
        </p:spPr>
        <p:txBody>
          <a:bodyPr wrap="square" lIns="0" tIns="0" rIns="0" bIns="0" rtlCol="0" anchor="ctr"/>
          <a:lstStyle/>
          <a:p>
            <a:pPr indent="0" marL="0">
              <a:buNone/>
            </a:pPr>
            <a:r>
              <a:rPr lang="en-US" sz="1000" i="1" dirty="0">
                <a:solidFill>
                  <a:srgbClr val="4A5A6E"/>
                </a:solidFill>
                <a:latin typeface="Calibri" pitchFamily="34" charset="0"/>
                <a:ea typeface="Calibri" pitchFamily="34" charset="-122"/>
                <a:cs typeface="Calibri" pitchFamily="34" charset="-120"/>
              </a:rPr>
              <a:t>Each would reuse the engine and add only its own events, skills, tools and data. Systems of record stay unchanged.</a:t>
            </a:r>
            <a:endParaRPr lang="en-US" sz="1000" dirty="0"/>
          </a:p>
        </p:txBody>
      </p:sp>
      <p:sp>
        <p:nvSpPr>
          <p:cNvPr id="132" name="Shape 130"/>
          <p:cNvSpPr/>
          <p:nvPr/>
        </p:nvSpPr>
        <p:spPr>
          <a:xfrm>
            <a:off x="0" y="9272016"/>
            <a:ext cx="14630400" cy="484632"/>
          </a:xfrm>
          <a:prstGeom prst="rect">
            <a:avLst/>
          </a:prstGeom>
          <a:solidFill>
            <a:srgbClr val="0B2E5E"/>
          </a:solidFill>
          <a:ln w="12700">
            <a:solidFill>
              <a:srgbClr val="0B2E5E"/>
            </a:solidFill>
            <a:prstDash val="solid"/>
          </a:ln>
        </p:spPr>
      </p:sp>
      <p:sp>
        <p:nvSpPr>
          <p:cNvPr id="133" name="Text 131"/>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One Finance Agentic Engine</a:t>
            </a:r>
            <a:pPr algn="ctr" indent="0" marL="0">
              <a:buNone/>
            </a:pPr>
            <a:r>
              <a:rPr lang="en-US" sz="1100" dirty="0">
                <a:solidFill>
                  <a:srgbClr val="FFFFFF"/>
                </a:solidFill>
                <a:latin typeface="Calibri" pitchFamily="34" charset="0"/>
                <a:ea typeface="Calibri" pitchFamily="34" charset="-122"/>
                <a:cs typeface="Calibri" pitchFamily="34" charset="-120"/>
              </a:rPr>
              <a:t>   |   Opportunities to explore, with your direction.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Where Should We Apply the Engine Next?</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Discussion and direction</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Your Direction</a:t>
            </a:r>
            <a:endParaRPr lang="en-US" sz="2200" dirty="0"/>
          </a:p>
        </p:txBody>
      </p:sp>
      <p:sp>
        <p:nvSpPr>
          <p:cNvPr id="7" name="Shape 5"/>
          <p:cNvSpPr/>
          <p:nvPr/>
        </p:nvSpPr>
        <p:spPr>
          <a:xfrm>
            <a:off x="502920" y="1325880"/>
            <a:ext cx="13624560" cy="2377440"/>
          </a:xfrm>
          <a:prstGeom prst="roundRect">
            <a:avLst>
              <a:gd name="adj" fmla="val 3077"/>
            </a:avLst>
          </a:prstGeom>
          <a:solidFill>
            <a:srgbClr val="FFFFFF"/>
          </a:solidFill>
          <a:ln w="9525">
            <a:solidFill>
              <a:srgbClr val="C8D8EC"/>
            </a:solidFill>
            <a:prstDash val="solid"/>
          </a:ln>
        </p:spPr>
      </p:sp>
      <p:sp>
        <p:nvSpPr>
          <p:cNvPr id="8" name="Text 6"/>
          <p:cNvSpPr txBox="1"/>
          <p:nvPr/>
        </p:nvSpPr>
        <p:spPr>
          <a:xfrm>
            <a:off x="822960" y="1463040"/>
            <a:ext cx="12984480" cy="502920"/>
          </a:xfrm>
          <a:prstGeom prst="rect">
            <a:avLst/>
          </a:prstGeom>
          <a:noFill/>
          <a:ln/>
        </p:spPr>
        <p:txBody>
          <a:bodyPr wrap="square" lIns="0" tIns="0" rIns="0" bIns="0" rtlCol="0" anchor="ctr"/>
          <a:lstStyle/>
          <a:p>
            <a:pPr algn="ctr" indent="0" marL="0">
              <a:buNone/>
            </a:pPr>
            <a:r>
              <a:rPr lang="en-US" sz="2200" b="1" dirty="0">
                <a:solidFill>
                  <a:srgbClr val="1E8A5A"/>
                </a:solidFill>
                <a:latin typeface="Calibri" pitchFamily="34" charset="0"/>
                <a:ea typeface="Calibri" pitchFamily="34" charset="-122"/>
                <a:cs typeface="Calibri" pitchFamily="34" charset="-120"/>
              </a:rPr>
              <a:t>The Agentic Engine has been proven.</a:t>
            </a:r>
            <a:endParaRPr lang="en-US" sz="2200" dirty="0"/>
          </a:p>
        </p:txBody>
      </p:sp>
      <p:sp>
        <p:nvSpPr>
          <p:cNvPr id="9" name="Text 7"/>
          <p:cNvSpPr txBox="1"/>
          <p:nvPr/>
        </p:nvSpPr>
        <p:spPr>
          <a:xfrm>
            <a:off x="822960" y="2011680"/>
            <a:ext cx="12984480" cy="502920"/>
          </a:xfrm>
          <a:prstGeom prst="rect">
            <a:avLst/>
          </a:prstGeom>
          <a:noFill/>
          <a:ln/>
        </p:spPr>
        <p:txBody>
          <a:bodyPr wrap="square" lIns="0" tIns="0" rIns="0" bIns="0" rtlCol="0" anchor="ctr"/>
          <a:lstStyle/>
          <a:p>
            <a:pPr algn="ctr" indent="0" marL="0">
              <a:buNone/>
            </a:pPr>
            <a:r>
              <a:rPr lang="en-US" sz="2000" dirty="0">
                <a:solidFill>
                  <a:srgbClr val="6B7C93"/>
                </a:solidFill>
                <a:latin typeface="Calibri" pitchFamily="34" charset="0"/>
                <a:ea typeface="Calibri" pitchFamily="34" charset="-122"/>
                <a:cs typeface="Calibri" pitchFamily="34" charset="-120"/>
              </a:rPr>
              <a:t>The question is no longer </a:t>
            </a:r>
            <a:pPr algn="ctr" indent="0" marL="0">
              <a:buNone/>
            </a:pPr>
            <a:r>
              <a:rPr lang="en-US" sz="2000" strike="sngStrike" dirty="0">
                <a:solidFill>
                  <a:srgbClr val="6B7C93"/>
                </a:solidFill>
                <a:latin typeface="Calibri" pitchFamily="34" charset="0"/>
                <a:ea typeface="Calibri" pitchFamily="34" charset="-122"/>
                <a:cs typeface="Calibri" pitchFamily="34" charset="-120"/>
              </a:rPr>
              <a:t>"Can agentic AI work?"</a:t>
            </a:r>
            <a:endParaRPr lang="en-US" sz="2000" dirty="0"/>
          </a:p>
        </p:txBody>
      </p:sp>
      <p:sp>
        <p:nvSpPr>
          <p:cNvPr id="10" name="Text 8"/>
          <p:cNvSpPr txBox="1"/>
          <p:nvPr/>
        </p:nvSpPr>
        <p:spPr>
          <a:xfrm>
            <a:off x="822960" y="2606040"/>
            <a:ext cx="12984480" cy="822960"/>
          </a:xfrm>
          <a:prstGeom prst="rect">
            <a:avLst/>
          </a:prstGeom>
          <a:noFill/>
          <a:ln/>
        </p:spPr>
        <p:txBody>
          <a:bodyPr wrap="square" lIns="0" tIns="0" rIns="0" bIns="0" rtlCol="0" anchor="ctr"/>
          <a:lstStyle/>
          <a:p>
            <a:pPr algn="ctr" indent="0" marL="0">
              <a:buNone/>
            </a:pPr>
            <a:r>
              <a:rPr lang="en-US" sz="2600" b="1" dirty="0">
                <a:solidFill>
                  <a:srgbClr val="0B2E5E"/>
                </a:solidFill>
                <a:latin typeface="Calibri" pitchFamily="34" charset="0"/>
                <a:ea typeface="Calibri" pitchFamily="34" charset="-122"/>
                <a:cs typeface="Calibri" pitchFamily="34" charset="-120"/>
              </a:rPr>
              <a:t>It is: "Which Financial Control use cases should we prioritise next?"</a:t>
            </a:r>
            <a:endParaRPr lang="en-US" sz="2600" dirty="0"/>
          </a:p>
        </p:txBody>
      </p:sp>
      <p:sp>
        <p:nvSpPr>
          <p:cNvPr id="11" name="Text 9"/>
          <p:cNvSpPr txBox="1"/>
          <p:nvPr/>
        </p:nvSpPr>
        <p:spPr>
          <a:xfrm>
            <a:off x="502920" y="3977640"/>
            <a:ext cx="4572000" cy="32004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For Adam and Vivek</a:t>
            </a:r>
            <a:endParaRPr lang="en-US" sz="1300" dirty="0"/>
          </a:p>
        </p:txBody>
      </p:sp>
      <p:sp>
        <p:nvSpPr>
          <p:cNvPr id="12" name="Shape 10"/>
          <p:cNvSpPr/>
          <p:nvPr/>
        </p:nvSpPr>
        <p:spPr>
          <a:xfrm>
            <a:off x="502920" y="4389120"/>
            <a:ext cx="4443984" cy="2194560"/>
          </a:xfrm>
          <a:prstGeom prst="roundRect">
            <a:avLst>
              <a:gd name="adj" fmla="val 3333"/>
            </a:avLst>
          </a:prstGeom>
          <a:solidFill>
            <a:srgbClr val="FFFFFF"/>
          </a:solidFill>
          <a:ln w="9525">
            <a:solidFill>
              <a:srgbClr val="C8D8EC"/>
            </a:solidFill>
            <a:prstDash val="solid"/>
          </a:ln>
        </p:spPr>
      </p:sp>
      <p:sp>
        <p:nvSpPr>
          <p:cNvPr id="13" name="Shape 11"/>
          <p:cNvSpPr/>
          <p:nvPr/>
        </p:nvSpPr>
        <p:spPr>
          <a:xfrm>
            <a:off x="731520" y="4617720"/>
            <a:ext cx="731520" cy="731520"/>
          </a:xfrm>
          <a:prstGeom prst="ellipse">
            <a:avLst/>
          </a:prstGeom>
          <a:solidFill>
            <a:srgbClr val="0B2E5E"/>
          </a:solidFill>
          <a:ln w="12700">
            <a:solidFill>
              <a:srgbClr val="0B2E5E"/>
            </a:solidFill>
            <a:prstDash val="solid"/>
          </a:ln>
        </p:spPr>
      </p:sp>
      <p:sp>
        <p:nvSpPr>
          <p:cNvPr id="14" name="Text 12"/>
          <p:cNvSpPr txBox="1"/>
          <p:nvPr/>
        </p:nvSpPr>
        <p:spPr>
          <a:xfrm>
            <a:off x="731520" y="461772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5" name="Text 13"/>
          <p:cNvSpPr txBox="1"/>
          <p:nvPr/>
        </p:nvSpPr>
        <p:spPr>
          <a:xfrm>
            <a:off x="731520" y="5440680"/>
            <a:ext cx="4023360" cy="1005840"/>
          </a:xfrm>
          <a:prstGeom prst="rect">
            <a:avLst/>
          </a:prstGeom>
          <a:noFill/>
          <a:ln/>
        </p:spPr>
        <p:txBody>
          <a:bodyPr wrap="square" lIns="0" tIns="0" rIns="0" bIns="0" rtlCol="0" anchor="t"/>
          <a:lstStyle/>
          <a:p>
            <a:pPr indent="0" marL="0">
              <a:buNone/>
            </a:pPr>
            <a:r>
              <a:rPr lang="en-US" sz="1600" b="1" dirty="0">
                <a:solidFill>
                  <a:srgbClr val="0B2E5E"/>
                </a:solidFill>
                <a:latin typeface="Calibri" pitchFamily="34" charset="0"/>
                <a:ea typeface="Calibri" pitchFamily="34" charset="-122"/>
                <a:cs typeface="Calibri" pitchFamily="34" charset="-120"/>
              </a:rPr>
              <a:t>Are these the right target areas?</a:t>
            </a:r>
            <a:endParaRPr lang="en-US" sz="1600" dirty="0"/>
          </a:p>
        </p:txBody>
      </p:sp>
      <p:sp>
        <p:nvSpPr>
          <p:cNvPr id="16" name="Shape 14"/>
          <p:cNvSpPr/>
          <p:nvPr/>
        </p:nvSpPr>
        <p:spPr>
          <a:xfrm>
            <a:off x="5093208" y="4389120"/>
            <a:ext cx="4443984" cy="2194560"/>
          </a:xfrm>
          <a:prstGeom prst="roundRect">
            <a:avLst>
              <a:gd name="adj" fmla="val 3333"/>
            </a:avLst>
          </a:prstGeom>
          <a:solidFill>
            <a:srgbClr val="FFFFFF"/>
          </a:solidFill>
          <a:ln w="9525">
            <a:solidFill>
              <a:srgbClr val="C8D8EC"/>
            </a:solidFill>
            <a:prstDash val="solid"/>
          </a:ln>
        </p:spPr>
      </p:sp>
      <p:sp>
        <p:nvSpPr>
          <p:cNvPr id="17" name="Shape 15"/>
          <p:cNvSpPr/>
          <p:nvPr/>
        </p:nvSpPr>
        <p:spPr>
          <a:xfrm>
            <a:off x="5321808" y="4617720"/>
            <a:ext cx="731520" cy="731520"/>
          </a:xfrm>
          <a:prstGeom prst="ellipse">
            <a:avLst/>
          </a:prstGeom>
          <a:solidFill>
            <a:srgbClr val="0B2E5E"/>
          </a:solidFill>
          <a:ln w="12700">
            <a:solidFill>
              <a:srgbClr val="0B2E5E"/>
            </a:solidFill>
            <a:prstDash val="solid"/>
          </a:ln>
        </p:spPr>
      </p:sp>
      <p:sp>
        <p:nvSpPr>
          <p:cNvPr id="18" name="Text 16"/>
          <p:cNvSpPr txBox="1"/>
          <p:nvPr/>
        </p:nvSpPr>
        <p:spPr>
          <a:xfrm>
            <a:off x="5321808" y="461772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9" name="Text 17"/>
          <p:cNvSpPr txBox="1"/>
          <p:nvPr/>
        </p:nvSpPr>
        <p:spPr>
          <a:xfrm>
            <a:off x="5321808" y="5440680"/>
            <a:ext cx="4023360" cy="1005840"/>
          </a:xfrm>
          <a:prstGeom prst="rect">
            <a:avLst/>
          </a:prstGeom>
          <a:noFill/>
          <a:ln/>
        </p:spPr>
        <p:txBody>
          <a:bodyPr wrap="square" lIns="0" tIns="0" rIns="0" bIns="0" rtlCol="0" anchor="t"/>
          <a:lstStyle/>
          <a:p>
            <a:pPr indent="0" marL="0">
              <a:buNone/>
            </a:pPr>
            <a:r>
              <a:rPr lang="en-US" sz="1600" b="1" dirty="0">
                <a:solidFill>
                  <a:srgbClr val="0B2E5E"/>
                </a:solidFill>
                <a:latin typeface="Calibri" pitchFamily="34" charset="0"/>
                <a:ea typeface="Calibri" pitchFamily="34" charset="-122"/>
                <a:cs typeface="Calibri" pitchFamily="34" charset="-120"/>
              </a:rPr>
              <a:t>Which capabilities would create the greatest business value?</a:t>
            </a:r>
            <a:endParaRPr lang="en-US" sz="1600" dirty="0"/>
          </a:p>
        </p:txBody>
      </p:sp>
      <p:sp>
        <p:nvSpPr>
          <p:cNvPr id="20" name="Shape 18"/>
          <p:cNvSpPr/>
          <p:nvPr/>
        </p:nvSpPr>
        <p:spPr>
          <a:xfrm>
            <a:off x="9683496" y="4389120"/>
            <a:ext cx="4443984" cy="2194560"/>
          </a:xfrm>
          <a:prstGeom prst="roundRect">
            <a:avLst>
              <a:gd name="adj" fmla="val 3333"/>
            </a:avLst>
          </a:prstGeom>
          <a:solidFill>
            <a:srgbClr val="FFFFFF"/>
          </a:solidFill>
          <a:ln w="9525">
            <a:solidFill>
              <a:srgbClr val="C8D8EC"/>
            </a:solidFill>
            <a:prstDash val="solid"/>
          </a:ln>
        </p:spPr>
      </p:sp>
      <p:sp>
        <p:nvSpPr>
          <p:cNvPr id="21" name="Shape 19"/>
          <p:cNvSpPr/>
          <p:nvPr/>
        </p:nvSpPr>
        <p:spPr>
          <a:xfrm>
            <a:off x="9912096" y="4617720"/>
            <a:ext cx="731520" cy="731520"/>
          </a:xfrm>
          <a:prstGeom prst="ellipse">
            <a:avLst/>
          </a:prstGeom>
          <a:solidFill>
            <a:srgbClr val="0B2E5E"/>
          </a:solidFill>
          <a:ln w="12700">
            <a:solidFill>
              <a:srgbClr val="0B2E5E"/>
            </a:solidFill>
            <a:prstDash val="solid"/>
          </a:ln>
        </p:spPr>
      </p:sp>
      <p:sp>
        <p:nvSpPr>
          <p:cNvPr id="22" name="Text 20"/>
          <p:cNvSpPr txBox="1"/>
          <p:nvPr/>
        </p:nvSpPr>
        <p:spPr>
          <a:xfrm>
            <a:off x="9912096" y="461772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23" name="Text 21"/>
          <p:cNvSpPr txBox="1"/>
          <p:nvPr/>
        </p:nvSpPr>
        <p:spPr>
          <a:xfrm>
            <a:off x="9912096" y="5440680"/>
            <a:ext cx="4023360" cy="1005840"/>
          </a:xfrm>
          <a:prstGeom prst="rect">
            <a:avLst/>
          </a:prstGeom>
          <a:noFill/>
          <a:ln/>
        </p:spPr>
        <p:txBody>
          <a:bodyPr wrap="square" lIns="0" tIns="0" rIns="0" bIns="0" rtlCol="0" anchor="t"/>
          <a:lstStyle/>
          <a:p>
            <a:pPr indent="0" marL="0">
              <a:buNone/>
            </a:pPr>
            <a:r>
              <a:rPr lang="en-US" sz="1600" b="1" dirty="0">
                <a:solidFill>
                  <a:srgbClr val="0B2E5E"/>
                </a:solidFill>
                <a:latin typeface="Calibri" pitchFamily="34" charset="0"/>
                <a:ea typeface="Calibri" pitchFamily="34" charset="-122"/>
                <a:cs typeface="Calibri" pitchFamily="34" charset="-120"/>
              </a:rPr>
              <a:t>What additional use cases should be considered within Financial Control?</a:t>
            </a:r>
            <a:endParaRPr lang="en-US" sz="1600" dirty="0"/>
          </a:p>
        </p:txBody>
      </p:sp>
      <p:sp>
        <p:nvSpPr>
          <p:cNvPr id="24" name="Shape 22"/>
          <p:cNvSpPr/>
          <p:nvPr/>
        </p:nvSpPr>
        <p:spPr>
          <a:xfrm>
            <a:off x="502920" y="6858000"/>
            <a:ext cx="13624560" cy="1691640"/>
          </a:xfrm>
          <a:prstGeom prst="roundRect">
            <a:avLst>
              <a:gd name="adj" fmla="val 4324"/>
            </a:avLst>
          </a:prstGeom>
          <a:solidFill>
            <a:srgbClr val="0B2E5E"/>
          </a:solidFill>
          <a:ln w="12700">
            <a:solidFill>
              <a:srgbClr val="0B2E5E"/>
            </a:solidFill>
            <a:prstDash val="solid"/>
          </a:ln>
        </p:spPr>
      </p:sp>
      <p:sp>
        <p:nvSpPr>
          <p:cNvPr id="25" name="Text 23"/>
          <p:cNvSpPr txBox="1"/>
          <p:nvPr/>
        </p:nvSpPr>
        <p:spPr>
          <a:xfrm>
            <a:off x="822960" y="6995160"/>
            <a:ext cx="4572000" cy="274320"/>
          </a:xfrm>
          <a:prstGeom prst="rect">
            <a:avLst/>
          </a:prstGeom>
          <a:noFill/>
          <a:ln/>
        </p:spPr>
        <p:txBody>
          <a:bodyPr wrap="square" lIns="0" tIns="0" rIns="0" bIns="0" rtlCol="0" anchor="ctr"/>
          <a:lstStyle/>
          <a:p>
            <a:pPr indent="0" marL="0">
              <a:buNone/>
            </a:pPr>
            <a:r>
              <a:rPr lang="en-US" sz="1000" b="1" spc="200" kern="0" dirty="0">
                <a:solidFill>
                  <a:srgbClr val="F2A900"/>
                </a:solidFill>
                <a:latin typeface="Calibri" pitchFamily="34" charset="0"/>
                <a:ea typeface="Calibri" pitchFamily="34" charset="-122"/>
                <a:cs typeface="Calibri" pitchFamily="34" charset="-120"/>
              </a:rPr>
              <a:t>CLOSING</a:t>
            </a:r>
            <a:endParaRPr lang="en-US" sz="1000" dirty="0"/>
          </a:p>
        </p:txBody>
      </p:sp>
      <p:sp>
        <p:nvSpPr>
          <p:cNvPr id="26" name="Text 24"/>
          <p:cNvSpPr txBox="1"/>
          <p:nvPr/>
        </p:nvSpPr>
        <p:spPr>
          <a:xfrm>
            <a:off x="822960" y="7269480"/>
            <a:ext cx="12984480" cy="11887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We have built and proven a reusable Agentic AI Engine through Helix. It is scalable, observable, and designed for human-governed decision support. We now seek your direction on the highest-value Financial Control processes where it should be deployed next.</a:t>
            </a:r>
            <a:endParaRPr lang="en-US" sz="1700" dirty="0"/>
          </a:p>
        </p:txBody>
      </p:sp>
      <p:sp>
        <p:nvSpPr>
          <p:cNvPr id="27" name="Shape 25"/>
          <p:cNvSpPr/>
          <p:nvPr/>
        </p:nvSpPr>
        <p:spPr>
          <a:xfrm>
            <a:off x="0" y="9272016"/>
            <a:ext cx="14630400" cy="484632"/>
          </a:xfrm>
          <a:prstGeom prst="rect">
            <a:avLst/>
          </a:prstGeom>
          <a:solidFill>
            <a:srgbClr val="0B2E5E"/>
          </a:solidFill>
          <a:ln w="12700">
            <a:solidFill>
              <a:srgbClr val="0B2E5E"/>
            </a:solidFill>
            <a:prstDash val="solid"/>
          </a:ln>
        </p:spPr>
      </p:sp>
      <p:sp>
        <p:nvSpPr>
          <p:cNvPr id="28" name="Text 26"/>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One Finance Agentic Engine</a:t>
            </a:r>
            <a:pPr algn="ctr" indent="0" marL="0">
              <a:buNone/>
            </a:pPr>
            <a:r>
              <a:rPr lang="en-US" sz="1100" dirty="0">
                <a:solidFill>
                  <a:srgbClr val="FFFFFF"/>
                </a:solidFill>
                <a:latin typeface="Calibri" pitchFamily="34" charset="0"/>
                <a:ea typeface="Calibri" pitchFamily="34" charset="-122"/>
                <a:cs typeface="Calibri" pitchFamily="34" charset="-120"/>
              </a:rPr>
              <a:t>   |   Built and proven. Directed by you.</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Finance Agentic Engine</dc:title>
  <dc:subject>PptxGenJS Presentation</dc:subject>
  <dc:creator>PptxGenJS</dc:creator>
  <cp:lastModifiedBy>PptxGenJS</cp:lastModifiedBy>
  <cp:revision>1</cp:revision>
  <dcterms:created xsi:type="dcterms:W3CDTF">2026-09-30T21:38:39Z</dcterms:created>
  <dcterms:modified xsi:type="dcterms:W3CDTF">2026-09-30T21:38:39Z</dcterms:modified>
</cp:coreProperties>
</file>